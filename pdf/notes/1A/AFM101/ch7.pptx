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Lst>
  <p:notesMasterIdLst>
    <p:notesMasterId r:id="rId52"/>
  </p:notesMasterIdLst>
  <p:sldIdLst>
    <p:sldId id="256" r:id="rId5"/>
    <p:sldId id="384" r:id="rId6"/>
    <p:sldId id="271" r:id="rId7"/>
    <p:sldId id="272" r:id="rId8"/>
    <p:sldId id="273" r:id="rId9"/>
    <p:sldId id="274" r:id="rId10"/>
    <p:sldId id="275" r:id="rId11"/>
    <p:sldId id="282" r:id="rId12"/>
    <p:sldId id="276" r:id="rId13"/>
    <p:sldId id="277" r:id="rId14"/>
    <p:sldId id="313" r:id="rId15"/>
    <p:sldId id="314" r:id="rId16"/>
    <p:sldId id="315" r:id="rId17"/>
    <p:sldId id="278" r:id="rId18"/>
    <p:sldId id="279" r:id="rId19"/>
    <p:sldId id="280" r:id="rId20"/>
    <p:sldId id="281" r:id="rId21"/>
    <p:sldId id="283" r:id="rId22"/>
    <p:sldId id="284" r:id="rId23"/>
    <p:sldId id="257" r:id="rId24"/>
    <p:sldId id="336" r:id="rId25"/>
    <p:sldId id="285" r:id="rId26"/>
    <p:sldId id="286" r:id="rId27"/>
    <p:sldId id="288" r:id="rId28"/>
    <p:sldId id="385" r:id="rId29"/>
    <p:sldId id="300" r:id="rId30"/>
    <p:sldId id="289" r:id="rId31"/>
    <p:sldId id="319" r:id="rId32"/>
    <p:sldId id="333" r:id="rId33"/>
    <p:sldId id="320" r:id="rId34"/>
    <p:sldId id="321" r:id="rId35"/>
    <p:sldId id="322" r:id="rId36"/>
    <p:sldId id="323" r:id="rId37"/>
    <p:sldId id="324" r:id="rId38"/>
    <p:sldId id="386" r:id="rId39"/>
    <p:sldId id="325" r:id="rId40"/>
    <p:sldId id="326" r:id="rId41"/>
    <p:sldId id="334" r:id="rId42"/>
    <p:sldId id="335" r:id="rId43"/>
    <p:sldId id="327" r:id="rId44"/>
    <p:sldId id="328" r:id="rId45"/>
    <p:sldId id="337" r:id="rId46"/>
    <p:sldId id="338" r:id="rId47"/>
    <p:sldId id="339" r:id="rId48"/>
    <p:sldId id="342" r:id="rId49"/>
    <p:sldId id="344" r:id="rId50"/>
    <p:sldId id="331"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4B429"/>
    <a:srgbClr val="FFD54F"/>
    <a:srgbClr val="FFEA3D"/>
    <a:srgbClr val="FFFFAA"/>
    <a:srgbClr val="E0249A"/>
    <a:srgbClr val="0073CF"/>
    <a:srgbClr val="57068C"/>
    <a:srgbClr val="FFDB43"/>
    <a:srgbClr val="FDD54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79B4BB-0A5A-D844-B7AB-84EC418D1849}" v="8" dt="2024-10-25T18:54:57.642"/>
    <p1510:client id="{95BC8DCB-33DE-B343-80FF-884D6810F9A2}" v="3" dt="2024-10-25T19:48:58.416"/>
  </p1510:revLst>
</p1510:revInfo>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55" autoAdjust="0"/>
    <p:restoredTop sz="86891" autoAdjust="0"/>
  </p:normalViewPr>
  <p:slideViewPr>
    <p:cSldViewPr snapToGrid="0">
      <p:cViewPr varScale="1">
        <p:scale>
          <a:sx n="121" d="100"/>
          <a:sy n="121" d="100"/>
        </p:scale>
        <p:origin x="3064" y="176"/>
      </p:cViewPr>
      <p:guideLst>
        <p:guide orient="horz" pos="2160"/>
        <p:guide pos="2880"/>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 Carty" userId="22830c01-2f55-4e06-b79c-b355947cb1ea" providerId="ADAL" clId="{95BC8DCB-33DE-B343-80FF-884D6810F9A2}"/>
    <pc:docChg chg="custSel modSld">
      <pc:chgData name="Lynn Carty" userId="22830c01-2f55-4e06-b79c-b355947cb1ea" providerId="ADAL" clId="{95BC8DCB-33DE-B343-80FF-884D6810F9A2}" dt="2024-10-25T19:50:38.671" v="182" actId="20577"/>
      <pc:docMkLst>
        <pc:docMk/>
      </pc:docMkLst>
      <pc:sldChg chg="addSp delSp modSp mod modNotesTx">
        <pc:chgData name="Lynn Carty" userId="22830c01-2f55-4e06-b79c-b355947cb1ea" providerId="ADAL" clId="{95BC8DCB-33DE-B343-80FF-884D6810F9A2}" dt="2024-10-25T19:50:38.671" v="182" actId="20577"/>
        <pc:sldMkLst>
          <pc:docMk/>
          <pc:sldMk cId="2315520753" sldId="323"/>
        </pc:sldMkLst>
        <pc:spChg chg="mod">
          <ac:chgData name="Lynn Carty" userId="22830c01-2f55-4e06-b79c-b355947cb1ea" providerId="ADAL" clId="{95BC8DCB-33DE-B343-80FF-884D6810F9A2}" dt="2024-10-25T19:47:45.794" v="16" actId="20577"/>
          <ac:spMkLst>
            <pc:docMk/>
            <pc:sldMk cId="2315520753" sldId="323"/>
            <ac:spMk id="2" creationId="{00000000-0000-0000-0000-000000000000}"/>
          </ac:spMkLst>
        </pc:spChg>
        <pc:spChg chg="add mod">
          <ac:chgData name="Lynn Carty" userId="22830c01-2f55-4e06-b79c-b355947cb1ea" providerId="ADAL" clId="{95BC8DCB-33DE-B343-80FF-884D6810F9A2}" dt="2024-10-25T19:49:55.214" v="163" actId="113"/>
          <ac:spMkLst>
            <pc:docMk/>
            <pc:sldMk cId="2315520753" sldId="323"/>
            <ac:spMk id="3" creationId="{B1ABA48F-1A27-9647-9CDE-8C9F989A0E13}"/>
          </ac:spMkLst>
        </pc:spChg>
        <pc:spChg chg="add mod">
          <ac:chgData name="Lynn Carty" userId="22830c01-2f55-4e06-b79c-b355947cb1ea" providerId="ADAL" clId="{95BC8DCB-33DE-B343-80FF-884D6810F9A2}" dt="2024-10-25T19:49:59.296" v="164" actId="113"/>
          <ac:spMkLst>
            <pc:docMk/>
            <pc:sldMk cId="2315520753" sldId="323"/>
            <ac:spMk id="5" creationId="{18AF0AF1-1CB7-2FBE-576C-BE66C37727F7}"/>
          </ac:spMkLst>
        </pc:spChg>
        <pc:graphicFrameChg chg="del">
          <ac:chgData name="Lynn Carty" userId="22830c01-2f55-4e06-b79c-b355947cb1ea" providerId="ADAL" clId="{95BC8DCB-33DE-B343-80FF-884D6810F9A2}" dt="2024-10-25T19:48:10.843" v="17" actId="478"/>
          <ac:graphicFrameMkLst>
            <pc:docMk/>
            <pc:sldMk cId="2315520753" sldId="323"/>
            <ac:graphicFrameMk id="4" creationId="{300B490C-E965-F8EC-6295-CBF90A0A144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E97C-1779-4CEE-80D0-5BBB1AC4023D}" type="datetimeFigureOut">
              <a:rPr lang="en-US" smtClean="0"/>
              <a:t>10/28/25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CEF7D1-689C-4BC1-B59B-4A4CE078ECDF}" type="slidenum">
              <a:rPr lang="en-US" smtClean="0"/>
              <a:t>‹#›</a:t>
            </a:fld>
            <a:endParaRPr lang="en-US"/>
          </a:p>
        </p:txBody>
      </p:sp>
    </p:spTree>
    <p:extLst>
      <p:ext uri="{BB962C8B-B14F-4D97-AF65-F5344CB8AC3E}">
        <p14:creationId xmlns:p14="http://schemas.microsoft.com/office/powerpoint/2010/main" val="198114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This chapter covers the measurement and reporting principles for tangible long-lived assets (also known as property, plant</a:t>
            </a:r>
          </a:p>
          <a:p>
            <a:r>
              <a:rPr lang="en-US" altLang="en-US" dirty="0">
                <a:latin typeface="Arial" pitchFamily="34" charset="0"/>
                <a:ea typeface="ＭＳ Ｐゴシック" pitchFamily="34" charset="-128"/>
              </a:rPr>
              <a:t>and equipment) as well as intangible assets.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this PowerPoint presentation contains mathematical equations, you may need to check that your computer has the following installed:</a:t>
            </a:r>
          </a:p>
          <a:p>
            <a:r>
              <a:rPr lang="en-US" sz="1200" kern="1200" dirty="0">
                <a:solidFill>
                  <a:schemeClr val="tx1"/>
                </a:solidFill>
                <a:effectLst/>
                <a:latin typeface="+mn-lt"/>
                <a:ea typeface="+mn-ea"/>
                <a:cs typeface="+mn-cs"/>
              </a:rPr>
              <a:t>1) </a:t>
            </a:r>
            <a:r>
              <a:rPr lang="en-US" sz="1200" kern="1200" dirty="0" err="1">
                <a:solidFill>
                  <a:schemeClr val="tx1"/>
                </a:solidFill>
                <a:effectLst/>
                <a:latin typeface="+mn-lt"/>
                <a:ea typeface="+mn-ea"/>
                <a:cs typeface="+mn-cs"/>
              </a:rPr>
              <a:t>MathType</a:t>
            </a:r>
            <a:r>
              <a:rPr lang="en-US" sz="1200" kern="1200" dirty="0">
                <a:solidFill>
                  <a:schemeClr val="tx1"/>
                </a:solidFill>
                <a:effectLst/>
                <a:latin typeface="+mn-lt"/>
                <a:ea typeface="+mn-ea"/>
                <a:cs typeface="+mn-cs"/>
              </a:rPr>
              <a:t> Plugin</a:t>
            </a:r>
          </a:p>
          <a:p>
            <a:r>
              <a:rPr lang="en-US" sz="1200" kern="1200" dirty="0">
                <a:solidFill>
                  <a:schemeClr val="tx1"/>
                </a:solidFill>
                <a:effectLst/>
                <a:latin typeface="+mn-lt"/>
                <a:ea typeface="+mn-ea"/>
                <a:cs typeface="+mn-cs"/>
              </a:rPr>
              <a:t>2) Math Player (free versions available)</a:t>
            </a:r>
          </a:p>
          <a:p>
            <a:r>
              <a:rPr lang="en-US" sz="1200" kern="1200" dirty="0">
                <a:solidFill>
                  <a:schemeClr val="tx1"/>
                </a:solidFill>
                <a:effectLst/>
                <a:latin typeface="+mn-lt"/>
                <a:ea typeface="+mn-ea"/>
                <a:cs typeface="+mn-cs"/>
              </a:rPr>
              <a:t>3) NVDA Reader (free versions available) </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CCEF7D1-689C-4BC1-B59B-4A4CE078ECDF}" type="slidenum">
              <a:rPr lang="en-US" smtClean="0"/>
              <a:t>1</a:t>
            </a:fld>
            <a:endParaRPr lang="en-US"/>
          </a:p>
        </p:txBody>
      </p:sp>
    </p:spTree>
    <p:extLst>
      <p:ext uri="{BB962C8B-B14F-4D97-AF65-F5344CB8AC3E}">
        <p14:creationId xmlns:p14="http://schemas.microsoft.com/office/powerpoint/2010/main" val="31169498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first learning objective is to explain and account for current liabilities.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584644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Current liabilities are obligations due within one year or within the company’s normal operating cycle if longer than a year. Obligations due beyond that period of time are classified as long-term liabilities.</a:t>
            </a:r>
          </a:p>
          <a:p>
            <a:r>
              <a:rPr lang="en-US" altLang="en-US" dirty="0">
                <a:latin typeface="Arial" pitchFamily="34" charset="0"/>
                <a:ea typeface="ＭＳ Ｐゴシック" pitchFamily="34" charset="-128"/>
              </a:rPr>
              <a:t>Current liabilities are of two kinds:</a:t>
            </a:r>
          </a:p>
          <a:p>
            <a:r>
              <a:rPr lang="en-US" altLang="en-US" dirty="0">
                <a:latin typeface="Arial" pitchFamily="34" charset="0"/>
                <a:ea typeface="ＭＳ Ｐゴシック" pitchFamily="34" charset="-128"/>
              </a:rPr>
              <a:t>■ known amounts.</a:t>
            </a:r>
          </a:p>
          <a:p>
            <a:r>
              <a:rPr lang="en-US" altLang="en-US" dirty="0">
                <a:latin typeface="Arial" pitchFamily="34" charset="0"/>
                <a:ea typeface="ＭＳ Ｐゴシック" pitchFamily="34" charset="-128"/>
              </a:rPr>
              <a:t>■ estimated amounts.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3839507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ltLang="en-US" dirty="0">
                <a:latin typeface="Arial" pitchFamily="34" charset="0"/>
                <a:ea typeface="ＭＳ Ｐゴシック" pitchFamily="34" charset="-128"/>
              </a:rPr>
              <a:t>Current liabilities of known amount </a:t>
            </a:r>
            <a:r>
              <a:rPr lang="en-US" altLang="en-US" dirty="0" err="1">
                <a:latin typeface="Arial" pitchFamily="34" charset="0"/>
                <a:ea typeface="ＭＳ Ｐゴシック" pitchFamily="34" charset="-128"/>
              </a:rPr>
              <a:t>includeshort</a:t>
            </a:r>
            <a:r>
              <a:rPr lang="en-US" altLang="en-US" dirty="0">
                <a:latin typeface="Arial" pitchFamily="34" charset="0"/>
                <a:ea typeface="ＭＳ Ｐゴシック" pitchFamily="34" charset="-128"/>
              </a:rPr>
              <a:t>-term borrowings, accounts payable, accrued liabilities, short-term notes payable, sales tax payable, payroll liabilities, income taxes payable, unearned revenues, and current portion of long-term debt.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159463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An example is a bank line of credit to cover temporary shortfalls in cash.</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09357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Amounts owed for products or services purchased on credit are accounts payable. Normally, these liabilities need to be paid within 30 days.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934174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An accrued liability usually results from an expense that the business has incurred but not yet paid. Therefore, an accrued expense creates a liability, which explains why it is also called an accrued expense. For example, a business’s salary expense and salary payable occur as employees work for the company. Interest expense accrues with the passage of time.</a:t>
            </a:r>
          </a:p>
          <a:p>
            <a:r>
              <a:rPr lang="en-US" altLang="en-US" dirty="0">
                <a:latin typeface="Arial" pitchFamily="34" charset="0"/>
                <a:ea typeface="ＭＳ Ｐゴシック" pitchFamily="34" charset="-128"/>
              </a:rPr>
              <a:t>There are several categories of accrued expenses:</a:t>
            </a:r>
          </a:p>
          <a:p>
            <a:r>
              <a:rPr lang="en-US" altLang="en-US" dirty="0">
                <a:latin typeface="Arial" pitchFamily="34" charset="0"/>
                <a:ea typeface="ＭＳ Ｐゴシック" pitchFamily="34" charset="-128"/>
              </a:rPr>
              <a:t>■ Salaries and Wages Payable</a:t>
            </a:r>
          </a:p>
          <a:p>
            <a:r>
              <a:rPr lang="en-US" altLang="en-US" dirty="0">
                <a:latin typeface="Arial" pitchFamily="34" charset="0"/>
                <a:ea typeface="ＭＳ Ｐゴシック" pitchFamily="34" charset="-128"/>
              </a:rPr>
              <a:t>■ Interest Payable</a:t>
            </a:r>
          </a:p>
          <a:p>
            <a:r>
              <a:rPr lang="en-US" altLang="en-US" dirty="0">
                <a:latin typeface="Arial" pitchFamily="34" charset="0"/>
                <a:ea typeface="ＭＳ Ｐゴシック" pitchFamily="34" charset="-128"/>
              </a:rPr>
              <a:t>■ Income Taxes Payable</a:t>
            </a:r>
          </a:p>
          <a:p>
            <a:r>
              <a:rPr lang="en-US" altLang="en-US" dirty="0">
                <a:latin typeface="Arial" pitchFamily="34" charset="0"/>
                <a:ea typeface="ＭＳ Ｐゴシック" pitchFamily="34" charset="-128"/>
              </a:rPr>
              <a:t>Salaries and Wages Payable is the liability for payroll expenses not yet paid at the end of the period. This category includes salaries, wages, and payroll taxes withheld from employee </a:t>
            </a:r>
            <a:r>
              <a:rPr lang="en-US" altLang="en-US" dirty="0" err="1">
                <a:latin typeface="Arial" pitchFamily="34" charset="0"/>
                <a:ea typeface="ＭＳ Ｐゴシック" pitchFamily="34" charset="-128"/>
              </a:rPr>
              <a:t>paycheques</a:t>
            </a:r>
            <a:r>
              <a:rPr lang="en-US" altLang="en-US" dirty="0">
                <a:latin typeface="Arial" pitchFamily="34" charset="0"/>
                <a:ea typeface="ＭＳ Ｐゴシック" pitchFamily="34" charset="-128"/>
              </a:rPr>
              <a:t>. Interest Payable is the company’s interest payable on notes payable. Income Taxes Payable is the amount of income tax the company still owes at year-end.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1603791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Short-term notes payable, a common form of financing, are notes payable due within one year. Companies may issue short-term notes payable to borrow cash or to purchase assets. On its notes payable, a</a:t>
            </a:r>
            <a:r>
              <a:rPr lang="en-US" altLang="en-US" dirty="0">
                <a:solidFill>
                  <a:srgbClr val="FF0000"/>
                </a:solidFill>
                <a:latin typeface="Arial" pitchFamily="34" charset="0"/>
                <a:ea typeface="ＭＳ Ｐゴシック" pitchFamily="34" charset="-128"/>
              </a:rPr>
              <a:t> </a:t>
            </a:r>
            <a:r>
              <a:rPr lang="en-US" altLang="en-US" dirty="0">
                <a:latin typeface="Arial" pitchFamily="34" charset="0"/>
                <a:ea typeface="ＭＳ Ｐゴシック" pitchFamily="34" charset="-128"/>
              </a:rPr>
              <a:t>company must accrue interest expense and interest payable at the end of the period.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37644261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Short-term notes payable are notes payable due within one year. In this example, a company may issue short-term notes payable to borrow cash or to purchase assets. For its notes payable, the company must accrue interest expense at the end of each reporting period. The following sequence of entries covers the purchase of inventory, accrual of interest expense, and payment of a short-term note payable.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28464365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altLang="en-US" dirty="0">
                <a:latin typeface="Arial" pitchFamily="34" charset="0"/>
                <a:ea typeface="ＭＳ Ｐゴシック" pitchFamily="34" charset="-128"/>
              </a:rPr>
              <a:t>This journal entry records the purchase of $8,000 worth of inventory, with the company signing a notes payable. Interest accrues from the moment the note is signed until the note is repaid. The amount of the interest that has accrued to the end of the accounting period must be reported even if it is not paid. This requires an adjusting entry as shown on the next slide.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28464365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altLang="en-US" dirty="0">
                <a:latin typeface="Arial" pitchFamily="34" charset="0"/>
                <a:ea typeface="ＭＳ Ｐゴシック" pitchFamily="34" charset="-128"/>
              </a:rPr>
              <a:t>This journal entry records the interest that has accrued to the end of the accounting period, the interest expense, and the interest that is owing, the interest payable.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28464365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This slide shows the necessary entries when the note is repaid at maturity. </a:t>
            </a:r>
            <a:r>
              <a:rPr lang="en-US" altLang="en-US" dirty="0">
                <a:latin typeface="Arial" pitchFamily="34" charset="0"/>
                <a:ea typeface="ＭＳ Ｐゴシック" pitchFamily="34" charset="-128"/>
              </a:rPr>
              <a:t>The debits eliminate the two payables and also record the interest expense for January, February, and March.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2846436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federal government and most provinces levy taxes on the sale of goods and services. Sellers collect these taxes from customers, creating sales tax payable to the government levying the tax. Canada has three types of sales taxes: </a:t>
            </a:r>
          </a:p>
          <a:p>
            <a:r>
              <a:rPr lang="en-US" altLang="en-US" dirty="0">
                <a:latin typeface="Arial" pitchFamily="34" charset="0"/>
                <a:ea typeface="ＭＳ Ｐゴシック" pitchFamily="34" charset="-128"/>
              </a:rPr>
              <a:t>• Goods and services tax (GST) is a value-added tax levied by the federal government. At the time of writing, the tax is 5%. It applies to most goods and services. </a:t>
            </a:r>
          </a:p>
          <a:p>
            <a:r>
              <a:rPr lang="en-US" altLang="en-US" dirty="0">
                <a:latin typeface="Arial" pitchFamily="34" charset="0"/>
                <a:ea typeface="ＭＳ Ｐゴシック" pitchFamily="34" charset="-128"/>
              </a:rPr>
              <a:t>• Provincial or regional sales tax (PST) is a retail tax applied to goods and services purchased by individuals or businesses for their own use, not for resale, with the rates varying by province or region. At the time of writing, Alberta, the Northwest Territories, Nunavut, and Yukon do not levy a provincial or regional sales tax. </a:t>
            </a:r>
          </a:p>
          <a:p>
            <a:r>
              <a:rPr lang="en-US" altLang="en-US" dirty="0">
                <a:latin typeface="Arial" pitchFamily="34" charset="0"/>
                <a:ea typeface="ＭＳ Ｐゴシック" pitchFamily="34" charset="-128"/>
              </a:rPr>
              <a:t>• Harmonized sales tax (HST), which combines PST and GST, is also a value-added tax. Prince Edward Island, New Brunswick, Newfoundland and Labrador, Nova Scotia, and Ontario, together with the federal government, levy an HST.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086245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final consumer of a GST- or HST-taxable product or service bears the tax, while entities farther down the supply chain from the end consumer do pay GST or HST, but receive an input tax credit (ITC) equal to the tax they have paid. These ITCs are deducted from any GST or HST collected to arrive at the net GST or HST payable to the government. For example, if a company collected $10,000 in HST on its sales and paid $8,000 in HST on goods and services it purchased, then it would end the period with HST payable of $2,000 ($10,000 in HST collected less $8,000 in ITCs). </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GST or HST payable is always a current liability, as it is payable annually, quarterly, or monthly, depending on the collector’s volume of business. GST and HST are remitted to the Canada Revenue Agency (CRA), which in turn remits the provincial portion of the HST to the respective provinces, with all GST and the federal portion of the HST being remitted to the federal government.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27586914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PST is levied at the point of sale to the final consumer, unlike GST and HST, it would apply to Kitchen Hardware when it purchases a cash register and to Mary Fortin, a customer of Kitchen, when she purchases light bulbs. Because only the final consumer pays PST, there are no ITCs for provincial taxes (except for Quebec’s QST). PST payable is always a current liability as it is payable quarterly or monthly, depending on the payer’s volume of business.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6485504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GST and HST are accounted for in the same way.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2179867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Payroll, also called employee compensation, is a major expense. For service organizations—such as law firms, real estate companies, and airlines— compensation is the major expense, just as cost of goods sold is the largest expense for a merchandising company. Employee compensation takes many different forms. A salary is employee pay stated at a monthly or yearly rate. A wage is employee pay stated at an hourly rate. Sales employees often earn a commission, which is a percentage of the sales the employee has made. A bonus is an amount over and above regular compensation.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3811799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 typical entry to record payroll is shown above.</a:t>
            </a:r>
          </a:p>
          <a:p>
            <a:r>
              <a:rPr lang="en-US" altLang="en-US" dirty="0">
                <a:latin typeface="Arial" pitchFamily="34" charset="0"/>
                <a:ea typeface="ＭＳ Ｐゴシック" pitchFamily="34" charset="-128"/>
              </a:rPr>
              <a:t>Salary expense represents gross pay (that is, pay before subtractions for taxes and other deductions). Salary expense creates several payroll entries, expenses, and liabilities: </a:t>
            </a:r>
          </a:p>
          <a:p>
            <a:r>
              <a:rPr lang="en-US" altLang="en-US" dirty="0">
                <a:latin typeface="Arial" pitchFamily="34" charset="0"/>
                <a:ea typeface="ＭＳ Ｐゴシック" pitchFamily="34" charset="-128"/>
              </a:rPr>
              <a:t>• Salaries and Wages Payable is the employees’ net (take-home) pay. </a:t>
            </a:r>
          </a:p>
          <a:p>
            <a:r>
              <a:rPr lang="en-US" altLang="en-US" dirty="0">
                <a:latin typeface="Arial" pitchFamily="34" charset="0"/>
                <a:ea typeface="ＭＳ Ｐゴシック" pitchFamily="34" charset="-128"/>
              </a:rPr>
              <a:t>• Employee Withholdings Income Tax Payable is the employees’ income tax that has been withheld from paycheques. </a:t>
            </a:r>
          </a:p>
          <a:p>
            <a:r>
              <a:rPr lang="en-US" altLang="en-US" dirty="0">
                <a:latin typeface="Arial" pitchFamily="34" charset="0"/>
                <a:ea typeface="ＭＳ Ｐゴシック" pitchFamily="34" charset="-128"/>
              </a:rPr>
              <a:t>• Canada Pension Plan Payable and Employment Insurance Payable are the employees’ contributions to those two government programs that have been withheld from their paycheques, along with the employer’s contributions to these programs. In Quebec, the Quebec Pension Plan replaces the CPP and employees and employers must also contribute to the Quebec Parental Insurance Plan. </a:t>
            </a:r>
          </a:p>
          <a:p>
            <a:r>
              <a:rPr lang="en-US" altLang="en-US" dirty="0">
                <a:latin typeface="Arial" pitchFamily="34" charset="0"/>
                <a:ea typeface="ＭＳ Ｐゴシック" pitchFamily="34" charset="-128"/>
              </a:rPr>
              <a:t>• Canada Pension Plan and Employment Insurance Expense is the cost of the employer’s contribution to these two government programs. The two credits to liabilities totaling $737 represent the liability for the employer’s contribution.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24315717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Personal and corporate tax rates differ, and corporate tax rates also vary by type of company and by province. The accounting for corporate income taxes is complicated by the fact that income for accounting purposes (or pretax accounting income) usually differs from income for tax purposes. </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807985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For all unearned revenue, the business has received cash from customers before earning the revenue. The company has a liability—an obligation to provide goods or services to the customer. When the company received payment before service is provided or product is sold, Cash is debited and Unearned Revenue is credited.  Later, when the revenue (or a portion thereof) is earned, Unearned Revenue is decreased (debited) and Revenue is recorded (credited). This is often done through the adjusting process.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424675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Some long-term debt must be paid in installments. The current portion of long-term debt is the amount of the principal that is payable within one year</a:t>
            </a:r>
            <a:r>
              <a:rPr lang="en-US" altLang="en-US" dirty="0">
                <a:solidFill>
                  <a:srgbClr val="FF0000"/>
                </a:solidFill>
                <a:latin typeface="Arial" pitchFamily="34" charset="0"/>
                <a:ea typeface="ＭＳ Ｐゴシック" pitchFamily="34" charset="-128"/>
              </a:rPr>
              <a:t> </a:t>
            </a:r>
            <a:r>
              <a:rPr lang="en-US" altLang="en-US" dirty="0">
                <a:latin typeface="Arial" pitchFamily="34" charset="0"/>
                <a:ea typeface="ＭＳ Ｐゴシック" pitchFamily="34" charset="-128"/>
              </a:rPr>
              <a:t>from the balance sheet date. At the end of each year, a company reclassifies (from long-term debt to a current liability) the amount of its long-term debt that must be paid next year.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16061112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Many companies guarantee their products under warranty agreements. The warranty period may extend for 90 days to a year for consumer products.</a:t>
            </a:r>
          </a:p>
          <a:p>
            <a:r>
              <a:rPr lang="en-US" altLang="en-US" dirty="0">
                <a:latin typeface="Arial" pitchFamily="34" charset="0"/>
                <a:ea typeface="ＭＳ Ｐゴシック" pitchFamily="34" charset="-128"/>
              </a:rPr>
              <a:t>Whatever the warranty’s life, the matching principle demands that the company record the warranty expense in the same period that the business records sales revenue. After all, the warranty motivates customers to buy products, so the company must record warranty expense</a:t>
            </a:r>
            <a:r>
              <a:rPr lang="en-US" altLang="en-US" dirty="0">
                <a:solidFill>
                  <a:srgbClr val="FF0000"/>
                </a:solidFill>
                <a:latin typeface="Arial" pitchFamily="34" charset="0"/>
                <a:ea typeface="ＭＳ Ｐゴシック" pitchFamily="34" charset="-128"/>
              </a:rPr>
              <a:t> </a:t>
            </a:r>
            <a:r>
              <a:rPr lang="en-US" altLang="en-US" dirty="0">
                <a:latin typeface="Arial" pitchFamily="34" charset="0"/>
                <a:ea typeface="ＭＳ Ｐゴシック" pitchFamily="34" charset="-128"/>
              </a:rPr>
              <a:t>with the revenue. At the time of the sale, however, the company doesn’t know which products are defective. The exact amount of warranty expense cannot be known with certainty, so the business must estimate warranty expense and the related liability.</a:t>
            </a:r>
          </a:p>
          <a:p>
            <a:r>
              <a:rPr lang="en-US" altLang="en-US" dirty="0">
                <a:latin typeface="Arial" pitchFamily="34" charset="0"/>
                <a:ea typeface="ＭＳ Ｐゴシック" pitchFamily="34" charset="-128"/>
              </a:rPr>
              <a:t>To record estimated warranty liability, an entry is made debiting Warranty Expense and crediting Estimated Warranty Payable. The amount is estimated based on past experience or industry standards. When actual warranty work is performed, the liability is debited and Inventory is credited for any parts used.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34133112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A contingent liability is not an actual liability. Instead, it’s a potential liability that depends on the future outcome of past events. Examples of contingent liabilities are future obligations that may arise because of lawsuits, tax disputes, or alleged violations of environmental protection laws. If it has been established that there is a liability, it needs to be reported in the financial statements proper.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4365188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fifth learning objective is to explain the advantages and disadvantages of financing with debt versus equity.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2420337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Managers must decide how to get the money they need to pay for assets. There are three main ways to finance business activities:</a:t>
            </a:r>
          </a:p>
          <a:p>
            <a:r>
              <a:rPr lang="en-US" altLang="en-US" dirty="0">
                <a:latin typeface="Arial" pitchFamily="34" charset="0"/>
                <a:ea typeface="ＭＳ Ｐゴシック" pitchFamily="34" charset="-128"/>
              </a:rPr>
              <a:t>■ By using excess cash not needed for operating activities</a:t>
            </a:r>
          </a:p>
          <a:p>
            <a:r>
              <a:rPr lang="en-US" altLang="en-US" dirty="0">
                <a:latin typeface="Arial" pitchFamily="34" charset="0"/>
                <a:ea typeface="ＭＳ Ｐゴシック" pitchFamily="34" charset="-128"/>
              </a:rPr>
              <a:t>■ By raising capital from issuing shares</a:t>
            </a:r>
          </a:p>
          <a:p>
            <a:r>
              <a:rPr lang="en-US" altLang="en-US" dirty="0">
                <a:latin typeface="Arial" pitchFamily="34" charset="0"/>
                <a:ea typeface="ＭＳ Ｐゴシック" pitchFamily="34" charset="-128"/>
              </a:rPr>
              <a:t>■ By borrowing</a:t>
            </a:r>
            <a:r>
              <a:rPr lang="en-US" altLang="en-US" baseline="0" dirty="0">
                <a:latin typeface="Arial" pitchFamily="34" charset="0"/>
                <a:ea typeface="ＭＳ Ｐゴシック" pitchFamily="34" charset="-128"/>
              </a:rPr>
              <a:t> money using loans, bonds, or notes</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Each strategy has its advantages and disadvantages.</a:t>
            </a:r>
          </a:p>
          <a:p>
            <a:r>
              <a:rPr lang="en-US" altLang="en-US" dirty="0">
                <a:latin typeface="Arial" pitchFamily="34" charset="0"/>
                <a:ea typeface="ＭＳ Ｐゴシック" pitchFamily="34" charset="-128"/>
              </a:rPr>
              <a:t>1. To use excess cash a company must have saved enough cash and short-term investments from past profitable operations. There’s no need to issue more shares or to borrow money. This strategy is low-risk to the company. The disadvantage is that the company growth is limited to how much it can earn.</a:t>
            </a:r>
          </a:p>
          <a:p>
            <a:r>
              <a:rPr lang="en-US" altLang="en-US" dirty="0">
                <a:latin typeface="Arial" pitchFamily="34" charset="0"/>
                <a:ea typeface="ＭＳ Ｐゴシック" pitchFamily="34" charset="-128"/>
              </a:rPr>
              <a:t>2. Issuing shares creates no liabilities or interest expense and is less risky to the issuing corporation. But issuing shares can be more costly.  Additionally, issuing more shares may reduce the amount earned per share and may make the shares less desirable to investors.</a:t>
            </a:r>
          </a:p>
          <a:p>
            <a:r>
              <a:rPr lang="en-US" altLang="en-US" dirty="0">
                <a:latin typeface="Arial" pitchFamily="34" charset="0"/>
                <a:ea typeface="ＭＳ Ｐゴシック" pitchFamily="34" charset="-128"/>
              </a:rPr>
              <a:t>3. Issuing bonds or notes payable does not dilute control of the corporation. It often results in higher earnings per share because the earnings on borrowed money usually exceed interest expense. But creating more debt increases the risk for the company.  Bonds and notes must be paid back with cash from future earnings.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18951630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Earnings per share (EPS) is the amount of a company’s net income for each of its common shares. EPS is the single most important statistic for evaluating companies because EPS is a standard measure of operating performance that applies to companies of different sizes and from different industries.</a:t>
            </a:r>
          </a:p>
          <a:p>
            <a:r>
              <a:rPr lang="en-US" altLang="en-US" dirty="0">
                <a:latin typeface="Arial" pitchFamily="34" charset="0"/>
                <a:ea typeface="ＭＳ Ｐゴシック" pitchFamily="34" charset="-128"/>
              </a:rPr>
              <a:t>Suppose a company needs $500,000 for expansion. Assume it has net income of $300,000 and 100,000 shares of common shares outstanding. Management is considering two financing plans. Plan 1 is to issue $500,000 of 6% bonds payable, and plan 2 is to issue 50,000 common shares for $500,000. Management believes the new cash can be invested in operations to earn income of $200,000 before interest and taxes. This table shows the earnings-per-share advantage of borrowing. As you can see, the company’s EPS amount is higher if the company borrows by issuing bonds. The company earns more on the investment ($102,000) than the interest it pays on the bonds ($30,000). This is called trading on the equity, or using leverage. It is widely used to increase earnings per share of common shares.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22197935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sixth learning objective is to analyze and evaluate a company’s debt-paying ability.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12018935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accounts payable turnover measures the number of times a year a company is able to pay its accounts payable. The average accounts payable amount is calculated using the year’s opening and closing balances. Once the turnover is computed, it is usually expressed in number of days, or days payable outstanding (DPO) by dividing the turnover into 365. </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Because different industries have different business models and standard business practices, it is important to compare companies with competitors in the same industry. Generally, a high turnover ratio (short period in days) is better than a low turnover ratio.</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42209699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Also known as the equity multiplier , </a:t>
            </a:r>
            <a:r>
              <a:rPr lang="en-US" altLang="en-US">
                <a:latin typeface="Arial" pitchFamily="34" charset="0"/>
                <a:ea typeface="ＭＳ Ｐゴシック" pitchFamily="34" charset="-128"/>
              </a:rPr>
              <a:t>the leverage </a:t>
            </a:r>
            <a:r>
              <a:rPr lang="en-US" altLang="en-US" dirty="0">
                <a:latin typeface="Arial" pitchFamily="34" charset="0"/>
                <a:ea typeface="ＭＳ Ｐゴシック" pitchFamily="34" charset="-128"/>
              </a:rPr>
              <a:t>ratio shows a company’s total assets per dollar of shareholders’ equity. A leverage ratio of exactly 1.0 would mean a company has no debt, because total assets would exactly equal total shareholders’ equity. This condition is almost non-existent, because virtually all companies have liabilities, and, therefore, have leverage ratios in excess of 1.0.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4653768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In addition to the debt ratio, analysts use a second ratio—the times-interest-earned ratio—to relate income to interest expense. To compute this ratio, we divide income from operations (also called operating income) by interest expense. This ratio measures the number of times that operating income can cover interest expense. The times-interest-earned ratio is also called the interest coverage ratio. A high times-interest-earned ratio indicates ease in paying interest expense; a low value suggests difficulty.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32562729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seventh learning objective is to describe other types of long-term liabilities.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13241830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Like bonds, term loans are used to borrow a fixed amount that is repaid over several years at a specified interest rate. Unlike bonds, term loans are typically arranged with a single lender. If secured by a real asset, they are referred to as a mortgage.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30103802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altLang="en-US" sz="1200" dirty="0">
                <a:latin typeface="Arial" pitchFamily="34" charset="0"/>
                <a:ea typeface="ＭＳ Ｐゴシック" pitchFamily="34" charset="-128"/>
              </a:rPr>
              <a:t>A lease is a rental agreement in which the tenant (lessee) agrees to make rent payments to the property owner (lessor) in exchange for the use of the asset. Leasing allows the lessee to acquire the use of a needed asset without having to make the large up-front payment that purchase agreements require. Accountants distinguish between two types of leases: operating leases and finance leases.</a:t>
            </a:r>
          </a:p>
          <a:p>
            <a:r>
              <a:rPr lang="en-US" altLang="en-US" sz="1200" dirty="0">
                <a:latin typeface="Arial" pitchFamily="34" charset="0"/>
                <a:ea typeface="ＭＳ Ｐゴシック" pitchFamily="34" charset="-128"/>
              </a:rPr>
              <a:t>Operating leases are sometimes short-term or cancelable. However, often operating lease agreements are non-cancellable and require the lessee to commit funds to pay the lessor for use of property for years. They give the lessee the right to use the asset but provide no continuing rights to the asset. Instead, the lessor retains the usual risks and rewards of owning the leased asset. To account for an operating lease, the lessee debits Rent Expense (or Lease Expense) and credits Cash for the amount of the lease payment. Operating leases require the lessee to make rent payments, so an operating lease creates a liability even though that liability does not appear on the lessee’s balance sheet.</a:t>
            </a:r>
            <a:r>
              <a:rPr lang="en-US" altLang="en-US" sz="1200" b="1" dirty="0">
                <a:latin typeface="Arial" pitchFamily="34" charset="0"/>
                <a:ea typeface="ＭＳ Ｐゴシック" pitchFamily="34" charset="-128"/>
              </a:rPr>
              <a:t>  </a:t>
            </a:r>
          </a:p>
          <a:p>
            <a:r>
              <a:rPr lang="en-US" altLang="en-US" sz="1200" dirty="0">
                <a:latin typeface="Arial" pitchFamily="34" charset="0"/>
                <a:ea typeface="ＭＳ Ｐゴシック" pitchFamily="34" charset="-128"/>
              </a:rPr>
              <a:t>Businesses sometimes use finance leasing to finance the acquisition of  some assets. A finance lease is a long-term non-cancellable debt. Accounting for a finance lease is much like accounting for the purchase of an asset. The lessee enters the asset into the lessee’s long-term asset accounts at the present value of the future cash outflows from the lease contact, and records a long-term lease liability at the beginning of the lease term. Thus, the lessee capitalizes the asset even though the lessee may never take legal title to the asset, because the lease agreement makes the lessee assume the risks and rewards of ownership of the assets and the associated obligations.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IFRS and ASPE are consistent in their definitions of finance leases: they are leases that transfer to the lessee substantially all the risks and rewards incidental to the ownership of an asset, even though formal legal title of the asset may remain with the lessor. For an operating lease, substantially all the risks and rewards of ownership remain with the lessor.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18951630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solidFill>
                  <a:srgbClr val="000000"/>
                </a:solidFill>
                <a:latin typeface="Berkeley-Book" charset="0"/>
                <a:ea typeface="ＭＳ Ｐゴシック" pitchFamily="34" charset="-128"/>
              </a:rPr>
              <a:t>Most companies have retirement plans for their employees. A </a:t>
            </a:r>
            <a:r>
              <a:rPr lang="en-US" altLang="en-US" dirty="0">
                <a:solidFill>
                  <a:srgbClr val="000000"/>
                </a:solidFill>
                <a:latin typeface="Berkeley-Bold" charset="0"/>
                <a:ea typeface="ＭＳ Ｐゴシック" pitchFamily="34" charset="-128"/>
              </a:rPr>
              <a:t>pension </a:t>
            </a:r>
            <a:r>
              <a:rPr lang="en-US" altLang="en-US" dirty="0">
                <a:solidFill>
                  <a:srgbClr val="000000"/>
                </a:solidFill>
                <a:latin typeface="Berkeley-Book" charset="0"/>
                <a:ea typeface="ＭＳ Ｐゴシック" pitchFamily="34" charset="-128"/>
              </a:rPr>
              <a:t>is employee compensation that will be received during retirement. Companies also provide postretirement benefits, such as medical  and dental insurance for retired former employees. Because employees earn these benefits by their service, the company records pension and retirement-benefit expense while employees work for the company. Pensions are one of the most complex areas of accounting. As employees earn their pensions and the company pays into the pension plan, the plan’s assets grow. The obligation for future pension payments to employees also accumulates.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14276593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eighth learning objective is to report liabilities on the balance sheet.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38293901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Exhibit 7-10 presents</a:t>
            </a:r>
            <a:r>
              <a:rPr lang="en-AU" baseline="0" dirty="0"/>
              <a:t> the liabilities of Air Canada as at December 31, 2020.</a:t>
            </a:r>
            <a:endParaRPr lang="en-AU"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9455355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Working back and forth between the financial statements</a:t>
            </a:r>
            <a:r>
              <a:rPr lang="en-AU" baseline="0" dirty="0"/>
              <a:t> and the notes to the financial statements is an important part of financial analysis.</a:t>
            </a:r>
            <a:endParaRPr lang="en-AU"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5560155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This slide includes Note 9 (adapted) from Air Canada’s financial statements, which gives additional information about the Company’s long-term debt and lease liabilities. This note shows that Air Canada’s long-term debt consists primarily of aircraft</a:t>
            </a:r>
            <a:r>
              <a:rPr lang="en-US" altLang="en-US" baseline="0" dirty="0">
                <a:latin typeface="Arial" pitchFamily="34" charset="0"/>
                <a:ea typeface="ＭＳ Ｐゴシック" pitchFamily="34" charset="-128"/>
              </a:rPr>
              <a:t> loans, various types of notes payable, and lease liabilities</a:t>
            </a:r>
            <a:r>
              <a:rPr lang="en-US" altLang="en-US" dirty="0">
                <a:latin typeface="Arial" pitchFamily="34" charset="0"/>
                <a:ea typeface="ＭＳ Ｐゴシック" pitchFamily="34" charset="-128"/>
              </a:rPr>
              <a:t>. The current portion of this debt, about $1.8 billion, can be traced to the partial balance sheet presented above the note. </a:t>
            </a:r>
            <a:endParaRPr lang="en-AU"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val="27700774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ninth learning objective is to describe </a:t>
            </a:r>
            <a:r>
              <a:rPr lang="en-US" altLang="en-US" dirty="0">
                <a:ea typeface="ＭＳ Ｐゴシック" pitchFamily="34" charset="-128"/>
              </a:rPr>
              <a:t>how robotic process automation (RPA) can help with the accounts payable process.</a:t>
            </a:r>
            <a:endParaRPr lang="en-US" dirty="0">
              <a:ea typeface="ＭＳ Ｐゴシック" pitchFamily="34" charset="-128"/>
            </a:endParaRPr>
          </a:p>
          <a:p>
            <a:r>
              <a:rPr lang="en-US" dirty="0"/>
              <a:t>	</a:t>
            </a:r>
          </a:p>
        </p:txBody>
      </p:sp>
      <p:sp>
        <p:nvSpPr>
          <p:cNvPr id="4" name="Slide Number Placeholder 3"/>
          <p:cNvSpPr>
            <a:spLocks noGrp="1"/>
          </p:cNvSpPr>
          <p:nvPr>
            <p:ph type="sldNum" sz="quarter" idx="10"/>
          </p:nvPr>
        </p:nvSpPr>
        <p:spPr/>
        <p:txBody>
          <a:bodyPr/>
          <a:lstStyle/>
          <a:p>
            <a:fld id="{A73D6722-9B4D-4E29-B226-C325925A8118}" type="slidenum">
              <a:rPr lang="en-US" smtClean="0"/>
              <a:pPr/>
              <a:t>45</a:t>
            </a:fld>
            <a:endParaRPr lang="en-US" dirty="0"/>
          </a:p>
        </p:txBody>
      </p:sp>
    </p:spTree>
    <p:extLst>
      <p:ext uri="{BB962C8B-B14F-4D97-AF65-F5344CB8AC3E}">
        <p14:creationId xmlns:p14="http://schemas.microsoft.com/office/powerpoint/2010/main" val="33975827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BerkeleyPro-Book"/>
              </a:rPr>
              <a:t>Robotic process automation (RPA) is a software system that observes a person or user performing a task, recognizes patterns in that user activity, and creates a “bot” to replicate that person’s task processes. A bot (or software robot) is an RPA program that performs repetitive tasks based on rules. Bots are designed to reduce repetitive tasks, so that the employees can work on other more creative and rewarding tasks. Bots can interact with several applications at the same time.</a:t>
            </a:r>
            <a:endParaRPr lang="en-CA"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46</a:t>
            </a:fld>
            <a:endParaRPr lang="en-US" dirty="0"/>
          </a:p>
        </p:txBody>
      </p:sp>
    </p:spTree>
    <p:extLst>
      <p:ext uri="{BB962C8B-B14F-4D97-AF65-F5344CB8AC3E}">
        <p14:creationId xmlns:p14="http://schemas.microsoft.com/office/powerpoint/2010/main" val="7280315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This concludes Chapter Seven.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47</a:t>
            </a:fld>
            <a:endParaRPr lang="en-US" dirty="0"/>
          </a:p>
        </p:txBody>
      </p:sp>
    </p:spTree>
    <p:extLst>
      <p:ext uri="{BB962C8B-B14F-4D97-AF65-F5344CB8AC3E}">
        <p14:creationId xmlns:p14="http://schemas.microsoft.com/office/powerpoint/2010/main" val="18847009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5" y="4266824"/>
            <a:ext cx="5112661"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5958"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10/28/25</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643069D2-FAC5-B540-938A-D5C004FC4DF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457200" y="5791200"/>
            <a:ext cx="5432996" cy="722376"/>
          </a:xfrm>
          <a:prstGeom prst="rect">
            <a:avLst/>
          </a:prstGeom>
        </p:spPr>
      </p:pic>
    </p:spTree>
    <p:extLst>
      <p:ext uri="{BB962C8B-B14F-4D97-AF65-F5344CB8AC3E}">
        <p14:creationId xmlns:p14="http://schemas.microsoft.com/office/powerpoint/2010/main" val="351559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10/28/25</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4" name="Picture 23">
            <a:extLst>
              <a:ext uri="{FF2B5EF4-FFF2-40B4-BE49-F238E27FC236}">
                <a16:creationId xmlns:a16="http://schemas.microsoft.com/office/drawing/2014/main" id="{61D60701-02B4-D540-911A-B01AC4D2CAEF}"/>
              </a:ext>
            </a:extLst>
          </p:cNvPr>
          <p:cNvPicPr>
            <a:picLocks noChangeAspect="1"/>
          </p:cNvPicPr>
          <p:nvPr userDrawn="1"/>
        </p:nvPicPr>
        <p:blipFill>
          <a:blip r:embed="rId2"/>
          <a:stretch>
            <a:fillRect/>
          </a:stretch>
        </p:blipFill>
        <p:spPr>
          <a:xfrm>
            <a:off x="6827793" y="6147742"/>
            <a:ext cx="2060466" cy="527423"/>
          </a:xfrm>
          <a:prstGeom prst="rect">
            <a:avLst/>
          </a:prstGeom>
        </p:spPr>
      </p:pic>
      <p:pic>
        <p:nvPicPr>
          <p:cNvPr id="25" name="Picture 24">
            <a:extLst>
              <a:ext uri="{FF2B5EF4-FFF2-40B4-BE49-F238E27FC236}">
                <a16:creationId xmlns:a16="http://schemas.microsoft.com/office/drawing/2014/main" id="{91D4C5F0-5180-6746-A503-097869B289A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103183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10/28/25</a:t>
            </a:fld>
            <a:endParaRPr lang="en-US" dirty="0"/>
          </a:p>
        </p:txBody>
      </p:sp>
      <p:grpSp>
        <p:nvGrpSpPr>
          <p:cNvPr id="17" name="Group 16"/>
          <p:cNvGrpSpPr/>
          <p:nvPr userDrawn="1"/>
        </p:nvGrpSpPr>
        <p:grpSpPr>
          <a:xfrm>
            <a:off x="0" y="0"/>
            <a:ext cx="9144000" cy="397164"/>
            <a:chOff x="421830" y="1342659"/>
            <a:chExt cx="10018760" cy="290558"/>
          </a:xfrm>
        </p:grpSpPr>
        <p:sp>
          <p:nvSpPr>
            <p:cNvPr id="5" name="Rectangle 4"/>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0" name="Picture 19">
            <a:extLst>
              <a:ext uri="{FF2B5EF4-FFF2-40B4-BE49-F238E27FC236}">
                <a16:creationId xmlns:a16="http://schemas.microsoft.com/office/drawing/2014/main" id="{E043A7D3-71BA-0D4D-8606-264CCB5C2EA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45440" y="5907024"/>
            <a:ext cx="5101781" cy="722376"/>
          </a:xfrm>
          <a:prstGeom prst="rect">
            <a:avLst/>
          </a:prstGeom>
        </p:spPr>
      </p:pic>
    </p:spTree>
    <p:extLst>
      <p:ext uri="{BB962C8B-B14F-4D97-AF65-F5344CB8AC3E}">
        <p14:creationId xmlns:p14="http://schemas.microsoft.com/office/powerpoint/2010/main" val="2528952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10/28/25</a:t>
            </a:fld>
            <a:endParaRPr lang="en-US" dirty="0"/>
          </a:p>
        </p:txBody>
      </p:sp>
      <p:grpSp>
        <p:nvGrpSpPr>
          <p:cNvPr id="15" name="Group 14"/>
          <p:cNvGrpSpPr/>
          <p:nvPr userDrawn="1"/>
        </p:nvGrpSpPr>
        <p:grpSpPr>
          <a:xfrm>
            <a:off x="0" y="0"/>
            <a:ext cx="9144000" cy="397164"/>
            <a:chOff x="421830" y="1342659"/>
            <a:chExt cx="10018760" cy="290558"/>
          </a:xfrm>
        </p:grpSpPr>
        <p:sp>
          <p:nvSpPr>
            <p:cNvPr id="20" name="Rectangle 19"/>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Rectangle 23"/>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5" name="Picture 24">
            <a:extLst>
              <a:ext uri="{FF2B5EF4-FFF2-40B4-BE49-F238E27FC236}">
                <a16:creationId xmlns:a16="http://schemas.microsoft.com/office/drawing/2014/main" id="{CA074264-89A3-EE45-B1CD-741D4DBB62E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75921" y="5907024"/>
            <a:ext cx="4145280" cy="586942"/>
          </a:xfrm>
          <a:prstGeom prst="rect">
            <a:avLst/>
          </a:prstGeom>
        </p:spPr>
      </p:pic>
    </p:spTree>
    <p:extLst>
      <p:ext uri="{BB962C8B-B14F-4D97-AF65-F5344CB8AC3E}">
        <p14:creationId xmlns:p14="http://schemas.microsoft.com/office/powerpoint/2010/main" val="350106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6632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5555773"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1</a:t>
            </a:r>
          </a:p>
        </p:txBody>
      </p:sp>
      <p:sp>
        <p:nvSpPr>
          <p:cNvPr id="9" name="Text Placeholder 7"/>
          <p:cNvSpPr>
            <a:spLocks noGrp="1"/>
          </p:cNvSpPr>
          <p:nvPr>
            <p:ph type="body" sz="quarter" idx="14" hasCustomPrompt="1"/>
          </p:nvPr>
        </p:nvSpPr>
        <p:spPr>
          <a:xfrm>
            <a:off x="6681169"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2</a:t>
            </a:r>
          </a:p>
        </p:txBody>
      </p:sp>
      <p:sp>
        <p:nvSpPr>
          <p:cNvPr id="10" name="Text Placeholder 7"/>
          <p:cNvSpPr>
            <a:spLocks noGrp="1"/>
          </p:cNvSpPr>
          <p:nvPr>
            <p:ph type="body" sz="quarter" idx="15" hasCustomPrompt="1"/>
          </p:nvPr>
        </p:nvSpPr>
        <p:spPr>
          <a:xfrm>
            <a:off x="7806565" y="685060"/>
            <a:ext cx="1065644" cy="286052"/>
          </a:xfrm>
        </p:spPr>
        <p:txBody>
          <a:bodyPr anchor="ctr">
            <a:noAutofit/>
          </a:bodyPr>
          <a:lstStyle>
            <a:lvl1pPr marL="0" indent="0" algn="ctr">
              <a:buNone/>
              <a:defRPr sz="100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3</a:t>
            </a:r>
          </a:p>
        </p:txBody>
      </p:sp>
      <p:sp>
        <p:nvSpPr>
          <p:cNvPr id="4" name="Title 3"/>
          <p:cNvSpPr>
            <a:spLocks noGrp="1"/>
          </p:cNvSpPr>
          <p:nvPr>
            <p:ph type="title"/>
          </p:nvPr>
        </p:nvSpPr>
        <p:spPr>
          <a:xfrm>
            <a:off x="194914" y="434111"/>
            <a:ext cx="5284561" cy="895927"/>
          </a:xfrm>
        </p:spPr>
        <p:txBody>
          <a:bodyPr tIns="182880"/>
          <a:lstStyle>
            <a:lvl1pPr>
              <a:defRPr cap="all" baseline="0"/>
            </a:lvl1pPr>
          </a:lstStyle>
          <a:p>
            <a:r>
              <a:rPr lang="en-US"/>
              <a:t>Click to edit Master title style</a:t>
            </a:r>
            <a:endParaRPr lang="en-US" dirty="0"/>
          </a:p>
        </p:txBody>
      </p:sp>
    </p:spTree>
    <p:extLst>
      <p:ext uri="{BB962C8B-B14F-4D97-AF65-F5344CB8AC3E}">
        <p14:creationId xmlns:p14="http://schemas.microsoft.com/office/powerpoint/2010/main" val="1267036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3" y="1709741"/>
            <a:ext cx="7049630" cy="2852737"/>
          </a:xfrm>
        </p:spPr>
        <p:txBody>
          <a:bodyPr anchor="b">
            <a:normAutofit/>
          </a:bodyPr>
          <a:lstStyle>
            <a:lvl1pPr algn="l">
              <a:defRPr sz="4000" baseline="0">
                <a:solidFill>
                  <a:schemeClr val="tx1"/>
                </a:solidFill>
              </a:defRPr>
            </a:lvl1pPr>
          </a:lstStyle>
          <a:p>
            <a:r>
              <a:rPr lang="en-US" dirty="0"/>
              <a:t>CLICK TO EDIT MASTER</a:t>
            </a:r>
            <a:br>
              <a:rPr lang="en-US" dirty="0"/>
            </a:br>
            <a:r>
              <a:rPr lang="en-US" dirty="0"/>
              <a:t>SECTION TITLE SLIDE</a:t>
            </a:r>
          </a:p>
        </p:txBody>
      </p:sp>
      <p:sp>
        <p:nvSpPr>
          <p:cNvPr id="3" name="Text Placeholder 2"/>
          <p:cNvSpPr>
            <a:spLocks noGrp="1"/>
          </p:cNvSpPr>
          <p:nvPr>
            <p:ph type="body" idx="1"/>
          </p:nvPr>
        </p:nvSpPr>
        <p:spPr>
          <a:xfrm>
            <a:off x="194913" y="4589466"/>
            <a:ext cx="7049630" cy="1500187"/>
          </a:xfrm>
        </p:spPr>
        <p:txBody>
          <a:bodyPr>
            <a:normAutofit/>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6902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0392" y="3727927"/>
            <a:ext cx="6577965" cy="1212056"/>
          </a:xfrm>
        </p:spPr>
        <p:txBody>
          <a:bodyPr anchor="b">
            <a:noAutofit/>
          </a:bodyPr>
          <a:lstStyle>
            <a:lvl1pPr algn="l">
              <a:defRPr sz="4000" baseline="0">
                <a:solidFill>
                  <a:schemeClr val="tx1"/>
                </a:solidFill>
                <a:latin typeface="+mj-lt"/>
              </a:defRPr>
            </a:lvl1pPr>
          </a:lstStyle>
          <a:p>
            <a:r>
              <a:rPr lang="en-US" dirty="0"/>
              <a:t>CLICK TO EDIT MASTER</a:t>
            </a:r>
            <a:br>
              <a:rPr lang="en-US" dirty="0"/>
            </a:br>
            <a:r>
              <a:rPr lang="en-US" dirty="0"/>
              <a:t>SECTION TITLE SLIDE OPTION 2</a:t>
            </a:r>
          </a:p>
        </p:txBody>
      </p:sp>
      <p:sp>
        <p:nvSpPr>
          <p:cNvPr id="3" name="Subtitle 2"/>
          <p:cNvSpPr>
            <a:spLocks noGrp="1"/>
          </p:cNvSpPr>
          <p:nvPr>
            <p:ph type="subTitle" idx="1"/>
          </p:nvPr>
        </p:nvSpPr>
        <p:spPr bwMode="gray">
          <a:xfrm>
            <a:off x="720392" y="4947816"/>
            <a:ext cx="6577965" cy="666549"/>
          </a:xfrm>
        </p:spPr>
        <p:txBody>
          <a:bodyPr anchor="t">
            <a:normAutofit/>
          </a:bodyPr>
          <a:lstStyle>
            <a:lvl1pPr marL="0" indent="0" algn="l">
              <a:buNone/>
              <a:defRPr sz="240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grpSp>
        <p:nvGrpSpPr>
          <p:cNvPr id="16" name="Group 15"/>
          <p:cNvGrpSpPr/>
          <p:nvPr userDrawn="1"/>
        </p:nvGrpSpPr>
        <p:grpSpPr>
          <a:xfrm>
            <a:off x="0" y="0"/>
            <a:ext cx="9144000" cy="397164"/>
            <a:chOff x="421830" y="1342659"/>
            <a:chExt cx="10018760" cy="290558"/>
          </a:xfrm>
        </p:grpSpPr>
        <p:sp>
          <p:nvSpPr>
            <p:cNvPr id="17" name="Rectangle 16"/>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F031D293-784B-194D-B017-C76342FBDC7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619761" y="1925320"/>
            <a:ext cx="8280400" cy="1100969"/>
          </a:xfrm>
          <a:prstGeom prst="rect">
            <a:avLst/>
          </a:prstGeom>
        </p:spPr>
      </p:pic>
    </p:spTree>
    <p:extLst>
      <p:ext uri="{BB962C8B-B14F-4D97-AF65-F5344CB8AC3E}">
        <p14:creationId xmlns:p14="http://schemas.microsoft.com/office/powerpoint/2010/main" val="3642748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4" y="434111"/>
            <a:ext cx="8677297" cy="895927"/>
          </a:xfrm>
        </p:spPr>
        <p:txBody>
          <a:bodyPr/>
          <a:lstStyle/>
          <a:p>
            <a:r>
              <a:rPr lang="en-US" dirty="0"/>
              <a:t>CLICK TO EDIT MASTER TITLE STYLE</a:t>
            </a:r>
          </a:p>
        </p:txBody>
      </p:sp>
      <p:sp>
        <p:nvSpPr>
          <p:cNvPr id="3" name="Content Placeholder 2"/>
          <p:cNvSpPr>
            <a:spLocks noGrp="1"/>
          </p:cNvSpPr>
          <p:nvPr>
            <p:ph sz="half" idx="1"/>
          </p:nvPr>
        </p:nvSpPr>
        <p:spPr>
          <a:xfrm>
            <a:off x="194913" y="1413164"/>
            <a:ext cx="4190141"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8245" y="1413164"/>
            <a:ext cx="4243965"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38516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4912" y="1396192"/>
            <a:ext cx="4214718" cy="670270"/>
          </a:xfrm>
        </p:spPr>
        <p:txBody>
          <a:bodyPr anchor="b">
            <a:noAutofit/>
          </a:bodyPr>
          <a:lstStyle>
            <a:lvl1pPr marL="0" indent="0">
              <a:buNone/>
              <a:defRPr sz="2800" b="1" baseline="0">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194912" y="2184402"/>
            <a:ext cx="4214718"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77115" y="1396192"/>
            <a:ext cx="4195094" cy="670270"/>
          </a:xfrm>
        </p:spPr>
        <p:txBody>
          <a:bodyPr anchor="b">
            <a:normAutofit/>
          </a:bodyPr>
          <a:lstStyle>
            <a:lvl1pPr marL="0" indent="0">
              <a:buNone/>
              <a:defRPr sz="2800" b="1">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77115" y="2184402"/>
            <a:ext cx="4195094"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hasCustomPrompt="1"/>
          </p:nvPr>
        </p:nvSpPr>
        <p:spPr>
          <a:xfrm>
            <a:off x="194914" y="434111"/>
            <a:ext cx="8677297" cy="895927"/>
          </a:xfrm>
        </p:spPr>
        <p:txBody>
          <a:bodyPr/>
          <a:lstStyle/>
          <a:p>
            <a:r>
              <a:rPr lang="en-US" dirty="0"/>
              <a:t>CLICK TO EDIT MASTER TITLE STYLE</a:t>
            </a:r>
          </a:p>
        </p:txBody>
      </p:sp>
    </p:spTree>
    <p:extLst>
      <p:ext uri="{BB962C8B-B14F-4D97-AF65-F5344CB8AC3E}">
        <p14:creationId xmlns:p14="http://schemas.microsoft.com/office/powerpoint/2010/main" val="519598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2708487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165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087678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47555"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cxnSp>
        <p:nvCxnSpPr>
          <p:cNvPr id="12" name="Straight Connector 11"/>
          <p:cNvCxnSpPr/>
          <p:nvPr userDrawn="1"/>
        </p:nvCxnSpPr>
        <p:spPr>
          <a:xfrm>
            <a:off x="2947556"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2947556"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495300" y="2420360"/>
            <a:ext cx="8153400" cy="2114550"/>
          </a:xfrm>
        </p:spPr>
        <p:txBody>
          <a:bodyPr anchor="ctr">
            <a:normAutofit/>
          </a:bodyPr>
          <a:lstStyle>
            <a:lvl1pPr marL="0" indent="0" algn="ctr">
              <a:lnSpc>
                <a:spcPct val="100000"/>
              </a:lnSpc>
              <a:buNone/>
              <a:defRPr sz="28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2947556"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spTree>
    <p:extLst>
      <p:ext uri="{BB962C8B-B14F-4D97-AF65-F5344CB8AC3E}">
        <p14:creationId xmlns:p14="http://schemas.microsoft.com/office/powerpoint/2010/main" val="1064198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4762714" y="495661"/>
            <a:ext cx="4080486" cy="5757360"/>
          </a:xfrm>
        </p:spPr>
        <p:txBody>
          <a:bodyPr/>
          <a:lstStyle/>
          <a:p>
            <a:r>
              <a:rPr lang="en-US"/>
              <a:t>Click icon to add picture</a:t>
            </a:r>
          </a:p>
        </p:txBody>
      </p:sp>
      <p:sp>
        <p:nvSpPr>
          <p:cNvPr id="2" name="Title 1"/>
          <p:cNvSpPr>
            <a:spLocks noGrp="1"/>
          </p:cNvSpPr>
          <p:nvPr>
            <p:ph type="title" hasCustomPrompt="1"/>
          </p:nvPr>
        </p:nvSpPr>
        <p:spPr>
          <a:xfrm>
            <a:off x="640773"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2915434" cy="250337"/>
          </a:xfrm>
          <a:prstGeom prst="rect">
            <a:avLst/>
          </a:prstGeom>
        </p:spPr>
        <p:txBody>
          <a:bodyPr/>
          <a:lstStyle/>
          <a:p>
            <a:r>
              <a:rPr lang="en-US"/>
              <a:t>PRESENTATION TITLE</a:t>
            </a:r>
            <a:endParaRPr lang="en-US" dirty="0"/>
          </a:p>
        </p:txBody>
      </p:sp>
      <p:sp>
        <p:nvSpPr>
          <p:cNvPr id="15" name="Text Placeholder 14"/>
          <p:cNvSpPr>
            <a:spLocks noGrp="1"/>
          </p:cNvSpPr>
          <p:nvPr>
            <p:ph type="body" sz="quarter" idx="13"/>
          </p:nvPr>
        </p:nvSpPr>
        <p:spPr>
          <a:xfrm>
            <a:off x="408708" y="2409026"/>
            <a:ext cx="3713021" cy="2114550"/>
          </a:xfrm>
        </p:spPr>
        <p:txBody>
          <a:bodyPr anchor="ctr">
            <a:normAutofit/>
          </a:bodyPr>
          <a:lstStyle>
            <a:lvl1pPr marL="0" indent="0" algn="ctr">
              <a:lnSpc>
                <a:spcPct val="100000"/>
              </a:lnSpc>
              <a:buNone/>
              <a:defRPr sz="22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640773"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p:cNvCxnSpPr/>
          <p:nvPr userDrawn="1"/>
        </p:nvCxnSpPr>
        <p:spPr>
          <a:xfrm>
            <a:off x="640774"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640774"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1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467728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366682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solidFill>
                  <a:schemeClr val="bg1"/>
                </a:solidFill>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solidFill>
                  <a:schemeClr val="bg1"/>
                </a:solidFill>
              </a:defRPr>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lvl1pPr>
              <a:defRPr>
                <a:solidFill>
                  <a:schemeClr val="bg1"/>
                </a:solidFill>
              </a:defRPr>
            </a:lvl1pPr>
          </a:lstStyle>
          <a:p>
            <a:r>
              <a:rPr lang="en-US"/>
              <a:t>PRESENTATION TITLE</a:t>
            </a:r>
            <a:endParaRPr lang="en-US" dirty="0"/>
          </a:p>
        </p:txBody>
      </p:sp>
    </p:spTree>
    <p:extLst>
      <p:ext uri="{BB962C8B-B14F-4D97-AF65-F5344CB8AC3E}">
        <p14:creationId xmlns:p14="http://schemas.microsoft.com/office/powerpoint/2010/main" val="303502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tx1"/>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10" name="Footer Placeholder 9"/>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8" name="Group 7"/>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7" name="Picture 16">
            <a:extLst>
              <a:ext uri="{FF2B5EF4-FFF2-40B4-BE49-F238E27FC236}">
                <a16:creationId xmlns:a16="http://schemas.microsoft.com/office/drawing/2014/main" id="{8EF7CDFE-4AD1-C042-9B69-C29262BF44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2857" y="411480"/>
            <a:ext cx="5683943" cy="4160520"/>
          </a:xfrm>
          <a:prstGeom prst="rect">
            <a:avLst/>
          </a:prstGeom>
        </p:spPr>
      </p:pic>
    </p:spTree>
    <p:extLst>
      <p:ext uri="{BB962C8B-B14F-4D97-AF65-F5344CB8AC3E}">
        <p14:creationId xmlns:p14="http://schemas.microsoft.com/office/powerpoint/2010/main" val="326967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Slide_ALT">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hqprint">
            <a:extLst>
              <a:ext uri="{28A0092B-C50C-407E-A947-70E740481C1C}">
                <a14:useLocalDpi xmlns:a14="http://schemas.microsoft.com/office/drawing/2010/main" val="0"/>
              </a:ext>
            </a:extLst>
          </a:blip>
          <a:srcRect/>
          <a:stretch/>
        </p:blipFill>
        <p:spPr>
          <a:xfrm>
            <a:off x="0" y="0"/>
            <a:ext cx="9144000" cy="6858000"/>
          </a:xfrm>
          <a:prstGeom prst="rect">
            <a:avLst/>
          </a:prstGeom>
        </p:spPr>
      </p:pic>
      <p:sp>
        <p:nvSpPr>
          <p:cNvPr id="7" name="Footer Placeholder 6"/>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10" name="Group 9"/>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7"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bg1"/>
                </a:solidFill>
                <a:latin typeface="Verdana" charset="0"/>
                <a:ea typeface="Verdana" charset="0"/>
                <a:cs typeface="Verdana" charset="0"/>
              </a:defRPr>
            </a:lvl1pPr>
          </a:lstStyle>
          <a:p>
            <a:pPr marL="0" lvl="0" algn="ctr">
              <a:lnSpc>
                <a:spcPct val="75000"/>
              </a:lnSpc>
            </a:pPr>
            <a:r>
              <a:rPr lang="en-US" dirty="0"/>
              <a:t>click to edit master closing slide</a:t>
            </a:r>
          </a:p>
        </p:txBody>
      </p:sp>
      <p:pic>
        <p:nvPicPr>
          <p:cNvPr id="18" name="Picture 17">
            <a:extLst>
              <a:ext uri="{FF2B5EF4-FFF2-40B4-BE49-F238E27FC236}">
                <a16:creationId xmlns:a16="http://schemas.microsoft.com/office/drawing/2014/main" id="{710C154A-5454-7D48-9F68-2CA0B87496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22120" y="355600"/>
            <a:ext cx="5683943" cy="4160520"/>
          </a:xfrm>
          <a:prstGeom prst="rect">
            <a:avLst/>
          </a:prstGeom>
        </p:spPr>
      </p:pic>
    </p:spTree>
    <p:extLst>
      <p:ext uri="{BB962C8B-B14F-4D97-AF65-F5344CB8AC3E}">
        <p14:creationId xmlns:p14="http://schemas.microsoft.com/office/powerpoint/2010/main" val="372208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4" name="Title 13"/>
          <p:cNvSpPr>
            <a:spLocks noGrp="1"/>
          </p:cNvSpPr>
          <p:nvPr>
            <p:ph type="title"/>
          </p:nvPr>
        </p:nvSpPr>
        <p:spPr>
          <a:xfrm>
            <a:off x="457200" y="215372"/>
            <a:ext cx="8229600" cy="621792"/>
          </a:xfrm>
        </p:spPr>
        <p:txBody>
          <a:bodyPr anchor="t" anchorCtr="0"/>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5" name="Date Placeholder 14"/>
          <p:cNvSpPr>
            <a:spLocks noGrp="1"/>
          </p:cNvSpPr>
          <p:nvPr>
            <p:ph type="dt" sz="half" idx="16"/>
          </p:nvPr>
        </p:nvSpPr>
        <p:spPr>
          <a:xfrm>
            <a:off x="6335713" y="113072"/>
            <a:ext cx="2133600" cy="182880"/>
          </a:xfrm>
          <a:prstGeom prst="rect">
            <a:avLst/>
          </a:prstGeom>
        </p:spPr>
        <p:txBody>
          <a:bodyPr/>
          <a:lstStyle/>
          <a:p>
            <a:fld id="{A9DF6EFB-3F44-496C-A842-1E0B3D3B975A}" type="datetimeFigureOut">
              <a:rPr lang="en-US" smtClean="0"/>
              <a:pPr/>
              <a:t>10/28/25</a:t>
            </a:fld>
            <a:endParaRPr lang="en-US" dirty="0"/>
          </a:p>
        </p:txBody>
      </p:sp>
      <p:sp>
        <p:nvSpPr>
          <p:cNvPr id="17" name="Slide Number Placeholder 16"/>
          <p:cNvSpPr>
            <a:spLocks noGrp="1"/>
          </p:cNvSpPr>
          <p:nvPr>
            <p:ph type="sldNum" sz="quarter" idx="17"/>
          </p:nvPr>
        </p:nvSpPr>
        <p:spPr/>
        <p:txBody>
          <a:bodyPr/>
          <a:lstStyle>
            <a:lvl1pPr>
              <a:defRPr sz="900"/>
            </a:lvl1pPr>
          </a:lstStyle>
          <a:p>
            <a:fld id="{200B2350-5261-4F5C-9DF5-EF0D264FC8D2}" type="slidenum">
              <a:rPr lang="en-US" smtClean="0"/>
              <a:pPr/>
              <a:t>‹#›</a:t>
            </a:fld>
            <a:endParaRPr lang="en-US" dirty="0"/>
          </a:p>
        </p:txBody>
      </p:sp>
      <p:sp>
        <p:nvSpPr>
          <p:cNvPr id="18" name="Footer Placeholder 17"/>
          <p:cNvSpPr>
            <a:spLocks noGrp="1"/>
          </p:cNvSpPr>
          <p:nvPr>
            <p:ph type="ftr" sz="quarter" idx="18"/>
          </p:nvPr>
        </p:nvSpPr>
        <p:spPr/>
        <p:txBody>
          <a:bodyPr/>
          <a:lstStyle/>
          <a:p>
            <a:endParaRPr lang="en-US" dirty="0"/>
          </a:p>
        </p:txBody>
      </p:sp>
      <p:sp>
        <p:nvSpPr>
          <p:cNvPr id="27" name="Text Placeholder 25"/>
          <p:cNvSpPr>
            <a:spLocks noGrp="1"/>
          </p:cNvSpPr>
          <p:nvPr>
            <p:ph type="body" sz="quarter" idx="19" hasCustomPrompt="1"/>
          </p:nvPr>
        </p:nvSpPr>
        <p:spPr>
          <a:xfrm>
            <a:off x="5007428" y="6428232"/>
            <a:ext cx="3657600" cy="201168"/>
          </a:xfrm>
        </p:spPr>
        <p:txBody>
          <a:bodyPr anchor="ctr" anchorCtr="0"/>
          <a:lstStyle>
            <a:lvl1pPr marL="0" marR="0" indent="0" algn="r" defTabSz="914400" rtl="0" eaLnBrk="1" fontAlgn="auto" latinLnBrk="0" hangingPunct="1">
              <a:lnSpc>
                <a:spcPct val="100000"/>
              </a:lnSpc>
              <a:spcBef>
                <a:spcPts val="0"/>
              </a:spcBef>
              <a:spcAft>
                <a:spcPts val="0"/>
              </a:spcAft>
              <a:buClrTx/>
              <a:buSzTx/>
              <a:buFontTx/>
              <a:buNone/>
              <a:tabLst/>
              <a:defRPr kumimoji="0" lang="en-US" altLang="en-US" sz="800" b="1" i="0" u="none" strike="noStrike" kern="120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Pearson Canada Inc.</a:t>
            </a:r>
            <a:endParaRPr kumimoji="0" lang="en-US" altLang="en-US" sz="1000" b="0" i="0" u="none" strike="noStrike" kern="1200" cap="none" spc="0" normalizeH="0" baseline="0" noProof="0" dirty="0">
              <a:ln>
                <a:noFill/>
              </a:ln>
              <a:solidFill>
                <a:schemeClr val="tx1"/>
              </a:solidFill>
              <a:effectLst/>
              <a:uLnTx/>
              <a:uFillTx/>
              <a:latin typeface="+mn-lt"/>
              <a:ea typeface="Verdana" panose="020B0604030504040204" pitchFamily="34" charset="0"/>
              <a:cs typeface="Verdana" panose="020B0604030504040204" pitchFamily="34" charset="0"/>
            </a:endParaRP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41007659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buNone/>
              <a:defRPr lang="en-US" sz="2000" kern="1200" dirty="0">
                <a:solidFill>
                  <a:schemeClr val="tx1"/>
                </a:solidFill>
                <a:latin typeface="+mn-lt"/>
                <a:ea typeface="+mn-ea"/>
                <a:cs typeface="+mn-cs"/>
              </a:defRPr>
            </a:lvl1pPr>
            <a:lvl2pPr marL="569913" indent="-285750">
              <a:buClr>
                <a:srgbClr val="007FA3"/>
              </a:buClr>
              <a:buNone/>
              <a:defRPr lang="en-US" sz="2000" kern="1200" dirty="0">
                <a:solidFill>
                  <a:schemeClr val="tx1"/>
                </a:solidFill>
                <a:latin typeface="+mn-lt"/>
                <a:ea typeface="+mn-ea"/>
                <a:cs typeface="+mn-cs"/>
              </a:defRPr>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marL="256032" lvl="0" indent="-256032" algn="l" defTabSz="914400" rtl="0" eaLnBrk="1" latinLnBrk="0" hangingPunct="1">
              <a:spcBef>
                <a:spcPts val="1500"/>
              </a:spcBef>
              <a:buClr>
                <a:srgbClr val="007FA3"/>
              </a:buClr>
              <a:buSzPct val="100000"/>
              <a:buFont typeface="Arial" panose="020B0604020202020204" pitchFamily="34" charset="0"/>
              <a:buChar char="•"/>
            </a:pPr>
            <a:r>
              <a:rPr lang="en-US" dirty="0"/>
              <a:t>Click to edit Master text styles</a:t>
            </a:r>
          </a:p>
          <a:p>
            <a:pPr marL="742950" lvl="1" indent="-285750" algn="l" defTabSz="914400" rtl="0" eaLnBrk="1" latinLnBrk="0" hangingPunct="1">
              <a:spcBef>
                <a:spcPts val="600"/>
              </a:spcBef>
              <a:buClr>
                <a:srgbClr val="007FA3"/>
              </a:buClr>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10/28/25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996862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dirty="0"/>
          </a:p>
        </p:txBody>
      </p:sp>
      <p:sp>
        <p:nvSpPr>
          <p:cNvPr id="7" name="Date Placeholder 6"/>
          <p:cNvSpPr>
            <a:spLocks noGrp="1"/>
          </p:cNvSpPr>
          <p:nvPr>
            <p:ph type="dt" sz="half" idx="10"/>
          </p:nvPr>
        </p:nvSpPr>
        <p:spPr/>
        <p:txBody>
          <a:bodyPr/>
          <a:lstStyle/>
          <a:p>
            <a:fld id="{E0DBC1D4-5704-45BB-BA8B-9B7E98161C8B}" type="datetimeFigureOut">
              <a:rPr lang="en-US" smtClean="0"/>
              <a:pPr/>
              <a:t>10/28/25</a:t>
            </a:fld>
            <a:endParaRPr lang="en-US" dirty="0"/>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dirty="0"/>
          </a:p>
        </p:txBody>
      </p:sp>
    </p:spTree>
    <p:extLst>
      <p:ext uri="{BB962C8B-B14F-4D97-AF65-F5344CB8AC3E}">
        <p14:creationId xmlns:p14="http://schemas.microsoft.com/office/powerpoint/2010/main" val="40135251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10/28/25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428625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6" name="Picture 25"/>
          <p:cNvPicPr>
            <a:picLocks noChangeAspect="1"/>
          </p:cNvPicPr>
          <p:nvPr userDrawn="1"/>
        </p:nvPicPr>
        <p:blipFill>
          <a:blip r:embed="rId26"/>
          <a:stretch>
            <a:fillRect/>
          </a:stretch>
        </p:blipFill>
        <p:spPr>
          <a:xfrm>
            <a:off x="6827793" y="6147742"/>
            <a:ext cx="2060466" cy="527423"/>
          </a:xfrm>
          <a:prstGeom prst="rect">
            <a:avLst/>
          </a:prstGeom>
        </p:spPr>
      </p:pic>
      <p:sp>
        <p:nvSpPr>
          <p:cNvPr id="2" name="Title Placeholder 1"/>
          <p:cNvSpPr>
            <a:spLocks noGrp="1"/>
          </p:cNvSpPr>
          <p:nvPr>
            <p:ph type="title"/>
          </p:nvPr>
        </p:nvSpPr>
        <p:spPr>
          <a:xfrm>
            <a:off x="194914" y="434111"/>
            <a:ext cx="8677297" cy="895927"/>
          </a:xfrm>
          <a:prstGeom prst="rect">
            <a:avLst/>
          </a:prstGeom>
        </p:spPr>
        <p:txBody>
          <a:bodyPr vert="horz" lIns="91440" tIns="9144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4913" y="1413166"/>
            <a:ext cx="8677297" cy="45951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5" name="Group 14"/>
          <p:cNvGrpSpPr/>
          <p:nvPr userDrawn="1"/>
        </p:nvGrpSpPr>
        <p:grpSpPr>
          <a:xfrm>
            <a:off x="0" y="0"/>
            <a:ext cx="9144000" cy="397164"/>
            <a:chOff x="421830" y="1342659"/>
            <a:chExt cx="10018760" cy="290558"/>
          </a:xfrm>
        </p:grpSpPr>
        <p:sp>
          <p:nvSpPr>
            <p:cNvPr id="16" name="Rectangle 15"/>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Rectangle 16"/>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4" name="Picture 13">
            <a:extLst>
              <a:ext uri="{FF2B5EF4-FFF2-40B4-BE49-F238E27FC236}">
                <a16:creationId xmlns:a16="http://schemas.microsoft.com/office/drawing/2014/main" id="{1DEEB02D-A9CE-7C41-A3A6-27E44A03553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973700157"/>
      </p:ext>
    </p:extLst>
  </p:cSld>
  <p:clrMap bg1="lt1" tx1="dk1" bg2="lt2" tx2="dk2" accent1="accent1" accent2="accent2" accent3="accent3" accent4="accent4" accent5="accent5" accent6="accent6" hlink="hlink" folHlink="folHlink"/>
  <p:sldLayoutIdLst>
    <p:sldLayoutId id="2147483669" r:id="rId1"/>
    <p:sldLayoutId id="2147483714" r:id="rId2"/>
    <p:sldLayoutId id="2147483715" r:id="rId3"/>
    <p:sldLayoutId id="2147483716" r:id="rId4"/>
    <p:sldLayoutId id="2147483670" r:id="rId5"/>
    <p:sldLayoutId id="2147483693" r:id="rId6"/>
    <p:sldLayoutId id="2147483671" r:id="rId7"/>
    <p:sldLayoutId id="2147483690" r:id="rId8"/>
    <p:sldLayoutId id="2147483672" r:id="rId9"/>
    <p:sldLayoutId id="2147483673" r:id="rId10"/>
    <p:sldLayoutId id="2147483674" r:id="rId11"/>
    <p:sldLayoutId id="2147483675" r:id="rId12"/>
    <p:sldLayoutId id="2147483710" r:id="rId13"/>
    <p:sldLayoutId id="2147483717" r:id="rId14"/>
    <p:sldLayoutId id="2147483718" r:id="rId15"/>
    <p:sldLayoutId id="2147483719" r:id="rId16"/>
    <p:sldLayoutId id="2147483720" r:id="rId17"/>
    <p:sldLayoutId id="2147483721" r:id="rId18"/>
    <p:sldLayoutId id="2147483712" r:id="rId19"/>
    <p:sldLayoutId id="2147483713" r:id="rId20"/>
    <p:sldLayoutId id="2147483722" r:id="rId21"/>
    <p:sldLayoutId id="2147483726" r:id="rId22"/>
    <p:sldLayoutId id="2147483727" r:id="rId23"/>
    <p:sldLayoutId id="2147483728" r:id="rId2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85000"/>
        </a:lnSpc>
        <a:spcBef>
          <a:spcPct val="0"/>
        </a:spcBef>
        <a:buNone/>
        <a:defRPr sz="3600" b="0" kern="1200" spc="51" baseline="0">
          <a:solidFill>
            <a:schemeClr val="tx1"/>
          </a:solidFill>
          <a:latin typeface="+mj-lt"/>
          <a:ea typeface="+mj-ea"/>
          <a:cs typeface="+mj-cs"/>
        </a:defRPr>
      </a:lvl1pPr>
    </p:titleStyle>
    <p:bodyStyle>
      <a:lvl1pPr marL="288918" indent="-288918" algn="l" defTabSz="914377"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2971" indent="-228594" algn="l" defTabSz="914377"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160"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9.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0.xml"/><Relationship Id="rId1" Type="http://schemas.openxmlformats.org/officeDocument/2006/relationships/slideLayout" Target="../slideLayouts/slideLayout24.xml"/><Relationship Id="rId4" Type="http://schemas.openxmlformats.org/officeDocument/2006/relationships/image" Target="../media/image10.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9557" y="585927"/>
            <a:ext cx="8262905" cy="1917132"/>
          </a:xfrm>
        </p:spPr>
        <p:txBody>
          <a:bodyPr/>
          <a:lstStyle/>
          <a:p>
            <a:r>
              <a:rPr lang="en-US" sz="4400" dirty="0"/>
              <a:t>Chapter 7</a:t>
            </a:r>
            <a:br>
              <a:rPr lang="en-US" sz="4400" dirty="0"/>
            </a:br>
            <a:r>
              <a:rPr lang="en-US" altLang="en-US" sz="4400" dirty="0">
                <a:solidFill>
                  <a:schemeClr val="accent2"/>
                </a:solidFill>
              </a:rPr>
              <a:t>Liabilities</a:t>
            </a:r>
            <a:endParaRPr lang="en-US" sz="4400" dirty="0"/>
          </a:p>
        </p:txBody>
      </p:sp>
      <p:sp>
        <p:nvSpPr>
          <p:cNvPr id="4" name="Subtitle 3">
            <a:extLst>
              <a:ext uri="{FF2B5EF4-FFF2-40B4-BE49-F238E27FC236}">
                <a16:creationId xmlns:a16="http://schemas.microsoft.com/office/drawing/2014/main" id="{E4A46C98-5076-55BD-2774-EBF6AF2DA35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486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8CAF4-1210-BDA6-0753-717F286CDD97}"/>
              </a:ext>
            </a:extLst>
          </p:cNvPr>
          <p:cNvSpPr>
            <a:spLocks noGrp="1"/>
          </p:cNvSpPr>
          <p:nvPr>
            <p:ph type="title"/>
          </p:nvPr>
        </p:nvSpPr>
        <p:spPr/>
        <p:txBody>
          <a:bodyPr/>
          <a:lstStyle/>
          <a:p>
            <a:r>
              <a:rPr lang="en-US"/>
              <a:t>Learning Objectives</a:t>
            </a:r>
          </a:p>
        </p:txBody>
      </p:sp>
      <p:sp>
        <p:nvSpPr>
          <p:cNvPr id="3" name="Content Placeholder 2">
            <a:extLst>
              <a:ext uri="{FF2B5EF4-FFF2-40B4-BE49-F238E27FC236}">
                <a16:creationId xmlns:a16="http://schemas.microsoft.com/office/drawing/2014/main" id="{42F02B29-6C32-80FC-5274-12D1DCD5E5BF}"/>
              </a:ext>
            </a:extLst>
          </p:cNvPr>
          <p:cNvSpPr>
            <a:spLocks noGrp="1"/>
          </p:cNvSpPr>
          <p:nvPr>
            <p:ph idx="1"/>
          </p:nvPr>
        </p:nvSpPr>
        <p:spPr/>
        <p:txBody>
          <a:bodyPr>
            <a:normAutofit lnSpcReduction="10000"/>
          </a:bodyPr>
          <a:lstStyle/>
          <a:p>
            <a:pPr marL="0" indent="0">
              <a:buNone/>
            </a:pPr>
            <a:r>
              <a:rPr lang="en-US" dirty="0"/>
              <a:t>LO1</a:t>
            </a:r>
            <a:r>
              <a:rPr lang="en-US" b="1" dirty="0"/>
              <a:t> Explain</a:t>
            </a:r>
            <a:r>
              <a:rPr lang="en-US" dirty="0"/>
              <a:t> and </a:t>
            </a:r>
            <a:r>
              <a:rPr lang="en-US" b="1" dirty="0"/>
              <a:t>account</a:t>
            </a:r>
            <a:r>
              <a:rPr lang="en-US" dirty="0"/>
              <a:t> for current liabilities.</a:t>
            </a:r>
          </a:p>
          <a:p>
            <a:pPr marL="0" indent="0">
              <a:buNone/>
            </a:pPr>
            <a:r>
              <a:rPr lang="en-US" altLang="en-US" sz="2400" dirty="0">
                <a:solidFill>
                  <a:schemeClr val="accent2"/>
                </a:solidFill>
                <a:ea typeface="ＭＳ Ｐゴシック" pitchFamily="34" charset="-128"/>
              </a:rPr>
              <a:t>LO5</a:t>
            </a:r>
            <a:r>
              <a:rPr lang="en-US" altLang="en-US" sz="2400" b="1" dirty="0">
                <a:solidFill>
                  <a:schemeClr val="accent2"/>
                </a:solidFill>
                <a:ea typeface="ＭＳ Ｐゴシック" pitchFamily="34" charset="-128"/>
              </a:rPr>
              <a:t> Explain</a:t>
            </a:r>
            <a:r>
              <a:rPr lang="en-US" altLang="en-US" sz="2400" dirty="0">
                <a:solidFill>
                  <a:schemeClr val="accent2"/>
                </a:solidFill>
                <a:ea typeface="ＭＳ Ｐゴシック" pitchFamily="34" charset="-128"/>
              </a:rPr>
              <a:t> the advantages and disadvantages of financing with debt versus equity.</a:t>
            </a:r>
          </a:p>
          <a:p>
            <a:pPr marL="0" indent="0">
              <a:buNone/>
            </a:pPr>
            <a:r>
              <a:rPr lang="en-US" altLang="en-US" sz="2400" dirty="0">
                <a:solidFill>
                  <a:schemeClr val="accent2"/>
                </a:solidFill>
                <a:ea typeface="ＭＳ Ｐゴシック" pitchFamily="34" charset="-128"/>
              </a:rPr>
              <a:t>LO6</a:t>
            </a:r>
            <a:r>
              <a:rPr lang="en-US" altLang="en-US" sz="2400" b="1" dirty="0">
                <a:solidFill>
                  <a:schemeClr val="accent2"/>
                </a:solidFill>
                <a:ea typeface="ＭＳ Ｐゴシック" pitchFamily="34" charset="-128"/>
              </a:rPr>
              <a:t> Analyze</a:t>
            </a:r>
            <a:r>
              <a:rPr lang="en-US" altLang="en-US" sz="2400" dirty="0">
                <a:solidFill>
                  <a:schemeClr val="accent2"/>
                </a:solidFill>
                <a:ea typeface="ＭＳ Ｐゴシック" pitchFamily="34" charset="-128"/>
              </a:rPr>
              <a:t> and </a:t>
            </a:r>
            <a:r>
              <a:rPr lang="en-US" altLang="en-US" sz="2400" b="1" dirty="0">
                <a:solidFill>
                  <a:schemeClr val="accent2"/>
                </a:solidFill>
                <a:ea typeface="ＭＳ Ｐゴシック" pitchFamily="34" charset="-128"/>
              </a:rPr>
              <a:t>evaluate</a:t>
            </a:r>
            <a:r>
              <a:rPr lang="en-US" altLang="en-US" sz="2400" dirty="0">
                <a:solidFill>
                  <a:schemeClr val="accent2"/>
                </a:solidFill>
                <a:ea typeface="ＭＳ Ｐゴシック" pitchFamily="34" charset="-128"/>
              </a:rPr>
              <a:t> a company’s debt-paying ability.</a:t>
            </a:r>
          </a:p>
          <a:p>
            <a:pPr marL="0" indent="0">
              <a:buNone/>
            </a:pPr>
            <a:r>
              <a:rPr lang="en-US" altLang="en-US" sz="2400" dirty="0">
                <a:solidFill>
                  <a:schemeClr val="accent2"/>
                </a:solidFill>
                <a:ea typeface="ＭＳ Ｐゴシック" pitchFamily="34" charset="-128"/>
              </a:rPr>
              <a:t>LO7</a:t>
            </a:r>
            <a:r>
              <a:rPr lang="en-US" altLang="en-US" sz="2400" b="1" dirty="0">
                <a:solidFill>
                  <a:schemeClr val="accent2"/>
                </a:solidFill>
                <a:ea typeface="ＭＳ Ｐゴシック" pitchFamily="34" charset="-128"/>
              </a:rPr>
              <a:t> Describe </a:t>
            </a:r>
            <a:r>
              <a:rPr lang="en-US" altLang="en-US" sz="2400" dirty="0">
                <a:solidFill>
                  <a:schemeClr val="accent2"/>
                </a:solidFill>
                <a:ea typeface="ＭＳ Ｐゴシック" pitchFamily="34" charset="-128"/>
              </a:rPr>
              <a:t>other types of long-term liabilities.</a:t>
            </a:r>
            <a:endParaRPr lang="en-US" altLang="en-US" sz="2400" b="1" dirty="0">
              <a:solidFill>
                <a:schemeClr val="accent2"/>
              </a:solidFill>
              <a:ea typeface="ＭＳ Ｐゴシック" pitchFamily="34" charset="-128"/>
            </a:endParaRPr>
          </a:p>
          <a:p>
            <a:pPr marL="0" indent="0">
              <a:buNone/>
            </a:pPr>
            <a:r>
              <a:rPr lang="en-US" altLang="en-US" sz="2400" dirty="0">
                <a:solidFill>
                  <a:schemeClr val="accent2"/>
                </a:solidFill>
                <a:ea typeface="ＭＳ Ｐゴシック" pitchFamily="34" charset="-128"/>
              </a:rPr>
              <a:t>LO 8</a:t>
            </a:r>
            <a:r>
              <a:rPr lang="en-US" altLang="en-US" sz="2400" b="1" dirty="0">
                <a:solidFill>
                  <a:schemeClr val="accent2"/>
                </a:solidFill>
                <a:ea typeface="ＭＳ Ｐゴシック" pitchFamily="34" charset="-128"/>
              </a:rPr>
              <a:t> Report </a:t>
            </a:r>
            <a:r>
              <a:rPr lang="en-US" altLang="en-US" sz="2400" dirty="0">
                <a:solidFill>
                  <a:schemeClr val="accent2"/>
                </a:solidFill>
                <a:ea typeface="ＭＳ Ｐゴシック" pitchFamily="34" charset="-128"/>
              </a:rPr>
              <a:t>liabilities on the balance sheet.</a:t>
            </a:r>
          </a:p>
          <a:p>
            <a:pPr marL="0" indent="0">
              <a:buNone/>
            </a:pPr>
            <a:r>
              <a:rPr lang="en-CA" i="0" dirty="0">
                <a:solidFill>
                  <a:srgbClr val="000000"/>
                </a:solidFill>
                <a:effectLst/>
              </a:rPr>
              <a:t>LO 9 </a:t>
            </a:r>
            <a:r>
              <a:rPr lang="en-CA" b="1" i="0" dirty="0">
                <a:solidFill>
                  <a:srgbClr val="000000"/>
                </a:solidFill>
                <a:effectLst/>
              </a:rPr>
              <a:t>Describe</a:t>
            </a:r>
            <a:r>
              <a:rPr lang="en-CA" b="0" i="0" dirty="0">
                <a:solidFill>
                  <a:srgbClr val="000000"/>
                </a:solidFill>
                <a:effectLst/>
              </a:rPr>
              <a:t> how robotic process automation (RPA) can help with the accounts payable process</a:t>
            </a:r>
          </a:p>
          <a:p>
            <a:pPr marL="0" indent="0">
              <a:buNone/>
            </a:pPr>
            <a:r>
              <a:rPr lang="en-CA" sz="2400" dirty="0">
                <a:solidFill>
                  <a:srgbClr val="000000"/>
                </a:solidFill>
              </a:rPr>
              <a:t>OMIT LO 2, 3, 4 and 10</a:t>
            </a:r>
            <a:endParaRPr lang="en-US" sz="2400" dirty="0">
              <a:solidFill>
                <a:schemeClr val="accent2"/>
              </a:solidFill>
            </a:endParaRPr>
          </a:p>
          <a:p>
            <a:endParaRPr lang="en-US" sz="2400" dirty="0">
              <a:solidFill>
                <a:schemeClr val="accent2"/>
              </a:solidFill>
            </a:endParaRPr>
          </a:p>
          <a:p>
            <a:endParaRPr lang="en-US" sz="2400" dirty="0">
              <a:solidFill>
                <a:schemeClr val="accent2"/>
              </a:solidFill>
            </a:endParaRPr>
          </a:p>
          <a:p>
            <a:endParaRPr lang="en-US" altLang="en-US" sz="2400" dirty="0">
              <a:solidFill>
                <a:schemeClr val="accent2"/>
              </a:solidFill>
              <a:ea typeface="ＭＳ Ｐゴシック" pitchFamily="34" charset="-128"/>
            </a:endParaRPr>
          </a:p>
          <a:p>
            <a:endParaRPr lang="en-US" sz="2400" dirty="0">
              <a:solidFill>
                <a:schemeClr val="accent2"/>
              </a:solidFill>
            </a:endParaRPr>
          </a:p>
          <a:p>
            <a:endParaRPr lang="en-US" dirty="0"/>
          </a:p>
          <a:p>
            <a:endParaRPr lang="en-US" dirty="0"/>
          </a:p>
        </p:txBody>
      </p:sp>
    </p:spTree>
    <p:extLst>
      <p:ext uri="{BB962C8B-B14F-4D97-AF65-F5344CB8AC3E}">
        <p14:creationId xmlns:p14="http://schemas.microsoft.com/office/powerpoint/2010/main" val="625433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Learning Objective One</a:t>
            </a:r>
          </a:p>
        </p:txBody>
      </p:sp>
      <p:sp>
        <p:nvSpPr>
          <p:cNvPr id="5" name="Subtitle 4"/>
          <p:cNvSpPr>
            <a:spLocks noGrp="1"/>
          </p:cNvSpPr>
          <p:nvPr>
            <p:ph type="subTitle" idx="1"/>
          </p:nvPr>
        </p:nvSpPr>
        <p:spPr>
          <a:xfrm>
            <a:off x="339554" y="2840182"/>
            <a:ext cx="5701027" cy="2093192"/>
          </a:xfrm>
        </p:spPr>
        <p:txBody>
          <a:bodyPr>
            <a:noAutofit/>
          </a:bodyPr>
          <a:lstStyle/>
          <a:p>
            <a:r>
              <a:rPr lang="en-US" altLang="en-US" sz="3200" b="1" dirty="0">
                <a:ea typeface="ＭＳ Ｐゴシック" pitchFamily="34" charset="-128"/>
              </a:rPr>
              <a:t>Explain </a:t>
            </a:r>
            <a:r>
              <a:rPr lang="en-US" altLang="en-US" sz="3200" dirty="0">
                <a:ea typeface="ＭＳ Ｐゴシック" pitchFamily="34" charset="-128"/>
              </a:rPr>
              <a:t>and </a:t>
            </a:r>
            <a:r>
              <a:rPr lang="en-US" altLang="en-US" sz="3200" b="1" dirty="0">
                <a:ea typeface="ＭＳ Ｐゴシック" pitchFamily="34" charset="-128"/>
              </a:rPr>
              <a:t>account </a:t>
            </a:r>
            <a:r>
              <a:rPr lang="en-US" altLang="en-US" sz="3200" dirty="0">
                <a:ea typeface="ＭＳ Ｐゴシック" pitchFamily="34" charset="-128"/>
              </a:rPr>
              <a:t>for</a:t>
            </a:r>
            <a:r>
              <a:rPr lang="en-US" altLang="en-US" sz="3200" b="1" dirty="0">
                <a:ea typeface="ＭＳ Ｐゴシック" pitchFamily="34" charset="-128"/>
              </a:rPr>
              <a:t> </a:t>
            </a:r>
            <a:r>
              <a:rPr lang="en-US" altLang="en-US" sz="3200" dirty="0">
                <a:ea typeface="ＭＳ Ｐゴシック" pitchFamily="34" charset="-128"/>
              </a:rPr>
              <a:t>current liabilities</a:t>
            </a:r>
            <a:endParaRPr lang="en-US" sz="3200" dirty="0"/>
          </a:p>
        </p:txBody>
      </p:sp>
    </p:spTree>
    <p:extLst>
      <p:ext uri="{BB962C8B-B14F-4D97-AF65-F5344CB8AC3E}">
        <p14:creationId xmlns:p14="http://schemas.microsoft.com/office/powerpoint/2010/main" val="3873093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Current Liabilities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Obligations due within one year</a:t>
            </a:r>
          </a:p>
          <a:p>
            <a:r>
              <a:rPr lang="en-US" altLang="en-US" dirty="0">
                <a:ea typeface="ＭＳ Ｐゴシック" pitchFamily="34" charset="-128"/>
              </a:rPr>
              <a:t>Two types:</a:t>
            </a:r>
          </a:p>
          <a:p>
            <a:pPr lvl="1"/>
            <a:r>
              <a:rPr lang="en-US" altLang="en-US" dirty="0">
                <a:ea typeface="ＭＳ Ｐゴシック" pitchFamily="34" charset="-128"/>
              </a:rPr>
              <a:t>Known amounts</a:t>
            </a:r>
          </a:p>
          <a:p>
            <a:pPr lvl="1"/>
            <a:r>
              <a:rPr lang="en-US" altLang="en-US" dirty="0">
                <a:ea typeface="ＭＳ Ｐゴシック" pitchFamily="34" charset="-128"/>
              </a:rPr>
              <a:t>Estimated amounts</a:t>
            </a:r>
            <a:endParaRPr lang="en-US" dirty="0"/>
          </a:p>
        </p:txBody>
      </p:sp>
    </p:spTree>
    <p:extLst>
      <p:ext uri="{BB962C8B-B14F-4D97-AF65-F5344CB8AC3E}">
        <p14:creationId xmlns:p14="http://schemas.microsoft.com/office/powerpoint/2010/main" val="540391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1836"/>
            <a:ext cx="8229600" cy="1097280"/>
          </a:xfrm>
        </p:spPr>
        <p:txBody>
          <a:bodyPr/>
          <a:lstStyle/>
          <a:p>
            <a:r>
              <a:rPr lang="en-US" altLang="en-US" dirty="0"/>
              <a:t>Current Liabilities: Known Amount</a:t>
            </a:r>
            <a:endParaRPr lang="en-US" dirty="0"/>
          </a:p>
        </p:txBody>
      </p:sp>
      <p:sp>
        <p:nvSpPr>
          <p:cNvPr id="12" name="Content Placeholder 11"/>
          <p:cNvSpPr>
            <a:spLocks noGrp="1"/>
          </p:cNvSpPr>
          <p:nvPr>
            <p:ph sz="quarter" idx="16"/>
          </p:nvPr>
        </p:nvSpPr>
        <p:spPr>
          <a:xfrm>
            <a:off x="473310" y="1615407"/>
            <a:ext cx="2560320" cy="1463040"/>
          </a:xfrm>
        </p:spPr>
        <p:txBody>
          <a:bodyPr/>
          <a:lstStyle/>
          <a:p>
            <a:pPr marL="0" indent="0"/>
            <a:r>
              <a:rPr lang="en-US" dirty="0"/>
              <a:t>Short-term borrowings</a:t>
            </a:r>
          </a:p>
        </p:txBody>
      </p:sp>
      <p:sp>
        <p:nvSpPr>
          <p:cNvPr id="5" name="Text Placeholder 4"/>
          <p:cNvSpPr>
            <a:spLocks noGrp="1"/>
          </p:cNvSpPr>
          <p:nvPr>
            <p:ph type="body" idx="1"/>
          </p:nvPr>
        </p:nvSpPr>
        <p:spPr>
          <a:xfrm>
            <a:off x="3291840" y="1611246"/>
            <a:ext cx="2560320" cy="1463040"/>
          </a:xfrm>
        </p:spPr>
        <p:txBody>
          <a:bodyPr/>
          <a:lstStyle/>
          <a:p>
            <a:pPr lvl="0"/>
            <a:r>
              <a:rPr lang="en-US" dirty="0"/>
              <a:t>Accounts payable</a:t>
            </a:r>
          </a:p>
        </p:txBody>
      </p:sp>
      <p:sp>
        <p:nvSpPr>
          <p:cNvPr id="8" name="Content Placeholder 7"/>
          <p:cNvSpPr>
            <a:spLocks noGrp="1"/>
          </p:cNvSpPr>
          <p:nvPr>
            <p:ph sz="quarter" idx="4"/>
          </p:nvPr>
        </p:nvSpPr>
        <p:spPr>
          <a:xfrm>
            <a:off x="6073584" y="1611246"/>
            <a:ext cx="2560320" cy="1463040"/>
          </a:xfrm>
        </p:spPr>
        <p:txBody>
          <a:bodyPr/>
          <a:lstStyle/>
          <a:p>
            <a:pPr marL="0" indent="0"/>
            <a:r>
              <a:rPr lang="en-US" dirty="0"/>
              <a:t>Accrued liabilities</a:t>
            </a:r>
          </a:p>
        </p:txBody>
      </p:sp>
      <p:sp>
        <p:nvSpPr>
          <p:cNvPr id="6" name="Content Placeholder 5"/>
          <p:cNvSpPr>
            <a:spLocks noGrp="1"/>
          </p:cNvSpPr>
          <p:nvPr>
            <p:ph sz="half" idx="2"/>
          </p:nvPr>
        </p:nvSpPr>
        <p:spPr>
          <a:xfrm>
            <a:off x="473310" y="3200892"/>
            <a:ext cx="2560320" cy="1463040"/>
          </a:xfrm>
        </p:spPr>
        <p:txBody>
          <a:bodyPr/>
          <a:lstStyle/>
          <a:p>
            <a:pPr marL="0" indent="0"/>
            <a:r>
              <a:rPr lang="en-US" dirty="0"/>
              <a:t>Short-term notes payable</a:t>
            </a:r>
          </a:p>
        </p:txBody>
      </p:sp>
      <p:sp>
        <p:nvSpPr>
          <p:cNvPr id="7" name="Text Placeholder 6"/>
          <p:cNvSpPr>
            <a:spLocks noGrp="1"/>
          </p:cNvSpPr>
          <p:nvPr>
            <p:ph type="body" sz="quarter" idx="3"/>
          </p:nvPr>
        </p:nvSpPr>
        <p:spPr>
          <a:xfrm>
            <a:off x="3310233" y="3200892"/>
            <a:ext cx="2560320" cy="1463040"/>
          </a:xfrm>
        </p:spPr>
        <p:txBody>
          <a:bodyPr/>
          <a:lstStyle/>
          <a:p>
            <a:r>
              <a:rPr lang="en-US" dirty="0"/>
              <a:t>Sales tax payable</a:t>
            </a:r>
          </a:p>
        </p:txBody>
      </p:sp>
      <p:sp>
        <p:nvSpPr>
          <p:cNvPr id="9" name="Content Placeholder 8"/>
          <p:cNvSpPr>
            <a:spLocks noGrp="1"/>
          </p:cNvSpPr>
          <p:nvPr>
            <p:ph sz="half" idx="13"/>
          </p:nvPr>
        </p:nvSpPr>
        <p:spPr>
          <a:xfrm>
            <a:off x="6073584" y="3200892"/>
            <a:ext cx="2560320" cy="1463040"/>
          </a:xfrm>
        </p:spPr>
        <p:txBody>
          <a:bodyPr/>
          <a:lstStyle/>
          <a:p>
            <a:pPr marL="0" indent="0"/>
            <a:r>
              <a:rPr lang="en-US" dirty="0"/>
              <a:t>Payroll liabilities</a:t>
            </a:r>
          </a:p>
        </p:txBody>
      </p:sp>
      <p:sp>
        <p:nvSpPr>
          <p:cNvPr id="13" name="Content Placeholder 12"/>
          <p:cNvSpPr>
            <a:spLocks noGrp="1"/>
          </p:cNvSpPr>
          <p:nvPr>
            <p:ph sz="quarter" idx="17"/>
          </p:nvPr>
        </p:nvSpPr>
        <p:spPr>
          <a:xfrm>
            <a:off x="470682" y="4801659"/>
            <a:ext cx="2560320" cy="1463040"/>
          </a:xfrm>
        </p:spPr>
        <p:txBody>
          <a:bodyPr/>
          <a:lstStyle/>
          <a:p>
            <a:pPr marL="0" indent="0"/>
            <a:r>
              <a:rPr lang="en-US" dirty="0"/>
              <a:t>Income taxes payable</a:t>
            </a:r>
          </a:p>
        </p:txBody>
      </p:sp>
      <p:sp>
        <p:nvSpPr>
          <p:cNvPr id="10" name="Content Placeholder 9"/>
          <p:cNvSpPr>
            <a:spLocks noGrp="1"/>
          </p:cNvSpPr>
          <p:nvPr>
            <p:ph sz="quarter" idx="14"/>
          </p:nvPr>
        </p:nvSpPr>
        <p:spPr>
          <a:xfrm>
            <a:off x="3310233" y="4803790"/>
            <a:ext cx="2560320" cy="1463040"/>
          </a:xfrm>
        </p:spPr>
        <p:txBody>
          <a:bodyPr/>
          <a:lstStyle/>
          <a:p>
            <a:pPr marL="0" indent="0"/>
            <a:r>
              <a:rPr lang="en-US" dirty="0"/>
              <a:t>Unearned revenues</a:t>
            </a:r>
          </a:p>
        </p:txBody>
      </p:sp>
      <p:sp>
        <p:nvSpPr>
          <p:cNvPr id="11" name="Content Placeholder 10"/>
          <p:cNvSpPr>
            <a:spLocks noGrp="1"/>
          </p:cNvSpPr>
          <p:nvPr>
            <p:ph sz="quarter" idx="15"/>
          </p:nvPr>
        </p:nvSpPr>
        <p:spPr>
          <a:xfrm>
            <a:off x="6073584" y="4775383"/>
            <a:ext cx="2560320" cy="1463040"/>
          </a:xfrm>
        </p:spPr>
        <p:txBody>
          <a:bodyPr/>
          <a:lstStyle/>
          <a:p>
            <a:pPr lvl="0"/>
            <a:r>
              <a:rPr lang="en-US" dirty="0"/>
              <a:t>Current portion of long-term debt</a:t>
            </a:r>
          </a:p>
        </p:txBody>
      </p:sp>
    </p:spTree>
    <p:extLst>
      <p:ext uri="{BB962C8B-B14F-4D97-AF65-F5344CB8AC3E}">
        <p14:creationId xmlns:p14="http://schemas.microsoft.com/office/powerpoint/2010/main" val="3852823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Short-Term Borrowings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Amounts owed to lenders to alleviate short-term cash shortfalls</a:t>
            </a:r>
            <a:endParaRPr lang="en-US" dirty="0"/>
          </a:p>
        </p:txBody>
      </p:sp>
    </p:spTree>
    <p:extLst>
      <p:ext uri="{BB962C8B-B14F-4D97-AF65-F5344CB8AC3E}">
        <p14:creationId xmlns:p14="http://schemas.microsoft.com/office/powerpoint/2010/main" val="159879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Accounts Payable</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Amounts owed to suppliers for goods or services purchased on account.</a:t>
            </a:r>
            <a:endParaRPr lang="en-US" dirty="0"/>
          </a:p>
        </p:txBody>
      </p:sp>
    </p:spTree>
    <p:extLst>
      <p:ext uri="{BB962C8B-B14F-4D97-AF65-F5344CB8AC3E}">
        <p14:creationId xmlns:p14="http://schemas.microsoft.com/office/powerpoint/2010/main" val="1165435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Accrued Liabilities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Result from expenses incurred but not yet paid</a:t>
            </a:r>
          </a:p>
          <a:p>
            <a:r>
              <a:rPr lang="en-US" altLang="en-US" dirty="0">
                <a:ea typeface="ＭＳ Ｐゴシック" pitchFamily="34" charset="-128"/>
              </a:rPr>
              <a:t>Categories:</a:t>
            </a:r>
          </a:p>
          <a:p>
            <a:pPr lvl="1"/>
            <a:r>
              <a:rPr lang="en-US" altLang="en-US" dirty="0">
                <a:ea typeface="ＭＳ Ｐゴシック" pitchFamily="34" charset="-128"/>
              </a:rPr>
              <a:t>Salaries and Wages Payable</a:t>
            </a:r>
          </a:p>
          <a:p>
            <a:pPr lvl="1"/>
            <a:r>
              <a:rPr lang="en-US" altLang="en-US" dirty="0">
                <a:ea typeface="ＭＳ Ｐゴシック" pitchFamily="34" charset="-128"/>
              </a:rPr>
              <a:t>Interest Payable</a:t>
            </a:r>
          </a:p>
          <a:p>
            <a:pPr lvl="1"/>
            <a:r>
              <a:rPr lang="en-US" altLang="en-US" dirty="0">
                <a:ea typeface="ＭＳ Ｐゴシック" pitchFamily="34" charset="-128"/>
              </a:rPr>
              <a:t>Income Taxes Payable</a:t>
            </a:r>
            <a:endParaRPr lang="en-US" dirty="0"/>
          </a:p>
        </p:txBody>
      </p:sp>
    </p:spTree>
    <p:extLst>
      <p:ext uri="{BB962C8B-B14F-4D97-AF65-F5344CB8AC3E}">
        <p14:creationId xmlns:p14="http://schemas.microsoft.com/office/powerpoint/2010/main" val="1707148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Short-Term Notes Payable </a:t>
            </a:r>
            <a:r>
              <a:rPr lang="en-US" altLang="en-US" sz="2000" b="0" dirty="0"/>
              <a:t>(1 of 5)</a:t>
            </a:r>
            <a:endParaRPr lang="en-US" b="0" dirty="0"/>
          </a:p>
        </p:txBody>
      </p:sp>
      <p:sp>
        <p:nvSpPr>
          <p:cNvPr id="3" name="Content Placeholder 2"/>
          <p:cNvSpPr>
            <a:spLocks noGrp="1"/>
          </p:cNvSpPr>
          <p:nvPr>
            <p:ph idx="1"/>
          </p:nvPr>
        </p:nvSpPr>
        <p:spPr/>
        <p:txBody>
          <a:bodyPr/>
          <a:lstStyle/>
          <a:p>
            <a:r>
              <a:rPr lang="en-US" altLang="en-US" dirty="0">
                <a:ea typeface="ＭＳ Ｐゴシック" pitchFamily="34" charset="-128"/>
              </a:rPr>
              <a:t>Due within one year</a:t>
            </a:r>
          </a:p>
          <a:p>
            <a:r>
              <a:rPr lang="en-US" altLang="en-US" dirty="0">
                <a:ea typeface="ＭＳ Ｐゴシック" pitchFamily="34" charset="-128"/>
              </a:rPr>
              <a:t>Used to borrow cash or purchase assets</a:t>
            </a:r>
          </a:p>
          <a:p>
            <a:r>
              <a:rPr lang="en-US" altLang="en-US" dirty="0">
                <a:ea typeface="ＭＳ Ｐゴシック" pitchFamily="34" charset="-128"/>
              </a:rPr>
              <a:t>Accrue interest</a:t>
            </a:r>
            <a:endParaRPr lang="en-US" dirty="0"/>
          </a:p>
        </p:txBody>
      </p:sp>
    </p:spTree>
    <p:extLst>
      <p:ext uri="{BB962C8B-B14F-4D97-AF65-F5344CB8AC3E}">
        <p14:creationId xmlns:p14="http://schemas.microsoft.com/office/powerpoint/2010/main" val="1037304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Short-Term Notes Payable </a:t>
            </a:r>
            <a:r>
              <a:rPr lang="en-US" altLang="en-US" sz="2000" b="0" dirty="0"/>
              <a:t>(2 of 5)</a:t>
            </a:r>
            <a:endParaRPr lang="en-US" dirty="0"/>
          </a:p>
        </p:txBody>
      </p:sp>
      <p:sp>
        <p:nvSpPr>
          <p:cNvPr id="3" name="Content Placeholder 2"/>
          <p:cNvSpPr>
            <a:spLocks noGrp="1"/>
          </p:cNvSpPr>
          <p:nvPr>
            <p:ph idx="1"/>
          </p:nvPr>
        </p:nvSpPr>
        <p:spPr/>
        <p:txBody>
          <a:bodyPr anchor="ctr"/>
          <a:lstStyle/>
          <a:p>
            <a:pPr marL="0" indent="0" algn="ctr">
              <a:spcBef>
                <a:spcPts val="600"/>
              </a:spcBef>
              <a:buNone/>
              <a:defRPr/>
            </a:pPr>
            <a:r>
              <a:rPr lang="en-US" sz="2400" dirty="0">
                <a:cs typeface="Arial" panose="020B0604020202020204" pitchFamily="34" charset="0"/>
              </a:rPr>
              <a:t>In addition to recording the note payable,</a:t>
            </a:r>
          </a:p>
          <a:p>
            <a:pPr marL="0" indent="0" algn="ctr">
              <a:spcBef>
                <a:spcPts val="600"/>
              </a:spcBef>
              <a:spcAft>
                <a:spcPts val="1800"/>
              </a:spcAft>
              <a:buNone/>
              <a:defRPr/>
            </a:pPr>
            <a:r>
              <a:rPr lang="en-US" sz="2400" dirty="0">
                <a:cs typeface="Arial" panose="020B0604020202020204" pitchFamily="34" charset="0"/>
              </a:rPr>
              <a:t>the business must also pay interest expense.</a:t>
            </a:r>
          </a:p>
          <a:p>
            <a:pPr marL="0" indent="0" algn="ctr">
              <a:spcBef>
                <a:spcPts val="600"/>
              </a:spcBef>
              <a:buNone/>
              <a:defRPr/>
            </a:pPr>
            <a:r>
              <a:rPr lang="en-US" sz="2400" dirty="0">
                <a:cs typeface="Arial" panose="020B0604020202020204" pitchFamily="34" charset="0"/>
              </a:rPr>
              <a:t>On October 1, a business purchased inventory</a:t>
            </a:r>
          </a:p>
          <a:p>
            <a:pPr marL="0" indent="0" algn="ctr">
              <a:spcBef>
                <a:spcPts val="600"/>
              </a:spcBef>
              <a:spcAft>
                <a:spcPts val="1800"/>
              </a:spcAft>
              <a:buNone/>
              <a:defRPr/>
            </a:pPr>
            <a:r>
              <a:rPr lang="en-US" sz="2400" dirty="0">
                <a:cs typeface="Arial" panose="020B0604020202020204" pitchFamily="34" charset="0"/>
              </a:rPr>
              <a:t>for $8,000 by issuing a 6-month, 10% note payable.</a:t>
            </a:r>
            <a:endParaRPr lang="en-US" sz="2400" dirty="0"/>
          </a:p>
          <a:p>
            <a:pPr marL="0" indent="0" algn="ctr">
              <a:spcBef>
                <a:spcPts val="600"/>
              </a:spcBef>
              <a:buNone/>
              <a:defRPr/>
            </a:pPr>
            <a:r>
              <a:rPr lang="en-US" sz="2400" dirty="0">
                <a:cs typeface="Arial" panose="020B0604020202020204" pitchFamily="34" charset="0"/>
              </a:rPr>
              <a:t>The fiscal year ends on December 31.</a:t>
            </a:r>
            <a:endParaRPr lang="en-US" sz="2400" dirty="0"/>
          </a:p>
        </p:txBody>
      </p:sp>
    </p:spTree>
    <p:extLst>
      <p:ext uri="{BB962C8B-B14F-4D97-AF65-F5344CB8AC3E}">
        <p14:creationId xmlns:p14="http://schemas.microsoft.com/office/powerpoint/2010/main" val="3014302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351" y="449101"/>
            <a:ext cx="8677297" cy="895927"/>
          </a:xfrm>
        </p:spPr>
        <p:txBody>
          <a:bodyPr/>
          <a:lstStyle/>
          <a:p>
            <a:r>
              <a:rPr lang="en-US" altLang="en-US" dirty="0"/>
              <a:t>Short-Term Notes Payable </a:t>
            </a:r>
            <a:r>
              <a:rPr lang="en-US" altLang="en-US" sz="2000" b="0" dirty="0"/>
              <a:t>(3 of 5)</a:t>
            </a:r>
            <a:endParaRPr lang="en-US" dirty="0"/>
          </a:p>
        </p:txBody>
      </p:sp>
      <p:graphicFrame>
        <p:nvGraphicFramePr>
          <p:cNvPr id="4" name="Table 3"/>
          <p:cNvGraphicFramePr>
            <a:graphicFrameLocks noGrp="1"/>
          </p:cNvGraphicFramePr>
          <p:nvPr/>
        </p:nvGraphicFramePr>
        <p:xfrm>
          <a:off x="400669" y="2552700"/>
          <a:ext cx="8342662" cy="1752600"/>
        </p:xfrm>
        <a:graphic>
          <a:graphicData uri="http://schemas.openxmlformats.org/drawingml/2006/table">
            <a:tbl>
              <a:tblPr firstRow="1" bandRow="1">
                <a:tableStyleId>{2D5ABB26-0587-4C30-8999-92F81FD0307C}</a:tableStyleId>
              </a:tblPr>
              <a:tblGrid>
                <a:gridCol w="5599462">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ea typeface="+mn-ea"/>
                          <a:cs typeface="Arial" panose="020B0604020202020204" pitchFamily="34" charset="0"/>
                        </a:rPr>
                        <a:t>October 1, 20X1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800" dirty="0">
                          <a:latin typeface="+mn-lt"/>
                          <a:ea typeface="+mn-ea"/>
                          <a:cs typeface="Arial" panose="020B0604020202020204" pitchFamily="34" charset="0"/>
                        </a:rPr>
                        <a:t>Inventory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8,000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274320"/>
                      <a:r>
                        <a:rPr lang="en-US" sz="1800" dirty="0">
                          <a:latin typeface="+mn-lt"/>
                          <a:ea typeface="+mn-ea"/>
                          <a:cs typeface="Arial" panose="020B0604020202020204" pitchFamily="34" charset="0"/>
                        </a:rPr>
                        <a:t>Notes Payable, Short-Term</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8,000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800" dirty="0">
                          <a:latin typeface="+mn-lt"/>
                          <a:ea typeface="+mn-ea"/>
                          <a:cs typeface="Arial" panose="020B0604020202020204" pitchFamily="34" charset="0"/>
                        </a:rPr>
                        <a:t>Purchase of inventory by issuing a 6-month, 10% note payable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Content Placeholder 2"/>
          <p:cNvSpPr>
            <a:spLocks noGrp="1"/>
          </p:cNvSpPr>
          <p:nvPr>
            <p:ph idx="1"/>
          </p:nvPr>
        </p:nvSpPr>
        <p:spPr>
          <a:xfrm>
            <a:off x="457200" y="5105400"/>
            <a:ext cx="8229600" cy="1020763"/>
          </a:xfrm>
        </p:spPr>
        <p:txBody>
          <a:bodyPr anchor="t">
            <a:normAutofit lnSpcReduction="10000"/>
          </a:bodyPr>
          <a:lstStyle/>
          <a:p>
            <a:pPr marL="0" indent="0" algn="ctr">
              <a:buNone/>
              <a:defRPr/>
            </a:pPr>
            <a:r>
              <a:rPr lang="en-US" sz="2400" dirty="0">
                <a:cs typeface="Arial" panose="020B0604020202020204" pitchFamily="34" charset="0"/>
              </a:rPr>
              <a:t>How much interest was accrued as of December 31, 20X1?</a:t>
            </a:r>
          </a:p>
          <a:p>
            <a:pPr marL="0" indent="0" algn="ctr">
              <a:buNone/>
              <a:defRPr/>
            </a:pPr>
            <a:r>
              <a:rPr lang="en-US" altLang="en-US" sz="2400" dirty="0">
                <a:cs typeface="Arial" panose="020B0604020202020204" pitchFamily="34" charset="0"/>
              </a:rPr>
              <a:t>$8,000 × 10% × (3/12) = $200</a:t>
            </a:r>
            <a:endParaRPr lang="en-US" sz="2400" dirty="0">
              <a:cs typeface="Arial" panose="020B0604020202020204" pitchFamily="34" charset="0"/>
            </a:endParaRPr>
          </a:p>
        </p:txBody>
      </p:sp>
    </p:spTree>
    <p:extLst>
      <p:ext uri="{BB962C8B-B14F-4D97-AF65-F5344CB8AC3E}">
        <p14:creationId xmlns:p14="http://schemas.microsoft.com/office/powerpoint/2010/main" val="3200714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Short-Term Notes Payable </a:t>
            </a:r>
            <a:r>
              <a:rPr lang="en-US" altLang="en-US" sz="2000" b="0" dirty="0"/>
              <a:t>(4 of 5)</a:t>
            </a:r>
            <a:endParaRPr lang="en-US" dirty="0"/>
          </a:p>
        </p:txBody>
      </p:sp>
      <p:graphicFrame>
        <p:nvGraphicFramePr>
          <p:cNvPr id="4" name="Table 3"/>
          <p:cNvGraphicFramePr>
            <a:graphicFrameLocks noGrp="1"/>
          </p:cNvGraphicFramePr>
          <p:nvPr/>
        </p:nvGraphicFramePr>
        <p:xfrm>
          <a:off x="400669" y="2552700"/>
          <a:ext cx="8342662" cy="1752600"/>
        </p:xfrm>
        <a:graphic>
          <a:graphicData uri="http://schemas.openxmlformats.org/drawingml/2006/table">
            <a:tbl>
              <a:tblPr firstRow="1" bandRow="1">
                <a:tableStyleId>{2D5ABB26-0587-4C30-8999-92F81FD0307C}</a:tableStyleId>
              </a:tblPr>
              <a:tblGrid>
                <a:gridCol w="5599462">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ea typeface="+mn-ea"/>
                          <a:cs typeface="Arial" panose="020B0604020202020204" pitchFamily="34" charset="0"/>
                        </a:rPr>
                        <a:t>December 31, 20X1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800" dirty="0">
                          <a:latin typeface="+mn-lt"/>
                          <a:ea typeface="+mn-ea"/>
                          <a:cs typeface="Arial" panose="020B0604020202020204" pitchFamily="34" charset="0"/>
                        </a:rPr>
                        <a:t>Interest Expense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mn-lt"/>
                          <a:ea typeface="+mn-ea"/>
                          <a:cs typeface="Arial" panose="020B0604020202020204" pitchFamily="34" charset="0"/>
                        </a:rPr>
                        <a:t>200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274320"/>
                      <a:r>
                        <a:rPr lang="en-US" sz="1800" dirty="0">
                          <a:latin typeface="+mn-lt"/>
                          <a:ea typeface="+mn-ea"/>
                          <a:cs typeface="Arial" panose="020B0604020202020204" pitchFamily="34" charset="0"/>
                        </a:rPr>
                        <a:t>Interest Payable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mn-lt"/>
                          <a:ea typeface="+mn-ea"/>
                          <a:cs typeface="Arial" panose="020B0604020202020204" pitchFamily="34" charset="0"/>
                        </a:rPr>
                        <a:t>200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800" dirty="0">
                          <a:latin typeface="+mn-lt"/>
                          <a:ea typeface="+mn-ea"/>
                          <a:cs typeface="Arial" panose="020B0604020202020204" pitchFamily="34" charset="0"/>
                        </a:rPr>
                        <a:t>Adjusting entry to record accrued interest expense at year end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30046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Short-Term Notes Payable </a:t>
            </a:r>
            <a:r>
              <a:rPr lang="en-US" altLang="en-US" sz="2000" b="0" dirty="0"/>
              <a:t>(5 of 5)</a:t>
            </a:r>
            <a:endParaRPr lang="en-US" dirty="0"/>
          </a:p>
        </p:txBody>
      </p:sp>
      <p:sp>
        <p:nvSpPr>
          <p:cNvPr id="5" name="Content Placeholder 4"/>
          <p:cNvSpPr>
            <a:spLocks noGrp="1"/>
          </p:cNvSpPr>
          <p:nvPr>
            <p:ph idx="1"/>
          </p:nvPr>
        </p:nvSpPr>
        <p:spPr>
          <a:xfrm>
            <a:off x="457200" y="1600201"/>
            <a:ext cx="8229600" cy="685800"/>
          </a:xfrm>
        </p:spPr>
        <p:txBody>
          <a:bodyPr/>
          <a:lstStyle/>
          <a:p>
            <a:pPr marL="0" indent="0" algn="ctr">
              <a:buNone/>
            </a:pPr>
            <a:r>
              <a:rPr lang="en-US" sz="2400" dirty="0">
                <a:cs typeface="Arial" panose="020B0604020202020204" pitchFamily="34" charset="0"/>
              </a:rPr>
              <a:t>How is the payment at maturity recorded?</a:t>
            </a:r>
            <a:endParaRPr lang="en-US" sz="2400" dirty="0"/>
          </a:p>
        </p:txBody>
      </p:sp>
      <p:graphicFrame>
        <p:nvGraphicFramePr>
          <p:cNvPr id="4" name="Table 3"/>
          <p:cNvGraphicFramePr>
            <a:graphicFrameLocks noGrp="1"/>
          </p:cNvGraphicFramePr>
          <p:nvPr/>
        </p:nvGraphicFramePr>
        <p:xfrm>
          <a:off x="400669" y="2552700"/>
          <a:ext cx="8342662" cy="1854200"/>
        </p:xfrm>
        <a:graphic>
          <a:graphicData uri="http://schemas.openxmlformats.org/drawingml/2006/table">
            <a:tbl>
              <a:tblPr firstRow="1" bandRow="1">
                <a:tableStyleId>{2D5ABB26-0587-4C30-8999-92F81FD0307C}</a:tableStyleId>
              </a:tblPr>
              <a:tblGrid>
                <a:gridCol w="5599462">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ea typeface="+mn-ea"/>
                          <a:cs typeface="Arial" panose="020B0604020202020204" pitchFamily="34" charset="0"/>
                        </a:rPr>
                        <a:t>March 31, 20X2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800" dirty="0">
                          <a:latin typeface="+mn-lt"/>
                          <a:ea typeface="+mn-ea"/>
                          <a:cs typeface="Arial" panose="020B0604020202020204" pitchFamily="34" charset="0"/>
                        </a:rPr>
                        <a:t>Note Payable, Short-Term</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8,000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algn="l" defTabSz="914400" rtl="0" eaLnBrk="1" latinLnBrk="0" hangingPunct="1"/>
                      <a:r>
                        <a:rPr lang="en-US" sz="1800" kern="1200" dirty="0">
                          <a:solidFill>
                            <a:schemeClr val="tx1"/>
                          </a:solidFill>
                          <a:latin typeface="+mn-lt"/>
                          <a:ea typeface="+mn-ea"/>
                          <a:cs typeface="Arial" panose="020B0604020202020204" pitchFamily="34" charset="0"/>
                        </a:rPr>
                        <a:t>Interest Payable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200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800" dirty="0">
                          <a:latin typeface="+mn-lt"/>
                          <a:ea typeface="+mn-ea"/>
                          <a:cs typeface="Arial" panose="020B0604020202020204" pitchFamily="34" charset="0"/>
                        </a:rPr>
                        <a:t>Interest Expense ($8,000 × 0.10 × 3/12)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200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274320" algn="l" defTabSz="914400" rtl="0" eaLnBrk="1" latinLnBrk="0" hangingPunct="1"/>
                      <a:r>
                        <a:rPr lang="en-US" sz="1800" kern="1200" dirty="0">
                          <a:solidFill>
                            <a:schemeClr val="tx1"/>
                          </a:solidFill>
                          <a:latin typeface="+mn-lt"/>
                          <a:ea typeface="+mn-ea"/>
                          <a:cs typeface="Arial" panose="020B0604020202020204" pitchFamily="34" charset="0"/>
                        </a:rPr>
                        <a:t>Cash [$8,000 + ($8,000 </a:t>
                      </a:r>
                      <a:r>
                        <a:rPr lang="en-US" sz="1800" dirty="0">
                          <a:latin typeface="+mn-lt"/>
                          <a:ea typeface="+mn-ea"/>
                          <a:cs typeface="Arial" panose="020B0604020202020204" pitchFamily="34" charset="0"/>
                        </a:rPr>
                        <a:t>×</a:t>
                      </a:r>
                      <a:r>
                        <a:rPr lang="en-US" sz="1800" kern="1200" dirty="0">
                          <a:solidFill>
                            <a:schemeClr val="tx1"/>
                          </a:solidFill>
                          <a:latin typeface="+mn-lt"/>
                          <a:ea typeface="+mn-ea"/>
                          <a:cs typeface="Arial" panose="020B0604020202020204" pitchFamily="34" charset="0"/>
                        </a:rPr>
                        <a:t> 0.10 </a:t>
                      </a:r>
                      <a:r>
                        <a:rPr lang="en-US" sz="1800" dirty="0">
                          <a:latin typeface="+mn-lt"/>
                          <a:ea typeface="+mn-ea"/>
                          <a:cs typeface="Arial" panose="020B0604020202020204" pitchFamily="34" charset="0"/>
                        </a:rPr>
                        <a:t>×</a:t>
                      </a:r>
                      <a:r>
                        <a:rPr lang="en-US" sz="1800" kern="1200" dirty="0">
                          <a:solidFill>
                            <a:schemeClr val="tx1"/>
                          </a:solidFill>
                          <a:latin typeface="+mn-lt"/>
                          <a:ea typeface="+mn-ea"/>
                          <a:cs typeface="Arial" panose="020B0604020202020204" pitchFamily="34" charset="0"/>
                        </a:rPr>
                        <a:t> 6/12)]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8,400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38174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Sales Taxes Payable</a:t>
            </a:r>
            <a:endParaRPr lang="en-US" dirty="0"/>
          </a:p>
        </p:txBody>
      </p:sp>
      <p:sp>
        <p:nvSpPr>
          <p:cNvPr id="3" name="Content Placeholder 2"/>
          <p:cNvSpPr>
            <a:spLocks noGrp="1"/>
          </p:cNvSpPr>
          <p:nvPr>
            <p:ph idx="1"/>
          </p:nvPr>
        </p:nvSpPr>
        <p:spPr/>
        <p:txBody>
          <a:bodyPr/>
          <a:lstStyle/>
          <a:p>
            <a:pPr marL="0" indent="0" algn="ctr">
              <a:spcAft>
                <a:spcPts val="1500"/>
              </a:spcAft>
              <a:buNone/>
              <a:defRPr/>
            </a:pPr>
            <a:r>
              <a:rPr lang="en-US" sz="2400" u="sng" dirty="0">
                <a:cs typeface="Arial" panose="020B0604020202020204" pitchFamily="34" charset="0"/>
              </a:rPr>
              <a:t>Canada has 3 types of sales taxes</a:t>
            </a:r>
            <a:r>
              <a:rPr lang="en-US" sz="2400" dirty="0">
                <a:cs typeface="Arial" panose="020B0604020202020204" pitchFamily="34" charset="0"/>
              </a:rPr>
              <a:t>:</a:t>
            </a:r>
          </a:p>
          <a:p>
            <a:pPr marL="457200" indent="-457200">
              <a:buFontTx/>
              <a:buAutoNum type="arabicPeriod"/>
              <a:defRPr/>
            </a:pPr>
            <a:r>
              <a:rPr lang="en-US" dirty="0">
                <a:cs typeface="Arial" panose="020B0604020202020204" pitchFamily="34" charset="0"/>
              </a:rPr>
              <a:t>GST (Goods and Services Tax)</a:t>
            </a:r>
          </a:p>
          <a:p>
            <a:pPr marL="457200" indent="-457200">
              <a:buFontTx/>
              <a:buAutoNum type="arabicPeriod"/>
              <a:defRPr/>
            </a:pPr>
            <a:r>
              <a:rPr lang="en-US" dirty="0">
                <a:cs typeface="Arial" panose="020B0604020202020204" pitchFamily="34" charset="0"/>
              </a:rPr>
              <a:t>PST (Provincial/regional Sales Tax)</a:t>
            </a:r>
          </a:p>
          <a:p>
            <a:pPr marL="457200" indent="-457200">
              <a:buFontTx/>
              <a:buAutoNum type="arabicPeriod"/>
              <a:defRPr/>
            </a:pPr>
            <a:r>
              <a:rPr lang="en-US" dirty="0">
                <a:cs typeface="Arial" panose="020B0604020202020204" pitchFamily="34" charset="0"/>
              </a:rPr>
              <a:t>HST (Harmonized Sales Tax)</a:t>
            </a:r>
            <a:endParaRPr lang="en-US" dirty="0"/>
          </a:p>
        </p:txBody>
      </p:sp>
    </p:spTree>
    <p:extLst>
      <p:ext uri="{BB962C8B-B14F-4D97-AF65-F5344CB8AC3E}">
        <p14:creationId xmlns:p14="http://schemas.microsoft.com/office/powerpoint/2010/main" val="891283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Goods and Services Tax (GST) Payable</a:t>
            </a:r>
            <a:endParaRPr lang="en-US" dirty="0"/>
          </a:p>
        </p:txBody>
      </p:sp>
      <p:sp>
        <p:nvSpPr>
          <p:cNvPr id="3" name="Content Placeholder 2"/>
          <p:cNvSpPr>
            <a:spLocks noGrp="1"/>
          </p:cNvSpPr>
          <p:nvPr>
            <p:ph idx="1"/>
          </p:nvPr>
        </p:nvSpPr>
        <p:spPr/>
        <p:txBody>
          <a:bodyPr anchor="ctr"/>
          <a:lstStyle/>
          <a:p>
            <a:pPr marL="0" indent="0" algn="ctr">
              <a:spcBef>
                <a:spcPts val="0"/>
              </a:spcBef>
              <a:buNone/>
              <a:defRPr/>
            </a:pPr>
            <a:r>
              <a:rPr lang="en-US" sz="2400" i="1" dirty="0">
                <a:solidFill>
                  <a:schemeClr val="tx2"/>
                </a:solidFill>
                <a:cs typeface="Arial" panose="020B0604020202020204" pitchFamily="34" charset="0"/>
              </a:rPr>
              <a:t>GST</a:t>
            </a:r>
            <a:r>
              <a:rPr lang="en-US" sz="2400" dirty="0">
                <a:cs typeface="Arial" panose="020B0604020202020204" pitchFamily="34" charset="0"/>
              </a:rPr>
              <a:t> is a value-added tax levied by the</a:t>
            </a:r>
          </a:p>
          <a:p>
            <a:pPr marL="0" indent="0" algn="ctr">
              <a:spcBef>
                <a:spcPts val="0"/>
              </a:spcBef>
              <a:buNone/>
              <a:defRPr/>
            </a:pPr>
            <a:r>
              <a:rPr lang="en-US" sz="2400" dirty="0">
                <a:cs typeface="Arial" panose="020B0604020202020204" pitchFamily="34" charset="0"/>
              </a:rPr>
              <a:t>federal government applied to </a:t>
            </a:r>
          </a:p>
          <a:p>
            <a:pPr marL="0" indent="0" algn="ctr">
              <a:spcBef>
                <a:spcPts val="0"/>
              </a:spcBef>
              <a:spcAft>
                <a:spcPts val="1800"/>
              </a:spcAft>
              <a:buNone/>
              <a:defRPr/>
            </a:pPr>
            <a:r>
              <a:rPr lang="en-US" sz="2400" dirty="0">
                <a:cs typeface="Arial" panose="020B0604020202020204" pitchFamily="34" charset="0"/>
              </a:rPr>
              <a:t>most goods and services.</a:t>
            </a:r>
            <a:endParaRPr lang="en-US" sz="1800" dirty="0">
              <a:cs typeface="Arial" panose="020B0604020202020204" pitchFamily="34" charset="0"/>
            </a:endParaRPr>
          </a:p>
          <a:p>
            <a:pPr marL="0" indent="0" algn="ctr">
              <a:spcBef>
                <a:spcPts val="600"/>
              </a:spcBef>
              <a:buNone/>
              <a:defRPr/>
            </a:pPr>
            <a:r>
              <a:rPr lang="en-US" sz="2400" dirty="0">
                <a:cs typeface="Arial" panose="020B0604020202020204" pitchFamily="34" charset="0"/>
              </a:rPr>
              <a:t>The final consumer of a GST-taxable product </a:t>
            </a:r>
          </a:p>
          <a:p>
            <a:pPr marL="0" indent="0" algn="ctr">
              <a:spcBef>
                <a:spcPts val="600"/>
              </a:spcBef>
              <a:buNone/>
              <a:defRPr/>
            </a:pPr>
            <a:r>
              <a:rPr lang="en-US" sz="2400" dirty="0">
                <a:cs typeface="Arial" panose="020B0604020202020204" pitchFamily="34" charset="0"/>
              </a:rPr>
              <a:t>(or service) bears the tax; entities farther up </a:t>
            </a:r>
          </a:p>
          <a:p>
            <a:pPr marL="0" indent="0" algn="ctr">
              <a:spcBef>
                <a:spcPts val="600"/>
              </a:spcBef>
              <a:buNone/>
              <a:defRPr/>
            </a:pPr>
            <a:r>
              <a:rPr lang="en-US" sz="2400" dirty="0">
                <a:cs typeface="Arial" panose="020B0604020202020204" pitchFamily="34" charset="0"/>
              </a:rPr>
              <a:t>the supply chain pay GST on their purchases </a:t>
            </a:r>
          </a:p>
          <a:p>
            <a:pPr marL="0" indent="0" algn="ctr">
              <a:spcBef>
                <a:spcPts val="600"/>
              </a:spcBef>
              <a:buNone/>
              <a:defRPr/>
            </a:pPr>
            <a:r>
              <a:rPr lang="en-US" sz="2400" dirty="0">
                <a:cs typeface="Arial" panose="020B0604020202020204" pitchFamily="34" charset="0"/>
              </a:rPr>
              <a:t>but get an input tax credit (ITC) </a:t>
            </a:r>
          </a:p>
          <a:p>
            <a:pPr marL="0" indent="0" algn="ctr">
              <a:spcBef>
                <a:spcPts val="600"/>
              </a:spcBef>
              <a:buNone/>
              <a:defRPr/>
            </a:pPr>
            <a:r>
              <a:rPr lang="en-US" sz="2400" dirty="0">
                <a:cs typeface="Arial" panose="020B0604020202020204" pitchFamily="34" charset="0"/>
              </a:rPr>
              <a:t>equal to the GST they have paid.</a:t>
            </a:r>
            <a:endParaRPr lang="en-US" sz="2400" dirty="0"/>
          </a:p>
        </p:txBody>
      </p:sp>
    </p:spTree>
    <p:extLst>
      <p:ext uri="{BB962C8B-B14F-4D97-AF65-F5344CB8AC3E}">
        <p14:creationId xmlns:p14="http://schemas.microsoft.com/office/powerpoint/2010/main" val="2822784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Provincial Sales Tax (PST) Payable</a:t>
            </a:r>
            <a:endParaRPr lang="en-US" dirty="0"/>
          </a:p>
        </p:txBody>
      </p:sp>
      <p:sp>
        <p:nvSpPr>
          <p:cNvPr id="3" name="Content Placeholder 2"/>
          <p:cNvSpPr>
            <a:spLocks noGrp="1"/>
          </p:cNvSpPr>
          <p:nvPr>
            <p:ph idx="1"/>
          </p:nvPr>
        </p:nvSpPr>
        <p:spPr/>
        <p:txBody>
          <a:bodyPr anchor="ctr"/>
          <a:lstStyle/>
          <a:p>
            <a:pPr marL="0" indent="0" algn="ctr">
              <a:spcBef>
                <a:spcPts val="0"/>
              </a:spcBef>
              <a:buNone/>
              <a:defRPr/>
            </a:pPr>
            <a:r>
              <a:rPr lang="en-US" sz="2400" i="1" dirty="0">
                <a:solidFill>
                  <a:schemeClr val="tx2"/>
                </a:solidFill>
                <a:cs typeface="Arial" panose="020B0604020202020204" pitchFamily="34" charset="0"/>
              </a:rPr>
              <a:t>PST </a:t>
            </a:r>
            <a:r>
              <a:rPr lang="en-US" sz="2400" dirty="0">
                <a:cs typeface="Arial" panose="020B0604020202020204" pitchFamily="34" charset="0"/>
              </a:rPr>
              <a:t>applies to goods and services </a:t>
            </a:r>
          </a:p>
          <a:p>
            <a:pPr marL="0" indent="0" algn="ctr">
              <a:spcBef>
                <a:spcPts val="0"/>
              </a:spcBef>
              <a:buNone/>
              <a:defRPr/>
            </a:pPr>
            <a:r>
              <a:rPr lang="en-US" sz="2400" dirty="0">
                <a:cs typeface="Arial" panose="020B0604020202020204" pitchFamily="34" charset="0"/>
              </a:rPr>
              <a:t>purchased by a consumer.</a:t>
            </a:r>
          </a:p>
          <a:p>
            <a:pPr marL="0" indent="0" algn="ctr">
              <a:spcBef>
                <a:spcPts val="0"/>
              </a:spcBef>
              <a:buNone/>
              <a:defRPr/>
            </a:pPr>
            <a:endParaRPr lang="en-US" sz="2400" dirty="0">
              <a:cs typeface="Arial" panose="020B0604020202020204" pitchFamily="34" charset="0"/>
            </a:endParaRPr>
          </a:p>
          <a:p>
            <a:pPr marL="0" indent="0" algn="ctr">
              <a:spcBef>
                <a:spcPts val="0"/>
              </a:spcBef>
              <a:buNone/>
              <a:defRPr/>
            </a:pPr>
            <a:endParaRPr lang="en-US" sz="2400" dirty="0">
              <a:cs typeface="Arial" panose="020B0604020202020204" pitchFamily="34" charset="0"/>
            </a:endParaRPr>
          </a:p>
          <a:p>
            <a:pPr marL="0" indent="0" algn="ctr">
              <a:spcBef>
                <a:spcPts val="0"/>
              </a:spcBef>
              <a:buNone/>
              <a:defRPr/>
            </a:pPr>
            <a:r>
              <a:rPr lang="en-US" sz="2400" dirty="0">
                <a:cs typeface="Arial" panose="020B0604020202020204" pitchFamily="34" charset="0"/>
              </a:rPr>
              <a:t>PST is levied at the point of sale to the </a:t>
            </a:r>
          </a:p>
          <a:p>
            <a:pPr marL="0" indent="0" algn="ctr">
              <a:spcBef>
                <a:spcPts val="0"/>
              </a:spcBef>
              <a:buNone/>
              <a:defRPr/>
            </a:pPr>
            <a:r>
              <a:rPr lang="en-US" sz="2400" dirty="0">
                <a:cs typeface="Arial" panose="020B0604020202020204" pitchFamily="34" charset="0"/>
              </a:rPr>
              <a:t>final consumer, unlike GST.</a:t>
            </a:r>
            <a:endParaRPr lang="en-US" sz="2400" dirty="0"/>
          </a:p>
        </p:txBody>
      </p:sp>
    </p:spTree>
    <p:extLst>
      <p:ext uri="{BB962C8B-B14F-4D97-AF65-F5344CB8AC3E}">
        <p14:creationId xmlns:p14="http://schemas.microsoft.com/office/powerpoint/2010/main" val="1005952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Harmonized Sales Tax (HST) Payable</a:t>
            </a:r>
            <a:endParaRPr lang="en-US" dirty="0"/>
          </a:p>
        </p:txBody>
      </p:sp>
      <p:sp>
        <p:nvSpPr>
          <p:cNvPr id="3" name="Content Placeholder 2"/>
          <p:cNvSpPr>
            <a:spLocks noGrp="1"/>
          </p:cNvSpPr>
          <p:nvPr>
            <p:ph idx="1"/>
          </p:nvPr>
        </p:nvSpPr>
        <p:spPr/>
        <p:txBody>
          <a:bodyPr anchor="ctr"/>
          <a:lstStyle/>
          <a:p>
            <a:pPr marL="0" indent="0" algn="ctr">
              <a:spcBef>
                <a:spcPts val="600"/>
              </a:spcBef>
              <a:buNone/>
            </a:pPr>
            <a:r>
              <a:rPr lang="en-US" altLang="en-US" sz="2400" i="1" dirty="0">
                <a:solidFill>
                  <a:schemeClr val="tx2"/>
                </a:solidFill>
              </a:rPr>
              <a:t>HST</a:t>
            </a:r>
            <a:r>
              <a:rPr lang="en-US" altLang="en-US" sz="2400" dirty="0"/>
              <a:t> combines PST and GST and </a:t>
            </a:r>
          </a:p>
          <a:p>
            <a:pPr marL="0" indent="0" algn="ctr">
              <a:spcBef>
                <a:spcPts val="600"/>
              </a:spcBef>
              <a:buNone/>
            </a:pPr>
            <a:r>
              <a:rPr lang="en-US" altLang="en-US" sz="2400" dirty="0"/>
              <a:t>is also a value-added tax.</a:t>
            </a:r>
            <a:endParaRPr lang="en-US" altLang="en-US" sz="1800" dirty="0"/>
          </a:p>
          <a:p>
            <a:pPr marL="0" indent="0" algn="ctr">
              <a:buNone/>
            </a:pPr>
            <a:endParaRPr lang="en-US" sz="1800" dirty="0"/>
          </a:p>
          <a:p>
            <a:pPr marL="0" indent="0" algn="ctr">
              <a:spcBef>
                <a:spcPts val="600"/>
              </a:spcBef>
              <a:buNone/>
            </a:pPr>
            <a:r>
              <a:rPr lang="en-US" altLang="en-US" sz="2400" dirty="0"/>
              <a:t>The final consumer of a HST-taxable product </a:t>
            </a:r>
          </a:p>
          <a:p>
            <a:pPr marL="0" indent="0" algn="ctr">
              <a:spcBef>
                <a:spcPts val="600"/>
              </a:spcBef>
              <a:buNone/>
            </a:pPr>
            <a:r>
              <a:rPr lang="en-US" altLang="en-US" sz="2400" dirty="0"/>
              <a:t>(or service) bears the tax; entities farther up </a:t>
            </a:r>
          </a:p>
          <a:p>
            <a:pPr marL="0" indent="0" algn="ctr">
              <a:spcBef>
                <a:spcPts val="600"/>
              </a:spcBef>
              <a:buNone/>
            </a:pPr>
            <a:r>
              <a:rPr lang="en-US" altLang="en-US" sz="2400" dirty="0"/>
              <a:t>the supply chain pay HST on their purchases </a:t>
            </a:r>
          </a:p>
          <a:p>
            <a:pPr marL="0" indent="0" algn="ctr">
              <a:spcBef>
                <a:spcPts val="600"/>
              </a:spcBef>
              <a:buNone/>
            </a:pPr>
            <a:r>
              <a:rPr lang="en-US" altLang="en-US" sz="2400" dirty="0"/>
              <a:t>but get an input tax credit (ITC) </a:t>
            </a:r>
          </a:p>
          <a:p>
            <a:pPr marL="0" indent="0" algn="ctr">
              <a:spcBef>
                <a:spcPts val="600"/>
              </a:spcBef>
              <a:buNone/>
            </a:pPr>
            <a:r>
              <a:rPr lang="en-US" altLang="en-US" sz="2400" dirty="0"/>
              <a:t>equal to the HST they have paid.</a:t>
            </a:r>
            <a:endParaRPr lang="en-US" sz="2400" dirty="0"/>
          </a:p>
        </p:txBody>
      </p:sp>
    </p:spTree>
    <p:extLst>
      <p:ext uri="{BB962C8B-B14F-4D97-AF65-F5344CB8AC3E}">
        <p14:creationId xmlns:p14="http://schemas.microsoft.com/office/powerpoint/2010/main" val="1270662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Payroll </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Major expense of most companies</a:t>
            </a:r>
          </a:p>
          <a:p>
            <a:r>
              <a:rPr lang="en-US" altLang="en-US" dirty="0">
                <a:ea typeface="ＭＳ Ｐゴシック" pitchFamily="34" charset="-128"/>
              </a:rPr>
              <a:t>Many different forms:</a:t>
            </a:r>
          </a:p>
          <a:p>
            <a:pPr lvl="1"/>
            <a:r>
              <a:rPr lang="en-US" altLang="en-US" dirty="0">
                <a:ea typeface="ＭＳ Ｐゴシック" pitchFamily="34" charset="-128"/>
              </a:rPr>
              <a:t>Salary</a:t>
            </a:r>
          </a:p>
          <a:p>
            <a:pPr lvl="1"/>
            <a:r>
              <a:rPr lang="en-US" altLang="en-US" dirty="0">
                <a:ea typeface="ＭＳ Ｐゴシック" pitchFamily="34" charset="-128"/>
              </a:rPr>
              <a:t>Wage</a:t>
            </a:r>
          </a:p>
          <a:p>
            <a:pPr lvl="1"/>
            <a:r>
              <a:rPr lang="en-US" altLang="en-US" dirty="0">
                <a:ea typeface="ＭＳ Ｐゴシック" pitchFamily="34" charset="-128"/>
              </a:rPr>
              <a:t>Commission</a:t>
            </a:r>
            <a:endParaRPr lang="en-US" dirty="0"/>
          </a:p>
        </p:txBody>
      </p:sp>
    </p:spTree>
    <p:extLst>
      <p:ext uri="{BB962C8B-B14F-4D97-AF65-F5344CB8AC3E}">
        <p14:creationId xmlns:p14="http://schemas.microsoft.com/office/powerpoint/2010/main" val="3750301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Payroll Liabilities</a:t>
            </a:r>
            <a:endParaRPr lang="en-US" dirty="0"/>
          </a:p>
        </p:txBody>
      </p:sp>
      <p:graphicFrame>
        <p:nvGraphicFramePr>
          <p:cNvPr id="4" name="Table 3"/>
          <p:cNvGraphicFramePr>
            <a:graphicFrameLocks noGrp="1"/>
          </p:cNvGraphicFramePr>
          <p:nvPr/>
        </p:nvGraphicFramePr>
        <p:xfrm>
          <a:off x="400669" y="1524000"/>
          <a:ext cx="8342662" cy="2194560"/>
        </p:xfrm>
        <a:graphic>
          <a:graphicData uri="http://schemas.openxmlformats.org/drawingml/2006/table">
            <a:tbl>
              <a:tblPr firstRow="1" bandRow="1">
                <a:tableStyleId>{2D5ABB26-0587-4C30-8999-92F81FD0307C}</a:tableStyleId>
              </a:tblPr>
              <a:tblGrid>
                <a:gridCol w="5695331">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428131">
                  <a:extLst>
                    <a:ext uri="{9D8B030D-6E8A-4147-A177-3AD203B41FA5}">
                      <a16:colId xmlns:a16="http://schemas.microsoft.com/office/drawing/2014/main" val="20002"/>
                    </a:ext>
                  </a:extLst>
                </a:gridCol>
              </a:tblGrid>
              <a:tr h="1850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ea typeface="+mn-ea"/>
                          <a:cs typeface="Arial" panose="020B0604020202020204" pitchFamily="34" charset="0"/>
                        </a:rPr>
                        <a:t>Salary Expense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10,000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85057">
                <a:tc>
                  <a:txBody>
                    <a:bodyPr/>
                    <a:lstStyle/>
                    <a:p>
                      <a:pPr marL="274320" algn="l" defTabSz="914400" rtl="0" eaLnBrk="1" latinLnBrk="0" hangingPunct="1"/>
                      <a:r>
                        <a:rPr lang="en-US" sz="1800" kern="1200" dirty="0">
                          <a:solidFill>
                            <a:schemeClr val="tx1"/>
                          </a:solidFill>
                          <a:latin typeface="+mn-lt"/>
                          <a:ea typeface="+mn-ea"/>
                          <a:cs typeface="Arial" panose="020B0604020202020204" pitchFamily="34" charset="0"/>
                        </a:rPr>
                        <a:t>Employee Income Tax Payable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1,500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85057">
                <a:tc>
                  <a:txBody>
                    <a:bodyPr/>
                    <a:lstStyle/>
                    <a:p>
                      <a:pPr marL="274320" algn="l" defTabSz="914400" rtl="0" eaLnBrk="1" latinLnBrk="0" hangingPunct="1"/>
                      <a:r>
                        <a:rPr lang="en-US" sz="1800" kern="1200" dirty="0">
                          <a:solidFill>
                            <a:schemeClr val="tx1"/>
                          </a:solidFill>
                          <a:latin typeface="+mn-lt"/>
                          <a:ea typeface="+mn-ea"/>
                          <a:cs typeface="Arial" panose="020B0604020202020204" pitchFamily="34" charset="0"/>
                        </a:rPr>
                        <a:t>Canada Pension Plan Payable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t>510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85057">
                <a:tc>
                  <a:txBody>
                    <a:bodyPr/>
                    <a:lstStyle/>
                    <a:p>
                      <a:pPr marL="274320" algn="l" defTabSz="914400" rtl="0" eaLnBrk="1" latinLnBrk="0" hangingPunct="1"/>
                      <a:r>
                        <a:rPr lang="en-US" sz="1800" kern="1200" dirty="0">
                          <a:solidFill>
                            <a:schemeClr val="tx1"/>
                          </a:solidFill>
                          <a:latin typeface="+mn-lt"/>
                          <a:ea typeface="+mn-ea"/>
                          <a:cs typeface="Arial" panose="020B0604020202020204" pitchFamily="34" charset="0"/>
                        </a:rPr>
                        <a:t>Employment Insurance Payable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162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5057">
                <a:tc>
                  <a:txBody>
                    <a:bodyPr/>
                    <a:lstStyle/>
                    <a:p>
                      <a:pPr marL="274320" algn="l" defTabSz="914400" rtl="0" eaLnBrk="1" latinLnBrk="0" hangingPunct="1"/>
                      <a:r>
                        <a:rPr lang="en-US" sz="1800" dirty="0">
                          <a:latin typeface="+mn-lt"/>
                          <a:ea typeface="+mn-ea"/>
                          <a:cs typeface="Arial" panose="020B0604020202020204" pitchFamily="34" charset="0"/>
                        </a:rPr>
                        <a:t>Salary Payable </a:t>
                      </a:r>
                      <a:endParaRPr lang="en-US" sz="1800" kern="1200" dirty="0">
                        <a:solidFill>
                          <a:schemeClr val="tx1"/>
                        </a:solidFill>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7,828</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850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i="1" kern="1200" dirty="0">
                          <a:solidFill>
                            <a:schemeClr val="tx1"/>
                          </a:solidFill>
                          <a:latin typeface="+mn-lt"/>
                          <a:ea typeface="+mn-ea"/>
                          <a:cs typeface="Arial" panose="020B0604020202020204" pitchFamily="34" charset="0"/>
                        </a:rPr>
                        <a:t>To record salary expense and employee withholdings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5" name="Table 4"/>
          <p:cNvGraphicFramePr>
            <a:graphicFrameLocks noGrp="1"/>
          </p:cNvGraphicFramePr>
          <p:nvPr/>
        </p:nvGraphicFramePr>
        <p:xfrm>
          <a:off x="400669" y="3936183"/>
          <a:ext cx="8342663" cy="2103120"/>
        </p:xfrm>
        <a:graphic>
          <a:graphicData uri="http://schemas.openxmlformats.org/drawingml/2006/table">
            <a:tbl>
              <a:tblPr firstRow="1" bandRow="1">
                <a:tableStyleId>{2D5ABB26-0587-4C30-8999-92F81FD0307C}</a:tableStyleId>
              </a:tblPr>
              <a:tblGrid>
                <a:gridCol w="5730758">
                  <a:extLst>
                    <a:ext uri="{9D8B030D-6E8A-4147-A177-3AD203B41FA5}">
                      <a16:colId xmlns:a16="http://schemas.microsoft.com/office/drawing/2014/main" val="20000"/>
                    </a:ext>
                  </a:extLst>
                </a:gridCol>
                <a:gridCol w="1205012">
                  <a:extLst>
                    <a:ext uri="{9D8B030D-6E8A-4147-A177-3AD203B41FA5}">
                      <a16:colId xmlns:a16="http://schemas.microsoft.com/office/drawing/2014/main" val="20001"/>
                    </a:ext>
                  </a:extLst>
                </a:gridCol>
                <a:gridCol w="1406893">
                  <a:extLst>
                    <a:ext uri="{9D8B030D-6E8A-4147-A177-3AD203B41FA5}">
                      <a16:colId xmlns:a16="http://schemas.microsoft.com/office/drawing/2014/main" val="20002"/>
                    </a:ext>
                  </a:extLst>
                </a:gridCol>
              </a:tblGrid>
              <a:tr h="21497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kern="1200" dirty="0">
                          <a:solidFill>
                            <a:schemeClr val="tx1"/>
                          </a:solidFill>
                          <a:latin typeface="+mn-lt"/>
                          <a:ea typeface="+mn-ea"/>
                          <a:cs typeface="Arial" panose="020B0604020202020204" pitchFamily="34" charset="0"/>
                        </a:rPr>
                        <a:t>Canada Pension Plan Expense</a:t>
                      </a:r>
                      <a:endParaRPr lang="en-US" sz="1800" kern="1200" dirty="0">
                        <a:solidFill>
                          <a:schemeClr val="tx1"/>
                        </a:solidFill>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kern="1200" dirty="0">
                          <a:solidFill>
                            <a:schemeClr val="tx1"/>
                          </a:solidFill>
                          <a:latin typeface="+mn-lt"/>
                          <a:ea typeface="+mn-ea"/>
                          <a:cs typeface="Arial" panose="020B0604020202020204" pitchFamily="34" charset="0"/>
                        </a:rPr>
                        <a:t>510</a:t>
                      </a:r>
                      <a:endParaRPr lang="en-US" sz="1800" kern="1200" dirty="0">
                        <a:solidFill>
                          <a:schemeClr val="tx1"/>
                        </a:solidFill>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kern="1200" dirty="0">
                        <a:solidFill>
                          <a:schemeClr val="tx1"/>
                        </a:solidFill>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1497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Arial" panose="020B0604020202020204" pitchFamily="34" charset="0"/>
                        </a:rPr>
                        <a:t>Employment Insurance Expense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kern="1200" dirty="0">
                          <a:solidFill>
                            <a:schemeClr val="tx1"/>
                          </a:solidFill>
                          <a:latin typeface="+mn-lt"/>
                          <a:ea typeface="+mn-ea"/>
                          <a:cs typeface="Arial" panose="020B0604020202020204" pitchFamily="34" charset="0"/>
                        </a:rPr>
                        <a:t>227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kern="1200" dirty="0">
                        <a:solidFill>
                          <a:schemeClr val="tx1"/>
                        </a:solidFill>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101939"/>
                  </a:ext>
                </a:extLst>
              </a:tr>
              <a:tr h="122844">
                <a:tc>
                  <a:txBody>
                    <a:bodyPr/>
                    <a:lstStyle/>
                    <a:p>
                      <a:pPr marL="274320" algn="l" defTabSz="914400" rtl="0" eaLnBrk="1" latinLnBrk="0" hangingPunct="1"/>
                      <a:r>
                        <a:rPr lang="en-US" altLang="en-US" sz="1800" kern="1200" dirty="0">
                          <a:solidFill>
                            <a:schemeClr val="tx1"/>
                          </a:solidFill>
                          <a:latin typeface="+mn-lt"/>
                          <a:ea typeface="+mn-ea"/>
                          <a:cs typeface="Arial" panose="020B0604020202020204" pitchFamily="34" charset="0"/>
                        </a:rPr>
                        <a:t>Canada Pension Plan Payable</a:t>
                      </a:r>
                      <a:endParaRPr lang="en-US" sz="1800" kern="1200" dirty="0">
                        <a:solidFill>
                          <a:schemeClr val="tx1"/>
                        </a:solidFill>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kern="1200" dirty="0">
                        <a:solidFill>
                          <a:schemeClr val="tx1"/>
                        </a:solidFill>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kern="1200" dirty="0">
                          <a:solidFill>
                            <a:schemeClr val="tx1"/>
                          </a:solidFill>
                          <a:latin typeface="+mn-lt"/>
                          <a:ea typeface="+mn-ea"/>
                          <a:cs typeface="Arial" panose="020B0604020202020204" pitchFamily="34" charset="0"/>
                        </a:rPr>
                        <a:t>510</a:t>
                      </a:r>
                      <a:endParaRPr lang="en-US" sz="1800" kern="1200" dirty="0">
                        <a:solidFill>
                          <a:schemeClr val="tx1"/>
                        </a:solidFill>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22844">
                <a:tc>
                  <a:txBody>
                    <a:bodyPr/>
                    <a:lstStyle/>
                    <a:p>
                      <a:pPr marL="274320" algn="l" defTabSz="914400" rtl="0" eaLnBrk="1" latinLnBrk="0" hangingPunct="1"/>
                      <a:r>
                        <a:rPr lang="en-US" altLang="en-US" sz="1800" kern="1200" dirty="0">
                          <a:solidFill>
                            <a:schemeClr val="tx1"/>
                          </a:solidFill>
                          <a:latin typeface="+mn-lt"/>
                          <a:ea typeface="+mn-ea"/>
                          <a:cs typeface="Arial" panose="020B0604020202020204" pitchFamily="34" charset="0"/>
                        </a:rPr>
                        <a:t>Employment Insurance Payable </a:t>
                      </a:r>
                      <a:endParaRPr lang="en-US" sz="1800" kern="1200" dirty="0">
                        <a:solidFill>
                          <a:schemeClr val="tx1"/>
                        </a:solidFill>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kern="1200" dirty="0">
                        <a:solidFill>
                          <a:schemeClr val="tx1"/>
                        </a:solidFill>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kern="1200" dirty="0">
                          <a:solidFill>
                            <a:schemeClr val="tx1"/>
                          </a:solidFill>
                          <a:latin typeface="+mn-lt"/>
                          <a:ea typeface="+mn-ea"/>
                          <a:cs typeface="Arial" panose="020B0604020202020204" pitchFamily="34" charset="0"/>
                        </a:rPr>
                        <a:t>227</a:t>
                      </a:r>
                      <a:endParaRPr lang="en-US" sz="1800" kern="1200" dirty="0">
                        <a:solidFill>
                          <a:schemeClr val="tx1"/>
                        </a:solidFill>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1497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i="1" kern="1200" dirty="0">
                          <a:solidFill>
                            <a:schemeClr val="tx1"/>
                          </a:solidFill>
                          <a:latin typeface="+mn-lt"/>
                          <a:ea typeface="+mn-ea"/>
                          <a:cs typeface="Arial" panose="020B0604020202020204" pitchFamily="34" charset="0"/>
                        </a:rPr>
                        <a:t>To record employer</a:t>
                      </a:r>
                      <a:r>
                        <a:rPr lang="ja-JP" altLang="en-US" sz="1800" i="1" kern="1200" dirty="0">
                          <a:solidFill>
                            <a:schemeClr val="tx1"/>
                          </a:solidFill>
                          <a:latin typeface="+mn-lt"/>
                          <a:ea typeface="+mn-ea"/>
                          <a:cs typeface="Arial" panose="020B0604020202020204" pitchFamily="34" charset="0"/>
                        </a:rPr>
                        <a:t>’</a:t>
                      </a:r>
                      <a:r>
                        <a:rPr lang="en-US" altLang="ja-JP" sz="1800" i="1" kern="1200" dirty="0">
                          <a:solidFill>
                            <a:schemeClr val="tx1"/>
                          </a:solidFill>
                          <a:latin typeface="+mn-lt"/>
                          <a:ea typeface="+mn-ea"/>
                          <a:cs typeface="Arial" panose="020B0604020202020204" pitchFamily="34" charset="0"/>
                        </a:rPr>
                        <a:t>s share of Canada Pension Plan and Employment Insurance</a:t>
                      </a:r>
                      <a:endParaRPr lang="en-US" sz="1800" i="1" kern="1200" dirty="0">
                        <a:solidFill>
                          <a:schemeClr val="tx1"/>
                        </a:solidFill>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kern="1200" dirty="0">
                        <a:solidFill>
                          <a:schemeClr val="tx1"/>
                        </a:solidFill>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kern="1200" dirty="0">
                        <a:solidFill>
                          <a:schemeClr val="tx1"/>
                        </a:solidFill>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7009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44ED5-82BA-440D-AA9D-94862EE8C8D5}"/>
              </a:ext>
            </a:extLst>
          </p:cNvPr>
          <p:cNvSpPr>
            <a:spLocks noGrp="1"/>
          </p:cNvSpPr>
          <p:nvPr>
            <p:ph type="title"/>
          </p:nvPr>
        </p:nvSpPr>
        <p:spPr/>
        <p:txBody>
          <a:bodyPr/>
          <a:lstStyle/>
          <a:p>
            <a:r>
              <a:rPr lang="en-US" altLang="zh-CN"/>
              <a:t>Classroom Problem S7-1</a:t>
            </a:r>
            <a:endParaRPr lang="en-US"/>
          </a:p>
        </p:txBody>
      </p:sp>
      <p:sp>
        <p:nvSpPr>
          <p:cNvPr id="3" name="Content Placeholder 2">
            <a:extLst>
              <a:ext uri="{FF2B5EF4-FFF2-40B4-BE49-F238E27FC236}">
                <a16:creationId xmlns:a16="http://schemas.microsoft.com/office/drawing/2014/main" id="{1F3005F3-EEB6-48A4-95A6-F8BE0481792D}"/>
              </a:ext>
            </a:extLst>
          </p:cNvPr>
          <p:cNvSpPr>
            <a:spLocks noGrp="1"/>
          </p:cNvSpPr>
          <p:nvPr>
            <p:ph idx="1"/>
          </p:nvPr>
        </p:nvSpPr>
        <p:spPr/>
        <p:txBody>
          <a:bodyPr>
            <a:normAutofit/>
          </a:bodyPr>
          <a:lstStyle/>
          <a:p>
            <a:pPr marL="0" indent="0">
              <a:buNone/>
            </a:pPr>
            <a:r>
              <a:rPr lang="en-US" sz="2200" dirty="0"/>
              <a:t>Encore Records has two employees who are paid on the 1st and 15th of each month for the work they performed in the preceding half-month. At February 28, each employee is owed gross pay of $1,000, but each one must have 10% of their pay withheld for income taxes. Each must also make Canada Pension Plan contributions of 5.45% of their gross pay and pay Employment Insurance premiums of 1.58% of their gross pay. </a:t>
            </a:r>
          </a:p>
          <a:p>
            <a:pPr marL="457200" indent="-457200">
              <a:buFont typeface="+mj-lt"/>
              <a:buAutoNum type="arabicPeriod"/>
            </a:pPr>
            <a:r>
              <a:rPr lang="en-US" sz="2200" dirty="0"/>
              <a:t>Prepare the payroll journal entries required to reflect these amounts, along with Encore's share of CPP contributions and El premiums, in Encore's February 28 financial statements.</a:t>
            </a:r>
          </a:p>
          <a:p>
            <a:pPr marL="457200" indent="-457200">
              <a:buFont typeface="+mj-lt"/>
              <a:buAutoNum type="arabicPeriod"/>
            </a:pPr>
            <a:r>
              <a:rPr lang="en-US" sz="2200" dirty="0"/>
              <a:t>Show what Encore would report on its February Balance Sheet and Income Statement.</a:t>
            </a:r>
          </a:p>
        </p:txBody>
      </p:sp>
    </p:spTree>
    <p:extLst>
      <p:ext uri="{BB962C8B-B14F-4D97-AF65-F5344CB8AC3E}">
        <p14:creationId xmlns:p14="http://schemas.microsoft.com/office/powerpoint/2010/main" val="3786136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Income Taxes Payable</a:t>
            </a:r>
          </a:p>
        </p:txBody>
      </p:sp>
      <p:sp>
        <p:nvSpPr>
          <p:cNvPr id="3" name="Content Placeholder 2"/>
          <p:cNvSpPr>
            <a:spLocks noGrp="1"/>
          </p:cNvSpPr>
          <p:nvPr>
            <p:ph idx="1"/>
          </p:nvPr>
        </p:nvSpPr>
        <p:spPr/>
        <p:txBody>
          <a:bodyPr/>
          <a:lstStyle/>
          <a:p>
            <a:pPr marL="0" indent="0">
              <a:buNone/>
            </a:pPr>
            <a:r>
              <a:rPr lang="en-CA" dirty="0"/>
              <a:t>Personal and corporate tax rates differ, and corporate tax rates also vary by type of company and by province. </a:t>
            </a:r>
          </a:p>
          <a:p>
            <a:pPr marL="0" indent="0">
              <a:buNone/>
            </a:pPr>
            <a:r>
              <a:rPr lang="en-CA" dirty="0"/>
              <a:t>Income for accounting purposes (or pretax accounting income) usually differs from income for tax purposes. </a:t>
            </a:r>
          </a:p>
        </p:txBody>
      </p:sp>
    </p:spTree>
    <p:extLst>
      <p:ext uri="{BB962C8B-B14F-4D97-AF65-F5344CB8AC3E}">
        <p14:creationId xmlns:p14="http://schemas.microsoft.com/office/powerpoint/2010/main" val="89201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066800"/>
          </a:xfrm>
        </p:spPr>
        <p:txBody>
          <a:bodyPr/>
          <a:lstStyle/>
          <a:p>
            <a:r>
              <a:rPr lang="en-US" altLang="en-US" dirty="0"/>
              <a:t>Unearned Revenues</a:t>
            </a:r>
            <a:endParaRPr lang="en-US" dirty="0"/>
          </a:p>
        </p:txBody>
      </p:sp>
      <p:sp>
        <p:nvSpPr>
          <p:cNvPr id="3" name="Content Placeholder 2"/>
          <p:cNvSpPr>
            <a:spLocks noGrp="1"/>
          </p:cNvSpPr>
          <p:nvPr>
            <p:ph idx="1"/>
          </p:nvPr>
        </p:nvSpPr>
        <p:spPr>
          <a:xfrm>
            <a:off x="457200" y="1295400"/>
            <a:ext cx="8229600" cy="990599"/>
          </a:xfrm>
        </p:spPr>
        <p:txBody>
          <a:bodyPr>
            <a:normAutofit lnSpcReduction="10000"/>
          </a:bodyPr>
          <a:lstStyle/>
          <a:p>
            <a:r>
              <a:rPr lang="en-US" altLang="en-US" dirty="0">
                <a:ea typeface="ＭＳ Ｐゴシック" pitchFamily="34" charset="-128"/>
              </a:rPr>
              <a:t>Business receives cash before earning revenue</a:t>
            </a:r>
          </a:p>
          <a:p>
            <a:r>
              <a:rPr lang="en-US" altLang="en-US" dirty="0">
                <a:ea typeface="ＭＳ Ｐゴシック" pitchFamily="34" charset="-128"/>
              </a:rPr>
              <a:t>Results in a liability</a:t>
            </a:r>
            <a:endParaRPr lang="en-US" dirty="0"/>
          </a:p>
        </p:txBody>
      </p:sp>
      <p:graphicFrame>
        <p:nvGraphicFramePr>
          <p:cNvPr id="6" name="Table 4">
            <a:extLst>
              <a:ext uri="{FF2B5EF4-FFF2-40B4-BE49-F238E27FC236}">
                <a16:creationId xmlns:a16="http://schemas.microsoft.com/office/drawing/2014/main" id="{C1E39511-1451-4DD8-A7D6-3B3E04894A41}"/>
              </a:ext>
            </a:extLst>
          </p:cNvPr>
          <p:cNvGraphicFramePr>
            <a:graphicFrameLocks/>
          </p:cNvGraphicFramePr>
          <p:nvPr/>
        </p:nvGraphicFramePr>
        <p:xfrm>
          <a:off x="424543" y="2667000"/>
          <a:ext cx="8229600" cy="3296408"/>
        </p:xfrm>
        <a:graphic>
          <a:graphicData uri="http://schemas.openxmlformats.org/drawingml/2006/table">
            <a:tbl>
              <a:tblPr firstRow="1" bandRow="1">
                <a:tableStyleId>{3B4B98B0-60AC-42C2-AFA5-B58CD77FA1E5}</a:tableStyleId>
              </a:tblPr>
              <a:tblGrid>
                <a:gridCol w="990600">
                  <a:extLst>
                    <a:ext uri="{9D8B030D-6E8A-4147-A177-3AD203B41FA5}">
                      <a16:colId xmlns:a16="http://schemas.microsoft.com/office/drawing/2014/main" val="118285020"/>
                    </a:ext>
                  </a:extLst>
                </a:gridCol>
                <a:gridCol w="5029200">
                  <a:extLst>
                    <a:ext uri="{9D8B030D-6E8A-4147-A177-3AD203B41FA5}">
                      <a16:colId xmlns:a16="http://schemas.microsoft.com/office/drawing/2014/main" val="391250430"/>
                    </a:ext>
                  </a:extLst>
                </a:gridCol>
                <a:gridCol w="1143000">
                  <a:extLst>
                    <a:ext uri="{9D8B030D-6E8A-4147-A177-3AD203B41FA5}">
                      <a16:colId xmlns:a16="http://schemas.microsoft.com/office/drawing/2014/main" val="1435404438"/>
                    </a:ext>
                  </a:extLst>
                </a:gridCol>
                <a:gridCol w="1066800">
                  <a:extLst>
                    <a:ext uri="{9D8B030D-6E8A-4147-A177-3AD203B41FA5}">
                      <a16:colId xmlns:a16="http://schemas.microsoft.com/office/drawing/2014/main" val="325870574"/>
                    </a:ext>
                  </a:extLst>
                </a:gridCol>
              </a:tblGrid>
              <a:tr h="370840">
                <a:tc gridSpan="4">
                  <a:txBody>
                    <a:bodyPr/>
                    <a:lstStyle/>
                    <a:p>
                      <a:pPr algn="ctr"/>
                      <a:r>
                        <a:rPr kumimoji="0" lang="en-US" sz="1800" b="1" u="none" strike="noStrike" cap="none" normalizeH="0" baseline="0" dirty="0">
                          <a:ln>
                            <a:noFill/>
                          </a:ln>
                          <a:effectLst/>
                        </a:rPr>
                        <a:t>JOURNAL</a:t>
                      </a:r>
                      <a:endParaRPr lang="en-AU"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858834104"/>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Date</a:t>
                      </a: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Accounts and explanation</a:t>
                      </a: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Debit</a:t>
                      </a: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Credit</a:t>
                      </a: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3144857"/>
                  </a:ext>
                </a:extLst>
              </a:tr>
              <a:tr h="31278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Cash</a:t>
                      </a: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u="none" strike="noStrike" kern="1200" cap="none" normalizeH="0" baseline="0" dirty="0">
                          <a:ln>
                            <a:noFill/>
                          </a:ln>
                          <a:solidFill>
                            <a:schemeClr val="tx1"/>
                          </a:solidFill>
                          <a:effectLst/>
                          <a:latin typeface="+mn-lt"/>
                          <a:ea typeface="+mn-ea"/>
                          <a:cs typeface="+mn-cs"/>
                        </a:rPr>
                        <a:t>800</a:t>
                      </a: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u="none" strike="noStrike" kern="1200" cap="none" normalizeH="0" baseline="0" dirty="0">
                        <a:ln>
                          <a:noFill/>
                        </a:ln>
                        <a:solidFill>
                          <a:schemeClr val="tx1"/>
                        </a:solidFill>
                        <a:effectLst/>
                        <a:latin typeface="+mn-lt"/>
                        <a:ea typeface="+mn-ea"/>
                        <a:cs typeface="+mn-cs"/>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8749598"/>
                  </a:ext>
                </a:extLst>
              </a:tr>
              <a:tr h="259806">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274320" marR="0" lvl="0" indent="0" algn="l" defTabSz="914400" rtl="0" eaLnBrk="1" fontAlgn="base" latinLnBrk="0" hangingPunct="1">
                        <a:lnSpc>
                          <a:spcPct val="100000"/>
                        </a:lnSpc>
                        <a:spcBef>
                          <a:spcPct val="0"/>
                        </a:spcBef>
                        <a:spcAft>
                          <a:spcPct val="0"/>
                        </a:spcAft>
                        <a:buClrTx/>
                        <a:buSzTx/>
                        <a:buFontTx/>
                        <a:buNone/>
                        <a:tabLst/>
                      </a:pPr>
                      <a:r>
                        <a:rPr lang="en-US" sz="1800" kern="1200" dirty="0">
                          <a:solidFill>
                            <a:schemeClr val="tx1"/>
                          </a:solidFill>
                          <a:latin typeface="+mn-lt"/>
                          <a:ea typeface="+mn-ea"/>
                          <a:cs typeface="Arial" panose="020B0604020202020204" pitchFamily="34" charset="0"/>
                        </a:rPr>
                        <a:t>Unearned Revenue</a:t>
                      </a: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u="none" strike="noStrike" kern="1200" cap="none" normalizeH="0" baseline="0" dirty="0">
                        <a:ln>
                          <a:noFill/>
                        </a:ln>
                        <a:solidFill>
                          <a:schemeClr val="tx1"/>
                        </a:solidFill>
                        <a:effectLst/>
                        <a:latin typeface="+mn-lt"/>
                        <a:ea typeface="+mn-ea"/>
                        <a:cs typeface="+mn-cs"/>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u="none" strike="noStrike" kern="1200" cap="none" normalizeH="0" baseline="0" dirty="0">
                          <a:ln>
                            <a:noFill/>
                          </a:ln>
                          <a:solidFill>
                            <a:schemeClr val="tx1"/>
                          </a:solidFill>
                          <a:effectLst/>
                          <a:latin typeface="+mn-lt"/>
                          <a:ea typeface="+mn-ea"/>
                          <a:cs typeface="+mn-cs"/>
                        </a:rPr>
                        <a:t>800</a:t>
                      </a: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797183"/>
                  </a:ext>
                </a:extLst>
              </a:tr>
              <a:tr h="206829">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i="1" u="none" strike="noStrike" cap="none" normalizeH="0" baseline="0" dirty="0">
                          <a:ln>
                            <a:noFill/>
                          </a:ln>
                          <a:effectLst/>
                        </a:rPr>
                        <a:t>Received advance payment from customer</a:t>
                      </a:r>
                      <a:endParaRPr kumimoji="0" lang="en-US" sz="1800" b="0" i="1"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u="none" strike="noStrike" kern="1200" cap="none" normalizeH="0" baseline="0" dirty="0">
                        <a:ln>
                          <a:noFill/>
                        </a:ln>
                        <a:solidFill>
                          <a:schemeClr val="tx1"/>
                        </a:solidFill>
                        <a:effectLst/>
                        <a:latin typeface="+mn-lt"/>
                        <a:ea typeface="+mn-ea"/>
                        <a:cs typeface="+mn-cs"/>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u="none" strike="noStrike" kern="1200" cap="none" normalizeH="0" baseline="0" dirty="0">
                        <a:ln>
                          <a:noFill/>
                        </a:ln>
                        <a:solidFill>
                          <a:schemeClr val="tx1"/>
                        </a:solidFill>
                        <a:effectLst/>
                        <a:latin typeface="+mn-lt"/>
                        <a:ea typeface="+mn-ea"/>
                        <a:cs typeface="+mn-cs"/>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4012999"/>
                  </a:ext>
                </a:extLst>
              </a:tr>
              <a:tr h="153851">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u="none" strike="noStrike" kern="1200" cap="none" normalizeH="0" baseline="0" dirty="0">
                        <a:ln>
                          <a:noFill/>
                        </a:ln>
                        <a:solidFill>
                          <a:schemeClr val="tx1"/>
                        </a:solidFill>
                        <a:effectLst/>
                        <a:latin typeface="+mn-lt"/>
                        <a:ea typeface="+mn-ea"/>
                        <a:cs typeface="+mn-cs"/>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u="none" strike="noStrike" kern="1200" cap="none" normalizeH="0" baseline="0" dirty="0">
                        <a:ln>
                          <a:noFill/>
                        </a:ln>
                        <a:solidFill>
                          <a:schemeClr val="tx1"/>
                        </a:solidFill>
                        <a:effectLst/>
                        <a:latin typeface="+mn-lt"/>
                        <a:ea typeface="+mn-ea"/>
                        <a:cs typeface="+mn-cs"/>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7336830"/>
                  </a:ext>
                </a:extLst>
              </a:tr>
              <a:tr h="153851">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Unearned Revenue</a:t>
                      </a: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u="none" strike="noStrike" kern="1200" cap="none" normalizeH="0" baseline="0" dirty="0">
                          <a:ln>
                            <a:noFill/>
                          </a:ln>
                          <a:solidFill>
                            <a:schemeClr val="tx1"/>
                          </a:solidFill>
                          <a:effectLst/>
                          <a:latin typeface="+mn-lt"/>
                          <a:ea typeface="+mn-ea"/>
                          <a:cs typeface="+mn-cs"/>
                        </a:rPr>
                        <a:t>400</a:t>
                      </a: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u="none" strike="noStrike" kern="1200" cap="none" normalizeH="0" baseline="0" dirty="0">
                        <a:ln>
                          <a:noFill/>
                        </a:ln>
                        <a:solidFill>
                          <a:schemeClr val="tx1"/>
                        </a:solidFill>
                        <a:effectLst/>
                        <a:latin typeface="+mn-lt"/>
                        <a:ea typeface="+mn-ea"/>
                        <a:cs typeface="+mn-cs"/>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9430840"/>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274320" marR="0" lvl="0" indent="0" algn="l" defTabSz="914400" rtl="0" eaLnBrk="1" fontAlgn="base" latinLnBrk="0" hangingPunct="1">
                        <a:lnSpc>
                          <a:spcPct val="100000"/>
                        </a:lnSpc>
                        <a:spcBef>
                          <a:spcPct val="0"/>
                        </a:spcBef>
                        <a:spcAft>
                          <a:spcPct val="0"/>
                        </a:spcAft>
                        <a:buClrTx/>
                        <a:buSzTx/>
                        <a:buFontTx/>
                        <a:buNone/>
                        <a:tabLst/>
                      </a:pPr>
                      <a:r>
                        <a:rPr lang="en-US" sz="1800" kern="1200" dirty="0">
                          <a:solidFill>
                            <a:schemeClr val="tx1"/>
                          </a:solidFill>
                          <a:latin typeface="+mn-lt"/>
                          <a:ea typeface="+mn-ea"/>
                          <a:cs typeface="Arial" panose="020B0604020202020204" pitchFamily="34" charset="0"/>
                        </a:rPr>
                        <a:t>Revenue</a:t>
                      </a: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u="none" strike="noStrike" kern="1200" cap="none" normalizeH="0" baseline="0" dirty="0">
                        <a:ln>
                          <a:noFill/>
                        </a:ln>
                        <a:solidFill>
                          <a:schemeClr val="tx1"/>
                        </a:solidFill>
                        <a:effectLst/>
                        <a:latin typeface="+mn-lt"/>
                        <a:ea typeface="+mn-ea"/>
                        <a:cs typeface="+mn-cs"/>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u="none" strike="noStrike" kern="1200" cap="none" normalizeH="0" baseline="0" dirty="0">
                          <a:ln>
                            <a:noFill/>
                          </a:ln>
                          <a:solidFill>
                            <a:schemeClr val="tx1"/>
                          </a:solidFill>
                          <a:effectLst/>
                          <a:latin typeface="+mn-lt"/>
                          <a:ea typeface="+mn-ea"/>
                          <a:cs typeface="+mn-cs"/>
                        </a:rPr>
                        <a:t>400</a:t>
                      </a: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7078802"/>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i="1" u="none" strike="noStrike" cap="none" normalizeH="0" baseline="0" dirty="0">
                          <a:ln>
                            <a:noFill/>
                          </a:ln>
                          <a:effectLst/>
                        </a:rPr>
                        <a:t>To record earned portion of unearned revenue</a:t>
                      </a:r>
                      <a:endParaRPr kumimoji="0" lang="en-US" sz="1800" b="0" i="1"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5441780"/>
                  </a:ext>
                </a:extLst>
              </a:tr>
            </a:tbl>
          </a:graphicData>
        </a:graphic>
      </p:graphicFrame>
    </p:spTree>
    <p:extLst>
      <p:ext uri="{BB962C8B-B14F-4D97-AF65-F5344CB8AC3E}">
        <p14:creationId xmlns:p14="http://schemas.microsoft.com/office/powerpoint/2010/main" val="4024810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Current Portion of Long-Term Debt</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Long-term debt is often paid in installments</a:t>
            </a:r>
          </a:p>
          <a:p>
            <a:r>
              <a:rPr lang="en-US" altLang="en-US" dirty="0">
                <a:ea typeface="ＭＳ Ｐゴシック" pitchFamily="34" charset="-128"/>
              </a:rPr>
              <a:t>Amount of principal payable within one year</a:t>
            </a:r>
          </a:p>
          <a:p>
            <a:r>
              <a:rPr lang="en-US" altLang="en-US" dirty="0">
                <a:ea typeface="ＭＳ Ｐゴシック" pitchFamily="34" charset="-128"/>
              </a:rPr>
              <a:t>Company reclassifies amount from long-term to current</a:t>
            </a:r>
            <a:endParaRPr lang="en-US" dirty="0"/>
          </a:p>
        </p:txBody>
      </p:sp>
    </p:spTree>
    <p:extLst>
      <p:ext uri="{BB962C8B-B14F-4D97-AF65-F5344CB8AC3E}">
        <p14:creationId xmlns:p14="http://schemas.microsoft.com/office/powerpoint/2010/main" val="239511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Estimated Warranty Payable</a:t>
            </a:r>
            <a:endParaRPr lang="en-US" dirty="0"/>
          </a:p>
        </p:txBody>
      </p:sp>
      <p:sp>
        <p:nvSpPr>
          <p:cNvPr id="3" name="Content Placeholder 2"/>
          <p:cNvSpPr>
            <a:spLocks noGrp="1"/>
          </p:cNvSpPr>
          <p:nvPr>
            <p:ph idx="1"/>
          </p:nvPr>
        </p:nvSpPr>
        <p:spPr>
          <a:xfrm>
            <a:off x="457200" y="1600201"/>
            <a:ext cx="8229600" cy="838199"/>
          </a:xfrm>
        </p:spPr>
        <p:txBody>
          <a:bodyPr/>
          <a:lstStyle/>
          <a:p>
            <a:r>
              <a:rPr lang="en-US" altLang="en-US" dirty="0">
                <a:ea typeface="ＭＳ Ｐゴシック" pitchFamily="34" charset="-128"/>
              </a:rPr>
              <a:t>Warranty expense is estimated in the year product is sold</a:t>
            </a:r>
          </a:p>
        </p:txBody>
      </p:sp>
      <p:graphicFrame>
        <p:nvGraphicFramePr>
          <p:cNvPr id="5" name="Content Placeholder 3">
            <a:extLst>
              <a:ext uri="{FF2B5EF4-FFF2-40B4-BE49-F238E27FC236}">
                <a16:creationId xmlns:a16="http://schemas.microsoft.com/office/drawing/2014/main" id="{42870624-507C-467E-894E-BE54251F244B}"/>
              </a:ext>
            </a:extLst>
          </p:cNvPr>
          <p:cNvGraphicFramePr>
            <a:graphicFrameLocks/>
          </p:cNvGraphicFramePr>
          <p:nvPr/>
        </p:nvGraphicFramePr>
        <p:xfrm>
          <a:off x="457200" y="2590800"/>
          <a:ext cx="8229600" cy="3337560"/>
        </p:xfrm>
        <a:graphic>
          <a:graphicData uri="http://schemas.openxmlformats.org/drawingml/2006/table">
            <a:tbl>
              <a:tblPr firstRow="1" bandRow="1">
                <a:tableStyleId>{3B4B98B0-60AC-42C2-AFA5-B58CD77FA1E5}</a:tableStyleId>
              </a:tblPr>
              <a:tblGrid>
                <a:gridCol w="838200">
                  <a:extLst>
                    <a:ext uri="{9D8B030D-6E8A-4147-A177-3AD203B41FA5}">
                      <a16:colId xmlns:a16="http://schemas.microsoft.com/office/drawing/2014/main" val="3009689930"/>
                    </a:ext>
                  </a:extLst>
                </a:gridCol>
                <a:gridCol w="5334000">
                  <a:extLst>
                    <a:ext uri="{9D8B030D-6E8A-4147-A177-3AD203B41FA5}">
                      <a16:colId xmlns:a16="http://schemas.microsoft.com/office/drawing/2014/main" val="915076687"/>
                    </a:ext>
                  </a:extLst>
                </a:gridCol>
                <a:gridCol w="990600">
                  <a:extLst>
                    <a:ext uri="{9D8B030D-6E8A-4147-A177-3AD203B41FA5}">
                      <a16:colId xmlns:a16="http://schemas.microsoft.com/office/drawing/2014/main" val="2630665317"/>
                    </a:ext>
                  </a:extLst>
                </a:gridCol>
                <a:gridCol w="1066800">
                  <a:extLst>
                    <a:ext uri="{9D8B030D-6E8A-4147-A177-3AD203B41FA5}">
                      <a16:colId xmlns:a16="http://schemas.microsoft.com/office/drawing/2014/main" val="1819866725"/>
                    </a:ext>
                  </a:extLst>
                </a:gridCol>
              </a:tblGrid>
              <a:tr h="370840">
                <a:tc gridSpan="4">
                  <a:txBody>
                    <a:bodyPr/>
                    <a:lstStyle/>
                    <a:p>
                      <a:pPr algn="ctr"/>
                      <a:r>
                        <a:rPr kumimoji="0" lang="en-US" sz="1800" b="1" u="none" strike="noStrike" cap="none" normalizeH="0" baseline="0" dirty="0">
                          <a:ln>
                            <a:noFill/>
                          </a:ln>
                          <a:effectLst/>
                        </a:rPr>
                        <a:t>JOURNAL</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2515967543"/>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Date</a:t>
                      </a: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Accounts and explanation</a:t>
                      </a: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Debit</a:t>
                      </a: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Credit</a:t>
                      </a: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6171736"/>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Warranty Expense</a:t>
                      </a: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n-lt"/>
                          <a:cs typeface="Arial" pitchFamily="34" charset="0"/>
                        </a:rPr>
                        <a:t>6,000</a:t>
                      </a: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89885484"/>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74320" marR="0" lvl="0" indent="0" algn="l" defTabSz="914400" rtl="0" eaLnBrk="1" fontAlgn="base" latinLnBrk="0" hangingPunct="1">
                        <a:lnSpc>
                          <a:spcPct val="100000"/>
                        </a:lnSpc>
                        <a:spcBef>
                          <a:spcPct val="0"/>
                        </a:spcBef>
                        <a:spcAft>
                          <a:spcPct val="0"/>
                        </a:spcAft>
                        <a:buClrTx/>
                        <a:buSzTx/>
                        <a:buFontTx/>
                        <a:buNone/>
                        <a:tabLst/>
                      </a:pPr>
                      <a:r>
                        <a:rPr lang="en-US" sz="1800" kern="1200" dirty="0">
                          <a:solidFill>
                            <a:schemeClr val="tx1"/>
                          </a:solidFill>
                          <a:latin typeface="+mn-lt"/>
                          <a:ea typeface="+mn-ea"/>
                          <a:cs typeface="Arial" panose="020B0604020202020204" pitchFamily="34" charset="0"/>
                        </a:rPr>
                        <a:t>Estimated Warranty Payable</a:t>
                      </a: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0" u="none" strike="noStrike" kern="1200" cap="none" normalizeH="0" baseline="0" dirty="0">
                          <a:ln>
                            <a:noFill/>
                          </a:ln>
                          <a:solidFill>
                            <a:schemeClr val="tx1"/>
                          </a:solidFill>
                          <a:effectLst/>
                          <a:latin typeface="+mn-lt"/>
                          <a:ea typeface="+mn-ea"/>
                          <a:cs typeface="Arial" pitchFamily="34" charset="0"/>
                        </a:rPr>
                        <a:t>6,000</a:t>
                      </a: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48117486"/>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i="1" u="none" strike="noStrike" cap="none" normalizeH="0" baseline="0" dirty="0">
                          <a:ln>
                            <a:noFill/>
                          </a:ln>
                          <a:effectLst/>
                        </a:rPr>
                        <a:t>To accrue warranty expense.</a:t>
                      </a:r>
                      <a:endParaRPr kumimoji="0" lang="en-US" sz="1800" b="0" i="1"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29335410"/>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lang="en-US" sz="1800" kern="1200" dirty="0">
                        <a:solidFill>
                          <a:schemeClr val="tx1"/>
                        </a:solidFill>
                        <a:latin typeface="+mn-lt"/>
                        <a:ea typeface="+mn-ea"/>
                        <a:cs typeface="Arial" panose="020B0604020202020204"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mn-lt"/>
                        <a:ea typeface="+mn-ea"/>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4276727"/>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solidFill>
                            <a:schemeClr val="tx1"/>
                          </a:solidFill>
                          <a:latin typeface="+mn-lt"/>
                          <a:ea typeface="+mn-ea"/>
                          <a:cs typeface="Arial" panose="020B0604020202020204" pitchFamily="34" charset="0"/>
                        </a:rPr>
                        <a:t>Estimated Warranty Payable</a:t>
                      </a: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0" u="none" strike="noStrike" kern="1200" cap="none" normalizeH="0" baseline="0" dirty="0">
                          <a:ln>
                            <a:noFill/>
                          </a:ln>
                          <a:solidFill>
                            <a:schemeClr val="tx1"/>
                          </a:solidFill>
                          <a:effectLst/>
                          <a:latin typeface="+mn-lt"/>
                          <a:ea typeface="+mn-ea"/>
                          <a:cs typeface="Arial" pitchFamily="34" charset="0"/>
                        </a:rPr>
                        <a:t>4,800</a:t>
                      </a: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57302555"/>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     Inventory</a:t>
                      </a: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Arial" pitchFamily="34" charset="0"/>
                        </a:rPr>
                        <a:t>4,800</a:t>
                      </a: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2954398"/>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i="1" u="none" strike="noStrike" cap="none" normalizeH="0" baseline="0" dirty="0">
                          <a:ln>
                            <a:noFill/>
                          </a:ln>
                          <a:effectLst/>
                        </a:rPr>
                        <a:t>To replace defective parts under warranty.</a:t>
                      </a:r>
                      <a:endParaRPr kumimoji="0" lang="en-US" sz="1800" b="0" i="1"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8" charset="0"/>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mn-lt"/>
                        <a:ea typeface="+mn-ea"/>
                        <a:cs typeface="Arial" pitchFamily="34" charset="0"/>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73771538"/>
                  </a:ext>
                </a:extLst>
              </a:tr>
            </a:tbl>
          </a:graphicData>
        </a:graphic>
      </p:graphicFrame>
    </p:spTree>
    <p:extLst>
      <p:ext uri="{BB962C8B-B14F-4D97-AF65-F5344CB8AC3E}">
        <p14:creationId xmlns:p14="http://schemas.microsoft.com/office/powerpoint/2010/main" val="2322598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913" y="375138"/>
            <a:ext cx="8677297" cy="5633146"/>
          </a:xfrm>
        </p:spPr>
        <p:txBody>
          <a:bodyPr>
            <a:normAutofit/>
          </a:bodyPr>
          <a:lstStyle/>
          <a:p>
            <a:pPr marL="0" indent="0">
              <a:buNone/>
            </a:pPr>
            <a:r>
              <a:rPr lang="en-US" b="1" dirty="0"/>
              <a:t>S7-2 Warranties</a:t>
            </a:r>
          </a:p>
          <a:p>
            <a:pPr marL="0" indent="0">
              <a:buNone/>
            </a:pPr>
            <a:r>
              <a:rPr lang="en-US" dirty="0"/>
              <a:t>GM of Canada Ltd. guarantees automobiles against defects for 5 years, or 160,000km, whichever comes first.  Suppose GM expects warranty costs during the 5-year period to add up to 3% of sales.</a:t>
            </a:r>
          </a:p>
          <a:p>
            <a:pPr marL="0" indent="0">
              <a:buNone/>
            </a:pPr>
            <a:r>
              <a:rPr lang="en-US" dirty="0"/>
              <a:t>Assume that Forbes Motors in Waterloo, Ont. had sales of $2,000,000 on their Buick line during 2020. Forbes received cash for 10% of the sales and took notes receivable for the remainder. Payments to satisfy customer warranty claims totaled $50,000 during 2020.</a:t>
            </a:r>
          </a:p>
        </p:txBody>
      </p:sp>
    </p:spTree>
    <p:extLst>
      <p:ext uri="{BB962C8B-B14F-4D97-AF65-F5344CB8AC3E}">
        <p14:creationId xmlns:p14="http://schemas.microsoft.com/office/powerpoint/2010/main" val="2534801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913" y="914400"/>
            <a:ext cx="8677297" cy="5093884"/>
          </a:xfrm>
        </p:spPr>
        <p:txBody>
          <a:bodyPr>
            <a:normAutofit/>
          </a:bodyPr>
          <a:lstStyle/>
          <a:p>
            <a:pPr marL="457200" indent="-457200">
              <a:buAutoNum type="arabicPeriod"/>
            </a:pPr>
            <a:r>
              <a:rPr lang="en-US" b="1" dirty="0"/>
              <a:t> </a:t>
            </a:r>
            <a:r>
              <a:rPr lang="en-US" dirty="0"/>
              <a:t>Record sales, warranty expense &amp; warranty payments for Forbes.</a:t>
            </a:r>
          </a:p>
          <a:p>
            <a:pPr marL="457200" indent="-457200">
              <a:buAutoNum type="arabicPeriod"/>
            </a:pPr>
            <a:r>
              <a:rPr lang="en-US" dirty="0"/>
              <a:t>Post to the Estimated Warranty Payable T-account. The beginning balance was $40,000.  At the end of 2020, how much in estimated warranty payable does Forbes owe its customers?</a:t>
            </a:r>
          </a:p>
          <a:p>
            <a:pPr marL="457200" indent="-457200">
              <a:buAutoNum type="arabicPeriod"/>
            </a:pPr>
            <a:r>
              <a:rPr lang="en-US" dirty="0"/>
              <a:t>What amount of warranty expense will Forbes report during 2020? Does the warranty expense for the year equal the year’s cash payments for warranties?  Explain the relevant accounting principle as it applies to measuring warranty expense.</a:t>
            </a:r>
          </a:p>
        </p:txBody>
      </p:sp>
    </p:spTree>
    <p:extLst>
      <p:ext uri="{BB962C8B-B14F-4D97-AF65-F5344CB8AC3E}">
        <p14:creationId xmlns:p14="http://schemas.microsoft.com/office/powerpoint/2010/main" val="1772006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Contingent Liabilities</a:t>
            </a:r>
            <a:endParaRPr lang="en-US" dirty="0"/>
          </a:p>
        </p:txBody>
      </p:sp>
      <p:sp>
        <p:nvSpPr>
          <p:cNvPr id="3" name="Content Placeholder 2"/>
          <p:cNvSpPr>
            <a:spLocks noGrp="1"/>
          </p:cNvSpPr>
          <p:nvPr>
            <p:ph idx="1"/>
          </p:nvPr>
        </p:nvSpPr>
        <p:spPr>
          <a:xfrm>
            <a:off x="490369" y="1524000"/>
            <a:ext cx="8229600" cy="4525963"/>
          </a:xfrm>
        </p:spPr>
        <p:txBody>
          <a:bodyPr anchor="ctr">
            <a:normAutofit lnSpcReduction="10000"/>
          </a:bodyPr>
          <a:lstStyle/>
          <a:p>
            <a:pPr marL="0" indent="0">
              <a:spcBef>
                <a:spcPts val="600"/>
              </a:spcBef>
              <a:buNone/>
              <a:defRPr/>
            </a:pPr>
            <a:r>
              <a:rPr lang="en-US" dirty="0">
                <a:cs typeface="Arial" panose="020B0604020202020204" pitchFamily="34" charset="0"/>
              </a:rPr>
              <a:t>Contingent liabilities a</a:t>
            </a:r>
            <a:r>
              <a:rPr lang="en-US" sz="2400" dirty="0">
                <a:cs typeface="Arial" panose="020B0604020202020204" pitchFamily="34" charset="0"/>
              </a:rPr>
              <a:t>re possible obligations that will become actual obligations only if some uncertain future event occurs.</a:t>
            </a:r>
          </a:p>
          <a:p>
            <a:pPr marL="0" indent="0" algn="ctr">
              <a:spcBef>
                <a:spcPts val="600"/>
              </a:spcBef>
              <a:buNone/>
              <a:defRPr/>
            </a:pPr>
            <a:endParaRPr lang="en-US" sz="2400" dirty="0">
              <a:cs typeface="Arial" panose="020B0604020202020204" pitchFamily="34" charset="0"/>
            </a:endParaRPr>
          </a:p>
          <a:p>
            <a:pPr marL="0" indent="0">
              <a:spcBef>
                <a:spcPts val="600"/>
              </a:spcBef>
              <a:buNone/>
            </a:pPr>
            <a:r>
              <a:rPr lang="en-US" altLang="en-US" sz="2400" dirty="0">
                <a:cs typeface="Arial" panose="020B0604020202020204" pitchFamily="34" charset="0"/>
              </a:rPr>
              <a:t>Examples: Lawsuits in progress, </a:t>
            </a:r>
            <a:r>
              <a:rPr lang="en-US" altLang="ja-JP" sz="2400" dirty="0">
                <a:cs typeface="Arial" panose="020B0604020202020204" pitchFamily="34" charset="0"/>
              </a:rPr>
              <a:t>debt guarantees, </a:t>
            </a:r>
          </a:p>
          <a:p>
            <a:pPr marL="0" indent="0">
              <a:spcBef>
                <a:spcPts val="600"/>
              </a:spcBef>
              <a:buNone/>
            </a:pPr>
            <a:r>
              <a:rPr lang="en-US" altLang="en-US" sz="2400" dirty="0">
                <a:cs typeface="Arial" panose="020B0604020202020204" pitchFamily="34" charset="0"/>
              </a:rPr>
              <a:t>audits by Canada Revenue Agency</a:t>
            </a:r>
          </a:p>
          <a:p>
            <a:pPr marL="0" indent="0" algn="ctr">
              <a:spcBef>
                <a:spcPts val="600"/>
              </a:spcBef>
              <a:buNone/>
            </a:pPr>
            <a:endParaRPr lang="en-US" sz="2400" dirty="0">
              <a:latin typeface="Georgia" pitchFamily="18" charset="0"/>
            </a:endParaRPr>
          </a:p>
          <a:p>
            <a:pPr marL="0" indent="0">
              <a:spcBef>
                <a:spcPts val="600"/>
              </a:spcBef>
              <a:buNone/>
              <a:defRPr/>
            </a:pPr>
            <a:r>
              <a:rPr lang="en-US" sz="2400" dirty="0">
                <a:cs typeface="Arial" panose="020B0604020202020204" pitchFamily="34" charset="0"/>
              </a:rPr>
              <a:t>These liabilities are recorded as a provision if it is </a:t>
            </a:r>
            <a:r>
              <a:rPr lang="en-US" sz="2400" i="1" dirty="0">
                <a:cs typeface="Arial" panose="020B0604020202020204" pitchFamily="34" charset="0"/>
              </a:rPr>
              <a:t>likely</a:t>
            </a:r>
            <a:r>
              <a:rPr lang="en-US" sz="2400" dirty="0">
                <a:cs typeface="Arial" panose="020B0604020202020204" pitchFamily="34" charset="0"/>
              </a:rPr>
              <a:t> that</a:t>
            </a:r>
          </a:p>
          <a:p>
            <a:pPr marL="0" indent="0">
              <a:spcBef>
                <a:spcPts val="600"/>
              </a:spcBef>
              <a:buNone/>
              <a:defRPr/>
            </a:pPr>
            <a:r>
              <a:rPr lang="en-US" sz="2400" dirty="0">
                <a:cs typeface="Arial" panose="020B0604020202020204" pitchFamily="34" charset="0"/>
              </a:rPr>
              <a:t>they will occur.</a:t>
            </a:r>
            <a:endParaRPr lang="en-US" sz="2400" dirty="0"/>
          </a:p>
        </p:txBody>
      </p:sp>
    </p:spTree>
    <p:extLst>
      <p:ext uri="{BB962C8B-B14F-4D97-AF65-F5344CB8AC3E}">
        <p14:creationId xmlns:p14="http://schemas.microsoft.com/office/powerpoint/2010/main" val="3820070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Learning Objective Five</a:t>
            </a:r>
          </a:p>
        </p:txBody>
      </p:sp>
      <p:sp>
        <p:nvSpPr>
          <p:cNvPr id="5" name="Subtitle 4"/>
          <p:cNvSpPr>
            <a:spLocks noGrp="1"/>
          </p:cNvSpPr>
          <p:nvPr>
            <p:ph type="subTitle" idx="1"/>
          </p:nvPr>
        </p:nvSpPr>
        <p:spPr>
          <a:xfrm>
            <a:off x="339555" y="2826328"/>
            <a:ext cx="5701027" cy="2107046"/>
          </a:xfrm>
        </p:spPr>
        <p:txBody>
          <a:bodyPr>
            <a:noAutofit/>
          </a:bodyPr>
          <a:lstStyle/>
          <a:p>
            <a:r>
              <a:rPr lang="en-US" altLang="en-US" sz="3200" b="1" dirty="0">
                <a:ea typeface="ＭＳ Ｐゴシック" pitchFamily="34" charset="-128"/>
              </a:rPr>
              <a:t>Explain</a:t>
            </a:r>
            <a:r>
              <a:rPr lang="en-US" altLang="en-US" sz="3200" dirty="0">
                <a:ea typeface="ＭＳ Ｐゴシック" pitchFamily="34" charset="-128"/>
              </a:rPr>
              <a:t> the advantages and disadvantages of financing with debt versus equity</a:t>
            </a:r>
            <a:endParaRPr lang="en-US" sz="3200" dirty="0"/>
          </a:p>
        </p:txBody>
      </p:sp>
    </p:spTree>
    <p:extLst>
      <p:ext uri="{BB962C8B-B14F-4D97-AF65-F5344CB8AC3E}">
        <p14:creationId xmlns:p14="http://schemas.microsoft.com/office/powerpoint/2010/main" val="3650658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Financing Business Activities</a:t>
            </a:r>
            <a:endParaRPr lang="en-US" dirty="0"/>
          </a:p>
        </p:txBody>
      </p:sp>
      <p:sp>
        <p:nvSpPr>
          <p:cNvPr id="5" name="Content Placeholder 4"/>
          <p:cNvSpPr>
            <a:spLocks noGrp="1"/>
          </p:cNvSpPr>
          <p:nvPr>
            <p:ph sz="half" idx="2"/>
          </p:nvPr>
        </p:nvSpPr>
        <p:spPr>
          <a:xfrm>
            <a:off x="1295400" y="1905000"/>
            <a:ext cx="3000197" cy="1922088"/>
          </a:xfrm>
        </p:spPr>
        <p:txBody>
          <a:bodyPr/>
          <a:lstStyle/>
          <a:p>
            <a:pPr marL="0" indent="0"/>
            <a:r>
              <a:rPr lang="en-US" sz="3600" dirty="0"/>
              <a:t>Using excess cash</a:t>
            </a:r>
          </a:p>
        </p:txBody>
      </p:sp>
      <p:sp>
        <p:nvSpPr>
          <p:cNvPr id="4" name="Text Placeholder 3"/>
          <p:cNvSpPr>
            <a:spLocks noGrp="1"/>
          </p:cNvSpPr>
          <p:nvPr>
            <p:ph type="body" idx="1"/>
          </p:nvPr>
        </p:nvSpPr>
        <p:spPr>
          <a:xfrm>
            <a:off x="4572000" y="1905000"/>
            <a:ext cx="3000197" cy="1922088"/>
          </a:xfrm>
        </p:spPr>
        <p:txBody>
          <a:bodyPr/>
          <a:lstStyle/>
          <a:p>
            <a:pPr lvl="0"/>
            <a:r>
              <a:rPr lang="en-US" sz="3600" dirty="0"/>
              <a:t>Issuing shares</a:t>
            </a:r>
          </a:p>
        </p:txBody>
      </p:sp>
      <p:sp>
        <p:nvSpPr>
          <p:cNvPr id="6" name="Text Placeholder 5"/>
          <p:cNvSpPr>
            <a:spLocks noGrp="1"/>
          </p:cNvSpPr>
          <p:nvPr>
            <p:ph type="body" sz="quarter" idx="3"/>
          </p:nvPr>
        </p:nvSpPr>
        <p:spPr>
          <a:xfrm>
            <a:off x="3083477" y="4220556"/>
            <a:ext cx="3000197" cy="1922088"/>
          </a:xfrm>
        </p:spPr>
        <p:txBody>
          <a:bodyPr/>
          <a:lstStyle/>
          <a:p>
            <a:r>
              <a:rPr lang="en-US" sz="3600" dirty="0"/>
              <a:t>Borrowing money</a:t>
            </a:r>
          </a:p>
        </p:txBody>
      </p:sp>
    </p:spTree>
    <p:extLst>
      <p:ext uri="{BB962C8B-B14F-4D97-AF65-F5344CB8AC3E}">
        <p14:creationId xmlns:p14="http://schemas.microsoft.com/office/powerpoint/2010/main" val="41285802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Earnings per Share (EPS)</a:t>
            </a:r>
            <a:endParaRPr lang="en-US" dirty="0"/>
          </a:p>
        </p:txBody>
      </p:sp>
      <p:graphicFrame>
        <p:nvGraphicFramePr>
          <p:cNvPr id="6" name="Table 10">
            <a:extLst>
              <a:ext uri="{FF2B5EF4-FFF2-40B4-BE49-F238E27FC236}">
                <a16:creationId xmlns:a16="http://schemas.microsoft.com/office/drawing/2014/main" id="{D64BD43A-246F-4C32-B092-F0F35063BA32}"/>
              </a:ext>
            </a:extLst>
          </p:cNvPr>
          <p:cNvGraphicFramePr>
            <a:graphicFrameLocks noGrp="1"/>
          </p:cNvGraphicFramePr>
          <p:nvPr>
            <p:ph idx="1"/>
          </p:nvPr>
        </p:nvGraphicFramePr>
        <p:xfrm>
          <a:off x="457200" y="1600200"/>
          <a:ext cx="8232140" cy="4622912"/>
        </p:xfrm>
        <a:graphic>
          <a:graphicData uri="http://schemas.openxmlformats.org/drawingml/2006/table">
            <a:tbl>
              <a:tblPr firstRow="1" bandRow="1">
                <a:tableStyleId>{3B4B98B0-60AC-42C2-AFA5-B58CD77FA1E5}</a:tableStyleId>
              </a:tblPr>
              <a:tblGrid>
                <a:gridCol w="2895600">
                  <a:extLst>
                    <a:ext uri="{9D8B030D-6E8A-4147-A177-3AD203B41FA5}">
                      <a16:colId xmlns:a16="http://schemas.microsoft.com/office/drawing/2014/main" val="2295523771"/>
                    </a:ext>
                  </a:extLst>
                </a:gridCol>
                <a:gridCol w="1374140">
                  <a:extLst>
                    <a:ext uri="{9D8B030D-6E8A-4147-A177-3AD203B41FA5}">
                      <a16:colId xmlns:a16="http://schemas.microsoft.com/office/drawing/2014/main" val="1242359315"/>
                    </a:ext>
                  </a:extLst>
                </a:gridCol>
                <a:gridCol w="1143000">
                  <a:extLst>
                    <a:ext uri="{9D8B030D-6E8A-4147-A177-3AD203B41FA5}">
                      <a16:colId xmlns:a16="http://schemas.microsoft.com/office/drawing/2014/main" val="875168285"/>
                    </a:ext>
                  </a:extLst>
                </a:gridCol>
                <a:gridCol w="1333500">
                  <a:extLst>
                    <a:ext uri="{9D8B030D-6E8A-4147-A177-3AD203B41FA5}">
                      <a16:colId xmlns:a16="http://schemas.microsoft.com/office/drawing/2014/main" val="2755323210"/>
                    </a:ext>
                  </a:extLst>
                </a:gridCol>
                <a:gridCol w="1485900">
                  <a:extLst>
                    <a:ext uri="{9D8B030D-6E8A-4147-A177-3AD203B41FA5}">
                      <a16:colId xmlns:a16="http://schemas.microsoft.com/office/drawing/2014/main" val="4009626910"/>
                    </a:ext>
                  </a:extLst>
                </a:gridCol>
              </a:tblGrid>
              <a:tr h="370840">
                <a:tc>
                  <a:txBody>
                    <a:bodyPr/>
                    <a:lstStyle/>
                    <a:p>
                      <a:endParaRPr lang="en-AU"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gridSpan="2">
                  <a:txBody>
                    <a:bodyPr/>
                    <a:lstStyle/>
                    <a:p>
                      <a:pPr algn="ctr"/>
                      <a:r>
                        <a:rPr kumimoji="0" lang="en-US" sz="1800" b="1" u="none" strike="noStrike" cap="none" normalizeH="0" baseline="0" dirty="0">
                          <a:ln>
                            <a:noFill/>
                          </a:ln>
                          <a:effectLst/>
                        </a:rPr>
                        <a:t>Plan 1</a:t>
                      </a:r>
                      <a:endParaRPr lang="en-AU"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lnL w="6350" cap="flat" cmpd="sng" algn="ctr">
                      <a:solidFill>
                        <a:schemeClr val="tx1"/>
                      </a:solidFill>
                      <a:prstDash val="solid"/>
                      <a:round/>
                      <a:headEnd type="none" w="med" len="med"/>
                      <a:tailEnd type="none" w="med" len="med"/>
                    </a:lnL>
                  </a:tcPr>
                </a:tc>
                <a:tc gridSpan="2">
                  <a:txBody>
                    <a:bodyPr/>
                    <a:lstStyle/>
                    <a:p>
                      <a:pPr algn="ctr"/>
                      <a:r>
                        <a:rPr kumimoji="0" lang="en-US" sz="1800" b="1" u="none" strike="noStrike" cap="none" normalizeH="0" baseline="0" dirty="0">
                          <a:ln>
                            <a:noFill/>
                          </a:ln>
                          <a:effectLst/>
                        </a:rPr>
                        <a:t>Plan 2</a:t>
                      </a:r>
                      <a:endParaRPr lang="en-AU"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extLst>
                  <a:ext uri="{0D108BD9-81ED-4DB2-BD59-A6C34878D82A}">
                    <a16:rowId xmlns:a16="http://schemas.microsoft.com/office/drawing/2014/main" val="3239759373"/>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gridSpan="2">
                  <a:txBody>
                    <a:bodyPr/>
                    <a:lstStyle/>
                    <a:p>
                      <a:r>
                        <a:rPr kumimoji="0" lang="en-US" sz="1700" u="none" strike="noStrike" cap="none" normalizeH="0" baseline="0" dirty="0">
                          <a:ln>
                            <a:noFill/>
                          </a:ln>
                          <a:effectLst/>
                        </a:rPr>
                        <a:t>Borrow $500,000  6%</a:t>
                      </a:r>
                      <a:endParaRPr lang="en-AU" sz="17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lnL w="6350" cap="flat" cmpd="sng" algn="ctr">
                      <a:solidFill>
                        <a:schemeClr val="tx1"/>
                      </a:solidFill>
                      <a:prstDash val="solid"/>
                      <a:round/>
                      <a:headEnd type="none" w="med" len="med"/>
                      <a:tailEnd type="none" w="med" len="med"/>
                    </a:lnL>
                  </a:tcPr>
                </a:tc>
                <a:tc gridSpan="2">
                  <a:txBody>
                    <a:bodyPr/>
                    <a:lstStyle/>
                    <a:p>
                      <a:r>
                        <a:rPr kumimoji="0" lang="en-US" sz="1700" u="none" strike="noStrike" cap="none" normalizeH="0" baseline="0" dirty="0">
                          <a:ln>
                            <a:noFill/>
                          </a:ln>
                          <a:effectLst/>
                        </a:rPr>
                        <a:t>Issue $500,000 of shares</a:t>
                      </a:r>
                      <a:endParaRPr lang="en-AU" sz="17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extLst>
                  <a:ext uri="{0D108BD9-81ED-4DB2-BD59-A6C34878D82A}">
                    <a16:rowId xmlns:a16="http://schemas.microsoft.com/office/drawing/2014/main" val="4152184024"/>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700" u="none" strike="noStrike" cap="none" normalizeH="0" baseline="0" dirty="0">
                          <a:ln>
                            <a:noFill/>
                          </a:ln>
                          <a:effectLst/>
                        </a:rPr>
                        <a:t>Net income before expansion</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n-AU" sz="17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cap="none" normalizeH="0" baseline="0" dirty="0">
                          <a:ln>
                            <a:noFill/>
                          </a:ln>
                          <a:effectLst/>
                        </a:rPr>
                        <a:t>$300,000</a:t>
                      </a:r>
                      <a:endParaRPr kumimoji="0" lang="en-US" sz="1800" b="0" i="0" u="none" strike="noStrike" cap="none" normalizeH="0" baseline="0" dirty="0">
                        <a:ln>
                          <a:noFill/>
                        </a:ln>
                        <a:solidFill>
                          <a:srgbClr val="000000"/>
                        </a:solidFill>
                        <a:effectLst/>
                        <a:latin typeface="Georgia" pitchFamily="18" charset="0"/>
                        <a:cs typeface="Arial" pitchFamily="34" charset="0"/>
                      </a:endParaRP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gridSpan="2">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700" u="none" strike="noStrike" cap="none" normalizeH="0" baseline="0" dirty="0">
                          <a:ln>
                            <a:noFill/>
                          </a:ln>
                          <a:effectLst/>
                        </a:rPr>
                        <a:t>$300,000</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extLst>
                  <a:ext uri="{0D108BD9-81ED-4DB2-BD59-A6C34878D82A}">
                    <a16:rowId xmlns:a16="http://schemas.microsoft.com/office/drawing/2014/main" val="3314469827"/>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u="none" strike="noStrike" cap="none" normalizeH="0" baseline="0" dirty="0">
                          <a:ln>
                            <a:noFill/>
                          </a:ln>
                          <a:effectLst/>
                        </a:rPr>
                        <a:t>Expected project income before interest &amp; taxes</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700" u="none" strike="noStrike" cap="none" normalizeH="0" baseline="0" dirty="0">
                          <a:ln>
                            <a:noFill/>
                          </a:ln>
                          <a:effectLst/>
                        </a:rPr>
                        <a:t>$200,000</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700" u="none" strike="noStrike" cap="none" normalizeH="0" baseline="0" dirty="0">
                          <a:ln>
                            <a:noFill/>
                          </a:ln>
                          <a:effectLst/>
                        </a:rPr>
                        <a:t>$200,000</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72786085"/>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u="none" strike="noStrike" cap="none" normalizeH="0" baseline="0" dirty="0">
                          <a:ln>
                            <a:noFill/>
                          </a:ln>
                          <a:effectLst/>
                        </a:rPr>
                        <a:t>Interest expense</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700" u="none" strike="noStrike" cap="none" normalizeH="0" baseline="0" dirty="0">
                          <a:ln>
                            <a:noFill/>
                          </a:ln>
                          <a:effectLst/>
                        </a:rPr>
                        <a:t>(30,000)</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700" u="none" strike="noStrike" cap="none" normalizeH="0" baseline="0" dirty="0">
                          <a:ln>
                            <a:noFill/>
                          </a:ln>
                          <a:effectLst/>
                        </a:rPr>
                        <a:t>0</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836076"/>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u="none" strike="noStrike" cap="none" normalizeH="0" baseline="0" dirty="0">
                          <a:ln>
                            <a:noFill/>
                          </a:ln>
                          <a:effectLst/>
                        </a:rPr>
                        <a:t>Income taxes (40%)</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700" u="none" strike="noStrike" cap="none" normalizeH="0" baseline="0" dirty="0">
                          <a:ln>
                            <a:noFill/>
                          </a:ln>
                          <a:effectLst/>
                        </a:rPr>
                        <a:t>(68,000)</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700" u="none" strike="noStrike" cap="none" normalizeH="0" baseline="0" dirty="0">
                          <a:ln>
                            <a:noFill/>
                          </a:ln>
                          <a:effectLst/>
                        </a:rPr>
                        <a:t>(80,000)</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7860016"/>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u="none" strike="noStrike" cap="none" normalizeH="0" baseline="0" dirty="0">
                          <a:ln>
                            <a:noFill/>
                          </a:ln>
                          <a:effectLst/>
                        </a:rPr>
                        <a:t>Expected project net income</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700" u="none" strike="noStrike" cap="none" normalizeH="0" baseline="0" dirty="0">
                          <a:ln>
                            <a:noFill/>
                          </a:ln>
                          <a:effectLst/>
                        </a:rPr>
                        <a:t>   </a:t>
                      </a:r>
                      <a:r>
                        <a:rPr kumimoji="0" lang="en-US" sz="1700" u="sng" strike="noStrike" cap="none" normalizeH="0" baseline="0" dirty="0">
                          <a:ln>
                            <a:noFill/>
                          </a:ln>
                          <a:effectLst/>
                        </a:rPr>
                        <a:t>102,000</a:t>
                      </a:r>
                      <a:endParaRPr kumimoji="0" lang="en-US" sz="1700" b="0" i="0" u="sng"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n-AU" dirty="0"/>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700" u="none" strike="noStrike" cap="none" normalizeH="0" baseline="0" dirty="0">
                          <a:ln>
                            <a:noFill/>
                          </a:ln>
                          <a:effectLst/>
                        </a:rPr>
                        <a:t>   </a:t>
                      </a:r>
                      <a:r>
                        <a:rPr kumimoji="0" lang="en-US" sz="1700" u="sng" strike="noStrike" cap="none" normalizeH="0" baseline="0" dirty="0">
                          <a:ln>
                            <a:noFill/>
                          </a:ln>
                          <a:effectLst/>
                        </a:rPr>
                        <a:t>120,000</a:t>
                      </a:r>
                      <a:endParaRPr kumimoji="0" lang="en-US" sz="1700" b="0" i="0" u="sng"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74599220"/>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u="none" strike="noStrike" cap="none" normalizeH="0" baseline="0" dirty="0">
                          <a:ln>
                            <a:noFill/>
                          </a:ln>
                          <a:effectLst/>
                        </a:rPr>
                        <a:t>Total net income</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700" u="none" strike="noStrike" cap="none" normalizeH="0" baseline="0" dirty="0">
                          <a:ln>
                            <a:noFill/>
                          </a:ln>
                          <a:effectLst/>
                        </a:rPr>
                        <a:t>$402,000</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700" u="none" strike="noStrike" cap="none" normalizeH="0" baseline="0" dirty="0">
                          <a:ln>
                            <a:noFill/>
                          </a:ln>
                          <a:effectLst/>
                        </a:rPr>
                        <a:t>$420,000</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2437638"/>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u="none" strike="noStrike" cap="none" normalizeH="0" baseline="0" dirty="0">
                          <a:ln>
                            <a:noFill/>
                          </a:ln>
                          <a:effectLst/>
                        </a:rPr>
                        <a:t>Common shares</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700" u="none" strike="noStrike" cap="none" normalizeH="0" baseline="0" dirty="0">
                          <a:ln>
                            <a:noFill/>
                          </a:ln>
                          <a:effectLst/>
                        </a:rPr>
                        <a:t>100,000</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u="none" strike="noStrike" cap="none" normalizeH="0" baseline="0" dirty="0">
                          <a:ln>
                            <a:noFill/>
                          </a:ln>
                          <a:effectLst/>
                        </a:rPr>
                        <a:t>150,000</a:t>
                      </a:r>
                      <a:endParaRPr kumimoji="0" lang="en-US" sz="18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17491129"/>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u="none" strike="noStrike" cap="none" normalizeH="0" baseline="0" dirty="0">
                          <a:ln>
                            <a:noFill/>
                          </a:ln>
                          <a:effectLst/>
                        </a:rPr>
                        <a:t>Earnings per share</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u="none" strike="noStrike" cap="none" normalizeH="0" baseline="0" dirty="0">
                          <a:ln>
                            <a:noFill/>
                          </a:ln>
                          <a:effectLst/>
                        </a:rPr>
                        <a:t>$4.02</a:t>
                      </a:r>
                      <a:endParaRPr kumimoji="0" lang="en-US" sz="1800" b="1"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a:ln>
                            <a:noFill/>
                          </a:ln>
                          <a:effectLst/>
                        </a:rPr>
                        <a:t>$2.80</a:t>
                      </a:r>
                      <a:endParaRPr kumimoji="0" lang="en-US" sz="17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45483484"/>
                  </a:ext>
                </a:extLst>
              </a:tr>
            </a:tbl>
          </a:graphicData>
        </a:graphic>
      </p:graphicFrame>
    </p:spTree>
    <p:extLst>
      <p:ext uri="{BB962C8B-B14F-4D97-AF65-F5344CB8AC3E}">
        <p14:creationId xmlns:p14="http://schemas.microsoft.com/office/powerpoint/2010/main" val="939445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Learning Objective Six</a:t>
            </a:r>
          </a:p>
        </p:txBody>
      </p:sp>
      <p:sp>
        <p:nvSpPr>
          <p:cNvPr id="5" name="Subtitle 4"/>
          <p:cNvSpPr>
            <a:spLocks noGrp="1"/>
          </p:cNvSpPr>
          <p:nvPr>
            <p:ph type="subTitle" idx="1"/>
          </p:nvPr>
        </p:nvSpPr>
        <p:spPr>
          <a:xfrm>
            <a:off x="339555" y="3228110"/>
            <a:ext cx="5798009" cy="1705264"/>
          </a:xfrm>
        </p:spPr>
        <p:txBody>
          <a:bodyPr>
            <a:noAutofit/>
          </a:bodyPr>
          <a:lstStyle/>
          <a:p>
            <a:r>
              <a:rPr lang="en-US" altLang="en-US" sz="3200" b="1" dirty="0">
                <a:ea typeface="ＭＳ Ｐゴシック" pitchFamily="34" charset="-128"/>
              </a:rPr>
              <a:t>Analyze</a:t>
            </a:r>
            <a:r>
              <a:rPr lang="en-US" altLang="en-US" sz="3200" dirty="0">
                <a:ea typeface="ＭＳ Ｐゴシック" pitchFamily="34" charset="-128"/>
              </a:rPr>
              <a:t> and </a:t>
            </a:r>
            <a:r>
              <a:rPr lang="en-US" altLang="en-US" sz="3200" b="1" dirty="0">
                <a:ea typeface="ＭＳ Ｐゴシック" pitchFamily="34" charset="-128"/>
              </a:rPr>
              <a:t>evaluate</a:t>
            </a:r>
            <a:r>
              <a:rPr lang="en-US" altLang="en-US" sz="3200" dirty="0">
                <a:ea typeface="ＭＳ Ｐゴシック" pitchFamily="34" charset="-128"/>
              </a:rPr>
              <a:t> a company’s debt-paying ability</a:t>
            </a:r>
            <a:endParaRPr lang="en-US" sz="3200" dirty="0"/>
          </a:p>
        </p:txBody>
      </p:sp>
    </p:spTree>
    <p:extLst>
      <p:ext uri="{BB962C8B-B14F-4D97-AF65-F5344CB8AC3E}">
        <p14:creationId xmlns:p14="http://schemas.microsoft.com/office/powerpoint/2010/main" val="3788383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Accounts Payable Turnover</a:t>
            </a:r>
            <a:endParaRPr lang="en-US" dirty="0"/>
          </a:p>
        </p:txBody>
      </p:sp>
      <p:graphicFrame>
        <p:nvGraphicFramePr>
          <p:cNvPr id="4" name="Object 3">
            <a:extLst>
              <a:ext uri="{FF2B5EF4-FFF2-40B4-BE49-F238E27FC236}">
                <a16:creationId xmlns:a16="http://schemas.microsoft.com/office/drawing/2014/main" id="{C3947DFE-C88F-C0E9-5DB6-8EA3220BF0B1}"/>
              </a:ext>
            </a:extLst>
          </p:cNvPr>
          <p:cNvGraphicFramePr>
            <a:graphicFrameLocks noChangeAspect="1"/>
          </p:cNvGraphicFramePr>
          <p:nvPr/>
        </p:nvGraphicFramePr>
        <p:xfrm>
          <a:off x="1585751" y="2819541"/>
          <a:ext cx="5972498" cy="1290226"/>
        </p:xfrm>
        <a:graphic>
          <a:graphicData uri="http://schemas.openxmlformats.org/presentationml/2006/ole">
            <mc:AlternateContent xmlns:mc="http://schemas.openxmlformats.org/markup-compatibility/2006">
              <mc:Choice xmlns:v="urn:schemas-microsoft-com:vml" Requires="v">
                <p:oleObj name="Equation" r:id="rId3" imgW="3644640" imgH="787320" progId="Equation.DSMT4">
                  <p:embed/>
                </p:oleObj>
              </mc:Choice>
              <mc:Fallback>
                <p:oleObj name="Equation" r:id="rId3" imgW="3644640" imgH="787320" progId="Equation.DSMT4">
                  <p:embed/>
                  <p:pic>
                    <p:nvPicPr>
                      <p:cNvPr id="4" name="Object 3">
                        <a:extLst>
                          <a:ext uri="{FF2B5EF4-FFF2-40B4-BE49-F238E27FC236}">
                            <a16:creationId xmlns:a16="http://schemas.microsoft.com/office/drawing/2014/main" id="{C3947DFE-C88F-C0E9-5DB6-8EA3220BF0B1}"/>
                          </a:ext>
                        </a:extLst>
                      </p:cNvPr>
                      <p:cNvPicPr/>
                      <p:nvPr/>
                    </p:nvPicPr>
                    <p:blipFill>
                      <a:blip r:embed="rId4"/>
                      <a:stretch>
                        <a:fillRect/>
                      </a:stretch>
                    </p:blipFill>
                    <p:spPr>
                      <a:xfrm>
                        <a:off x="1585751" y="2819541"/>
                        <a:ext cx="5972498" cy="1290226"/>
                      </a:xfrm>
                      <a:prstGeom prst="rect">
                        <a:avLst/>
                      </a:prstGeom>
                    </p:spPr>
                  </p:pic>
                </p:oleObj>
              </mc:Fallback>
            </mc:AlternateContent>
          </a:graphicData>
        </a:graphic>
      </p:graphicFrame>
    </p:spTree>
    <p:extLst>
      <p:ext uri="{BB962C8B-B14F-4D97-AF65-F5344CB8AC3E}">
        <p14:creationId xmlns:p14="http://schemas.microsoft.com/office/powerpoint/2010/main" val="3846095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Debt Ratio and Leverage Ratio</a:t>
            </a:r>
            <a:endParaRPr lang="en-US" dirty="0"/>
          </a:p>
        </p:txBody>
      </p:sp>
      <p:sp>
        <p:nvSpPr>
          <p:cNvPr id="3" name="Content Placeholder 4">
            <a:extLst>
              <a:ext uri="{FF2B5EF4-FFF2-40B4-BE49-F238E27FC236}">
                <a16:creationId xmlns:a16="http://schemas.microsoft.com/office/drawing/2014/main" id="{B1ABA48F-1A27-9647-9CDE-8C9F989A0E13}"/>
              </a:ext>
            </a:extLst>
          </p:cNvPr>
          <p:cNvSpPr>
            <a:spLocks noGrp="1"/>
          </p:cNvSpPr>
          <p:nvPr>
            <p:ph idx="1"/>
          </p:nvPr>
        </p:nvSpPr>
        <p:spPr>
          <a:xfrm>
            <a:off x="194914" y="1634837"/>
            <a:ext cx="4059382" cy="2881744"/>
          </a:xfrm>
          <a:ln>
            <a:solidFill>
              <a:schemeClr val="tx1"/>
            </a:solidFill>
          </a:ln>
        </p:spPr>
        <p:txBody>
          <a:bodyPr anchor="ctr">
            <a:normAutofit/>
          </a:bodyPr>
          <a:lstStyle/>
          <a:p>
            <a:pPr marL="0" indent="0" algn="ctr">
              <a:buNone/>
            </a:pPr>
            <a:r>
              <a:rPr lang="en-US" sz="2800" b="1" dirty="0">
                <a:solidFill>
                  <a:schemeClr val="dk1"/>
                </a:solidFill>
              </a:rPr>
              <a:t>Debt ratio </a:t>
            </a:r>
            <a:r>
              <a:rPr lang="en-US" sz="2800" dirty="0">
                <a:solidFill>
                  <a:schemeClr val="dk1"/>
                </a:solidFill>
              </a:rPr>
              <a:t>=</a:t>
            </a:r>
          </a:p>
          <a:p>
            <a:pPr marL="0" indent="0" algn="ctr">
              <a:buNone/>
            </a:pPr>
            <a:r>
              <a:rPr lang="en-US" sz="2800" u="sng" dirty="0">
                <a:solidFill>
                  <a:schemeClr val="dk1"/>
                </a:solidFill>
              </a:rPr>
              <a:t>Total debt (liabilities)</a:t>
            </a:r>
          </a:p>
          <a:p>
            <a:pPr marL="0" indent="0" algn="ctr">
              <a:buNone/>
            </a:pPr>
            <a:r>
              <a:rPr lang="en-US" sz="2800" dirty="0"/>
              <a:t>Total Assets</a:t>
            </a:r>
          </a:p>
        </p:txBody>
      </p:sp>
      <p:sp>
        <p:nvSpPr>
          <p:cNvPr id="5" name="Content Placeholder 4">
            <a:extLst>
              <a:ext uri="{FF2B5EF4-FFF2-40B4-BE49-F238E27FC236}">
                <a16:creationId xmlns:a16="http://schemas.microsoft.com/office/drawing/2014/main" id="{18AF0AF1-1CB7-2FBE-576C-BE66C37727F7}"/>
              </a:ext>
            </a:extLst>
          </p:cNvPr>
          <p:cNvSpPr txBox="1">
            <a:spLocks/>
          </p:cNvSpPr>
          <p:nvPr/>
        </p:nvSpPr>
        <p:spPr>
          <a:xfrm>
            <a:off x="4696691" y="1676401"/>
            <a:ext cx="4059382" cy="2881744"/>
          </a:xfrm>
          <a:prstGeom prst="rect">
            <a:avLst/>
          </a:prstGeom>
          <a:ln>
            <a:solidFill>
              <a:schemeClr val="tx1"/>
            </a:solidFill>
          </a:ln>
        </p:spPr>
        <p:txBody>
          <a:bodyPr vert="horz" lIns="91440" tIns="45720" rIns="91440" bIns="45720" rtlCol="0" anchor="ctr">
            <a:normAutofit/>
          </a:bodyPr>
          <a:lstStyle>
            <a:lvl1pPr marL="288918" indent="-288918" algn="l" defTabSz="914377"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2971" indent="-228594" algn="l" defTabSz="914377"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160"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charset="2"/>
              <a:buNone/>
            </a:pPr>
            <a:r>
              <a:rPr lang="en-US" sz="2800" b="1" dirty="0">
                <a:solidFill>
                  <a:schemeClr val="dk1"/>
                </a:solidFill>
              </a:rPr>
              <a:t>Leverage ratio </a:t>
            </a:r>
            <a:r>
              <a:rPr lang="en-US" sz="2800" dirty="0">
                <a:solidFill>
                  <a:schemeClr val="dk1"/>
                </a:solidFill>
              </a:rPr>
              <a:t>=</a:t>
            </a:r>
          </a:p>
          <a:p>
            <a:pPr marL="0" indent="0" algn="ctr">
              <a:buFont typeface="Wingdings" charset="2"/>
              <a:buNone/>
            </a:pPr>
            <a:r>
              <a:rPr lang="en-US" sz="2800" u="sng" dirty="0">
                <a:solidFill>
                  <a:schemeClr val="dk1"/>
                </a:solidFill>
              </a:rPr>
              <a:t>Total Assets</a:t>
            </a:r>
          </a:p>
          <a:p>
            <a:pPr marL="0" indent="0" algn="ctr">
              <a:buFont typeface="Wingdings" charset="2"/>
              <a:buNone/>
            </a:pPr>
            <a:r>
              <a:rPr lang="en-US" sz="2800" dirty="0"/>
              <a:t>Total Shareholder’s Equity</a:t>
            </a:r>
          </a:p>
        </p:txBody>
      </p:sp>
    </p:spTree>
    <p:extLst>
      <p:ext uri="{BB962C8B-B14F-4D97-AF65-F5344CB8AC3E}">
        <p14:creationId xmlns:p14="http://schemas.microsoft.com/office/powerpoint/2010/main" val="2315520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Times Interest Earned</a:t>
            </a:r>
            <a:endParaRPr lang="en-US" dirty="0"/>
          </a:p>
        </p:txBody>
      </p:sp>
      <p:sp>
        <p:nvSpPr>
          <p:cNvPr id="5" name="Content Placeholder 4"/>
          <p:cNvSpPr>
            <a:spLocks noGrp="1"/>
          </p:cNvSpPr>
          <p:nvPr>
            <p:ph idx="1"/>
          </p:nvPr>
        </p:nvSpPr>
        <p:spPr>
          <a:xfrm>
            <a:off x="457200" y="4724401"/>
            <a:ext cx="3657600" cy="914400"/>
          </a:xfrm>
          <a:ln>
            <a:solidFill>
              <a:schemeClr val="tx1"/>
            </a:solidFill>
          </a:ln>
        </p:spPr>
        <p:txBody>
          <a:bodyPr anchor="ctr"/>
          <a:lstStyle/>
          <a:p>
            <a:pPr marL="0" indent="0" algn="ctr">
              <a:buNone/>
            </a:pPr>
            <a:r>
              <a:rPr lang="en-US" dirty="0">
                <a:solidFill>
                  <a:schemeClr val="dk1"/>
                </a:solidFill>
              </a:rPr>
              <a:t>High ratio = ease in paying interest</a:t>
            </a:r>
            <a:endParaRPr lang="en-US" dirty="0"/>
          </a:p>
        </p:txBody>
      </p:sp>
      <p:sp>
        <p:nvSpPr>
          <p:cNvPr id="6" name="Content Placeholder 5"/>
          <p:cNvSpPr>
            <a:spLocks noGrp="1"/>
          </p:cNvSpPr>
          <p:nvPr>
            <p:ph idx="13"/>
          </p:nvPr>
        </p:nvSpPr>
        <p:spPr>
          <a:xfrm>
            <a:off x="4953000" y="4724400"/>
            <a:ext cx="3657600" cy="914400"/>
          </a:xfrm>
          <a:ln>
            <a:solidFill>
              <a:schemeClr val="tx1"/>
            </a:solidFill>
          </a:ln>
        </p:spPr>
        <p:txBody>
          <a:bodyPr anchor="ctr"/>
          <a:lstStyle/>
          <a:p>
            <a:pPr marL="0" indent="0" algn="ctr">
              <a:buNone/>
            </a:pPr>
            <a:r>
              <a:rPr lang="en-US" dirty="0">
                <a:solidFill>
                  <a:schemeClr val="dk1"/>
                </a:solidFill>
              </a:rPr>
              <a:t>Low ratio = difficulty in paying interest</a:t>
            </a:r>
            <a:endParaRPr lang="en-US" dirty="0"/>
          </a:p>
        </p:txBody>
      </p:sp>
      <p:graphicFrame>
        <p:nvGraphicFramePr>
          <p:cNvPr id="3" name="Object 2">
            <a:extLst>
              <a:ext uri="{FF2B5EF4-FFF2-40B4-BE49-F238E27FC236}">
                <a16:creationId xmlns:a16="http://schemas.microsoft.com/office/drawing/2014/main" id="{98E86EEF-6350-1877-2A80-6AB396D7D969}"/>
              </a:ext>
            </a:extLst>
          </p:cNvPr>
          <p:cNvGraphicFramePr>
            <a:graphicFrameLocks noChangeAspect="1"/>
          </p:cNvGraphicFramePr>
          <p:nvPr/>
        </p:nvGraphicFramePr>
        <p:xfrm>
          <a:off x="1911350" y="1905000"/>
          <a:ext cx="5321300" cy="1773238"/>
        </p:xfrm>
        <a:graphic>
          <a:graphicData uri="http://schemas.openxmlformats.org/presentationml/2006/ole">
            <mc:AlternateContent xmlns:mc="http://schemas.openxmlformats.org/markup-compatibility/2006">
              <mc:Choice xmlns:v="urn:schemas-microsoft-com:vml" Requires="v">
                <p:oleObj name="Equation" r:id="rId3" imgW="2361960" imgH="787320" progId="Equation.DSMT4">
                  <p:embed/>
                </p:oleObj>
              </mc:Choice>
              <mc:Fallback>
                <p:oleObj name="Equation" r:id="rId3" imgW="2361960" imgH="787320" progId="Equation.DSMT4">
                  <p:embed/>
                  <p:pic>
                    <p:nvPicPr>
                      <p:cNvPr id="3" name="Object 2">
                        <a:extLst>
                          <a:ext uri="{FF2B5EF4-FFF2-40B4-BE49-F238E27FC236}">
                            <a16:creationId xmlns:a16="http://schemas.microsoft.com/office/drawing/2014/main" id="{98E86EEF-6350-1877-2A80-6AB396D7D969}"/>
                          </a:ext>
                        </a:extLst>
                      </p:cNvPr>
                      <p:cNvPicPr/>
                      <p:nvPr/>
                    </p:nvPicPr>
                    <p:blipFill>
                      <a:blip r:embed="rId4"/>
                      <a:stretch>
                        <a:fillRect/>
                      </a:stretch>
                    </p:blipFill>
                    <p:spPr>
                      <a:xfrm>
                        <a:off x="1911350" y="1905000"/>
                        <a:ext cx="5321300" cy="1773238"/>
                      </a:xfrm>
                      <a:prstGeom prst="rect">
                        <a:avLst/>
                      </a:prstGeom>
                    </p:spPr>
                  </p:pic>
                </p:oleObj>
              </mc:Fallback>
            </mc:AlternateContent>
          </a:graphicData>
        </a:graphic>
      </p:graphicFrame>
    </p:spTree>
    <p:extLst>
      <p:ext uri="{BB962C8B-B14F-4D97-AF65-F5344CB8AC3E}">
        <p14:creationId xmlns:p14="http://schemas.microsoft.com/office/powerpoint/2010/main" val="11983565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5515B078-73DA-700E-C9C6-D11433F8368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02389B-3D3F-B3C2-0369-E8E11FC3DBF2}"/>
              </a:ext>
            </a:extLst>
          </p:cNvPr>
          <p:cNvSpPr>
            <a:spLocks noGrp="1"/>
          </p:cNvSpPr>
          <p:nvPr>
            <p:ph idx="1"/>
          </p:nvPr>
        </p:nvSpPr>
        <p:spPr>
          <a:xfrm>
            <a:off x="194913" y="375138"/>
            <a:ext cx="8677297" cy="5633146"/>
          </a:xfrm>
        </p:spPr>
        <p:txBody>
          <a:bodyPr>
            <a:normAutofit/>
          </a:bodyPr>
          <a:lstStyle/>
          <a:p>
            <a:pPr marL="0" indent="0">
              <a:buNone/>
            </a:pPr>
            <a:r>
              <a:rPr lang="en-US" b="1" dirty="0"/>
              <a:t>S7-10 </a:t>
            </a:r>
          </a:p>
          <a:p>
            <a:pPr marL="0" indent="0">
              <a:buNone/>
            </a:pPr>
            <a:r>
              <a:rPr lang="en-US" dirty="0"/>
              <a:t>Evensen Plumbing Ltd. reported the following data for its latest fiscal year:</a:t>
            </a:r>
          </a:p>
          <a:p>
            <a:pPr marL="0" indent="0">
              <a:buNone/>
            </a:pPr>
            <a:endParaRPr lang="en-US" dirty="0"/>
          </a:p>
        </p:txBody>
      </p:sp>
      <p:graphicFrame>
        <p:nvGraphicFramePr>
          <p:cNvPr id="2" name="Table 1">
            <a:extLst>
              <a:ext uri="{FF2B5EF4-FFF2-40B4-BE49-F238E27FC236}">
                <a16:creationId xmlns:a16="http://schemas.microsoft.com/office/drawing/2014/main" id="{A5C2CCF0-85D7-7FDF-122C-8B6D9A0DA61E}"/>
              </a:ext>
            </a:extLst>
          </p:cNvPr>
          <p:cNvGraphicFramePr>
            <a:graphicFrameLocks noGrp="1"/>
          </p:cNvGraphicFramePr>
          <p:nvPr>
            <p:extLst>
              <p:ext uri="{D42A27DB-BD31-4B8C-83A1-F6EECF244321}">
                <p14:modId xmlns:p14="http://schemas.microsoft.com/office/powerpoint/2010/main" val="3358838591"/>
              </p:ext>
            </p:extLst>
          </p:nvPr>
        </p:nvGraphicFramePr>
        <p:xfrm>
          <a:off x="409116" y="1859987"/>
          <a:ext cx="5285630" cy="3708400"/>
        </p:xfrm>
        <a:graphic>
          <a:graphicData uri="http://schemas.openxmlformats.org/drawingml/2006/table">
            <a:tbl>
              <a:tblPr firstRow="1" bandRow="1">
                <a:tableStyleId>{C083E6E3-FA7D-4D7B-A595-EF9225AFEA82}</a:tableStyleId>
              </a:tblPr>
              <a:tblGrid>
                <a:gridCol w="3306358">
                  <a:extLst>
                    <a:ext uri="{9D8B030D-6E8A-4147-A177-3AD203B41FA5}">
                      <a16:colId xmlns:a16="http://schemas.microsoft.com/office/drawing/2014/main" val="3102270252"/>
                    </a:ext>
                  </a:extLst>
                </a:gridCol>
                <a:gridCol w="1979272">
                  <a:extLst>
                    <a:ext uri="{9D8B030D-6E8A-4147-A177-3AD203B41FA5}">
                      <a16:colId xmlns:a16="http://schemas.microsoft.com/office/drawing/2014/main" val="484066003"/>
                    </a:ext>
                  </a:extLst>
                </a:gridCol>
              </a:tblGrid>
              <a:tr h="370840">
                <a:tc>
                  <a:txBody>
                    <a:bodyPr/>
                    <a:lstStyle/>
                    <a:p>
                      <a:endParaRPr lang="en-US" dirty="0"/>
                    </a:p>
                  </a:txBody>
                  <a:tcPr/>
                </a:tc>
                <a:tc>
                  <a:txBody>
                    <a:bodyPr/>
                    <a:lstStyle/>
                    <a:p>
                      <a:pPr algn="ctr"/>
                      <a:r>
                        <a:rPr lang="en-US" b="0" dirty="0"/>
                        <a:t>$ millions</a:t>
                      </a:r>
                    </a:p>
                  </a:txBody>
                  <a:tcPr/>
                </a:tc>
                <a:extLst>
                  <a:ext uri="{0D108BD9-81ED-4DB2-BD59-A6C34878D82A}">
                    <a16:rowId xmlns:a16="http://schemas.microsoft.com/office/drawing/2014/main" val="2266192280"/>
                  </a:ext>
                </a:extLst>
              </a:tr>
              <a:tr h="370840">
                <a:tc>
                  <a:txBody>
                    <a:bodyPr/>
                    <a:lstStyle/>
                    <a:p>
                      <a:r>
                        <a:rPr lang="en-US" dirty="0"/>
                        <a:t>Net operating revenues</a:t>
                      </a:r>
                    </a:p>
                  </a:txBody>
                  <a:tcPr/>
                </a:tc>
                <a:tc>
                  <a:txBody>
                    <a:bodyPr/>
                    <a:lstStyle/>
                    <a:p>
                      <a:pPr algn="ctr"/>
                      <a:r>
                        <a:rPr lang="en-US" dirty="0"/>
                        <a:t>$29.1</a:t>
                      </a:r>
                    </a:p>
                  </a:txBody>
                  <a:tcPr/>
                </a:tc>
                <a:extLst>
                  <a:ext uri="{0D108BD9-81ED-4DB2-BD59-A6C34878D82A}">
                    <a16:rowId xmlns:a16="http://schemas.microsoft.com/office/drawing/2014/main" val="766810339"/>
                  </a:ext>
                </a:extLst>
              </a:tr>
              <a:tr h="370840">
                <a:tc>
                  <a:txBody>
                    <a:bodyPr/>
                    <a:lstStyle/>
                    <a:p>
                      <a:r>
                        <a:rPr lang="en-US" dirty="0"/>
                        <a:t>Operating expenses</a:t>
                      </a:r>
                    </a:p>
                  </a:txBody>
                  <a:tcPr/>
                </a:tc>
                <a:tc>
                  <a:txBody>
                    <a:bodyPr/>
                    <a:lstStyle/>
                    <a:p>
                      <a:pPr algn="ctr"/>
                      <a:r>
                        <a:rPr lang="en-US" u="sng" dirty="0"/>
                        <a:t>25.0</a:t>
                      </a:r>
                    </a:p>
                  </a:txBody>
                  <a:tcPr/>
                </a:tc>
                <a:extLst>
                  <a:ext uri="{0D108BD9-81ED-4DB2-BD59-A6C34878D82A}">
                    <a16:rowId xmlns:a16="http://schemas.microsoft.com/office/drawing/2014/main" val="2314244574"/>
                  </a:ext>
                </a:extLst>
              </a:tr>
              <a:tr h="370840">
                <a:tc>
                  <a:txBody>
                    <a:bodyPr/>
                    <a:lstStyle/>
                    <a:p>
                      <a:r>
                        <a:rPr lang="en-US" dirty="0"/>
                        <a:t>Operating income</a:t>
                      </a:r>
                    </a:p>
                  </a:txBody>
                  <a:tcPr/>
                </a:tc>
                <a:tc>
                  <a:txBody>
                    <a:bodyPr/>
                    <a:lstStyle/>
                    <a:p>
                      <a:pPr algn="ctr"/>
                      <a:r>
                        <a:rPr lang="en-US" dirty="0"/>
                        <a:t>4.1</a:t>
                      </a:r>
                    </a:p>
                  </a:txBody>
                  <a:tcPr/>
                </a:tc>
                <a:extLst>
                  <a:ext uri="{0D108BD9-81ED-4DB2-BD59-A6C34878D82A}">
                    <a16:rowId xmlns:a16="http://schemas.microsoft.com/office/drawing/2014/main" val="1699831936"/>
                  </a:ext>
                </a:extLst>
              </a:tr>
              <a:tr h="370840">
                <a:tc>
                  <a:txBody>
                    <a:bodyPr/>
                    <a:lstStyle/>
                    <a:p>
                      <a:r>
                        <a:rPr lang="en-US" dirty="0"/>
                        <a:t>Nonoperating items:</a:t>
                      </a:r>
                    </a:p>
                  </a:txBody>
                  <a:tcPr/>
                </a:tc>
                <a:tc>
                  <a:txBody>
                    <a:bodyPr/>
                    <a:lstStyle/>
                    <a:p>
                      <a:pPr algn="ctr"/>
                      <a:endParaRPr lang="en-US" dirty="0"/>
                    </a:p>
                  </a:txBody>
                  <a:tcPr/>
                </a:tc>
                <a:extLst>
                  <a:ext uri="{0D108BD9-81ED-4DB2-BD59-A6C34878D82A}">
                    <a16:rowId xmlns:a16="http://schemas.microsoft.com/office/drawing/2014/main" val="3464590041"/>
                  </a:ext>
                </a:extLst>
              </a:tr>
              <a:tr h="370840">
                <a:tc>
                  <a:txBody>
                    <a:bodyPr/>
                    <a:lstStyle/>
                    <a:p>
                      <a:r>
                        <a:rPr lang="en-US" dirty="0"/>
                        <a:t>       Interest expense</a:t>
                      </a:r>
                    </a:p>
                  </a:txBody>
                  <a:tcPr/>
                </a:tc>
                <a:tc>
                  <a:txBody>
                    <a:bodyPr/>
                    <a:lstStyle/>
                    <a:p>
                      <a:pPr algn="ctr"/>
                      <a:r>
                        <a:rPr lang="en-US" dirty="0"/>
                        <a:t>(1.1)</a:t>
                      </a:r>
                    </a:p>
                  </a:txBody>
                  <a:tcPr/>
                </a:tc>
                <a:extLst>
                  <a:ext uri="{0D108BD9-81ED-4DB2-BD59-A6C34878D82A}">
                    <a16:rowId xmlns:a16="http://schemas.microsoft.com/office/drawing/2014/main" val="2637573065"/>
                  </a:ext>
                </a:extLst>
              </a:tr>
              <a:tr h="370840">
                <a:tc>
                  <a:txBody>
                    <a:bodyPr/>
                    <a:lstStyle/>
                    <a:p>
                      <a:r>
                        <a:rPr lang="en-US" dirty="0"/>
                        <a:t>       Other</a:t>
                      </a:r>
                    </a:p>
                  </a:txBody>
                  <a:tcPr/>
                </a:tc>
                <a:tc>
                  <a:txBody>
                    <a:bodyPr/>
                    <a:lstStyle/>
                    <a:p>
                      <a:pPr algn="ctr"/>
                      <a:r>
                        <a:rPr lang="en-US" u="sng" dirty="0"/>
                        <a:t>(0.2)</a:t>
                      </a:r>
                    </a:p>
                  </a:txBody>
                  <a:tcPr/>
                </a:tc>
                <a:extLst>
                  <a:ext uri="{0D108BD9-81ED-4DB2-BD59-A6C34878D82A}">
                    <a16:rowId xmlns:a16="http://schemas.microsoft.com/office/drawing/2014/main" val="3778698382"/>
                  </a:ext>
                </a:extLst>
              </a:tr>
              <a:tr h="370840">
                <a:tc>
                  <a:txBody>
                    <a:bodyPr/>
                    <a:lstStyle/>
                    <a:p>
                      <a:r>
                        <a:rPr lang="en-US" dirty="0"/>
                        <a:t>Net Income</a:t>
                      </a:r>
                    </a:p>
                  </a:txBody>
                  <a:tcPr/>
                </a:tc>
                <a:tc>
                  <a:txBody>
                    <a:bodyPr/>
                    <a:lstStyle/>
                    <a:p>
                      <a:pPr algn="ctr"/>
                      <a:r>
                        <a:rPr lang="en-US" u="sng" dirty="0"/>
                        <a:t>$2.8</a:t>
                      </a:r>
                    </a:p>
                  </a:txBody>
                  <a:tcPr/>
                </a:tc>
                <a:extLst>
                  <a:ext uri="{0D108BD9-81ED-4DB2-BD59-A6C34878D82A}">
                    <a16:rowId xmlns:a16="http://schemas.microsoft.com/office/drawing/2014/main" val="2395520268"/>
                  </a:ext>
                </a:extLst>
              </a:tr>
              <a:tr h="370840">
                <a:tc>
                  <a:txBody>
                    <a:bodyPr/>
                    <a:lstStyle/>
                    <a:p>
                      <a:r>
                        <a:rPr lang="en-US" dirty="0"/>
                        <a:t>Total Assets</a:t>
                      </a:r>
                    </a:p>
                  </a:txBody>
                  <a:tcPr/>
                </a:tc>
                <a:tc>
                  <a:txBody>
                    <a:bodyPr/>
                    <a:lstStyle/>
                    <a:p>
                      <a:pPr algn="ctr"/>
                      <a:r>
                        <a:rPr lang="en-US" dirty="0"/>
                        <a:t>$100.0</a:t>
                      </a:r>
                    </a:p>
                  </a:txBody>
                  <a:tcPr/>
                </a:tc>
                <a:extLst>
                  <a:ext uri="{0D108BD9-81ED-4DB2-BD59-A6C34878D82A}">
                    <a16:rowId xmlns:a16="http://schemas.microsoft.com/office/drawing/2014/main" val="1031928508"/>
                  </a:ext>
                </a:extLst>
              </a:tr>
              <a:tr h="370840">
                <a:tc>
                  <a:txBody>
                    <a:bodyPr/>
                    <a:lstStyle/>
                    <a:p>
                      <a:r>
                        <a:rPr lang="en-US" dirty="0"/>
                        <a:t>Total Shareholder’s Equity</a:t>
                      </a:r>
                    </a:p>
                  </a:txBody>
                  <a:tcPr/>
                </a:tc>
                <a:tc>
                  <a:txBody>
                    <a:bodyPr/>
                    <a:lstStyle/>
                    <a:p>
                      <a:pPr algn="ctr"/>
                      <a:r>
                        <a:rPr lang="en-US" dirty="0"/>
                        <a:t>$40.0</a:t>
                      </a:r>
                    </a:p>
                  </a:txBody>
                  <a:tcPr/>
                </a:tc>
                <a:extLst>
                  <a:ext uri="{0D108BD9-81ED-4DB2-BD59-A6C34878D82A}">
                    <a16:rowId xmlns:a16="http://schemas.microsoft.com/office/drawing/2014/main" val="1624885690"/>
                  </a:ext>
                </a:extLst>
              </a:tr>
            </a:tbl>
          </a:graphicData>
        </a:graphic>
      </p:graphicFrame>
      <p:sp>
        <p:nvSpPr>
          <p:cNvPr id="4" name="TextBox 3">
            <a:extLst>
              <a:ext uri="{FF2B5EF4-FFF2-40B4-BE49-F238E27FC236}">
                <a16:creationId xmlns:a16="http://schemas.microsoft.com/office/drawing/2014/main" id="{E7499BDE-37AE-06B0-6021-C3F17F2B2360}"/>
              </a:ext>
            </a:extLst>
          </p:cNvPr>
          <p:cNvSpPr txBox="1"/>
          <p:nvPr/>
        </p:nvSpPr>
        <p:spPr>
          <a:xfrm>
            <a:off x="6053559" y="2083443"/>
            <a:ext cx="2720051" cy="3139321"/>
          </a:xfrm>
          <a:prstGeom prst="rect">
            <a:avLst/>
          </a:prstGeom>
          <a:noFill/>
        </p:spPr>
        <p:txBody>
          <a:bodyPr wrap="square" rtlCol="0">
            <a:spAutoFit/>
          </a:bodyPr>
          <a:lstStyle/>
          <a:p>
            <a:r>
              <a:rPr lang="en-US" b="1" dirty="0"/>
              <a:t>Required:</a:t>
            </a:r>
          </a:p>
          <a:p>
            <a:pPr marL="342900" indent="-342900">
              <a:buFont typeface="+mj-lt"/>
              <a:buAutoNum type="arabicPeriod"/>
            </a:pPr>
            <a:r>
              <a:rPr lang="en-US" dirty="0"/>
              <a:t>Compute Evensen’s leverage ratio, debt ratio, and times-interest-earned ratio.</a:t>
            </a:r>
          </a:p>
          <a:p>
            <a:pPr marL="342900" indent="-342900">
              <a:buFont typeface="+mj-lt"/>
              <a:buAutoNum type="arabicPeriod"/>
            </a:pPr>
            <a:endParaRPr lang="en-US" dirty="0"/>
          </a:p>
          <a:p>
            <a:pPr marL="342900" indent="-342900">
              <a:buFont typeface="+mj-lt"/>
              <a:buAutoNum type="arabicPeriod"/>
            </a:pPr>
            <a:r>
              <a:rPr lang="en-US" dirty="0"/>
              <a:t>Explain what those ratio values mean. </a:t>
            </a:r>
          </a:p>
          <a:p>
            <a:pPr marL="342900" indent="-342900">
              <a:buFont typeface="+mj-lt"/>
              <a:buAutoNum type="arabicPeriod"/>
            </a:pPr>
            <a:endParaRPr lang="en-US" dirty="0"/>
          </a:p>
          <a:p>
            <a:pPr marL="342900" indent="-342900">
              <a:buFont typeface="+mj-lt"/>
              <a:buAutoNum type="arabicPeriod"/>
            </a:pPr>
            <a:r>
              <a:rPr lang="en-US" dirty="0"/>
              <a:t>Would you loan $1 million to Evensen?</a:t>
            </a:r>
          </a:p>
        </p:txBody>
      </p:sp>
    </p:spTree>
    <p:extLst>
      <p:ext uri="{BB962C8B-B14F-4D97-AF65-F5344CB8AC3E}">
        <p14:creationId xmlns:p14="http://schemas.microsoft.com/office/powerpoint/2010/main" val="4058187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Seven</a:t>
            </a:r>
          </a:p>
        </p:txBody>
      </p:sp>
      <p:sp>
        <p:nvSpPr>
          <p:cNvPr id="3" name="Content Placeholder 2"/>
          <p:cNvSpPr>
            <a:spLocks noGrp="1"/>
          </p:cNvSpPr>
          <p:nvPr>
            <p:ph type="subTitle" idx="1"/>
          </p:nvPr>
        </p:nvSpPr>
        <p:spPr>
          <a:xfrm>
            <a:off x="339555" y="3089564"/>
            <a:ext cx="5451645" cy="1843809"/>
          </a:xfrm>
        </p:spPr>
        <p:txBody>
          <a:bodyPr>
            <a:noAutofit/>
          </a:bodyPr>
          <a:lstStyle/>
          <a:p>
            <a:pPr marL="0" indent="0">
              <a:buNone/>
            </a:pPr>
            <a:r>
              <a:rPr lang="en-US" altLang="en-US" sz="3200" b="1" dirty="0">
                <a:ea typeface="ＭＳ Ｐゴシック" pitchFamily="34" charset="-128"/>
              </a:rPr>
              <a:t>Describe </a:t>
            </a:r>
            <a:r>
              <a:rPr lang="en-US" altLang="en-US" sz="3200" dirty="0">
                <a:ea typeface="ＭＳ Ｐゴシック" pitchFamily="34" charset="-128"/>
              </a:rPr>
              <a:t>other types of long-term liabilities</a:t>
            </a:r>
            <a:endParaRPr lang="en-US" sz="3200" dirty="0"/>
          </a:p>
        </p:txBody>
      </p:sp>
    </p:spTree>
    <p:extLst>
      <p:ext uri="{BB962C8B-B14F-4D97-AF65-F5344CB8AC3E}">
        <p14:creationId xmlns:p14="http://schemas.microsoft.com/office/powerpoint/2010/main" val="3018511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Term Loans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Like bonds, borrow a fixed amount that is repaid over several years at a specified interest rate</a:t>
            </a:r>
          </a:p>
          <a:p>
            <a:r>
              <a:rPr lang="en-US" altLang="en-US" dirty="0">
                <a:ea typeface="ＭＳ Ｐゴシック" pitchFamily="34" charset="-128"/>
              </a:rPr>
              <a:t>Unlike bonds, typically arranged with single lender</a:t>
            </a:r>
          </a:p>
          <a:p>
            <a:r>
              <a:rPr lang="en-US" altLang="en-US" dirty="0">
                <a:ea typeface="ＭＳ Ｐゴシック" pitchFamily="34" charset="-128"/>
              </a:rPr>
              <a:t>If secured by a real asset, referred to as a mortgage</a:t>
            </a:r>
            <a:endParaRPr lang="en-US" dirty="0"/>
          </a:p>
        </p:txBody>
      </p:sp>
    </p:spTree>
    <p:extLst>
      <p:ext uri="{BB962C8B-B14F-4D97-AF65-F5344CB8AC3E}">
        <p14:creationId xmlns:p14="http://schemas.microsoft.com/office/powerpoint/2010/main" val="252319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9296"/>
            <a:ext cx="8229600" cy="1097280"/>
          </a:xfrm>
        </p:spPr>
        <p:txBody>
          <a:bodyPr/>
          <a:lstStyle/>
          <a:p>
            <a:r>
              <a:rPr lang="en-US" altLang="en-US" dirty="0"/>
              <a:t>Leases</a:t>
            </a:r>
            <a:endParaRPr lang="en-US" dirty="0"/>
          </a:p>
        </p:txBody>
      </p:sp>
      <p:sp>
        <p:nvSpPr>
          <p:cNvPr id="3" name="Text Placeholder 2"/>
          <p:cNvSpPr>
            <a:spLocks noGrp="1"/>
          </p:cNvSpPr>
          <p:nvPr>
            <p:ph type="body" idx="1"/>
          </p:nvPr>
        </p:nvSpPr>
        <p:spPr>
          <a:xfrm>
            <a:off x="457200" y="1671575"/>
            <a:ext cx="4040982" cy="457200"/>
          </a:xfrm>
          <a:solidFill>
            <a:srgbClr val="C5F3FF"/>
          </a:solidFill>
          <a:ln>
            <a:solidFill>
              <a:srgbClr val="007FA3"/>
            </a:solidFill>
          </a:ln>
        </p:spPr>
        <p:txBody>
          <a:bodyPr anchor="ctr"/>
          <a:lstStyle/>
          <a:p>
            <a:pPr algn="ctr">
              <a:defRPr/>
            </a:pPr>
            <a:r>
              <a:rPr lang="en-US" sz="2000" b="1" dirty="0"/>
              <a:t>OPERATING</a:t>
            </a:r>
          </a:p>
        </p:txBody>
      </p:sp>
      <p:sp>
        <p:nvSpPr>
          <p:cNvPr id="4" name="Content Placeholder 3"/>
          <p:cNvSpPr>
            <a:spLocks noGrp="1"/>
          </p:cNvSpPr>
          <p:nvPr>
            <p:ph sz="half" idx="2"/>
          </p:nvPr>
        </p:nvSpPr>
        <p:spPr>
          <a:xfrm>
            <a:off x="457200" y="2129935"/>
            <a:ext cx="4040982" cy="3684588"/>
          </a:xfrm>
        </p:spPr>
        <p:txBody>
          <a:bodyPr/>
          <a:lstStyle/>
          <a:p>
            <a:r>
              <a:rPr lang="en-US" altLang="en-US" dirty="0">
                <a:ea typeface="ＭＳ Ｐゴシック" pitchFamily="34" charset="-128"/>
              </a:rPr>
              <a:t>Lessee has right to use the asset</a:t>
            </a:r>
          </a:p>
          <a:p>
            <a:r>
              <a:rPr lang="en-US" altLang="en-US" dirty="0">
                <a:ea typeface="ＭＳ Ｐゴシック" pitchFamily="34" charset="-128"/>
              </a:rPr>
              <a:t>Lessor retains risks and rewards of owning</a:t>
            </a:r>
          </a:p>
          <a:p>
            <a:r>
              <a:rPr lang="en-US" altLang="en-US" dirty="0">
                <a:ea typeface="ＭＳ Ｐゴシック" pitchFamily="34" charset="-128"/>
              </a:rPr>
              <a:t>Lessee records Rent Expense</a:t>
            </a:r>
            <a:endParaRPr lang="en-US" dirty="0"/>
          </a:p>
        </p:txBody>
      </p:sp>
      <p:sp>
        <p:nvSpPr>
          <p:cNvPr id="5" name="Text Placeholder 4"/>
          <p:cNvSpPr>
            <a:spLocks noGrp="1"/>
          </p:cNvSpPr>
          <p:nvPr>
            <p:ph type="body" sz="quarter" idx="3"/>
          </p:nvPr>
        </p:nvSpPr>
        <p:spPr>
          <a:xfrm>
            <a:off x="4629150" y="1671575"/>
            <a:ext cx="4057650" cy="457200"/>
          </a:xfrm>
          <a:solidFill>
            <a:srgbClr val="C5F3FF"/>
          </a:solidFill>
          <a:ln>
            <a:solidFill>
              <a:srgbClr val="007FA3"/>
            </a:solidFill>
          </a:ln>
        </p:spPr>
        <p:txBody>
          <a:bodyPr anchor="ctr"/>
          <a:lstStyle/>
          <a:p>
            <a:pPr algn="ctr">
              <a:defRPr/>
            </a:pPr>
            <a:r>
              <a:rPr lang="en-US" sz="2000" b="1" dirty="0"/>
              <a:t>FINANCING</a:t>
            </a:r>
          </a:p>
        </p:txBody>
      </p:sp>
      <p:sp>
        <p:nvSpPr>
          <p:cNvPr id="6" name="Content Placeholder 5"/>
          <p:cNvSpPr>
            <a:spLocks noGrp="1"/>
          </p:cNvSpPr>
          <p:nvPr>
            <p:ph sz="quarter" idx="4"/>
          </p:nvPr>
        </p:nvSpPr>
        <p:spPr>
          <a:xfrm>
            <a:off x="4629150" y="2129935"/>
            <a:ext cx="4057650" cy="3684588"/>
          </a:xfrm>
        </p:spPr>
        <p:txBody>
          <a:bodyPr/>
          <a:lstStyle/>
          <a:p>
            <a:r>
              <a:rPr lang="en-US" altLang="en-US" dirty="0">
                <a:ea typeface="ＭＳ Ｐゴシック" pitchFamily="34" charset="-128"/>
              </a:rPr>
              <a:t>Lessee has right to use the asset</a:t>
            </a:r>
          </a:p>
          <a:p>
            <a:r>
              <a:rPr lang="en-US" altLang="en-US" dirty="0">
                <a:ea typeface="ＭＳ Ｐゴシック" pitchFamily="34" charset="-128"/>
              </a:rPr>
              <a:t>Lessee assumes risks and rewards of ownership</a:t>
            </a:r>
          </a:p>
          <a:p>
            <a:r>
              <a:rPr lang="en-US" altLang="en-US" dirty="0">
                <a:ea typeface="ＭＳ Ｐゴシック" pitchFamily="34" charset="-128"/>
              </a:rPr>
              <a:t>Lessee capitalizes the leased asset and records a long-term liability</a:t>
            </a:r>
            <a:endParaRPr lang="en-US" dirty="0"/>
          </a:p>
        </p:txBody>
      </p:sp>
    </p:spTree>
    <p:extLst>
      <p:ext uri="{BB962C8B-B14F-4D97-AF65-F5344CB8AC3E}">
        <p14:creationId xmlns:p14="http://schemas.microsoft.com/office/powerpoint/2010/main" val="164982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Finance Versus Operating Leases</a:t>
            </a:r>
            <a:endParaRPr lang="en-US" dirty="0"/>
          </a:p>
        </p:txBody>
      </p:sp>
      <p:sp>
        <p:nvSpPr>
          <p:cNvPr id="4" name="Text Placeholder 3"/>
          <p:cNvSpPr>
            <a:spLocks noGrp="1"/>
          </p:cNvSpPr>
          <p:nvPr>
            <p:ph type="body" idx="1"/>
          </p:nvPr>
        </p:nvSpPr>
        <p:spPr>
          <a:xfrm>
            <a:off x="768750" y="2484348"/>
            <a:ext cx="3314084" cy="2392452"/>
          </a:xfrm>
        </p:spPr>
        <p:txBody>
          <a:bodyPr/>
          <a:lstStyle/>
          <a:p>
            <a:pPr>
              <a:defRPr/>
            </a:pPr>
            <a:r>
              <a:rPr lang="en-US" sz="2400" u="sng" dirty="0"/>
              <a:t>Finance Lease</a:t>
            </a:r>
          </a:p>
          <a:p>
            <a:pPr>
              <a:defRPr/>
            </a:pPr>
            <a:r>
              <a:rPr lang="en-US" sz="2400" dirty="0"/>
              <a:t>Lessee has substantially all the risk and reward of asset</a:t>
            </a:r>
          </a:p>
        </p:txBody>
      </p:sp>
      <p:sp>
        <p:nvSpPr>
          <p:cNvPr id="5" name="Content Placeholder 4"/>
          <p:cNvSpPr>
            <a:spLocks noGrp="1"/>
          </p:cNvSpPr>
          <p:nvPr>
            <p:ph sz="half" idx="2"/>
          </p:nvPr>
        </p:nvSpPr>
        <p:spPr>
          <a:xfrm>
            <a:off x="5112150" y="2484348"/>
            <a:ext cx="3314084" cy="2392452"/>
          </a:xfrm>
        </p:spPr>
        <p:txBody>
          <a:bodyPr/>
          <a:lstStyle/>
          <a:p>
            <a:pPr>
              <a:defRPr/>
            </a:pPr>
            <a:r>
              <a:rPr lang="en-US" sz="2400" u="sng" dirty="0"/>
              <a:t>Operating Lease</a:t>
            </a:r>
          </a:p>
          <a:p>
            <a:pPr>
              <a:defRPr/>
            </a:pPr>
            <a:r>
              <a:rPr lang="en-US" sz="2400" dirty="0"/>
              <a:t>Lessor retains substantially all the risk and reward of asset</a:t>
            </a:r>
          </a:p>
        </p:txBody>
      </p:sp>
    </p:spTree>
    <p:extLst>
      <p:ext uri="{BB962C8B-B14F-4D97-AF65-F5344CB8AC3E}">
        <p14:creationId xmlns:p14="http://schemas.microsoft.com/office/powerpoint/2010/main" val="2916151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Post-Employment Benefits</a:t>
            </a:r>
            <a:endParaRPr lang="en-US" dirty="0"/>
          </a:p>
        </p:txBody>
      </p:sp>
      <p:sp>
        <p:nvSpPr>
          <p:cNvPr id="22" name="Text Placeholder 21"/>
          <p:cNvSpPr>
            <a:spLocks noGrp="1"/>
          </p:cNvSpPr>
          <p:nvPr>
            <p:ph type="body" sz="quarter" idx="18"/>
          </p:nvPr>
        </p:nvSpPr>
        <p:spPr>
          <a:xfrm>
            <a:off x="457200" y="1457450"/>
            <a:ext cx="8229600" cy="2885950"/>
          </a:xfrm>
        </p:spPr>
        <p:txBody>
          <a:bodyPr/>
          <a:lstStyle/>
          <a:p>
            <a:r>
              <a:rPr lang="en-US" altLang="en-US" dirty="0">
                <a:ea typeface="ＭＳ Ｐゴシック" pitchFamily="34" charset="-128"/>
              </a:rPr>
              <a:t>Forms of consideration given by a company in exchange for services rendered</a:t>
            </a:r>
          </a:p>
          <a:p>
            <a:r>
              <a:rPr lang="en-US" altLang="en-US" dirty="0">
                <a:ea typeface="ＭＳ Ｐゴシック" pitchFamily="34" charset="-128"/>
              </a:rPr>
              <a:t>Recorded as liabilities on the balance sheet (current and long-term)</a:t>
            </a:r>
          </a:p>
          <a:p>
            <a:r>
              <a:rPr lang="en-US" altLang="en-US" dirty="0">
                <a:ea typeface="ＭＳ Ｐゴシック" pitchFamily="34" charset="-128"/>
              </a:rPr>
              <a:t>Examples: p</a:t>
            </a:r>
            <a:r>
              <a:rPr lang="en-US" dirty="0">
                <a:ea typeface="ＭＳ Ｐゴシック" pitchFamily="34" charset="-128"/>
              </a:rPr>
              <a:t>ension benefits, medical and dental insurance, prescription drug benefits</a:t>
            </a:r>
          </a:p>
        </p:txBody>
      </p:sp>
    </p:spTree>
    <p:extLst>
      <p:ext uri="{BB962C8B-B14F-4D97-AF65-F5344CB8AC3E}">
        <p14:creationId xmlns:p14="http://schemas.microsoft.com/office/powerpoint/2010/main" val="27680007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Learning Objective Eight</a:t>
            </a:r>
          </a:p>
        </p:txBody>
      </p:sp>
      <p:sp>
        <p:nvSpPr>
          <p:cNvPr id="5" name="Subtitle 4"/>
          <p:cNvSpPr>
            <a:spLocks noGrp="1"/>
          </p:cNvSpPr>
          <p:nvPr>
            <p:ph type="subTitle" idx="1"/>
          </p:nvPr>
        </p:nvSpPr>
        <p:spPr>
          <a:xfrm>
            <a:off x="339555" y="2757056"/>
            <a:ext cx="6019681" cy="2176318"/>
          </a:xfrm>
        </p:spPr>
        <p:txBody>
          <a:bodyPr>
            <a:normAutofit/>
          </a:bodyPr>
          <a:lstStyle/>
          <a:p>
            <a:r>
              <a:rPr lang="en-US" altLang="en-US" sz="4600" b="1" dirty="0">
                <a:ea typeface="ＭＳ Ｐゴシック" pitchFamily="34" charset="-128"/>
              </a:rPr>
              <a:t>Report </a:t>
            </a:r>
            <a:r>
              <a:rPr lang="en-US" altLang="en-US" sz="4600" dirty="0">
                <a:ea typeface="ＭＳ Ｐゴシック" pitchFamily="34" charset="-128"/>
              </a:rPr>
              <a:t>liabilities on the balance sheet</a:t>
            </a:r>
            <a:endParaRPr lang="en-US" sz="4600" dirty="0">
              <a:ea typeface="ＭＳ Ｐゴシック" pitchFamily="34" charset="-128"/>
            </a:endParaRPr>
          </a:p>
          <a:p>
            <a:r>
              <a:rPr lang="en-US" dirty="0"/>
              <a:t>	</a:t>
            </a:r>
          </a:p>
        </p:txBody>
      </p:sp>
    </p:spTree>
    <p:extLst>
      <p:ext uri="{BB962C8B-B14F-4D97-AF65-F5344CB8AC3E}">
        <p14:creationId xmlns:p14="http://schemas.microsoft.com/office/powerpoint/2010/main" val="3580454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C60A9-42FB-47DB-82F7-93834C369FDA}"/>
              </a:ext>
            </a:extLst>
          </p:cNvPr>
          <p:cNvSpPr>
            <a:spLocks noGrp="1"/>
          </p:cNvSpPr>
          <p:nvPr>
            <p:ph type="title"/>
          </p:nvPr>
        </p:nvSpPr>
        <p:spPr/>
        <p:txBody>
          <a:bodyPr/>
          <a:lstStyle/>
          <a:p>
            <a:r>
              <a:rPr lang="en-AU" dirty="0"/>
              <a:t>Liabilities</a:t>
            </a:r>
            <a:r>
              <a:rPr lang="en-AU" sz="2000" b="0" dirty="0"/>
              <a:t> (1 of 3)</a:t>
            </a:r>
          </a:p>
        </p:txBody>
      </p:sp>
      <p:graphicFrame>
        <p:nvGraphicFramePr>
          <p:cNvPr id="7" name="Table 6">
            <a:extLst>
              <a:ext uri="{FF2B5EF4-FFF2-40B4-BE49-F238E27FC236}">
                <a16:creationId xmlns:a16="http://schemas.microsoft.com/office/drawing/2014/main" id="{1D832594-2B51-412D-9FB8-E92D09EB9BDC}"/>
              </a:ext>
            </a:extLst>
          </p:cNvPr>
          <p:cNvGraphicFramePr>
            <a:graphicFrameLocks/>
          </p:cNvGraphicFramePr>
          <p:nvPr/>
        </p:nvGraphicFramePr>
        <p:xfrm>
          <a:off x="457200" y="1600200"/>
          <a:ext cx="8229600" cy="3510280"/>
        </p:xfrm>
        <a:graphic>
          <a:graphicData uri="http://schemas.openxmlformats.org/drawingml/2006/table">
            <a:tbl>
              <a:tblPr firstRow="1" bandRow="1">
                <a:tableStyleId>{3B4B98B0-60AC-42C2-AFA5-B58CD77FA1E5}</a:tableStyleId>
              </a:tblPr>
              <a:tblGrid>
                <a:gridCol w="7086600">
                  <a:extLst>
                    <a:ext uri="{9D8B030D-6E8A-4147-A177-3AD203B41FA5}">
                      <a16:colId xmlns:a16="http://schemas.microsoft.com/office/drawing/2014/main" val="4163152397"/>
                    </a:ext>
                  </a:extLst>
                </a:gridCol>
                <a:gridCol w="1143000">
                  <a:extLst>
                    <a:ext uri="{9D8B030D-6E8A-4147-A177-3AD203B41FA5}">
                      <a16:colId xmlns:a16="http://schemas.microsoft.com/office/drawing/2014/main" val="2755765587"/>
                    </a:ext>
                  </a:extLst>
                </a:gridCol>
              </a:tblGrid>
              <a:tr h="370840">
                <a:tc gridSpan="2">
                  <a:txBody>
                    <a:bodyPr/>
                    <a:lstStyle/>
                    <a:p>
                      <a:pPr algn="ctr"/>
                      <a:r>
                        <a:rPr lang="en-US" sz="1800" b="1" i="0" u="none" strike="noStrike" kern="1200" baseline="0" dirty="0">
                          <a:solidFill>
                            <a:schemeClr val="tx1"/>
                          </a:solidFill>
                          <a:latin typeface="+mn-lt"/>
                          <a:ea typeface="+mn-ea"/>
                          <a:cs typeface="+mn-cs"/>
                        </a:rPr>
                        <a:t>Air Canada</a:t>
                      </a:r>
                    </a:p>
                    <a:p>
                      <a:pPr algn="ctr"/>
                      <a:r>
                        <a:rPr lang="en-US" sz="1800" b="0" i="0" u="none" strike="noStrike" kern="1200" baseline="0" dirty="0">
                          <a:solidFill>
                            <a:schemeClr val="tx1"/>
                          </a:solidFill>
                          <a:latin typeface="+mn-lt"/>
                          <a:ea typeface="+mn-ea"/>
                          <a:cs typeface="+mn-cs"/>
                        </a:rPr>
                        <a:t>Consolidated Balance Sheet (Partial, Adapted)</a:t>
                      </a:r>
                    </a:p>
                    <a:p>
                      <a:pPr algn="ctr"/>
                      <a:r>
                        <a:rPr lang="en-US" sz="1800" b="0" i="0" u="none" strike="noStrike" kern="1200" baseline="0" dirty="0">
                          <a:solidFill>
                            <a:schemeClr val="tx1"/>
                          </a:solidFill>
                          <a:latin typeface="+mn-lt"/>
                          <a:ea typeface="+mn-ea"/>
                          <a:cs typeface="+mn-cs"/>
                        </a:rPr>
                        <a:t>As at December 31, 2020</a:t>
                      </a:r>
                      <a:endParaRPr kumimoji="0" lang="en-US" sz="1800" b="1" i="0" u="none" strike="noStrike" cap="none" normalizeH="0" baseline="0" dirty="0">
                        <a:ln>
                          <a:noFill/>
                        </a:ln>
                        <a:solidFill>
                          <a:srgbClr val="FFFFFF"/>
                        </a:solidFill>
                        <a:effectLst/>
                        <a:latin typeface="Georgia" pitchFamily="18" charset="0"/>
                        <a:cs typeface="Arial"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extLst>
                  <a:ext uri="{0D108BD9-81ED-4DB2-BD59-A6C34878D82A}">
                    <a16:rowId xmlns:a16="http://schemas.microsoft.com/office/drawing/2014/main" val="160703517"/>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600" b="1" i="1" u="none" strike="noStrike" kern="1200" baseline="0" dirty="0">
                          <a:solidFill>
                            <a:schemeClr val="tx1"/>
                          </a:solidFill>
                          <a:latin typeface="+mn-lt"/>
                          <a:ea typeface="+mn-ea"/>
                          <a:cs typeface="+mn-cs"/>
                        </a:rPr>
                        <a:t>(amounts in millions)</a:t>
                      </a:r>
                      <a:endParaRPr kumimoji="0" lang="en-US" sz="16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5714066"/>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Current liabilities:</a:t>
                      </a:r>
                      <a:endParaRPr kumimoji="0" lang="en-US" sz="16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n-US" sz="1600" dirty="0"/>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4407483"/>
                  </a:ext>
                </a:extLst>
              </a:tr>
              <a:tr h="370840">
                <a:tc>
                  <a:txBody>
                    <a:bodyPr/>
                    <a:lstStyle/>
                    <a:p>
                      <a:pPr marL="274320" marR="0" lvl="0" indent="0" algn="l"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Accounts payable and accrued liabilities</a:t>
                      </a:r>
                      <a:endParaRPr kumimoji="0" lang="en-US" sz="16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  2,465</a:t>
                      </a:r>
                      <a:endParaRPr kumimoji="0" lang="en-US" sz="16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2439453"/>
                  </a:ext>
                </a:extLst>
              </a:tr>
              <a:tr h="370840">
                <a:tc>
                  <a:txBody>
                    <a:bodyPr/>
                    <a:lstStyle/>
                    <a:p>
                      <a:pPr marL="274320" marR="0" lvl="0" indent="0" algn="l"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Advance ticket sales</a:t>
                      </a: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kern="1200" cap="none" normalizeH="0" baseline="0" dirty="0">
                          <a:ln>
                            <a:noFill/>
                          </a:ln>
                          <a:solidFill>
                            <a:schemeClr val="tx1"/>
                          </a:solidFill>
                          <a:effectLst/>
                          <a:latin typeface="+mn-lt"/>
                          <a:ea typeface="+mn-ea"/>
                          <a:cs typeface="+mn-cs"/>
                        </a:rPr>
                        <a:t>2,314</a:t>
                      </a:r>
                      <a:endParaRPr kumimoji="0" lang="en-US" sz="16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9939249"/>
                  </a:ext>
                </a:extLst>
              </a:tr>
              <a:tr h="370840">
                <a:tc>
                  <a:txBody>
                    <a:bodyPr/>
                    <a:lstStyle/>
                    <a:p>
                      <a:pPr marL="274320" marR="0" lvl="0" indent="0" algn="l"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Aeroplan and other deferred revenue</a:t>
                      </a: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572</a:t>
                      </a:r>
                      <a:endParaRPr kumimoji="0" lang="en-US" sz="16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7908840"/>
                  </a:ext>
                </a:extLst>
              </a:tr>
              <a:tr h="370840">
                <a:tc>
                  <a:txBody>
                    <a:bodyPr/>
                    <a:lstStyle/>
                    <a:p>
                      <a:pPr marL="274320" marR="0" lvl="0" indent="0" algn="l"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Current portion of long-term debt and lease liabilities</a:t>
                      </a: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1,788</a:t>
                      </a:r>
                      <a:endParaRPr kumimoji="0" lang="en-US" sz="16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0828110"/>
                  </a:ext>
                </a:extLst>
              </a:tr>
              <a:tr h="370840">
                <a:tc>
                  <a:txBody>
                    <a:bodyPr/>
                    <a:lstStyle/>
                    <a:p>
                      <a:pPr marL="274320" marR="0" lvl="0" indent="0" algn="l" defTabSz="914400" rtl="0" eaLnBrk="1" fontAlgn="base" latinLnBrk="0" hangingPunct="1">
                        <a:lnSpc>
                          <a:spcPct val="100000"/>
                        </a:lnSpc>
                        <a:spcBef>
                          <a:spcPct val="0"/>
                        </a:spcBef>
                        <a:spcAft>
                          <a:spcPct val="0"/>
                        </a:spcAft>
                        <a:buClrTx/>
                        <a:buSzTx/>
                        <a:buFontTx/>
                        <a:buNone/>
                        <a:tabLst/>
                      </a:pPr>
                      <a:endParaRPr lang="en-US" sz="1600" b="0" i="0" u="none" strike="noStrike" kern="1200" baseline="0" dirty="0">
                        <a:solidFill>
                          <a:schemeClr val="tx1"/>
                        </a:solidFill>
                        <a:latin typeface="+mn-lt"/>
                        <a:ea typeface="+mn-ea"/>
                        <a:cs typeface="+mn-cs"/>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kern="1200" cap="none" normalizeH="0" baseline="0" dirty="0">
                          <a:ln>
                            <a:noFill/>
                          </a:ln>
                          <a:solidFill>
                            <a:schemeClr val="tx1"/>
                          </a:solidFill>
                          <a:effectLst/>
                          <a:latin typeface="+mn-lt"/>
                          <a:ea typeface="+mn-ea"/>
                          <a:cs typeface="+mn-cs"/>
                        </a:rPr>
                        <a:t>7,139</a:t>
                      </a:r>
                      <a:endParaRPr kumimoji="0" lang="en-US" sz="16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4775154"/>
                  </a:ext>
                </a:extLst>
              </a:tr>
            </a:tbl>
          </a:graphicData>
        </a:graphic>
      </p:graphicFrame>
    </p:spTree>
    <p:extLst>
      <p:ext uri="{BB962C8B-B14F-4D97-AF65-F5344CB8AC3E}">
        <p14:creationId xmlns:p14="http://schemas.microsoft.com/office/powerpoint/2010/main" val="75471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C60A9-42FB-47DB-82F7-93834C369FDA}"/>
              </a:ext>
            </a:extLst>
          </p:cNvPr>
          <p:cNvSpPr>
            <a:spLocks noGrp="1"/>
          </p:cNvSpPr>
          <p:nvPr>
            <p:ph type="title"/>
          </p:nvPr>
        </p:nvSpPr>
        <p:spPr/>
        <p:txBody>
          <a:bodyPr/>
          <a:lstStyle/>
          <a:p>
            <a:r>
              <a:rPr lang="en-AU" dirty="0"/>
              <a:t>Liabilities</a:t>
            </a:r>
            <a:r>
              <a:rPr lang="en-AU" sz="2000" b="0" dirty="0"/>
              <a:t> (2 of 3)</a:t>
            </a:r>
            <a:endParaRPr lang="en-AU" sz="2000" dirty="0"/>
          </a:p>
        </p:txBody>
      </p:sp>
      <p:graphicFrame>
        <p:nvGraphicFramePr>
          <p:cNvPr id="6" name="Table 4">
            <a:extLst>
              <a:ext uri="{FF2B5EF4-FFF2-40B4-BE49-F238E27FC236}">
                <a16:creationId xmlns:a16="http://schemas.microsoft.com/office/drawing/2014/main" id="{7DB8C1AB-8C93-471F-BA4E-11A0E9CACF93}"/>
              </a:ext>
            </a:extLst>
          </p:cNvPr>
          <p:cNvGraphicFramePr>
            <a:graphicFrameLocks noGrp="1"/>
          </p:cNvGraphicFramePr>
          <p:nvPr>
            <p:ph idx="1"/>
          </p:nvPr>
        </p:nvGraphicFramePr>
        <p:xfrm>
          <a:off x="457200" y="1600200"/>
          <a:ext cx="8229600" cy="3881120"/>
        </p:xfrm>
        <a:graphic>
          <a:graphicData uri="http://schemas.openxmlformats.org/drawingml/2006/table">
            <a:tbl>
              <a:tblPr firstRow="1" bandRow="1">
                <a:tableStyleId>{3B4B98B0-60AC-42C2-AFA5-B58CD77FA1E5}</a:tableStyleId>
              </a:tblPr>
              <a:tblGrid>
                <a:gridCol w="7086600">
                  <a:extLst>
                    <a:ext uri="{9D8B030D-6E8A-4147-A177-3AD203B41FA5}">
                      <a16:colId xmlns:a16="http://schemas.microsoft.com/office/drawing/2014/main" val="3568699401"/>
                    </a:ext>
                  </a:extLst>
                </a:gridCol>
                <a:gridCol w="1143000">
                  <a:extLst>
                    <a:ext uri="{9D8B030D-6E8A-4147-A177-3AD203B41FA5}">
                      <a16:colId xmlns:a16="http://schemas.microsoft.com/office/drawing/2014/main" val="2160611216"/>
                    </a:ext>
                  </a:extLst>
                </a:gridCol>
              </a:tblGrid>
              <a:tr h="370840">
                <a:tc gridSpan="2">
                  <a:txBody>
                    <a:bodyPr/>
                    <a:lstStyle/>
                    <a:p>
                      <a:pPr algn="ctr"/>
                      <a:r>
                        <a:rPr lang="en-US" sz="1800" b="1" i="0" u="none" strike="noStrike" kern="1200" baseline="0" dirty="0">
                          <a:solidFill>
                            <a:schemeClr val="tx1"/>
                          </a:solidFill>
                          <a:latin typeface="+mn-lt"/>
                          <a:ea typeface="+mn-ea"/>
                          <a:cs typeface="+mn-cs"/>
                        </a:rPr>
                        <a:t>Air Canada</a:t>
                      </a:r>
                    </a:p>
                    <a:p>
                      <a:pPr algn="ctr"/>
                      <a:r>
                        <a:rPr lang="en-US" sz="1800" b="0" i="0" u="none" strike="noStrike" kern="1200" baseline="0" dirty="0">
                          <a:solidFill>
                            <a:schemeClr val="tx1"/>
                          </a:solidFill>
                          <a:latin typeface="+mn-lt"/>
                          <a:ea typeface="+mn-ea"/>
                          <a:cs typeface="+mn-cs"/>
                        </a:rPr>
                        <a:t>Consolidated Balance Sheet (Partial, Adapted)</a:t>
                      </a:r>
                    </a:p>
                    <a:p>
                      <a:pPr algn="ctr"/>
                      <a:r>
                        <a:rPr lang="en-US" sz="1800" b="0" i="0" u="none" strike="noStrike" kern="1200" baseline="0" dirty="0">
                          <a:solidFill>
                            <a:schemeClr val="tx1"/>
                          </a:solidFill>
                          <a:latin typeface="+mn-lt"/>
                          <a:ea typeface="+mn-ea"/>
                          <a:cs typeface="+mn-cs"/>
                        </a:rPr>
                        <a:t>As at December 31, 2020</a:t>
                      </a:r>
                      <a:endParaRPr lang="en-AU"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extLst>
                  <a:ext uri="{0D108BD9-81ED-4DB2-BD59-A6C34878D82A}">
                    <a16:rowId xmlns:a16="http://schemas.microsoft.com/office/drawing/2014/main" val="4236738542"/>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Non-current liabilities:</a:t>
                      </a:r>
                      <a:endParaRPr kumimoji="0" lang="en-US" sz="16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85726543"/>
                  </a:ext>
                </a:extLst>
              </a:tr>
              <a:tr h="370840">
                <a:tc>
                  <a:txBody>
                    <a:bodyPr/>
                    <a:lstStyle/>
                    <a:p>
                      <a:pPr marL="274320" marR="0" lvl="0" indent="0" algn="l" defTabSz="914400" rtl="0" eaLnBrk="1" fontAlgn="base" latinLnBrk="0" hangingPunct="1">
                        <a:lnSpc>
                          <a:spcPct val="100000"/>
                        </a:lnSpc>
                        <a:spcBef>
                          <a:spcPct val="0"/>
                        </a:spcBef>
                        <a:spcAft>
                          <a:spcPct val="0"/>
                        </a:spcAft>
                        <a:buClrTx/>
                        <a:buSzTx/>
                        <a:buFontTx/>
                        <a:buNone/>
                        <a:tabLst/>
                        <a:defRPr/>
                      </a:pPr>
                      <a:r>
                        <a:rPr lang="en-US" sz="1600" b="0" i="0" u="none" strike="noStrike" kern="1200" baseline="0" dirty="0">
                          <a:solidFill>
                            <a:schemeClr val="tx1"/>
                          </a:solidFill>
                          <a:latin typeface="+mn-lt"/>
                          <a:ea typeface="+mn-ea"/>
                          <a:cs typeface="+mn-cs"/>
                        </a:rPr>
                        <a:t>Long-term debt and lease liabilities</a:t>
                      </a: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11,201</a:t>
                      </a: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2908551"/>
                  </a:ext>
                </a:extLst>
              </a:tr>
              <a:tr h="370840">
                <a:tc>
                  <a:txBody>
                    <a:bodyPr/>
                    <a:lstStyle/>
                    <a:p>
                      <a:pPr marL="274320" marR="0" lvl="0" indent="0" algn="l" defTabSz="914400" rtl="0" eaLnBrk="1" fontAlgn="base" latinLnBrk="0" hangingPunct="1">
                        <a:lnSpc>
                          <a:spcPct val="100000"/>
                        </a:lnSpc>
                        <a:spcBef>
                          <a:spcPct val="0"/>
                        </a:spcBef>
                        <a:spcAft>
                          <a:spcPct val="0"/>
                        </a:spcAft>
                        <a:buClrTx/>
                        <a:buSzTx/>
                        <a:buFontTx/>
                        <a:buNone/>
                        <a:tabLst/>
                        <a:defRPr/>
                      </a:pPr>
                      <a:r>
                        <a:rPr lang="en-US" sz="1600" b="0" i="0" u="none" strike="noStrike" kern="1200" baseline="0" dirty="0">
                          <a:solidFill>
                            <a:schemeClr val="tx1"/>
                          </a:solidFill>
                          <a:latin typeface="+mn-lt"/>
                          <a:ea typeface="+mn-ea"/>
                          <a:cs typeface="+mn-cs"/>
                        </a:rPr>
                        <a:t>Maintenance provisions</a:t>
                      </a: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1,040</a:t>
                      </a: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6728229"/>
                  </a:ext>
                </a:extLst>
              </a:tr>
              <a:tr h="370840">
                <a:tc>
                  <a:txBody>
                    <a:bodyPr/>
                    <a:lstStyle/>
                    <a:p>
                      <a:pPr marL="274320" marR="0" lvl="0" indent="0" algn="l"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Aeroplan and other deferred revenue</a:t>
                      </a: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4,032</a:t>
                      </a: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63787131"/>
                  </a:ext>
                </a:extLst>
              </a:tr>
              <a:tr h="370840">
                <a:tc>
                  <a:txBody>
                    <a:bodyPr/>
                    <a:lstStyle/>
                    <a:p>
                      <a:pPr marL="274320" marR="0" lvl="0" indent="0" algn="l"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Pension and other benefit liabilities</a:t>
                      </a: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3.015</a:t>
                      </a: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72790458"/>
                  </a:ext>
                </a:extLst>
              </a:tr>
              <a:tr h="370840">
                <a:tc>
                  <a:txBody>
                    <a:bodyPr/>
                    <a:lstStyle/>
                    <a:p>
                      <a:pPr marL="274320" marR="0" lvl="0" indent="0" algn="l"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Other long-term liabilities</a:t>
                      </a: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696</a:t>
                      </a: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5216715"/>
                  </a:ext>
                </a:extLst>
              </a:tr>
              <a:tr h="370840">
                <a:tc>
                  <a:txBody>
                    <a:bodyPr/>
                    <a:lstStyle/>
                    <a:p>
                      <a:pPr marL="274320" marR="0" lvl="0" indent="0" algn="l"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Deferred income tax</a:t>
                      </a: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75</a:t>
                      </a: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84839415"/>
                  </a:ext>
                </a:extLst>
              </a:tr>
              <a:tr h="370840">
                <a:tc>
                  <a:txBody>
                    <a:bodyPr/>
                    <a:lstStyle/>
                    <a:p>
                      <a:pPr marL="274320" marR="0" lvl="0" indent="0" algn="l"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Total Liabilities  </a:t>
                      </a: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$ 27,198</a:t>
                      </a: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8854940"/>
                  </a:ext>
                </a:extLst>
              </a:tr>
            </a:tbl>
          </a:graphicData>
        </a:graphic>
      </p:graphicFrame>
    </p:spTree>
    <p:extLst>
      <p:ext uri="{BB962C8B-B14F-4D97-AF65-F5344CB8AC3E}">
        <p14:creationId xmlns:p14="http://schemas.microsoft.com/office/powerpoint/2010/main" val="3772135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C60A9-42FB-47DB-82F7-93834C369FDA}"/>
              </a:ext>
            </a:extLst>
          </p:cNvPr>
          <p:cNvSpPr>
            <a:spLocks noGrp="1"/>
          </p:cNvSpPr>
          <p:nvPr>
            <p:ph type="title"/>
          </p:nvPr>
        </p:nvSpPr>
        <p:spPr/>
        <p:txBody>
          <a:bodyPr/>
          <a:lstStyle/>
          <a:p>
            <a:r>
              <a:rPr lang="en-AU" dirty="0"/>
              <a:t>Liabilities</a:t>
            </a:r>
            <a:r>
              <a:rPr lang="en-AU" sz="2000" b="0" dirty="0"/>
              <a:t> (3 of 3)</a:t>
            </a:r>
            <a:endParaRPr lang="en-AU" sz="2000" dirty="0"/>
          </a:p>
        </p:txBody>
      </p:sp>
      <p:graphicFrame>
        <p:nvGraphicFramePr>
          <p:cNvPr id="6" name="Table 4">
            <a:extLst>
              <a:ext uri="{FF2B5EF4-FFF2-40B4-BE49-F238E27FC236}">
                <a16:creationId xmlns:a16="http://schemas.microsoft.com/office/drawing/2014/main" id="{F65FAA1A-4CA3-4302-8F7D-3509201B06F5}"/>
              </a:ext>
            </a:extLst>
          </p:cNvPr>
          <p:cNvGraphicFramePr>
            <a:graphicFrameLocks/>
          </p:cNvGraphicFramePr>
          <p:nvPr/>
        </p:nvGraphicFramePr>
        <p:xfrm>
          <a:off x="457200" y="1600200"/>
          <a:ext cx="8229600" cy="4622800"/>
        </p:xfrm>
        <a:graphic>
          <a:graphicData uri="http://schemas.openxmlformats.org/drawingml/2006/table">
            <a:tbl>
              <a:tblPr firstRow="1" bandRow="1">
                <a:tableStyleId>{3B4B98B0-60AC-42C2-AFA5-B58CD77FA1E5}</a:tableStyleId>
              </a:tblPr>
              <a:tblGrid>
                <a:gridCol w="6934200">
                  <a:extLst>
                    <a:ext uri="{9D8B030D-6E8A-4147-A177-3AD203B41FA5}">
                      <a16:colId xmlns:a16="http://schemas.microsoft.com/office/drawing/2014/main" val="3786157673"/>
                    </a:ext>
                  </a:extLst>
                </a:gridCol>
                <a:gridCol w="1295400">
                  <a:extLst>
                    <a:ext uri="{9D8B030D-6E8A-4147-A177-3AD203B41FA5}">
                      <a16:colId xmlns:a16="http://schemas.microsoft.com/office/drawing/2014/main" val="3410537115"/>
                    </a:ext>
                  </a:extLst>
                </a:gridCol>
              </a:tblGrid>
              <a:tr h="370840">
                <a:tc gridSpan="2">
                  <a:txBody>
                    <a:bodyPr/>
                    <a:lstStyle/>
                    <a:p>
                      <a:pPr algn="ctr"/>
                      <a:r>
                        <a:rPr lang="en-US" sz="1800" b="1" i="0" u="none" strike="noStrike" kern="1200" baseline="0" dirty="0">
                          <a:solidFill>
                            <a:schemeClr val="tx1"/>
                          </a:solidFill>
                          <a:latin typeface="+mn-lt"/>
                          <a:ea typeface="+mn-ea"/>
                          <a:cs typeface="+mn-cs"/>
                        </a:rPr>
                        <a:t>Air Canada</a:t>
                      </a:r>
                    </a:p>
                    <a:p>
                      <a:pPr algn="ctr"/>
                      <a:r>
                        <a:rPr lang="en-US" sz="1800" b="0" i="0" u="none" strike="noStrike" kern="1200" baseline="0" dirty="0">
                          <a:solidFill>
                            <a:schemeClr val="tx1"/>
                          </a:solidFill>
                          <a:latin typeface="+mn-lt"/>
                          <a:ea typeface="+mn-ea"/>
                          <a:cs typeface="+mn-cs"/>
                        </a:rPr>
                        <a:t>Consolidated Balance Sheet (Partial, Adapted)</a:t>
                      </a:r>
                    </a:p>
                    <a:p>
                      <a:pPr algn="ctr"/>
                      <a:r>
                        <a:rPr lang="en-US" sz="1800" b="0" i="0" u="none" strike="noStrike" kern="1200" baseline="0" dirty="0">
                          <a:solidFill>
                            <a:schemeClr val="tx1"/>
                          </a:solidFill>
                          <a:latin typeface="+mn-lt"/>
                          <a:ea typeface="+mn-ea"/>
                          <a:cs typeface="+mn-cs"/>
                        </a:rPr>
                        <a:t>As at December 31, 2020</a:t>
                      </a:r>
                      <a:endParaRPr lang="en-AU"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extLst>
                  <a:ext uri="{0D108BD9-81ED-4DB2-BD59-A6C34878D82A}">
                    <a16:rowId xmlns:a16="http://schemas.microsoft.com/office/drawing/2014/main" val="445331810"/>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600" b="1" i="0" u="none" strike="noStrike" kern="1200" baseline="0" dirty="0">
                          <a:solidFill>
                            <a:schemeClr val="tx1"/>
                          </a:solidFill>
                          <a:latin typeface="+mn-lt"/>
                          <a:ea typeface="+mn-ea"/>
                          <a:cs typeface="+mn-cs"/>
                        </a:rPr>
                        <a:t>9. LONG-TERM DEBT AND LEASE LIABILITIES (Partial, Adapted)</a:t>
                      </a:r>
                      <a:endParaRPr kumimoji="0" lang="en-US" sz="14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n-US" sz="1600" dirty="0"/>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2283108"/>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Aircraft financing</a:t>
                      </a:r>
                      <a:endParaRPr kumimoji="0" lang="en-US" sz="14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a:r>
                        <a:rPr lang="en-US" sz="1600" b="0" i="0" u="none" strike="noStrike" kern="1200" baseline="0" dirty="0">
                          <a:solidFill>
                            <a:schemeClr val="tx1"/>
                          </a:solidFill>
                          <a:latin typeface="+mn-lt"/>
                          <a:ea typeface="+mn-ea"/>
                          <a:cs typeface="+mn-cs"/>
                        </a:rPr>
                        <a:t>$ 5,663</a:t>
                      </a:r>
                      <a:endParaRPr lang="en-US" sz="1400" dirty="0"/>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78135639"/>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Convertible notes</a:t>
                      </a: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kern="1200" cap="none" normalizeH="0" baseline="0" dirty="0">
                          <a:ln>
                            <a:noFill/>
                          </a:ln>
                          <a:solidFill>
                            <a:schemeClr val="tx1"/>
                          </a:solidFill>
                          <a:effectLst/>
                          <a:latin typeface="+mn-lt"/>
                          <a:ea typeface="+mn-ea"/>
                          <a:cs typeface="+mn-cs"/>
                        </a:rPr>
                        <a:t>667</a:t>
                      </a:r>
                      <a:endParaRPr kumimoji="0" lang="en-US" sz="14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87252412"/>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Secured and unsecured note</a:t>
                      </a: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kern="1200" cap="none" normalizeH="0" baseline="0" dirty="0">
                          <a:ln>
                            <a:noFill/>
                          </a:ln>
                          <a:solidFill>
                            <a:schemeClr val="tx1"/>
                          </a:solidFill>
                          <a:effectLst/>
                          <a:latin typeface="+mn-lt"/>
                          <a:ea typeface="+mn-ea"/>
                          <a:cs typeface="+mn-cs"/>
                        </a:rPr>
                        <a:t>1.549</a:t>
                      </a:r>
                      <a:endParaRPr kumimoji="0" lang="en-US" sz="14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4865236"/>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Other secured financing</a:t>
                      </a: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kern="1200" cap="none" normalizeH="0" baseline="0" dirty="0">
                          <a:ln>
                            <a:noFill/>
                          </a:ln>
                          <a:solidFill>
                            <a:schemeClr val="tx1"/>
                          </a:solidFill>
                          <a:effectLst/>
                          <a:latin typeface="+mn-lt"/>
                          <a:ea typeface="+mn-ea"/>
                          <a:cs typeface="+mn-cs"/>
                        </a:rPr>
                        <a:t>1,682</a:t>
                      </a: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7062329"/>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600" b="0" i="0" u="none" strike="noStrike" kern="1200" baseline="0" dirty="0">
                          <a:solidFill>
                            <a:schemeClr val="tx1"/>
                          </a:solidFill>
                          <a:latin typeface="+mn-lt"/>
                          <a:ea typeface="+mn-ea"/>
                          <a:cs typeface="+mn-cs"/>
                        </a:rPr>
                        <a:t>Lease liabilities</a:t>
                      </a: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sng" strike="noStrike" kern="1200" cap="none" normalizeH="0" baseline="0" dirty="0">
                          <a:ln>
                            <a:noFill/>
                          </a:ln>
                          <a:solidFill>
                            <a:schemeClr val="tx1"/>
                          </a:solidFill>
                          <a:effectLst/>
                          <a:latin typeface="+mn-lt"/>
                          <a:ea typeface="+mn-ea"/>
                          <a:cs typeface="+mn-cs"/>
                        </a:rPr>
                        <a:t>   3,596</a:t>
                      </a: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5748426"/>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lang="en-US" sz="1600" b="0" i="0" u="none" strike="noStrike" kern="1200" baseline="0" dirty="0">
                        <a:solidFill>
                          <a:schemeClr val="tx1"/>
                        </a:solidFill>
                        <a:latin typeface="+mn-lt"/>
                        <a:ea typeface="+mn-ea"/>
                        <a:cs typeface="+mn-cs"/>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normalizeH="0" baseline="0" dirty="0">
                          <a:ln>
                            <a:noFill/>
                          </a:ln>
                          <a:solidFill>
                            <a:schemeClr val="tx1"/>
                          </a:solidFill>
                          <a:effectLst/>
                          <a:latin typeface="+mn-lt"/>
                          <a:ea typeface="+mn-ea"/>
                          <a:cs typeface="+mn-cs"/>
                        </a:rPr>
                        <a:t>13,157</a:t>
                      </a: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22289934"/>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normalizeH="0" baseline="0" dirty="0">
                          <a:ln>
                            <a:noFill/>
                          </a:ln>
                          <a:solidFill>
                            <a:schemeClr val="tx1"/>
                          </a:solidFill>
                          <a:effectLst/>
                          <a:latin typeface="+mn-lt"/>
                          <a:ea typeface="+mn-ea"/>
                          <a:cs typeface="+mn-cs"/>
                        </a:rPr>
                        <a:t>Unamortized debt issuance costs and discounts</a:t>
                      </a: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kern="1200" cap="none" normalizeH="0" baseline="0" dirty="0">
                          <a:ln>
                            <a:noFill/>
                          </a:ln>
                          <a:solidFill>
                            <a:schemeClr val="tx1"/>
                          </a:solidFill>
                          <a:effectLst/>
                          <a:latin typeface="+mn-lt"/>
                          <a:ea typeface="+mn-ea"/>
                          <a:cs typeface="+mn-cs"/>
                        </a:rPr>
                        <a:t>(168)</a:t>
                      </a: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3998202"/>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normalizeH="0" baseline="0" dirty="0">
                          <a:ln>
                            <a:noFill/>
                          </a:ln>
                          <a:solidFill>
                            <a:schemeClr val="tx1"/>
                          </a:solidFill>
                          <a:effectLst/>
                          <a:latin typeface="+mn-lt"/>
                          <a:ea typeface="+mn-ea"/>
                          <a:cs typeface="+mn-cs"/>
                        </a:rPr>
                        <a:t>Current portion</a:t>
                      </a: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kern="1200" cap="none" normalizeH="0" baseline="0" dirty="0">
                          <a:ln>
                            <a:noFill/>
                          </a:ln>
                          <a:solidFill>
                            <a:schemeClr val="tx1"/>
                          </a:solidFill>
                          <a:effectLst/>
                          <a:latin typeface="+mn-lt"/>
                          <a:ea typeface="+mn-ea"/>
                          <a:cs typeface="+mn-cs"/>
                        </a:rPr>
                        <a:t>(1,788)</a:t>
                      </a: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50284494"/>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kern="1200" cap="none" normalizeH="0" baseline="0" dirty="0">
                          <a:ln>
                            <a:noFill/>
                          </a:ln>
                          <a:solidFill>
                            <a:schemeClr val="tx1"/>
                          </a:solidFill>
                          <a:effectLst/>
                          <a:latin typeface="+mn-lt"/>
                          <a:ea typeface="+mn-ea"/>
                          <a:cs typeface="+mn-cs"/>
                        </a:rPr>
                        <a:t>Long-term debt and lease liabilities</a:t>
                      </a: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kern="1200" cap="none" normalizeH="0" baseline="0" dirty="0">
                          <a:ln>
                            <a:noFill/>
                          </a:ln>
                          <a:solidFill>
                            <a:schemeClr val="tx1"/>
                          </a:solidFill>
                          <a:effectLst/>
                          <a:latin typeface="+mn-lt"/>
                          <a:ea typeface="+mn-ea"/>
                          <a:cs typeface="+mn-cs"/>
                        </a:rPr>
                        <a:t>$ 11.201</a:t>
                      </a: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1988502"/>
                  </a:ext>
                </a:extLst>
              </a:tr>
            </a:tbl>
          </a:graphicData>
        </a:graphic>
      </p:graphicFrame>
    </p:spTree>
    <p:extLst>
      <p:ext uri="{BB962C8B-B14F-4D97-AF65-F5344CB8AC3E}">
        <p14:creationId xmlns:p14="http://schemas.microsoft.com/office/powerpoint/2010/main" val="3129935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Learning Objective Nine</a:t>
            </a:r>
          </a:p>
        </p:txBody>
      </p:sp>
      <p:sp>
        <p:nvSpPr>
          <p:cNvPr id="5" name="Subtitle 4"/>
          <p:cNvSpPr>
            <a:spLocks noGrp="1"/>
          </p:cNvSpPr>
          <p:nvPr>
            <p:ph type="subTitle" idx="1"/>
          </p:nvPr>
        </p:nvSpPr>
        <p:spPr>
          <a:xfrm>
            <a:off x="339554" y="3429000"/>
            <a:ext cx="7474409" cy="1697182"/>
          </a:xfrm>
        </p:spPr>
        <p:txBody>
          <a:bodyPr>
            <a:normAutofit fontScale="47500" lnSpcReduction="20000"/>
          </a:bodyPr>
          <a:lstStyle/>
          <a:p>
            <a:r>
              <a:rPr lang="en-US" altLang="en-US" sz="6700" b="1" dirty="0">
                <a:ea typeface="ＭＳ Ｐゴシック" pitchFamily="34" charset="-128"/>
              </a:rPr>
              <a:t>Describe </a:t>
            </a:r>
            <a:r>
              <a:rPr lang="en-US" altLang="en-US" sz="6700" dirty="0">
                <a:ea typeface="ＭＳ Ｐゴシック" pitchFamily="34" charset="-128"/>
              </a:rPr>
              <a:t>how robotic process automation (RPA) can help with the accounts payable process</a:t>
            </a:r>
            <a:endParaRPr lang="en-US" sz="6700" dirty="0">
              <a:ea typeface="ＭＳ Ｐゴシック" pitchFamily="34" charset="-128"/>
            </a:endParaRPr>
          </a:p>
          <a:p>
            <a:r>
              <a:rPr lang="en-US" dirty="0"/>
              <a:t>	</a:t>
            </a:r>
          </a:p>
        </p:txBody>
      </p:sp>
    </p:spTree>
    <p:extLst>
      <p:ext uri="{BB962C8B-B14F-4D97-AF65-F5344CB8AC3E}">
        <p14:creationId xmlns:p14="http://schemas.microsoft.com/office/powerpoint/2010/main" val="27303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1384828"/>
          </a:xfrm>
        </p:spPr>
        <p:txBody>
          <a:bodyPr/>
          <a:lstStyle/>
          <a:p>
            <a:r>
              <a:rPr lang="en-CA" dirty="0"/>
              <a:t>Robotic Process Automation (RPA) </a:t>
            </a:r>
            <a:br>
              <a:rPr lang="en-CA" dirty="0"/>
            </a:br>
            <a:r>
              <a:rPr lang="en-CA" dirty="0"/>
              <a:t>with the Accounts Payable Process</a:t>
            </a:r>
          </a:p>
        </p:txBody>
      </p:sp>
      <p:sp>
        <p:nvSpPr>
          <p:cNvPr id="3" name="Content Placeholder 2"/>
          <p:cNvSpPr>
            <a:spLocks noGrp="1"/>
          </p:cNvSpPr>
          <p:nvPr>
            <p:ph idx="1"/>
          </p:nvPr>
        </p:nvSpPr>
        <p:spPr>
          <a:xfrm>
            <a:off x="457200" y="2057400"/>
            <a:ext cx="8229600" cy="3962400"/>
          </a:xfrm>
        </p:spPr>
        <p:txBody>
          <a:bodyPr/>
          <a:lstStyle/>
          <a:p>
            <a:r>
              <a:rPr lang="en-CA" dirty="0"/>
              <a:t>System designed to replicate a person’s task processes</a:t>
            </a:r>
          </a:p>
          <a:p>
            <a:r>
              <a:rPr lang="en-CA" dirty="0"/>
              <a:t>Designed to reduce repetitive tasks</a:t>
            </a:r>
          </a:p>
          <a:p>
            <a:pPr marL="0" indent="0">
              <a:buNone/>
            </a:pPr>
            <a:r>
              <a:rPr lang="en-CA" dirty="0"/>
              <a:t>Benefits:</a:t>
            </a:r>
          </a:p>
          <a:p>
            <a:r>
              <a:rPr lang="en-CA" dirty="0"/>
              <a:t>Fewer errors occur entering invoices</a:t>
            </a:r>
          </a:p>
          <a:p>
            <a:r>
              <a:rPr lang="en-CA" dirty="0"/>
              <a:t>Log generated of all completed steps for review or audit</a:t>
            </a:r>
          </a:p>
        </p:txBody>
      </p:sp>
    </p:spTree>
    <p:extLst>
      <p:ext uri="{BB962C8B-B14F-4D97-AF65-F5344CB8AC3E}">
        <p14:creationId xmlns:p14="http://schemas.microsoft.com/office/powerpoint/2010/main" val="1492771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algn="ctr"/>
            <a:r>
              <a:rPr lang="en-US" dirty="0"/>
              <a:t>End of Chapter Seven</a:t>
            </a:r>
          </a:p>
        </p:txBody>
      </p:sp>
      <p:sp>
        <p:nvSpPr>
          <p:cNvPr id="2" name="Subtitle 4">
            <a:extLst>
              <a:ext uri="{FF2B5EF4-FFF2-40B4-BE49-F238E27FC236}">
                <a16:creationId xmlns:a16="http://schemas.microsoft.com/office/drawing/2014/main" id="{6EB258BB-ED1C-094F-C6AC-8ABF6A4D118A}"/>
              </a:ext>
            </a:extLst>
          </p:cNvPr>
          <p:cNvSpPr>
            <a:spLocks noGrp="1"/>
          </p:cNvSpPr>
          <p:nvPr>
            <p:ph type="subTitle" idx="1"/>
          </p:nvPr>
        </p:nvSpPr>
        <p:spPr>
          <a:xfrm>
            <a:off x="575082" y="5416751"/>
            <a:ext cx="6519149" cy="249758"/>
          </a:xfrm>
        </p:spPr>
        <p:txBody>
          <a:bodyPr>
            <a:noAutofit/>
          </a:bodyPr>
          <a:lstStyle/>
          <a:p>
            <a:r>
              <a:rPr lang="en-US" sz="1200" dirty="0"/>
              <a:t>Slides adapted from Pearson Canada Inc. 2024</a:t>
            </a:r>
          </a:p>
        </p:txBody>
      </p:sp>
    </p:spTree>
    <p:extLst>
      <p:ext uri="{BB962C8B-B14F-4D97-AF65-F5344CB8AC3E}">
        <p14:creationId xmlns:p14="http://schemas.microsoft.com/office/powerpoint/2010/main" val="4287133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ofWaterloo_WhiteBkgrd">
  <a:themeElements>
    <a:clrScheme name="Waterloo2016">
      <a:dk1>
        <a:sysClr val="windowText" lastClr="000000"/>
      </a:dk1>
      <a:lt1>
        <a:sysClr val="window" lastClr="FFFFFF"/>
      </a:lt1>
      <a:dk2>
        <a:srgbClr val="757575"/>
      </a:dk2>
      <a:lt2>
        <a:srgbClr val="D6D6D6"/>
      </a:lt2>
      <a:accent1>
        <a:srgbClr val="FFD54F"/>
      </a:accent1>
      <a:accent2>
        <a:srgbClr val="0C0C0C"/>
      </a:accent2>
      <a:accent3>
        <a:srgbClr val="AEAEAE"/>
      </a:accent3>
      <a:accent4>
        <a:srgbClr val="B71233"/>
      </a:accent4>
      <a:accent5>
        <a:srgbClr val="7F7F7F"/>
      </a:accent5>
      <a:accent6>
        <a:srgbClr val="0073CE"/>
      </a:accent6>
      <a:hlink>
        <a:srgbClr val="353535"/>
      </a:hlink>
      <a:folHlink>
        <a:srgbClr val="595959"/>
      </a:folHlink>
    </a:clrScheme>
    <a:fontScheme name="Impact + Georgia">
      <a:majorFont>
        <a:latin typeface="Impact"/>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F Branded PP template" id="{79A68145-D4B9-4631-BEF4-7B0E61A80215}" vid="{A743BFCA-C575-4814-BD09-89D271A30E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AE4299700E724EB4A3A9F30476384C" ma:contentTypeVersion="12" ma:contentTypeDescription="Create a new document." ma:contentTypeScope="" ma:versionID="65e170e0dbbae92946b14002ab1c17d9">
  <xsd:schema xmlns:xsd="http://www.w3.org/2001/XMLSchema" xmlns:xs="http://www.w3.org/2001/XMLSchema" xmlns:p="http://schemas.microsoft.com/office/2006/metadata/properties" xmlns:ns2="9a5288b5-dab3-4678-90e6-28176b4bed68" xmlns:ns3="baf01252-53fa-40dd-aec5-420f8d6c2b25" targetNamespace="http://schemas.microsoft.com/office/2006/metadata/properties" ma:root="true" ma:fieldsID="b84896b0ee1e3d4f230a2605d71c901a" ns2:_="" ns3:_="">
    <xsd:import namespace="9a5288b5-dab3-4678-90e6-28176b4bed68"/>
    <xsd:import namespace="baf01252-53fa-40dd-aec5-420f8d6c2b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5288b5-dab3-4678-90e6-28176b4be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af01252-53fa-40dd-aec5-420f8d6c2b2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4D800B5-A7C7-4A38-A875-53B18BAC9D5C}">
  <ds:schemaRefs>
    <ds:schemaRef ds:uri="http://purl.org/dc/dcmitype/"/>
    <ds:schemaRef ds:uri="http://purl.org/dc/elements/1.1/"/>
    <ds:schemaRef ds:uri="http://schemas.microsoft.com/office/infopath/2007/PartnerControls"/>
    <ds:schemaRef ds:uri="9a5288b5-dab3-4678-90e6-28176b4bed68"/>
    <ds:schemaRef ds:uri="http://schemas.microsoft.com/office/2006/metadata/properties"/>
    <ds:schemaRef ds:uri="http://purl.org/dc/terms/"/>
    <ds:schemaRef ds:uri="http://schemas.microsoft.com/office/2006/documentManagement/types"/>
    <ds:schemaRef ds:uri="http://schemas.openxmlformats.org/package/2006/metadata/core-properties"/>
    <ds:schemaRef ds:uri="baf01252-53fa-40dd-aec5-420f8d6c2b25"/>
    <ds:schemaRef ds:uri="http://www.w3.org/XML/1998/namespace"/>
  </ds:schemaRefs>
</ds:datastoreItem>
</file>

<file path=customXml/itemProps2.xml><?xml version="1.0" encoding="utf-8"?>
<ds:datastoreItem xmlns:ds="http://schemas.openxmlformats.org/officeDocument/2006/customXml" ds:itemID="{FC53BC54-77E2-46DB-97BE-8E2381514324}">
  <ds:schemaRefs>
    <ds:schemaRef ds:uri="http://schemas.microsoft.com/sharepoint/v3/contenttype/forms"/>
  </ds:schemaRefs>
</ds:datastoreItem>
</file>

<file path=customXml/itemProps3.xml><?xml version="1.0" encoding="utf-8"?>
<ds:datastoreItem xmlns:ds="http://schemas.openxmlformats.org/officeDocument/2006/customXml" ds:itemID="{347C08A3-8C0C-4780-AE19-8EFD012A61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5288b5-dab3-4678-90e6-28176b4bed68"/>
    <ds:schemaRef ds:uri="baf01252-53fa-40dd-aec5-420f8d6c2b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23a5a87-f39a-4a22-9247-3fc240c01396}" enabled="0" method="" siteId="{723a5a87-f39a-4a22-9247-3fc240c01396}" removed="1"/>
</clbl:labelList>
</file>

<file path=docProps/app.xml><?xml version="1.0" encoding="utf-8"?>
<Properties xmlns="http://schemas.openxmlformats.org/officeDocument/2006/extended-properties" xmlns:vt="http://schemas.openxmlformats.org/officeDocument/2006/docPropsVTypes">
  <Template>SAF Branded PP template</Template>
  <TotalTime>1116</TotalTime>
  <Words>5254</Words>
  <Application>Microsoft Macintosh PowerPoint</Application>
  <PresentationFormat>On-screen Show (4:3)</PresentationFormat>
  <Paragraphs>486</Paragraphs>
  <Slides>47</Slides>
  <Notes>42</Notes>
  <HiddenSlides>1</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9" baseType="lpstr">
      <vt:lpstr>Berkeley-Bold</vt:lpstr>
      <vt:lpstr>Berkeley-Book</vt:lpstr>
      <vt:lpstr>BerkeleyPro-Book</vt:lpstr>
      <vt:lpstr>ＭＳ Ｐゴシック</vt:lpstr>
      <vt:lpstr>Arial</vt:lpstr>
      <vt:lpstr>Calibri</vt:lpstr>
      <vt:lpstr>Georgia</vt:lpstr>
      <vt:lpstr>Impact</vt:lpstr>
      <vt:lpstr>Verdana</vt:lpstr>
      <vt:lpstr>Wingdings</vt:lpstr>
      <vt:lpstr>UofWaterloo_WhiteBkgrd</vt:lpstr>
      <vt:lpstr>Equation</vt:lpstr>
      <vt:lpstr>Chapter 7 Liabilities</vt:lpstr>
      <vt:lpstr>Learning Objectives</vt:lpstr>
      <vt:lpstr>Learning Objective One</vt:lpstr>
      <vt:lpstr>Current Liabilities</vt:lpstr>
      <vt:lpstr>Current Liabilities: Known Amount</vt:lpstr>
      <vt:lpstr>Short-Term Borrowings</vt:lpstr>
      <vt:lpstr>Accounts Payable</vt:lpstr>
      <vt:lpstr>Accrued Liabilities</vt:lpstr>
      <vt:lpstr>Short-Term Notes Payable (1 of 5)</vt:lpstr>
      <vt:lpstr>Short-Term Notes Payable (2 of 5)</vt:lpstr>
      <vt:lpstr>Short-Term Notes Payable (3 of 5)</vt:lpstr>
      <vt:lpstr>Short-Term Notes Payable (4 of 5)</vt:lpstr>
      <vt:lpstr>Short-Term Notes Payable (5 of 5)</vt:lpstr>
      <vt:lpstr>Sales Taxes Payable</vt:lpstr>
      <vt:lpstr>Goods and Services Tax (GST) Payable</vt:lpstr>
      <vt:lpstr>Provincial Sales Tax (PST) Payable</vt:lpstr>
      <vt:lpstr>Harmonized Sales Tax (HST) Payable</vt:lpstr>
      <vt:lpstr>Payroll </vt:lpstr>
      <vt:lpstr>Payroll Liabilities</vt:lpstr>
      <vt:lpstr>Classroom Problem S7-1</vt:lpstr>
      <vt:lpstr>Income Taxes Payable</vt:lpstr>
      <vt:lpstr>Unearned Revenues</vt:lpstr>
      <vt:lpstr>Current Portion of Long-Term Debt</vt:lpstr>
      <vt:lpstr>Estimated Warranty Payable</vt:lpstr>
      <vt:lpstr>PowerPoint Presentation</vt:lpstr>
      <vt:lpstr>PowerPoint Presentation</vt:lpstr>
      <vt:lpstr>Contingent Liabilities</vt:lpstr>
      <vt:lpstr>Learning Objective Five</vt:lpstr>
      <vt:lpstr>Financing Business Activities</vt:lpstr>
      <vt:lpstr>Earnings per Share (EPS)</vt:lpstr>
      <vt:lpstr>Learning Objective Six</vt:lpstr>
      <vt:lpstr>Accounts Payable Turnover</vt:lpstr>
      <vt:lpstr>The Debt Ratio and Leverage Ratio</vt:lpstr>
      <vt:lpstr>Times Interest Earned</vt:lpstr>
      <vt:lpstr>PowerPoint Presentation</vt:lpstr>
      <vt:lpstr>Learning Objective Seven</vt:lpstr>
      <vt:lpstr>Term Loans</vt:lpstr>
      <vt:lpstr>Leases</vt:lpstr>
      <vt:lpstr>Finance Versus Operating Leases</vt:lpstr>
      <vt:lpstr>Post-Employment Benefits</vt:lpstr>
      <vt:lpstr>Learning Objective Eight</vt:lpstr>
      <vt:lpstr>Liabilities (1 of 3)</vt:lpstr>
      <vt:lpstr>Liabilities (2 of 3)</vt:lpstr>
      <vt:lpstr>Liabilities (3 of 3)</vt:lpstr>
      <vt:lpstr>Learning Objective Nine</vt:lpstr>
      <vt:lpstr>Robotic Process Automation (RPA)  with the Accounts Payable Process</vt:lpstr>
      <vt:lpstr>End of Chapter Seven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AFM 111 – Professional Pathways and Problem Solving</dc:title>
  <dc:creator>Tracy Hilpert</dc:creator>
  <cp:lastModifiedBy>Xiao Lu</cp:lastModifiedBy>
  <cp:revision>100</cp:revision>
  <cp:lastPrinted>2022-10-19T22:00:34Z</cp:lastPrinted>
  <dcterms:created xsi:type="dcterms:W3CDTF">2020-07-10T19:47:04Z</dcterms:created>
  <dcterms:modified xsi:type="dcterms:W3CDTF">2025-10-28T23:14:38Z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0x010100F3AE4299700E724EB4A3A9F30476384C</vt:lpwstr>
  </property>
</Properties>
</file>