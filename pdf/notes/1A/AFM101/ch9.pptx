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48"/>
  </p:notesMasterIdLst>
  <p:sldIdLst>
    <p:sldId id="256" r:id="rId5"/>
    <p:sldId id="384" r:id="rId6"/>
    <p:sldId id="271" r:id="rId7"/>
    <p:sldId id="270" r:id="rId8"/>
    <p:sldId id="276" r:id="rId9"/>
    <p:sldId id="269" r:id="rId10"/>
    <p:sldId id="272" r:id="rId11"/>
    <p:sldId id="278" r:id="rId12"/>
    <p:sldId id="258" r:id="rId13"/>
    <p:sldId id="274" r:id="rId14"/>
    <p:sldId id="259" r:id="rId15"/>
    <p:sldId id="277" r:id="rId16"/>
    <p:sldId id="287" r:id="rId17"/>
    <p:sldId id="281" r:id="rId18"/>
    <p:sldId id="289" r:id="rId19"/>
    <p:sldId id="280" r:id="rId20"/>
    <p:sldId id="273" r:id="rId21"/>
    <p:sldId id="293" r:id="rId22"/>
    <p:sldId id="288" r:id="rId23"/>
    <p:sldId id="292" r:id="rId24"/>
    <p:sldId id="294" r:id="rId25"/>
    <p:sldId id="291" r:id="rId26"/>
    <p:sldId id="299" r:id="rId27"/>
    <p:sldId id="298" r:id="rId28"/>
    <p:sldId id="300" r:id="rId29"/>
    <p:sldId id="301" r:id="rId30"/>
    <p:sldId id="302" r:id="rId31"/>
    <p:sldId id="290" r:id="rId32"/>
    <p:sldId id="297" r:id="rId33"/>
    <p:sldId id="296" r:id="rId34"/>
    <p:sldId id="295" r:id="rId35"/>
    <p:sldId id="305" r:id="rId36"/>
    <p:sldId id="304" r:id="rId37"/>
    <p:sldId id="303" r:id="rId38"/>
    <p:sldId id="308" r:id="rId39"/>
    <p:sldId id="306" r:id="rId40"/>
    <p:sldId id="313" r:id="rId41"/>
    <p:sldId id="307" r:id="rId42"/>
    <p:sldId id="312" r:id="rId43"/>
    <p:sldId id="314" r:id="rId44"/>
    <p:sldId id="311" r:id="rId45"/>
    <p:sldId id="310" r:id="rId46"/>
    <p:sldId id="331" r:id="rId47"/>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B429"/>
    <a:srgbClr val="FFD54F"/>
    <a:srgbClr val="FFEA3D"/>
    <a:srgbClr val="FFFFAA"/>
    <a:srgbClr val="E0249A"/>
    <a:srgbClr val="0073CF"/>
    <a:srgbClr val="57068C"/>
    <a:srgbClr val="FFDB43"/>
    <a:srgbClr val="FDD54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076BEE-E11F-4E4C-AF4B-06863756F8BF}" v="1" dt="2024-11-07T18:23:57.784"/>
  </p1510:revLst>
</p1510:revInfo>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904" autoAdjust="0"/>
    <p:restoredTop sz="77445" autoAdjust="0"/>
  </p:normalViewPr>
  <p:slideViewPr>
    <p:cSldViewPr snapToGrid="0">
      <p:cViewPr>
        <p:scale>
          <a:sx n="90" d="100"/>
          <a:sy n="90" d="100"/>
        </p:scale>
        <p:origin x="424" y="48"/>
      </p:cViewPr>
      <p:guideLst>
        <p:guide orient="horz" pos="2160"/>
        <p:guide pos="2880"/>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 Carty" userId="22830c01-2f55-4e06-b79c-b355947cb1ea" providerId="ADAL" clId="{2B076BEE-E11F-4E4C-AF4B-06863756F8BF}"/>
    <pc:docChg chg="delSld modSld sldOrd">
      <pc:chgData name="Lynn Carty" userId="22830c01-2f55-4e06-b79c-b355947cb1ea" providerId="ADAL" clId="{2B076BEE-E11F-4E4C-AF4B-06863756F8BF}" dt="2024-11-07T19:13:22.091" v="45" actId="2696"/>
      <pc:docMkLst>
        <pc:docMk/>
      </pc:docMkLst>
      <pc:sldChg chg="ord">
        <pc:chgData name="Lynn Carty" userId="22830c01-2f55-4e06-b79c-b355947cb1ea" providerId="ADAL" clId="{2B076BEE-E11F-4E4C-AF4B-06863756F8BF}" dt="2024-11-07T18:52:17.327" v="11" actId="20578"/>
        <pc:sldMkLst>
          <pc:docMk/>
          <pc:sldMk cId="476371865" sldId="273"/>
        </pc:sldMkLst>
      </pc:sldChg>
      <pc:sldChg chg="addSp modSp mod">
        <pc:chgData name="Lynn Carty" userId="22830c01-2f55-4e06-b79c-b355947cb1ea" providerId="ADAL" clId="{2B076BEE-E11F-4E4C-AF4B-06863756F8BF}" dt="2024-11-07T18:24:32.106" v="7" actId="1076"/>
        <pc:sldMkLst>
          <pc:docMk/>
          <pc:sldMk cId="3952394533" sldId="277"/>
        </pc:sldMkLst>
        <pc:spChg chg="add mod">
          <ac:chgData name="Lynn Carty" userId="22830c01-2f55-4e06-b79c-b355947cb1ea" providerId="ADAL" clId="{2B076BEE-E11F-4E4C-AF4B-06863756F8BF}" dt="2024-11-07T18:24:06.907" v="5" actId="1076"/>
          <ac:spMkLst>
            <pc:docMk/>
            <pc:sldMk cId="3952394533" sldId="277"/>
            <ac:spMk id="3" creationId="{AC2E3AFB-300F-1100-5075-27D6245A785A}"/>
          </ac:spMkLst>
        </pc:spChg>
        <pc:spChg chg="add mod">
          <ac:chgData name="Lynn Carty" userId="22830c01-2f55-4e06-b79c-b355947cb1ea" providerId="ADAL" clId="{2B076BEE-E11F-4E4C-AF4B-06863756F8BF}" dt="2024-11-07T18:24:32.106" v="7" actId="1076"/>
          <ac:spMkLst>
            <pc:docMk/>
            <pc:sldMk cId="3952394533" sldId="277"/>
            <ac:spMk id="8" creationId="{448AE98A-A203-A264-8CC9-A510B4835EAF}"/>
          </ac:spMkLst>
        </pc:spChg>
      </pc:sldChg>
      <pc:sldChg chg="ord">
        <pc:chgData name="Lynn Carty" userId="22830c01-2f55-4e06-b79c-b355947cb1ea" providerId="ADAL" clId="{2B076BEE-E11F-4E4C-AF4B-06863756F8BF}" dt="2024-11-07T18:52:13.864" v="10" actId="20578"/>
        <pc:sldMkLst>
          <pc:docMk/>
          <pc:sldMk cId="3960886361" sldId="280"/>
        </pc:sldMkLst>
      </pc:sldChg>
      <pc:sldChg chg="modSp mod modShow">
        <pc:chgData name="Lynn Carty" userId="22830c01-2f55-4e06-b79c-b355947cb1ea" providerId="ADAL" clId="{2B076BEE-E11F-4E4C-AF4B-06863756F8BF}" dt="2024-11-07T19:03:56.382" v="33" actId="20577"/>
        <pc:sldMkLst>
          <pc:docMk/>
          <pc:sldMk cId="3564715562" sldId="288"/>
        </pc:sldMkLst>
        <pc:graphicFrameChg chg="modGraphic">
          <ac:chgData name="Lynn Carty" userId="22830c01-2f55-4e06-b79c-b355947cb1ea" providerId="ADAL" clId="{2B076BEE-E11F-4E4C-AF4B-06863756F8BF}" dt="2024-11-07T19:03:56.382" v="33" actId="20577"/>
          <ac:graphicFrameMkLst>
            <pc:docMk/>
            <pc:sldMk cId="3564715562" sldId="288"/>
            <ac:graphicFrameMk id="5" creationId="{DACA5A32-CF9E-457B-954A-A1DF3FA3414A}"/>
          </ac:graphicFrameMkLst>
        </pc:graphicFrameChg>
      </pc:sldChg>
      <pc:sldChg chg="ord">
        <pc:chgData name="Lynn Carty" userId="22830c01-2f55-4e06-b79c-b355947cb1ea" providerId="ADAL" clId="{2B076BEE-E11F-4E4C-AF4B-06863756F8BF}" dt="2024-11-07T18:52:20.658" v="12" actId="20578"/>
        <pc:sldMkLst>
          <pc:docMk/>
          <pc:sldMk cId="1902898824" sldId="293"/>
        </pc:sldMkLst>
      </pc:sldChg>
      <pc:sldChg chg="del">
        <pc:chgData name="Lynn Carty" userId="22830c01-2f55-4e06-b79c-b355947cb1ea" providerId="ADAL" clId="{2B076BEE-E11F-4E4C-AF4B-06863756F8BF}" dt="2024-11-07T19:12:10.530" v="37" actId="2696"/>
        <pc:sldMkLst>
          <pc:docMk/>
          <pc:sldMk cId="2376635140" sldId="309"/>
        </pc:sldMkLst>
      </pc:sldChg>
      <pc:sldChg chg="del">
        <pc:chgData name="Lynn Carty" userId="22830c01-2f55-4e06-b79c-b355947cb1ea" providerId="ADAL" clId="{2B076BEE-E11F-4E4C-AF4B-06863756F8BF}" dt="2024-11-07T19:12:11.527" v="39" actId="2696"/>
        <pc:sldMkLst>
          <pc:docMk/>
          <pc:sldMk cId="3313826222" sldId="315"/>
        </pc:sldMkLst>
      </pc:sldChg>
      <pc:sldChg chg="del">
        <pc:chgData name="Lynn Carty" userId="22830c01-2f55-4e06-b79c-b355947cb1ea" providerId="ADAL" clId="{2B076BEE-E11F-4E4C-AF4B-06863756F8BF}" dt="2024-11-07T19:12:10.954" v="38" actId="2696"/>
        <pc:sldMkLst>
          <pc:docMk/>
          <pc:sldMk cId="736615212" sldId="316"/>
        </pc:sldMkLst>
      </pc:sldChg>
      <pc:sldChg chg="del">
        <pc:chgData name="Lynn Carty" userId="22830c01-2f55-4e06-b79c-b355947cb1ea" providerId="ADAL" clId="{2B076BEE-E11F-4E4C-AF4B-06863756F8BF}" dt="2024-11-07T19:12:05.771" v="34" actId="2696"/>
        <pc:sldMkLst>
          <pc:docMk/>
          <pc:sldMk cId="721709026" sldId="317"/>
        </pc:sldMkLst>
      </pc:sldChg>
      <pc:sldChg chg="del">
        <pc:chgData name="Lynn Carty" userId="22830c01-2f55-4e06-b79c-b355947cb1ea" providerId="ADAL" clId="{2B076BEE-E11F-4E4C-AF4B-06863756F8BF}" dt="2024-11-07T19:12:12.903" v="41" actId="2696"/>
        <pc:sldMkLst>
          <pc:docMk/>
          <pc:sldMk cId="998071331" sldId="318"/>
        </pc:sldMkLst>
      </pc:sldChg>
      <pc:sldChg chg="del">
        <pc:chgData name="Lynn Carty" userId="22830c01-2f55-4e06-b79c-b355947cb1ea" providerId="ADAL" clId="{2B076BEE-E11F-4E4C-AF4B-06863756F8BF}" dt="2024-11-07T19:12:15.543" v="44" actId="2696"/>
        <pc:sldMkLst>
          <pc:docMk/>
          <pc:sldMk cId="2023130142" sldId="319"/>
        </pc:sldMkLst>
      </pc:sldChg>
      <pc:sldChg chg="del">
        <pc:chgData name="Lynn Carty" userId="22830c01-2f55-4e06-b79c-b355947cb1ea" providerId="ADAL" clId="{2B076BEE-E11F-4E4C-AF4B-06863756F8BF}" dt="2024-11-07T19:12:13.844" v="43" actId="2696"/>
        <pc:sldMkLst>
          <pc:docMk/>
          <pc:sldMk cId="3724847497" sldId="320"/>
        </pc:sldMkLst>
      </pc:sldChg>
      <pc:sldChg chg="del">
        <pc:chgData name="Lynn Carty" userId="22830c01-2f55-4e06-b79c-b355947cb1ea" providerId="ADAL" clId="{2B076BEE-E11F-4E4C-AF4B-06863756F8BF}" dt="2024-11-07T19:12:13.472" v="42" actId="2696"/>
        <pc:sldMkLst>
          <pc:docMk/>
          <pc:sldMk cId="3013857860" sldId="321"/>
        </pc:sldMkLst>
      </pc:sldChg>
      <pc:sldChg chg="del">
        <pc:chgData name="Lynn Carty" userId="22830c01-2f55-4e06-b79c-b355947cb1ea" providerId="ADAL" clId="{2B076BEE-E11F-4E4C-AF4B-06863756F8BF}" dt="2024-11-07T19:12:12.522" v="40" actId="2696"/>
        <pc:sldMkLst>
          <pc:docMk/>
          <pc:sldMk cId="2357224522" sldId="322"/>
        </pc:sldMkLst>
      </pc:sldChg>
      <pc:sldChg chg="del">
        <pc:chgData name="Lynn Carty" userId="22830c01-2f55-4e06-b79c-b355947cb1ea" providerId="ADAL" clId="{2B076BEE-E11F-4E4C-AF4B-06863756F8BF}" dt="2024-11-07T19:13:22.091" v="45" actId="2696"/>
        <pc:sldMkLst>
          <pc:docMk/>
          <pc:sldMk cId="1907581184" sldId="325"/>
        </pc:sldMkLst>
      </pc:sldChg>
      <pc:sldChg chg="del">
        <pc:chgData name="Lynn Carty" userId="22830c01-2f55-4e06-b79c-b355947cb1ea" providerId="ADAL" clId="{2B076BEE-E11F-4E4C-AF4B-06863756F8BF}" dt="2024-11-07T19:12:09.267" v="36" actId="2696"/>
        <pc:sldMkLst>
          <pc:docMk/>
          <pc:sldMk cId="2045635512" sldId="326"/>
        </pc:sldMkLst>
      </pc:sldChg>
      <pc:sldChg chg="del">
        <pc:chgData name="Lynn Carty" userId="22830c01-2f55-4e06-b79c-b355947cb1ea" providerId="ADAL" clId="{2B076BEE-E11F-4E4C-AF4B-06863756F8BF}" dt="2024-11-07T19:12:06.523" v="35" actId="2696"/>
        <pc:sldMkLst>
          <pc:docMk/>
          <pc:sldMk cId="3920239979" sldId="32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4B78E97C-1779-4CEE-80D0-5BBB1AC4023D}" type="datetimeFigureOut">
              <a:rPr lang="en-US" smtClean="0"/>
              <a:t>11/7/24</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This chapter covers the measurement and reporting principles for tangible long-lived assets (also known as property, plant</a:t>
            </a:r>
          </a:p>
          <a:p>
            <a:r>
              <a:rPr lang="en-US" altLang="en-US" dirty="0">
                <a:latin typeface="Arial" pitchFamily="34" charset="0"/>
                <a:ea typeface="ＭＳ Ｐゴシック" pitchFamily="34" charset="-128"/>
              </a:rPr>
              <a:t>and equipment) as well as intangible assets.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this PowerPoint presentation contains mathematical equations, you may need to check that your computer has the following installed:</a:t>
            </a:r>
          </a:p>
          <a:p>
            <a:r>
              <a:rPr lang="en-US" sz="1200" kern="1200" dirty="0">
                <a:solidFill>
                  <a:schemeClr val="tx1"/>
                </a:solidFill>
                <a:effectLst/>
                <a:latin typeface="+mn-lt"/>
                <a:ea typeface="+mn-ea"/>
                <a:cs typeface="+mn-cs"/>
              </a:rPr>
              <a:t>1) </a:t>
            </a:r>
            <a:r>
              <a:rPr lang="en-US" sz="1200" kern="1200" dirty="0" err="1">
                <a:solidFill>
                  <a:schemeClr val="tx1"/>
                </a:solidFill>
                <a:effectLst/>
                <a:latin typeface="+mn-lt"/>
                <a:ea typeface="+mn-ea"/>
                <a:cs typeface="+mn-cs"/>
              </a:rPr>
              <a:t>MathType</a:t>
            </a:r>
            <a:r>
              <a:rPr lang="en-US" sz="1200" kern="1200" dirty="0">
                <a:solidFill>
                  <a:schemeClr val="tx1"/>
                </a:solidFill>
                <a:effectLst/>
                <a:latin typeface="+mn-lt"/>
                <a:ea typeface="+mn-ea"/>
                <a:cs typeface="+mn-cs"/>
              </a:rPr>
              <a:t> Plugin</a:t>
            </a:r>
          </a:p>
          <a:p>
            <a:r>
              <a:rPr lang="en-US" sz="1200" kern="1200" dirty="0">
                <a:solidFill>
                  <a:schemeClr val="tx1"/>
                </a:solidFill>
                <a:effectLst/>
                <a:latin typeface="+mn-lt"/>
                <a:ea typeface="+mn-ea"/>
                <a:cs typeface="+mn-cs"/>
              </a:rPr>
              <a:t>2) Math Player (free versions available)</a:t>
            </a:r>
          </a:p>
          <a:p>
            <a:r>
              <a:rPr lang="en-US" sz="1200" kern="1200" dirty="0">
                <a:solidFill>
                  <a:schemeClr val="tx1"/>
                </a:solidFill>
                <a:effectLst/>
                <a:latin typeface="+mn-lt"/>
                <a:ea typeface="+mn-ea"/>
                <a:cs typeface="+mn-cs"/>
              </a:rPr>
              <a:t>3) NVDA Reader (free versions available) </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1</a:t>
            </a:fld>
            <a:endParaRPr lang="en-US"/>
          </a:p>
        </p:txBody>
      </p:sp>
    </p:spTree>
    <p:extLst>
      <p:ext uri="{BB962C8B-B14F-4D97-AF65-F5344CB8AC3E}">
        <p14:creationId xmlns:p14="http://schemas.microsoft.com/office/powerpoint/2010/main" val="3116949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altLang="en-US" dirty="0">
                <a:latin typeface="Arial" pitchFamily="34" charset="0"/>
                <a:ea typeface="ＭＳ Ｐゴシック" pitchFamily="34" charset="-128"/>
              </a:rPr>
              <a:t>The first learning objective is to explain the uses of the statement of cash flows.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IFRS and ASPE, which provide similar guidance on the statement of cash flows, explain that the information disclosed by a company about its cash flows provides decision-relevant information to users of the company’s financial statements. This statement includes details about a company’s cash receipts and cash disbursements from operating, investing, and financing activities, and permits a user to determine exactly what caused the company’s cash balance to increase or decrease during the period.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2573695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balance sheet reports financial position, and balance sheets from two periods show whether cash increased or decreased. But that doesn’t tell why the cash balance changed. The income statement reports net income and offers clues about cash, but the income statement doesn’t tell why cash increased or decreased because the income statement is prepared using accrual accounting rules that ignore when cash is received or paid. We need a third financial statement.</a:t>
            </a:r>
          </a:p>
          <a:p>
            <a:r>
              <a:rPr lang="en-US" altLang="en-US" dirty="0">
                <a:latin typeface="Arial" pitchFamily="34" charset="0"/>
                <a:ea typeface="ＭＳ Ｐゴシック" pitchFamily="34" charset="-128"/>
              </a:rPr>
              <a:t>The statement of cash flows reports cash flows—cash receipts and cash payments—in other words, where cash came from (receipts) and how it was spent (payments). The statement covers a span of time and therefore is dated “For the Year Ended December 31, 20X2” (in this case) or “For the Month Ended June 30, 20XX.”</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989732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t>The statement of cash flows serves these purposes:</a:t>
            </a:r>
          </a:p>
          <a:p>
            <a:pPr marL="228600" indent="-228600">
              <a:buFont typeface="+mj-lt"/>
              <a:buAutoNum type="arabicPeriod"/>
              <a:defRPr/>
            </a:pPr>
            <a:r>
              <a:rPr lang="en-US" dirty="0"/>
              <a:t>Predicts future cash flows: Past cash receipts and payments are reasonably good predictors of future cash flows.</a:t>
            </a:r>
          </a:p>
          <a:p>
            <a:pPr marL="228600" indent="-228600">
              <a:buFont typeface="+mj-lt"/>
              <a:buAutoNum type="arabicPeriod"/>
              <a:defRPr/>
            </a:pPr>
            <a:r>
              <a:rPr lang="en-US" dirty="0"/>
              <a:t>Evaluates management decisions: Businesses that make wise decisions prosper, and those that make unwise decisions suffer losses. The statement of cash flows reports how managers got cash and how they used cash to run the business.</a:t>
            </a:r>
          </a:p>
          <a:p>
            <a:pPr marL="228600" indent="-228600">
              <a:buFont typeface="+mj-lt"/>
              <a:buAutoNum type="arabicPeriod"/>
              <a:defRPr/>
            </a:pPr>
            <a:r>
              <a:rPr lang="en-US" dirty="0"/>
              <a:t>Determines ability to pay dividends and interest: Shareholders want dividends on their investments. Creditors collect interest and principal on their loans. The statement of cash flows reports on the ability to make these payments.</a:t>
            </a:r>
          </a:p>
          <a:p>
            <a:pPr marL="228600" indent="-228600">
              <a:buFont typeface="+mj-lt"/>
              <a:buAutoNum type="arabicPeriod"/>
              <a:defRPr/>
            </a:pPr>
            <a:r>
              <a:rPr lang="en-US" dirty="0"/>
              <a:t>Assess the relationship of net income to cash flows: Usually, cash and net income mover together. A company’s cash flow can suffer even when net income is high, or improve when it suffers a net loss.</a:t>
            </a:r>
          </a:p>
          <a:p>
            <a:pPr marL="228600" indent="-228600">
              <a:buFont typeface="+mj-lt"/>
              <a:buAutoNum type="arabicPeriod"/>
              <a:defRPr/>
            </a:pPr>
            <a:r>
              <a:rPr lang="en-US" dirty="0"/>
              <a:t>Compare the operating performance of different companies: </a:t>
            </a:r>
            <a:r>
              <a:rPr lang="en-CA" dirty="0"/>
              <a:t>Because it eliminates the effects of using different accounting treatments for the same types of transactions and events, the statement of cash flows allows users to better compare the operating performance of multiple companies.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2999398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On a statement of cash flows, “cash” means more than just cash in the bank. It includes cash equivalents, which are short-term investments that are readily convertible to known amounts of cash, and which are very unlikely to change in value. Generally, only investments with maturities of three months or less meet these criteria. Examples include money-market investment accounts and three-month government treasury bills.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818861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altLang="en-US" dirty="0">
                <a:latin typeface="Arial" pitchFamily="34" charset="0"/>
                <a:ea typeface="ＭＳ Ｐゴシック" pitchFamily="34" charset="-128"/>
              </a:rPr>
              <a:t>The second learning objective is to explain and classify cash flows from operating, investing, and financing activities.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 business engages in three types of business activities:</a:t>
            </a:r>
          </a:p>
          <a:p>
            <a:r>
              <a:rPr lang="en-US" altLang="en-US" dirty="0">
                <a:latin typeface="Arial" pitchFamily="34" charset="0"/>
                <a:ea typeface="ＭＳ Ｐゴシック" pitchFamily="34" charset="-128"/>
              </a:rPr>
              <a:t>■ Operating activities</a:t>
            </a:r>
          </a:p>
          <a:p>
            <a:r>
              <a:rPr lang="en-US" altLang="en-US" dirty="0">
                <a:latin typeface="Arial" pitchFamily="34" charset="0"/>
                <a:ea typeface="ＭＳ Ｐゴシック" pitchFamily="34" charset="-128"/>
              </a:rPr>
              <a:t>■ Investing activities</a:t>
            </a:r>
          </a:p>
          <a:p>
            <a:r>
              <a:rPr lang="en-US" altLang="en-US" dirty="0">
                <a:latin typeface="Arial" pitchFamily="34" charset="0"/>
                <a:ea typeface="ＭＳ Ｐゴシック" pitchFamily="34" charset="-128"/>
              </a:rPr>
              <a:t>■ Financing activities</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Operating activities create revenues, expenses, gains, and losses—net income, which is a product of accrual-basis accounting. The statement of cash flows reports on operating activities. Operating activities are the most important of the three categories because they reflect the core of the organization. A successful business must generate most of its cash from operating activities.</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Investing activities increase and decrease long-term assets, such as computers, land, buildings, equipment, and investments in other companies. Purchases and sales of these assets are investing activities. Investing activities are important, but they are less critical than operating activities.</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Financing activities obtain cash from investors and creditors. </a:t>
            </a:r>
            <a:r>
              <a:rPr lang="en-CA" altLang="en-US" dirty="0">
                <a:latin typeface="Arial" pitchFamily="34" charset="0"/>
                <a:ea typeface="ＭＳ Ｐゴシック" pitchFamily="34" charset="-128"/>
              </a:rPr>
              <a:t>Common financing activities include the issuance and repurchase of the company’s shares; the payment of cash dividends; the cash proceeds from loans, bonds, and notes; and the repayment of amounts borrowed. </a:t>
            </a:r>
            <a:r>
              <a:rPr lang="en-US" altLang="en-US" dirty="0">
                <a:latin typeface="Arial" pitchFamily="34" charset="0"/>
                <a:ea typeface="ＭＳ Ｐゴシック" pitchFamily="34" charset="-128"/>
              </a:rPr>
              <a:t>Financing cash flows relate to long-term liabilities and owners’ equity.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943380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This figure shows how operating, investing, and financing activities relate to the various parts of the balance sheet.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2179473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Arial" pitchFamily="34" charset="0"/>
                <a:ea typeface="ＭＳ Ｐゴシック" pitchFamily="34" charset="-128"/>
              </a:rPr>
              <a:t>IFRS and ASPE offer different guidance on classifying cash flows related to interest and dividends. IFRS note that there is no consensus on the classification of interest paid or interest and dividends received. Under IFRS, interest paid and interest and dividends received may be classified as operating cash flows because they enter into the determination of net income. Alternatively, interest paid may be classified as a financing cash flow because it is a cost of obtaining financial resources, while interest and dividends received may be classified as investing cash flows because they represent returns on investments. Under IFRS, a company is free to choose either classification scheme but must use it consistently from then onward. ASPE require that all interest paid and all interest and dividends received and included in the determination of net income be classified as operating activities. </a:t>
            </a:r>
          </a:p>
          <a:p>
            <a:r>
              <a:rPr lang="en-US" altLang="en-US" dirty="0">
                <a:latin typeface="Arial" pitchFamily="34" charset="0"/>
                <a:ea typeface="ＭＳ Ｐゴシック" pitchFamily="34" charset="-128"/>
              </a:rPr>
              <a:t>IFRS also offers a choice when classifying dividends paid: they may either be classified as a financing cash flow because they are a cost of obtaining financial resources, or they may be classified as cash flows from operating activities so that users may determine the company’s ability to pay dividends out of operating cash flows. ASPE, however, require that any dividends paid and charged against retained earnings be classified as a financing activity.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There are two methods of determining cash flows from operating activities on the statement of cash flows:</a:t>
            </a:r>
          </a:p>
          <a:p>
            <a:r>
              <a:rPr lang="en-US" altLang="en-US" dirty="0">
                <a:latin typeface="Arial" pitchFamily="34" charset="0"/>
                <a:ea typeface="ＭＳ Ｐゴシック" pitchFamily="34" charset="-128"/>
              </a:rPr>
              <a:t>■ Indirect method, </a:t>
            </a:r>
            <a:r>
              <a:rPr lang="en-CA" altLang="en-US" dirty="0">
                <a:latin typeface="Arial" pitchFamily="34" charset="0"/>
                <a:ea typeface="ＭＳ Ｐゴシック" pitchFamily="34" charset="-128"/>
              </a:rPr>
              <a:t>in which net income is adjusted for non-cash transactions, for any deferrals or accruals of past or future operating cash receipts or payments, and for items of income or expense associated with investing or financing cash flows</a:t>
            </a:r>
          </a:p>
          <a:p>
            <a:r>
              <a:rPr lang="en-US" altLang="en-US" dirty="0">
                <a:latin typeface="Arial" pitchFamily="34" charset="0"/>
                <a:ea typeface="ＭＳ Ｐゴシック" pitchFamily="34" charset="-128"/>
              </a:rPr>
              <a:t>■ Direct method, which reports all cash receipts and cash payments from operating activities.</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The two methods use different computations, but they produce the same figure for cash from operating activities. The two methods do not affect investing or financing activities.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2999398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altLang="en-US" dirty="0">
                <a:latin typeface="Arial" pitchFamily="34" charset="0"/>
                <a:ea typeface="ＭＳ Ｐゴシック" pitchFamily="34" charset="-128"/>
              </a:rPr>
              <a:t>The third learning objective is to prepare a statement of cash flows using the indirect method of determining cash flows from operating activities.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From the income statement, take net income, depreciation and amortization expense, and any gains or losses on the sale of long-term assets. From the comparative balance sheets, compute the increase or decrease in each current asset and current liability account.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4001187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3400"/>
            <a:ext cx="5486400" cy="4495800"/>
          </a:xfrm>
        </p:spPr>
        <p:txBody>
          <a:bodyPr/>
          <a:lstStyle/>
          <a:p>
            <a:pPr>
              <a:lnSpc>
                <a:spcPct val="90000"/>
              </a:lnSpc>
            </a:pPr>
            <a:r>
              <a:rPr lang="en-US" altLang="en-US" dirty="0">
                <a:latin typeface="Arial" pitchFamily="34" charset="0"/>
                <a:ea typeface="ＭＳ Ｐゴシック" pitchFamily="34" charset="-128"/>
              </a:rPr>
              <a:t>The operating section begins with the net income, taken from the income statement, and is followed by “Adjustments to reconcile net income to net</a:t>
            </a:r>
            <a:r>
              <a:rPr lang="en-US" altLang="en-US" dirty="0">
                <a:solidFill>
                  <a:srgbClr val="FF0000"/>
                </a:solidFill>
                <a:latin typeface="Arial" pitchFamily="34" charset="0"/>
                <a:ea typeface="ＭＳ Ｐゴシック" pitchFamily="34" charset="-128"/>
              </a:rPr>
              <a:t> </a:t>
            </a:r>
            <a:r>
              <a:rPr lang="en-US" altLang="en-US" dirty="0">
                <a:latin typeface="Arial" pitchFamily="34" charset="0"/>
                <a:ea typeface="ＭＳ Ｐゴシック" pitchFamily="34" charset="-128"/>
              </a:rPr>
              <a:t>cash provided by operating activities.”</a:t>
            </a:r>
          </a:p>
          <a:p>
            <a:pPr>
              <a:lnSpc>
                <a:spcPct val="90000"/>
              </a:lnSpc>
            </a:pPr>
            <a:r>
              <a:rPr lang="en-US" altLang="en-US" dirty="0">
                <a:latin typeface="Arial" pitchFamily="34" charset="0"/>
                <a:ea typeface="ＭＳ Ｐゴシック" pitchFamily="34" charset="-128"/>
              </a:rPr>
              <a:t>Depreciation and Amortization Expenses are added back to net income to convert net income to cash flow. Depreciation and amortization have no effect on cash. But like all other expenses, they decrease net income. Therefore, to convert net income to cash flows, we add those amounts back to net income. The add-back cancels the earlier deduction. </a:t>
            </a:r>
          </a:p>
          <a:p>
            <a:pPr>
              <a:lnSpc>
                <a:spcPct val="90000"/>
              </a:lnSpc>
            </a:pPr>
            <a:r>
              <a:rPr lang="en-US" altLang="en-US" dirty="0">
                <a:latin typeface="Arial" pitchFamily="34" charset="0"/>
                <a:ea typeface="ＭＳ Ｐゴシック" pitchFamily="34" charset="-128"/>
              </a:rPr>
              <a:t>Sales of long-term assets are investing activities and there’s often a gain or loss on the sale. On the statement of cash flows, the gain or loss is an adjustment to net income. This adjustment is made to the operating section so the entire cash effect of the sale can be reported in the investing section.</a:t>
            </a:r>
          </a:p>
          <a:p>
            <a:pPr>
              <a:lnSpc>
                <a:spcPct val="90000"/>
              </a:lnSpc>
            </a:pPr>
            <a:r>
              <a:rPr lang="en-US" altLang="en-US" dirty="0">
                <a:latin typeface="Arial" pitchFamily="34" charset="0"/>
                <a:ea typeface="ＭＳ Ｐゴシック" pitchFamily="34" charset="-128"/>
              </a:rPr>
              <a:t>Most current assets and current liabilities result from operating activities. Changes in the current accounts are adjustments to net income on the cash-flow statement. The reasoning follows:</a:t>
            </a:r>
          </a:p>
          <a:p>
            <a:pPr>
              <a:lnSpc>
                <a:spcPct val="90000"/>
              </a:lnSpc>
              <a:buFontTx/>
              <a:buAutoNum type="arabicPeriod"/>
            </a:pPr>
            <a:r>
              <a:rPr lang="en-US" altLang="en-US" dirty="0">
                <a:latin typeface="Arial" pitchFamily="34" charset="0"/>
                <a:ea typeface="ＭＳ Ｐゴシック" pitchFamily="34" charset="-128"/>
              </a:rPr>
              <a:t>An increase in another current asset decreases cash. It takes cash to acquire assets. Suppose you make a sale on account. Accounts receivable are increased, but cash isn’t affected yet. </a:t>
            </a:r>
          </a:p>
          <a:p>
            <a:pPr>
              <a:lnSpc>
                <a:spcPct val="90000"/>
              </a:lnSpc>
              <a:buFontTx/>
              <a:buAutoNum type="arabicPeriod"/>
            </a:pPr>
            <a:r>
              <a:rPr lang="en-US" altLang="en-US" dirty="0">
                <a:latin typeface="Arial" pitchFamily="34" charset="0"/>
                <a:ea typeface="ＭＳ Ｐゴシック" pitchFamily="34" charset="-128"/>
              </a:rPr>
              <a:t>A decrease in another current asset increases cash. Suppose a company’s Accounts Receivable balance decreased by $4,000. Cash receipts caused Accounts Receivable to decrease, so we add decreases in Accounts Receivable and the other current assets to net income.</a:t>
            </a:r>
          </a:p>
          <a:p>
            <a:pPr>
              <a:lnSpc>
                <a:spcPct val="90000"/>
              </a:lnSpc>
            </a:pPr>
            <a:r>
              <a:rPr lang="en-US" altLang="en-US" dirty="0">
                <a:latin typeface="Arial" pitchFamily="34" charset="0"/>
                <a:ea typeface="ＭＳ Ｐゴシック" pitchFamily="34" charset="-128"/>
              </a:rPr>
              <a:t>3. A decrease in a current liability decreases cash. Payment of a current liability decreases both cash and the liability, so we subtract decreases in current liabilities from net income. </a:t>
            </a:r>
          </a:p>
          <a:p>
            <a:pPr>
              <a:lnSpc>
                <a:spcPct val="90000"/>
              </a:lnSpc>
            </a:pPr>
            <a:r>
              <a:rPr lang="en-US" altLang="en-US" dirty="0">
                <a:latin typeface="Arial" pitchFamily="34" charset="0"/>
                <a:ea typeface="ＭＳ Ｐゴシック" pitchFamily="34" charset="-128"/>
              </a:rPr>
              <a:t>4. An increase in a current liability increases cash. By not paying for an expense immediately, the company is keeping the cash until a future period.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26501877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first step to prepare the operating section of the cash flow statement is to lay out the template as shown above</a:t>
            </a:r>
            <a:r>
              <a:rPr lang="en-US" altLang="en-US" dirty="0">
                <a:solidFill>
                  <a:srgbClr val="FF0000"/>
                </a:solidFill>
                <a:latin typeface="Arial" pitchFamily="34" charset="0"/>
                <a:ea typeface="ＭＳ Ｐゴシック" pitchFamily="34" charset="-128"/>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249190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Investing activities affect long-term assets, such as plant assets, investments, and notes receivable. Above is a template for the investing section for the statement of cash flows.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14682156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Financing activities affect liabilities and shareholders’ equity, such as Notes Payable, Bonds Payable, Long-Term Debt, Common Shares, and Retained Earnings. A template for the financing activities section of the Statement of Cash Flows is shown above.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1506731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Identify each of the above transactions as operating (O), investing (I), financing (F), non-cash investing and financing (NIF), or a transaction that is not reported on the statement of cash flows (N). Indicate whether each item increases (+) or decreases (–) cash. The indirect method is used for operating activities.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21705605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The following financial statements will be used to show how to produce a cash flow statement.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4116134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2243301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20527072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2024812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13113726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 DEPRECIATION AND AMORTIZATION EXPENSES. When we record these expenses, we debit depreciation/amortization expense and credit accumulated depreciation/amortization. As a result, net income decreases, but there is no corresponding outflow of cash. To reverse these non-cash expenses, we add them back to net income when determining operating cash flows. Example: Suppose you had only two transactions during the period, a $1,000 cash sale and depreciation expense of $300. Net income is $700 ($1,000 -$300). Cash flow from operations is $1,000. To go from net income ($700) to cash flow ($1,000), we must add back the depreciation ($300). </a:t>
            </a:r>
          </a:p>
          <a:p>
            <a:r>
              <a:rPr lang="en-US" altLang="en-US" dirty="0">
                <a:latin typeface="Arial" pitchFamily="34" charset="0"/>
                <a:ea typeface="ＭＳ Ｐゴシック" pitchFamily="34" charset="-128"/>
              </a:rPr>
              <a:t>B GAINS AND LOSSES ON THE SALE OF INVESTING ASSETS. Sales of tangible and intangible assets and investments other than cash equivalents are investing activities, and there is often a gain or loss on these sales. On the statement of cash flows, a gain or loss on the sale is an adjustment to net income. This slide includes an adjustment for a gain. During the year, Bradshaw sold equipment for $62,000. The carrying amount was $54,000, so there was a gain of $8,000. The $62,000 of cash received from the sale, which includes the $8,000 gain, is an investing activity. Net income also includes the gain, so we must subtract the gain from net cash provided from operations, as shown in Bradshaw Corporation’s statement of cash flows. A loss on the sale of investing assets also creates an adjustment in the operating section. Losses are added back to net income to compute cash flow from operations, because the amount of the loss does not represent an actual outflow of cash.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29317480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C CHANGES IN NON-CASH OPERATING WORKING CAPITAL ACCOUNTS. A company’s operating activities affect many of its non-cash current asset and liability accounts. </a:t>
            </a:r>
          </a:p>
          <a:p>
            <a:endParaRPr lang="en-US" altLang="en-US" dirty="0">
              <a:latin typeface="Arial" pitchFamily="34" charset="0"/>
              <a:ea typeface="ＭＳ Ｐゴシック" pitchFamily="34" charset="-128"/>
            </a:endParaRPr>
          </a:p>
          <a:p>
            <a:r>
              <a:rPr lang="en-CA" altLang="en-US" dirty="0">
                <a:latin typeface="Arial" pitchFamily="34" charset="0"/>
                <a:ea typeface="ＭＳ Ｐゴシック" pitchFamily="34" charset="-128"/>
              </a:rPr>
              <a:t>When a company sells goods on credit, for example, accounts receivable increase and inventory decreases. Similarly, when a company incurs an expense but doesn’t pay for it until later, accounts payable increase.</a:t>
            </a:r>
            <a:endParaRPr lang="en-US" altLang="en-US" dirty="0">
              <a:latin typeface="Arial" pitchFamily="34" charset="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11026650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Investing activities include the purchase and sale of long-term assets and other investments that do not qualify as cash equivalents. Purchases result in cash outflows from investing activities, whereas sales yield cash inflows. Cash inflows and outflows related to the same type of investing activity must be reported separately in the statement of cash flows.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8253685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Companies with significant quantities of tangible assets typically keep track of them in a sub-ledger, which details the cost, accumulated depreciation, and carrying amount of each item of property, plant, and equipment. When an asset is sold, its carrying amount can be deducted from the cash sale proceeds to determine the gain or loss on the sale of the asset. These details on individual asset sales can be accumulated to arrive at the total cash sale proceeds and net gain or loss on sales to be reported on the statement of cash flows for a given fiscal period. Without the detailed information </a:t>
            </a:r>
          </a:p>
          <a:p>
            <a:r>
              <a:rPr lang="en-US" altLang="en-US" dirty="0">
                <a:latin typeface="Arial" pitchFamily="34" charset="0"/>
                <a:ea typeface="ＭＳ Ｐゴシック" pitchFamily="34" charset="-128"/>
              </a:rPr>
              <a:t>from a company’s asset sub-ledger, we can use an alternative method to calculate this information, as shown on the following slides.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12107326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 At the beginning of the year, Bradshaw’s balance sheet shows that its carrying amount of property, plant, and equipment was $219,000. By the end of the year, it had increased to $353,000. </a:t>
            </a:r>
          </a:p>
          <a:p>
            <a:r>
              <a:rPr lang="en-US" altLang="en-US" dirty="0">
                <a:latin typeface="Arial" pitchFamily="34" charset="0"/>
                <a:ea typeface="ＭＳ Ｐゴシック" pitchFamily="34" charset="-128"/>
              </a:rPr>
              <a:t>• Bradshaw’s income statement discloses depreciation expense of $18,000 and a gain on sale of property, plant, and equipment of $8,000 for the year. We will use these numbers to calculate proceeds from the sale of property, plant and equipment.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41245890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Companies keep a separate account for each plant asset. But for computing cash flows, it is helpful to combine all the plant assets into a single summary account. Also, we subtract accumulated depreciation and use the net figure. It’s easier to work with a single plant asset account. Net plant assets is increased by acquisitions and decreased by depreciation expense and the book value of any assets sold. The beginning and ending balances can be found on the comparative balance sheets, and depreciation from the income statements. Company records should indicate any acquisitions and/or sales of plant assets.</a:t>
            </a:r>
          </a:p>
          <a:p>
            <a:r>
              <a:rPr lang="en-US" altLang="en-US" dirty="0">
                <a:latin typeface="Arial" pitchFamily="34" charset="0"/>
                <a:ea typeface="ＭＳ Ｐゴシック" pitchFamily="34" charset="-128"/>
              </a:rPr>
              <a:t>To compute the cash received from selling a plant asset, locate the gain or loss from the income statement and compare that to the carrying amount of the asset sold.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14203933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The capital asset had a carrying value of $54,000 and a gain of $8,000. That means the company sold the asset for $8,000 more than $54,000, or $62,000.</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29783797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 T-account of net plant assets provides the same information in a different format. Often it is easier to visualize and solve for any missing amounts.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17270894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cash amounts of investment transactions can be computed in the manner illustrated for plant assets. Investments are easier because there is no depreciation, as shown in the above equation. Again, the beginning and ending balance of Investments can be found on the comparative balance sheets. If the preparer knows the amount of either the purchases or book value of investments sold, he or she can solve for the other amount. Just as with plant assets, the amount to be reported on the cash flow statement is the proceeds from sale, which is the book value of investments sold plus or minus any gain or loss.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2491029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notes receivable account is increased by new loans made and decreased by collections as shown in the table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19720626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Financing activities result in changes in the size and composition of a company’s contributed equity and borrowings. The issuance of equity or borrowings results in a cash inflow; the repurchase of equity and repayment of borrowings are cash outflows. Cash inflows and outflows related to the same type of financing activity must be reported separately in the statement of cash flows.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16105959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beginning and ending balances of Long-Term Debt, Notes Payable, or Bonds Payable come from the balance sheet. If either new issuances or payments are known, the other amount can be computed. Interest expense from borrowing is part of net income and therefore is included in the operating section of the statement, not here with the payments of debt under ASPE. IFRS allows interest expense to be classified as either operating activities or financing activities.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39889071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 T-account of Long-Term Debt provides the same information in a different format. Often it is easier to visualize and solve for any missing amounts.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20991677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These cash flows can be determined from the share capital accounts. For example, cash received from issuing common shares is computed from Common Shares account. An increase in the Common Shares account indicates shares have been issued. A decrease in the balance would indicate that the company has repurchased some of its outstanding shares.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28177925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Retained earnings can be analyzed to determine the amount of dividends declared. Net income increases retained earnings and can be found on the Income Statement. Dividends decrease retained earnings. Therefore, you can determine dividends by solving the formula above.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1417220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This slide summarizes the three cash activities.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12112974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Companies make investments that do not require cash. They also obtain financing other than cash. These non-cash investing and financing activities can be reported in a separate schedule under the statement of cash flows.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17302440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exhibit above illustrates noncash investing and financing activities. If a transaction involves an exchange of part cash and part something else, such as shares, a note, etc., the cash portion is reported in the statement of cash flows and the non-cash portion is reported here.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41265921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This concludes Chapter Seven.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18847009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5" y="4266824"/>
            <a:ext cx="5112661"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5958"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11/7/24</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643069D2-FAC5-B540-938A-D5C004FC4D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457200" y="5791200"/>
            <a:ext cx="5432996" cy="722376"/>
          </a:xfrm>
          <a:prstGeom prst="rect">
            <a:avLst/>
          </a:prstGeom>
        </p:spPr>
      </p:pic>
    </p:spTree>
    <p:extLst>
      <p:ext uri="{BB962C8B-B14F-4D97-AF65-F5344CB8AC3E}">
        <p14:creationId xmlns:p14="http://schemas.microsoft.com/office/powerpoint/2010/main" val="351559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11/7/24</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4" name="Picture 23">
            <a:extLst>
              <a:ext uri="{FF2B5EF4-FFF2-40B4-BE49-F238E27FC236}">
                <a16:creationId xmlns:a16="http://schemas.microsoft.com/office/drawing/2014/main" id="{61D60701-02B4-D540-911A-B01AC4D2CAEF}"/>
              </a:ext>
            </a:extLst>
          </p:cNvPr>
          <p:cNvPicPr>
            <a:picLocks noChangeAspect="1"/>
          </p:cNvPicPr>
          <p:nvPr userDrawn="1"/>
        </p:nvPicPr>
        <p:blipFill>
          <a:blip r:embed="rId2"/>
          <a:stretch>
            <a:fillRect/>
          </a:stretch>
        </p:blipFill>
        <p:spPr>
          <a:xfrm>
            <a:off x="6827793" y="6147742"/>
            <a:ext cx="2060466" cy="527423"/>
          </a:xfrm>
          <a:prstGeom prst="rect">
            <a:avLst/>
          </a:prstGeom>
        </p:spPr>
      </p:pic>
      <p:pic>
        <p:nvPicPr>
          <p:cNvPr id="25" name="Picture 24">
            <a:extLst>
              <a:ext uri="{FF2B5EF4-FFF2-40B4-BE49-F238E27FC236}">
                <a16:creationId xmlns:a16="http://schemas.microsoft.com/office/drawing/2014/main" id="{91D4C5F0-5180-6746-A503-097869B289A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103183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11/7/24</a:t>
            </a:fld>
            <a:endParaRPr lang="en-US" dirty="0"/>
          </a:p>
        </p:txBody>
      </p:sp>
      <p:grpSp>
        <p:nvGrpSpPr>
          <p:cNvPr id="17" name="Group 16"/>
          <p:cNvGrpSpPr/>
          <p:nvPr userDrawn="1"/>
        </p:nvGrpSpPr>
        <p:grpSpPr>
          <a:xfrm>
            <a:off x="0" y="0"/>
            <a:ext cx="9144000" cy="397164"/>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0" name="Picture 19">
            <a:extLst>
              <a:ext uri="{FF2B5EF4-FFF2-40B4-BE49-F238E27FC236}">
                <a16:creationId xmlns:a16="http://schemas.microsoft.com/office/drawing/2014/main" id="{E043A7D3-71BA-0D4D-8606-264CCB5C2EA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45440" y="5907024"/>
            <a:ext cx="5101781" cy="722376"/>
          </a:xfrm>
          <a:prstGeom prst="rect">
            <a:avLst/>
          </a:prstGeom>
        </p:spPr>
      </p:pic>
    </p:spTree>
    <p:extLst>
      <p:ext uri="{BB962C8B-B14F-4D97-AF65-F5344CB8AC3E}">
        <p14:creationId xmlns:p14="http://schemas.microsoft.com/office/powerpoint/2010/main" val="252895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11/7/24</a:t>
            </a:fld>
            <a:endParaRPr lang="en-US" dirty="0"/>
          </a:p>
        </p:txBody>
      </p:sp>
      <p:grpSp>
        <p:nvGrpSpPr>
          <p:cNvPr id="15" name="Group 14"/>
          <p:cNvGrpSpPr/>
          <p:nvPr userDrawn="1"/>
        </p:nvGrpSpPr>
        <p:grpSpPr>
          <a:xfrm>
            <a:off x="0" y="0"/>
            <a:ext cx="9144000" cy="397164"/>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5" name="Picture 24">
            <a:extLst>
              <a:ext uri="{FF2B5EF4-FFF2-40B4-BE49-F238E27FC236}">
                <a16:creationId xmlns:a16="http://schemas.microsoft.com/office/drawing/2014/main" id="{CA074264-89A3-EE45-B1CD-741D4DBB62E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75921" y="5907024"/>
            <a:ext cx="4145280" cy="586942"/>
          </a:xfrm>
          <a:prstGeom prst="rect">
            <a:avLst/>
          </a:prstGeom>
        </p:spPr>
      </p:pic>
    </p:spTree>
    <p:extLst>
      <p:ext uri="{BB962C8B-B14F-4D97-AF65-F5344CB8AC3E}">
        <p14:creationId xmlns:p14="http://schemas.microsoft.com/office/powerpoint/2010/main" val="350106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632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5555773"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6681169"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7806565" y="685060"/>
            <a:ext cx="1065644" cy="286052"/>
          </a:xfrm>
        </p:spPr>
        <p:txBody>
          <a:bodyPr anchor="ctr">
            <a:noAutofit/>
          </a:bodyPr>
          <a:lstStyle>
            <a:lvl1pPr marL="0" indent="0" algn="ctr">
              <a:buNone/>
              <a:defRPr sz="10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4" name="Title 3"/>
          <p:cNvSpPr>
            <a:spLocks noGrp="1"/>
          </p:cNvSpPr>
          <p:nvPr>
            <p:ph type="title"/>
          </p:nvPr>
        </p:nvSpPr>
        <p:spPr>
          <a:xfrm>
            <a:off x="194914" y="434111"/>
            <a:ext cx="5284561" cy="895927"/>
          </a:xfrm>
        </p:spPr>
        <p:txBody>
          <a:bodyPr tIns="182880"/>
          <a:lstStyle>
            <a:lvl1pPr>
              <a:defRPr cap="all" baseline="0"/>
            </a:lvl1pPr>
          </a:lstStyle>
          <a:p>
            <a:r>
              <a:rPr lang="en-US"/>
              <a:t>Click to edit Master title style</a:t>
            </a:r>
            <a:endParaRPr lang="en-US" dirty="0"/>
          </a:p>
        </p:txBody>
      </p:sp>
    </p:spTree>
    <p:extLst>
      <p:ext uri="{BB962C8B-B14F-4D97-AF65-F5344CB8AC3E}">
        <p14:creationId xmlns:p14="http://schemas.microsoft.com/office/powerpoint/2010/main" val="126703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3" y="1709741"/>
            <a:ext cx="7049630" cy="2852737"/>
          </a:xfrm>
        </p:spPr>
        <p:txBody>
          <a:bodyPr anchor="b">
            <a:normAutofit/>
          </a:bodyPr>
          <a:lstStyle>
            <a:lvl1pPr algn="l">
              <a:defRPr sz="4000"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194913" y="4589466"/>
            <a:ext cx="7049630" cy="1500187"/>
          </a:xfrm>
        </p:spPr>
        <p:txBody>
          <a:bodyPr>
            <a:normAutofit/>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6902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392" y="3727927"/>
            <a:ext cx="6577965" cy="1212056"/>
          </a:xfrm>
        </p:spPr>
        <p:txBody>
          <a:bodyPr anchor="b">
            <a:noAutofit/>
          </a:bodyPr>
          <a:lstStyle>
            <a:lvl1pPr algn="l">
              <a:defRPr sz="4000"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720392" y="4947816"/>
            <a:ext cx="6577965" cy="666549"/>
          </a:xfrm>
        </p:spPr>
        <p:txBody>
          <a:bodyPr anchor="t">
            <a:normAutofit/>
          </a:bodyPr>
          <a:lstStyle>
            <a:lvl1pPr marL="0" indent="0" algn="l">
              <a:buNone/>
              <a:defRPr sz="240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grpSp>
        <p:nvGrpSpPr>
          <p:cNvPr id="16" name="Group 15"/>
          <p:cNvGrpSpPr/>
          <p:nvPr userDrawn="1"/>
        </p:nvGrpSpPr>
        <p:grpSpPr>
          <a:xfrm>
            <a:off x="0" y="0"/>
            <a:ext cx="9144000" cy="397164"/>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F031D293-784B-194D-B017-C76342FBDC7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619761" y="1925320"/>
            <a:ext cx="8280400" cy="1100969"/>
          </a:xfrm>
          <a:prstGeom prst="rect">
            <a:avLst/>
          </a:prstGeom>
        </p:spPr>
      </p:pic>
    </p:spTree>
    <p:extLst>
      <p:ext uri="{BB962C8B-B14F-4D97-AF65-F5344CB8AC3E}">
        <p14:creationId xmlns:p14="http://schemas.microsoft.com/office/powerpoint/2010/main" val="364274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4" y="434111"/>
            <a:ext cx="8677297" cy="895927"/>
          </a:xfrm>
        </p:spPr>
        <p:txBody>
          <a:bodyPr/>
          <a:lstStyle/>
          <a:p>
            <a:r>
              <a:rPr lang="en-US" dirty="0"/>
              <a:t>CLICK TO EDIT MASTER TITLE STYLE</a:t>
            </a:r>
          </a:p>
        </p:txBody>
      </p:sp>
      <p:sp>
        <p:nvSpPr>
          <p:cNvPr id="3" name="Content Placeholder 2"/>
          <p:cNvSpPr>
            <a:spLocks noGrp="1"/>
          </p:cNvSpPr>
          <p:nvPr>
            <p:ph sz="half" idx="1"/>
          </p:nvPr>
        </p:nvSpPr>
        <p:spPr>
          <a:xfrm>
            <a:off x="194913" y="1413164"/>
            <a:ext cx="4190141"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8245" y="1413164"/>
            <a:ext cx="4243965"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8516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4912" y="1396192"/>
            <a:ext cx="4214718" cy="670270"/>
          </a:xfrm>
        </p:spPr>
        <p:txBody>
          <a:bodyPr anchor="b">
            <a:noAutofit/>
          </a:bodyPr>
          <a:lstStyle>
            <a:lvl1pPr marL="0" indent="0">
              <a:buNone/>
              <a:defRPr sz="2800" b="1" baseline="0">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94912" y="2184402"/>
            <a:ext cx="4214718"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77115" y="1396192"/>
            <a:ext cx="4195094" cy="670270"/>
          </a:xfrm>
        </p:spPr>
        <p:txBody>
          <a:bodyPr anchor="b">
            <a:normAutofit/>
          </a:bodyPr>
          <a:lstStyle>
            <a:lvl1pPr marL="0" indent="0">
              <a:buNone/>
              <a:defRPr sz="2800" b="1">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77115" y="2184402"/>
            <a:ext cx="4195094"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194914" y="434111"/>
            <a:ext cx="8677297" cy="895927"/>
          </a:xfrm>
        </p:spPr>
        <p:txBody>
          <a:bodyPr/>
          <a:lstStyle/>
          <a:p>
            <a:r>
              <a:rPr lang="en-US" dirty="0"/>
              <a:t>CLICK TO EDIT MASTER TITLE STYLE</a:t>
            </a:r>
          </a:p>
        </p:txBody>
      </p:sp>
    </p:spTree>
    <p:extLst>
      <p:ext uri="{BB962C8B-B14F-4D97-AF65-F5344CB8AC3E}">
        <p14:creationId xmlns:p14="http://schemas.microsoft.com/office/powerpoint/2010/main" val="51959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708487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165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08767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47555"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cxnSp>
        <p:nvCxnSpPr>
          <p:cNvPr id="12" name="Straight Connector 11"/>
          <p:cNvCxnSpPr/>
          <p:nvPr userDrawn="1"/>
        </p:nvCxnSpPr>
        <p:spPr>
          <a:xfrm>
            <a:off x="2947556"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2947556"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495300" y="2420360"/>
            <a:ext cx="81534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2947556"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spTree>
    <p:extLst>
      <p:ext uri="{BB962C8B-B14F-4D97-AF65-F5344CB8AC3E}">
        <p14:creationId xmlns:p14="http://schemas.microsoft.com/office/powerpoint/2010/main" val="106419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4762714" y="495661"/>
            <a:ext cx="4080486" cy="5757360"/>
          </a:xfrm>
        </p:spPr>
        <p:txBody>
          <a:bodyPr/>
          <a:lstStyle/>
          <a:p>
            <a:r>
              <a:rPr lang="en-US"/>
              <a:t>Click icon to add picture</a:t>
            </a:r>
          </a:p>
        </p:txBody>
      </p:sp>
      <p:sp>
        <p:nvSpPr>
          <p:cNvPr id="2" name="Title 1"/>
          <p:cNvSpPr>
            <a:spLocks noGrp="1"/>
          </p:cNvSpPr>
          <p:nvPr>
            <p:ph type="title" hasCustomPrompt="1"/>
          </p:nvPr>
        </p:nvSpPr>
        <p:spPr>
          <a:xfrm>
            <a:off x="640773"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2915434" cy="250337"/>
          </a:xfrm>
          <a:prstGeom prst="rect">
            <a:avLst/>
          </a:prstGeom>
        </p:spPr>
        <p:txBody>
          <a:bodyPr/>
          <a:lstStyle/>
          <a:p>
            <a:r>
              <a:rPr lang="en-US"/>
              <a:t>PRESENTATION TITLE</a:t>
            </a:r>
            <a:endParaRPr lang="en-US" dirty="0"/>
          </a:p>
        </p:txBody>
      </p:sp>
      <p:sp>
        <p:nvSpPr>
          <p:cNvPr id="15" name="Text Placeholder 14"/>
          <p:cNvSpPr>
            <a:spLocks noGrp="1"/>
          </p:cNvSpPr>
          <p:nvPr>
            <p:ph type="body" sz="quarter" idx="13"/>
          </p:nvPr>
        </p:nvSpPr>
        <p:spPr>
          <a:xfrm>
            <a:off x="408708" y="2409026"/>
            <a:ext cx="3713021"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640773"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userDrawn="1"/>
        </p:nvCxnSpPr>
        <p:spPr>
          <a:xfrm>
            <a:off x="640774"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640774"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1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46772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366682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solidFill>
                  <a:schemeClr val="bg1"/>
                </a:solidFill>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solidFill>
                  <a:schemeClr val="bg1"/>
                </a:solidFill>
              </a:defRPr>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lvl1pPr>
              <a:defRPr>
                <a:solidFill>
                  <a:schemeClr val="bg1"/>
                </a:solidFill>
              </a:defRPr>
            </a:lvl1pPr>
          </a:lstStyle>
          <a:p>
            <a:r>
              <a:rPr lang="en-US"/>
              <a:t>PRESENTATION TITLE</a:t>
            </a:r>
            <a:endParaRPr lang="en-US" dirty="0"/>
          </a:p>
        </p:txBody>
      </p:sp>
    </p:spTree>
    <p:extLst>
      <p:ext uri="{BB962C8B-B14F-4D97-AF65-F5344CB8AC3E}">
        <p14:creationId xmlns:p14="http://schemas.microsoft.com/office/powerpoint/2010/main" val="303502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10" name="Footer Placeholder 9"/>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8" name="Group 7"/>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7" name="Picture 16">
            <a:extLst>
              <a:ext uri="{FF2B5EF4-FFF2-40B4-BE49-F238E27FC236}">
                <a16:creationId xmlns:a16="http://schemas.microsoft.com/office/drawing/2014/main" id="{8EF7CDFE-4AD1-C042-9B69-C29262BF44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2857" y="411480"/>
            <a:ext cx="5683943" cy="4160520"/>
          </a:xfrm>
          <a:prstGeom prst="rect">
            <a:avLst/>
          </a:prstGeom>
        </p:spPr>
      </p:pic>
    </p:spTree>
    <p:extLst>
      <p:ext uri="{BB962C8B-B14F-4D97-AF65-F5344CB8AC3E}">
        <p14:creationId xmlns:p14="http://schemas.microsoft.com/office/powerpoint/2010/main" val="326967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_ALT">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0" y="0"/>
            <a:ext cx="9144000" cy="6858000"/>
          </a:xfrm>
          <a:prstGeom prst="rect">
            <a:avLst/>
          </a:prstGeom>
        </p:spPr>
      </p:pic>
      <p:sp>
        <p:nvSpPr>
          <p:cNvPr id="7" name="Footer Placeholder 6"/>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10" name="Group 9"/>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7"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bg1"/>
                </a:solidFill>
                <a:latin typeface="Verdana" charset="0"/>
                <a:ea typeface="Verdana" charset="0"/>
                <a:cs typeface="Verdana" charset="0"/>
              </a:defRPr>
            </a:lvl1pPr>
          </a:lstStyle>
          <a:p>
            <a:pPr marL="0" lvl="0" algn="ctr">
              <a:lnSpc>
                <a:spcPct val="75000"/>
              </a:lnSpc>
            </a:pPr>
            <a:r>
              <a:rPr lang="en-US" dirty="0"/>
              <a:t>click to edit master closing slide</a:t>
            </a:r>
          </a:p>
        </p:txBody>
      </p:sp>
      <p:pic>
        <p:nvPicPr>
          <p:cNvPr id="18" name="Picture 17">
            <a:extLst>
              <a:ext uri="{FF2B5EF4-FFF2-40B4-BE49-F238E27FC236}">
                <a16:creationId xmlns:a16="http://schemas.microsoft.com/office/drawing/2014/main" id="{710C154A-5454-7D48-9F68-2CA0B87496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22120" y="355600"/>
            <a:ext cx="5683943" cy="4160520"/>
          </a:xfrm>
          <a:prstGeom prst="rect">
            <a:avLst/>
          </a:prstGeom>
        </p:spPr>
      </p:pic>
    </p:spTree>
    <p:extLst>
      <p:ext uri="{BB962C8B-B14F-4D97-AF65-F5344CB8AC3E}">
        <p14:creationId xmlns:p14="http://schemas.microsoft.com/office/powerpoint/2010/main" val="372208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4" name="Title 13"/>
          <p:cNvSpPr>
            <a:spLocks noGrp="1"/>
          </p:cNvSpPr>
          <p:nvPr>
            <p:ph type="title"/>
          </p:nvPr>
        </p:nvSpPr>
        <p:spPr>
          <a:xfrm>
            <a:off x="457200" y="215372"/>
            <a:ext cx="8229600" cy="621792"/>
          </a:xfrm>
        </p:spPr>
        <p:txBody>
          <a:bodyPr anchor="t" anchorCtr="0"/>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5" name="Date Placeholder 14"/>
          <p:cNvSpPr>
            <a:spLocks noGrp="1"/>
          </p:cNvSpPr>
          <p:nvPr>
            <p:ph type="dt" sz="half" idx="16"/>
          </p:nvPr>
        </p:nvSpPr>
        <p:spPr>
          <a:xfrm>
            <a:off x="6335713" y="113072"/>
            <a:ext cx="2133600" cy="182880"/>
          </a:xfrm>
          <a:prstGeom prst="rect">
            <a:avLst/>
          </a:prstGeom>
        </p:spPr>
        <p:txBody>
          <a:bodyPr/>
          <a:lstStyle/>
          <a:p>
            <a:fld id="{A9DF6EFB-3F44-496C-A842-1E0B3D3B975A}" type="datetimeFigureOut">
              <a:rPr lang="en-US" smtClean="0"/>
              <a:pPr/>
              <a:t>11/7/24</a:t>
            </a:fld>
            <a:endParaRPr lang="en-US" dirty="0"/>
          </a:p>
        </p:txBody>
      </p:sp>
      <p:sp>
        <p:nvSpPr>
          <p:cNvPr id="17" name="Slide Number Placeholder 16"/>
          <p:cNvSpPr>
            <a:spLocks noGrp="1"/>
          </p:cNvSpPr>
          <p:nvPr>
            <p:ph type="sldNum" sz="quarter" idx="17"/>
          </p:nvPr>
        </p:nvSpPr>
        <p:spPr/>
        <p:txBody>
          <a:bodyPr/>
          <a:lstStyle>
            <a:lvl1pPr>
              <a:defRPr sz="900"/>
            </a:lvl1pPr>
          </a:lstStyle>
          <a:p>
            <a:fld id="{200B2350-5261-4F5C-9DF5-EF0D264FC8D2}" type="slidenum">
              <a:rPr lang="en-US" smtClean="0"/>
              <a:pPr/>
              <a:t>‹#›</a:t>
            </a:fld>
            <a:endParaRPr lang="en-US" dirty="0"/>
          </a:p>
        </p:txBody>
      </p:sp>
      <p:sp>
        <p:nvSpPr>
          <p:cNvPr id="18" name="Footer Placeholder 17"/>
          <p:cNvSpPr>
            <a:spLocks noGrp="1"/>
          </p:cNvSpPr>
          <p:nvPr>
            <p:ph type="ftr" sz="quarter" idx="18"/>
          </p:nvPr>
        </p:nvSpPr>
        <p:spPr/>
        <p:txBody>
          <a:bodyPr/>
          <a:lstStyle/>
          <a:p>
            <a:endParaRPr lang="en-US" dirty="0"/>
          </a:p>
        </p:txBody>
      </p:sp>
      <p:sp>
        <p:nvSpPr>
          <p:cNvPr id="27" name="Text Placeholder 25"/>
          <p:cNvSpPr>
            <a:spLocks noGrp="1"/>
          </p:cNvSpPr>
          <p:nvPr>
            <p:ph type="body" sz="quarter" idx="19" hasCustomPrompt="1"/>
          </p:nvPr>
        </p:nvSpPr>
        <p:spPr>
          <a:xfrm>
            <a:off x="5007428" y="6428232"/>
            <a:ext cx="3657600" cy="201168"/>
          </a:xfrm>
        </p:spPr>
        <p:txBody>
          <a:bodyPr anchor="ctr" anchorCtr="0"/>
          <a:lstStyle>
            <a:lvl1pPr marL="0" marR="0" indent="0" algn="r" defTabSz="914400" rtl="0" eaLnBrk="1" fontAlgn="auto" latinLnBrk="0" hangingPunct="1">
              <a:lnSpc>
                <a:spcPct val="100000"/>
              </a:lnSpc>
              <a:spcBef>
                <a:spcPts val="0"/>
              </a:spcBef>
              <a:spcAft>
                <a:spcPts val="0"/>
              </a:spcAft>
              <a:buClrTx/>
              <a:buSzTx/>
              <a:buFontTx/>
              <a:buNone/>
              <a:tabLst/>
              <a:defRPr kumimoji="0" lang="en-US" altLang="en-US" sz="800" b="1" i="0" u="none" strike="noStrike" kern="120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Pearson Canada Inc.</a:t>
            </a:r>
            <a:endParaRPr kumimoji="0" lang="en-US" altLang="en-US" sz="1000" b="0" i="0" u="none" strike="noStrike" kern="1200" cap="none" spc="0" normalizeH="0" baseline="0" noProof="0" dirty="0">
              <a:ln>
                <a:noFill/>
              </a:ln>
              <a:solidFill>
                <a:schemeClr val="tx1"/>
              </a:solidFill>
              <a:effectLst/>
              <a:uLnTx/>
              <a:uFillTx/>
              <a:latin typeface="+mn-lt"/>
              <a:ea typeface="Verdana" panose="020B0604030504040204" pitchFamily="34" charset="0"/>
              <a:cs typeface="Verdana" panose="020B0604030504040204" pitchFamily="34" charset="0"/>
            </a:endParaRP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41007659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buNone/>
              <a:defRPr lang="en-US" sz="2000" kern="1200" dirty="0">
                <a:solidFill>
                  <a:schemeClr val="tx1"/>
                </a:solidFill>
                <a:latin typeface="+mn-lt"/>
                <a:ea typeface="+mn-ea"/>
                <a:cs typeface="+mn-cs"/>
              </a:defRPr>
            </a:lvl1pPr>
            <a:lvl2pPr marL="569913" indent="-285750">
              <a:buClr>
                <a:srgbClr val="007FA3"/>
              </a:buClr>
              <a:buNone/>
              <a:defRPr lang="en-US" sz="2000" kern="1200" dirty="0">
                <a:solidFill>
                  <a:schemeClr val="tx1"/>
                </a:solidFill>
                <a:latin typeface="+mn-lt"/>
                <a:ea typeface="+mn-ea"/>
                <a:cs typeface="+mn-cs"/>
              </a:defRPr>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11/7/24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996862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11/7/24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3" name="Slide Number Placeholder 4">
            <a:extLst>
              <a:ext uri="{FF2B5EF4-FFF2-40B4-BE49-F238E27FC236}">
                <a16:creationId xmlns:a16="http://schemas.microsoft.com/office/drawing/2014/main" id="{9F05BAC7-7CD4-48FA-84E3-B250E213AE40}"/>
              </a:ext>
            </a:extLst>
          </p:cNvPr>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9 -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3" name="TextBox 2">
            <a:extLst>
              <a:ext uri="{FF2B5EF4-FFF2-40B4-BE49-F238E27FC236}">
                <a16:creationId xmlns:a16="http://schemas.microsoft.com/office/drawing/2014/main" id="{65FE6FE9-E624-7B6B-7BC4-DF73AEDE56B0}"/>
              </a:ext>
            </a:extLst>
          </p:cNvPr>
          <p:cNvSpPr txBox="1"/>
          <p:nvPr userDrawn="1"/>
        </p:nvSpPr>
        <p:spPr>
          <a:xfrm>
            <a:off x="1600200" y="6429345"/>
            <a:ext cx="6553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2024 Pearson Canada Inc</a:t>
            </a:r>
            <a:r>
              <a:rPr lang="en-US" altLang="en-US" sz="700" b="1" dirty="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14416826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dirty="0"/>
          </a:p>
        </p:txBody>
      </p:sp>
      <p:sp>
        <p:nvSpPr>
          <p:cNvPr id="7" name="Date Placeholder 6"/>
          <p:cNvSpPr>
            <a:spLocks noGrp="1"/>
          </p:cNvSpPr>
          <p:nvPr>
            <p:ph type="dt" sz="half" idx="10"/>
          </p:nvPr>
        </p:nvSpPr>
        <p:spPr/>
        <p:txBody>
          <a:bodyPr/>
          <a:lstStyle/>
          <a:p>
            <a:fld id="{E0DBC1D4-5704-45BB-BA8B-9B7E98161C8B}" type="datetimeFigureOut">
              <a:rPr lang="en-US" smtClean="0"/>
              <a:pPr/>
              <a:t>11/7/24</a:t>
            </a:fld>
            <a:endParaRPr lang="en-US" dirty="0"/>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dirty="0"/>
          </a:p>
        </p:txBody>
      </p:sp>
    </p:spTree>
    <p:extLst>
      <p:ext uri="{BB962C8B-B14F-4D97-AF65-F5344CB8AC3E}">
        <p14:creationId xmlns:p14="http://schemas.microsoft.com/office/powerpoint/2010/main" val="3373050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6" name="Picture 25"/>
          <p:cNvPicPr>
            <a:picLocks noChangeAspect="1"/>
          </p:cNvPicPr>
          <p:nvPr userDrawn="1"/>
        </p:nvPicPr>
        <p:blipFill>
          <a:blip r:embed="rId26"/>
          <a:stretch>
            <a:fillRect/>
          </a:stretch>
        </p:blipFill>
        <p:spPr>
          <a:xfrm>
            <a:off x="6827793" y="6147742"/>
            <a:ext cx="2060466" cy="527423"/>
          </a:xfrm>
          <a:prstGeom prst="rect">
            <a:avLst/>
          </a:prstGeom>
        </p:spPr>
      </p:pic>
      <p:sp>
        <p:nvSpPr>
          <p:cNvPr id="2" name="Title Placeholder 1"/>
          <p:cNvSpPr>
            <a:spLocks noGrp="1"/>
          </p:cNvSpPr>
          <p:nvPr>
            <p:ph type="title"/>
          </p:nvPr>
        </p:nvSpPr>
        <p:spPr>
          <a:xfrm>
            <a:off x="194914" y="434111"/>
            <a:ext cx="8677297" cy="895927"/>
          </a:xfrm>
          <a:prstGeom prst="rect">
            <a:avLst/>
          </a:prstGeom>
        </p:spPr>
        <p:txBody>
          <a:bodyPr vert="horz" lIns="91440" tIns="9144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4913" y="1413166"/>
            <a:ext cx="8677297"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5" name="Group 14"/>
          <p:cNvGrpSpPr/>
          <p:nvPr userDrawn="1"/>
        </p:nvGrpSpPr>
        <p:grpSpPr>
          <a:xfrm>
            <a:off x="0" y="0"/>
            <a:ext cx="9144000" cy="397164"/>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4" name="Picture 13">
            <a:extLst>
              <a:ext uri="{FF2B5EF4-FFF2-40B4-BE49-F238E27FC236}">
                <a16:creationId xmlns:a16="http://schemas.microsoft.com/office/drawing/2014/main" id="{1DEEB02D-A9CE-7C41-A3A6-27E44A03553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2" r:id="rId21"/>
    <p:sldLayoutId id="2147483726" r:id="rId22"/>
    <p:sldLayoutId id="2147483727" r:id="rId23"/>
    <p:sldLayoutId id="2147483728" r:id="rId2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85000"/>
        </a:lnSpc>
        <a:spcBef>
          <a:spcPct val="0"/>
        </a:spcBef>
        <a:buNone/>
        <a:defRPr sz="3600" b="0" kern="1200" spc="51" baseline="0">
          <a:solidFill>
            <a:schemeClr val="tx1"/>
          </a:solidFill>
          <a:latin typeface="+mj-lt"/>
          <a:ea typeface="+mj-ea"/>
          <a:cs typeface="+mj-cs"/>
        </a:defRPr>
      </a:lvl1pPr>
    </p:titleStyle>
    <p:bodyStyle>
      <a:lvl1pPr marL="288918" indent="-288918" algn="l" defTabSz="914377"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2971" indent="-228594" algn="l" defTabSz="914377"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160"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0.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9557" y="585927"/>
            <a:ext cx="8262905" cy="1917132"/>
          </a:xfrm>
        </p:spPr>
        <p:txBody>
          <a:bodyPr/>
          <a:lstStyle/>
          <a:p>
            <a:r>
              <a:rPr lang="en-US" sz="4400" dirty="0"/>
              <a:t>Chapter 9</a:t>
            </a:r>
            <a:br>
              <a:rPr lang="en-US" sz="4400" dirty="0"/>
            </a:br>
            <a:r>
              <a:rPr lang="en-US" altLang="en-US" sz="4400" dirty="0">
                <a:solidFill>
                  <a:schemeClr val="accent2"/>
                </a:solidFill>
              </a:rPr>
              <a:t>Statement of Cash Flows</a:t>
            </a:r>
            <a:endParaRPr lang="en-US" sz="4400" dirty="0"/>
          </a:p>
        </p:txBody>
      </p:sp>
      <p:sp>
        <p:nvSpPr>
          <p:cNvPr id="4" name="Subtitle 3">
            <a:extLst>
              <a:ext uri="{FF2B5EF4-FFF2-40B4-BE49-F238E27FC236}">
                <a16:creationId xmlns:a16="http://schemas.microsoft.com/office/drawing/2014/main" id="{E4A46C98-5076-55BD-2774-EBF6AF2DA35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486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8CAF4-1210-BDA6-0753-717F286CDD97}"/>
              </a:ext>
            </a:extLst>
          </p:cNvPr>
          <p:cNvSpPr>
            <a:spLocks noGrp="1"/>
          </p:cNvSpPr>
          <p:nvPr>
            <p:ph type="title"/>
          </p:nvPr>
        </p:nvSpPr>
        <p:spPr/>
        <p:txBody>
          <a:bodyPr/>
          <a:lstStyle/>
          <a:p>
            <a:r>
              <a:rPr lang="en-US"/>
              <a:t>Learning Objectives</a:t>
            </a:r>
          </a:p>
        </p:txBody>
      </p:sp>
      <p:sp>
        <p:nvSpPr>
          <p:cNvPr id="3" name="Content Placeholder 2">
            <a:extLst>
              <a:ext uri="{FF2B5EF4-FFF2-40B4-BE49-F238E27FC236}">
                <a16:creationId xmlns:a16="http://schemas.microsoft.com/office/drawing/2014/main" id="{42F02B29-6C32-80FC-5274-12D1DCD5E5BF}"/>
              </a:ext>
            </a:extLst>
          </p:cNvPr>
          <p:cNvSpPr>
            <a:spLocks noGrp="1"/>
          </p:cNvSpPr>
          <p:nvPr>
            <p:ph idx="1"/>
          </p:nvPr>
        </p:nvSpPr>
        <p:spPr/>
        <p:txBody>
          <a:bodyPr>
            <a:normAutofit lnSpcReduction="10000"/>
          </a:bodyPr>
          <a:lstStyle/>
          <a:p>
            <a:pPr marL="0" indent="0">
              <a:buNone/>
            </a:pPr>
            <a:r>
              <a:rPr lang="en-US" dirty="0"/>
              <a:t>LO1</a:t>
            </a:r>
            <a:r>
              <a:rPr lang="en-US" b="1" dirty="0"/>
              <a:t> Explain</a:t>
            </a:r>
            <a:r>
              <a:rPr lang="en-US" dirty="0"/>
              <a:t> the uses of the statement of cash flows.</a:t>
            </a:r>
          </a:p>
          <a:p>
            <a:pPr marL="0" indent="0">
              <a:buNone/>
            </a:pPr>
            <a:r>
              <a:rPr lang="en-US" altLang="en-US" sz="2400" dirty="0">
                <a:solidFill>
                  <a:schemeClr val="accent2"/>
                </a:solidFill>
                <a:ea typeface="ＭＳ Ｐゴシック" pitchFamily="34" charset="-128"/>
              </a:rPr>
              <a:t>LO2</a:t>
            </a:r>
            <a:r>
              <a:rPr lang="en-US" altLang="en-US" sz="2400" b="1" dirty="0">
                <a:solidFill>
                  <a:schemeClr val="accent2"/>
                </a:solidFill>
                <a:ea typeface="ＭＳ Ｐゴシック" pitchFamily="34" charset="-128"/>
              </a:rPr>
              <a:t> </a:t>
            </a:r>
            <a:r>
              <a:rPr lang="en-US" altLang="en-US" b="1" dirty="0">
                <a:solidFill>
                  <a:schemeClr val="accent2"/>
                </a:solidFill>
                <a:ea typeface="ＭＳ Ｐゴシック" pitchFamily="34" charset="-128"/>
              </a:rPr>
              <a:t>Explain </a:t>
            </a:r>
            <a:r>
              <a:rPr lang="en-US" altLang="en-US" dirty="0">
                <a:solidFill>
                  <a:schemeClr val="accent2"/>
                </a:solidFill>
                <a:ea typeface="ＭＳ Ｐゴシック" pitchFamily="34" charset="-128"/>
              </a:rPr>
              <a:t> and </a:t>
            </a:r>
            <a:r>
              <a:rPr lang="en-US" altLang="en-US" b="1" dirty="0">
                <a:solidFill>
                  <a:schemeClr val="accent2"/>
                </a:solidFill>
                <a:ea typeface="ＭＳ Ｐゴシック" pitchFamily="34" charset="-128"/>
              </a:rPr>
              <a:t>classify</a:t>
            </a:r>
            <a:r>
              <a:rPr lang="en-US" altLang="en-US" dirty="0">
                <a:solidFill>
                  <a:schemeClr val="accent2"/>
                </a:solidFill>
                <a:ea typeface="ＭＳ Ｐゴシック" pitchFamily="34" charset="-128"/>
              </a:rPr>
              <a:t> cash flows from operating, investing, and financing activities</a:t>
            </a:r>
            <a:r>
              <a:rPr lang="en-US" altLang="en-US" sz="2400" dirty="0">
                <a:solidFill>
                  <a:schemeClr val="accent2"/>
                </a:solidFill>
                <a:ea typeface="ＭＳ Ｐゴシック" pitchFamily="34" charset="-128"/>
              </a:rPr>
              <a:t>.</a:t>
            </a:r>
          </a:p>
          <a:p>
            <a:pPr marL="0" indent="0">
              <a:buNone/>
            </a:pPr>
            <a:r>
              <a:rPr lang="en-US" altLang="en-US" sz="2400" dirty="0">
                <a:solidFill>
                  <a:schemeClr val="accent2"/>
                </a:solidFill>
                <a:ea typeface="ＭＳ Ｐゴシック" pitchFamily="34" charset="-128"/>
              </a:rPr>
              <a:t>LO3</a:t>
            </a:r>
            <a:r>
              <a:rPr lang="en-US" altLang="en-US" sz="2400" b="1" dirty="0">
                <a:solidFill>
                  <a:schemeClr val="accent2"/>
                </a:solidFill>
                <a:ea typeface="ＭＳ Ｐゴシック" pitchFamily="34" charset="-128"/>
              </a:rPr>
              <a:t> </a:t>
            </a:r>
            <a:r>
              <a:rPr lang="en-US" altLang="en-US" b="1" dirty="0">
                <a:solidFill>
                  <a:schemeClr val="accent2"/>
                </a:solidFill>
                <a:ea typeface="ＭＳ Ｐゴシック" pitchFamily="34" charset="-128"/>
              </a:rPr>
              <a:t>Prepare</a:t>
            </a:r>
            <a:r>
              <a:rPr lang="en-US" altLang="en-US" sz="2400" dirty="0">
                <a:solidFill>
                  <a:schemeClr val="accent2"/>
                </a:solidFill>
                <a:ea typeface="ＭＳ Ｐゴシック" pitchFamily="34" charset="-128"/>
              </a:rPr>
              <a:t> a statement of cash flows using the indirect method of determining cash flows from operating activities.</a:t>
            </a:r>
          </a:p>
          <a:p>
            <a:pPr marL="0" indent="0">
              <a:buNone/>
            </a:pPr>
            <a:r>
              <a:rPr lang="en-US" altLang="en-US" sz="2400" dirty="0">
                <a:solidFill>
                  <a:schemeClr val="accent2"/>
                </a:solidFill>
                <a:ea typeface="ＭＳ Ｐゴシック" pitchFamily="34" charset="-128"/>
              </a:rPr>
              <a:t>LO4</a:t>
            </a:r>
            <a:r>
              <a:rPr lang="en-US" altLang="en-US" sz="2400" b="1" dirty="0">
                <a:solidFill>
                  <a:schemeClr val="accent2"/>
                </a:solidFill>
                <a:ea typeface="ＭＳ Ｐゴシック" pitchFamily="34" charset="-128"/>
              </a:rPr>
              <a:t> </a:t>
            </a:r>
            <a:r>
              <a:rPr lang="en-US" altLang="en-US" b="1" dirty="0">
                <a:solidFill>
                  <a:schemeClr val="accent2"/>
                </a:solidFill>
                <a:ea typeface="ＭＳ Ｐゴシック" pitchFamily="34" charset="-128"/>
              </a:rPr>
              <a:t>Describe</a:t>
            </a:r>
            <a:r>
              <a:rPr lang="en-US" altLang="en-US" dirty="0">
                <a:solidFill>
                  <a:schemeClr val="accent2"/>
                </a:solidFill>
                <a:ea typeface="ＭＳ Ｐゴシック" pitchFamily="34" charset="-128"/>
              </a:rPr>
              <a:t> and </a:t>
            </a:r>
            <a:r>
              <a:rPr lang="en-US" altLang="en-US" b="1" dirty="0">
                <a:solidFill>
                  <a:schemeClr val="accent2"/>
                </a:solidFill>
                <a:ea typeface="ＭＳ Ｐゴシック" pitchFamily="34" charset="-128"/>
              </a:rPr>
              <a:t>apply</a:t>
            </a:r>
            <a:r>
              <a:rPr lang="en-US" altLang="en-US" dirty="0">
                <a:solidFill>
                  <a:schemeClr val="accent2"/>
                </a:solidFill>
                <a:ea typeface="ＭＳ Ｐゴシック" pitchFamily="34" charset="-128"/>
              </a:rPr>
              <a:t> the Excel Quick Analysis button to visualize data</a:t>
            </a:r>
            <a:r>
              <a:rPr lang="en-US" altLang="en-US" sz="2400" dirty="0">
                <a:solidFill>
                  <a:schemeClr val="accent2"/>
                </a:solidFill>
                <a:ea typeface="ＭＳ Ｐゴシック" pitchFamily="34" charset="-128"/>
              </a:rPr>
              <a:t>. </a:t>
            </a:r>
            <a:r>
              <a:rPr lang="en-US" altLang="en-US" dirty="0">
                <a:solidFill>
                  <a:schemeClr val="accent2"/>
                </a:solidFill>
                <a:ea typeface="ＭＳ Ｐゴシック" pitchFamily="34" charset="-128"/>
              </a:rPr>
              <a:t>(OMIT)</a:t>
            </a:r>
            <a:endParaRPr lang="en-US" altLang="en-US" sz="2400" b="1" dirty="0">
              <a:solidFill>
                <a:schemeClr val="accent2"/>
              </a:solidFill>
              <a:ea typeface="ＭＳ Ｐゴシック" pitchFamily="34" charset="-128"/>
            </a:endParaRPr>
          </a:p>
          <a:p>
            <a:pPr marL="0" indent="0">
              <a:buNone/>
            </a:pPr>
            <a:r>
              <a:rPr lang="en-US" altLang="en-US" sz="2400" dirty="0">
                <a:solidFill>
                  <a:schemeClr val="accent2"/>
                </a:solidFill>
                <a:ea typeface="ＭＳ Ｐゴシック" pitchFamily="34" charset="-128"/>
              </a:rPr>
              <a:t>LO A-1</a:t>
            </a:r>
            <a:r>
              <a:rPr lang="en-US" altLang="en-US" sz="2400" b="1" dirty="0">
                <a:solidFill>
                  <a:schemeClr val="accent2"/>
                </a:solidFill>
                <a:ea typeface="ＭＳ Ｐゴシック" pitchFamily="34" charset="-128"/>
              </a:rPr>
              <a:t> Prepare </a:t>
            </a:r>
            <a:r>
              <a:rPr lang="en-US" altLang="en-US" sz="2400" dirty="0">
                <a:solidFill>
                  <a:schemeClr val="accent2"/>
                </a:solidFill>
                <a:ea typeface="ＭＳ Ｐゴシック" pitchFamily="34" charset="-128"/>
              </a:rPr>
              <a:t>a statement of cash flows using the direct method of determining cash flows from operating activities (OMIT).</a:t>
            </a:r>
          </a:p>
          <a:p>
            <a:pPr marL="0" indent="0">
              <a:buNone/>
            </a:pPr>
            <a:endParaRPr lang="en-US" sz="2400" dirty="0">
              <a:solidFill>
                <a:schemeClr val="accent2"/>
              </a:solidFill>
            </a:endParaRPr>
          </a:p>
          <a:p>
            <a:endParaRPr lang="en-US" sz="2400" dirty="0">
              <a:solidFill>
                <a:schemeClr val="accent2"/>
              </a:solidFill>
            </a:endParaRPr>
          </a:p>
          <a:p>
            <a:endParaRPr lang="en-US" altLang="en-US" sz="2400" dirty="0">
              <a:solidFill>
                <a:schemeClr val="accent2"/>
              </a:solidFill>
              <a:ea typeface="ＭＳ Ｐゴシック" pitchFamily="34" charset="-128"/>
            </a:endParaRPr>
          </a:p>
          <a:p>
            <a:endParaRPr lang="en-US" sz="2400" dirty="0">
              <a:solidFill>
                <a:schemeClr val="accent2"/>
              </a:solidFill>
            </a:endParaRPr>
          </a:p>
          <a:p>
            <a:endParaRPr lang="en-US" dirty="0"/>
          </a:p>
          <a:p>
            <a:endParaRPr lang="en-US" dirty="0"/>
          </a:p>
        </p:txBody>
      </p:sp>
    </p:spTree>
    <p:extLst>
      <p:ext uri="{BB962C8B-B14F-4D97-AF65-F5344CB8AC3E}">
        <p14:creationId xmlns:p14="http://schemas.microsoft.com/office/powerpoint/2010/main" val="625433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23091"/>
            <a:ext cx="7772400" cy="2838451"/>
          </a:xfrm>
        </p:spPr>
        <p:txBody>
          <a:bodyPr/>
          <a:lstStyle/>
          <a:p>
            <a:r>
              <a:rPr lang="en-US" dirty="0"/>
              <a:t>Learning Objective One</a:t>
            </a:r>
          </a:p>
        </p:txBody>
      </p:sp>
      <p:sp>
        <p:nvSpPr>
          <p:cNvPr id="3" name="Content Placeholder 2"/>
          <p:cNvSpPr>
            <a:spLocks noGrp="1"/>
          </p:cNvSpPr>
          <p:nvPr>
            <p:ph type="subTitle" idx="1"/>
          </p:nvPr>
        </p:nvSpPr>
        <p:spPr/>
        <p:txBody>
          <a:bodyPr>
            <a:normAutofit lnSpcReduction="10000"/>
          </a:bodyPr>
          <a:lstStyle/>
          <a:p>
            <a:r>
              <a:rPr lang="en-US" altLang="en-US" b="1" dirty="0">
                <a:ea typeface="ＭＳ Ｐゴシック" pitchFamily="34" charset="-128"/>
              </a:rPr>
              <a:t>Explain </a:t>
            </a:r>
            <a:r>
              <a:rPr lang="en-US" altLang="en-US" dirty="0">
                <a:ea typeface="ＭＳ Ｐゴシック" pitchFamily="34" charset="-128"/>
              </a:rPr>
              <a:t>the uses of the statement of cash flows</a:t>
            </a:r>
            <a:endParaRPr lang="en-US" dirty="0"/>
          </a:p>
        </p:txBody>
      </p:sp>
    </p:spTree>
    <p:extLst>
      <p:ext uri="{BB962C8B-B14F-4D97-AF65-F5344CB8AC3E}">
        <p14:creationId xmlns:p14="http://schemas.microsoft.com/office/powerpoint/2010/main" val="2752595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The Statement of Cash Flows </a:t>
            </a:r>
            <a:r>
              <a:rPr lang="en-US" altLang="en-US" sz="2000" b="0" dirty="0">
                <a:ea typeface="ＭＳ Ｐゴシック" pitchFamily="34" charset="-128"/>
              </a:rPr>
              <a:t>(1 of 2)</a:t>
            </a:r>
            <a:endParaRPr lang="en-US" b="0" dirty="0"/>
          </a:p>
        </p:txBody>
      </p:sp>
      <p:sp>
        <p:nvSpPr>
          <p:cNvPr id="3" name="Content Placeholder 2"/>
          <p:cNvSpPr>
            <a:spLocks noGrp="1"/>
          </p:cNvSpPr>
          <p:nvPr>
            <p:ph idx="1"/>
          </p:nvPr>
        </p:nvSpPr>
        <p:spPr>
          <a:xfrm>
            <a:off x="457200" y="1828800"/>
            <a:ext cx="8229600" cy="3992563"/>
          </a:xfrm>
        </p:spPr>
        <p:txBody>
          <a:bodyPr anchor="ctr"/>
          <a:lstStyle/>
          <a:p>
            <a:pPr marL="0" indent="0" algn="ctr" defTabSz="457200">
              <a:buNone/>
              <a:defRPr/>
            </a:pPr>
            <a:r>
              <a:rPr lang="en-US" sz="2800" dirty="0">
                <a:cs typeface="Arial" charset="0"/>
              </a:rPr>
              <a:t>The </a:t>
            </a:r>
            <a:r>
              <a:rPr lang="en-US" sz="2800" i="1" dirty="0">
                <a:solidFill>
                  <a:schemeClr val="tx2"/>
                </a:solidFill>
                <a:cs typeface="Arial" charset="0"/>
              </a:rPr>
              <a:t>statement of cash flows </a:t>
            </a:r>
            <a:br>
              <a:rPr lang="en-US" sz="2800" i="1" dirty="0">
                <a:solidFill>
                  <a:schemeClr val="tx2"/>
                </a:solidFill>
                <a:cs typeface="Arial" charset="0"/>
              </a:rPr>
            </a:br>
            <a:r>
              <a:rPr lang="en-US" sz="2800" dirty="0">
                <a:cs typeface="Arial" charset="0"/>
              </a:rPr>
              <a:t>reports cash flows </a:t>
            </a:r>
            <a:br>
              <a:rPr lang="en-US" sz="2800" dirty="0">
                <a:cs typeface="Arial" charset="0"/>
              </a:rPr>
            </a:br>
            <a:r>
              <a:rPr lang="en-US" sz="2800" dirty="0">
                <a:cs typeface="Arial" charset="0"/>
              </a:rPr>
              <a:t>(cash receipts and cash payments) </a:t>
            </a:r>
            <a:br>
              <a:rPr lang="en-US" sz="2800" dirty="0">
                <a:cs typeface="Arial" charset="0"/>
              </a:rPr>
            </a:br>
            <a:r>
              <a:rPr lang="en-US" sz="2800" dirty="0">
                <a:cs typeface="Arial" charset="0"/>
              </a:rPr>
              <a:t>during the period.</a:t>
            </a:r>
            <a:endParaRPr lang="en-US" sz="2800" dirty="0"/>
          </a:p>
        </p:txBody>
      </p:sp>
    </p:spTree>
    <p:extLst>
      <p:ext uri="{BB962C8B-B14F-4D97-AF65-F5344CB8AC3E}">
        <p14:creationId xmlns:p14="http://schemas.microsoft.com/office/powerpoint/2010/main" val="3460636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Timing of the Financial Statements</a:t>
            </a:r>
            <a:endParaRPr lang="en-US" dirty="0"/>
          </a:p>
        </p:txBody>
      </p:sp>
      <p:pic>
        <p:nvPicPr>
          <p:cNvPr id="9" name="Picture 8" descr="A flow chart of the timing of financial statement is divided into 3 periods.">
            <a:extLst>
              <a:ext uri="{FF2B5EF4-FFF2-40B4-BE49-F238E27FC236}">
                <a16:creationId xmlns:a16="http://schemas.microsoft.com/office/drawing/2014/main" id="{17AA521F-83F1-4ACA-3FC1-57D94326AEB0}"/>
              </a:ext>
            </a:extLst>
          </p:cNvPr>
          <p:cNvPicPr>
            <a:picLocks noChangeAspect="1"/>
          </p:cNvPicPr>
          <p:nvPr/>
        </p:nvPicPr>
        <p:blipFill>
          <a:blip r:embed="rId3"/>
          <a:stretch>
            <a:fillRect/>
          </a:stretch>
        </p:blipFill>
        <p:spPr>
          <a:xfrm>
            <a:off x="1608272" y="1524000"/>
            <a:ext cx="5927456" cy="4389270"/>
          </a:xfrm>
          <a:prstGeom prst="rect">
            <a:avLst/>
          </a:prstGeom>
        </p:spPr>
      </p:pic>
    </p:spTree>
    <p:extLst>
      <p:ext uri="{BB962C8B-B14F-4D97-AF65-F5344CB8AC3E}">
        <p14:creationId xmlns:p14="http://schemas.microsoft.com/office/powerpoint/2010/main" val="2506347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Purposes of the Statement of Cash Flows</a:t>
            </a:r>
            <a:endParaRPr lang="en-US" dirty="0"/>
          </a:p>
        </p:txBody>
      </p:sp>
      <p:sp>
        <p:nvSpPr>
          <p:cNvPr id="4" name="Text Placeholder 3"/>
          <p:cNvSpPr>
            <a:spLocks noGrp="1"/>
          </p:cNvSpPr>
          <p:nvPr>
            <p:ph type="body" idx="1"/>
          </p:nvPr>
        </p:nvSpPr>
        <p:spPr>
          <a:xfrm>
            <a:off x="272000" y="2130552"/>
            <a:ext cx="2743200" cy="1828800"/>
          </a:xfrm>
        </p:spPr>
        <p:txBody>
          <a:bodyPr/>
          <a:lstStyle/>
          <a:p>
            <a:r>
              <a:rPr lang="en-US" sz="2400" dirty="0"/>
              <a:t>Predicts future cash flows</a:t>
            </a:r>
          </a:p>
        </p:txBody>
      </p:sp>
      <p:sp>
        <p:nvSpPr>
          <p:cNvPr id="5" name="Content Placeholder 4"/>
          <p:cNvSpPr>
            <a:spLocks noGrp="1"/>
          </p:cNvSpPr>
          <p:nvPr>
            <p:ph sz="half" idx="2"/>
          </p:nvPr>
        </p:nvSpPr>
        <p:spPr>
          <a:xfrm>
            <a:off x="3186939" y="2130552"/>
            <a:ext cx="2743200" cy="1828800"/>
          </a:xfrm>
        </p:spPr>
        <p:txBody>
          <a:bodyPr/>
          <a:lstStyle/>
          <a:p>
            <a:pPr marL="0" lvl="0" indent="0"/>
            <a:r>
              <a:rPr lang="en-US" sz="2400" dirty="0"/>
              <a:t>Evaluates management decisions</a:t>
            </a:r>
          </a:p>
        </p:txBody>
      </p:sp>
      <p:sp>
        <p:nvSpPr>
          <p:cNvPr id="7" name="Content Placeholder 6"/>
          <p:cNvSpPr>
            <a:spLocks noGrp="1"/>
          </p:cNvSpPr>
          <p:nvPr>
            <p:ph sz="quarter" idx="4"/>
          </p:nvPr>
        </p:nvSpPr>
        <p:spPr>
          <a:xfrm>
            <a:off x="6101878" y="2130552"/>
            <a:ext cx="2743200" cy="1828800"/>
          </a:xfrm>
        </p:spPr>
        <p:txBody>
          <a:bodyPr/>
          <a:lstStyle/>
          <a:p>
            <a:pPr marL="0" lvl="0" indent="0"/>
            <a:r>
              <a:rPr lang="en-US" sz="2400" dirty="0"/>
              <a:t>Determines ability to pay dividends and interest</a:t>
            </a:r>
          </a:p>
        </p:txBody>
      </p:sp>
      <p:sp>
        <p:nvSpPr>
          <p:cNvPr id="8" name="Content Placeholder 7"/>
          <p:cNvSpPr>
            <a:spLocks noGrp="1"/>
          </p:cNvSpPr>
          <p:nvPr>
            <p:ph sz="half" idx="13"/>
          </p:nvPr>
        </p:nvSpPr>
        <p:spPr>
          <a:xfrm>
            <a:off x="1981200" y="4150870"/>
            <a:ext cx="2743200" cy="1828800"/>
          </a:xfrm>
        </p:spPr>
        <p:txBody>
          <a:bodyPr/>
          <a:lstStyle/>
          <a:p>
            <a:pPr marL="0" lvl="0" indent="0"/>
            <a:r>
              <a:rPr lang="en-US" sz="2400" dirty="0"/>
              <a:t>Use to assess the relationship of net income to cash flows</a:t>
            </a:r>
          </a:p>
        </p:txBody>
      </p:sp>
      <p:sp>
        <p:nvSpPr>
          <p:cNvPr id="6" name="Text Placeholder 5"/>
          <p:cNvSpPr>
            <a:spLocks noGrp="1"/>
          </p:cNvSpPr>
          <p:nvPr>
            <p:ph type="body" sz="quarter" idx="3"/>
          </p:nvPr>
        </p:nvSpPr>
        <p:spPr>
          <a:xfrm>
            <a:off x="5029200" y="4150870"/>
            <a:ext cx="2743200" cy="1828800"/>
          </a:xfrm>
        </p:spPr>
        <p:txBody>
          <a:bodyPr/>
          <a:lstStyle/>
          <a:p>
            <a:pPr lvl="0"/>
            <a:r>
              <a:rPr lang="en-US" sz="2400" dirty="0"/>
              <a:t>Use to compare operating performance</a:t>
            </a:r>
          </a:p>
        </p:txBody>
      </p:sp>
    </p:spTree>
    <p:extLst>
      <p:ext uri="{BB962C8B-B14F-4D97-AF65-F5344CB8AC3E}">
        <p14:creationId xmlns:p14="http://schemas.microsoft.com/office/powerpoint/2010/main" val="3455273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The Statement of Cash Flows </a:t>
            </a:r>
            <a:r>
              <a:rPr lang="en-US" altLang="en-US" sz="2000" b="0" dirty="0">
                <a:ea typeface="ＭＳ Ｐゴシック" pitchFamily="34" charset="-128"/>
              </a:rPr>
              <a:t>(2 of 2)</a:t>
            </a:r>
            <a:endParaRPr lang="en-US" dirty="0"/>
          </a:p>
        </p:txBody>
      </p:sp>
      <p:sp>
        <p:nvSpPr>
          <p:cNvPr id="3" name="Content Placeholder 2"/>
          <p:cNvSpPr>
            <a:spLocks noGrp="1"/>
          </p:cNvSpPr>
          <p:nvPr>
            <p:ph idx="1"/>
          </p:nvPr>
        </p:nvSpPr>
        <p:spPr/>
        <p:txBody>
          <a:bodyPr anchor="ctr"/>
          <a:lstStyle/>
          <a:p>
            <a:pPr marL="0" indent="0" algn="ctr">
              <a:buNone/>
              <a:defRPr/>
            </a:pPr>
            <a:r>
              <a:rPr lang="en-US" sz="2800" i="1" dirty="0">
                <a:solidFill>
                  <a:schemeClr val="tx2"/>
                </a:solidFill>
                <a:cs typeface="Arial" charset="0"/>
              </a:rPr>
              <a:t>Cash equivalents</a:t>
            </a:r>
            <a:r>
              <a:rPr lang="en-US" sz="2800" dirty="0">
                <a:cs typeface="Arial" charset="0"/>
              </a:rPr>
              <a:t> are highly liquid, </a:t>
            </a:r>
            <a:br>
              <a:rPr lang="en-US" sz="2800" dirty="0">
                <a:cs typeface="Arial" charset="0"/>
              </a:rPr>
            </a:br>
            <a:r>
              <a:rPr lang="en-US" sz="2800" dirty="0">
                <a:cs typeface="Arial" charset="0"/>
              </a:rPr>
              <a:t>short-term investments that can be </a:t>
            </a:r>
            <a:br>
              <a:rPr lang="en-US" sz="2800" dirty="0">
                <a:cs typeface="Arial" charset="0"/>
              </a:rPr>
            </a:br>
            <a:r>
              <a:rPr lang="en-US" sz="2800" dirty="0">
                <a:cs typeface="Arial" charset="0"/>
              </a:rPr>
              <a:t>converted into cash with little delay.</a:t>
            </a:r>
          </a:p>
          <a:p>
            <a:pPr marL="1612900" indent="-255588">
              <a:buFont typeface="Arial" panose="020B0604020202020204" pitchFamily="34" charset="0"/>
              <a:buChar char="−"/>
              <a:defRPr/>
            </a:pPr>
            <a:r>
              <a:rPr lang="en-US" altLang="en-US" sz="2800" dirty="0"/>
              <a:t>Money-market investments</a:t>
            </a:r>
          </a:p>
          <a:p>
            <a:pPr marL="1612900" indent="-255588">
              <a:buFont typeface="Arial" panose="020B0604020202020204" pitchFamily="34" charset="0"/>
              <a:buChar char="−"/>
              <a:defRPr/>
            </a:pPr>
            <a:r>
              <a:rPr lang="en-US" altLang="en-US" sz="2800" dirty="0"/>
              <a:t>Government treasury bills</a:t>
            </a:r>
            <a:endParaRPr lang="en-US" sz="2800" dirty="0"/>
          </a:p>
        </p:txBody>
      </p:sp>
    </p:spTree>
    <p:extLst>
      <p:ext uri="{BB962C8B-B14F-4D97-AF65-F5344CB8AC3E}">
        <p14:creationId xmlns:p14="http://schemas.microsoft.com/office/powerpoint/2010/main" val="432941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Two</a:t>
            </a:r>
          </a:p>
        </p:txBody>
      </p:sp>
      <p:sp>
        <p:nvSpPr>
          <p:cNvPr id="3" name="Content Placeholder 2"/>
          <p:cNvSpPr>
            <a:spLocks noGrp="1"/>
          </p:cNvSpPr>
          <p:nvPr>
            <p:ph type="subTitle" idx="1"/>
          </p:nvPr>
        </p:nvSpPr>
        <p:spPr/>
        <p:txBody>
          <a:bodyPr>
            <a:normAutofit lnSpcReduction="10000"/>
          </a:bodyPr>
          <a:lstStyle/>
          <a:p>
            <a:r>
              <a:rPr lang="en-US" altLang="en-US" b="1" dirty="0">
                <a:ea typeface="ＭＳ Ｐゴシック" pitchFamily="34" charset="-128"/>
              </a:rPr>
              <a:t>Explain </a:t>
            </a:r>
            <a:r>
              <a:rPr lang="en-US" altLang="en-US" dirty="0">
                <a:ea typeface="ＭＳ Ｐゴシック" pitchFamily="34" charset="-128"/>
              </a:rPr>
              <a:t>and </a:t>
            </a:r>
            <a:r>
              <a:rPr lang="en-US" altLang="en-US" b="1" dirty="0">
                <a:ea typeface="ＭＳ Ｐゴシック" pitchFamily="34" charset="-128"/>
              </a:rPr>
              <a:t>classify</a:t>
            </a:r>
            <a:r>
              <a:rPr lang="en-US" altLang="en-US" dirty="0">
                <a:ea typeface="ＭＳ Ｐゴシック" pitchFamily="34" charset="-128"/>
              </a:rPr>
              <a:t> cash flows from operating, investing, and financing activities</a:t>
            </a:r>
            <a:endParaRPr lang="en-US" dirty="0"/>
          </a:p>
        </p:txBody>
      </p:sp>
    </p:spTree>
    <p:extLst>
      <p:ext uri="{BB962C8B-B14F-4D97-AF65-F5344CB8AC3E}">
        <p14:creationId xmlns:p14="http://schemas.microsoft.com/office/powerpoint/2010/main" val="3687830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Cash Flow Activities</a:t>
            </a:r>
            <a:endParaRPr lang="en-US" dirty="0"/>
          </a:p>
        </p:txBody>
      </p:sp>
      <p:sp>
        <p:nvSpPr>
          <p:cNvPr id="4" name="Text Placeholder 3"/>
          <p:cNvSpPr>
            <a:spLocks noGrp="1"/>
          </p:cNvSpPr>
          <p:nvPr>
            <p:ph type="body" idx="1"/>
          </p:nvPr>
        </p:nvSpPr>
        <p:spPr>
          <a:xfrm>
            <a:off x="634696" y="1898145"/>
            <a:ext cx="2205329" cy="680001"/>
          </a:xfrm>
        </p:spPr>
        <p:txBody>
          <a:bodyPr/>
          <a:lstStyle/>
          <a:p>
            <a:pPr lvl="0"/>
            <a:r>
              <a:rPr lang="en-US" sz="2400" dirty="0"/>
              <a:t>Operating</a:t>
            </a:r>
          </a:p>
        </p:txBody>
      </p:sp>
      <p:sp>
        <p:nvSpPr>
          <p:cNvPr id="7" name="Content Placeholder 6"/>
          <p:cNvSpPr>
            <a:spLocks noGrp="1"/>
          </p:cNvSpPr>
          <p:nvPr>
            <p:ph sz="quarter" idx="4"/>
          </p:nvPr>
        </p:nvSpPr>
        <p:spPr>
          <a:xfrm>
            <a:off x="634696" y="2646862"/>
            <a:ext cx="2205329" cy="2382338"/>
          </a:xfrm>
          <a:noFill/>
        </p:spPr>
        <p:txBody>
          <a:bodyPr anchor="t"/>
          <a:lstStyle/>
          <a:p>
            <a:pPr lvl="0" algn="l">
              <a:buFont typeface="Arial" panose="020B0604020202020204" pitchFamily="34" charset="0"/>
              <a:buChar char="•"/>
            </a:pPr>
            <a:r>
              <a:rPr lang="en-US" sz="2000" dirty="0"/>
              <a:t>Comprise main revenue-producing transactions, resulting from net income</a:t>
            </a:r>
          </a:p>
        </p:txBody>
      </p:sp>
      <p:sp>
        <p:nvSpPr>
          <p:cNvPr id="5" name="Content Placeholder 4"/>
          <p:cNvSpPr>
            <a:spLocks noGrp="1"/>
          </p:cNvSpPr>
          <p:nvPr>
            <p:ph sz="half" idx="2"/>
          </p:nvPr>
        </p:nvSpPr>
        <p:spPr>
          <a:xfrm>
            <a:off x="3468610" y="1900905"/>
            <a:ext cx="2205329" cy="680001"/>
          </a:xfrm>
        </p:spPr>
        <p:txBody>
          <a:bodyPr/>
          <a:lstStyle/>
          <a:p>
            <a:pPr lvl="0"/>
            <a:r>
              <a:rPr lang="en-US" sz="2400" dirty="0"/>
              <a:t>Investing</a:t>
            </a:r>
          </a:p>
        </p:txBody>
      </p:sp>
      <p:sp>
        <p:nvSpPr>
          <p:cNvPr id="8" name="Content Placeholder 7"/>
          <p:cNvSpPr>
            <a:spLocks noGrp="1"/>
          </p:cNvSpPr>
          <p:nvPr>
            <p:ph sz="half" idx="13"/>
          </p:nvPr>
        </p:nvSpPr>
        <p:spPr>
          <a:xfrm>
            <a:off x="3466796" y="2646862"/>
            <a:ext cx="2205329" cy="2382338"/>
          </a:xfrm>
          <a:noFill/>
        </p:spPr>
        <p:txBody>
          <a:bodyPr anchor="t"/>
          <a:lstStyle/>
          <a:p>
            <a:pPr lvl="0" algn="l">
              <a:buFont typeface="Arial" panose="020B0604020202020204" pitchFamily="34" charset="0"/>
              <a:buChar char="•"/>
            </a:pPr>
            <a:r>
              <a:rPr lang="en-US" sz="2000" dirty="0"/>
              <a:t>Relate to long-term assets</a:t>
            </a:r>
          </a:p>
        </p:txBody>
      </p:sp>
      <p:sp>
        <p:nvSpPr>
          <p:cNvPr id="6" name="Text Placeholder 5"/>
          <p:cNvSpPr>
            <a:spLocks noGrp="1"/>
          </p:cNvSpPr>
          <p:nvPr>
            <p:ph type="body" sz="quarter" idx="3"/>
          </p:nvPr>
        </p:nvSpPr>
        <p:spPr>
          <a:xfrm>
            <a:off x="6303976" y="1898145"/>
            <a:ext cx="2205329" cy="680001"/>
          </a:xfrm>
        </p:spPr>
        <p:txBody>
          <a:bodyPr/>
          <a:lstStyle/>
          <a:p>
            <a:pPr lvl="0"/>
            <a:r>
              <a:rPr lang="en-US" sz="2400" dirty="0"/>
              <a:t>Financing</a:t>
            </a:r>
          </a:p>
        </p:txBody>
      </p:sp>
      <p:sp>
        <p:nvSpPr>
          <p:cNvPr id="9" name="Content Placeholder 8"/>
          <p:cNvSpPr>
            <a:spLocks noGrp="1"/>
          </p:cNvSpPr>
          <p:nvPr>
            <p:ph sz="quarter" idx="14"/>
          </p:nvPr>
        </p:nvSpPr>
        <p:spPr>
          <a:xfrm>
            <a:off x="6306154" y="2646862"/>
            <a:ext cx="2205329" cy="2382338"/>
          </a:xfrm>
          <a:noFill/>
        </p:spPr>
        <p:txBody>
          <a:bodyPr anchor="t"/>
          <a:lstStyle/>
          <a:p>
            <a:pPr lvl="0" algn="l">
              <a:buFont typeface="Arial" panose="020B0604020202020204" pitchFamily="34" charset="0"/>
              <a:buChar char="•"/>
            </a:pPr>
            <a:r>
              <a:rPr lang="en-IN" sz="2000" dirty="0"/>
              <a:t>Relate to long-term liabilities and owners’ equity</a:t>
            </a:r>
            <a:endParaRPr lang="en-US" sz="2000" dirty="0"/>
          </a:p>
        </p:txBody>
      </p:sp>
    </p:spTree>
    <p:extLst>
      <p:ext uri="{BB962C8B-B14F-4D97-AF65-F5344CB8AC3E}">
        <p14:creationId xmlns:p14="http://schemas.microsoft.com/office/powerpoint/2010/main" val="1091016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Relationship to Balance Sheet</a:t>
            </a:r>
            <a:endParaRPr lang="en-US" dirty="0"/>
          </a:p>
        </p:txBody>
      </p:sp>
      <p:sp>
        <p:nvSpPr>
          <p:cNvPr id="9" name="Content Placeholder 8"/>
          <p:cNvSpPr>
            <a:spLocks noGrp="1"/>
          </p:cNvSpPr>
          <p:nvPr>
            <p:ph sz="quarter" idx="14"/>
          </p:nvPr>
        </p:nvSpPr>
        <p:spPr>
          <a:xfrm>
            <a:off x="23855" y="2514600"/>
            <a:ext cx="1423945" cy="570797"/>
          </a:xfrm>
          <a:noFill/>
          <a:ln>
            <a:noFill/>
          </a:ln>
        </p:spPr>
        <p:txBody>
          <a:bodyPr>
            <a:normAutofit fontScale="92500" lnSpcReduction="20000"/>
          </a:bodyPr>
          <a:lstStyle/>
          <a:p>
            <a:pPr indent="0" algn="l"/>
            <a:r>
              <a:rPr lang="en-US" altLang="en-US" sz="1600" dirty="0"/>
              <a:t>Operating cash flows</a:t>
            </a:r>
            <a:endParaRPr lang="en-US" sz="1600" dirty="0"/>
          </a:p>
        </p:txBody>
      </p:sp>
      <p:cxnSp>
        <p:nvCxnSpPr>
          <p:cNvPr id="15" name="Straight Arrow Connector 14">
            <a:extLst>
              <a:ext uri="{C183D7F6-B498-43B3-948B-1728B52AA6E4}">
                <adec:decorative xmlns:adec="http://schemas.microsoft.com/office/drawing/2017/decorative" val="1"/>
              </a:ext>
            </a:extLst>
          </p:cNvPr>
          <p:cNvCxnSpPr>
            <a:cxnSpLocks/>
          </p:cNvCxnSpPr>
          <p:nvPr/>
        </p:nvCxnSpPr>
        <p:spPr>
          <a:xfrm>
            <a:off x="1295400" y="2819400"/>
            <a:ext cx="519878" cy="0"/>
          </a:xfrm>
          <a:prstGeom prst="straightConnector1">
            <a:avLst/>
          </a:prstGeom>
          <a:ln w="19050">
            <a:solidFill>
              <a:srgbClr val="007FA3"/>
            </a:solidFill>
            <a:tailEnd type="arrow"/>
          </a:ln>
        </p:spPr>
        <p:style>
          <a:lnRef idx="1">
            <a:schemeClr val="accent1"/>
          </a:lnRef>
          <a:fillRef idx="0">
            <a:schemeClr val="accent1"/>
          </a:fillRef>
          <a:effectRef idx="0">
            <a:schemeClr val="accent1"/>
          </a:effectRef>
          <a:fontRef idx="minor">
            <a:schemeClr val="tx1"/>
          </a:fontRef>
        </p:style>
      </p:cxnSp>
      <p:sp>
        <p:nvSpPr>
          <p:cNvPr id="4" name="Text Placeholder 3"/>
          <p:cNvSpPr>
            <a:spLocks noGrp="1"/>
          </p:cNvSpPr>
          <p:nvPr>
            <p:ph type="body" idx="1"/>
          </p:nvPr>
        </p:nvSpPr>
        <p:spPr>
          <a:xfrm>
            <a:off x="1850316" y="2422604"/>
            <a:ext cx="2376853" cy="731520"/>
          </a:xfrm>
        </p:spPr>
        <p:txBody>
          <a:bodyPr/>
          <a:lstStyle/>
          <a:p>
            <a:r>
              <a:rPr lang="en-US" sz="2000" dirty="0"/>
              <a:t>Current assets</a:t>
            </a:r>
            <a:endParaRPr lang="en-US" dirty="0"/>
          </a:p>
        </p:txBody>
      </p:sp>
      <p:sp>
        <p:nvSpPr>
          <p:cNvPr id="10" name="Content Placeholder 9"/>
          <p:cNvSpPr>
            <a:spLocks noGrp="1"/>
          </p:cNvSpPr>
          <p:nvPr>
            <p:ph sz="quarter" idx="15"/>
          </p:nvPr>
        </p:nvSpPr>
        <p:spPr>
          <a:xfrm>
            <a:off x="61308" y="3599426"/>
            <a:ext cx="1462692" cy="515374"/>
          </a:xfrm>
          <a:noFill/>
          <a:ln>
            <a:noFill/>
          </a:ln>
        </p:spPr>
        <p:txBody>
          <a:bodyPr>
            <a:normAutofit fontScale="77500" lnSpcReduction="20000"/>
          </a:bodyPr>
          <a:lstStyle/>
          <a:p>
            <a:pPr indent="0" algn="l"/>
            <a:r>
              <a:rPr lang="en-US" altLang="en-US" sz="1600" dirty="0"/>
              <a:t>Investing cash flows</a:t>
            </a:r>
            <a:endParaRPr lang="en-US" sz="1600" dirty="0"/>
          </a:p>
        </p:txBody>
      </p:sp>
      <p:sp>
        <p:nvSpPr>
          <p:cNvPr id="6" name="Text Placeholder 5"/>
          <p:cNvSpPr>
            <a:spLocks noGrp="1"/>
          </p:cNvSpPr>
          <p:nvPr>
            <p:ph type="body" sz="quarter" idx="3"/>
          </p:nvPr>
        </p:nvSpPr>
        <p:spPr>
          <a:xfrm>
            <a:off x="1850316" y="3150776"/>
            <a:ext cx="2379764" cy="1462278"/>
          </a:xfrm>
        </p:spPr>
        <p:txBody>
          <a:bodyPr/>
          <a:lstStyle/>
          <a:p>
            <a:r>
              <a:rPr lang="en-US" sz="2000" dirty="0"/>
              <a:t>Long-term assets</a:t>
            </a:r>
            <a:endParaRPr lang="en-US" dirty="0"/>
          </a:p>
        </p:txBody>
      </p:sp>
      <p:sp>
        <p:nvSpPr>
          <p:cNvPr id="5" name="Content Placeholder 4"/>
          <p:cNvSpPr>
            <a:spLocks noGrp="1"/>
          </p:cNvSpPr>
          <p:nvPr>
            <p:ph sz="half" idx="2"/>
          </p:nvPr>
        </p:nvSpPr>
        <p:spPr>
          <a:xfrm>
            <a:off x="4226762" y="2420473"/>
            <a:ext cx="2743200" cy="731520"/>
          </a:xfrm>
        </p:spPr>
        <p:txBody>
          <a:bodyPr/>
          <a:lstStyle/>
          <a:p>
            <a:r>
              <a:rPr lang="en-US" sz="2000" dirty="0"/>
              <a:t>Current liabilities</a:t>
            </a:r>
            <a:endParaRPr lang="en-US" dirty="0"/>
          </a:p>
        </p:txBody>
      </p:sp>
      <p:sp>
        <p:nvSpPr>
          <p:cNvPr id="7" name="Content Placeholder 6"/>
          <p:cNvSpPr>
            <a:spLocks noGrp="1"/>
          </p:cNvSpPr>
          <p:nvPr>
            <p:ph sz="quarter" idx="4"/>
          </p:nvPr>
        </p:nvSpPr>
        <p:spPr>
          <a:xfrm>
            <a:off x="4226762" y="3152394"/>
            <a:ext cx="2743200" cy="731520"/>
          </a:xfrm>
        </p:spPr>
        <p:txBody>
          <a:bodyPr/>
          <a:lstStyle/>
          <a:p>
            <a:r>
              <a:rPr lang="en-US" sz="2000" dirty="0"/>
              <a:t>Long-term liabilities</a:t>
            </a:r>
            <a:endParaRPr lang="en-US" dirty="0"/>
          </a:p>
        </p:txBody>
      </p:sp>
      <p:sp>
        <p:nvSpPr>
          <p:cNvPr id="8" name="Content Placeholder 7"/>
          <p:cNvSpPr>
            <a:spLocks noGrp="1"/>
          </p:cNvSpPr>
          <p:nvPr>
            <p:ph sz="half" idx="13"/>
          </p:nvPr>
        </p:nvSpPr>
        <p:spPr>
          <a:xfrm>
            <a:off x="4226762" y="3883764"/>
            <a:ext cx="2743200" cy="731520"/>
          </a:xfrm>
        </p:spPr>
        <p:txBody>
          <a:bodyPr/>
          <a:lstStyle/>
          <a:p>
            <a:r>
              <a:rPr lang="en-US" altLang="en-US" sz="2000" dirty="0">
                <a:latin typeface="+mn-ea"/>
              </a:rPr>
              <a:t>Owners</a:t>
            </a:r>
            <a:r>
              <a:rPr lang="ja-JP" altLang="en-US" sz="2000" dirty="0">
                <a:latin typeface="+mn-ea"/>
              </a:rPr>
              <a:t>’</a:t>
            </a:r>
            <a:r>
              <a:rPr lang="en-US" altLang="ja-JP" sz="2000" dirty="0">
                <a:latin typeface="+mn-ea"/>
              </a:rPr>
              <a:t> equity</a:t>
            </a:r>
            <a:endParaRPr lang="en-US" sz="2000" dirty="0">
              <a:latin typeface="+mn-ea"/>
            </a:endParaRPr>
          </a:p>
        </p:txBody>
      </p:sp>
      <p:sp>
        <p:nvSpPr>
          <p:cNvPr id="11" name="Content Placeholder 10"/>
          <p:cNvSpPr>
            <a:spLocks noGrp="1"/>
          </p:cNvSpPr>
          <p:nvPr>
            <p:ph sz="quarter" idx="16"/>
          </p:nvPr>
        </p:nvSpPr>
        <p:spPr>
          <a:xfrm>
            <a:off x="7415255" y="2685026"/>
            <a:ext cx="1500145" cy="515374"/>
          </a:xfrm>
          <a:noFill/>
          <a:ln>
            <a:noFill/>
          </a:ln>
        </p:spPr>
        <p:txBody>
          <a:bodyPr>
            <a:normAutofit fontScale="77500" lnSpcReduction="20000"/>
          </a:bodyPr>
          <a:lstStyle/>
          <a:p>
            <a:pPr indent="0" algn="l"/>
            <a:r>
              <a:rPr lang="en-US" altLang="en-US" sz="1600" dirty="0"/>
              <a:t>Operating cash flows</a:t>
            </a:r>
            <a:endParaRPr lang="en-US" sz="1600" dirty="0"/>
          </a:p>
        </p:txBody>
      </p:sp>
      <p:cxnSp>
        <p:nvCxnSpPr>
          <p:cNvPr id="21" name="Straight Arrow Connector 20">
            <a:extLst>
              <a:ext uri="{C183D7F6-B498-43B3-948B-1728B52AA6E4}">
                <adec:decorative xmlns:adec="http://schemas.microsoft.com/office/drawing/2017/decorative" val="1"/>
              </a:ext>
            </a:extLst>
          </p:cNvPr>
          <p:cNvCxnSpPr>
            <a:cxnSpLocks/>
          </p:cNvCxnSpPr>
          <p:nvPr/>
        </p:nvCxnSpPr>
        <p:spPr>
          <a:xfrm flipH="1" flipV="1">
            <a:off x="7010400" y="2743200"/>
            <a:ext cx="720513" cy="115488"/>
          </a:xfrm>
          <a:prstGeom prst="straightConnector1">
            <a:avLst/>
          </a:prstGeom>
          <a:ln w="19050">
            <a:solidFill>
              <a:srgbClr val="007FA3"/>
            </a:solidFill>
            <a:tailEnd type="arrow"/>
          </a:ln>
        </p:spPr>
        <p:style>
          <a:lnRef idx="1">
            <a:schemeClr val="accent1"/>
          </a:lnRef>
          <a:fillRef idx="0">
            <a:schemeClr val="accent1"/>
          </a:fillRef>
          <a:effectRef idx="0">
            <a:schemeClr val="accent1"/>
          </a:effectRef>
          <a:fontRef idx="minor">
            <a:schemeClr val="tx1"/>
          </a:fontRef>
        </p:style>
      </p:cxnSp>
      <p:sp>
        <p:nvSpPr>
          <p:cNvPr id="12" name="Content Placeholder 11"/>
          <p:cNvSpPr>
            <a:spLocks noGrp="1"/>
          </p:cNvSpPr>
          <p:nvPr>
            <p:ph sz="quarter" idx="17"/>
          </p:nvPr>
        </p:nvSpPr>
        <p:spPr>
          <a:xfrm>
            <a:off x="7391400" y="3352800"/>
            <a:ext cx="1447800" cy="515374"/>
          </a:xfrm>
          <a:noFill/>
          <a:ln>
            <a:noFill/>
          </a:ln>
        </p:spPr>
        <p:txBody>
          <a:bodyPr>
            <a:normAutofit fontScale="77500" lnSpcReduction="20000"/>
          </a:bodyPr>
          <a:lstStyle/>
          <a:p>
            <a:pPr indent="0"/>
            <a:r>
              <a:rPr lang="en-US" altLang="en-US" sz="1600" dirty="0"/>
              <a:t>Financing cash flows</a:t>
            </a:r>
            <a:endParaRPr lang="en-US" sz="1600" dirty="0"/>
          </a:p>
        </p:txBody>
      </p:sp>
      <p:cxnSp>
        <p:nvCxnSpPr>
          <p:cNvPr id="25" name="Straight Arrow Connector 24">
            <a:extLst>
              <a:ext uri="{C183D7F6-B498-43B3-948B-1728B52AA6E4}">
                <adec:decorative xmlns:adec="http://schemas.microsoft.com/office/drawing/2017/decorative" val="1"/>
              </a:ext>
            </a:extLst>
          </p:cNvPr>
          <p:cNvCxnSpPr>
            <a:cxnSpLocks/>
          </p:cNvCxnSpPr>
          <p:nvPr/>
        </p:nvCxnSpPr>
        <p:spPr>
          <a:xfrm flipH="1">
            <a:off x="7086600" y="3505200"/>
            <a:ext cx="613484" cy="0"/>
          </a:xfrm>
          <a:prstGeom prst="straightConnector1">
            <a:avLst/>
          </a:prstGeom>
          <a:ln w="19050">
            <a:solidFill>
              <a:srgbClr val="007FA3"/>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C183D7F6-B498-43B3-948B-1728B52AA6E4}">
                <adec:decorative xmlns:adec="http://schemas.microsoft.com/office/drawing/2017/decorative" val="1"/>
              </a:ext>
            </a:extLst>
          </p:cNvPr>
          <p:cNvCxnSpPr>
            <a:cxnSpLocks/>
          </p:cNvCxnSpPr>
          <p:nvPr/>
        </p:nvCxnSpPr>
        <p:spPr>
          <a:xfrm flipH="1">
            <a:off x="7036760" y="3868174"/>
            <a:ext cx="694153" cy="383208"/>
          </a:xfrm>
          <a:prstGeom prst="straightConnector1">
            <a:avLst/>
          </a:prstGeom>
          <a:ln w="19050">
            <a:solidFill>
              <a:srgbClr val="007FA3"/>
            </a:solidFill>
            <a:tailEnd type="arrow"/>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8B079C3F-4277-43D0-1CCD-C31739266B91}"/>
              </a:ext>
              <a:ext uri="{C183D7F6-B498-43B3-948B-1728B52AA6E4}">
                <adec:decorative xmlns:adec="http://schemas.microsoft.com/office/drawing/2017/decorative" val="1"/>
              </a:ext>
            </a:extLst>
          </p:cNvPr>
          <p:cNvCxnSpPr>
            <a:cxnSpLocks/>
          </p:cNvCxnSpPr>
          <p:nvPr/>
        </p:nvCxnSpPr>
        <p:spPr>
          <a:xfrm>
            <a:off x="1295400" y="3857416"/>
            <a:ext cx="519878" cy="0"/>
          </a:xfrm>
          <a:prstGeom prst="straightConnector1">
            <a:avLst/>
          </a:prstGeom>
          <a:ln w="19050">
            <a:solidFill>
              <a:srgbClr val="007FA3"/>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8008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Classifying Interest and Dividends</a:t>
            </a:r>
            <a:endParaRPr lang="en-US" dirty="0"/>
          </a:p>
        </p:txBody>
      </p:sp>
      <p:sp>
        <p:nvSpPr>
          <p:cNvPr id="3" name="Text Placeholder 2"/>
          <p:cNvSpPr>
            <a:spLocks noGrp="1"/>
          </p:cNvSpPr>
          <p:nvPr>
            <p:ph type="body" idx="1"/>
          </p:nvPr>
        </p:nvSpPr>
        <p:spPr>
          <a:xfrm>
            <a:off x="457200" y="1671575"/>
            <a:ext cx="4040982" cy="457200"/>
          </a:xfrm>
          <a:solidFill>
            <a:srgbClr val="C5F3FF"/>
          </a:solidFill>
          <a:ln>
            <a:solidFill>
              <a:srgbClr val="007FA3"/>
            </a:solidFill>
          </a:ln>
        </p:spPr>
        <p:txBody>
          <a:bodyPr anchor="ctr"/>
          <a:lstStyle/>
          <a:p>
            <a:pPr algn="ctr"/>
            <a:r>
              <a:rPr lang="en-US" sz="2000" b="1" dirty="0">
                <a:cs typeface="Arial" charset="0"/>
              </a:rPr>
              <a:t>ASPE</a:t>
            </a:r>
            <a:endParaRPr lang="en-US" sz="2000" b="1" dirty="0"/>
          </a:p>
        </p:txBody>
      </p:sp>
      <p:sp>
        <p:nvSpPr>
          <p:cNvPr id="4" name="Content Placeholder 3"/>
          <p:cNvSpPr>
            <a:spLocks noGrp="1"/>
          </p:cNvSpPr>
          <p:nvPr>
            <p:ph sz="half" idx="2"/>
          </p:nvPr>
        </p:nvSpPr>
        <p:spPr>
          <a:xfrm>
            <a:off x="457200" y="2182812"/>
            <a:ext cx="3870960" cy="2114868"/>
          </a:xfrm>
        </p:spPr>
        <p:txBody>
          <a:bodyPr/>
          <a:lstStyle/>
          <a:p>
            <a:pPr marL="0" indent="0">
              <a:buNone/>
            </a:pPr>
            <a:r>
              <a:rPr lang="en-US" dirty="0">
                <a:cs typeface="Arial" charset="0"/>
              </a:rPr>
              <a:t>Interest paid, and interest and dividends received are operating activities</a:t>
            </a:r>
          </a:p>
          <a:p>
            <a:pPr marL="0" indent="0">
              <a:buNone/>
            </a:pPr>
            <a:r>
              <a:rPr lang="en-US" dirty="0">
                <a:cs typeface="Arial" charset="0"/>
              </a:rPr>
              <a:t>Dividends paid are financing activities</a:t>
            </a:r>
            <a:endParaRPr lang="en-US" dirty="0"/>
          </a:p>
        </p:txBody>
      </p:sp>
      <p:sp>
        <p:nvSpPr>
          <p:cNvPr id="5" name="Text Placeholder 4"/>
          <p:cNvSpPr>
            <a:spLocks noGrp="1"/>
          </p:cNvSpPr>
          <p:nvPr>
            <p:ph type="body" sz="quarter" idx="3"/>
          </p:nvPr>
        </p:nvSpPr>
        <p:spPr>
          <a:xfrm>
            <a:off x="4629150" y="1671575"/>
            <a:ext cx="4057650" cy="457200"/>
          </a:xfrm>
          <a:solidFill>
            <a:srgbClr val="C5F3FF"/>
          </a:solidFill>
          <a:ln>
            <a:solidFill>
              <a:srgbClr val="007FA3"/>
            </a:solidFill>
          </a:ln>
        </p:spPr>
        <p:txBody>
          <a:bodyPr anchor="ctr"/>
          <a:lstStyle/>
          <a:p>
            <a:pPr algn="ctr"/>
            <a:r>
              <a:rPr lang="en-US" sz="2000" b="1" dirty="0">
                <a:cs typeface="Arial" charset="0"/>
              </a:rPr>
              <a:t>IFRS</a:t>
            </a:r>
            <a:endParaRPr lang="en-US" sz="2000" b="1" dirty="0"/>
          </a:p>
        </p:txBody>
      </p:sp>
      <p:sp>
        <p:nvSpPr>
          <p:cNvPr id="6" name="Content Placeholder 5"/>
          <p:cNvSpPr>
            <a:spLocks noGrp="1"/>
          </p:cNvSpPr>
          <p:nvPr>
            <p:ph sz="quarter" idx="4"/>
          </p:nvPr>
        </p:nvSpPr>
        <p:spPr>
          <a:xfrm>
            <a:off x="4629150" y="2182812"/>
            <a:ext cx="3742690" cy="2033588"/>
          </a:xfrm>
        </p:spPr>
        <p:txBody>
          <a:bodyPr/>
          <a:lstStyle/>
          <a:p>
            <a:pPr marL="0" indent="0">
              <a:buNone/>
            </a:pPr>
            <a:r>
              <a:rPr lang="en-US" dirty="0">
                <a:cs typeface="Arial" charset="0"/>
              </a:rPr>
              <a:t>Interest paid can be either operating or financing, as long as you are consistent</a:t>
            </a:r>
          </a:p>
          <a:p>
            <a:pPr marL="0" indent="0">
              <a:buNone/>
            </a:pPr>
            <a:r>
              <a:rPr lang="en-US" dirty="0">
                <a:cs typeface="Arial" charset="0"/>
              </a:rPr>
              <a:t>Dividends paid can be financing or operating</a:t>
            </a:r>
            <a:endParaRPr lang="en-US" dirty="0"/>
          </a:p>
        </p:txBody>
      </p:sp>
      <p:sp>
        <p:nvSpPr>
          <p:cNvPr id="7" name="TextBox 6">
            <a:extLst>
              <a:ext uri="{FF2B5EF4-FFF2-40B4-BE49-F238E27FC236}">
                <a16:creationId xmlns:a16="http://schemas.microsoft.com/office/drawing/2014/main" id="{C95F411E-0924-188C-6F4D-E4E0C9257990}"/>
              </a:ext>
            </a:extLst>
          </p:cNvPr>
          <p:cNvSpPr txBox="1"/>
          <p:nvPr/>
        </p:nvSpPr>
        <p:spPr>
          <a:xfrm>
            <a:off x="965200" y="4724761"/>
            <a:ext cx="6339840" cy="1323439"/>
          </a:xfrm>
          <a:prstGeom prst="rect">
            <a:avLst/>
          </a:prstGeom>
          <a:noFill/>
        </p:spPr>
        <p:txBody>
          <a:bodyPr wrap="square" rtlCol="0">
            <a:spAutoFit/>
          </a:bodyPr>
          <a:lstStyle/>
          <a:p>
            <a:pPr algn="ctr"/>
            <a:r>
              <a:rPr lang="en-CA" sz="2000" dirty="0">
                <a:latin typeface="Times New Roman" panose="02020603050405020304" pitchFamily="18" charset="0"/>
                <a:ea typeface="Times New Roman" panose="02020603050405020304" pitchFamily="18" charset="0"/>
              </a:rPr>
              <a:t>T</a:t>
            </a:r>
            <a:r>
              <a:rPr lang="en-CA" sz="2000" dirty="0">
                <a:effectLst/>
                <a:latin typeface="Times New Roman" panose="02020603050405020304" pitchFamily="18" charset="0"/>
                <a:ea typeface="Times New Roman" panose="02020603050405020304" pitchFamily="18" charset="0"/>
              </a:rPr>
              <a:t>extbook assumes </a:t>
            </a:r>
            <a:r>
              <a:rPr lang="en-CA" sz="2000" b="1" dirty="0">
                <a:effectLst/>
                <a:latin typeface="Times New Roman" panose="02020603050405020304" pitchFamily="18" charset="0"/>
                <a:ea typeface="Times New Roman" panose="02020603050405020304" pitchFamily="18" charset="0"/>
              </a:rPr>
              <a:t>interest paid and interest and dividends received</a:t>
            </a:r>
            <a:r>
              <a:rPr lang="en-CA" sz="2000" dirty="0">
                <a:effectLst/>
                <a:latin typeface="Times New Roman" panose="02020603050405020304" pitchFamily="18" charset="0"/>
                <a:ea typeface="Times New Roman" panose="02020603050405020304" pitchFamily="18" charset="0"/>
              </a:rPr>
              <a:t> as </a:t>
            </a:r>
            <a:r>
              <a:rPr lang="en-CA" sz="2000" b="1" dirty="0">
                <a:effectLst/>
                <a:latin typeface="Times New Roman" panose="02020603050405020304" pitchFamily="18" charset="0"/>
                <a:ea typeface="Times New Roman" panose="02020603050405020304" pitchFamily="18" charset="0"/>
              </a:rPr>
              <a:t>Operating activities </a:t>
            </a:r>
            <a:r>
              <a:rPr lang="en-CA" sz="2000" dirty="0">
                <a:effectLst/>
                <a:latin typeface="Times New Roman" panose="02020603050405020304" pitchFamily="18" charset="0"/>
                <a:ea typeface="Times New Roman" panose="02020603050405020304" pitchFamily="18" charset="0"/>
              </a:rPr>
              <a:t>and </a:t>
            </a:r>
            <a:r>
              <a:rPr lang="en-CA" sz="2000" b="1" dirty="0">
                <a:effectLst/>
                <a:latin typeface="Times New Roman" panose="02020603050405020304" pitchFamily="18" charset="0"/>
                <a:ea typeface="Times New Roman" panose="02020603050405020304" pitchFamily="18" charset="0"/>
              </a:rPr>
              <a:t>dividends paid </a:t>
            </a:r>
            <a:r>
              <a:rPr lang="en-CA" sz="2000" dirty="0">
                <a:effectLst/>
                <a:latin typeface="Times New Roman" panose="02020603050405020304" pitchFamily="18" charset="0"/>
                <a:ea typeface="Times New Roman" panose="02020603050405020304" pitchFamily="18" charset="0"/>
              </a:rPr>
              <a:t>as </a:t>
            </a:r>
            <a:r>
              <a:rPr lang="en-CA" sz="2000" b="1" dirty="0">
                <a:effectLst/>
                <a:latin typeface="Times New Roman" panose="02020603050405020304" pitchFamily="18" charset="0"/>
                <a:ea typeface="Times New Roman" panose="02020603050405020304" pitchFamily="18" charset="0"/>
              </a:rPr>
              <a:t>Financing activities </a:t>
            </a:r>
            <a:r>
              <a:rPr lang="en-CA" sz="2000" dirty="0">
                <a:effectLst/>
                <a:latin typeface="Times New Roman" panose="02020603050405020304" pitchFamily="18" charset="0"/>
                <a:ea typeface="Times New Roman" panose="02020603050405020304" pitchFamily="18" charset="0"/>
              </a:rPr>
              <a:t>(p. 480) so we will assume the same in AFM101</a:t>
            </a:r>
            <a:endParaRPr lang="en-US" sz="2000" dirty="0"/>
          </a:p>
        </p:txBody>
      </p:sp>
    </p:spTree>
    <p:extLst>
      <p:ext uri="{BB962C8B-B14F-4D97-AF65-F5344CB8AC3E}">
        <p14:creationId xmlns:p14="http://schemas.microsoft.com/office/powerpoint/2010/main" val="3415574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Formats for Cash Flow Statement</a:t>
            </a:r>
            <a:endParaRPr lang="en-US" dirty="0"/>
          </a:p>
        </p:txBody>
      </p:sp>
      <p:sp>
        <p:nvSpPr>
          <p:cNvPr id="4" name="Text Placeholder 3"/>
          <p:cNvSpPr>
            <a:spLocks noGrp="1"/>
          </p:cNvSpPr>
          <p:nvPr>
            <p:ph type="body" idx="1"/>
          </p:nvPr>
        </p:nvSpPr>
        <p:spPr>
          <a:xfrm>
            <a:off x="1447800" y="1716269"/>
            <a:ext cx="2743200" cy="1828800"/>
          </a:xfrm>
          <a:solidFill>
            <a:srgbClr val="007FA3"/>
          </a:solidFill>
          <a:ln>
            <a:solidFill>
              <a:srgbClr val="007FA3"/>
            </a:solidFill>
          </a:ln>
        </p:spPr>
        <p:txBody>
          <a:bodyPr/>
          <a:lstStyle/>
          <a:p>
            <a:r>
              <a:rPr lang="en-US" sz="3600" dirty="0">
                <a:solidFill>
                  <a:schemeClr val="bg1"/>
                </a:solidFill>
              </a:rPr>
              <a:t>Indirect</a:t>
            </a:r>
          </a:p>
        </p:txBody>
      </p:sp>
      <p:sp>
        <p:nvSpPr>
          <p:cNvPr id="9" name="Right Arrow 8"/>
          <p:cNvSpPr>
            <a:spLocks/>
          </p:cNvSpPr>
          <p:nvPr/>
        </p:nvSpPr>
        <p:spPr>
          <a:xfrm>
            <a:off x="4223004" y="1474115"/>
            <a:ext cx="3566160" cy="2286000"/>
          </a:xfrm>
          <a:prstGeom prst="rightArrow">
            <a:avLst/>
          </a:prstGeom>
          <a:solidFill>
            <a:srgbClr val="C5F3FF"/>
          </a:solidFill>
          <a:ln w="9525">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6" name="Text Placeholder 5"/>
          <p:cNvSpPr>
            <a:spLocks noGrp="1"/>
          </p:cNvSpPr>
          <p:nvPr>
            <p:ph type="body" sz="quarter" idx="3"/>
          </p:nvPr>
        </p:nvSpPr>
        <p:spPr>
          <a:xfrm>
            <a:off x="4223308" y="2057400"/>
            <a:ext cx="2743200" cy="1119629"/>
          </a:xfrm>
          <a:noFill/>
          <a:ln>
            <a:noFill/>
          </a:ln>
        </p:spPr>
        <p:txBody>
          <a:bodyPr/>
          <a:lstStyle/>
          <a:p>
            <a:pPr marL="256032" lvl="0" indent="-256032" algn="l">
              <a:buFont typeface="Arial" panose="020B0604020202020204" pitchFamily="34" charset="0"/>
              <a:buChar char="•"/>
            </a:pPr>
            <a:r>
              <a:rPr lang="en-US" sz="1600" dirty="0"/>
              <a:t>Reconciles from net income to cash provided by operating activities</a:t>
            </a:r>
          </a:p>
        </p:txBody>
      </p:sp>
      <p:sp>
        <p:nvSpPr>
          <p:cNvPr id="5" name="Content Placeholder 4"/>
          <p:cNvSpPr>
            <a:spLocks noGrp="1"/>
          </p:cNvSpPr>
          <p:nvPr>
            <p:ph sz="half" idx="2"/>
          </p:nvPr>
        </p:nvSpPr>
        <p:spPr>
          <a:xfrm>
            <a:off x="1512908" y="4157717"/>
            <a:ext cx="2743200" cy="1828800"/>
          </a:xfrm>
          <a:solidFill>
            <a:srgbClr val="007FA3"/>
          </a:solidFill>
        </p:spPr>
        <p:txBody>
          <a:bodyPr/>
          <a:lstStyle/>
          <a:p>
            <a:pPr marL="0" lvl="0" indent="0"/>
            <a:r>
              <a:rPr lang="en-US" sz="3600" dirty="0">
                <a:solidFill>
                  <a:schemeClr val="bg1"/>
                </a:solidFill>
              </a:rPr>
              <a:t>Direct</a:t>
            </a:r>
          </a:p>
        </p:txBody>
      </p:sp>
      <p:sp>
        <p:nvSpPr>
          <p:cNvPr id="10" name="Right Arrow 9"/>
          <p:cNvSpPr>
            <a:spLocks/>
          </p:cNvSpPr>
          <p:nvPr/>
        </p:nvSpPr>
        <p:spPr>
          <a:xfrm>
            <a:off x="4287605" y="3928458"/>
            <a:ext cx="3530851" cy="2286000"/>
          </a:xfrm>
          <a:prstGeom prst="rightArrow">
            <a:avLst/>
          </a:prstGeom>
          <a:solidFill>
            <a:srgbClr val="C5F3FF"/>
          </a:solidFill>
          <a:ln w="9525">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7" name="Content Placeholder 6"/>
          <p:cNvSpPr>
            <a:spLocks noGrp="1"/>
          </p:cNvSpPr>
          <p:nvPr>
            <p:ph sz="quarter" idx="4"/>
          </p:nvPr>
        </p:nvSpPr>
        <p:spPr>
          <a:xfrm>
            <a:off x="4261408" y="4495800"/>
            <a:ext cx="2901392" cy="1143000"/>
          </a:xfrm>
          <a:noFill/>
          <a:ln>
            <a:noFill/>
          </a:ln>
        </p:spPr>
        <p:txBody>
          <a:bodyPr/>
          <a:lstStyle/>
          <a:p>
            <a:pPr lvl="0" algn="l">
              <a:buFont typeface="Arial" panose="020B0604020202020204" pitchFamily="34" charset="0"/>
              <a:buChar char="•"/>
            </a:pPr>
            <a:r>
              <a:rPr lang="en-US" sz="1600" dirty="0"/>
              <a:t>Reports all cash receipts and cash payments from operating activities</a:t>
            </a:r>
          </a:p>
        </p:txBody>
      </p:sp>
      <p:sp>
        <p:nvSpPr>
          <p:cNvPr id="3" name="TextBox 2">
            <a:extLst>
              <a:ext uri="{FF2B5EF4-FFF2-40B4-BE49-F238E27FC236}">
                <a16:creationId xmlns:a16="http://schemas.microsoft.com/office/drawing/2014/main" id="{AC2E3AFB-300F-1100-5075-27D6245A785A}"/>
              </a:ext>
            </a:extLst>
          </p:cNvPr>
          <p:cNvSpPr txBox="1"/>
          <p:nvPr/>
        </p:nvSpPr>
        <p:spPr>
          <a:xfrm>
            <a:off x="269476" y="4882634"/>
            <a:ext cx="1056068" cy="369332"/>
          </a:xfrm>
          <a:prstGeom prst="rect">
            <a:avLst/>
          </a:prstGeom>
          <a:noFill/>
        </p:spPr>
        <p:txBody>
          <a:bodyPr wrap="square" rtlCol="0">
            <a:spAutoFit/>
          </a:bodyPr>
          <a:lstStyle/>
          <a:p>
            <a:r>
              <a:rPr lang="en-US" dirty="0"/>
              <a:t>OMIT</a:t>
            </a:r>
          </a:p>
        </p:txBody>
      </p:sp>
      <p:sp>
        <p:nvSpPr>
          <p:cNvPr id="8" name="Right Arrow 7">
            <a:extLst>
              <a:ext uri="{FF2B5EF4-FFF2-40B4-BE49-F238E27FC236}">
                <a16:creationId xmlns:a16="http://schemas.microsoft.com/office/drawing/2014/main" id="{448AE98A-A203-A264-8CC9-A510B4835EAF}"/>
              </a:ext>
            </a:extLst>
          </p:cNvPr>
          <p:cNvSpPr/>
          <p:nvPr/>
        </p:nvSpPr>
        <p:spPr>
          <a:xfrm>
            <a:off x="1059278" y="4897260"/>
            <a:ext cx="875764" cy="3547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2394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Three</a:t>
            </a:r>
          </a:p>
        </p:txBody>
      </p:sp>
      <p:sp>
        <p:nvSpPr>
          <p:cNvPr id="3" name="Content Placeholder 2"/>
          <p:cNvSpPr>
            <a:spLocks noGrp="1"/>
          </p:cNvSpPr>
          <p:nvPr>
            <p:ph type="subTitle" idx="1"/>
          </p:nvPr>
        </p:nvSpPr>
        <p:spPr/>
        <p:txBody>
          <a:bodyPr>
            <a:normAutofit fontScale="70000" lnSpcReduction="20000"/>
          </a:bodyPr>
          <a:lstStyle/>
          <a:p>
            <a:r>
              <a:rPr lang="en-US" altLang="en-US" b="1" dirty="0">
                <a:ea typeface="ＭＳ Ｐゴシック" pitchFamily="34" charset="-128"/>
              </a:rPr>
              <a:t>Prepare</a:t>
            </a:r>
            <a:r>
              <a:rPr lang="en-US" altLang="en-US" dirty="0">
                <a:ea typeface="ＭＳ Ｐゴシック" pitchFamily="34" charset="-128"/>
              </a:rPr>
              <a:t> a statement of cash flows using the indirect method of determining cash flows from operating activities</a:t>
            </a:r>
            <a:endParaRPr lang="en-US" dirty="0"/>
          </a:p>
        </p:txBody>
      </p:sp>
    </p:spTree>
    <p:extLst>
      <p:ext uri="{BB962C8B-B14F-4D97-AF65-F5344CB8AC3E}">
        <p14:creationId xmlns:p14="http://schemas.microsoft.com/office/powerpoint/2010/main" val="2218947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ea typeface="ＭＳ Ｐゴシック" pitchFamily="34" charset="-128"/>
              </a:rPr>
              <a:t>Finding Needed Amounts: Operating Activities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From the income statement</a:t>
            </a:r>
          </a:p>
          <a:p>
            <a:pPr lvl="1"/>
            <a:r>
              <a:rPr lang="en-US" altLang="en-US" dirty="0">
                <a:ea typeface="ＭＳ Ｐゴシック" pitchFamily="34" charset="-128"/>
              </a:rPr>
              <a:t>Net income</a:t>
            </a:r>
          </a:p>
          <a:p>
            <a:pPr lvl="1"/>
            <a:r>
              <a:rPr lang="en-US" altLang="en-US" dirty="0">
                <a:ea typeface="ＭＳ Ｐゴシック" pitchFamily="34" charset="-128"/>
              </a:rPr>
              <a:t>Depreciation and amortization expense</a:t>
            </a:r>
          </a:p>
          <a:p>
            <a:pPr lvl="1"/>
            <a:r>
              <a:rPr lang="en-US" altLang="en-US" dirty="0">
                <a:ea typeface="ＭＳ Ｐゴシック" pitchFamily="34" charset="-128"/>
              </a:rPr>
              <a:t>Gains and losses on sales of long-term assets</a:t>
            </a:r>
          </a:p>
          <a:p>
            <a:r>
              <a:rPr lang="en-US" altLang="en-US" dirty="0">
                <a:ea typeface="ＭＳ Ｐゴシック" pitchFamily="34" charset="-128"/>
              </a:rPr>
              <a:t>From the comparative balance sheets</a:t>
            </a:r>
          </a:p>
          <a:p>
            <a:pPr lvl="1"/>
            <a:r>
              <a:rPr lang="en-US" altLang="en-US" dirty="0">
                <a:ea typeface="ＭＳ Ｐゴシック" pitchFamily="34" charset="-128"/>
              </a:rPr>
              <a:t>Increase or decrease in each current asset (other than cash)</a:t>
            </a:r>
          </a:p>
          <a:p>
            <a:pPr lvl="1"/>
            <a:r>
              <a:rPr lang="en-US" altLang="en-US" dirty="0">
                <a:ea typeface="ＭＳ Ｐゴシック" pitchFamily="34" charset="-128"/>
              </a:rPr>
              <a:t>Increase or decrease in each current liability</a:t>
            </a:r>
            <a:endParaRPr lang="en-US" dirty="0"/>
          </a:p>
        </p:txBody>
      </p:sp>
    </p:spTree>
    <p:extLst>
      <p:ext uri="{BB962C8B-B14F-4D97-AF65-F5344CB8AC3E}">
        <p14:creationId xmlns:p14="http://schemas.microsoft.com/office/powerpoint/2010/main" val="3559814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Operating Activities</a:t>
            </a:r>
            <a:endParaRPr lang="en-US" dirty="0"/>
          </a:p>
        </p:txBody>
      </p:sp>
      <p:graphicFrame>
        <p:nvGraphicFramePr>
          <p:cNvPr id="4" name="Object 3" descr="Net income + depreciation and amortization minus gains on sales of long term assets minus increase in assets or decrease in current liabilities or net income + depreciation and amortization + losses on sales of long term assets + decrease in current assets or increase in current liabilities"/>
          <p:cNvGraphicFramePr>
            <a:graphicFrameLocks noChangeAspect="1"/>
          </p:cNvGraphicFramePr>
          <p:nvPr/>
        </p:nvGraphicFramePr>
        <p:xfrm>
          <a:off x="1354138" y="1722438"/>
          <a:ext cx="6435725" cy="4348162"/>
        </p:xfrm>
        <a:graphic>
          <a:graphicData uri="http://schemas.openxmlformats.org/presentationml/2006/ole">
            <mc:AlternateContent xmlns:mc="http://schemas.openxmlformats.org/markup-compatibility/2006">
              <mc:Choice xmlns:v="urn:schemas-microsoft-com:vml" Requires="v">
                <p:oleObj name="Equation" r:id="rId3" imgW="6134040" imgH="4140000" progId="Equation.DSMT4">
                  <p:embed/>
                </p:oleObj>
              </mc:Choice>
              <mc:Fallback>
                <p:oleObj name="Equation" r:id="rId3" imgW="6134040" imgH="4140000" progId="Equation.DSMT4">
                  <p:embed/>
                  <p:pic>
                    <p:nvPicPr>
                      <p:cNvPr id="4" name="Object 3" descr="Net income + depreciation and amortization minus gains on sales of long term assets minus increase in assets or decrease in current liabilities or net income + depreciation and amortization + losses on sales of long term assets + decrease in current assets or increase in current liabilities"/>
                      <p:cNvPicPr/>
                      <p:nvPr/>
                    </p:nvPicPr>
                    <p:blipFill>
                      <a:blip r:embed="rId4"/>
                      <a:stretch>
                        <a:fillRect/>
                      </a:stretch>
                    </p:blipFill>
                    <p:spPr>
                      <a:xfrm>
                        <a:off x="1354138" y="1722438"/>
                        <a:ext cx="6435725" cy="4348162"/>
                      </a:xfrm>
                      <a:prstGeom prst="rect">
                        <a:avLst/>
                      </a:prstGeom>
                    </p:spPr>
                  </p:pic>
                </p:oleObj>
              </mc:Fallback>
            </mc:AlternateContent>
          </a:graphicData>
        </a:graphic>
      </p:graphicFrame>
    </p:spTree>
    <p:extLst>
      <p:ext uri="{BB962C8B-B14F-4D97-AF65-F5344CB8AC3E}">
        <p14:creationId xmlns:p14="http://schemas.microsoft.com/office/powerpoint/2010/main" val="1752099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Cash Flow Template: Operating</a:t>
            </a:r>
            <a:endParaRPr lang="en-US" dirty="0"/>
          </a:p>
        </p:txBody>
      </p:sp>
      <p:graphicFrame>
        <p:nvGraphicFramePr>
          <p:cNvPr id="5" name="Content Placeholder 4">
            <a:extLst>
              <a:ext uri="{FF2B5EF4-FFF2-40B4-BE49-F238E27FC236}">
                <a16:creationId xmlns:a16="http://schemas.microsoft.com/office/drawing/2014/main" id="{FCD57944-F631-46A4-A104-E425556E4298}"/>
              </a:ext>
            </a:extLst>
          </p:cNvPr>
          <p:cNvGraphicFramePr>
            <a:graphicFrameLocks noGrp="1"/>
          </p:cNvGraphicFramePr>
          <p:nvPr>
            <p:ph idx="1"/>
          </p:nvPr>
        </p:nvGraphicFramePr>
        <p:xfrm>
          <a:off x="457200" y="1600200"/>
          <a:ext cx="8229600" cy="4348462"/>
        </p:xfrm>
        <a:graphic>
          <a:graphicData uri="http://schemas.openxmlformats.org/drawingml/2006/table">
            <a:tbl>
              <a:tblPr firstRow="1" bandRow="1">
                <a:tableStyleId>{3B4B98B0-60AC-42C2-AFA5-B58CD77FA1E5}</a:tableStyleId>
              </a:tblPr>
              <a:tblGrid>
                <a:gridCol w="533400">
                  <a:extLst>
                    <a:ext uri="{9D8B030D-6E8A-4147-A177-3AD203B41FA5}">
                      <a16:colId xmlns:a16="http://schemas.microsoft.com/office/drawing/2014/main" val="1680182573"/>
                    </a:ext>
                  </a:extLst>
                </a:gridCol>
                <a:gridCol w="7696200">
                  <a:extLst>
                    <a:ext uri="{9D8B030D-6E8A-4147-A177-3AD203B41FA5}">
                      <a16:colId xmlns:a16="http://schemas.microsoft.com/office/drawing/2014/main" val="4030253912"/>
                    </a:ext>
                  </a:extLst>
                </a:gridCol>
              </a:tblGrid>
              <a:tr h="370840">
                <a:tc gridSpan="2">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u="none" strike="noStrike" kern="1200" cap="none" normalizeH="0" baseline="0" dirty="0">
                          <a:ln>
                            <a:noFill/>
                          </a:ln>
                          <a:solidFill>
                            <a:schemeClr val="tx1"/>
                          </a:solidFill>
                          <a:effectLst/>
                          <a:latin typeface="+mn-lt"/>
                          <a:ea typeface="ＭＳ Ｐゴシック" pitchFamily="34" charset="-128"/>
                          <a:cs typeface="+mn-cs"/>
                        </a:rPr>
                        <a:t>Cash Flows From Operating Activities</a:t>
                      </a:r>
                    </a:p>
                  </a:txBody>
                  <a:tcPr marT="45711" marB="4571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extLst>
                  <a:ext uri="{0D108BD9-81ED-4DB2-BD59-A6C34878D82A}">
                    <a16:rowId xmlns:a16="http://schemas.microsoft.com/office/drawing/2014/main" val="3032462666"/>
                  </a:ext>
                </a:extLst>
              </a:tr>
              <a:tr h="370840">
                <a:tc gridSpan="2">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Net income</a:t>
                      </a:r>
                    </a:p>
                  </a:txBody>
                  <a:tcPr marT="45711" marB="4571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extLst>
                  <a:ext uri="{0D108BD9-81ED-4DB2-BD59-A6C34878D82A}">
                    <a16:rowId xmlns:a16="http://schemas.microsoft.com/office/drawing/2014/main" val="1636135884"/>
                  </a:ext>
                </a:extLst>
              </a:tr>
              <a:tr h="370840">
                <a:tc gridSpan="2">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Adjustments to reconcile net income to net cash provided by operating activities:</a:t>
                      </a:r>
                    </a:p>
                  </a:txBody>
                  <a:tcPr marT="45711" marB="4571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extLst>
                  <a:ext uri="{0D108BD9-81ED-4DB2-BD59-A6C34878D82A}">
                    <a16:rowId xmlns:a16="http://schemas.microsoft.com/office/drawing/2014/main" val="2430672362"/>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11" marB="4571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Depreciation/depletion/amortization expense</a:t>
                      </a:r>
                    </a:p>
                  </a:txBody>
                  <a:tcPr marT="45711" marB="45711"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1349072"/>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11" marB="4571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Loss on sale of long-term assets</a:t>
                      </a:r>
                    </a:p>
                  </a:txBody>
                  <a:tcPr marT="45711" marB="45711"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7134672"/>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11" marB="4571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Gain on sale of long-term assets</a:t>
                      </a:r>
                    </a:p>
                  </a:txBody>
                  <a:tcPr marT="45711" marB="45711"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87919460"/>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11" marB="4571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Increases in current assets other than cash</a:t>
                      </a:r>
                    </a:p>
                  </a:txBody>
                  <a:tcPr marT="45711" marB="45711"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57524949"/>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11" marB="4571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Decreases in current assets other than cash</a:t>
                      </a:r>
                    </a:p>
                  </a:txBody>
                  <a:tcPr marT="45711" marB="45711"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12678268"/>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11" marB="4571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Increases in current liabilities</a:t>
                      </a:r>
                    </a:p>
                  </a:txBody>
                  <a:tcPr marT="45711" marB="45711"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5814585"/>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11" marB="4571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Decreases in current liabilities</a:t>
                      </a:r>
                    </a:p>
                  </a:txBody>
                  <a:tcPr marT="45711" marB="45711"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2553732"/>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11" marB="4571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IN" altLang="en-US" sz="1800" b="1" u="none" strike="noStrike" kern="1200" cap="none" normalizeH="0" baseline="0" dirty="0">
                          <a:ln>
                            <a:noFill/>
                          </a:ln>
                          <a:solidFill>
                            <a:schemeClr val="tx1"/>
                          </a:solidFill>
                          <a:effectLst/>
                          <a:latin typeface="+mn-lt"/>
                          <a:ea typeface="ＭＳ Ｐゴシック" pitchFamily="34" charset="-128"/>
                          <a:cs typeface="+mn-cs"/>
                        </a:rPr>
                        <a:t>Net cash provided by (used for) operating activities</a:t>
                      </a:r>
                      <a:endParaRPr kumimoji="0" lang="en-US" altLang="en-US" sz="1800" b="1" u="none" strike="noStrike" kern="1200" cap="none" normalizeH="0" baseline="0" dirty="0">
                        <a:ln>
                          <a:noFill/>
                        </a:ln>
                        <a:solidFill>
                          <a:schemeClr val="tx1"/>
                        </a:solidFill>
                        <a:effectLst/>
                        <a:latin typeface="+mn-lt"/>
                        <a:ea typeface="ＭＳ Ｐゴシック" pitchFamily="34" charset="-128"/>
                        <a:cs typeface="+mn-cs"/>
                      </a:endParaRPr>
                    </a:p>
                  </a:txBody>
                  <a:tcPr marT="45711" marB="45711"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589787"/>
                  </a:ext>
                </a:extLst>
              </a:tr>
            </a:tbl>
          </a:graphicData>
        </a:graphic>
      </p:graphicFrame>
    </p:spTree>
    <p:extLst>
      <p:ext uri="{BB962C8B-B14F-4D97-AF65-F5344CB8AC3E}">
        <p14:creationId xmlns:p14="http://schemas.microsoft.com/office/powerpoint/2010/main" val="3960886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Cash Flow Template: Investing</a:t>
            </a:r>
            <a:endParaRPr lang="en-US" dirty="0"/>
          </a:p>
        </p:txBody>
      </p:sp>
      <p:graphicFrame>
        <p:nvGraphicFramePr>
          <p:cNvPr id="5" name="Content Placeholder 4">
            <a:extLst>
              <a:ext uri="{FF2B5EF4-FFF2-40B4-BE49-F238E27FC236}">
                <a16:creationId xmlns:a16="http://schemas.microsoft.com/office/drawing/2014/main" id="{DD9D4A7F-4F64-4DD0-B238-5933571BB6E4}"/>
              </a:ext>
            </a:extLst>
          </p:cNvPr>
          <p:cNvGraphicFramePr>
            <a:graphicFrameLocks noGrp="1"/>
          </p:cNvGraphicFramePr>
          <p:nvPr>
            <p:ph idx="1"/>
          </p:nvPr>
        </p:nvGraphicFramePr>
        <p:xfrm>
          <a:off x="457200" y="1833880"/>
          <a:ext cx="8229600" cy="2966720"/>
        </p:xfrm>
        <a:graphic>
          <a:graphicData uri="http://schemas.openxmlformats.org/drawingml/2006/table">
            <a:tbl>
              <a:tblPr firstRow="1" bandRow="1">
                <a:tableStyleId>{3B4B98B0-60AC-42C2-AFA5-B58CD77FA1E5}</a:tableStyleId>
              </a:tblPr>
              <a:tblGrid>
                <a:gridCol w="533400">
                  <a:extLst>
                    <a:ext uri="{9D8B030D-6E8A-4147-A177-3AD203B41FA5}">
                      <a16:colId xmlns:a16="http://schemas.microsoft.com/office/drawing/2014/main" val="3632960713"/>
                    </a:ext>
                  </a:extLst>
                </a:gridCol>
                <a:gridCol w="7696200">
                  <a:extLst>
                    <a:ext uri="{9D8B030D-6E8A-4147-A177-3AD203B41FA5}">
                      <a16:colId xmlns:a16="http://schemas.microsoft.com/office/drawing/2014/main" val="634718145"/>
                    </a:ext>
                  </a:extLst>
                </a:gridCol>
              </a:tblGrid>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u="none" strike="noStrike" kern="1200" cap="none" normalizeH="0" baseline="0" dirty="0">
                          <a:ln>
                            <a:noFill/>
                          </a:ln>
                          <a:solidFill>
                            <a:schemeClr val="tx1"/>
                          </a:solidFill>
                          <a:effectLst/>
                          <a:latin typeface="+mn-lt"/>
                          <a:ea typeface="ＭＳ Ｐゴシック" pitchFamily="34" charset="-128"/>
                          <a:cs typeface="+mn-cs"/>
                        </a:rPr>
                        <a:t>Cash Flows from Investing Activities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extLst>
                  <a:ext uri="{0D108BD9-81ED-4DB2-BD59-A6C34878D82A}">
                    <a16:rowId xmlns:a16="http://schemas.microsoft.com/office/drawing/2014/main" val="1880684082"/>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06" marB="45706"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Sales of long-term assets</a:t>
                      </a:r>
                    </a:p>
                  </a:txBody>
                  <a:tcPr marT="45706" marB="45706"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8035975"/>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06" marB="45706"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Purchases of long-term assets</a:t>
                      </a:r>
                    </a:p>
                  </a:txBody>
                  <a:tcPr marT="45706" marB="45706"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62428219"/>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06" marB="45706"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Sale of investments</a:t>
                      </a:r>
                    </a:p>
                  </a:txBody>
                  <a:tcPr marT="45706" marB="45706"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22340161"/>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06" marB="45706"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Purchase of investments</a:t>
                      </a:r>
                    </a:p>
                  </a:txBody>
                  <a:tcPr marT="45706" marB="45706"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53068267"/>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06" marB="45706"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Collections of notes receivable</a:t>
                      </a:r>
                    </a:p>
                  </a:txBody>
                  <a:tcPr marT="45706" marB="45706"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6596812"/>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06" marB="45706"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Loans to others</a:t>
                      </a:r>
                    </a:p>
                  </a:txBody>
                  <a:tcPr marT="45706" marB="45706"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8785756"/>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06" marB="45706"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u="none" strike="noStrike" kern="1200" cap="none" normalizeH="0" baseline="0" dirty="0">
                          <a:ln>
                            <a:noFill/>
                          </a:ln>
                          <a:solidFill>
                            <a:schemeClr val="tx1"/>
                          </a:solidFill>
                          <a:effectLst/>
                          <a:latin typeface="+mn-lt"/>
                          <a:ea typeface="ＭＳ Ｐゴシック" pitchFamily="34" charset="-128"/>
                          <a:cs typeface="+mn-cs"/>
                        </a:rPr>
                        <a:t>Net cash provided by (used for) investing activities</a:t>
                      </a:r>
                    </a:p>
                  </a:txBody>
                  <a:tcPr marT="45706" marB="45706"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1650626"/>
                  </a:ext>
                </a:extLst>
              </a:tr>
            </a:tbl>
          </a:graphicData>
        </a:graphic>
      </p:graphicFrame>
    </p:spTree>
    <p:extLst>
      <p:ext uri="{BB962C8B-B14F-4D97-AF65-F5344CB8AC3E}">
        <p14:creationId xmlns:p14="http://schemas.microsoft.com/office/powerpoint/2010/main" val="47637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Cash Flow Template: Financing</a:t>
            </a:r>
            <a:endParaRPr lang="en-US" dirty="0"/>
          </a:p>
        </p:txBody>
      </p:sp>
      <p:graphicFrame>
        <p:nvGraphicFramePr>
          <p:cNvPr id="5" name="Content Placeholder 4">
            <a:extLst>
              <a:ext uri="{FF2B5EF4-FFF2-40B4-BE49-F238E27FC236}">
                <a16:creationId xmlns:a16="http://schemas.microsoft.com/office/drawing/2014/main" id="{F4733C84-D207-4170-AE7B-0C5CC6CE46B3}"/>
              </a:ext>
            </a:extLst>
          </p:cNvPr>
          <p:cNvGraphicFramePr>
            <a:graphicFrameLocks noGrp="1"/>
          </p:cNvGraphicFramePr>
          <p:nvPr>
            <p:ph idx="1"/>
          </p:nvPr>
        </p:nvGraphicFramePr>
        <p:xfrm>
          <a:off x="457200" y="1600200"/>
          <a:ext cx="8229600" cy="2595880"/>
        </p:xfrm>
        <a:graphic>
          <a:graphicData uri="http://schemas.openxmlformats.org/drawingml/2006/table">
            <a:tbl>
              <a:tblPr firstRow="1" bandRow="1">
                <a:tableStyleId>{3B4B98B0-60AC-42C2-AFA5-B58CD77FA1E5}</a:tableStyleId>
              </a:tblPr>
              <a:tblGrid>
                <a:gridCol w="609600">
                  <a:extLst>
                    <a:ext uri="{9D8B030D-6E8A-4147-A177-3AD203B41FA5}">
                      <a16:colId xmlns:a16="http://schemas.microsoft.com/office/drawing/2014/main" val="1914969493"/>
                    </a:ext>
                  </a:extLst>
                </a:gridCol>
                <a:gridCol w="7620000">
                  <a:extLst>
                    <a:ext uri="{9D8B030D-6E8A-4147-A177-3AD203B41FA5}">
                      <a16:colId xmlns:a16="http://schemas.microsoft.com/office/drawing/2014/main" val="1314545847"/>
                    </a:ext>
                  </a:extLst>
                </a:gridCol>
              </a:tblGrid>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u="none" strike="noStrike" cap="none" normalizeH="0" baseline="0" dirty="0">
                          <a:ln>
                            <a:noFill/>
                          </a:ln>
                          <a:effectLst/>
                          <a:latin typeface="+mn-lt"/>
                        </a:rPr>
                        <a:t>Cash Flows from Financing Activities</a:t>
                      </a:r>
                      <a:endParaRPr kumimoji="0" lang="en-US" altLang="en-US" sz="1800" b="1" i="0" u="none" strike="noStrike" cap="none" normalizeH="0" baseline="0" dirty="0">
                        <a:ln>
                          <a:noFill/>
                        </a:ln>
                        <a:solidFill>
                          <a:srgbClr val="FFFFFF"/>
                        </a:solidFill>
                        <a:effectLst/>
                        <a:latin typeface="+mn-lt"/>
                        <a:ea typeface="ＭＳ Ｐゴシック"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extLst>
                  <a:ext uri="{0D108BD9-81ED-4DB2-BD59-A6C34878D82A}">
                    <a16:rowId xmlns:a16="http://schemas.microsoft.com/office/drawing/2014/main" val="3024616409"/>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a:t>
                      </a:r>
                      <a:endParaRPr kumimoji="0" lang="en-US" altLang="en-US" sz="1800" b="1" i="0" u="none" strike="noStrike" cap="none" normalizeH="0" baseline="0" dirty="0">
                        <a:ln>
                          <a:noFill/>
                        </a:ln>
                        <a:solidFill>
                          <a:srgbClr val="000000"/>
                        </a:solidFill>
                        <a:effectLst/>
                        <a:latin typeface="+mn-lt"/>
                        <a:ea typeface="ＭＳ Ｐゴシック" pitchFamily="34" charset="-128"/>
                      </a:endParaRPr>
                    </a:p>
                  </a:txBody>
                  <a:tcPr marT="45721" marB="4572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Issuance of shares</a:t>
                      </a:r>
                      <a:endParaRPr kumimoji="0" lang="en-US" altLang="en-US" sz="1800" b="0" i="0" u="none" strike="noStrike" cap="none" normalizeH="0" baseline="0" dirty="0">
                        <a:ln>
                          <a:noFill/>
                        </a:ln>
                        <a:solidFill>
                          <a:srgbClr val="000000"/>
                        </a:solidFill>
                        <a:effectLst/>
                        <a:latin typeface="+mn-lt"/>
                        <a:ea typeface="ＭＳ Ｐゴシック" pitchFamily="34" charset="-128"/>
                      </a:endParaRPr>
                    </a:p>
                  </a:txBody>
                  <a:tcPr marT="45721" marB="4572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5561933"/>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21" marB="4572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Repurchase of shares</a:t>
                      </a:r>
                      <a:endParaRPr kumimoji="0" lang="en-US" altLang="en-US" sz="1800" b="0" i="0" u="none" strike="noStrike" cap="none" normalizeH="0" baseline="0" dirty="0">
                        <a:ln>
                          <a:noFill/>
                        </a:ln>
                        <a:solidFill>
                          <a:srgbClr val="000000"/>
                        </a:solidFill>
                        <a:effectLst/>
                        <a:latin typeface="+mn-lt"/>
                        <a:ea typeface="ＭＳ Ｐゴシック" pitchFamily="34" charset="-128"/>
                      </a:endParaRPr>
                    </a:p>
                  </a:txBody>
                  <a:tcPr marT="45721" marB="4572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2257431"/>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 </a:t>
                      </a:r>
                      <a:endParaRPr kumimoji="0" lang="en-US" altLang="en-US" sz="1800" b="1" i="0" u="none" strike="noStrike" cap="none" normalizeH="0" baseline="0" dirty="0">
                        <a:ln>
                          <a:noFill/>
                        </a:ln>
                        <a:solidFill>
                          <a:srgbClr val="000000"/>
                        </a:solidFill>
                        <a:effectLst/>
                        <a:latin typeface="+mn-lt"/>
                        <a:ea typeface="ＭＳ Ｐゴシック" pitchFamily="34" charset="-128"/>
                      </a:endParaRPr>
                    </a:p>
                  </a:txBody>
                  <a:tcPr marT="45721" marB="4572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Borrowing</a:t>
                      </a:r>
                      <a:endParaRPr kumimoji="0" lang="en-US" altLang="en-US" sz="1800" b="0" i="0" u="none" strike="noStrike" cap="none" normalizeH="0" baseline="0" dirty="0">
                        <a:ln>
                          <a:noFill/>
                        </a:ln>
                        <a:solidFill>
                          <a:srgbClr val="000000"/>
                        </a:solidFill>
                        <a:effectLst/>
                        <a:latin typeface="+mn-lt"/>
                        <a:ea typeface="ＭＳ Ｐゴシック" pitchFamily="34" charset="-128"/>
                      </a:endParaRPr>
                    </a:p>
                  </a:txBody>
                  <a:tcPr marT="45721" marB="4572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51167334"/>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a:t>
                      </a:r>
                    </a:p>
                  </a:txBody>
                  <a:tcPr marT="45721" marB="4572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Payment of notes and bonds payable</a:t>
                      </a:r>
                      <a:endParaRPr kumimoji="0" lang="en-US" altLang="en-US" sz="1800" b="0" i="0" u="none" strike="noStrike" cap="none" normalizeH="0" baseline="0" dirty="0">
                        <a:ln>
                          <a:noFill/>
                        </a:ln>
                        <a:solidFill>
                          <a:srgbClr val="000000"/>
                        </a:solidFill>
                        <a:effectLst/>
                        <a:latin typeface="+mn-lt"/>
                        <a:ea typeface="ＭＳ Ｐゴシック" pitchFamily="34" charset="-128"/>
                      </a:endParaRPr>
                    </a:p>
                  </a:txBody>
                  <a:tcPr marT="45721" marB="4572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1199206"/>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 </a:t>
                      </a:r>
                    </a:p>
                  </a:txBody>
                  <a:tcPr marT="45721" marB="4572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Payment of dividends</a:t>
                      </a:r>
                      <a:endParaRPr kumimoji="0" lang="en-US" altLang="en-US" sz="1800" b="0" i="0" u="none" strike="noStrike" cap="none" normalizeH="0" baseline="0" dirty="0">
                        <a:ln>
                          <a:noFill/>
                        </a:ln>
                        <a:solidFill>
                          <a:srgbClr val="000000"/>
                        </a:solidFill>
                        <a:effectLst/>
                        <a:latin typeface="+mn-lt"/>
                        <a:ea typeface="ＭＳ Ｐゴシック" pitchFamily="34" charset="-128"/>
                      </a:endParaRPr>
                    </a:p>
                  </a:txBody>
                  <a:tcPr marT="45721" marB="4572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0207266"/>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rgbClr val="000000"/>
                        </a:solidFill>
                        <a:effectLst/>
                        <a:latin typeface="+mn-lt"/>
                        <a:ea typeface="ＭＳ Ｐゴシック" pitchFamily="34" charset="-128"/>
                      </a:endParaRPr>
                    </a:p>
                  </a:txBody>
                  <a:tcPr marT="45721" marB="4572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u="none" strike="noStrike" cap="none" normalizeH="0" baseline="0" dirty="0">
                          <a:ln>
                            <a:noFill/>
                          </a:ln>
                          <a:effectLst/>
                          <a:latin typeface="+mn-lt"/>
                        </a:rPr>
                        <a:t>Net cash provided by (used in) financing activities</a:t>
                      </a:r>
                      <a:endParaRPr kumimoji="0" lang="en-US" altLang="en-US" sz="1800" b="1" i="0" u="none" strike="noStrike" cap="none" normalizeH="0" baseline="0" dirty="0">
                        <a:ln>
                          <a:noFill/>
                        </a:ln>
                        <a:solidFill>
                          <a:srgbClr val="000000"/>
                        </a:solidFill>
                        <a:effectLst/>
                        <a:latin typeface="+mn-lt"/>
                        <a:ea typeface="ＭＳ Ｐゴシック" pitchFamily="34" charset="-128"/>
                      </a:endParaRPr>
                    </a:p>
                  </a:txBody>
                  <a:tcPr marT="45721" marB="4572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8979393"/>
                  </a:ext>
                </a:extLst>
              </a:tr>
            </a:tbl>
          </a:graphicData>
        </a:graphic>
      </p:graphicFrame>
    </p:spTree>
    <p:extLst>
      <p:ext uri="{BB962C8B-B14F-4D97-AF65-F5344CB8AC3E}">
        <p14:creationId xmlns:p14="http://schemas.microsoft.com/office/powerpoint/2010/main" val="1902898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Example Exercise</a:t>
            </a:r>
            <a:endParaRPr lang="en-US" dirty="0"/>
          </a:p>
        </p:txBody>
      </p:sp>
      <p:graphicFrame>
        <p:nvGraphicFramePr>
          <p:cNvPr id="5" name="Content Placeholder 4">
            <a:extLst>
              <a:ext uri="{FF2B5EF4-FFF2-40B4-BE49-F238E27FC236}">
                <a16:creationId xmlns:a16="http://schemas.microsoft.com/office/drawing/2014/main" id="{DACA5A32-CF9E-457B-954A-A1DF3FA3414A}"/>
              </a:ext>
            </a:extLst>
          </p:cNvPr>
          <p:cNvGraphicFramePr>
            <a:graphicFrameLocks noGrp="1"/>
          </p:cNvGraphicFramePr>
          <p:nvPr>
            <p:ph idx="1"/>
            <p:extLst>
              <p:ext uri="{D42A27DB-BD31-4B8C-83A1-F6EECF244321}">
                <p14:modId xmlns:p14="http://schemas.microsoft.com/office/powerpoint/2010/main" val="3821605192"/>
              </p:ext>
            </p:extLst>
          </p:nvPr>
        </p:nvGraphicFramePr>
        <p:xfrm>
          <a:off x="457200" y="1854200"/>
          <a:ext cx="8229600" cy="3708400"/>
        </p:xfrm>
        <a:graphic>
          <a:graphicData uri="http://schemas.openxmlformats.org/drawingml/2006/table">
            <a:tbl>
              <a:tblPr firstRow="1" bandRow="1">
                <a:tableStyleId>{3B4B98B0-60AC-42C2-AFA5-B58CD77FA1E5}</a:tableStyleId>
              </a:tblPr>
              <a:tblGrid>
                <a:gridCol w="609600">
                  <a:extLst>
                    <a:ext uri="{9D8B030D-6E8A-4147-A177-3AD203B41FA5}">
                      <a16:colId xmlns:a16="http://schemas.microsoft.com/office/drawing/2014/main" val="1723636918"/>
                    </a:ext>
                  </a:extLst>
                </a:gridCol>
                <a:gridCol w="6934200">
                  <a:extLst>
                    <a:ext uri="{9D8B030D-6E8A-4147-A177-3AD203B41FA5}">
                      <a16:colId xmlns:a16="http://schemas.microsoft.com/office/drawing/2014/main" val="2405171425"/>
                    </a:ext>
                  </a:extLst>
                </a:gridCol>
                <a:gridCol w="685800">
                  <a:extLst>
                    <a:ext uri="{9D8B030D-6E8A-4147-A177-3AD203B41FA5}">
                      <a16:colId xmlns:a16="http://schemas.microsoft.com/office/drawing/2014/main" val="2228680332"/>
                    </a:ext>
                  </a:extLst>
                </a:gridCol>
              </a:tblGrid>
              <a:tr h="370840">
                <a:tc>
                  <a:txBody>
                    <a:bodyPr/>
                    <a:lstStyle/>
                    <a:p>
                      <a:pPr algn="ctr"/>
                      <a:r>
                        <a:rPr lang="en-US" sz="1800" b="0" dirty="0">
                          <a:latin typeface="+mn-lt"/>
                        </a:rPr>
                        <a:t>A</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b="0" dirty="0">
                          <a:latin typeface="+mn-lt"/>
                        </a:rPr>
                        <a:t>Sale of long-term investment</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b="0" dirty="0">
                        <a:latin typeface="+mn-lt"/>
                        <a:ea typeface="+mn-ea"/>
                        <a:cs typeface="Arial" charset="0"/>
                      </a:endParaRPr>
                    </a:p>
                  </a:txBody>
                  <a:tcPr marL="91435" marR="91435">
                    <a:lnL w="6350" cap="flat" cmpd="sng" algn="ctr">
                      <a:solidFill>
                        <a:schemeClr val="tx1"/>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06653162"/>
                  </a:ext>
                </a:extLst>
              </a:tr>
              <a:tr h="370840">
                <a:tc>
                  <a:txBody>
                    <a:bodyPr/>
                    <a:lstStyle/>
                    <a:p>
                      <a:pPr algn="ctr"/>
                      <a:r>
                        <a:rPr lang="en-US" sz="1800" dirty="0">
                          <a:latin typeface="+mn-lt"/>
                        </a:rPr>
                        <a:t>B</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dirty="0">
                          <a:latin typeface="+mn-lt"/>
                        </a:rPr>
                        <a:t>Issuance</a:t>
                      </a:r>
                      <a:r>
                        <a:rPr lang="en-US" sz="1800" baseline="0" dirty="0">
                          <a:latin typeface="+mn-lt"/>
                        </a:rPr>
                        <a:t> of long-term note payable to borrow cash</a:t>
                      </a:r>
                      <a:endParaRPr lang="en-US" sz="1800" dirty="0">
                        <a:latin typeface="+mn-lt"/>
                      </a:endParaRP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a typeface="+mn-ea"/>
                        <a:cs typeface="Arial" charset="0"/>
                      </a:endParaRPr>
                    </a:p>
                  </a:txBody>
                  <a:tcPr marL="91435" marR="91435">
                    <a:lnL w="6350" cap="flat" cmpd="sng" algn="ctr">
                      <a:solidFill>
                        <a:schemeClr val="tx1"/>
                      </a:solid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751145"/>
                  </a:ext>
                </a:extLst>
              </a:tr>
              <a:tr h="370840">
                <a:tc>
                  <a:txBody>
                    <a:bodyPr/>
                    <a:lstStyle/>
                    <a:p>
                      <a:pPr algn="ctr"/>
                      <a:r>
                        <a:rPr lang="en-US" sz="1800" dirty="0">
                          <a:latin typeface="+mn-lt"/>
                        </a:rPr>
                        <a:t>C</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dirty="0">
                          <a:latin typeface="+mn-lt"/>
                        </a:rPr>
                        <a:t>Increase in prepaid expenses</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a typeface="+mn-ea"/>
                        <a:cs typeface="Arial" charset="0"/>
                      </a:endParaRPr>
                    </a:p>
                  </a:txBody>
                  <a:tcPr marL="91435" marR="91435">
                    <a:lnL w="635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2443144"/>
                  </a:ext>
                </a:extLst>
              </a:tr>
              <a:tr h="370840">
                <a:tc>
                  <a:txBody>
                    <a:bodyPr/>
                    <a:lstStyle/>
                    <a:p>
                      <a:pPr algn="ctr"/>
                      <a:r>
                        <a:rPr lang="en-US" sz="1800" dirty="0">
                          <a:latin typeface="+mn-lt"/>
                        </a:rPr>
                        <a:t>D</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dirty="0">
                          <a:latin typeface="+mn-lt"/>
                        </a:rPr>
                        <a:t>Payment of cash dividend</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a typeface="+mn-ea"/>
                        <a:cs typeface="Arial" charset="0"/>
                      </a:endParaRPr>
                    </a:p>
                  </a:txBody>
                  <a:tcPr marL="91435" marR="91435">
                    <a:lnL w="635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6690225"/>
                  </a:ext>
                </a:extLst>
              </a:tr>
              <a:tr h="370840">
                <a:tc>
                  <a:txBody>
                    <a:bodyPr/>
                    <a:lstStyle/>
                    <a:p>
                      <a:pPr algn="ctr"/>
                      <a:r>
                        <a:rPr lang="en-US" sz="1800" dirty="0">
                          <a:latin typeface="+mn-lt"/>
                        </a:rPr>
                        <a:t>E</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dirty="0">
                          <a:latin typeface="+mn-lt"/>
                        </a:rPr>
                        <a:t>Loss on sale of equipment</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a typeface="+mn-ea"/>
                        <a:cs typeface="Arial" charset="0"/>
                      </a:endParaRPr>
                    </a:p>
                  </a:txBody>
                  <a:tcPr marL="91435" marR="91435">
                    <a:lnL w="635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1337526"/>
                  </a:ext>
                </a:extLst>
              </a:tr>
              <a:tr h="370840">
                <a:tc>
                  <a:txBody>
                    <a:bodyPr/>
                    <a:lstStyle/>
                    <a:p>
                      <a:pPr algn="ctr"/>
                      <a:r>
                        <a:rPr lang="en-US" sz="1800" dirty="0">
                          <a:latin typeface="+mn-lt"/>
                        </a:rPr>
                        <a:t>F</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dirty="0">
                          <a:latin typeface="+mn-lt"/>
                        </a:rPr>
                        <a:t>Decrease in merchandise inventory</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a typeface="+mn-ea"/>
                        <a:cs typeface="Arial" charset="0"/>
                      </a:endParaRPr>
                    </a:p>
                  </a:txBody>
                  <a:tcPr marL="91435" marR="91435">
                    <a:lnL w="635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4238205"/>
                  </a:ext>
                </a:extLst>
              </a:tr>
              <a:tr h="370840">
                <a:tc>
                  <a:txBody>
                    <a:bodyPr/>
                    <a:lstStyle/>
                    <a:p>
                      <a:pPr algn="ctr"/>
                      <a:r>
                        <a:rPr lang="en-US" sz="1800" dirty="0">
                          <a:latin typeface="+mn-lt"/>
                        </a:rPr>
                        <a:t>G</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dirty="0">
                          <a:latin typeface="+mn-lt"/>
                        </a:rPr>
                        <a:t>Acquisition</a:t>
                      </a:r>
                      <a:r>
                        <a:rPr lang="en-US" sz="1800" baseline="0" dirty="0">
                          <a:latin typeface="+mn-lt"/>
                        </a:rPr>
                        <a:t> of equipment by issuance of a note payable</a:t>
                      </a:r>
                      <a:endParaRPr lang="en-US" sz="1800" dirty="0">
                        <a:latin typeface="+mn-lt"/>
                      </a:endParaRP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a typeface="+mn-ea"/>
                        <a:cs typeface="Arial" charset="0"/>
                      </a:endParaRPr>
                    </a:p>
                  </a:txBody>
                  <a:tcPr marL="91435" marR="91435">
                    <a:lnL w="635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8045589"/>
                  </a:ext>
                </a:extLst>
              </a:tr>
              <a:tr h="370840">
                <a:tc>
                  <a:txBody>
                    <a:bodyPr/>
                    <a:lstStyle/>
                    <a:p>
                      <a:pPr algn="ctr"/>
                      <a:r>
                        <a:rPr lang="en-US" sz="1800" dirty="0">
                          <a:latin typeface="+mn-lt"/>
                        </a:rPr>
                        <a:t>H</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dirty="0">
                          <a:latin typeface="+mn-lt"/>
                        </a:rPr>
                        <a:t>Increase in accounts</a:t>
                      </a:r>
                      <a:r>
                        <a:rPr lang="en-US" sz="1800" baseline="0" dirty="0">
                          <a:latin typeface="+mn-lt"/>
                        </a:rPr>
                        <a:t> payable</a:t>
                      </a:r>
                      <a:endParaRPr lang="en-US" sz="1800" dirty="0">
                        <a:latin typeface="+mn-lt"/>
                      </a:endParaRP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a typeface="+mn-ea"/>
                        <a:cs typeface="Arial" charset="0"/>
                      </a:endParaRPr>
                    </a:p>
                  </a:txBody>
                  <a:tcPr marL="91435" marR="91435">
                    <a:lnL w="635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6268023"/>
                  </a:ext>
                </a:extLst>
              </a:tr>
              <a:tr h="370840">
                <a:tc>
                  <a:txBody>
                    <a:bodyPr/>
                    <a:lstStyle/>
                    <a:p>
                      <a:pPr algn="ctr"/>
                      <a:r>
                        <a:rPr lang="en-US" sz="1800" dirty="0">
                          <a:latin typeface="+mn-lt"/>
                        </a:rPr>
                        <a:t>I</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dirty="0">
                          <a:latin typeface="+mn-lt"/>
                        </a:rPr>
                        <a:t>Amortization of intangible</a:t>
                      </a:r>
                      <a:r>
                        <a:rPr lang="en-US" sz="1800" baseline="0" dirty="0">
                          <a:latin typeface="+mn-lt"/>
                        </a:rPr>
                        <a:t> assets</a:t>
                      </a:r>
                      <a:endParaRPr lang="en-US" sz="1800" dirty="0">
                        <a:latin typeface="+mn-lt"/>
                      </a:endParaRP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a typeface="+mn-ea"/>
                        <a:cs typeface="Arial" charset="0"/>
                      </a:endParaRPr>
                    </a:p>
                  </a:txBody>
                  <a:tcPr marL="91435" marR="91435">
                    <a:lnL w="635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3693403"/>
                  </a:ext>
                </a:extLst>
              </a:tr>
              <a:tr h="370840">
                <a:tc>
                  <a:txBody>
                    <a:bodyPr/>
                    <a:lstStyle/>
                    <a:p>
                      <a:pPr algn="ctr"/>
                      <a:r>
                        <a:rPr lang="en-US" sz="1800" dirty="0">
                          <a:latin typeface="+mn-lt"/>
                        </a:rPr>
                        <a:t>J</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dirty="0">
                          <a:latin typeface="+mn-lt"/>
                        </a:rPr>
                        <a:t>Net income</a:t>
                      </a:r>
                    </a:p>
                  </a:txBody>
                  <a:tcPr marL="91435" marR="9143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a typeface="+mn-ea"/>
                        <a:cs typeface="Arial" charset="0"/>
                      </a:endParaRPr>
                    </a:p>
                  </a:txBody>
                  <a:tcPr marL="91435" marR="91435">
                    <a:lnL w="6350" cap="flat" cmpd="sng" algn="ctr">
                      <a:solidFill>
                        <a:schemeClr val="tx1"/>
                      </a:solidFill>
                      <a:prstDash val="solid"/>
                      <a:round/>
                      <a:headEnd type="none" w="med" len="med"/>
                      <a:tailEnd type="none" w="med" len="med"/>
                    </a:lnL>
                    <a:lnR>
                      <a:noFill/>
                    </a:lnR>
                    <a:lnT>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0689125"/>
                  </a:ext>
                </a:extLst>
              </a:tr>
            </a:tbl>
          </a:graphicData>
        </a:graphic>
      </p:graphicFrame>
    </p:spTree>
    <p:extLst>
      <p:ext uri="{BB962C8B-B14F-4D97-AF65-F5344CB8AC3E}">
        <p14:creationId xmlns:p14="http://schemas.microsoft.com/office/powerpoint/2010/main" val="35647155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Comparative Balance Sheets </a:t>
            </a:r>
            <a:r>
              <a:rPr lang="en-US" altLang="en-US" sz="2000" b="0" dirty="0">
                <a:ea typeface="ＭＳ Ｐゴシック" pitchFamily="34" charset="-128"/>
              </a:rPr>
              <a:t>(1 of 2)</a:t>
            </a:r>
            <a:endParaRPr lang="en-US" dirty="0"/>
          </a:p>
        </p:txBody>
      </p:sp>
      <p:graphicFrame>
        <p:nvGraphicFramePr>
          <p:cNvPr id="4" name="Table 3"/>
          <p:cNvGraphicFramePr>
            <a:graphicFrameLocks noGrp="1"/>
          </p:cNvGraphicFramePr>
          <p:nvPr/>
        </p:nvGraphicFramePr>
        <p:xfrm>
          <a:off x="381000" y="1645920"/>
          <a:ext cx="8458200" cy="4559618"/>
        </p:xfrm>
        <a:graphic>
          <a:graphicData uri="http://schemas.openxmlformats.org/drawingml/2006/table">
            <a:tbl>
              <a:tblPr firstRow="1" bandRow="1">
                <a:tableStyleId>{2D5ABB26-0587-4C30-8999-92F81FD0307C}</a:tableStyleId>
              </a:tblPr>
              <a:tblGrid>
                <a:gridCol w="2819400">
                  <a:extLst>
                    <a:ext uri="{9D8B030D-6E8A-4147-A177-3AD203B41FA5}">
                      <a16:colId xmlns:a16="http://schemas.microsoft.com/office/drawing/2014/main" val="20000"/>
                    </a:ext>
                  </a:extLst>
                </a:gridCol>
                <a:gridCol w="185293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1747520">
                  <a:extLst>
                    <a:ext uri="{9D8B030D-6E8A-4147-A177-3AD203B41FA5}">
                      <a16:colId xmlns:a16="http://schemas.microsoft.com/office/drawing/2014/main" val="20003"/>
                    </a:ext>
                  </a:extLst>
                </a:gridCol>
              </a:tblGrid>
              <a:tr h="370840">
                <a:tc gridSpan="4">
                  <a:txBody>
                    <a:bodyPr/>
                    <a:lstStyle/>
                    <a:p>
                      <a:pPr algn="ctr"/>
                      <a:r>
                        <a:rPr lang="en-US" altLang="en-US" sz="1800" b="1" dirty="0"/>
                        <a:t>Bradshaw Corporation – December 31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latin typeface="+mn-lt"/>
                          <a:ea typeface="+mn-ea"/>
                          <a:cs typeface="Arial" charset="0"/>
                        </a:rPr>
                        <a:t>(in thousands)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mn-lt"/>
                          <a:ea typeface="+mn-ea"/>
                          <a:cs typeface="Arial" charset="0"/>
                        </a:rPr>
                        <a:t>20X2</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mn-lt"/>
                          <a:ea typeface="+mn-ea"/>
                          <a:cs typeface="Arial" charset="0"/>
                        </a:rPr>
                        <a:t>20X1</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eaLnBrk="1" hangingPunct="1">
                        <a:lnSpc>
                          <a:spcPct val="70000"/>
                        </a:lnSpc>
                        <a:defRPr/>
                      </a:pPr>
                      <a:r>
                        <a:rPr lang="en-US" dirty="0">
                          <a:latin typeface="+mn-lt"/>
                          <a:ea typeface="+mn-ea"/>
                          <a:cs typeface="Arial" charset="0"/>
                        </a:rPr>
                        <a:t>Increase</a:t>
                      </a:r>
                    </a:p>
                    <a:p>
                      <a:pPr algn="ctr" eaLnBrk="1" hangingPunct="1">
                        <a:lnSpc>
                          <a:spcPct val="70000"/>
                        </a:lnSpc>
                        <a:defRPr/>
                      </a:pPr>
                      <a:r>
                        <a:rPr lang="en-US" dirty="0">
                          <a:latin typeface="+mn-lt"/>
                          <a:ea typeface="+mn-ea"/>
                          <a:cs typeface="Arial" charset="0"/>
                        </a:rPr>
                        <a:t>(Decrease)</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800" dirty="0">
                          <a:latin typeface="+mn-lt"/>
                          <a:ea typeface="+mn-ea"/>
                          <a:cs typeface="Arial" charset="0"/>
                        </a:rPr>
                        <a:t>Assets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800" dirty="0">
                          <a:latin typeface="+mn-lt"/>
                          <a:ea typeface="+mn-ea"/>
                          <a:cs typeface="Arial" charset="0"/>
                        </a:rPr>
                        <a:t>Current:</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274320"/>
                      <a:r>
                        <a:rPr lang="en-US" sz="1800" dirty="0">
                          <a:solidFill>
                            <a:schemeClr val="tx2"/>
                          </a:solidFill>
                          <a:latin typeface="+mn-lt"/>
                          <a:ea typeface="+mn-ea"/>
                          <a:cs typeface="Arial" charset="0"/>
                        </a:rPr>
                        <a:t>Cash</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solidFill>
                            <a:schemeClr val="tx2"/>
                          </a:solidFill>
                          <a:latin typeface="+mn-lt"/>
                        </a:rPr>
                        <a:t>$  22</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solidFill>
                            <a:schemeClr val="tx2"/>
                          </a:solidFill>
                          <a:latin typeface="+mn-lt"/>
                        </a:rPr>
                        <a:t>$  42</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solidFill>
                            <a:schemeClr val="tx2"/>
                          </a:solidFill>
                          <a:latin typeface="+mn-lt"/>
                        </a:rPr>
                        <a:t>$ (20)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274320"/>
                      <a:r>
                        <a:rPr lang="en-US" sz="1800" dirty="0">
                          <a:latin typeface="+mn-lt"/>
                          <a:ea typeface="+mn-ea"/>
                          <a:cs typeface="Arial" charset="0"/>
                        </a:rPr>
                        <a:t>Accounts receivable</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93</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80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13</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274320"/>
                      <a:r>
                        <a:rPr lang="en-US" sz="1800" dirty="0">
                          <a:latin typeface="+mn-lt"/>
                          <a:ea typeface="+mn-ea"/>
                          <a:cs typeface="Arial" charset="0"/>
                        </a:rPr>
                        <a:t>Interest receivable</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3</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1</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2</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274320"/>
                      <a:r>
                        <a:rPr lang="en-US" sz="1800" dirty="0">
                          <a:latin typeface="+mn-lt"/>
                          <a:ea typeface="+mn-ea"/>
                          <a:cs typeface="Arial" charset="0"/>
                        </a:rPr>
                        <a:t>Inventory</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135</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138</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(3)</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marL="274320"/>
                      <a:r>
                        <a:rPr lang="en-US" sz="1800" dirty="0">
                          <a:latin typeface="+mn-lt"/>
                          <a:ea typeface="+mn-ea"/>
                          <a:cs typeface="Arial" charset="0"/>
                        </a:rPr>
                        <a:t>Prepaid expenses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8</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7</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1</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r>
                        <a:rPr lang="en-US" sz="1800" dirty="0">
                          <a:latin typeface="+mn-lt"/>
                          <a:ea typeface="+mn-ea"/>
                          <a:cs typeface="Arial" charset="0"/>
                        </a:rPr>
                        <a:t>Long-term receivable</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11</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11</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r>
                        <a:rPr lang="en-US" sz="1800" dirty="0">
                          <a:latin typeface="+mn-lt"/>
                          <a:ea typeface="+mn-ea"/>
                          <a:cs typeface="Arial" charset="0"/>
                        </a:rPr>
                        <a:t>Prop, plant &amp; equip, net</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u="none" dirty="0">
                          <a:latin typeface="+mn-lt"/>
                        </a:rPr>
                        <a:t> 353</a:t>
                      </a:r>
                      <a:endParaRPr lang="en-US" u="none"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r"/>
                      <a:r>
                        <a:rPr lang="en-US" altLang="en-US" sz="1800" u="none" dirty="0">
                          <a:latin typeface="+mn-lt"/>
                        </a:rPr>
                        <a:t> 219</a:t>
                      </a:r>
                      <a:endParaRPr lang="en-US" u="none"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r"/>
                      <a:r>
                        <a:rPr lang="en-US" altLang="en-US" sz="1800" u="none" dirty="0">
                          <a:latin typeface="+mn-lt"/>
                        </a:rPr>
                        <a:t> 134</a:t>
                      </a:r>
                      <a:endParaRPr lang="en-US" u="none"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70840">
                <a:tc>
                  <a:txBody>
                    <a:bodyPr/>
                    <a:lstStyle/>
                    <a:p>
                      <a:pPr marL="274320"/>
                      <a:r>
                        <a:rPr lang="en-US" sz="1800" dirty="0">
                          <a:latin typeface="+mn-lt"/>
                          <a:ea typeface="+mn-ea"/>
                          <a:cs typeface="Arial" charset="0"/>
                        </a:rPr>
                        <a:t>Total</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u="dbl" baseline="0" dirty="0">
                          <a:latin typeface="+mn-lt"/>
                        </a:rPr>
                        <a:t>$625</a:t>
                      </a:r>
                      <a:endParaRPr lang="en-US" u="dbl" baseline="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u="dbl" baseline="0" dirty="0">
                          <a:latin typeface="+mn-lt"/>
                        </a:rPr>
                        <a:t>$487</a:t>
                      </a:r>
                      <a:endParaRPr lang="en-US" u="dbl" baseline="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u="dbl" baseline="0" dirty="0">
                          <a:latin typeface="+mn-lt"/>
                        </a:rPr>
                        <a:t>$138</a:t>
                      </a:r>
                      <a:endParaRPr lang="en-US" u="dbl" baseline="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4178017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Comparative Balance Sheets </a:t>
            </a:r>
            <a:r>
              <a:rPr lang="en-US" altLang="en-US" sz="2000" b="0" dirty="0">
                <a:ea typeface="ＭＳ Ｐゴシック" pitchFamily="34" charset="-128"/>
              </a:rPr>
              <a:t>(2 of 2)</a:t>
            </a:r>
            <a:endParaRPr lang="en-US" dirty="0"/>
          </a:p>
        </p:txBody>
      </p:sp>
      <p:graphicFrame>
        <p:nvGraphicFramePr>
          <p:cNvPr id="4" name="Table 3"/>
          <p:cNvGraphicFramePr>
            <a:graphicFrameLocks noGrp="1"/>
          </p:cNvGraphicFramePr>
          <p:nvPr/>
        </p:nvGraphicFramePr>
        <p:xfrm>
          <a:off x="381000" y="1645920"/>
          <a:ext cx="8534400" cy="4558792"/>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370840">
                <a:tc gridSpan="4">
                  <a:txBody>
                    <a:bodyPr/>
                    <a:lstStyle/>
                    <a:p>
                      <a:pPr algn="ctr"/>
                      <a:r>
                        <a:rPr lang="en-US" altLang="en-US" sz="1800" b="1" dirty="0">
                          <a:latin typeface="+mn-lt"/>
                        </a:rPr>
                        <a:t>Bradshaw Corporation – December 31</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latin typeface="+mn-ea"/>
                          <a:ea typeface="+mn-ea"/>
                          <a:cs typeface="Arial" charset="0"/>
                        </a:rPr>
                        <a:t>(in thousands)</a:t>
                      </a:r>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mn-lt"/>
                          <a:ea typeface="+mn-ea"/>
                          <a:cs typeface="Arial" charset="0"/>
                        </a:rPr>
                        <a:t>20X2</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mn-lt"/>
                          <a:ea typeface="+mn-ea"/>
                          <a:cs typeface="Arial" charset="0"/>
                        </a:rPr>
                        <a:t>20X1</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eaLnBrk="1" hangingPunct="1">
                        <a:lnSpc>
                          <a:spcPct val="70000"/>
                        </a:lnSpc>
                        <a:defRPr/>
                      </a:pPr>
                      <a:r>
                        <a:rPr lang="en-US" dirty="0">
                          <a:latin typeface="+mn-lt"/>
                          <a:ea typeface="+mn-ea"/>
                          <a:cs typeface="Arial" charset="0"/>
                        </a:rPr>
                        <a:t>Increase</a:t>
                      </a:r>
                    </a:p>
                    <a:p>
                      <a:pPr algn="ctr" eaLnBrk="1" hangingPunct="1">
                        <a:lnSpc>
                          <a:spcPct val="70000"/>
                        </a:lnSpc>
                        <a:defRPr/>
                      </a:pPr>
                      <a:r>
                        <a:rPr lang="en-US" dirty="0">
                          <a:latin typeface="+mn-lt"/>
                          <a:ea typeface="+mn-ea"/>
                          <a:cs typeface="Arial" charset="0"/>
                        </a:rPr>
                        <a:t>(Decrease)</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altLang="en-US" sz="1800" dirty="0">
                          <a:latin typeface="+mn-ea"/>
                          <a:ea typeface="+mn-ea"/>
                        </a:rPr>
                        <a:t>Liabilities</a:t>
                      </a:r>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800" dirty="0">
                          <a:latin typeface="+mn-ea"/>
                          <a:ea typeface="+mn-ea"/>
                          <a:cs typeface="Arial" charset="0"/>
                        </a:rPr>
                        <a:t>Current:</a:t>
                      </a:r>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altLang="en-US" sz="1800" kern="1200" dirty="0">
                          <a:solidFill>
                            <a:schemeClr val="tx2"/>
                          </a:solidFill>
                          <a:latin typeface="+mn-ea"/>
                          <a:ea typeface="+mn-ea"/>
                          <a:cs typeface="Arial" charset="0"/>
                        </a:rPr>
                        <a:t>Accounts payable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solidFill>
                            <a:schemeClr val="tx2"/>
                          </a:solidFill>
                          <a:latin typeface="+mn-lt"/>
                        </a:rPr>
                        <a:t>$  91</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solidFill>
                            <a:schemeClr val="tx2"/>
                          </a:solidFill>
                          <a:latin typeface="+mn-lt"/>
                        </a:rPr>
                        <a:t>$  57</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solidFill>
                            <a:schemeClr val="tx2"/>
                          </a:solidFill>
                          <a:latin typeface="+mn-lt"/>
                        </a:rPr>
                        <a:t>$ 34</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274320"/>
                      <a:r>
                        <a:rPr lang="en-US" altLang="en-US" sz="1800" dirty="0">
                          <a:latin typeface="+mn-ea"/>
                          <a:ea typeface="+mn-ea"/>
                        </a:rPr>
                        <a:t>Salary &amp; wages payable</a:t>
                      </a:r>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4</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6</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(2)</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274320"/>
                      <a:r>
                        <a:rPr lang="en-US" altLang="en-US" sz="1800" dirty="0">
                          <a:latin typeface="+mn-ea"/>
                          <a:ea typeface="+mn-ea"/>
                        </a:rPr>
                        <a:t>Accrued liabilities</a:t>
                      </a:r>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1</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3</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(2)</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eaLnBrk="1" hangingPunct="1">
                        <a:lnSpc>
                          <a:spcPct val="85000"/>
                        </a:lnSpc>
                      </a:pPr>
                      <a:r>
                        <a:rPr lang="en-US" altLang="en-US" sz="1800" dirty="0">
                          <a:latin typeface="+mn-ea"/>
                          <a:ea typeface="+mn-ea"/>
                        </a:rPr>
                        <a:t>Long-term debt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160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77</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83</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eaLnBrk="1" hangingPunct="1">
                        <a:lnSpc>
                          <a:spcPct val="85000"/>
                        </a:lnSpc>
                      </a:pPr>
                      <a:r>
                        <a:rPr lang="en-US" altLang="en-US" sz="1800" dirty="0">
                          <a:latin typeface="+mn-ea"/>
                          <a:ea typeface="+mn-ea"/>
                        </a:rPr>
                        <a:t>Shareholders</a:t>
                      </a:r>
                      <a:r>
                        <a:rPr lang="ja-JP" altLang="en-US" sz="1800" dirty="0">
                          <a:latin typeface="+mn-ea"/>
                          <a:ea typeface="+mn-ea"/>
                        </a:rPr>
                        <a:t>’</a:t>
                      </a:r>
                      <a:r>
                        <a:rPr lang="en-US" altLang="ja-JP" sz="1800" dirty="0">
                          <a:latin typeface="+mn-ea"/>
                          <a:ea typeface="+mn-ea"/>
                        </a:rPr>
                        <a:t> equity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eaLnBrk="1" hangingPunct="1">
                        <a:lnSpc>
                          <a:spcPct val="85000"/>
                        </a:lnSpc>
                      </a:pPr>
                      <a:r>
                        <a:rPr lang="en-US" altLang="en-US" sz="1800" dirty="0">
                          <a:latin typeface="+mn-ea"/>
                          <a:ea typeface="+mn-ea"/>
                        </a:rPr>
                        <a:t>Common shares</a:t>
                      </a:r>
                      <a:endParaRPr lang="en-US" altLang="ja-JP" sz="18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259</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258</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1</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pPr eaLnBrk="1" hangingPunct="1">
                        <a:lnSpc>
                          <a:spcPct val="85000"/>
                        </a:lnSpc>
                      </a:pPr>
                      <a:r>
                        <a:rPr lang="en-US" altLang="en-US" sz="1800" dirty="0">
                          <a:latin typeface="+mn-ea"/>
                          <a:ea typeface="+mn-ea"/>
                        </a:rPr>
                        <a:t>Retained earnings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u="none" dirty="0">
                          <a:latin typeface="+mn-lt"/>
                        </a:rPr>
                        <a:t> 110</a:t>
                      </a:r>
                      <a:endParaRPr lang="en-US" u="none"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r"/>
                      <a:r>
                        <a:rPr lang="en-US" altLang="en-US" sz="1800" u="none" dirty="0">
                          <a:latin typeface="+mn-lt"/>
                        </a:rPr>
                        <a:t> 86</a:t>
                      </a:r>
                      <a:endParaRPr lang="en-US" u="none"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r"/>
                      <a:r>
                        <a:rPr lang="en-US" altLang="en-US" sz="1800" u="none" dirty="0">
                          <a:latin typeface="+mn-lt"/>
                        </a:rPr>
                        <a:t> 24</a:t>
                      </a:r>
                      <a:endParaRPr lang="en-US" u="none"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70840">
                <a:tc>
                  <a:txBody>
                    <a:bodyPr/>
                    <a:lstStyle/>
                    <a:p>
                      <a:pPr marL="274320"/>
                      <a:r>
                        <a:rPr lang="en-US" sz="1800" dirty="0">
                          <a:latin typeface="+mn-lt"/>
                          <a:ea typeface="+mn-ea"/>
                          <a:cs typeface="Arial" charset="0"/>
                        </a:rPr>
                        <a:t>Total</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u="dbl" baseline="0" dirty="0">
                          <a:latin typeface="+mn-lt"/>
                        </a:rPr>
                        <a:t>$625</a:t>
                      </a:r>
                      <a:endParaRPr lang="en-US" u="dbl" baseline="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u="dbl" baseline="0" dirty="0">
                          <a:latin typeface="+mn-lt"/>
                        </a:rPr>
                        <a:t>$487</a:t>
                      </a:r>
                      <a:endParaRPr lang="en-US" u="dbl" baseline="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u="dbl" baseline="0" dirty="0">
                          <a:latin typeface="+mn-lt"/>
                        </a:rPr>
                        <a:t>$138</a:t>
                      </a:r>
                      <a:endParaRPr lang="en-US" u="dbl" baseline="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463126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Income Statement </a:t>
            </a:r>
            <a:r>
              <a:rPr lang="en-US" altLang="en-US" sz="2000" b="0" dirty="0">
                <a:ea typeface="ＭＳ Ｐゴシック" pitchFamily="34" charset="-128"/>
              </a:rPr>
              <a:t>(1 of 3)</a:t>
            </a:r>
            <a:endParaRPr lang="en-US" dirty="0"/>
          </a:p>
        </p:txBody>
      </p:sp>
      <p:sp>
        <p:nvSpPr>
          <p:cNvPr id="3" name="Content Placeholder 2"/>
          <p:cNvSpPr>
            <a:spLocks noGrp="1"/>
          </p:cNvSpPr>
          <p:nvPr>
            <p:ph idx="1"/>
          </p:nvPr>
        </p:nvSpPr>
        <p:spPr>
          <a:xfrm>
            <a:off x="1195010" y="1828800"/>
            <a:ext cx="6753981" cy="1371600"/>
          </a:xfrm>
          <a:ln w="12700">
            <a:solidFill>
              <a:schemeClr val="tx1"/>
            </a:solidFill>
          </a:ln>
        </p:spPr>
        <p:txBody>
          <a:bodyPr>
            <a:normAutofit fontScale="85000" lnSpcReduction="20000"/>
          </a:bodyPr>
          <a:lstStyle/>
          <a:p>
            <a:pPr marL="0" indent="0" algn="ctr">
              <a:spcBef>
                <a:spcPts val="600"/>
              </a:spcBef>
              <a:buNone/>
              <a:defRPr/>
            </a:pPr>
            <a:r>
              <a:rPr lang="en-US" sz="1800" dirty="0">
                <a:cs typeface="Arial" charset="0"/>
              </a:rPr>
              <a:t>Bradshaw Corporation</a:t>
            </a:r>
          </a:p>
          <a:p>
            <a:pPr marL="0" indent="0" algn="ctr">
              <a:spcBef>
                <a:spcPts val="600"/>
              </a:spcBef>
              <a:buNone/>
              <a:defRPr/>
            </a:pPr>
            <a:r>
              <a:rPr lang="en-US" sz="1800" dirty="0">
                <a:cs typeface="Arial" charset="0"/>
              </a:rPr>
              <a:t>Income Statement</a:t>
            </a:r>
          </a:p>
          <a:p>
            <a:pPr marL="0" indent="0" algn="ctr">
              <a:spcBef>
                <a:spcPts val="600"/>
              </a:spcBef>
              <a:buNone/>
              <a:defRPr/>
            </a:pPr>
            <a:r>
              <a:rPr lang="en-US" sz="1800" dirty="0">
                <a:cs typeface="Arial" charset="0"/>
              </a:rPr>
              <a:t>For the Year Ended December 31, 20X2</a:t>
            </a:r>
          </a:p>
          <a:p>
            <a:pPr marL="0" indent="0" algn="ctr">
              <a:spcBef>
                <a:spcPts val="600"/>
              </a:spcBef>
              <a:buNone/>
              <a:defRPr/>
            </a:pPr>
            <a:r>
              <a:rPr lang="en-US" sz="1800" dirty="0">
                <a:cs typeface="Arial" charset="0"/>
              </a:rPr>
              <a:t>(in thousands)</a:t>
            </a:r>
            <a:endParaRPr lang="en-US" sz="1800" dirty="0"/>
          </a:p>
        </p:txBody>
      </p:sp>
      <p:graphicFrame>
        <p:nvGraphicFramePr>
          <p:cNvPr id="4" name="Table 3"/>
          <p:cNvGraphicFramePr>
            <a:graphicFrameLocks noGrp="1"/>
          </p:cNvGraphicFramePr>
          <p:nvPr/>
        </p:nvGraphicFramePr>
        <p:xfrm>
          <a:off x="1193323" y="3200400"/>
          <a:ext cx="6757353" cy="2225040"/>
        </p:xfrm>
        <a:graphic>
          <a:graphicData uri="http://schemas.openxmlformats.org/drawingml/2006/table">
            <a:tbl>
              <a:tblPr firstRow="1" bandRow="1">
                <a:tableStyleId>{2D5ABB26-0587-4C30-8999-92F81FD0307C}</a:tableStyleId>
              </a:tblPr>
              <a:tblGrid>
                <a:gridCol w="5486400">
                  <a:extLst>
                    <a:ext uri="{9D8B030D-6E8A-4147-A177-3AD203B41FA5}">
                      <a16:colId xmlns:a16="http://schemas.microsoft.com/office/drawing/2014/main" val="20000"/>
                    </a:ext>
                  </a:extLst>
                </a:gridCol>
                <a:gridCol w="1270953">
                  <a:extLst>
                    <a:ext uri="{9D8B030D-6E8A-4147-A177-3AD203B41FA5}">
                      <a16:colId xmlns:a16="http://schemas.microsoft.com/office/drawing/2014/main" val="20001"/>
                    </a:ext>
                  </a:extLst>
                </a:gridCol>
              </a:tblGrid>
              <a:tr h="370840">
                <a:tc>
                  <a:txBody>
                    <a:bodyPr/>
                    <a:lstStyle/>
                    <a:p>
                      <a:r>
                        <a:rPr lang="en-US" altLang="en-US" sz="1800" dirty="0">
                          <a:latin typeface="+mn-lt"/>
                        </a:rPr>
                        <a:t>Revenues and gains:</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altLang="en-US" sz="1800" dirty="0">
                          <a:latin typeface="+mn-lt"/>
                        </a:rPr>
                        <a:t>Sales revenue</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$284</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altLang="en-US" sz="1800" dirty="0">
                          <a:latin typeface="+mn-lt"/>
                        </a:rPr>
                        <a:t>Interest revenue</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800" dirty="0">
                          <a:latin typeface="+mn-lt"/>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altLang="en-US" sz="1800" dirty="0">
                          <a:latin typeface="+mn-lt"/>
                        </a:rPr>
                        <a:t>Dividend revenue</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800" dirty="0">
                          <a:latin typeface="+mn-lt"/>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eaLnBrk="1" hangingPunct="1">
                        <a:lnSpc>
                          <a:spcPct val="85000"/>
                        </a:lnSpc>
                      </a:pPr>
                      <a:r>
                        <a:rPr lang="en-US" altLang="en-US" sz="1800" dirty="0">
                          <a:solidFill>
                            <a:schemeClr val="tx2"/>
                          </a:solidFill>
                          <a:latin typeface="+mn-lt"/>
                        </a:rPr>
                        <a:t>Gain on sale of property, plant, and equipment</a:t>
                      </a:r>
                      <a:endParaRPr lang="en-US" altLang="en-US"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u="none" dirty="0">
                          <a:solidFill>
                            <a:schemeClr val="tx2"/>
                          </a:solidFill>
                          <a:latin typeface="+mn-lt"/>
                        </a:rPr>
                        <a:t>      8</a:t>
                      </a:r>
                      <a:endParaRPr lang="en-US" u="none"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eaLnBrk="1" hangingPunct="1">
                        <a:lnSpc>
                          <a:spcPct val="85000"/>
                        </a:lnSpc>
                      </a:pPr>
                      <a:r>
                        <a:rPr lang="en-US" altLang="en-US" sz="1800" dirty="0">
                          <a:latin typeface="+mn-lt"/>
                        </a:rPr>
                        <a:t>Total revenues and gains</a:t>
                      </a:r>
                      <a:endParaRPr lang="en-US" altLang="ja-JP"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$313</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66989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Income Statement </a:t>
            </a:r>
            <a:r>
              <a:rPr lang="en-US" altLang="en-US" sz="2000" b="0" dirty="0">
                <a:ea typeface="ＭＳ Ｐゴシック" pitchFamily="34" charset="-128"/>
              </a:rPr>
              <a:t>(2 of 3)</a:t>
            </a:r>
            <a:endParaRPr lang="en-US" dirty="0"/>
          </a:p>
        </p:txBody>
      </p:sp>
      <p:sp>
        <p:nvSpPr>
          <p:cNvPr id="3" name="Content Placeholder 2"/>
          <p:cNvSpPr>
            <a:spLocks noGrp="1"/>
          </p:cNvSpPr>
          <p:nvPr>
            <p:ph idx="1"/>
          </p:nvPr>
        </p:nvSpPr>
        <p:spPr>
          <a:xfrm>
            <a:off x="1196340" y="1828800"/>
            <a:ext cx="6751320" cy="1371600"/>
          </a:xfrm>
          <a:ln w="12700">
            <a:solidFill>
              <a:schemeClr val="tx1"/>
            </a:solidFill>
          </a:ln>
        </p:spPr>
        <p:txBody>
          <a:bodyPr>
            <a:normAutofit fontScale="85000" lnSpcReduction="20000"/>
          </a:bodyPr>
          <a:lstStyle/>
          <a:p>
            <a:pPr marL="0" indent="0" algn="ctr">
              <a:spcBef>
                <a:spcPts val="600"/>
              </a:spcBef>
              <a:buNone/>
              <a:defRPr/>
            </a:pPr>
            <a:r>
              <a:rPr lang="en-US" sz="1800" dirty="0">
                <a:cs typeface="Arial" charset="0"/>
              </a:rPr>
              <a:t>Bradshaw Corporation</a:t>
            </a:r>
          </a:p>
          <a:p>
            <a:pPr marL="0" indent="0" algn="ctr">
              <a:spcBef>
                <a:spcPts val="600"/>
              </a:spcBef>
              <a:buNone/>
              <a:defRPr/>
            </a:pPr>
            <a:r>
              <a:rPr lang="en-US" sz="1800" dirty="0">
                <a:cs typeface="Arial" charset="0"/>
              </a:rPr>
              <a:t>Income Statement</a:t>
            </a:r>
          </a:p>
          <a:p>
            <a:pPr marL="0" indent="0" algn="ctr">
              <a:spcBef>
                <a:spcPts val="600"/>
              </a:spcBef>
              <a:buNone/>
              <a:defRPr/>
            </a:pPr>
            <a:r>
              <a:rPr lang="en-US" sz="1800" dirty="0">
                <a:cs typeface="Arial" charset="0"/>
              </a:rPr>
              <a:t>For the Year Ended December 31, 20X2 </a:t>
            </a:r>
          </a:p>
          <a:p>
            <a:pPr marL="0" indent="0" algn="ctr">
              <a:spcBef>
                <a:spcPts val="600"/>
              </a:spcBef>
              <a:buNone/>
              <a:defRPr/>
            </a:pPr>
            <a:r>
              <a:rPr lang="en-US" sz="1800" dirty="0">
                <a:cs typeface="Arial" charset="0"/>
              </a:rPr>
              <a:t>(in thousands)</a:t>
            </a:r>
            <a:endParaRPr lang="en-US" sz="1800" dirty="0"/>
          </a:p>
        </p:txBody>
      </p:sp>
      <p:graphicFrame>
        <p:nvGraphicFramePr>
          <p:cNvPr id="4" name="Table 3"/>
          <p:cNvGraphicFramePr>
            <a:graphicFrameLocks noGrp="1"/>
          </p:cNvGraphicFramePr>
          <p:nvPr/>
        </p:nvGraphicFramePr>
        <p:xfrm>
          <a:off x="1200198" y="3200400"/>
          <a:ext cx="6757353" cy="2966720"/>
        </p:xfrm>
        <a:graphic>
          <a:graphicData uri="http://schemas.openxmlformats.org/drawingml/2006/table">
            <a:tbl>
              <a:tblPr firstRow="1" bandRow="1">
                <a:tableStyleId>{2D5ABB26-0587-4C30-8999-92F81FD0307C}</a:tableStyleId>
              </a:tblPr>
              <a:tblGrid>
                <a:gridCol w="5486400">
                  <a:extLst>
                    <a:ext uri="{9D8B030D-6E8A-4147-A177-3AD203B41FA5}">
                      <a16:colId xmlns:a16="http://schemas.microsoft.com/office/drawing/2014/main" val="20000"/>
                    </a:ext>
                  </a:extLst>
                </a:gridCol>
                <a:gridCol w="1270953">
                  <a:extLst>
                    <a:ext uri="{9D8B030D-6E8A-4147-A177-3AD203B41FA5}">
                      <a16:colId xmlns:a16="http://schemas.microsoft.com/office/drawing/2014/main" val="20001"/>
                    </a:ext>
                  </a:extLst>
                </a:gridCol>
              </a:tblGrid>
              <a:tr h="370840">
                <a:tc>
                  <a:txBody>
                    <a:bodyPr/>
                    <a:lstStyle/>
                    <a:p>
                      <a:r>
                        <a:rPr lang="en-US" sz="1800" dirty="0">
                          <a:latin typeface="+mn-lt"/>
                          <a:ea typeface="+mn-ea"/>
                          <a:cs typeface="Arial" charset="0"/>
                        </a:rPr>
                        <a:t>Expenses:</a:t>
                      </a:r>
                      <a:endParaRPr lang="en-US"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dirty="0">
                          <a:latin typeface="+mn-lt"/>
                          <a:ea typeface="+mn-ea"/>
                          <a:cs typeface="Arial" charset="0"/>
                        </a:rPr>
                        <a:t>Cost of goods sold</a:t>
                      </a:r>
                      <a:endParaRPr lang="en-US"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$150</a:t>
                      </a:r>
                      <a:endParaRPr lang="en-US" sz="1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800" dirty="0">
                          <a:latin typeface="+mn-lt"/>
                          <a:ea typeface="+mn-ea"/>
                          <a:cs typeface="Arial" charset="0"/>
                        </a:rPr>
                        <a:t>Salary and wages expense</a:t>
                      </a:r>
                      <a:endParaRPr lang="en-US"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800" dirty="0">
                          <a:latin typeface="+mn-lt"/>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800" dirty="0">
                          <a:solidFill>
                            <a:schemeClr val="tx2"/>
                          </a:solidFill>
                          <a:latin typeface="+mn-lt"/>
                          <a:ea typeface="+mn-ea"/>
                          <a:cs typeface="Arial" charset="0"/>
                        </a:rPr>
                        <a:t>Amortization expense</a:t>
                      </a:r>
                      <a:endParaRPr lang="en-US"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800" dirty="0">
                          <a:latin typeface="+mn-lt"/>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eaLnBrk="1" hangingPunct="1">
                        <a:lnSpc>
                          <a:spcPct val="85000"/>
                        </a:lnSpc>
                      </a:pPr>
                      <a:r>
                        <a:rPr lang="en-US" sz="1800" dirty="0">
                          <a:latin typeface="+mn-lt"/>
                          <a:ea typeface="+mn-ea"/>
                          <a:cs typeface="Arial" charset="0"/>
                        </a:rPr>
                        <a:t>Other operating expense</a:t>
                      </a:r>
                      <a:endParaRPr lang="en-US" altLang="en-US"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t>17</a:t>
                      </a:r>
                      <a:endParaRPr lang="en-US" sz="1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85000"/>
                        </a:lnSpc>
                        <a:spcBef>
                          <a:spcPts val="0"/>
                        </a:spcBef>
                        <a:spcAft>
                          <a:spcPts val="0"/>
                        </a:spcAft>
                        <a:buClrTx/>
                        <a:buSzTx/>
                        <a:buFontTx/>
                        <a:buNone/>
                        <a:tabLst/>
                        <a:defRPr/>
                      </a:pPr>
                      <a:r>
                        <a:rPr lang="en-US" sz="1800" dirty="0">
                          <a:latin typeface="+mn-lt"/>
                          <a:ea typeface="+mn-ea"/>
                          <a:cs typeface="Arial" charset="0"/>
                        </a:rPr>
                        <a:t>Interest expense</a:t>
                      </a:r>
                      <a:endParaRPr lang="en-US" altLang="ja-JP"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eaLnBrk="1" hangingPunct="1">
                        <a:lnSpc>
                          <a:spcPct val="85000"/>
                        </a:lnSpc>
                      </a:pPr>
                      <a:r>
                        <a:rPr lang="en-US" sz="1800" dirty="0">
                          <a:latin typeface="+mn-lt"/>
                          <a:ea typeface="+mn-ea"/>
                          <a:cs typeface="Arial" charset="0"/>
                        </a:rPr>
                        <a:t>Income tax expense</a:t>
                      </a:r>
                      <a:endParaRPr lang="en-US" altLang="ja-JP"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u="none" dirty="0">
                          <a:latin typeface="+mn-lt"/>
                        </a:rPr>
                        <a:t>   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eaLnBrk="1" hangingPunct="1">
                        <a:lnSpc>
                          <a:spcPct val="85000"/>
                        </a:lnSpc>
                      </a:pPr>
                      <a:r>
                        <a:rPr lang="en-US" sz="1800" dirty="0">
                          <a:latin typeface="+mn-lt"/>
                          <a:ea typeface="+mn-ea"/>
                          <a:cs typeface="Arial" charset="0"/>
                        </a:rPr>
                        <a:t>Total expenses</a:t>
                      </a:r>
                      <a:endParaRPr lang="en-US" altLang="ja-JP"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$272</a:t>
                      </a:r>
                      <a:endParaRPr lang="en-US" sz="1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78223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Income Statement </a:t>
            </a:r>
            <a:r>
              <a:rPr lang="en-US" altLang="en-US" sz="2000" b="0" dirty="0">
                <a:ea typeface="ＭＳ Ｐゴシック" pitchFamily="34" charset="-128"/>
              </a:rPr>
              <a:t>(3 of 3)</a:t>
            </a:r>
            <a:endParaRPr lang="en-US" dirty="0"/>
          </a:p>
        </p:txBody>
      </p:sp>
      <p:sp>
        <p:nvSpPr>
          <p:cNvPr id="3" name="Content Placeholder 2"/>
          <p:cNvSpPr>
            <a:spLocks noGrp="1"/>
          </p:cNvSpPr>
          <p:nvPr>
            <p:ph idx="1"/>
          </p:nvPr>
        </p:nvSpPr>
        <p:spPr>
          <a:xfrm>
            <a:off x="1191260" y="1828800"/>
            <a:ext cx="6758940" cy="1371600"/>
          </a:xfrm>
          <a:ln w="12700">
            <a:solidFill>
              <a:schemeClr val="tx1"/>
            </a:solidFill>
          </a:ln>
        </p:spPr>
        <p:txBody>
          <a:bodyPr>
            <a:normAutofit fontScale="85000" lnSpcReduction="20000"/>
          </a:bodyPr>
          <a:lstStyle/>
          <a:p>
            <a:pPr marL="0" indent="0" algn="ctr">
              <a:spcBef>
                <a:spcPts val="600"/>
              </a:spcBef>
              <a:buNone/>
              <a:defRPr/>
            </a:pPr>
            <a:r>
              <a:rPr lang="en-US" sz="1800" dirty="0">
                <a:cs typeface="Arial" charset="0"/>
              </a:rPr>
              <a:t>Bradshaw Corporation</a:t>
            </a:r>
          </a:p>
          <a:p>
            <a:pPr marL="0" indent="0" algn="ctr">
              <a:spcBef>
                <a:spcPts val="600"/>
              </a:spcBef>
              <a:buNone/>
              <a:defRPr/>
            </a:pPr>
            <a:r>
              <a:rPr lang="en-US" sz="1800" dirty="0">
                <a:cs typeface="Arial" charset="0"/>
              </a:rPr>
              <a:t>Income Statement</a:t>
            </a:r>
          </a:p>
          <a:p>
            <a:pPr marL="0" indent="0" algn="ctr">
              <a:spcBef>
                <a:spcPts val="600"/>
              </a:spcBef>
              <a:buNone/>
              <a:defRPr/>
            </a:pPr>
            <a:r>
              <a:rPr lang="en-US" sz="1800" dirty="0">
                <a:cs typeface="Arial" charset="0"/>
              </a:rPr>
              <a:t>For the Year Ended December 31, 20X2 </a:t>
            </a:r>
          </a:p>
          <a:p>
            <a:pPr marL="0" indent="0" algn="ctr">
              <a:spcBef>
                <a:spcPts val="600"/>
              </a:spcBef>
              <a:buNone/>
              <a:defRPr/>
            </a:pPr>
            <a:r>
              <a:rPr lang="en-US" sz="1800" dirty="0">
                <a:cs typeface="Arial" charset="0"/>
              </a:rPr>
              <a:t>(in thousands)</a:t>
            </a:r>
            <a:endParaRPr lang="en-US" sz="1800" dirty="0"/>
          </a:p>
        </p:txBody>
      </p:sp>
      <p:graphicFrame>
        <p:nvGraphicFramePr>
          <p:cNvPr id="4" name="Table 3"/>
          <p:cNvGraphicFramePr>
            <a:graphicFrameLocks noGrp="1"/>
          </p:cNvGraphicFramePr>
          <p:nvPr/>
        </p:nvGraphicFramePr>
        <p:xfrm>
          <a:off x="1192847" y="3200400"/>
          <a:ext cx="6757353" cy="1112520"/>
        </p:xfrm>
        <a:graphic>
          <a:graphicData uri="http://schemas.openxmlformats.org/drawingml/2006/table">
            <a:tbl>
              <a:tblPr firstRow="1" bandRow="1">
                <a:tableStyleId>{2D5ABB26-0587-4C30-8999-92F81FD0307C}</a:tableStyleId>
              </a:tblPr>
              <a:tblGrid>
                <a:gridCol w="5486400">
                  <a:extLst>
                    <a:ext uri="{9D8B030D-6E8A-4147-A177-3AD203B41FA5}">
                      <a16:colId xmlns:a16="http://schemas.microsoft.com/office/drawing/2014/main" val="20000"/>
                    </a:ext>
                  </a:extLst>
                </a:gridCol>
                <a:gridCol w="1270953">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85000"/>
                        </a:lnSpc>
                        <a:spcBef>
                          <a:spcPts val="0"/>
                        </a:spcBef>
                        <a:spcAft>
                          <a:spcPts val="0"/>
                        </a:spcAft>
                        <a:buClrTx/>
                        <a:buSzTx/>
                        <a:buFontTx/>
                        <a:buNone/>
                        <a:tabLst/>
                        <a:defRPr/>
                      </a:pPr>
                      <a:r>
                        <a:rPr lang="en-US" sz="1800" dirty="0">
                          <a:latin typeface="+mn-lt"/>
                          <a:ea typeface="+mn-ea"/>
                          <a:cs typeface="Arial" charset="0"/>
                        </a:rPr>
                        <a:t>Total revenues and gains</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a:t>
                      </a:r>
                      <a:r>
                        <a:rPr lang="en-US" dirty="0">
                          <a:latin typeface="+mn-lt"/>
                        </a:rPr>
                        <a:t>313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85000"/>
                        </a:lnSpc>
                        <a:spcBef>
                          <a:spcPts val="0"/>
                        </a:spcBef>
                        <a:spcAft>
                          <a:spcPts val="0"/>
                        </a:spcAft>
                        <a:buClrTx/>
                        <a:buSzTx/>
                        <a:buFontTx/>
                        <a:buNone/>
                        <a:tabLst/>
                        <a:defRPr/>
                      </a:pPr>
                      <a:r>
                        <a:rPr lang="en-US" sz="1800" dirty="0">
                          <a:latin typeface="+mn-lt"/>
                          <a:ea typeface="+mn-ea"/>
                          <a:cs typeface="Arial" charset="0"/>
                        </a:rPr>
                        <a:t>Total expenses</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u="none" dirty="0">
                          <a:latin typeface="+mn-lt"/>
                        </a:rPr>
                        <a:t>272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85000"/>
                        </a:lnSpc>
                        <a:spcBef>
                          <a:spcPts val="0"/>
                        </a:spcBef>
                        <a:spcAft>
                          <a:spcPts val="0"/>
                        </a:spcAft>
                        <a:buClrTx/>
                        <a:buSzTx/>
                        <a:buFontTx/>
                        <a:buNone/>
                        <a:tabLst/>
                        <a:defRPr/>
                      </a:pPr>
                      <a:r>
                        <a:rPr lang="en-US" sz="1800" dirty="0">
                          <a:solidFill>
                            <a:schemeClr val="tx2"/>
                          </a:solidFill>
                          <a:latin typeface="+mn-lt"/>
                          <a:ea typeface="+mn-ea"/>
                          <a:cs typeface="Arial" charset="0"/>
                        </a:rPr>
                        <a:t>Net income</a:t>
                      </a:r>
                      <a:endParaRPr lang="en-US" altLang="ja-JP"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u="dbl" baseline="0" dirty="0">
                          <a:latin typeface="+mn-lt"/>
                        </a:rPr>
                        <a:t>$ 41</a:t>
                      </a:r>
                      <a:endParaRPr lang="en-US" u="dbl" baseline="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56214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ea typeface="ＭＳ Ｐゴシック" pitchFamily="34" charset="-128"/>
              </a:rPr>
              <a:t>Statement of Cash Flows: Operating Activities </a:t>
            </a:r>
            <a:r>
              <a:rPr lang="en-US" altLang="en-US" sz="2000" b="0" dirty="0">
                <a:ea typeface="ＭＳ Ｐゴシック" pitchFamily="34" charset="-128"/>
              </a:rPr>
              <a:t>(1 of 2)</a:t>
            </a:r>
            <a:endParaRPr lang="en-US" dirty="0"/>
          </a:p>
        </p:txBody>
      </p:sp>
      <p:sp>
        <p:nvSpPr>
          <p:cNvPr id="3" name="Content Placeholder 2"/>
          <p:cNvSpPr>
            <a:spLocks noGrp="1"/>
          </p:cNvSpPr>
          <p:nvPr>
            <p:ph idx="1"/>
          </p:nvPr>
        </p:nvSpPr>
        <p:spPr>
          <a:xfrm>
            <a:off x="1196310" y="1600200"/>
            <a:ext cx="6754368" cy="1388039"/>
          </a:xfrm>
          <a:ln w="12700">
            <a:solidFill>
              <a:schemeClr val="tx1"/>
            </a:solidFill>
          </a:ln>
        </p:spPr>
        <p:txBody>
          <a:bodyPr>
            <a:normAutofit fontScale="85000" lnSpcReduction="20000"/>
          </a:bodyPr>
          <a:lstStyle/>
          <a:p>
            <a:pPr marL="0" indent="0" algn="ctr">
              <a:spcBef>
                <a:spcPts val="600"/>
              </a:spcBef>
              <a:buNone/>
              <a:defRPr/>
            </a:pPr>
            <a:r>
              <a:rPr lang="en-US" sz="1800" dirty="0"/>
              <a:t>Bradshaw Corporation</a:t>
            </a:r>
          </a:p>
          <a:p>
            <a:pPr marL="0" indent="0" algn="ctr">
              <a:spcBef>
                <a:spcPts val="600"/>
              </a:spcBef>
              <a:buNone/>
              <a:defRPr/>
            </a:pPr>
            <a:r>
              <a:rPr lang="en-US" sz="1800" dirty="0"/>
              <a:t>Statement of Cash Flows (</a:t>
            </a:r>
            <a:r>
              <a:rPr lang="en-US" sz="1800" i="1" dirty="0"/>
              <a:t>Indirect Method</a:t>
            </a:r>
            <a:r>
              <a:rPr lang="en-US" sz="1800" dirty="0"/>
              <a:t>)</a:t>
            </a:r>
          </a:p>
          <a:p>
            <a:pPr marL="0" indent="0" algn="ctr">
              <a:spcBef>
                <a:spcPts val="600"/>
              </a:spcBef>
              <a:buNone/>
              <a:defRPr/>
            </a:pPr>
            <a:r>
              <a:rPr lang="en-US" sz="1800" dirty="0"/>
              <a:t>For the Year Ended December 31, 20X2</a:t>
            </a:r>
          </a:p>
          <a:p>
            <a:pPr marL="0" indent="0" algn="ctr">
              <a:spcBef>
                <a:spcPts val="600"/>
              </a:spcBef>
              <a:buNone/>
              <a:defRPr/>
            </a:pPr>
            <a:r>
              <a:rPr lang="en-US" sz="1800" dirty="0"/>
              <a:t>(in thousands)</a:t>
            </a:r>
          </a:p>
        </p:txBody>
      </p:sp>
      <p:graphicFrame>
        <p:nvGraphicFramePr>
          <p:cNvPr id="4" name="Table 3"/>
          <p:cNvGraphicFramePr>
            <a:graphicFrameLocks noGrp="1"/>
          </p:cNvGraphicFramePr>
          <p:nvPr/>
        </p:nvGraphicFramePr>
        <p:xfrm>
          <a:off x="1193324" y="3028576"/>
          <a:ext cx="6757354" cy="2225040"/>
        </p:xfrm>
        <a:graphic>
          <a:graphicData uri="http://schemas.openxmlformats.org/drawingml/2006/table">
            <a:tbl>
              <a:tblPr firstRow="1" bandRow="1">
                <a:tableStyleId>{2D5ABB26-0587-4C30-8999-92F81FD0307C}</a:tableStyleId>
              </a:tblPr>
              <a:tblGrid>
                <a:gridCol w="4617854">
                  <a:extLst>
                    <a:ext uri="{9D8B030D-6E8A-4147-A177-3AD203B41FA5}">
                      <a16:colId xmlns:a16="http://schemas.microsoft.com/office/drawing/2014/main" val="20000"/>
                    </a:ext>
                  </a:extLst>
                </a:gridCol>
                <a:gridCol w="1069750">
                  <a:extLst>
                    <a:ext uri="{9D8B030D-6E8A-4147-A177-3AD203B41FA5}">
                      <a16:colId xmlns:a16="http://schemas.microsoft.com/office/drawing/2014/main" val="2604028043"/>
                    </a:ext>
                  </a:extLst>
                </a:gridCol>
                <a:gridCol w="1069750">
                  <a:extLst>
                    <a:ext uri="{9D8B030D-6E8A-4147-A177-3AD203B41FA5}">
                      <a16:colId xmlns:a16="http://schemas.microsoft.com/office/drawing/2014/main" val="20001"/>
                    </a:ext>
                  </a:extLst>
                </a:gridCol>
              </a:tblGrid>
              <a:tr h="370840">
                <a:tc>
                  <a:txBody>
                    <a:bodyPr/>
                    <a:lstStyle/>
                    <a:p>
                      <a:r>
                        <a:rPr lang="en-US" sz="1800" dirty="0">
                          <a:latin typeface="+mn-lt"/>
                          <a:ea typeface="+mn-ea"/>
                          <a:cs typeface="Arial" charset="0"/>
                        </a:rPr>
                        <a:t>Cash flows from operating activities:</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274320"/>
                      <a:r>
                        <a:rPr lang="en-US" sz="1800" dirty="0">
                          <a:latin typeface="+mn-lt"/>
                          <a:ea typeface="+mn-ea"/>
                          <a:cs typeface="Arial" charset="0"/>
                        </a:rPr>
                        <a:t>Net Income</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charset="0"/>
                        </a:rPr>
                        <a:t>$41</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274320"/>
                      <a:r>
                        <a:rPr lang="en-US" sz="1800" dirty="0">
                          <a:latin typeface="+mn-lt"/>
                          <a:ea typeface="+mn-ea"/>
                          <a:cs typeface="Arial" charset="0"/>
                        </a:rPr>
                        <a:t>Adjustments to reconcile net income to</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altLang="en-US" sz="1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altLang="en-US" sz="1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274320"/>
                      <a:r>
                        <a:rPr lang="en-US" sz="1800" dirty="0">
                          <a:latin typeface="+mn-lt"/>
                          <a:ea typeface="+mn-ea"/>
                          <a:cs typeface="Arial" charset="0"/>
                        </a:rPr>
                        <a:t>net cash provided by operating activities:</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altLang="en-US" sz="1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altLang="en-US" sz="1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eaLnBrk="1" hangingPunct="1">
                        <a:lnSpc>
                          <a:spcPct val="85000"/>
                        </a:lnSpc>
                      </a:pPr>
                      <a:r>
                        <a:rPr lang="en-US" sz="1800" dirty="0">
                          <a:solidFill>
                            <a:schemeClr val="tx2"/>
                          </a:solidFill>
                          <a:latin typeface="+mn-lt"/>
                          <a:ea typeface="+mn-ea"/>
                          <a:cs typeface="Arial" charset="0"/>
                        </a:rPr>
                        <a:t>A</a:t>
                      </a:r>
                      <a:r>
                        <a:rPr lang="en-US" sz="1800" baseline="0" dirty="0">
                          <a:solidFill>
                            <a:schemeClr val="tx1"/>
                          </a:solidFill>
                          <a:latin typeface="+mn-lt"/>
                          <a:ea typeface="+mn-ea"/>
                          <a:cs typeface="Arial" charset="0"/>
                        </a:rPr>
                        <a:t>  </a:t>
                      </a:r>
                      <a:r>
                        <a:rPr lang="en-US" sz="1800" dirty="0">
                          <a:latin typeface="+mn-lt"/>
                          <a:ea typeface="+mn-ea"/>
                          <a:cs typeface="Arial" charset="0"/>
                        </a:rPr>
                        <a:t>Depreciation</a:t>
                      </a:r>
                      <a:endParaRPr lang="en-US" altLang="en-US"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85000"/>
                        </a:lnSpc>
                        <a:spcBef>
                          <a:spcPts val="0"/>
                        </a:spcBef>
                        <a:spcAft>
                          <a:spcPts val="0"/>
                        </a:spcAft>
                        <a:buClrTx/>
                        <a:buSzTx/>
                        <a:buFontTx/>
                        <a:buNone/>
                        <a:tabLst/>
                        <a:defRPr/>
                      </a:pPr>
                      <a:r>
                        <a:rPr lang="en-US" sz="1800" dirty="0">
                          <a:solidFill>
                            <a:schemeClr val="tx2"/>
                          </a:solidFill>
                          <a:latin typeface="+mn-lt"/>
                          <a:ea typeface="+mn-ea"/>
                          <a:cs typeface="Arial" charset="0"/>
                        </a:rPr>
                        <a:t>B  </a:t>
                      </a:r>
                      <a:r>
                        <a:rPr lang="en-US" sz="1800" dirty="0">
                          <a:latin typeface="+mn-lt"/>
                          <a:ea typeface="+mn-ea"/>
                          <a:cs typeface="Arial" charset="0"/>
                        </a:rPr>
                        <a:t>Gain on sale of capital assets</a:t>
                      </a:r>
                      <a:endParaRPr lang="en-US" altLang="ja-JP"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3633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ea typeface="ＭＳ Ｐゴシック" pitchFamily="34" charset="-128"/>
              </a:rPr>
              <a:t>Statement of Cash Flows: Operating Activities </a:t>
            </a:r>
            <a:r>
              <a:rPr lang="en-US" altLang="en-US" sz="2000" b="0" dirty="0">
                <a:ea typeface="ＭＳ Ｐゴシック" pitchFamily="34" charset="-128"/>
              </a:rPr>
              <a:t>(2 of 2)</a:t>
            </a:r>
            <a:endParaRPr lang="en-US" dirty="0"/>
          </a:p>
        </p:txBody>
      </p:sp>
      <p:sp>
        <p:nvSpPr>
          <p:cNvPr id="3" name="Content Placeholder 2"/>
          <p:cNvSpPr>
            <a:spLocks noGrp="1"/>
          </p:cNvSpPr>
          <p:nvPr>
            <p:ph idx="1"/>
          </p:nvPr>
        </p:nvSpPr>
        <p:spPr>
          <a:xfrm>
            <a:off x="1021080" y="1788608"/>
            <a:ext cx="7208520" cy="1335592"/>
          </a:xfrm>
          <a:ln w="12700">
            <a:solidFill>
              <a:schemeClr val="tx1"/>
            </a:solidFill>
          </a:ln>
        </p:spPr>
        <p:txBody>
          <a:bodyPr>
            <a:normAutofit fontScale="77500" lnSpcReduction="20000"/>
          </a:bodyPr>
          <a:lstStyle/>
          <a:p>
            <a:pPr marL="0" indent="0" algn="ctr">
              <a:spcBef>
                <a:spcPts val="600"/>
              </a:spcBef>
              <a:buNone/>
              <a:defRPr/>
            </a:pPr>
            <a:r>
              <a:rPr lang="en-US" sz="1800" dirty="0">
                <a:cs typeface="Arial" charset="0"/>
              </a:rPr>
              <a:t>Bradshaw Corporation</a:t>
            </a:r>
          </a:p>
          <a:p>
            <a:pPr marL="0" indent="0" algn="ctr">
              <a:spcBef>
                <a:spcPts val="600"/>
              </a:spcBef>
              <a:buNone/>
              <a:defRPr/>
            </a:pPr>
            <a:r>
              <a:rPr lang="en-US" sz="1800" dirty="0">
                <a:cs typeface="Arial" charset="0"/>
              </a:rPr>
              <a:t>Statement of Cash Flows </a:t>
            </a:r>
            <a:r>
              <a:rPr lang="en-US" sz="1800" i="1" dirty="0">
                <a:solidFill>
                  <a:schemeClr val="tx2"/>
                </a:solidFill>
                <a:cs typeface="Arial" charset="0"/>
              </a:rPr>
              <a:t>(Indirect</a:t>
            </a:r>
            <a:r>
              <a:rPr lang="en-US" sz="1800" dirty="0">
                <a:cs typeface="Arial" charset="0"/>
              </a:rPr>
              <a:t> </a:t>
            </a:r>
            <a:r>
              <a:rPr lang="en-US" sz="1800" i="1" dirty="0">
                <a:solidFill>
                  <a:schemeClr val="tx2"/>
                </a:solidFill>
                <a:cs typeface="Arial" charset="0"/>
              </a:rPr>
              <a:t>Method)</a:t>
            </a:r>
          </a:p>
          <a:p>
            <a:pPr marL="0" indent="0" algn="ctr">
              <a:spcBef>
                <a:spcPts val="600"/>
              </a:spcBef>
              <a:buNone/>
              <a:defRPr/>
            </a:pPr>
            <a:r>
              <a:rPr lang="en-US" sz="1800" dirty="0">
                <a:cs typeface="Arial" charset="0"/>
              </a:rPr>
              <a:t>For the Year Ended December 31, 20X2</a:t>
            </a:r>
          </a:p>
          <a:p>
            <a:pPr marL="0" indent="0" algn="ctr">
              <a:spcBef>
                <a:spcPts val="600"/>
              </a:spcBef>
              <a:buNone/>
              <a:defRPr/>
            </a:pPr>
            <a:r>
              <a:rPr lang="en-US" sz="1800" dirty="0">
                <a:cs typeface="Arial" charset="0"/>
              </a:rPr>
              <a:t>(in thousands)</a:t>
            </a:r>
            <a:endParaRPr lang="en-US" sz="1800" dirty="0"/>
          </a:p>
        </p:txBody>
      </p:sp>
      <p:graphicFrame>
        <p:nvGraphicFramePr>
          <p:cNvPr id="4" name="Table 3"/>
          <p:cNvGraphicFramePr>
            <a:graphicFrameLocks noGrp="1"/>
          </p:cNvGraphicFramePr>
          <p:nvPr/>
        </p:nvGraphicFramePr>
        <p:xfrm>
          <a:off x="1017720" y="3173206"/>
          <a:ext cx="7211880" cy="2966720"/>
        </p:xfrm>
        <a:graphic>
          <a:graphicData uri="http://schemas.openxmlformats.org/drawingml/2006/table">
            <a:tbl>
              <a:tblPr firstRow="1" bandRow="1">
                <a:tableStyleId>{2D5ABB26-0587-4C30-8999-92F81FD0307C}</a:tableStyleId>
              </a:tblPr>
              <a:tblGrid>
                <a:gridCol w="5486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11080">
                  <a:extLst>
                    <a:ext uri="{9D8B030D-6E8A-4147-A177-3AD203B41FA5}">
                      <a16:colId xmlns:a16="http://schemas.microsoft.com/office/drawing/2014/main" val="20002"/>
                    </a:ext>
                  </a:extLst>
                </a:gridCol>
              </a:tblGrid>
              <a:tr h="370840">
                <a:tc>
                  <a:txBody>
                    <a:bodyPr/>
                    <a:lstStyle/>
                    <a:p>
                      <a:r>
                        <a:rPr lang="en-US" sz="1800" dirty="0">
                          <a:solidFill>
                            <a:schemeClr val="tx2"/>
                          </a:solidFill>
                          <a:latin typeface="+mn-lt"/>
                          <a:ea typeface="+mn-ea"/>
                          <a:cs typeface="Arial" charset="0"/>
                        </a:rPr>
                        <a:t>C</a:t>
                      </a:r>
                      <a:r>
                        <a:rPr lang="en-US" sz="1800" dirty="0">
                          <a:latin typeface="+mn-lt"/>
                          <a:ea typeface="+mn-ea"/>
                          <a:cs typeface="Arial" charset="0"/>
                        </a:rPr>
                        <a:t>  Increase in accounts receivable</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dirty="0">
                          <a:solidFill>
                            <a:schemeClr val="tx2"/>
                          </a:solidFill>
                          <a:latin typeface="+mn-lt"/>
                          <a:ea typeface="+mn-ea"/>
                          <a:cs typeface="Arial" charset="0"/>
                        </a:rPr>
                        <a:t>C</a:t>
                      </a:r>
                      <a:r>
                        <a:rPr lang="en-US" sz="1800" dirty="0">
                          <a:latin typeface="+mn-lt"/>
                          <a:ea typeface="+mn-ea"/>
                          <a:cs typeface="Arial" charset="0"/>
                        </a:rPr>
                        <a:t>  Increase in interest receivable</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(2)</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800" dirty="0">
                          <a:solidFill>
                            <a:schemeClr val="tx2"/>
                          </a:solidFill>
                          <a:latin typeface="+mn-lt"/>
                          <a:ea typeface="+mn-ea"/>
                          <a:cs typeface="Arial" charset="0"/>
                        </a:rPr>
                        <a:t>C</a:t>
                      </a:r>
                      <a:r>
                        <a:rPr lang="en-US" sz="1800" dirty="0">
                          <a:latin typeface="+mn-lt"/>
                          <a:ea typeface="+mn-ea"/>
                          <a:cs typeface="Arial" charset="0"/>
                        </a:rPr>
                        <a:t>  Decrease in inventory</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800" dirty="0">
                          <a:latin typeface="+mn-lt"/>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altLang="en-US" sz="1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800" dirty="0">
                          <a:solidFill>
                            <a:schemeClr val="tx2"/>
                          </a:solidFill>
                          <a:latin typeface="+mn-lt"/>
                          <a:ea typeface="+mn-ea"/>
                          <a:cs typeface="Arial" charset="0"/>
                        </a:rPr>
                        <a:t>C</a:t>
                      </a:r>
                      <a:r>
                        <a:rPr lang="en-US" sz="1800" dirty="0">
                          <a:latin typeface="+mn-lt"/>
                          <a:ea typeface="+mn-ea"/>
                          <a:cs typeface="Arial" charset="0"/>
                        </a:rPr>
                        <a:t>  Increase in prepaid expenses</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800" dirty="0">
                          <a:latin typeface="+mn-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altLang="en-US" sz="1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eaLnBrk="1" hangingPunct="1">
                        <a:lnSpc>
                          <a:spcPct val="85000"/>
                        </a:lnSpc>
                      </a:pPr>
                      <a:r>
                        <a:rPr lang="en-US" sz="1800" dirty="0">
                          <a:solidFill>
                            <a:schemeClr val="tx2"/>
                          </a:solidFill>
                          <a:latin typeface="+mn-lt"/>
                          <a:ea typeface="+mn-ea"/>
                          <a:cs typeface="Arial" charset="0"/>
                        </a:rPr>
                        <a:t>C</a:t>
                      </a:r>
                      <a:r>
                        <a:rPr lang="en-US" sz="1800" dirty="0">
                          <a:latin typeface="+mn-lt"/>
                          <a:ea typeface="+mn-ea"/>
                          <a:cs typeface="Arial" charset="0"/>
                        </a:rPr>
                        <a:t>  Increase in accounts payable</a:t>
                      </a:r>
                      <a:endParaRPr lang="en-US" altLang="en-US"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dirty="0"/>
                        <a:t>34</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85000"/>
                        </a:lnSpc>
                        <a:spcBef>
                          <a:spcPts val="0"/>
                        </a:spcBef>
                        <a:spcAft>
                          <a:spcPts val="0"/>
                        </a:spcAft>
                        <a:buClrTx/>
                        <a:buSzTx/>
                        <a:buFontTx/>
                        <a:buNone/>
                        <a:tabLst/>
                        <a:defRPr/>
                      </a:pPr>
                      <a:r>
                        <a:rPr lang="en-US" sz="1800" dirty="0">
                          <a:solidFill>
                            <a:schemeClr val="tx2"/>
                          </a:solidFill>
                          <a:latin typeface="+mn-lt"/>
                          <a:ea typeface="+mn-ea"/>
                          <a:cs typeface="Arial" charset="0"/>
                        </a:rPr>
                        <a:t>C</a:t>
                      </a:r>
                      <a:r>
                        <a:rPr lang="en-US" sz="1800" dirty="0">
                          <a:latin typeface="+mn-lt"/>
                          <a:ea typeface="+mn-ea"/>
                          <a:cs typeface="Arial" charset="0"/>
                        </a:rPr>
                        <a:t>  Decrease is salary and wages payable</a:t>
                      </a:r>
                      <a:endParaRPr lang="en-US" altLang="ja-JP"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eaLnBrk="1" hangingPunct="1">
                        <a:lnSpc>
                          <a:spcPct val="85000"/>
                        </a:lnSpc>
                      </a:pPr>
                      <a:r>
                        <a:rPr lang="en-US" sz="1800" dirty="0">
                          <a:solidFill>
                            <a:schemeClr val="tx2"/>
                          </a:solidFill>
                          <a:latin typeface="+mn-lt"/>
                          <a:ea typeface="+mn-ea"/>
                          <a:cs typeface="Arial" charset="0"/>
                        </a:rPr>
                        <a:t>C</a:t>
                      </a:r>
                      <a:r>
                        <a:rPr lang="en-US" sz="1800" dirty="0">
                          <a:latin typeface="+mn-lt"/>
                          <a:ea typeface="+mn-ea"/>
                          <a:cs typeface="Arial" charset="0"/>
                        </a:rPr>
                        <a:t>  Decrease in accrued liabilities</a:t>
                      </a:r>
                      <a:endParaRPr lang="en-US" altLang="ja-JP"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u="none" dirty="0">
                          <a:latin typeface="+mn-l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r"/>
                      <a:r>
                        <a:rPr lang="en-US" u="none" dirty="0">
                          <a:latin typeface="+mn-lt"/>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eaLnBrk="1" hangingPunct="1">
                        <a:lnSpc>
                          <a:spcPct val="85000"/>
                        </a:lnSpc>
                      </a:pPr>
                      <a:r>
                        <a:rPr lang="en-US" sz="1800" dirty="0">
                          <a:latin typeface="+mn-lt"/>
                          <a:ea typeface="+mn-ea"/>
                          <a:cs typeface="Arial" charset="0"/>
                        </a:rPr>
                        <a:t>Net cash provided by operating activities</a:t>
                      </a:r>
                      <a:endParaRPr lang="en-US" altLang="ja-JP"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$68</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401893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ea typeface="ＭＳ Ｐゴシック" pitchFamily="34" charset="-128"/>
              </a:rPr>
              <a:t>Statement of Cash Flows: Investing Activities</a:t>
            </a:r>
            <a:endParaRPr lang="en-US" dirty="0"/>
          </a:p>
        </p:txBody>
      </p:sp>
      <p:sp>
        <p:nvSpPr>
          <p:cNvPr id="3" name="Content Placeholder 2"/>
          <p:cNvSpPr>
            <a:spLocks noGrp="1"/>
          </p:cNvSpPr>
          <p:nvPr>
            <p:ph idx="1"/>
          </p:nvPr>
        </p:nvSpPr>
        <p:spPr>
          <a:xfrm>
            <a:off x="1424940" y="1828801"/>
            <a:ext cx="6294120" cy="1371600"/>
          </a:xfrm>
          <a:ln w="12700">
            <a:solidFill>
              <a:schemeClr val="tx1"/>
            </a:solidFill>
          </a:ln>
        </p:spPr>
        <p:txBody>
          <a:bodyPr>
            <a:normAutofit fontScale="85000" lnSpcReduction="20000"/>
          </a:bodyPr>
          <a:lstStyle/>
          <a:p>
            <a:pPr marL="0" indent="0" algn="ctr">
              <a:spcBef>
                <a:spcPts val="600"/>
              </a:spcBef>
              <a:buNone/>
              <a:defRPr/>
            </a:pPr>
            <a:r>
              <a:rPr lang="en-US" sz="1800" dirty="0">
                <a:cs typeface="Arial" charset="0"/>
              </a:rPr>
              <a:t>Bradshaw Corporation</a:t>
            </a:r>
          </a:p>
          <a:p>
            <a:pPr marL="0" indent="0" algn="ctr">
              <a:spcBef>
                <a:spcPts val="600"/>
              </a:spcBef>
              <a:buNone/>
              <a:defRPr/>
            </a:pPr>
            <a:r>
              <a:rPr lang="en-US" sz="1800" dirty="0">
                <a:cs typeface="Arial" charset="0"/>
              </a:rPr>
              <a:t>Statement of Cash Flows </a:t>
            </a:r>
            <a:r>
              <a:rPr lang="en-US" sz="1800" i="1" dirty="0">
                <a:solidFill>
                  <a:schemeClr val="tx2"/>
                </a:solidFill>
                <a:cs typeface="Arial" charset="0"/>
              </a:rPr>
              <a:t>(Indirect</a:t>
            </a:r>
            <a:r>
              <a:rPr lang="en-US" sz="1800" dirty="0">
                <a:cs typeface="Arial" charset="0"/>
              </a:rPr>
              <a:t> </a:t>
            </a:r>
            <a:r>
              <a:rPr lang="en-US" sz="1800" i="1" dirty="0">
                <a:solidFill>
                  <a:schemeClr val="tx2"/>
                </a:solidFill>
                <a:cs typeface="Arial" charset="0"/>
              </a:rPr>
              <a:t>Method)</a:t>
            </a:r>
          </a:p>
          <a:p>
            <a:pPr marL="0" indent="0" algn="ctr">
              <a:spcBef>
                <a:spcPts val="600"/>
              </a:spcBef>
              <a:buNone/>
              <a:defRPr/>
            </a:pPr>
            <a:r>
              <a:rPr lang="en-US" sz="1800" dirty="0">
                <a:cs typeface="Arial" charset="0"/>
              </a:rPr>
              <a:t>For the Year Ended December 31, 20X2</a:t>
            </a:r>
          </a:p>
          <a:p>
            <a:pPr marL="0" indent="0" algn="ctr">
              <a:spcBef>
                <a:spcPts val="600"/>
              </a:spcBef>
              <a:buNone/>
              <a:defRPr/>
            </a:pPr>
            <a:r>
              <a:rPr lang="en-US" sz="1800" dirty="0">
                <a:cs typeface="Arial" charset="0"/>
              </a:rPr>
              <a:t>(in thousands)</a:t>
            </a:r>
            <a:endParaRPr lang="en-US" sz="1800" dirty="0"/>
          </a:p>
        </p:txBody>
      </p:sp>
      <p:graphicFrame>
        <p:nvGraphicFramePr>
          <p:cNvPr id="4" name="Table 3"/>
          <p:cNvGraphicFramePr>
            <a:graphicFrameLocks noGrp="1"/>
          </p:cNvGraphicFramePr>
          <p:nvPr/>
        </p:nvGraphicFramePr>
        <p:xfrm>
          <a:off x="1423260" y="3188748"/>
          <a:ext cx="6297480" cy="2041144"/>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20000"/>
                    </a:ext>
                  </a:extLst>
                </a:gridCol>
                <a:gridCol w="1039680">
                  <a:extLst>
                    <a:ext uri="{9D8B030D-6E8A-4147-A177-3AD203B41FA5}">
                      <a16:colId xmlns:a16="http://schemas.microsoft.com/office/drawing/2014/main" val="20001"/>
                    </a:ext>
                  </a:extLst>
                </a:gridCol>
              </a:tblGrid>
              <a:tr h="370840">
                <a:tc>
                  <a:txBody>
                    <a:bodyPr/>
                    <a:lstStyle/>
                    <a:p>
                      <a:pPr defTabSz="457200" eaLnBrk="1" hangingPunct="1">
                        <a:defRPr/>
                      </a:pPr>
                      <a:r>
                        <a:rPr lang="en-US" sz="1800" dirty="0">
                          <a:latin typeface="+mn-lt"/>
                          <a:ea typeface="+mn-ea"/>
                          <a:cs typeface="Arial" charset="0"/>
                        </a:rPr>
                        <a:t>Cash flows from investing activities: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dirty="0">
                          <a:latin typeface="+mn-lt"/>
                          <a:ea typeface="+mn-ea"/>
                          <a:cs typeface="Arial" charset="0"/>
                        </a:rPr>
                        <a:t>Acquisition of property</a:t>
                      </a:r>
                      <a:r>
                        <a:rPr lang="en-US" sz="1800">
                          <a:latin typeface="+mn-lt"/>
                          <a:ea typeface="+mn-ea"/>
                          <a:cs typeface="Arial" charset="0"/>
                        </a:rPr>
                        <a:t>, plant,</a:t>
                      </a:r>
                      <a:r>
                        <a:rPr lang="en-US" sz="1800" baseline="0">
                          <a:latin typeface="+mn-lt"/>
                          <a:ea typeface="+mn-ea"/>
                          <a:cs typeface="Arial" charset="0"/>
                        </a:rPr>
                        <a:t> </a:t>
                      </a:r>
                      <a:r>
                        <a:rPr lang="en-US" sz="1800" baseline="0" dirty="0">
                          <a:latin typeface="+mn-lt"/>
                          <a:ea typeface="+mn-ea"/>
                          <a:cs typeface="Arial" charset="0"/>
                        </a:rPr>
                        <a:t>and</a:t>
                      </a:r>
                      <a:r>
                        <a:rPr lang="en-US" sz="1800" dirty="0">
                          <a:latin typeface="+mn-lt"/>
                          <a:ea typeface="+mn-ea"/>
                          <a:cs typeface="Arial" charset="0"/>
                        </a:rPr>
                        <a:t> equipment</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charset="0"/>
                        </a:rPr>
                        <a:t>$(206)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85000"/>
                        </a:lnSpc>
                        <a:spcBef>
                          <a:spcPts val="0"/>
                        </a:spcBef>
                        <a:spcAft>
                          <a:spcPts val="0"/>
                        </a:spcAft>
                        <a:buClrTx/>
                        <a:buSzTx/>
                        <a:buFontTx/>
                        <a:buNone/>
                        <a:tabLst/>
                        <a:defRPr/>
                      </a:pPr>
                      <a:r>
                        <a:rPr lang="en-US" sz="1800" dirty="0">
                          <a:latin typeface="+mn-lt"/>
                          <a:ea typeface="+mn-ea"/>
                          <a:cs typeface="Arial" charset="0"/>
                        </a:rPr>
                        <a:t>Loan to another company</a:t>
                      </a:r>
                      <a:endParaRPr lang="en-US" altLang="ja-JP"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eaLnBrk="1" hangingPunct="1">
                        <a:lnSpc>
                          <a:spcPct val="85000"/>
                        </a:lnSpc>
                      </a:pPr>
                      <a:r>
                        <a:rPr lang="en-US" sz="1800" dirty="0">
                          <a:latin typeface="+mn-lt"/>
                          <a:ea typeface="+mn-ea"/>
                          <a:cs typeface="Arial" charset="0"/>
                        </a:rPr>
                        <a:t>Proceeds from sale of property, plant,</a:t>
                      </a:r>
                      <a:r>
                        <a:rPr lang="en-US" sz="1800" baseline="0" dirty="0">
                          <a:latin typeface="+mn-lt"/>
                          <a:ea typeface="+mn-ea"/>
                          <a:cs typeface="Arial" charset="0"/>
                        </a:rPr>
                        <a:t> and</a:t>
                      </a:r>
                      <a:r>
                        <a:rPr lang="en-US" sz="1800" dirty="0">
                          <a:latin typeface="+mn-lt"/>
                          <a:ea typeface="+mn-ea"/>
                          <a:cs typeface="Arial" charset="0"/>
                        </a:rPr>
                        <a:t> equipment</a:t>
                      </a:r>
                      <a:endParaRPr lang="en-US" altLang="ja-JP"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u="none" dirty="0">
                          <a:latin typeface="+mn-lt"/>
                        </a:rPr>
                        <a:t>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274320" eaLnBrk="1" hangingPunct="1">
                        <a:lnSpc>
                          <a:spcPct val="85000"/>
                        </a:lnSpc>
                      </a:pPr>
                      <a:r>
                        <a:rPr lang="en-US" sz="1800" dirty="0">
                          <a:latin typeface="+mn-lt"/>
                          <a:ea typeface="+mn-ea"/>
                          <a:cs typeface="Arial" charset="0"/>
                        </a:rPr>
                        <a:t>Net cash used for investing activities</a:t>
                      </a:r>
                      <a:endParaRPr lang="en-US" altLang="ja-JP"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$(155)</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94205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ltLang="en-US" dirty="0">
                <a:ea typeface="ＭＳ Ｐゴシック" pitchFamily="34" charset="-128"/>
              </a:rPr>
              <a:t>Computing Acquisition and Sales of Tangible and Intangible Assets</a:t>
            </a:r>
            <a:endParaRPr lang="en-US" dirty="0"/>
          </a:p>
        </p:txBody>
      </p:sp>
      <p:sp>
        <p:nvSpPr>
          <p:cNvPr id="5" name="Content Placeholder 4"/>
          <p:cNvSpPr>
            <a:spLocks noGrp="1"/>
          </p:cNvSpPr>
          <p:nvPr>
            <p:ph idx="1"/>
          </p:nvPr>
        </p:nvSpPr>
        <p:spPr/>
        <p:txBody>
          <a:bodyPr anchor="ctr"/>
          <a:lstStyle/>
          <a:p>
            <a:pPr marL="0" indent="0" algn="ctr">
              <a:buNone/>
              <a:defRPr/>
            </a:pPr>
            <a:r>
              <a:rPr lang="en-US" sz="2400" dirty="0">
                <a:cs typeface="Arial" charset="0"/>
              </a:rPr>
              <a:t>Bradshaw had capital assets, net of </a:t>
            </a:r>
            <a:br>
              <a:rPr lang="en-US" sz="2400" dirty="0">
                <a:cs typeface="Arial" charset="0"/>
              </a:rPr>
            </a:br>
            <a:r>
              <a:rPr lang="en-US" sz="2400" dirty="0">
                <a:cs typeface="Arial" charset="0"/>
              </a:rPr>
              <a:t>depreciation, of $219,000 at the beginning </a:t>
            </a:r>
            <a:br>
              <a:rPr lang="en-US" sz="2400" dirty="0">
                <a:cs typeface="Arial" charset="0"/>
              </a:rPr>
            </a:br>
            <a:r>
              <a:rPr lang="en-US" sz="2400" dirty="0">
                <a:cs typeface="Arial" charset="0"/>
              </a:rPr>
              <a:t>of the year and $353,000 at year end.</a:t>
            </a:r>
          </a:p>
          <a:p>
            <a:pPr marL="0" indent="0" algn="ctr">
              <a:buNone/>
              <a:defRPr/>
            </a:pPr>
            <a:r>
              <a:rPr lang="en-US" sz="2400" dirty="0">
                <a:cs typeface="Arial" charset="0"/>
              </a:rPr>
              <a:t>The acquisition of capital assets amounted </a:t>
            </a:r>
            <a:br>
              <a:rPr lang="en-US" sz="2400" dirty="0">
                <a:cs typeface="Arial" charset="0"/>
              </a:rPr>
            </a:br>
            <a:r>
              <a:rPr lang="en-US" sz="2400" dirty="0">
                <a:cs typeface="Arial" charset="0"/>
              </a:rPr>
              <a:t>to $206,000 during the year.</a:t>
            </a:r>
            <a:endParaRPr lang="en-US" sz="2400" dirty="0"/>
          </a:p>
        </p:txBody>
      </p:sp>
    </p:spTree>
    <p:extLst>
      <p:ext uri="{BB962C8B-B14F-4D97-AF65-F5344CB8AC3E}">
        <p14:creationId xmlns:p14="http://schemas.microsoft.com/office/powerpoint/2010/main" val="437438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ea typeface="ＭＳ Ｐゴシック" pitchFamily="34" charset="-128"/>
              </a:rPr>
              <a:t>Computing Acquisition and Sales of Capital Assets </a:t>
            </a:r>
            <a:r>
              <a:rPr lang="en-US" altLang="en-US" sz="2000" b="0" dirty="0">
                <a:ea typeface="ＭＳ Ｐゴシック" pitchFamily="34" charset="-128"/>
              </a:rPr>
              <a:t>(1 of 4)</a:t>
            </a:r>
            <a:endParaRPr lang="en-US" dirty="0"/>
          </a:p>
        </p:txBody>
      </p:sp>
      <p:sp>
        <p:nvSpPr>
          <p:cNvPr id="4" name="Content Placeholder 3"/>
          <p:cNvSpPr>
            <a:spLocks noGrp="1"/>
          </p:cNvSpPr>
          <p:nvPr>
            <p:ph idx="1"/>
          </p:nvPr>
        </p:nvSpPr>
        <p:spPr/>
        <p:txBody>
          <a:bodyPr/>
          <a:lstStyle/>
          <a:p>
            <a:pPr marL="0" indent="0" algn="ctr">
              <a:buNone/>
              <a:defRPr/>
            </a:pPr>
            <a:r>
              <a:rPr lang="en-US" sz="2400" dirty="0">
                <a:cs typeface="Arial" charset="0"/>
              </a:rPr>
              <a:t>The income statement shows depreciation of </a:t>
            </a:r>
            <a:br>
              <a:rPr lang="en-US" sz="2400" dirty="0">
                <a:cs typeface="Arial" charset="0"/>
              </a:rPr>
            </a:br>
            <a:r>
              <a:rPr lang="en-US" sz="2400" dirty="0">
                <a:cs typeface="Arial" charset="0"/>
              </a:rPr>
              <a:t>$18,000 and an $8,000 gain on sale of property, </a:t>
            </a:r>
            <a:br>
              <a:rPr lang="en-US" sz="2400" dirty="0">
                <a:cs typeface="Arial" charset="0"/>
              </a:rPr>
            </a:br>
            <a:r>
              <a:rPr lang="en-US" sz="2400" dirty="0">
                <a:cs typeface="Arial" charset="0"/>
              </a:rPr>
              <a:t>plant, and equipment.</a:t>
            </a:r>
          </a:p>
          <a:p>
            <a:pPr marL="0" indent="0" algn="ctr">
              <a:buNone/>
              <a:defRPr/>
            </a:pPr>
            <a:r>
              <a:rPr lang="en-US" sz="2400" dirty="0">
                <a:cs typeface="Arial" charset="0"/>
              </a:rPr>
              <a:t>What is the carrying amount of the assets sold?</a:t>
            </a:r>
          </a:p>
          <a:p>
            <a:pPr marL="0" indent="0" algn="ctr">
              <a:buNone/>
              <a:defRPr/>
            </a:pPr>
            <a:endParaRPr lang="en-US" sz="2400" dirty="0">
              <a:cs typeface="Arial" charset="0"/>
            </a:endParaRPr>
          </a:p>
          <a:p>
            <a:pPr marL="0" indent="0" algn="ctr">
              <a:buNone/>
              <a:defRPr/>
            </a:pPr>
            <a:r>
              <a:rPr lang="en-US" altLang="en-US" sz="2400" dirty="0"/>
              <a:t>Beginning balance + Acquisitions – Depreciation </a:t>
            </a:r>
            <a:br>
              <a:rPr lang="en-US" altLang="en-US" sz="2400" dirty="0"/>
            </a:br>
            <a:r>
              <a:rPr lang="en-US" altLang="en-US" sz="2400" dirty="0"/>
              <a:t>– </a:t>
            </a:r>
            <a:r>
              <a:rPr lang="en-US" altLang="en-US" sz="2400" i="1" dirty="0">
                <a:solidFill>
                  <a:schemeClr val="tx2"/>
                </a:solidFill>
              </a:rPr>
              <a:t>Carrying amount of assets sold</a:t>
            </a:r>
            <a:r>
              <a:rPr lang="en-US" altLang="en-US" sz="2400" dirty="0"/>
              <a:t> = Ending balance</a:t>
            </a:r>
            <a:endParaRPr lang="en-US" sz="2400" dirty="0"/>
          </a:p>
          <a:p>
            <a:pPr marL="0" indent="0" algn="ctr">
              <a:buNone/>
              <a:defRPr/>
            </a:pPr>
            <a:endParaRPr lang="en-US" dirty="0"/>
          </a:p>
        </p:txBody>
      </p:sp>
    </p:spTree>
    <p:extLst>
      <p:ext uri="{BB962C8B-B14F-4D97-AF65-F5344CB8AC3E}">
        <p14:creationId xmlns:p14="http://schemas.microsoft.com/office/powerpoint/2010/main" val="1674618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ea typeface="ＭＳ Ｐゴシック" pitchFamily="34" charset="-128"/>
              </a:rPr>
              <a:t>Computing Acquisition and Sales of Capital Assets </a:t>
            </a:r>
            <a:r>
              <a:rPr lang="en-US" altLang="en-US" sz="2000" b="0" dirty="0">
                <a:ea typeface="ＭＳ Ｐゴシック" pitchFamily="34" charset="-128"/>
              </a:rPr>
              <a:t>(2 of 4)</a:t>
            </a:r>
            <a:endParaRPr lang="en-US" dirty="0"/>
          </a:p>
        </p:txBody>
      </p:sp>
      <p:sp>
        <p:nvSpPr>
          <p:cNvPr id="3" name="Content Placeholder 2"/>
          <p:cNvSpPr>
            <a:spLocks noGrp="1"/>
          </p:cNvSpPr>
          <p:nvPr>
            <p:ph idx="1"/>
          </p:nvPr>
        </p:nvSpPr>
        <p:spPr/>
        <p:txBody>
          <a:bodyPr anchor="ctr"/>
          <a:lstStyle/>
          <a:p>
            <a:pPr marL="0" indent="0" algn="ctr">
              <a:buNone/>
            </a:pPr>
            <a:r>
              <a:rPr lang="en-US" altLang="en-US" sz="2400" dirty="0"/>
              <a:t>$219,000 + $206,000 – $18,000 </a:t>
            </a:r>
            <a:r>
              <a:rPr lang="en-US" altLang="en-US" dirty="0"/>
              <a:t>− </a:t>
            </a:r>
            <a:r>
              <a:rPr lang="en-US" altLang="en-US" sz="2400" dirty="0">
                <a:solidFill>
                  <a:schemeClr val="tx2"/>
                </a:solidFill>
              </a:rPr>
              <a:t>X</a:t>
            </a:r>
            <a:r>
              <a:rPr lang="en-US" altLang="en-US" sz="2400" dirty="0"/>
              <a:t>  = $353,000</a:t>
            </a:r>
          </a:p>
          <a:p>
            <a:pPr marL="0" indent="0" algn="ctr">
              <a:buNone/>
            </a:pPr>
            <a:r>
              <a:rPr lang="en-US" altLang="en-US" sz="2400" dirty="0">
                <a:solidFill>
                  <a:schemeClr val="tx2"/>
                </a:solidFill>
              </a:rPr>
              <a:t>X</a:t>
            </a:r>
            <a:r>
              <a:rPr lang="en-US" altLang="en-US" sz="2400" dirty="0"/>
              <a:t> = $219,000 + $206,000 </a:t>
            </a:r>
            <a:r>
              <a:rPr lang="en-US" altLang="en-US" dirty="0"/>
              <a:t>− </a:t>
            </a:r>
            <a:r>
              <a:rPr lang="en-US" altLang="en-US" sz="2400" dirty="0"/>
              <a:t>$18,000 </a:t>
            </a:r>
            <a:r>
              <a:rPr lang="en-US" altLang="en-US" dirty="0"/>
              <a:t>− </a:t>
            </a:r>
            <a:r>
              <a:rPr lang="en-US" altLang="en-US" sz="2400" dirty="0"/>
              <a:t>$353,000</a:t>
            </a:r>
          </a:p>
          <a:p>
            <a:pPr marL="0" indent="0" algn="ctr">
              <a:spcAft>
                <a:spcPts val="1500"/>
              </a:spcAft>
              <a:buNone/>
            </a:pPr>
            <a:r>
              <a:rPr lang="en-US" sz="2400" dirty="0">
                <a:solidFill>
                  <a:schemeClr val="tx2"/>
                </a:solidFill>
                <a:cs typeface="Arial" charset="0"/>
              </a:rPr>
              <a:t>X</a:t>
            </a:r>
            <a:r>
              <a:rPr lang="en-US" sz="2400" dirty="0">
                <a:cs typeface="Arial" charset="0"/>
              </a:rPr>
              <a:t> = $54,000 (Carrying Amount)</a:t>
            </a:r>
          </a:p>
          <a:p>
            <a:pPr marL="0" indent="0" algn="ctr">
              <a:buNone/>
            </a:pPr>
            <a:r>
              <a:rPr lang="en-US" sz="2400" dirty="0">
                <a:cs typeface="Arial" charset="0"/>
              </a:rPr>
              <a:t>How much are the proceeds </a:t>
            </a:r>
            <a:br>
              <a:rPr lang="en-US" sz="2400" dirty="0">
                <a:cs typeface="Arial" charset="0"/>
              </a:rPr>
            </a:br>
            <a:r>
              <a:rPr lang="en-US" sz="2400" dirty="0">
                <a:cs typeface="Arial" charset="0"/>
              </a:rPr>
              <a:t>from the sale of capital assets?</a:t>
            </a:r>
            <a:endParaRPr lang="en-US" sz="2400" dirty="0"/>
          </a:p>
        </p:txBody>
      </p:sp>
    </p:spTree>
    <p:extLst>
      <p:ext uri="{BB962C8B-B14F-4D97-AF65-F5344CB8AC3E}">
        <p14:creationId xmlns:p14="http://schemas.microsoft.com/office/powerpoint/2010/main" val="2726281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ltLang="en-US" dirty="0">
                <a:ea typeface="ＭＳ Ｐゴシック" pitchFamily="34" charset="-128"/>
              </a:rPr>
              <a:t>Computing Acquisition and Sales of Capital Assets </a:t>
            </a:r>
            <a:r>
              <a:rPr lang="en-US" altLang="en-US" sz="2000" b="0" dirty="0">
                <a:ea typeface="ＭＳ Ｐゴシック" pitchFamily="34" charset="-128"/>
              </a:rPr>
              <a:t>(3 of 4)</a:t>
            </a:r>
            <a:endParaRPr lang="en-US" dirty="0"/>
          </a:p>
        </p:txBody>
      </p:sp>
      <p:sp>
        <p:nvSpPr>
          <p:cNvPr id="5" name="Content Placeholder 4"/>
          <p:cNvSpPr>
            <a:spLocks noGrp="1"/>
          </p:cNvSpPr>
          <p:nvPr>
            <p:ph idx="1"/>
          </p:nvPr>
        </p:nvSpPr>
        <p:spPr/>
        <p:txBody>
          <a:bodyPr anchor="ctr"/>
          <a:lstStyle/>
          <a:p>
            <a:pPr marL="0" indent="0" algn="ctr">
              <a:spcAft>
                <a:spcPts val="1500"/>
              </a:spcAft>
              <a:buNone/>
              <a:tabLst>
                <a:tab pos="2805113" algn="l"/>
              </a:tabLst>
            </a:pPr>
            <a:r>
              <a:rPr lang="en-US" altLang="en-US" sz="2400" dirty="0"/>
              <a:t>Carrying Amount + Gain – Loss = Sale proceeds</a:t>
            </a:r>
          </a:p>
          <a:p>
            <a:pPr marL="0" indent="0" algn="ctr">
              <a:spcAft>
                <a:spcPts val="1500"/>
              </a:spcAft>
              <a:buNone/>
              <a:tabLst>
                <a:tab pos="2805113" algn="l"/>
              </a:tabLst>
            </a:pPr>
            <a:r>
              <a:rPr lang="en-US" altLang="en-US" sz="2400" dirty="0"/>
              <a:t>Sale proceeds = $54,000 + $8,000 – 0 = $62,000</a:t>
            </a:r>
            <a:endParaRPr lang="en-US" sz="2400" dirty="0"/>
          </a:p>
        </p:txBody>
      </p:sp>
    </p:spTree>
    <p:extLst>
      <p:ext uri="{BB962C8B-B14F-4D97-AF65-F5344CB8AC3E}">
        <p14:creationId xmlns:p14="http://schemas.microsoft.com/office/powerpoint/2010/main" val="2001171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ea typeface="ＭＳ Ｐゴシック" pitchFamily="34" charset="-128"/>
              </a:rPr>
              <a:t>Computing Acquisition and Sales of Capital Assets </a:t>
            </a:r>
            <a:r>
              <a:rPr lang="en-US" altLang="en-US" sz="2000" b="0" dirty="0">
                <a:ea typeface="ＭＳ Ｐゴシック" pitchFamily="34" charset="-128"/>
              </a:rPr>
              <a:t>(4 of 4)</a:t>
            </a:r>
            <a:endParaRPr lang="en-US" dirty="0"/>
          </a:p>
        </p:txBody>
      </p:sp>
      <p:graphicFrame>
        <p:nvGraphicFramePr>
          <p:cNvPr id="5" name="Table 4"/>
          <p:cNvGraphicFramePr>
            <a:graphicFrameLocks noGrp="1"/>
          </p:cNvGraphicFramePr>
          <p:nvPr/>
        </p:nvGraphicFramePr>
        <p:xfrm>
          <a:off x="995045" y="2367280"/>
          <a:ext cx="7153910" cy="2123440"/>
        </p:xfrm>
        <a:graphic>
          <a:graphicData uri="http://schemas.openxmlformats.org/drawingml/2006/table">
            <a:tbl>
              <a:tblPr firstRow="1" bandRow="1">
                <a:tableStyleId>{2D5ABB26-0587-4C30-8999-92F81FD0307C}</a:tableStyleId>
              </a:tblPr>
              <a:tblGrid>
                <a:gridCol w="210693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99898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gridSpan="4">
                  <a:txBody>
                    <a:bodyPr/>
                    <a:lstStyle/>
                    <a:p>
                      <a:pPr algn="ctr"/>
                      <a:r>
                        <a:rPr lang="en-US" sz="1800" dirty="0">
                          <a:latin typeface="+mn-lt"/>
                          <a:ea typeface="+mn-ea"/>
                          <a:cs typeface="Arial" charset="0"/>
                        </a:rPr>
                        <a:t>Capital Assets (Net)</a:t>
                      </a:r>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r>
                        <a:rPr lang="en-US" altLang="en-US" dirty="0">
                          <a:latin typeface="+mn-lt"/>
                        </a:rPr>
                        <a:t>Beginning balance</a:t>
                      </a:r>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altLang="en-US" dirty="0">
                          <a:latin typeface="+mn-lt"/>
                        </a:rPr>
                        <a:t>219,000</a:t>
                      </a:r>
                      <a:endParaRPr lang="en-US" dirty="0">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latin typeface="+mn-lt"/>
                          <a:ea typeface="+mn-ea"/>
                          <a:cs typeface="Arial" charset="0"/>
                        </a:rPr>
                        <a:t>Depreciation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dirty="0">
                          <a:latin typeface="+mn-lt"/>
                          <a:ea typeface="+mn-ea"/>
                          <a:cs typeface="Arial" charset="0"/>
                        </a:rPr>
                        <a:t>18,000</a:t>
                      </a:r>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r>
                        <a:rPr lang="en-US" altLang="en-US" dirty="0">
                          <a:latin typeface="+mn-lt"/>
                        </a:rPr>
                        <a:t>Acquisitions</a:t>
                      </a:r>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altLang="en-US" dirty="0">
                          <a:latin typeface="+mn-lt"/>
                        </a:rPr>
                        <a:t>206,000</a:t>
                      </a:r>
                      <a:endParaRPr lang="en-US" dirty="0">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defTabSz="466725" eaLnBrk="1" hangingPunct="1">
                        <a:defRPr/>
                      </a:pPr>
                      <a:r>
                        <a:rPr lang="en-US" sz="1800" dirty="0">
                          <a:solidFill>
                            <a:schemeClr val="tx2"/>
                          </a:solidFill>
                          <a:latin typeface="+mn-lt"/>
                          <a:ea typeface="+mn-ea"/>
                          <a:cs typeface="Arial" charset="0"/>
                        </a:rPr>
                        <a:t>Carrying amount </a:t>
                      </a:r>
                    </a:p>
                    <a:p>
                      <a:pPr defTabSz="466725" eaLnBrk="1" hangingPunct="1">
                        <a:defRPr/>
                      </a:pPr>
                      <a:r>
                        <a:rPr lang="en-US" sz="1800" dirty="0">
                          <a:solidFill>
                            <a:schemeClr val="tx2"/>
                          </a:solidFill>
                          <a:latin typeface="+mn-lt"/>
                          <a:ea typeface="+mn-ea"/>
                          <a:cs typeface="Arial" charset="0"/>
                        </a:rPr>
                        <a:t>of assets sold</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dirty="0">
                          <a:solidFill>
                            <a:schemeClr val="tx2"/>
                          </a:solidFill>
                          <a:latin typeface="+mn-lt"/>
                          <a:ea typeface="+mn-ea"/>
                          <a:cs typeface="Arial" charset="0"/>
                        </a:rPr>
                        <a:t>54,000</a:t>
                      </a:r>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r>
                        <a:rPr lang="en-US" altLang="en-US" dirty="0">
                          <a:latin typeface="+mn-lt"/>
                        </a:rPr>
                        <a:t>Ending balance</a:t>
                      </a:r>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altLang="en-US" dirty="0">
                          <a:latin typeface="+mn-lt"/>
                        </a:rPr>
                        <a:t>353,000</a:t>
                      </a:r>
                      <a:endParaRPr lang="en-US" dirty="0">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840">
                <a:tc>
                  <a:txBody>
                    <a:bodyPr/>
                    <a:lstStyle/>
                    <a:p>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2852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15372"/>
            <a:ext cx="8534400" cy="1097280"/>
          </a:xfrm>
        </p:spPr>
        <p:txBody>
          <a:bodyPr/>
          <a:lstStyle/>
          <a:p>
            <a:r>
              <a:rPr lang="en-US" altLang="en-US" dirty="0">
                <a:ea typeface="ＭＳ Ｐゴシック" pitchFamily="34" charset="-128"/>
              </a:rPr>
              <a:t>Computing Making and Collecting Loans </a:t>
            </a:r>
            <a:r>
              <a:rPr lang="en-US" altLang="en-US" sz="2000" b="0" dirty="0">
                <a:ea typeface="ＭＳ Ｐゴシック" pitchFamily="34" charset="-128"/>
              </a:rPr>
              <a:t>(1 of 2)</a:t>
            </a:r>
            <a:endParaRPr lang="en-US" sz="2000" b="0" dirty="0"/>
          </a:p>
        </p:txBody>
      </p:sp>
      <p:sp>
        <p:nvSpPr>
          <p:cNvPr id="3" name="Content Placeholder 2"/>
          <p:cNvSpPr>
            <a:spLocks noGrp="1"/>
          </p:cNvSpPr>
          <p:nvPr>
            <p:ph idx="1"/>
          </p:nvPr>
        </p:nvSpPr>
        <p:spPr/>
        <p:txBody>
          <a:bodyPr anchor="ctr"/>
          <a:lstStyle/>
          <a:p>
            <a:pPr marL="0" indent="0" algn="ctr">
              <a:buNone/>
            </a:pPr>
            <a:r>
              <a:rPr lang="en-US" altLang="en-US" sz="2400" dirty="0"/>
              <a:t>Beginning balance + Purchases </a:t>
            </a:r>
            <a:br>
              <a:rPr lang="en-US" altLang="en-US" sz="2400" dirty="0"/>
            </a:br>
            <a:r>
              <a:rPr lang="en-US" altLang="en-US" sz="2400" dirty="0"/>
              <a:t>– </a:t>
            </a:r>
            <a:r>
              <a:rPr lang="en-US" altLang="en-US" sz="2400" i="1" dirty="0">
                <a:solidFill>
                  <a:schemeClr val="tx2"/>
                </a:solidFill>
              </a:rPr>
              <a:t>Carrying amount of investment sold </a:t>
            </a:r>
            <a:br>
              <a:rPr lang="en-US" altLang="en-US" sz="2400" i="1" dirty="0">
                <a:solidFill>
                  <a:schemeClr val="tx2"/>
                </a:solidFill>
              </a:rPr>
            </a:br>
            <a:r>
              <a:rPr lang="en-US" altLang="en-US" sz="2400" dirty="0"/>
              <a:t>= Ending balance</a:t>
            </a:r>
          </a:p>
          <a:p>
            <a:pPr marL="0" indent="0" algn="ctr">
              <a:buNone/>
            </a:pPr>
            <a:r>
              <a:rPr lang="en-US" altLang="en-US" sz="2400" dirty="0"/>
              <a:t>(Amounts assumed) </a:t>
            </a:r>
            <a:br>
              <a:rPr lang="en-US" altLang="en-US" sz="2400" dirty="0"/>
            </a:br>
            <a:r>
              <a:rPr lang="en-US" altLang="en-US" sz="2400" dirty="0"/>
              <a:t>$100,000 + $50,000 – </a:t>
            </a:r>
            <a:r>
              <a:rPr lang="en-US" altLang="en-US" sz="2400" dirty="0">
                <a:solidFill>
                  <a:schemeClr val="tx2"/>
                </a:solidFill>
              </a:rPr>
              <a:t>X</a:t>
            </a:r>
            <a:r>
              <a:rPr lang="en-US" altLang="en-US" sz="2400" dirty="0"/>
              <a:t> = $140,000</a:t>
            </a:r>
          </a:p>
          <a:p>
            <a:pPr marL="0" indent="0" algn="ctr">
              <a:buNone/>
            </a:pPr>
            <a:r>
              <a:rPr lang="en-US" altLang="en-US" sz="2400" dirty="0">
                <a:solidFill>
                  <a:schemeClr val="tx2"/>
                </a:solidFill>
              </a:rPr>
              <a:t>X</a:t>
            </a:r>
            <a:r>
              <a:rPr lang="en-US" altLang="en-US" sz="2400" dirty="0"/>
              <a:t> = $100,000 + $50,000 – $140,000</a:t>
            </a:r>
          </a:p>
          <a:p>
            <a:pPr marL="0" indent="0" algn="ctr">
              <a:buNone/>
            </a:pPr>
            <a:r>
              <a:rPr lang="en-US" sz="2400" dirty="0">
                <a:solidFill>
                  <a:schemeClr val="tx2"/>
                </a:solidFill>
                <a:cs typeface="Arial" charset="0"/>
              </a:rPr>
              <a:t>X = $10,000</a:t>
            </a:r>
            <a:endParaRPr lang="en-US" sz="2400" dirty="0"/>
          </a:p>
        </p:txBody>
      </p:sp>
    </p:spTree>
    <p:extLst>
      <p:ext uri="{BB962C8B-B14F-4D97-AF65-F5344CB8AC3E}">
        <p14:creationId xmlns:p14="http://schemas.microsoft.com/office/powerpoint/2010/main" val="1213032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15372"/>
            <a:ext cx="8534400" cy="1097280"/>
          </a:xfrm>
        </p:spPr>
        <p:txBody>
          <a:bodyPr/>
          <a:lstStyle/>
          <a:p>
            <a:r>
              <a:rPr lang="en-US" altLang="en-US" dirty="0">
                <a:ea typeface="ＭＳ Ｐゴシック" pitchFamily="34" charset="-128"/>
              </a:rPr>
              <a:t>Computing Making and Collecting Loans </a:t>
            </a:r>
            <a:r>
              <a:rPr lang="en-US" altLang="en-US" sz="2000" b="0" dirty="0">
                <a:ea typeface="ＭＳ Ｐゴシック" pitchFamily="34" charset="-128"/>
              </a:rPr>
              <a:t>(2 of 2)</a:t>
            </a:r>
            <a:endParaRPr lang="en-US" sz="2000" b="0" dirty="0"/>
          </a:p>
        </p:txBody>
      </p:sp>
      <p:sp>
        <p:nvSpPr>
          <p:cNvPr id="3" name="Content Placeholder 2"/>
          <p:cNvSpPr>
            <a:spLocks noGrp="1"/>
          </p:cNvSpPr>
          <p:nvPr>
            <p:ph idx="1"/>
          </p:nvPr>
        </p:nvSpPr>
        <p:spPr/>
        <p:txBody>
          <a:bodyPr anchor="ctr"/>
          <a:lstStyle/>
          <a:p>
            <a:pPr marL="0" indent="0" algn="ctr">
              <a:buNone/>
            </a:pPr>
            <a:r>
              <a:rPr lang="en-US" altLang="en-US" sz="2400" dirty="0"/>
              <a:t>Beginning balance + </a:t>
            </a:r>
            <a:r>
              <a:rPr lang="en-US" altLang="en-US" sz="2400" i="1" dirty="0">
                <a:solidFill>
                  <a:schemeClr val="tx2"/>
                </a:solidFill>
              </a:rPr>
              <a:t>New loans made </a:t>
            </a:r>
            <a:br>
              <a:rPr lang="en-US" altLang="en-US" sz="2400" i="1" dirty="0">
                <a:solidFill>
                  <a:schemeClr val="tx2"/>
                </a:solidFill>
              </a:rPr>
            </a:br>
            <a:r>
              <a:rPr lang="en-US" altLang="en-US" dirty="0"/>
              <a:t>− </a:t>
            </a:r>
            <a:r>
              <a:rPr lang="en-US" altLang="en-US" sz="2400" dirty="0"/>
              <a:t>Collections </a:t>
            </a:r>
            <a:br>
              <a:rPr lang="en-US" altLang="en-US" sz="2400" dirty="0"/>
            </a:br>
            <a:r>
              <a:rPr lang="en-US" altLang="en-US" sz="2400" dirty="0"/>
              <a:t>= Ending balance</a:t>
            </a:r>
          </a:p>
          <a:p>
            <a:pPr marL="0" indent="0" algn="ctr">
              <a:buNone/>
            </a:pPr>
            <a:r>
              <a:rPr lang="en-US" altLang="en-US" sz="2400" dirty="0"/>
              <a:t>(Amounts assumed) </a:t>
            </a:r>
            <a:br>
              <a:rPr lang="en-US" altLang="en-US" sz="2400" dirty="0"/>
            </a:br>
            <a:r>
              <a:rPr lang="en-US" altLang="en-US" sz="2400" dirty="0"/>
              <a:t>$0 + </a:t>
            </a:r>
            <a:r>
              <a:rPr lang="en-US" altLang="en-US" sz="2400" dirty="0">
                <a:solidFill>
                  <a:schemeClr val="tx2"/>
                </a:solidFill>
              </a:rPr>
              <a:t>$X</a:t>
            </a:r>
            <a:r>
              <a:rPr lang="en-US" altLang="en-US" sz="2400" dirty="0"/>
              <a:t> </a:t>
            </a:r>
            <a:r>
              <a:rPr lang="en-US" altLang="en-US" dirty="0"/>
              <a:t>− </a:t>
            </a:r>
            <a:r>
              <a:rPr lang="en-US" altLang="en-US" sz="2400" dirty="0"/>
              <a:t>0 = $11,000</a:t>
            </a:r>
          </a:p>
          <a:p>
            <a:pPr marL="0" indent="0" algn="ctr">
              <a:buNone/>
            </a:pPr>
            <a:r>
              <a:rPr lang="en-US" sz="2400" dirty="0">
                <a:solidFill>
                  <a:schemeClr val="tx2"/>
                </a:solidFill>
                <a:cs typeface="Arial" charset="0"/>
              </a:rPr>
              <a:t>X</a:t>
            </a:r>
            <a:r>
              <a:rPr lang="en-US" sz="2400" dirty="0">
                <a:cs typeface="Arial" charset="0"/>
              </a:rPr>
              <a:t> = $11,000</a:t>
            </a:r>
            <a:endParaRPr lang="en-US" sz="2400" dirty="0"/>
          </a:p>
        </p:txBody>
      </p:sp>
    </p:spTree>
    <p:extLst>
      <p:ext uri="{BB962C8B-B14F-4D97-AF65-F5344CB8AC3E}">
        <p14:creationId xmlns:p14="http://schemas.microsoft.com/office/powerpoint/2010/main" val="1104249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ea typeface="ＭＳ Ｐゴシック" pitchFamily="34" charset="-128"/>
              </a:rPr>
              <a:t>Statement of Cash Flows: Financing Activities</a:t>
            </a:r>
            <a:endParaRPr lang="en-US" dirty="0"/>
          </a:p>
        </p:txBody>
      </p:sp>
      <p:sp>
        <p:nvSpPr>
          <p:cNvPr id="3" name="Content Placeholder 2"/>
          <p:cNvSpPr>
            <a:spLocks noGrp="1"/>
          </p:cNvSpPr>
          <p:nvPr>
            <p:ph idx="1"/>
          </p:nvPr>
        </p:nvSpPr>
        <p:spPr>
          <a:xfrm>
            <a:off x="797560" y="1828800"/>
            <a:ext cx="7548880" cy="1355464"/>
          </a:xfrm>
          <a:ln w="12700">
            <a:solidFill>
              <a:schemeClr val="tx1"/>
            </a:solidFill>
          </a:ln>
        </p:spPr>
        <p:txBody>
          <a:bodyPr>
            <a:normAutofit fontScale="77500" lnSpcReduction="20000"/>
          </a:bodyPr>
          <a:lstStyle/>
          <a:p>
            <a:pPr marL="0" indent="0" algn="ctr">
              <a:spcBef>
                <a:spcPts val="600"/>
              </a:spcBef>
              <a:buNone/>
              <a:defRPr/>
            </a:pPr>
            <a:r>
              <a:rPr lang="en-US" sz="1800" dirty="0">
                <a:cs typeface="Arial" charset="0"/>
              </a:rPr>
              <a:t>Bradshaw Corporation</a:t>
            </a:r>
          </a:p>
          <a:p>
            <a:pPr marL="0" indent="0" algn="ctr">
              <a:spcBef>
                <a:spcPts val="600"/>
              </a:spcBef>
              <a:buNone/>
              <a:defRPr/>
            </a:pPr>
            <a:r>
              <a:rPr lang="en-US" sz="1800" dirty="0">
                <a:cs typeface="Arial" charset="0"/>
              </a:rPr>
              <a:t>Statement of Cash Flows </a:t>
            </a:r>
            <a:r>
              <a:rPr lang="en-US" sz="1800" i="1" dirty="0">
                <a:solidFill>
                  <a:schemeClr val="tx2"/>
                </a:solidFill>
                <a:cs typeface="Arial" charset="0"/>
              </a:rPr>
              <a:t>(Indirect</a:t>
            </a:r>
            <a:r>
              <a:rPr lang="en-US" sz="1800" dirty="0">
                <a:cs typeface="Arial" charset="0"/>
              </a:rPr>
              <a:t> </a:t>
            </a:r>
            <a:r>
              <a:rPr lang="en-US" sz="1800" i="1" dirty="0">
                <a:solidFill>
                  <a:schemeClr val="tx2"/>
                </a:solidFill>
                <a:cs typeface="Arial" charset="0"/>
              </a:rPr>
              <a:t>Method)</a:t>
            </a:r>
          </a:p>
          <a:p>
            <a:pPr marL="0" indent="0" algn="ctr">
              <a:spcBef>
                <a:spcPts val="600"/>
              </a:spcBef>
              <a:buNone/>
              <a:defRPr/>
            </a:pPr>
            <a:r>
              <a:rPr lang="en-US" sz="1800" dirty="0">
                <a:cs typeface="Arial" charset="0"/>
              </a:rPr>
              <a:t>For the Year Ended December 31, 20X2</a:t>
            </a:r>
          </a:p>
          <a:p>
            <a:pPr marL="0" indent="0" algn="ctr">
              <a:spcBef>
                <a:spcPts val="600"/>
              </a:spcBef>
              <a:buNone/>
              <a:defRPr/>
            </a:pPr>
            <a:r>
              <a:rPr lang="en-US" sz="1800" dirty="0">
                <a:cs typeface="Arial" charset="0"/>
              </a:rPr>
              <a:t>(in thousands)</a:t>
            </a:r>
            <a:endParaRPr lang="en-US" sz="1800" dirty="0"/>
          </a:p>
        </p:txBody>
      </p:sp>
      <p:graphicFrame>
        <p:nvGraphicFramePr>
          <p:cNvPr id="4" name="Table 3"/>
          <p:cNvGraphicFramePr>
            <a:graphicFrameLocks noGrp="1"/>
          </p:cNvGraphicFramePr>
          <p:nvPr/>
        </p:nvGraphicFramePr>
        <p:xfrm>
          <a:off x="808019" y="3231557"/>
          <a:ext cx="7543800" cy="2225040"/>
        </p:xfrm>
        <a:graphic>
          <a:graphicData uri="http://schemas.openxmlformats.org/drawingml/2006/table">
            <a:tbl>
              <a:tblPr firstRow="1" bandRow="1">
                <a:tableStyleId>{2D5ABB26-0587-4C30-8999-92F81FD0307C}</a:tableStyleId>
              </a:tblPr>
              <a:tblGrid>
                <a:gridCol w="6248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tblGrid>
              <a:tr h="370840">
                <a:tc>
                  <a:txBody>
                    <a:bodyPr/>
                    <a:lstStyle/>
                    <a:p>
                      <a:r>
                        <a:rPr lang="en-US" sz="1800" dirty="0">
                          <a:latin typeface="+mn-lt"/>
                          <a:ea typeface="+mn-ea"/>
                          <a:cs typeface="Arial" charset="0"/>
                        </a:rPr>
                        <a:t>Cash flows from financing activities:</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dirty="0">
                          <a:latin typeface="+mn-lt"/>
                          <a:ea typeface="+mn-ea"/>
                          <a:cs typeface="Arial" charset="0"/>
                        </a:rPr>
                        <a:t>Proceeds from issuance of common shares</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charset="0"/>
                        </a:rPr>
                        <a:t>$    1</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800" dirty="0">
                          <a:latin typeface="+mn-lt"/>
                          <a:ea typeface="+mn-ea"/>
                          <a:cs typeface="Arial" charset="0"/>
                        </a:rPr>
                        <a:t>Proceeds from issuance of long-term debt</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charset="0"/>
                        </a:rPr>
                        <a:t>94</a:t>
                      </a:r>
                      <a:endParaRPr lang="en-US" altLang="en-US" sz="1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800" dirty="0">
                          <a:latin typeface="+mn-lt"/>
                          <a:ea typeface="+mn-ea"/>
                          <a:cs typeface="Arial" charset="0"/>
                        </a:rPr>
                        <a:t>Payment of long-term debt</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charset="0"/>
                        </a:rPr>
                        <a:t>(11)</a:t>
                      </a:r>
                      <a:endParaRPr lang="en-US" altLang="en-US" sz="1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eaLnBrk="1" hangingPunct="1">
                        <a:lnSpc>
                          <a:spcPct val="85000"/>
                        </a:lnSpc>
                      </a:pPr>
                      <a:r>
                        <a:rPr lang="en-US" sz="1800" dirty="0">
                          <a:latin typeface="+mn-lt"/>
                          <a:ea typeface="+mn-ea"/>
                          <a:cs typeface="Arial" charset="0"/>
                        </a:rPr>
                        <a:t>Payment of dividends</a:t>
                      </a:r>
                      <a:endParaRPr lang="en-US" altLang="en-US"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u="none" dirty="0">
                          <a:latin typeface="+mn-lt"/>
                          <a:ea typeface="+mn-ea"/>
                          <a:cs typeface="Arial" charset="0"/>
                        </a:rPr>
                        <a:t> (17)</a:t>
                      </a:r>
                      <a:endParaRPr lang="en-US" u="none"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274320" marR="0" indent="0" algn="l" defTabSz="914400" rtl="0" eaLnBrk="1" fontAlgn="auto" latinLnBrk="0" hangingPunct="1">
                        <a:lnSpc>
                          <a:spcPct val="85000"/>
                        </a:lnSpc>
                        <a:spcBef>
                          <a:spcPts val="0"/>
                        </a:spcBef>
                        <a:spcAft>
                          <a:spcPts val="0"/>
                        </a:spcAft>
                        <a:buClrTx/>
                        <a:buSzTx/>
                        <a:buFontTx/>
                        <a:buNone/>
                        <a:tabLst/>
                        <a:defRPr/>
                      </a:pPr>
                      <a:r>
                        <a:rPr lang="en-US" sz="1800" dirty="0">
                          <a:latin typeface="+mn-lt"/>
                          <a:ea typeface="+mn-ea"/>
                          <a:cs typeface="Arial" charset="0"/>
                        </a:rPr>
                        <a:t>Net cash provided by financing activities</a:t>
                      </a:r>
                      <a:endParaRPr lang="en-US" altLang="ja-JP"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charset="0"/>
                        </a:rPr>
                        <a:t>67</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85673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ea typeface="ＭＳ Ｐゴシック" pitchFamily="34" charset="-128"/>
              </a:rPr>
              <a:t>Computing Borrowing Money and Repaying Debts </a:t>
            </a:r>
            <a:r>
              <a:rPr lang="en-US" altLang="en-US" sz="2000" b="0" dirty="0">
                <a:ea typeface="ＭＳ Ｐゴシック" pitchFamily="34" charset="-128"/>
              </a:rPr>
              <a:t>(1 of 2)</a:t>
            </a:r>
            <a:endParaRPr lang="en-US" dirty="0"/>
          </a:p>
        </p:txBody>
      </p:sp>
      <p:sp>
        <p:nvSpPr>
          <p:cNvPr id="3" name="Content Placeholder 2"/>
          <p:cNvSpPr>
            <a:spLocks noGrp="1"/>
          </p:cNvSpPr>
          <p:nvPr>
            <p:ph idx="1"/>
          </p:nvPr>
        </p:nvSpPr>
        <p:spPr/>
        <p:txBody>
          <a:bodyPr anchor="ctr"/>
          <a:lstStyle/>
          <a:p>
            <a:pPr marL="0" indent="0" algn="ctr">
              <a:buNone/>
            </a:pPr>
            <a:r>
              <a:rPr lang="en-US" sz="2800" dirty="0">
                <a:cs typeface="Arial" charset="0"/>
              </a:rPr>
              <a:t>Beginning balance was $77,000.</a:t>
            </a:r>
          </a:p>
          <a:p>
            <a:pPr marL="0" indent="0" algn="ctr">
              <a:buNone/>
              <a:defRPr/>
            </a:pPr>
            <a:r>
              <a:rPr lang="en-US" sz="2800" dirty="0">
                <a:cs typeface="Arial" charset="0"/>
              </a:rPr>
              <a:t>New debt amounting to $94,000 </a:t>
            </a:r>
            <a:br>
              <a:rPr lang="en-US" sz="2800" dirty="0">
                <a:cs typeface="Arial" charset="0"/>
              </a:rPr>
            </a:br>
            <a:r>
              <a:rPr lang="en-US" sz="2800" dirty="0">
                <a:cs typeface="Arial" charset="0"/>
              </a:rPr>
              <a:t>was incurred during the year.</a:t>
            </a:r>
          </a:p>
          <a:p>
            <a:pPr marL="0" indent="0" algn="ctr">
              <a:buNone/>
              <a:defRPr/>
            </a:pPr>
            <a:r>
              <a:rPr lang="en-US" sz="2800" dirty="0">
                <a:cs typeface="Arial" charset="0"/>
              </a:rPr>
              <a:t>The ending balance for the Long-Term </a:t>
            </a:r>
            <a:br>
              <a:rPr lang="en-US" sz="2800" dirty="0">
                <a:cs typeface="Arial" charset="0"/>
              </a:rPr>
            </a:br>
            <a:r>
              <a:rPr lang="en-US" sz="2800" dirty="0">
                <a:cs typeface="Arial" charset="0"/>
              </a:rPr>
              <a:t>Debt account was $160,000.</a:t>
            </a:r>
          </a:p>
          <a:p>
            <a:pPr marL="0" indent="0" algn="ctr">
              <a:buNone/>
              <a:defRPr/>
            </a:pPr>
            <a:r>
              <a:rPr lang="en-US" sz="2800" dirty="0">
                <a:cs typeface="Arial" charset="0"/>
              </a:rPr>
              <a:t>How much was the payment?</a:t>
            </a:r>
            <a:endParaRPr lang="en-US" sz="2800" dirty="0"/>
          </a:p>
        </p:txBody>
      </p:sp>
    </p:spTree>
    <p:extLst>
      <p:ext uri="{BB962C8B-B14F-4D97-AF65-F5344CB8AC3E}">
        <p14:creationId xmlns:p14="http://schemas.microsoft.com/office/powerpoint/2010/main" val="563002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ea typeface="ＭＳ Ｐゴシック" pitchFamily="34" charset="-128"/>
              </a:rPr>
              <a:t>Computing Borrowing Money and Repaying Debts </a:t>
            </a:r>
            <a:r>
              <a:rPr lang="en-US" altLang="en-US" sz="2000" b="0" dirty="0">
                <a:ea typeface="ＭＳ Ｐゴシック" pitchFamily="34" charset="-128"/>
              </a:rPr>
              <a:t>(2 of 2)</a:t>
            </a:r>
            <a:endParaRPr lang="en-US" dirty="0"/>
          </a:p>
        </p:txBody>
      </p:sp>
      <p:graphicFrame>
        <p:nvGraphicFramePr>
          <p:cNvPr id="5" name="Table 4"/>
          <p:cNvGraphicFramePr>
            <a:graphicFrameLocks noGrp="1"/>
          </p:cNvGraphicFramePr>
          <p:nvPr/>
        </p:nvGraphicFramePr>
        <p:xfrm>
          <a:off x="995045" y="2367280"/>
          <a:ext cx="7560310" cy="1940560"/>
        </p:xfrm>
        <a:graphic>
          <a:graphicData uri="http://schemas.openxmlformats.org/drawingml/2006/table">
            <a:tbl>
              <a:tblPr firstRow="1" bandRow="1">
                <a:tableStyleId>{2D5ABB26-0587-4C30-8999-92F81FD0307C}</a:tableStyleId>
              </a:tblPr>
              <a:tblGrid>
                <a:gridCol w="210693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40538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gridSpan="4">
                  <a:txBody>
                    <a:bodyPr/>
                    <a:lstStyle/>
                    <a:p>
                      <a:pPr algn="ctr"/>
                      <a:r>
                        <a:rPr lang="en-US" sz="2400" dirty="0">
                          <a:latin typeface="+mn-lt"/>
                          <a:ea typeface="+mn-ea"/>
                          <a:cs typeface="Arial" charset="0"/>
                        </a:rPr>
                        <a:t>Long-Term Debt</a:t>
                      </a:r>
                      <a:endParaRPr lang="en-US" sz="24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lang="en-US" dirty="0">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latin typeface="+mn-lt"/>
                          <a:ea typeface="+mn-ea"/>
                          <a:cs typeface="Arial" charset="0"/>
                        </a:rPr>
                        <a:t>Beginning balance</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dirty="0">
                          <a:latin typeface="+mn-lt"/>
                          <a:ea typeface="+mn-ea"/>
                          <a:cs typeface="Arial" charset="0"/>
                        </a:rPr>
                        <a:t>77,000</a:t>
                      </a:r>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r>
                        <a:rPr lang="en-US" sz="1800" dirty="0">
                          <a:solidFill>
                            <a:schemeClr val="tx2"/>
                          </a:solidFill>
                          <a:latin typeface="+mn-lt"/>
                          <a:ea typeface="+mn-ea"/>
                          <a:cs typeface="Arial" charset="0"/>
                        </a:rPr>
                        <a:t>Payments</a:t>
                      </a:r>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solidFill>
                            <a:schemeClr val="tx2"/>
                          </a:solidFill>
                          <a:latin typeface="+mn-lt"/>
                          <a:ea typeface="+mn-ea"/>
                          <a:cs typeface="Arial" charset="0"/>
                        </a:rPr>
                        <a:t>11,000</a:t>
                      </a:r>
                      <a:endParaRPr lang="en-US" dirty="0">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defTabSz="466725" eaLnBrk="1" hangingPunct="1">
                        <a:defRPr/>
                      </a:pPr>
                      <a:r>
                        <a:rPr lang="en-US" sz="1800" dirty="0">
                          <a:latin typeface="+mn-lt"/>
                          <a:ea typeface="+mn-ea"/>
                          <a:cs typeface="Arial" charset="0"/>
                        </a:rPr>
                        <a:t>Issuance of new debt</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dirty="0">
                          <a:latin typeface="+mn-lt"/>
                          <a:ea typeface="+mn-ea"/>
                          <a:cs typeface="Arial" charset="0"/>
                        </a:rPr>
                        <a:t>94,000</a:t>
                      </a:r>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lang="en-US" dirty="0">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latin typeface="+mn-lt"/>
                          <a:ea typeface="+mn-ea"/>
                          <a:cs typeface="Arial" charset="0"/>
                        </a:rPr>
                        <a:t>Ending balance</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dirty="0">
                          <a:latin typeface="+mn-lt"/>
                          <a:ea typeface="+mn-ea"/>
                          <a:cs typeface="Arial" charset="0"/>
                        </a:rPr>
                        <a:t>160,000</a:t>
                      </a:r>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840">
                <a:tc>
                  <a:txBody>
                    <a:bodyPr/>
                    <a:lstStyle/>
                    <a:p>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1678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ea typeface="ＭＳ Ｐゴシック" pitchFamily="34" charset="-128"/>
              </a:rPr>
              <a:t>Computing Issuances of Shares: Repurchases of Shares</a:t>
            </a:r>
            <a:endParaRPr lang="en-US" dirty="0"/>
          </a:p>
        </p:txBody>
      </p:sp>
      <p:sp>
        <p:nvSpPr>
          <p:cNvPr id="3" name="Content Placeholder 2"/>
          <p:cNvSpPr>
            <a:spLocks noGrp="1"/>
          </p:cNvSpPr>
          <p:nvPr>
            <p:ph idx="1"/>
          </p:nvPr>
        </p:nvSpPr>
        <p:spPr/>
        <p:txBody>
          <a:bodyPr anchor="ctr"/>
          <a:lstStyle/>
          <a:p>
            <a:pPr marL="0" indent="0" algn="ctr">
              <a:buNone/>
              <a:defRPr/>
            </a:pPr>
            <a:r>
              <a:rPr lang="en-US" sz="2800" dirty="0">
                <a:cs typeface="Arial" charset="0"/>
              </a:rPr>
              <a:t>Beginning balance of common shares + </a:t>
            </a:r>
            <a:br>
              <a:rPr lang="en-US" sz="2800" dirty="0">
                <a:cs typeface="Arial" charset="0"/>
              </a:rPr>
            </a:br>
            <a:r>
              <a:rPr lang="en-US" sz="2800" i="1" dirty="0">
                <a:solidFill>
                  <a:schemeClr val="tx2"/>
                </a:solidFill>
                <a:cs typeface="Arial" charset="0"/>
              </a:rPr>
              <a:t>Issuance of new</a:t>
            </a:r>
            <a:r>
              <a:rPr lang="en-US" sz="2800" dirty="0">
                <a:cs typeface="Arial" charset="0"/>
              </a:rPr>
              <a:t> </a:t>
            </a:r>
            <a:r>
              <a:rPr lang="en-US" sz="2800" i="1" dirty="0">
                <a:solidFill>
                  <a:schemeClr val="tx2"/>
                </a:solidFill>
                <a:cs typeface="Arial" charset="0"/>
              </a:rPr>
              <a:t>shares</a:t>
            </a:r>
            <a:r>
              <a:rPr lang="en-US" sz="2800" dirty="0">
                <a:cs typeface="Arial" charset="0"/>
              </a:rPr>
              <a:t> = Ending balance</a:t>
            </a:r>
            <a:endParaRPr lang="en-US" sz="2800" dirty="0"/>
          </a:p>
        </p:txBody>
      </p:sp>
    </p:spTree>
    <p:extLst>
      <p:ext uri="{BB962C8B-B14F-4D97-AF65-F5344CB8AC3E}">
        <p14:creationId xmlns:p14="http://schemas.microsoft.com/office/powerpoint/2010/main" val="4100238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Computing Payment of Dividends</a:t>
            </a:r>
            <a:endParaRPr lang="en-US" dirty="0"/>
          </a:p>
        </p:txBody>
      </p:sp>
      <p:sp>
        <p:nvSpPr>
          <p:cNvPr id="3" name="Content Placeholder 2"/>
          <p:cNvSpPr>
            <a:spLocks noGrp="1"/>
          </p:cNvSpPr>
          <p:nvPr>
            <p:ph idx="1"/>
          </p:nvPr>
        </p:nvSpPr>
        <p:spPr/>
        <p:txBody>
          <a:bodyPr anchor="ctr"/>
          <a:lstStyle/>
          <a:p>
            <a:pPr marL="0" indent="0" algn="ctr">
              <a:buNone/>
            </a:pPr>
            <a:r>
              <a:rPr lang="en-US" altLang="en-US" sz="2400" dirty="0"/>
              <a:t>Retained earnings beginning balance + </a:t>
            </a:r>
            <a:br>
              <a:rPr lang="en-US" altLang="en-US" sz="2400" dirty="0"/>
            </a:br>
            <a:r>
              <a:rPr lang="en-US" altLang="en-US" sz="2400" dirty="0"/>
              <a:t>Net income − </a:t>
            </a:r>
            <a:r>
              <a:rPr lang="en-US" altLang="en-US" sz="2400" i="1" dirty="0">
                <a:solidFill>
                  <a:schemeClr val="tx2"/>
                </a:solidFill>
              </a:rPr>
              <a:t>Dividends declared</a:t>
            </a:r>
            <a:r>
              <a:rPr lang="en-US" altLang="en-US" sz="2400" dirty="0"/>
              <a:t> = Ending balance</a:t>
            </a:r>
          </a:p>
          <a:p>
            <a:pPr marL="0" indent="0" algn="ctr">
              <a:buNone/>
            </a:pPr>
            <a:r>
              <a:rPr lang="en-US" altLang="en-US" sz="2400" dirty="0"/>
              <a:t>$86,000 + $41,000 </a:t>
            </a:r>
            <a:r>
              <a:rPr lang="en-US" altLang="en-US" dirty="0"/>
              <a:t>− </a:t>
            </a:r>
            <a:r>
              <a:rPr lang="en-US" altLang="en-US" sz="2400" dirty="0">
                <a:solidFill>
                  <a:schemeClr val="tx2"/>
                </a:solidFill>
              </a:rPr>
              <a:t>X</a:t>
            </a:r>
            <a:r>
              <a:rPr lang="en-US" altLang="en-US" sz="2400" dirty="0"/>
              <a:t> = $110,000</a:t>
            </a:r>
          </a:p>
          <a:p>
            <a:pPr marL="0" indent="0" algn="ctr">
              <a:buNone/>
            </a:pPr>
            <a:r>
              <a:rPr lang="en-US" altLang="en-US" sz="2400" dirty="0">
                <a:solidFill>
                  <a:schemeClr val="tx2"/>
                </a:solidFill>
              </a:rPr>
              <a:t>X</a:t>
            </a:r>
            <a:r>
              <a:rPr lang="en-US" altLang="en-US" sz="2400" dirty="0"/>
              <a:t> = $110,000 </a:t>
            </a:r>
            <a:r>
              <a:rPr lang="en-US" altLang="en-US" dirty="0"/>
              <a:t>− </a:t>
            </a:r>
            <a:r>
              <a:rPr lang="en-US" altLang="en-US" sz="2400" dirty="0"/>
              <a:t>$86,000 </a:t>
            </a:r>
            <a:r>
              <a:rPr lang="en-US" altLang="en-US" dirty="0"/>
              <a:t>− </a:t>
            </a:r>
            <a:r>
              <a:rPr lang="en-US" altLang="en-US" sz="2400" dirty="0"/>
              <a:t>$41,000</a:t>
            </a:r>
          </a:p>
          <a:p>
            <a:pPr marL="0" indent="0" algn="ctr">
              <a:buNone/>
            </a:pPr>
            <a:r>
              <a:rPr lang="en-US" sz="2400" dirty="0">
                <a:solidFill>
                  <a:schemeClr val="tx2"/>
                </a:solidFill>
                <a:cs typeface="Arial" charset="0"/>
              </a:rPr>
              <a:t>X = $17,000</a:t>
            </a:r>
            <a:endParaRPr lang="en-US" sz="2400" dirty="0"/>
          </a:p>
        </p:txBody>
      </p:sp>
    </p:spTree>
    <p:extLst>
      <p:ext uri="{BB962C8B-B14F-4D97-AF65-F5344CB8AC3E}">
        <p14:creationId xmlns:p14="http://schemas.microsoft.com/office/powerpoint/2010/main" val="3581194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Statement of Cash Flows</a:t>
            </a:r>
            <a:endParaRPr lang="en-US" dirty="0"/>
          </a:p>
        </p:txBody>
      </p:sp>
      <p:sp>
        <p:nvSpPr>
          <p:cNvPr id="3" name="Content Placeholder 2"/>
          <p:cNvSpPr>
            <a:spLocks noGrp="1"/>
          </p:cNvSpPr>
          <p:nvPr>
            <p:ph idx="1"/>
          </p:nvPr>
        </p:nvSpPr>
        <p:spPr>
          <a:xfrm>
            <a:off x="800100" y="1752601"/>
            <a:ext cx="7543800" cy="1377874"/>
          </a:xfrm>
          <a:ln w="12700">
            <a:solidFill>
              <a:schemeClr val="tx1"/>
            </a:solidFill>
          </a:ln>
        </p:spPr>
        <p:txBody>
          <a:bodyPr>
            <a:normAutofit fontScale="85000" lnSpcReduction="20000"/>
          </a:bodyPr>
          <a:lstStyle/>
          <a:p>
            <a:pPr marL="0" indent="0" algn="ctr">
              <a:spcBef>
                <a:spcPts val="600"/>
              </a:spcBef>
              <a:buNone/>
              <a:defRPr/>
            </a:pPr>
            <a:r>
              <a:rPr lang="en-US" sz="1800" dirty="0">
                <a:cs typeface="Arial" charset="0"/>
              </a:rPr>
              <a:t>Bradshaw Corporation</a:t>
            </a:r>
          </a:p>
          <a:p>
            <a:pPr marL="0" indent="0" algn="ctr">
              <a:spcBef>
                <a:spcPts val="600"/>
              </a:spcBef>
              <a:buNone/>
              <a:defRPr/>
            </a:pPr>
            <a:r>
              <a:rPr lang="en-US" sz="1800" dirty="0">
                <a:cs typeface="Arial" charset="0"/>
              </a:rPr>
              <a:t>Statement of Cash Flows </a:t>
            </a:r>
            <a:r>
              <a:rPr lang="en-US" sz="1800" i="1" dirty="0">
                <a:solidFill>
                  <a:schemeClr val="tx2"/>
                </a:solidFill>
                <a:cs typeface="Arial" charset="0"/>
              </a:rPr>
              <a:t>(Indirect</a:t>
            </a:r>
            <a:r>
              <a:rPr lang="en-US" sz="1800" dirty="0">
                <a:cs typeface="Arial" charset="0"/>
              </a:rPr>
              <a:t> </a:t>
            </a:r>
            <a:r>
              <a:rPr lang="en-US" sz="1800" i="1" dirty="0">
                <a:solidFill>
                  <a:schemeClr val="tx2"/>
                </a:solidFill>
                <a:cs typeface="Arial" charset="0"/>
              </a:rPr>
              <a:t>Method)</a:t>
            </a:r>
          </a:p>
          <a:p>
            <a:pPr marL="0" indent="0" algn="ctr">
              <a:spcBef>
                <a:spcPts val="600"/>
              </a:spcBef>
              <a:buNone/>
              <a:defRPr/>
            </a:pPr>
            <a:r>
              <a:rPr lang="en-US" sz="1800" dirty="0">
                <a:cs typeface="Arial" charset="0"/>
              </a:rPr>
              <a:t>For the Year Ended December 31, 20X2</a:t>
            </a:r>
          </a:p>
          <a:p>
            <a:pPr marL="0" indent="0" algn="ctr">
              <a:spcBef>
                <a:spcPts val="600"/>
              </a:spcBef>
              <a:buNone/>
              <a:defRPr/>
            </a:pPr>
            <a:r>
              <a:rPr lang="en-US" sz="1800" dirty="0">
                <a:cs typeface="Arial" charset="0"/>
              </a:rPr>
              <a:t>(in thousands)</a:t>
            </a:r>
            <a:endParaRPr lang="en-US" sz="1800" dirty="0"/>
          </a:p>
        </p:txBody>
      </p:sp>
      <p:graphicFrame>
        <p:nvGraphicFramePr>
          <p:cNvPr id="4" name="Table 3"/>
          <p:cNvGraphicFramePr>
            <a:graphicFrameLocks noGrp="1"/>
          </p:cNvGraphicFramePr>
          <p:nvPr/>
        </p:nvGraphicFramePr>
        <p:xfrm>
          <a:off x="807273" y="3124200"/>
          <a:ext cx="7543800" cy="2219960"/>
        </p:xfrm>
        <a:graphic>
          <a:graphicData uri="http://schemas.openxmlformats.org/drawingml/2006/table">
            <a:tbl>
              <a:tblPr firstRow="1" bandRow="1">
                <a:tableStyleId>{2D5ABB26-0587-4C30-8999-92F81FD0307C}</a:tableStyleId>
              </a:tblPr>
              <a:tblGrid>
                <a:gridCol w="6248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tblGrid>
              <a:tr h="370840">
                <a:tc>
                  <a:txBody>
                    <a:bodyPr/>
                    <a:lstStyle/>
                    <a:p>
                      <a:r>
                        <a:rPr lang="en-US" sz="1800" dirty="0">
                          <a:latin typeface="+mn-lt"/>
                          <a:ea typeface="+mn-ea"/>
                          <a:cs typeface="Arial" charset="0"/>
                        </a:rPr>
                        <a:t>Net cash provided by operating activities</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charset="0"/>
                        </a:rPr>
                        <a:t>$   68</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dirty="0">
                          <a:latin typeface="+mn-lt"/>
                          <a:ea typeface="+mn-ea"/>
                          <a:cs typeface="Arial" charset="0"/>
                        </a:rPr>
                        <a:t>Net cash used for investing activities</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rPr>
                        <a:t>(155)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800" dirty="0">
                          <a:latin typeface="+mn-lt"/>
                          <a:ea typeface="+mn-ea"/>
                          <a:cs typeface="Arial" charset="0"/>
                        </a:rPr>
                        <a:t>Net cash provided by financing activities</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u="none" dirty="0">
                          <a:latin typeface="+mn-lt"/>
                          <a:ea typeface="+mn-ea"/>
                          <a:cs typeface="Arial" charset="0"/>
                        </a:rPr>
                        <a:t>67</a:t>
                      </a:r>
                      <a:endParaRPr lang="en-US" altLang="en-US" sz="1800" u="none"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800" dirty="0">
                          <a:latin typeface="+mn-lt"/>
                          <a:ea typeface="+mn-ea"/>
                          <a:cs typeface="Arial" charset="0"/>
                        </a:rPr>
                        <a:t>Net decrease in cash</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charset="0"/>
                        </a:rPr>
                        <a:t>$</a:t>
                      </a:r>
                      <a:r>
                        <a:rPr lang="en-US" sz="1800" baseline="0" dirty="0">
                          <a:latin typeface="+mn-lt"/>
                          <a:ea typeface="+mn-ea"/>
                          <a:cs typeface="Arial" charset="0"/>
                        </a:rPr>
                        <a:t> </a:t>
                      </a:r>
                      <a:r>
                        <a:rPr lang="en-US" sz="1800" dirty="0">
                          <a:latin typeface="+mn-lt"/>
                          <a:ea typeface="+mn-ea"/>
                          <a:cs typeface="Arial" charset="0"/>
                        </a:rPr>
                        <a:t>(20)</a:t>
                      </a:r>
                      <a:endParaRPr lang="en-US" altLang="en-US" sz="1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0680">
                <a:tc>
                  <a:txBody>
                    <a:bodyPr/>
                    <a:lstStyle/>
                    <a:p>
                      <a:pPr eaLnBrk="1" hangingPunct="1">
                        <a:lnSpc>
                          <a:spcPct val="85000"/>
                        </a:lnSpc>
                      </a:pPr>
                      <a:r>
                        <a:rPr lang="en-US" sz="1800" dirty="0">
                          <a:latin typeface="+mn-lt"/>
                          <a:ea typeface="+mn-ea"/>
                          <a:cs typeface="Arial" charset="0"/>
                        </a:rPr>
                        <a:t>Cash balance, December 31, 20X1</a:t>
                      </a:r>
                      <a:endParaRPr lang="en-US" altLang="en-US"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u="none" dirty="0">
                          <a:latin typeface="+mn-lt"/>
                          <a:ea typeface="+mn-ea"/>
                          <a:cs typeface="Arial" charset="0"/>
                        </a:rPr>
                        <a:t>42</a:t>
                      </a:r>
                      <a:endParaRPr lang="en-US" u="none"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eaLnBrk="1" hangingPunct="1">
                        <a:lnSpc>
                          <a:spcPct val="85000"/>
                        </a:lnSpc>
                      </a:pPr>
                      <a:r>
                        <a:rPr lang="en-US" sz="1800" dirty="0">
                          <a:latin typeface="+mn-lt"/>
                          <a:ea typeface="+mn-ea"/>
                          <a:cs typeface="Arial" charset="0"/>
                        </a:rPr>
                        <a:t>Cash balance, December 31, 20X2</a:t>
                      </a:r>
                      <a:endParaRPr lang="en-US" altLang="en-US"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charset="0"/>
                        </a:rPr>
                        <a:t>$   22</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85403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Non-Cash Investing and Financing Activities </a:t>
            </a:r>
            <a:r>
              <a:rPr lang="en-US" altLang="en-US" sz="2000" b="0" dirty="0">
                <a:ea typeface="ＭＳ Ｐゴシック" pitchFamily="34" charset="-128"/>
              </a:rPr>
              <a:t>(1 of 2)</a:t>
            </a:r>
            <a:endParaRPr lang="en-US" dirty="0"/>
          </a:p>
        </p:txBody>
      </p:sp>
      <p:sp>
        <p:nvSpPr>
          <p:cNvPr id="3" name="Content Placeholder 2"/>
          <p:cNvSpPr>
            <a:spLocks noGrp="1"/>
          </p:cNvSpPr>
          <p:nvPr>
            <p:ph idx="1"/>
          </p:nvPr>
        </p:nvSpPr>
        <p:spPr/>
        <p:txBody>
          <a:bodyPr/>
          <a:lstStyle/>
          <a:p>
            <a:pPr marL="0" indent="0" algn="ctr">
              <a:buNone/>
              <a:defRPr/>
            </a:pPr>
            <a:r>
              <a:rPr lang="en-US" sz="2400" dirty="0">
                <a:cs typeface="Arial" charset="0"/>
              </a:rPr>
              <a:t>Suppose Bradshaw Corporation issued common </a:t>
            </a:r>
            <a:br>
              <a:rPr lang="en-US" sz="2400" dirty="0">
                <a:cs typeface="Arial" charset="0"/>
              </a:rPr>
            </a:br>
            <a:r>
              <a:rPr lang="en-US" sz="2400" dirty="0">
                <a:cs typeface="Arial" charset="0"/>
              </a:rPr>
              <a:t>shares valued at $320,000 to acquire a warehouse.</a:t>
            </a:r>
            <a:endParaRPr lang="en-US" sz="2400" dirty="0"/>
          </a:p>
        </p:txBody>
      </p:sp>
      <p:graphicFrame>
        <p:nvGraphicFramePr>
          <p:cNvPr id="4" name="Table 3"/>
          <p:cNvGraphicFramePr>
            <a:graphicFrameLocks noGrp="1"/>
          </p:cNvGraphicFramePr>
          <p:nvPr/>
        </p:nvGraphicFramePr>
        <p:xfrm>
          <a:off x="1524000" y="3058160"/>
          <a:ext cx="5867400" cy="741680"/>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tblGrid>
              <a:tr h="370840">
                <a:tc>
                  <a:txBody>
                    <a:bodyPr/>
                    <a:lstStyle/>
                    <a:p>
                      <a:r>
                        <a:rPr lang="en-US" sz="1800" dirty="0">
                          <a:latin typeface="+mn-lt"/>
                          <a:ea typeface="+mn-ea"/>
                          <a:cs typeface="Arial" charset="0"/>
                        </a:rPr>
                        <a:t>Warehouse Building</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mn-lt"/>
                          <a:ea typeface="+mn-ea"/>
                          <a:cs typeface="Arial" charset="0"/>
                        </a:rPr>
                        <a:t>320,000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274320"/>
                      <a:r>
                        <a:rPr lang="en-US" sz="1800" dirty="0">
                          <a:latin typeface="+mn-lt"/>
                          <a:ea typeface="+mn-ea"/>
                          <a:cs typeface="Arial" charset="0"/>
                        </a:rPr>
                        <a:t>Common Shares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charset="0"/>
                        </a:rPr>
                        <a:t>320,000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43863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Non-Cash Investing and Financing Activities </a:t>
            </a:r>
            <a:r>
              <a:rPr lang="en-US" altLang="en-US" sz="2000" b="0" dirty="0">
                <a:ea typeface="ＭＳ Ｐゴシック" pitchFamily="34" charset="-128"/>
              </a:rPr>
              <a:t>(2 of 2)</a:t>
            </a:r>
            <a:endParaRPr lang="en-US" dirty="0"/>
          </a:p>
        </p:txBody>
      </p:sp>
      <p:graphicFrame>
        <p:nvGraphicFramePr>
          <p:cNvPr id="4" name="Table 3"/>
          <p:cNvGraphicFramePr>
            <a:graphicFrameLocks noGrp="1"/>
          </p:cNvGraphicFramePr>
          <p:nvPr/>
        </p:nvGraphicFramePr>
        <p:xfrm>
          <a:off x="800100" y="1828800"/>
          <a:ext cx="7543800" cy="2482165"/>
        </p:xfrm>
        <a:graphic>
          <a:graphicData uri="http://schemas.openxmlformats.org/drawingml/2006/table">
            <a:tbl>
              <a:tblPr firstRow="1" bandRow="1">
                <a:tableStyleId>{2D5ABB26-0587-4C30-8999-92F81FD0307C}</a:tableStyleId>
              </a:tblPr>
              <a:tblGrid>
                <a:gridCol w="6248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tblGrid>
              <a:tr h="496433">
                <a:tc>
                  <a:txBody>
                    <a:bodyPr/>
                    <a:lstStyle/>
                    <a:p>
                      <a:r>
                        <a:rPr lang="en-US" sz="1800" dirty="0">
                          <a:latin typeface="+mn-lt"/>
                          <a:ea typeface="+mn-ea"/>
                          <a:cs typeface="Arial" charset="0"/>
                        </a:rPr>
                        <a:t>Noncash Investing and Financing Activities:</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96433">
                <a:tc>
                  <a:txBody>
                    <a:bodyPr/>
                    <a:lstStyle/>
                    <a:p>
                      <a:r>
                        <a:rPr lang="en-US" sz="1800" dirty="0">
                          <a:latin typeface="+mn-lt"/>
                          <a:ea typeface="+mn-ea"/>
                          <a:cs typeface="Arial" charset="0"/>
                        </a:rPr>
                        <a:t>Acquisition of building by issuing common shares</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charset="0"/>
                        </a:rPr>
                        <a:t>$320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96433">
                <a:tc>
                  <a:txBody>
                    <a:bodyPr/>
                    <a:lstStyle/>
                    <a:p>
                      <a:r>
                        <a:rPr lang="en-US" sz="1800" dirty="0">
                          <a:latin typeface="+mn-lt"/>
                          <a:ea typeface="+mn-ea"/>
                          <a:cs typeface="Arial" charset="0"/>
                        </a:rPr>
                        <a:t>Acquisition of equipment by finance</a:t>
                      </a:r>
                      <a:r>
                        <a:rPr lang="en-US" sz="1800" baseline="0" dirty="0">
                          <a:latin typeface="+mn-lt"/>
                          <a:ea typeface="+mn-ea"/>
                          <a:cs typeface="Arial" charset="0"/>
                        </a:rPr>
                        <a:t> lease</a:t>
                      </a:r>
                      <a:endParaRPr lang="en-US"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u="none" dirty="0">
                          <a:latin typeface="+mn-lt"/>
                          <a:ea typeface="+mn-ea"/>
                          <a:cs typeface="Arial" charset="0"/>
                        </a:rPr>
                        <a:t>70</a:t>
                      </a:r>
                      <a:endParaRPr lang="en-US" altLang="en-US" sz="1800" u="none"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96433">
                <a:tc>
                  <a:txBody>
                    <a:bodyPr/>
                    <a:lstStyle/>
                    <a:p>
                      <a:pPr defTabSz="466725">
                        <a:defRPr/>
                      </a:pPr>
                      <a:r>
                        <a:rPr lang="en-US" sz="1800" dirty="0">
                          <a:latin typeface="+mn-lt"/>
                          <a:ea typeface="+mn-ea"/>
                          <a:cs typeface="Arial" charset="0"/>
                        </a:rPr>
                        <a:t>Conversion of bonds payable to common shares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800" u="sng" dirty="0">
                          <a:latin typeface="+mn-lt"/>
                        </a:rPr>
                        <a:t>  150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96433">
                <a:tc>
                  <a:txBody>
                    <a:bodyPr/>
                    <a:lstStyle/>
                    <a:p>
                      <a:pPr eaLnBrk="1" hangingPunct="1">
                        <a:lnSpc>
                          <a:spcPct val="85000"/>
                        </a:lnSpc>
                      </a:pPr>
                      <a:r>
                        <a:rPr lang="en-US" sz="1800" dirty="0">
                          <a:latin typeface="+mn-lt"/>
                          <a:ea typeface="+mn-ea"/>
                          <a:cs typeface="Arial" charset="0"/>
                        </a:rPr>
                        <a:t>Total noncash investing and financing activities</a:t>
                      </a:r>
                      <a:endParaRPr lang="en-US" altLang="en-US" sz="1800" dirty="0">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u="dbl" baseline="0" dirty="0">
                          <a:latin typeface="+mn-lt"/>
                          <a:ea typeface="+mn-ea"/>
                          <a:cs typeface="Arial" charset="0"/>
                        </a:rPr>
                        <a:t>$540</a:t>
                      </a:r>
                      <a:endParaRPr lang="en-US" u="dbl" baseline="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667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lgn="ctr"/>
            <a:r>
              <a:rPr lang="en-US" dirty="0"/>
              <a:t>End of Chapter Eight</a:t>
            </a:r>
          </a:p>
        </p:txBody>
      </p:sp>
      <p:sp>
        <p:nvSpPr>
          <p:cNvPr id="2" name="Subtitle 4">
            <a:extLst>
              <a:ext uri="{FF2B5EF4-FFF2-40B4-BE49-F238E27FC236}">
                <a16:creationId xmlns:a16="http://schemas.microsoft.com/office/drawing/2014/main" id="{6EB258BB-ED1C-094F-C6AC-8ABF6A4D118A}"/>
              </a:ext>
            </a:extLst>
          </p:cNvPr>
          <p:cNvSpPr>
            <a:spLocks noGrp="1"/>
          </p:cNvSpPr>
          <p:nvPr>
            <p:ph type="subTitle" idx="1"/>
          </p:nvPr>
        </p:nvSpPr>
        <p:spPr>
          <a:xfrm>
            <a:off x="575082" y="5416751"/>
            <a:ext cx="6519149" cy="249758"/>
          </a:xfrm>
        </p:spPr>
        <p:txBody>
          <a:bodyPr>
            <a:noAutofit/>
          </a:bodyPr>
          <a:lstStyle/>
          <a:p>
            <a:r>
              <a:rPr lang="en-US" sz="1200" dirty="0"/>
              <a:t>Slides adapted from Pearson Canada Inc. 2024</a:t>
            </a:r>
          </a:p>
        </p:txBody>
      </p:sp>
    </p:spTree>
    <p:extLst>
      <p:ext uri="{BB962C8B-B14F-4D97-AF65-F5344CB8AC3E}">
        <p14:creationId xmlns:p14="http://schemas.microsoft.com/office/powerpoint/2010/main" val="4287133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Impact + Georgia">
      <a:majorFont>
        <a:latin typeface="Impact"/>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F Branded PP template" id="{79A68145-D4B9-4631-BEF4-7B0E61A80215}" vid="{A743BFCA-C575-4814-BD09-89D271A30E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AE4299700E724EB4A3A9F30476384C" ma:contentTypeVersion="12" ma:contentTypeDescription="Create a new document." ma:contentTypeScope="" ma:versionID="65e170e0dbbae92946b14002ab1c17d9">
  <xsd:schema xmlns:xsd="http://www.w3.org/2001/XMLSchema" xmlns:xs="http://www.w3.org/2001/XMLSchema" xmlns:p="http://schemas.microsoft.com/office/2006/metadata/properties" xmlns:ns2="9a5288b5-dab3-4678-90e6-28176b4bed68" xmlns:ns3="baf01252-53fa-40dd-aec5-420f8d6c2b25" targetNamespace="http://schemas.microsoft.com/office/2006/metadata/properties" ma:root="true" ma:fieldsID="b84896b0ee1e3d4f230a2605d71c901a" ns2:_="" ns3:_="">
    <xsd:import namespace="9a5288b5-dab3-4678-90e6-28176b4bed68"/>
    <xsd:import namespace="baf01252-53fa-40dd-aec5-420f8d6c2b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5288b5-dab3-4678-90e6-28176b4be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af01252-53fa-40dd-aec5-420f8d6c2b2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53BC54-77E2-46DB-97BE-8E2381514324}">
  <ds:schemaRefs>
    <ds:schemaRef ds:uri="http://schemas.microsoft.com/sharepoint/v3/contenttype/forms"/>
  </ds:schemaRefs>
</ds:datastoreItem>
</file>

<file path=customXml/itemProps2.xml><?xml version="1.0" encoding="utf-8"?>
<ds:datastoreItem xmlns:ds="http://schemas.openxmlformats.org/officeDocument/2006/customXml" ds:itemID="{A4D800B5-A7C7-4A38-A875-53B18BAC9D5C}">
  <ds:schemaRefs>
    <ds:schemaRef ds:uri="http://www.w3.org/XML/1998/namespace"/>
    <ds:schemaRef ds:uri="http://schemas.microsoft.com/office/2006/metadata/properties"/>
    <ds:schemaRef ds:uri="http://schemas.microsoft.com/office/2006/documentManagement/types"/>
    <ds:schemaRef ds:uri="http://purl.org/dc/dcmitype/"/>
    <ds:schemaRef ds:uri="9a5288b5-dab3-4678-90e6-28176b4bed68"/>
    <ds:schemaRef ds:uri="http://purl.org/dc/terms/"/>
    <ds:schemaRef ds:uri="http://purl.org/dc/elements/1.1/"/>
    <ds:schemaRef ds:uri="http://schemas.microsoft.com/office/infopath/2007/PartnerControls"/>
    <ds:schemaRef ds:uri="http://schemas.openxmlformats.org/package/2006/metadata/core-properties"/>
    <ds:schemaRef ds:uri="baf01252-53fa-40dd-aec5-420f8d6c2b25"/>
  </ds:schemaRefs>
</ds:datastoreItem>
</file>

<file path=customXml/itemProps3.xml><?xml version="1.0" encoding="utf-8"?>
<ds:datastoreItem xmlns:ds="http://schemas.openxmlformats.org/officeDocument/2006/customXml" ds:itemID="{347C08A3-8C0C-4780-AE19-8EFD012A61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5288b5-dab3-4678-90e6-28176b4bed68"/>
    <ds:schemaRef ds:uri="baf01252-53fa-40dd-aec5-420f8d6c2b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3a5a87-f39a-4a22-9247-3fc240c01396}" enabled="0" method="" siteId="{723a5a87-f39a-4a22-9247-3fc240c01396}" removed="1"/>
</clbl:labelList>
</file>

<file path=docProps/app.xml><?xml version="1.0" encoding="utf-8"?>
<Properties xmlns="http://schemas.openxmlformats.org/officeDocument/2006/extended-properties" xmlns:vt="http://schemas.openxmlformats.org/officeDocument/2006/docPropsVTypes">
  <Template>SAF Branded PP template</Template>
  <TotalTime>1968</TotalTime>
  <Words>5099</Words>
  <Application>Microsoft Macintosh PowerPoint</Application>
  <PresentationFormat>On-screen Show (4:3)</PresentationFormat>
  <Paragraphs>546</Paragraphs>
  <Slides>43</Slides>
  <Notes>42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3" baseType="lpstr">
      <vt:lpstr>ＭＳ Ｐゴシック</vt:lpstr>
      <vt:lpstr>Arial</vt:lpstr>
      <vt:lpstr>Calibri</vt:lpstr>
      <vt:lpstr>Georgia</vt:lpstr>
      <vt:lpstr>Impact</vt:lpstr>
      <vt:lpstr>Times New Roman</vt:lpstr>
      <vt:lpstr>Verdana</vt:lpstr>
      <vt:lpstr>Wingdings</vt:lpstr>
      <vt:lpstr>UofWaterloo_WhiteBkgrd</vt:lpstr>
      <vt:lpstr>Equation</vt:lpstr>
      <vt:lpstr>Chapter 9 Statement of Cash Flows</vt:lpstr>
      <vt:lpstr>Learning Objectives</vt:lpstr>
      <vt:lpstr>Learning Objective One</vt:lpstr>
      <vt:lpstr>The Statement of Cash Flows (1 of 2)</vt:lpstr>
      <vt:lpstr>Timing of the Financial Statements</vt:lpstr>
      <vt:lpstr>Purposes of the Statement of Cash Flows</vt:lpstr>
      <vt:lpstr>The Statement of Cash Flows (2 of 2)</vt:lpstr>
      <vt:lpstr>Learning Objective Two</vt:lpstr>
      <vt:lpstr>Cash Flow Activities</vt:lpstr>
      <vt:lpstr>Relationship to Balance Sheet</vt:lpstr>
      <vt:lpstr>Classifying Interest and Dividends</vt:lpstr>
      <vt:lpstr>Formats for Cash Flow Statement</vt:lpstr>
      <vt:lpstr>Learning Objective Three</vt:lpstr>
      <vt:lpstr>Finding Needed Amounts: Operating Activities</vt:lpstr>
      <vt:lpstr>Operating Activities</vt:lpstr>
      <vt:lpstr>Cash Flow Template: Operating</vt:lpstr>
      <vt:lpstr>Cash Flow Template: Investing</vt:lpstr>
      <vt:lpstr>Cash Flow Template: Financing</vt:lpstr>
      <vt:lpstr>Example Exercise</vt:lpstr>
      <vt:lpstr>Comparative Balance Sheets (1 of 2)</vt:lpstr>
      <vt:lpstr>Comparative Balance Sheets (2 of 2)</vt:lpstr>
      <vt:lpstr>Income Statement (1 of 3)</vt:lpstr>
      <vt:lpstr>Income Statement (2 of 3)</vt:lpstr>
      <vt:lpstr>Income Statement (3 of 3)</vt:lpstr>
      <vt:lpstr>Statement of Cash Flows: Operating Activities (1 of 2)</vt:lpstr>
      <vt:lpstr>Statement of Cash Flows: Operating Activities (2 of 2)</vt:lpstr>
      <vt:lpstr>Statement of Cash Flows: Investing Activities</vt:lpstr>
      <vt:lpstr>Computing Acquisition and Sales of Tangible and Intangible Assets</vt:lpstr>
      <vt:lpstr>Computing Acquisition and Sales of Capital Assets (1 of 4)</vt:lpstr>
      <vt:lpstr>Computing Acquisition and Sales of Capital Assets (2 of 4)</vt:lpstr>
      <vt:lpstr>Computing Acquisition and Sales of Capital Assets (3 of 4)</vt:lpstr>
      <vt:lpstr>Computing Acquisition and Sales of Capital Assets (4 of 4)</vt:lpstr>
      <vt:lpstr>Computing Making and Collecting Loans (1 of 2)</vt:lpstr>
      <vt:lpstr>Computing Making and Collecting Loans (2 of 2)</vt:lpstr>
      <vt:lpstr>Statement of Cash Flows: Financing Activities</vt:lpstr>
      <vt:lpstr>Computing Borrowing Money and Repaying Debts (1 of 2)</vt:lpstr>
      <vt:lpstr>Computing Borrowing Money and Repaying Debts (2 of 2)</vt:lpstr>
      <vt:lpstr>Computing Issuances of Shares: Repurchases of Shares</vt:lpstr>
      <vt:lpstr>Computing Payment of Dividends</vt:lpstr>
      <vt:lpstr>Statement of Cash Flows</vt:lpstr>
      <vt:lpstr>Non-Cash Investing and Financing Activities (1 of 2)</vt:lpstr>
      <vt:lpstr>Non-Cash Investing and Financing Activities (2 of 2)</vt:lpstr>
      <vt:lpstr>End of Chapter Eight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AFM 111 – Professional Pathways and Problem Solving</dc:title>
  <dc:creator>Tracy Hilpert</dc:creator>
  <cp:lastModifiedBy>Lynn Carty</cp:lastModifiedBy>
  <cp:revision>104</cp:revision>
  <cp:lastPrinted>2024-11-01T20:33:48Z</cp:lastPrinted>
  <dcterms:created xsi:type="dcterms:W3CDTF">2020-07-10T19:47:04Z</dcterms:created>
  <dcterms:modified xsi:type="dcterms:W3CDTF">2024-11-07T19:13:32Z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0x010100F3AE4299700E724EB4A3A9F30476384C</vt:lpwstr>
  </property>
</Properties>
</file>