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52"/>
  </p:notesMasterIdLst>
  <p:sldIdLst>
    <p:sldId id="256" r:id="rId5"/>
    <p:sldId id="384" r:id="rId6"/>
    <p:sldId id="271" r:id="rId7"/>
    <p:sldId id="270" r:id="rId8"/>
    <p:sldId id="278" r:id="rId9"/>
    <p:sldId id="277" r:id="rId10"/>
    <p:sldId id="279" r:id="rId11"/>
    <p:sldId id="314" r:id="rId12"/>
    <p:sldId id="276" r:id="rId13"/>
    <p:sldId id="281" r:id="rId14"/>
    <p:sldId id="274" r:id="rId15"/>
    <p:sldId id="379" r:id="rId16"/>
    <p:sldId id="380" r:id="rId17"/>
    <p:sldId id="381" r:id="rId18"/>
    <p:sldId id="282" r:id="rId19"/>
    <p:sldId id="273" r:id="rId20"/>
    <p:sldId id="272" r:id="rId21"/>
    <p:sldId id="285" r:id="rId22"/>
    <p:sldId id="286" r:id="rId23"/>
    <p:sldId id="284" r:id="rId24"/>
    <p:sldId id="287" r:id="rId25"/>
    <p:sldId id="292" r:id="rId26"/>
    <p:sldId id="291" r:id="rId27"/>
    <p:sldId id="283" r:id="rId28"/>
    <p:sldId id="293" r:id="rId29"/>
    <p:sldId id="288" r:id="rId30"/>
    <p:sldId id="290" r:id="rId31"/>
    <p:sldId id="294" r:id="rId32"/>
    <p:sldId id="259" r:id="rId33"/>
    <p:sldId id="289" r:id="rId34"/>
    <p:sldId id="298" r:id="rId35"/>
    <p:sldId id="297" r:id="rId36"/>
    <p:sldId id="296" r:id="rId37"/>
    <p:sldId id="385" r:id="rId38"/>
    <p:sldId id="382" r:id="rId39"/>
    <p:sldId id="306" r:id="rId40"/>
    <p:sldId id="301" r:id="rId41"/>
    <p:sldId id="307" r:id="rId42"/>
    <p:sldId id="308" r:id="rId43"/>
    <p:sldId id="300" r:id="rId44"/>
    <p:sldId id="312" r:id="rId45"/>
    <p:sldId id="311" r:id="rId46"/>
    <p:sldId id="386" r:id="rId47"/>
    <p:sldId id="388" r:id="rId48"/>
    <p:sldId id="387" r:id="rId49"/>
    <p:sldId id="383" r:id="rId50"/>
    <p:sldId id="331" r:id="rId5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39FFD6-B459-A64D-B4F2-8DB575CFEA36}" v="6" dt="2024-11-01T20:33:39.181"/>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57" autoAdjust="0"/>
    <p:restoredTop sz="77939" autoAdjust="0"/>
  </p:normalViewPr>
  <p:slideViewPr>
    <p:cSldViewPr snapToGrid="0">
      <p:cViewPr varScale="1">
        <p:scale>
          <a:sx n="92" d="100"/>
          <a:sy n="92" d="100"/>
        </p:scale>
        <p:origin x="2096" y="168"/>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B739FFD6-B459-A64D-B4F2-8DB575CFEA36}"/>
    <pc:docChg chg="undo custSel addSld modSld modNotesMaster">
      <pc:chgData name="Lynn Carty" userId="22830c01-2f55-4e06-b79c-b355947cb1ea" providerId="ADAL" clId="{B739FFD6-B459-A64D-B4F2-8DB575CFEA36}" dt="2024-11-01T20:33:39.934" v="384" actId="27636"/>
      <pc:docMkLst>
        <pc:docMk/>
      </pc:docMkLst>
      <pc:sldChg chg="modNotes">
        <pc:chgData name="Lynn Carty" userId="22830c01-2f55-4e06-b79c-b355947cb1ea" providerId="ADAL" clId="{B739FFD6-B459-A64D-B4F2-8DB575CFEA36}" dt="2024-11-01T20:33:39.934" v="384" actId="27636"/>
        <pc:sldMkLst>
          <pc:docMk/>
          <pc:sldMk cId="358437980" sldId="278"/>
        </pc:sldMkLst>
      </pc:sldChg>
      <pc:sldChg chg="modSp add mod setBg modNotesTx">
        <pc:chgData name="Lynn Carty" userId="22830c01-2f55-4e06-b79c-b355947cb1ea" providerId="ADAL" clId="{B739FFD6-B459-A64D-B4F2-8DB575CFEA36}" dt="2024-11-01T20:02:05.067" v="24"/>
        <pc:sldMkLst>
          <pc:docMk/>
          <pc:sldMk cId="1058956335" sldId="379"/>
        </pc:sldMkLst>
        <pc:spChg chg="mod">
          <ac:chgData name="Lynn Carty" userId="22830c01-2f55-4e06-b79c-b355947cb1ea" providerId="ADAL" clId="{B739FFD6-B459-A64D-B4F2-8DB575CFEA36}" dt="2024-10-31T14:14:52.776" v="13" actId="20577"/>
          <ac:spMkLst>
            <pc:docMk/>
            <pc:sldMk cId="1058956335" sldId="379"/>
            <ac:spMk id="2" creationId="{78744ED5-82BA-440D-AA9D-94862EE8C8D5}"/>
          </ac:spMkLst>
        </pc:spChg>
        <pc:spChg chg="mod">
          <ac:chgData name="Lynn Carty" userId="22830c01-2f55-4e06-b79c-b355947cb1ea" providerId="ADAL" clId="{B739FFD6-B459-A64D-B4F2-8DB575CFEA36}" dt="2024-10-31T14:13:31.885" v="0"/>
          <ac:spMkLst>
            <pc:docMk/>
            <pc:sldMk cId="1058956335" sldId="379"/>
            <ac:spMk id="4" creationId="{916A53AC-8636-7DD3-55AC-3407BEA380D9}"/>
          </ac:spMkLst>
        </pc:spChg>
      </pc:sldChg>
      <pc:sldChg chg="modSp add mod setBg modNotesTx">
        <pc:chgData name="Lynn Carty" userId="22830c01-2f55-4e06-b79c-b355947cb1ea" providerId="ADAL" clId="{B739FFD6-B459-A64D-B4F2-8DB575CFEA36}" dt="2024-11-01T20:02:05.067" v="24"/>
        <pc:sldMkLst>
          <pc:docMk/>
          <pc:sldMk cId="3189070071" sldId="380"/>
        </pc:sldMkLst>
        <pc:spChg chg="mod">
          <ac:chgData name="Lynn Carty" userId="22830c01-2f55-4e06-b79c-b355947cb1ea" providerId="ADAL" clId="{B739FFD6-B459-A64D-B4F2-8DB575CFEA36}" dt="2024-10-31T14:14:59.425" v="18" actId="20577"/>
          <ac:spMkLst>
            <pc:docMk/>
            <pc:sldMk cId="3189070071" sldId="380"/>
            <ac:spMk id="2" creationId="{78744ED5-82BA-440D-AA9D-94862EE8C8D5}"/>
          </ac:spMkLst>
        </pc:spChg>
        <pc:spChg chg="mod">
          <ac:chgData name="Lynn Carty" userId="22830c01-2f55-4e06-b79c-b355947cb1ea" providerId="ADAL" clId="{B739FFD6-B459-A64D-B4F2-8DB575CFEA36}" dt="2024-10-31T14:13:31.885" v="0"/>
          <ac:spMkLst>
            <pc:docMk/>
            <pc:sldMk cId="3189070071" sldId="380"/>
            <ac:spMk id="4" creationId="{916A53AC-8636-7DD3-55AC-3407BEA380D9}"/>
          </ac:spMkLst>
        </pc:spChg>
      </pc:sldChg>
      <pc:sldChg chg="modSp add mod setBg modNotesTx">
        <pc:chgData name="Lynn Carty" userId="22830c01-2f55-4e06-b79c-b355947cb1ea" providerId="ADAL" clId="{B739FFD6-B459-A64D-B4F2-8DB575CFEA36}" dt="2024-11-01T20:02:05.067" v="24"/>
        <pc:sldMkLst>
          <pc:docMk/>
          <pc:sldMk cId="3394795159" sldId="381"/>
        </pc:sldMkLst>
        <pc:spChg chg="mod">
          <ac:chgData name="Lynn Carty" userId="22830c01-2f55-4e06-b79c-b355947cb1ea" providerId="ADAL" clId="{B739FFD6-B459-A64D-B4F2-8DB575CFEA36}" dt="2024-10-31T14:15:06.039" v="23" actId="20577"/>
          <ac:spMkLst>
            <pc:docMk/>
            <pc:sldMk cId="3394795159" sldId="381"/>
            <ac:spMk id="2" creationId="{78744ED5-82BA-440D-AA9D-94862EE8C8D5}"/>
          </ac:spMkLst>
        </pc:spChg>
        <pc:spChg chg="mod">
          <ac:chgData name="Lynn Carty" userId="22830c01-2f55-4e06-b79c-b355947cb1ea" providerId="ADAL" clId="{B739FFD6-B459-A64D-B4F2-8DB575CFEA36}" dt="2024-10-31T14:13:31.885" v="0"/>
          <ac:spMkLst>
            <pc:docMk/>
            <pc:sldMk cId="3394795159" sldId="381"/>
            <ac:spMk id="4" creationId="{916A53AC-8636-7DD3-55AC-3407BEA380D9}"/>
          </ac:spMkLst>
        </pc:spChg>
      </pc:sldChg>
      <pc:sldChg chg="modSp add">
        <pc:chgData name="Lynn Carty" userId="22830c01-2f55-4e06-b79c-b355947cb1ea" providerId="ADAL" clId="{B739FFD6-B459-A64D-B4F2-8DB575CFEA36}" dt="2024-11-01T20:11:29.996" v="25"/>
        <pc:sldMkLst>
          <pc:docMk/>
          <pc:sldMk cId="699512084" sldId="382"/>
        </pc:sldMkLst>
        <pc:spChg chg="mod">
          <ac:chgData name="Lynn Carty" userId="22830c01-2f55-4e06-b79c-b355947cb1ea" providerId="ADAL" clId="{B739FFD6-B459-A64D-B4F2-8DB575CFEA36}" dt="2024-11-01T20:11:29.996" v="25"/>
          <ac:spMkLst>
            <pc:docMk/>
            <pc:sldMk cId="699512084" sldId="382"/>
            <ac:spMk id="6" creationId="{F5824CFC-161B-57F6-F30B-90C28D757456}"/>
          </ac:spMkLst>
        </pc:spChg>
      </pc:sldChg>
      <pc:sldChg chg="modSp add setBg">
        <pc:chgData name="Lynn Carty" userId="22830c01-2f55-4e06-b79c-b355947cb1ea" providerId="ADAL" clId="{B739FFD6-B459-A64D-B4F2-8DB575CFEA36}" dt="2024-11-01T20:32:21.007" v="382"/>
        <pc:sldMkLst>
          <pc:docMk/>
          <pc:sldMk cId="1658364842" sldId="383"/>
        </pc:sldMkLst>
        <pc:spChg chg="mod">
          <ac:chgData name="Lynn Carty" userId="22830c01-2f55-4e06-b79c-b355947cb1ea" providerId="ADAL" clId="{B739FFD6-B459-A64D-B4F2-8DB575CFEA36}" dt="2024-11-01T20:15:07.651" v="30"/>
          <ac:spMkLst>
            <pc:docMk/>
            <pc:sldMk cId="1658364842" sldId="383"/>
            <ac:spMk id="4" creationId="{6FA54617-604A-4D9D-7E36-53DF42AE9BCC}"/>
          </ac:spMkLst>
        </pc:spChg>
      </pc:sldChg>
      <pc:sldChg chg="modSp add mod">
        <pc:chgData name="Lynn Carty" userId="22830c01-2f55-4e06-b79c-b355947cb1ea" providerId="ADAL" clId="{B739FFD6-B459-A64D-B4F2-8DB575CFEA36}" dt="2024-11-01T20:12:34.241" v="29" actId="20577"/>
        <pc:sldMkLst>
          <pc:docMk/>
          <pc:sldMk cId="3819066578" sldId="385"/>
        </pc:sldMkLst>
        <pc:spChg chg="mod">
          <ac:chgData name="Lynn Carty" userId="22830c01-2f55-4e06-b79c-b355947cb1ea" providerId="ADAL" clId="{B739FFD6-B459-A64D-B4F2-8DB575CFEA36}" dt="2024-11-01T20:12:34.241" v="29" actId="20577"/>
          <ac:spMkLst>
            <pc:docMk/>
            <pc:sldMk cId="3819066578" sldId="385"/>
            <ac:spMk id="3" creationId="{13DE6E06-B9D2-D73B-7045-50C9BA53DE52}"/>
          </ac:spMkLst>
        </pc:spChg>
        <pc:spChg chg="mod">
          <ac:chgData name="Lynn Carty" userId="22830c01-2f55-4e06-b79c-b355947cb1ea" providerId="ADAL" clId="{B739FFD6-B459-A64D-B4F2-8DB575CFEA36}" dt="2024-11-01T20:11:29.996" v="25"/>
          <ac:spMkLst>
            <pc:docMk/>
            <pc:sldMk cId="3819066578" sldId="385"/>
            <ac:spMk id="6" creationId="{F2A7F090-F97F-3C21-1716-47498202228B}"/>
          </ac:spMkLst>
        </pc:spChg>
      </pc:sldChg>
      <pc:sldChg chg="modSp add mod setBg">
        <pc:chgData name="Lynn Carty" userId="22830c01-2f55-4e06-b79c-b355947cb1ea" providerId="ADAL" clId="{B739FFD6-B459-A64D-B4F2-8DB575CFEA36}" dt="2024-11-01T20:32:21.007" v="382"/>
        <pc:sldMkLst>
          <pc:docMk/>
          <pc:sldMk cId="3960663073" sldId="386"/>
        </pc:sldMkLst>
        <pc:spChg chg="mod">
          <ac:chgData name="Lynn Carty" userId="22830c01-2f55-4e06-b79c-b355947cb1ea" providerId="ADAL" clId="{B739FFD6-B459-A64D-B4F2-8DB575CFEA36}" dt="2024-11-01T20:23:10.168" v="179" actId="21"/>
          <ac:spMkLst>
            <pc:docMk/>
            <pc:sldMk cId="3960663073" sldId="386"/>
            <ac:spMk id="3" creationId="{96E72E2D-ACE3-9FCC-1159-92E20364E6FA}"/>
          </ac:spMkLst>
        </pc:spChg>
        <pc:spChg chg="mod">
          <ac:chgData name="Lynn Carty" userId="22830c01-2f55-4e06-b79c-b355947cb1ea" providerId="ADAL" clId="{B739FFD6-B459-A64D-B4F2-8DB575CFEA36}" dt="2024-11-01T20:15:07.651" v="30"/>
          <ac:spMkLst>
            <pc:docMk/>
            <pc:sldMk cId="3960663073" sldId="386"/>
            <ac:spMk id="4" creationId="{1EE2AFE4-8A7B-F7E9-055A-5298F4DFBB1C}"/>
          </ac:spMkLst>
        </pc:spChg>
        <pc:picChg chg="mod">
          <ac:chgData name="Lynn Carty" userId="22830c01-2f55-4e06-b79c-b355947cb1ea" providerId="ADAL" clId="{B739FFD6-B459-A64D-B4F2-8DB575CFEA36}" dt="2024-11-01T20:22:38.214" v="155" actId="1076"/>
          <ac:picMkLst>
            <pc:docMk/>
            <pc:sldMk cId="3960663073" sldId="386"/>
            <ac:picMk id="5" creationId="{3D39D179-0BFF-FA86-9A8B-15935148EF83}"/>
          </ac:picMkLst>
        </pc:picChg>
      </pc:sldChg>
      <pc:sldChg chg="modSp add mod setBg">
        <pc:chgData name="Lynn Carty" userId="22830c01-2f55-4e06-b79c-b355947cb1ea" providerId="ADAL" clId="{B739FFD6-B459-A64D-B4F2-8DB575CFEA36}" dt="2024-11-01T20:32:21.007" v="382"/>
        <pc:sldMkLst>
          <pc:docMk/>
          <pc:sldMk cId="2026525167" sldId="387"/>
        </pc:sldMkLst>
        <pc:spChg chg="mod">
          <ac:chgData name="Lynn Carty" userId="22830c01-2f55-4e06-b79c-b355947cb1ea" providerId="ADAL" clId="{B739FFD6-B459-A64D-B4F2-8DB575CFEA36}" dt="2024-11-01T20:25:11.617" v="381" actId="5793"/>
          <ac:spMkLst>
            <pc:docMk/>
            <pc:sldMk cId="2026525167" sldId="387"/>
            <ac:spMk id="3" creationId="{E0663385-307D-1806-FEFD-6A8D1ABDE47A}"/>
          </ac:spMkLst>
        </pc:spChg>
        <pc:spChg chg="mod">
          <ac:chgData name="Lynn Carty" userId="22830c01-2f55-4e06-b79c-b355947cb1ea" providerId="ADAL" clId="{B739FFD6-B459-A64D-B4F2-8DB575CFEA36}" dt="2024-11-01T20:15:07.651" v="30"/>
          <ac:spMkLst>
            <pc:docMk/>
            <pc:sldMk cId="2026525167" sldId="387"/>
            <ac:spMk id="4" creationId="{F862C693-B5C1-866A-1385-347946024F59}"/>
          </ac:spMkLst>
        </pc:spChg>
      </pc:sldChg>
      <pc:sldChg chg="modSp new mod setBg">
        <pc:chgData name="Lynn Carty" userId="22830c01-2f55-4e06-b79c-b355947cb1ea" providerId="ADAL" clId="{B739FFD6-B459-A64D-B4F2-8DB575CFEA36}" dt="2024-11-01T20:32:21.007" v="382"/>
        <pc:sldMkLst>
          <pc:docMk/>
          <pc:sldMk cId="704245605" sldId="388"/>
        </pc:sldMkLst>
        <pc:spChg chg="mod">
          <ac:chgData name="Lynn Carty" userId="22830c01-2f55-4e06-b79c-b355947cb1ea" providerId="ADAL" clId="{B739FFD6-B459-A64D-B4F2-8DB575CFEA36}" dt="2024-11-01T20:23:03.847" v="178" actId="20577"/>
          <ac:spMkLst>
            <pc:docMk/>
            <pc:sldMk cId="704245605" sldId="388"/>
            <ac:spMk id="2" creationId="{54C68548-2C41-F27D-F84D-EFC55350AEAE}"/>
          </ac:spMkLst>
        </pc:spChg>
        <pc:spChg chg="mod">
          <ac:chgData name="Lynn Carty" userId="22830c01-2f55-4e06-b79c-b355947cb1ea" providerId="ADAL" clId="{B739FFD6-B459-A64D-B4F2-8DB575CFEA36}" dt="2024-11-01T20:24:06.890" v="380" actId="20577"/>
          <ac:spMkLst>
            <pc:docMk/>
            <pc:sldMk cId="704245605" sldId="388"/>
            <ac:spMk id="3" creationId="{833F6B2C-0096-112A-4BEA-3975A4DA69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B78E97C-1779-4CEE-80D0-5BBB1AC4023D}" type="datetimeFigureOut">
              <a:rPr lang="en-US" smtClean="0"/>
              <a:t>11/4/25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chapter covers the measurement and reporting principles for tangible long-lived assets (also known as property, plant</a:t>
            </a:r>
          </a:p>
          <a:p>
            <a:r>
              <a:rPr lang="en-US" altLang="en-US" dirty="0">
                <a:latin typeface="Arial" pitchFamily="34" charset="0"/>
                <a:ea typeface="ＭＳ Ｐゴシック" pitchFamily="34" charset="-128"/>
              </a:rPr>
              <a:t>and equipment) as well as intangible assets.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this PowerPoint presentation contains mathematical equations, you may need to check that your computer has the following installed:</a:t>
            </a:r>
          </a:p>
          <a:p>
            <a:r>
              <a:rPr lang="en-US" sz="1200" kern="1200" dirty="0">
                <a:solidFill>
                  <a:schemeClr val="tx1"/>
                </a:solidFill>
                <a:effectLst/>
                <a:latin typeface="+mn-lt"/>
                <a:ea typeface="+mn-ea"/>
                <a:cs typeface="+mn-cs"/>
              </a:rPr>
              <a:t>1) </a:t>
            </a:r>
            <a:r>
              <a:rPr lang="en-US" sz="1200" kern="1200" dirty="0" err="1">
                <a:solidFill>
                  <a:schemeClr val="tx1"/>
                </a:solidFill>
                <a:effectLst/>
                <a:latin typeface="+mn-lt"/>
                <a:ea typeface="+mn-ea"/>
                <a:cs typeface="+mn-cs"/>
              </a:rPr>
              <a:t>MathType</a:t>
            </a:r>
            <a:r>
              <a:rPr lang="en-US" sz="1200" kern="1200" dirty="0">
                <a:solidFill>
                  <a:schemeClr val="tx1"/>
                </a:solidFill>
                <a:effectLst/>
                <a:latin typeface="+mn-lt"/>
                <a:ea typeface="+mn-ea"/>
                <a:cs typeface="+mn-cs"/>
              </a:rPr>
              <a:t> Plugin</a:t>
            </a:r>
          </a:p>
          <a:p>
            <a:r>
              <a:rPr lang="en-US" sz="1200" kern="1200" dirty="0">
                <a:solidFill>
                  <a:schemeClr val="tx1"/>
                </a:solidFill>
                <a:effectLst/>
                <a:latin typeface="+mn-lt"/>
                <a:ea typeface="+mn-ea"/>
                <a:cs typeface="+mn-cs"/>
              </a:rPr>
              <a:t>2) Math Player (free versions available)</a:t>
            </a:r>
          </a:p>
          <a:p>
            <a:r>
              <a:rPr lang="en-US" sz="1200" kern="1200" dirty="0">
                <a:solidFill>
                  <a:schemeClr val="tx1"/>
                </a:solidFill>
                <a:effectLst/>
                <a:latin typeface="+mn-lt"/>
                <a:ea typeface="+mn-ea"/>
                <a:cs typeface="+mn-cs"/>
              </a:rPr>
              <a:t>3) NVDA Reader (free versions available)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311694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first learning objective is to explain the main features of a corporation.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Separate Legal Entity</a:t>
            </a:r>
          </a:p>
          <a:p>
            <a:r>
              <a:rPr lang="en-US" altLang="en-US" dirty="0">
                <a:latin typeface="Arial" pitchFamily="34" charset="0"/>
                <a:ea typeface="ＭＳ Ｐゴシック" pitchFamily="34" charset="-128"/>
              </a:rPr>
              <a:t>A corporation is a business entity formed under federal or provincial law. The federal or provincial government grants articles of incorporation,  which consist of documents giving the governing body’s permission to form a corporation. A corporation is a distinct entity, an artificial person that exists apart from its owners, the shareholders. The corporation has many of the same rights as a person. </a:t>
            </a:r>
          </a:p>
          <a:p>
            <a:endParaRPr lang="en-US" alt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51665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altLang="en-US" dirty="0">
                <a:latin typeface="Arial" pitchFamily="34" charset="0"/>
                <a:ea typeface="ＭＳ Ｐゴシック" pitchFamily="34" charset="-128"/>
              </a:rPr>
              <a:t>Continuous Life and Transferability of Ownership</a:t>
            </a:r>
          </a:p>
          <a:p>
            <a:r>
              <a:rPr lang="en-US" altLang="en-US" dirty="0">
                <a:latin typeface="Arial" pitchFamily="34" charset="0"/>
                <a:ea typeface="ＭＳ Ｐゴシック" pitchFamily="34" charset="-128"/>
              </a:rPr>
              <a:t>Corporations have continuous lives regardless of changes in their ownership. The shareholders of a corporation may transfer shares as they wish.</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Limited Liability </a:t>
            </a:r>
          </a:p>
          <a:p>
            <a:r>
              <a:rPr lang="en-US" altLang="en-US" dirty="0">
                <a:latin typeface="Arial" pitchFamily="34" charset="0"/>
                <a:ea typeface="ＭＳ Ｐゴシック" pitchFamily="34" charset="-128"/>
              </a:rPr>
              <a:t>Shareholders have limited liability for the corporation’s debts, so they have no personal obligation to repay the company’s liabilities. The most that a shareholder can lose on an investment in a corporation’s shares is the cost of the investment.</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Separation of Ownership and Management</a:t>
            </a:r>
          </a:p>
          <a:p>
            <a:r>
              <a:rPr lang="en-US" altLang="en-US" dirty="0">
                <a:latin typeface="Arial" pitchFamily="34" charset="0"/>
                <a:ea typeface="ＭＳ Ｐゴシック" pitchFamily="34" charset="-128"/>
              </a:rPr>
              <a:t>Shareholders own the corporation, but a board of directors—elected by the shareholders—appoints officers to manage the business.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Corporate Taxation</a:t>
            </a:r>
          </a:p>
          <a:p>
            <a:r>
              <a:rPr lang="en-US" altLang="en-US" dirty="0">
                <a:latin typeface="Arial" pitchFamily="34" charset="0"/>
                <a:ea typeface="ＭＳ Ｐゴシック" pitchFamily="34" charset="-128"/>
              </a:rPr>
              <a:t>Because corporations are separate legal entities, they must pay income taxes separate from those borne by their individual shareholders.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Government Regulation </a:t>
            </a:r>
          </a:p>
          <a:p>
            <a:r>
              <a:rPr lang="en-US" altLang="en-US" dirty="0">
                <a:latin typeface="Arial" pitchFamily="34" charset="0"/>
                <a:ea typeface="ＭＳ Ｐゴシック" pitchFamily="34" charset="-128"/>
              </a:rPr>
              <a:t>Because shareholders have only limited liability for corporation debts, outsiders doing business with the corporation can look no further than the corporation if it fails to pay. To protect a corporation’s creditors and the shareholders, both federal and provincial governments monitor corporations. This regulation consists mainly of ensuring that corporations disclose the information in financial statements that investors and creditors need to make informed decisions.</a:t>
            </a:r>
            <a:endParaRPr lang="en-US" dirty="0"/>
          </a:p>
          <a:p>
            <a:pPr>
              <a:lnSpc>
                <a:spcPct val="80000"/>
              </a:lnSpc>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Ultimate control of the corporation rests with the Shareholders who elect a board of directors that sets company policy and appoints officers. The board elects a chairperson, who usually is the most powerful person in the organization. The board also designates the president, who is the chief executive officer (CEO) in charge of day-to-day operations. Most corporations also have vice presidents in charge of sales, manufacturing, accounting and finance (the chief financial officer, or CFO), and other key areas.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680369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Ownership of shares entitles shareholders to four basic rights, unless a specific right is withheld by agreement with the shareholders:</a:t>
            </a:r>
          </a:p>
          <a:p>
            <a:r>
              <a:rPr lang="en-US" altLang="en-US" dirty="0">
                <a:latin typeface="Arial" pitchFamily="34" charset="0"/>
                <a:ea typeface="ＭＳ Ｐゴシック" pitchFamily="34" charset="-128"/>
              </a:rPr>
              <a:t>1. The right to sell the shares. Shareholders have the right to sell their shares to other parties when they no longer wish to own them. </a:t>
            </a:r>
          </a:p>
          <a:p>
            <a:r>
              <a:rPr lang="en-US" altLang="en-US" dirty="0">
                <a:latin typeface="Arial" pitchFamily="34" charset="0"/>
                <a:ea typeface="ＭＳ Ｐゴシック" pitchFamily="34" charset="-128"/>
              </a:rPr>
              <a:t>2. The right to vote. Shareholders have the right to participate in management by voting on matters that come before them. This is the shareholder’s sole voice in the management of the corporation. A shareholder is normally entitled to one vote for each common share owned. There are some classes of common shares that give the holder multiple votes or no vote. </a:t>
            </a:r>
          </a:p>
          <a:p>
            <a:r>
              <a:rPr lang="en-US" altLang="en-US" dirty="0">
                <a:latin typeface="Arial" pitchFamily="34" charset="0"/>
                <a:ea typeface="ＭＳ Ｐゴシック" pitchFamily="34" charset="-128"/>
              </a:rPr>
              <a:t>3. The right to receive dividends. Shareholders have the right to receive a proportionate share of any distributions from the company’s retained earnings. Each share in a particular class receives an equal dividend. </a:t>
            </a:r>
          </a:p>
          <a:p>
            <a:r>
              <a:rPr lang="en-US" altLang="en-US" dirty="0">
                <a:latin typeface="Arial" pitchFamily="34" charset="0"/>
                <a:ea typeface="ＭＳ Ｐゴシック" pitchFamily="34" charset="-128"/>
              </a:rPr>
              <a:t>4. The right to receive a residual interest upon liquidation. Shareholders have the right to receive a proportionate share of any assets remaining after the corporation pays all liabilities upon liquidation. When a company goes out of business, it sells its assets, pays its liabilities, and distributes any residual (or remaining) assets to shareholders.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Shareholders’ equity has four common and separate components: </a:t>
            </a:r>
          </a:p>
          <a:p>
            <a:r>
              <a:rPr lang="en-US" altLang="en-US" dirty="0">
                <a:latin typeface="Arial" pitchFamily="34" charset="0"/>
                <a:ea typeface="ＭＳ Ｐゴシック" pitchFamily="34" charset="-128"/>
              </a:rPr>
              <a:t>1. Share capital—amounts contributed by shareholders in exchange for shares in the corporation. </a:t>
            </a:r>
          </a:p>
          <a:p>
            <a:r>
              <a:rPr lang="en-US" altLang="en-US" dirty="0">
                <a:latin typeface="Arial" pitchFamily="34" charset="0"/>
                <a:ea typeface="ＭＳ Ｐゴシック" pitchFamily="34" charset="-128"/>
              </a:rPr>
              <a:t>2. Contributed surplus—any amounts contributed by shareholders in excess of amounts allocated to share capital. </a:t>
            </a:r>
          </a:p>
          <a:p>
            <a:r>
              <a:rPr lang="en-US" altLang="en-US" dirty="0">
                <a:latin typeface="Arial" pitchFamily="34" charset="0"/>
                <a:ea typeface="ＭＳ Ｐゴシック" pitchFamily="34" charset="-128"/>
              </a:rPr>
              <a:t>3. Accumulated other comprehensive income—IFRS requires companies to report Accumulated Other Comprehensive Income, which is an accumulation of past earnings not included in retained earnings. This equity item is discussed in detail in Chapter 11. ASPE does not require companies to account for this item. </a:t>
            </a:r>
          </a:p>
          <a:p>
            <a:r>
              <a:rPr lang="en-US" altLang="en-US" dirty="0">
                <a:latin typeface="Arial" pitchFamily="34" charset="0"/>
                <a:ea typeface="ＭＳ Ｐゴシック" pitchFamily="34" charset="-128"/>
              </a:rPr>
              <a:t>4. Retained earning—the accumulated balance of a corporation’s net income since inception, less any net losses and dividends declared during this time. When the accumulation is a negative number, the term </a:t>
            </a:r>
            <a:r>
              <a:rPr lang="en-US" altLang="en-US" i="1" dirty="0">
                <a:latin typeface="Arial" pitchFamily="34" charset="0"/>
                <a:ea typeface="ＭＳ Ｐゴシック" pitchFamily="34" charset="-128"/>
              </a:rPr>
              <a:t>deficit</a:t>
            </a:r>
            <a:r>
              <a:rPr lang="en-US" altLang="en-US" dirty="0">
                <a:latin typeface="Arial" pitchFamily="34" charset="0"/>
                <a:ea typeface="ＭＳ Ｐゴシック" pitchFamily="34" charset="-128"/>
              </a:rPr>
              <a:t> is used to describe it.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212676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corporation issues share certificates to its owners in exchange for their investment in the business—usually cash. The basic unit of share capital is called a share. A corporation may issue a share certificate for any number of shares it wishes—one share, 100 shares, or any other number—but the total number of authorized shares is limited by charter. Shares are sometimes referred to as </a:t>
            </a:r>
            <a:r>
              <a:rPr lang="en-US" altLang="en-US" i="1" dirty="0">
                <a:latin typeface="Arial" pitchFamily="34" charset="0"/>
                <a:ea typeface="ＭＳ Ｐゴシック" pitchFamily="34" charset="-128"/>
              </a:rPr>
              <a:t>stock</a:t>
            </a:r>
            <a:r>
              <a:rPr lang="en-US" altLang="en-US" dirty="0">
                <a:latin typeface="Arial" pitchFamily="34" charset="0"/>
                <a:ea typeface="ＭＳ Ｐゴシック" pitchFamily="34" charset="-128"/>
              </a:rPr>
              <a:t>, but owning stock in a company means the same thing as owning shares in that company.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terms authorized, issued, and outstanding are frequently used to describe a corporation’s shares. Authorized refers to the maximum number of shares a corporation is allowed to distribute to shareholders. Companies incorporated under the </a:t>
            </a:r>
            <a:r>
              <a:rPr lang="en-US" altLang="en-US" i="1" dirty="0">
                <a:latin typeface="Arial" pitchFamily="34" charset="0"/>
                <a:ea typeface="ＭＳ Ｐゴシック" pitchFamily="34" charset="-128"/>
              </a:rPr>
              <a:t>Canada Business Corporations Act </a:t>
            </a:r>
            <a:r>
              <a:rPr lang="en-US" altLang="en-US" dirty="0">
                <a:latin typeface="Arial" pitchFamily="34" charset="0"/>
                <a:ea typeface="ＭＳ Ｐゴシック" pitchFamily="34" charset="-128"/>
              </a:rPr>
              <a:t>are permitted to issue an unlimited number of shares. Issued refers to the number of shares sold or transferred to shareholders. Outstanding shares are those actually in the hands of shareholders. Sometimes a company repurchases shares it has previously issued so that the number of shares outstanding will be less than the number of shares issued.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524624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80000"/>
              </a:lnSpc>
            </a:pPr>
            <a:r>
              <a:rPr lang="en-US" altLang="en-US" dirty="0">
                <a:latin typeface="Arial" pitchFamily="34" charset="0"/>
                <a:ea typeface="ＭＳ Ｐゴシック" pitchFamily="34" charset="-128"/>
              </a:rPr>
              <a:t>Every corporation issues common shares, the basic form of capital.  Unless designated otherwise, the word share is understood to mean “common share”. IFRS refers to common shares as </a:t>
            </a:r>
            <a:r>
              <a:rPr lang="en-US" altLang="en-US" i="1" dirty="0">
                <a:latin typeface="Arial" pitchFamily="34" charset="0"/>
                <a:ea typeface="ＭＳ Ｐゴシック" pitchFamily="34" charset="-128"/>
              </a:rPr>
              <a:t>ordinary shares</a:t>
            </a:r>
            <a:r>
              <a:rPr lang="en-US" altLang="en-US" dirty="0">
                <a:latin typeface="Arial" pitchFamily="34" charset="0"/>
                <a:ea typeface="ＭＳ Ｐゴシック" pitchFamily="34" charset="-128"/>
              </a:rPr>
              <a:t>. Common shareholders have the four basic rights of share ownership, unless a right is specifically withheld. The common shareholders are the owners of the corporation. They stand to benefit the most if the corporation succeeds because they take the most risk by investing in common shares.</a:t>
            </a:r>
          </a:p>
          <a:p>
            <a:pPr>
              <a:lnSpc>
                <a:spcPct val="80000"/>
              </a:lnSpc>
            </a:pPr>
            <a:endParaRPr lang="en-US" altLang="en-US" dirty="0">
              <a:latin typeface="Arial" pitchFamily="34" charset="0"/>
              <a:ea typeface="ＭＳ Ｐゴシック" pitchFamily="34" charset="-128"/>
            </a:endParaRPr>
          </a:p>
          <a:p>
            <a:pPr>
              <a:lnSpc>
                <a:spcPct val="80000"/>
              </a:lnSpc>
            </a:pPr>
            <a:r>
              <a:rPr lang="en-US" altLang="en-US" dirty="0">
                <a:latin typeface="Arial" pitchFamily="34" charset="0"/>
                <a:ea typeface="ＭＳ Ｐゴシック" pitchFamily="34" charset="-128"/>
              </a:rPr>
              <a:t>Preferred shares gives its owners certain advantages over common shareholders. Preferred shareholders receive dividends before the common shareholders and they also receive assets before the common shareholders if the corporation liquidates. Preferred shares are usually non-voting, but otherwise the owners also have the other three basic shareholder rights, unless a right is specifically denied. Companies may issue different classes of preferred shares. Each class is recorded in a separate account. The most that preferred shareholders can expect to earn on their investments is a fixed dividend. </a:t>
            </a:r>
          </a:p>
          <a:p>
            <a:pPr>
              <a:lnSpc>
                <a:spcPct val="80000"/>
              </a:lnSpc>
            </a:pPr>
            <a:endParaRPr lang="en-US" altLang="en-US" dirty="0">
              <a:latin typeface="Arial" pitchFamily="34" charset="0"/>
              <a:ea typeface="ＭＳ Ｐゴシック" pitchFamily="34" charset="-128"/>
            </a:endParaRPr>
          </a:p>
          <a:p>
            <a:pPr>
              <a:lnSpc>
                <a:spcPct val="80000"/>
              </a:lnSpc>
            </a:pPr>
            <a:r>
              <a:rPr lang="en-US" altLang="en-US" dirty="0">
                <a:latin typeface="Arial" pitchFamily="34" charset="0"/>
                <a:ea typeface="ＭＳ Ｐゴシック" pitchFamily="34" charset="-128"/>
              </a:rPr>
              <a:t>Preferred shares are a hybrid between common shares and long-term debt. Like debt, preferred shares pays a fixed dividend. But unlike interest on debt, the dividend is not required to be paid unless the board of directors declares the dividend. Also, companies have no obligation to pay back true preferred shares. Preferred shares that must be redeemed (paid back) by the corporation are a liability masquerading as a stock. Preferred shares are less frequently used. A recent survey of 600 corporations revealed that fewer than 10% of them issued preferred shares.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Par value shares are shares that have a value assigned to them by the articles of incorporation, which specify the legal details associated with a company’s incorporation. The </a:t>
            </a:r>
            <a:r>
              <a:rPr lang="en-US" altLang="en-US" i="1" dirty="0">
                <a:latin typeface="Arial" pitchFamily="34" charset="0"/>
                <a:ea typeface="ＭＳ Ｐゴシック" pitchFamily="34" charset="-128"/>
              </a:rPr>
              <a:t>Canada Business Corporations Act </a:t>
            </a:r>
            <a:r>
              <a:rPr lang="en-US" altLang="en-US" dirty="0">
                <a:latin typeface="Arial" pitchFamily="34" charset="0"/>
                <a:ea typeface="ＭＳ Ｐゴシック" pitchFamily="34" charset="-128"/>
              </a:rPr>
              <a:t>and most provincial incorporating acts now require common and preferred shares to be issued without par value.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602731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D1FCC-D7D7-0D4E-8A45-904E730288F0}" type="slidenum">
              <a:rPr lang="en-US" smtClean="0"/>
              <a:t>12</a:t>
            </a:fld>
            <a:endParaRPr lang="en-US"/>
          </a:p>
        </p:txBody>
      </p:sp>
    </p:spTree>
    <p:extLst>
      <p:ext uri="{BB962C8B-B14F-4D97-AF65-F5344CB8AC3E}">
        <p14:creationId xmlns:p14="http://schemas.microsoft.com/office/powerpoint/2010/main" val="248700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D1FCC-D7D7-0D4E-8A45-904E730288F0}" type="slidenum">
              <a:rPr lang="en-US" smtClean="0"/>
              <a:t>13</a:t>
            </a:fld>
            <a:endParaRPr lang="en-US"/>
          </a:p>
        </p:txBody>
      </p:sp>
    </p:spTree>
    <p:extLst>
      <p:ext uri="{BB962C8B-B14F-4D97-AF65-F5344CB8AC3E}">
        <p14:creationId xmlns:p14="http://schemas.microsoft.com/office/powerpoint/2010/main" val="2850678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D1FCC-D7D7-0D4E-8A45-904E730288F0}" type="slidenum">
              <a:rPr lang="en-US" smtClean="0"/>
              <a:t>14</a:t>
            </a:fld>
            <a:endParaRPr lang="en-US"/>
          </a:p>
        </p:txBody>
      </p:sp>
    </p:spTree>
    <p:extLst>
      <p:ext uri="{BB962C8B-B14F-4D97-AF65-F5344CB8AC3E}">
        <p14:creationId xmlns:p14="http://schemas.microsoft.com/office/powerpoint/2010/main" val="631582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second learning objective is to account for the issuance of shares.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To record the issuance of shares for cash, the asset received is debited and common shares account is credited.  Suppose a company issued 100,000 common shares at $50 per share. The entry is shown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614787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a transaction like this occurs, the company is required to measure the transaction based on the fair value of the assets received. If that fair value cannot be determined, the fair value of the shares given up will be the value assigned to the transaction.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049451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Accounting for the issuance of preferred shares (or other kinds of non-voting shares) for cash or other assets is the same as that for common shares, except for the name of the share capital account used, which will match the type of shares being issued.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615472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solidFill>
                  <a:srgbClr val="FF0000"/>
                </a:solidFill>
                <a:latin typeface="Arial" pitchFamily="34" charset="0"/>
                <a:ea typeface="ＭＳ Ｐゴシック" pitchFamily="34" charset="-128"/>
              </a:rPr>
              <a:t>The third learning objective is to explain why a company repurchases shares.</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Reasons why a company would reacquire its own shares:</a:t>
            </a:r>
          </a:p>
          <a:p>
            <a:r>
              <a:rPr lang="en-US" altLang="en-US" dirty="0">
                <a:latin typeface="Arial" pitchFamily="34" charset="0"/>
                <a:ea typeface="ＭＳ Ｐゴシック" pitchFamily="34" charset="-128"/>
              </a:rPr>
              <a:t>1. The company needs the repurchased shares to fulfill future share issuance commitments, such as those related to share option plans and conversions of bonds and preferred shares into common shares. </a:t>
            </a:r>
          </a:p>
          <a:p>
            <a:r>
              <a:rPr lang="en-US" altLang="en-US" dirty="0">
                <a:latin typeface="Arial" pitchFamily="34" charset="0"/>
                <a:ea typeface="ＭＳ Ｐゴシック" pitchFamily="34" charset="-128"/>
              </a:rPr>
              <a:t>2. The purchase may help support the share’s current market price by decreasing the supply of shares available to the public, which will usually result in an increase in the market price per share. </a:t>
            </a:r>
          </a:p>
          <a:p>
            <a:r>
              <a:rPr lang="en-US" altLang="en-US" dirty="0">
                <a:latin typeface="Arial" pitchFamily="34" charset="0"/>
                <a:ea typeface="ＭＳ Ｐゴシック" pitchFamily="34" charset="-128"/>
              </a:rPr>
              <a:t>3. Management wants to avoid a takeover by an outside party, so it repurchases a significant proportion of its own shares to prevent the other party from acquiring them.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28542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fourth learning objective is to account for retained earnings, dividends, and stock splits.</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CA" altLang="en-US" dirty="0">
                <a:latin typeface="Arial" pitchFamily="34" charset="0"/>
                <a:ea typeface="ＭＳ Ｐゴシック" pitchFamily="34" charset="-128"/>
              </a:rPr>
              <a:t>The Retained Earnings account carries the accumulated balance of the corporation’s net income less its net losses and any dividends declared over its lifetime. </a:t>
            </a:r>
            <a:r>
              <a:rPr lang="en-US" altLang="en-US" dirty="0">
                <a:latin typeface="Arial" pitchFamily="34" charset="0"/>
                <a:ea typeface="ＭＳ Ｐゴシック" pitchFamily="34" charset="-128"/>
              </a:rPr>
              <a:t>The Retained Earnings account is not a reservoir of cash for paying dividends to the Shareholders. In fact, the corporation may have a large balance in Retained Earnings but not have enough cash to pay a dividend. Cash and Retained Earnings are two entirely separate accounts with no particular relationship. Retained Earnings says nothing about the company’s cash balance.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 credit balance in Retained Earnings is normal, indicating that the corporation’s lifetime earnings exceed lifetime losses and dividends. A debit balance in Retained Earnings arises when a corporation’s lifetime losses and dividends exceed lifetime earnings. Called a deficit, this amount is subtracted to determine total Shareholders’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364032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Most dividends are cash dividends. Finance courses discuss how a company decides on its dividend policy. Accounting tells a company if it can pay a dividend. To do so, a company must have both enough retained earnings to declare the dividend and enough cash to pay the dividend. A corporation declares a dividend before paying it. Only the board of directors has the authority to declare a dividend. The corporation has no obligation to pay a dividend until the board declares one, but once declared, the dividend becomes a legal liability of the corporation.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239003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three relevant dates for dividends:</a:t>
            </a:r>
          </a:p>
          <a:p>
            <a:r>
              <a:rPr lang="en-US" altLang="en-US" dirty="0">
                <a:latin typeface="Arial" pitchFamily="34" charset="0"/>
                <a:ea typeface="ＭＳ Ｐゴシック" pitchFamily="34" charset="-128"/>
              </a:rPr>
              <a:t>1. Declaration date: On the declaration date, the board of directors announces the dividend. Declaration of the dividend creates a liability for the corporation. Declaration is recorded by debiting Retained Earnings and crediting Dividends Payable.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793600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2. Date of record </a:t>
            </a:r>
            <a:r>
              <a:rPr lang="en-CA" altLang="en-US" dirty="0">
                <a:latin typeface="Arial" pitchFamily="34" charset="0"/>
                <a:ea typeface="ＭＳ Ｐゴシック" pitchFamily="34" charset="-128"/>
              </a:rPr>
              <a:t>follows the declaration date. In order to receive the declared dividend, one must be officially registered as a shareholder of the company on this date. This date has no accounting implications, so no journal entry is needed.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9865952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3. Payment date </a:t>
            </a:r>
            <a:r>
              <a:rPr lang="en-CA" altLang="en-US" dirty="0">
                <a:latin typeface="Arial" pitchFamily="34" charset="0"/>
                <a:ea typeface="ＭＳ Ｐゴシック" pitchFamily="34" charset="-128"/>
              </a:rPr>
              <a:t>is the date on which the dividend is actually paid to shareholders. </a:t>
            </a:r>
            <a:r>
              <a:rPr lang="en-US" altLang="en-US" dirty="0">
                <a:latin typeface="Arial" pitchFamily="34" charset="0"/>
                <a:ea typeface="ＭＳ Ｐゴシック" pitchFamily="34" charset="-128"/>
              </a:rPr>
              <a:t>Payment is recorded by debiting Dividends Payable and crediting Cash. Both assets and liabilities decrease. The corporation shrinks.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83198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When a company declares a stock dividend, it eventually pays the dividend by issuing additional shares of the company instead of by distributing cash. The total dollar value of a stock dividend is determined by multiplying the number of shares to be issued by the market price of the shares on the date of declaration</a:t>
            </a:r>
            <a:r>
              <a:rPr lang="en-US" altLang="en-US" dirty="0">
                <a:latin typeface="Arial" pitchFamily="34" charset="0"/>
                <a:ea typeface="ＭＳ Ｐゴシック" pitchFamily="34" charset="-128"/>
              </a:rPr>
              <a:t>. The corporation distributes stock dividends to shareholders in proportion to the number of shares they already own. In distributing a stock dividend, the corporation gives up no assets. Why, then, do companies issue stock dividends? A corporation may choose to distribute stock dividends for these reasons:</a:t>
            </a:r>
          </a:p>
          <a:p>
            <a:r>
              <a:rPr lang="en-US" altLang="en-US" dirty="0">
                <a:latin typeface="Arial" pitchFamily="34" charset="0"/>
                <a:ea typeface="ＭＳ Ｐゴシック" pitchFamily="34" charset="-128"/>
              </a:rPr>
              <a:t>1. To continue dividends but conserve cash. A company may need to conserve cash and yet wish to continue dividends in some form. So the corporation may distribute a stock dividend. Shareholders pay income tax on the value of stock dividends the same way they pay income tax on cash dividends.</a:t>
            </a:r>
          </a:p>
          <a:p>
            <a:r>
              <a:rPr lang="en-US" altLang="en-US" dirty="0">
                <a:latin typeface="Arial" pitchFamily="34" charset="0"/>
                <a:ea typeface="ＭＳ Ｐゴシック" pitchFamily="34" charset="-128"/>
              </a:rPr>
              <a:t>2. To reduce its per-share market price. Distribution of a stock dividend usually causes the market price to fall because of the increased number of outstanding shares that result from it. The objective is to make the shares less expensive and therefore attractive to more investors.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2396758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relevant dates for stock dividends are the same as those for cash dividends, but the journal entries differ. On the date of declaration, we debit Retained Earnings and credit Stock Dividends Distributable (a contra-equity account). On the date of payment, we debit Stock Dividends Distributable and credit the relevant Share Capital account, such as Common Shares. A stock dividend, therefore, has no impact on the total shareholders’ equity balance because Share Capital increases and Retained Earnings decreases by the same amount.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a company has issued both preferred and common shares, the preferred shareholders receive their dividends first. The common shareholders receive dividends only if the total dividend is large enough to pay the preferred shareholders first. Dividends on preferred shares are stated either as a percent of stated value or a dollar amount per share. For example, preferred shares may be “6% preferred,” which means that owners of the preferred shares receive an annual dividend equal to 6% of the share’s stated value. If stated value is $100 per share, preferred shareholders receive an annual cash dividend of $6 per share (6% of $100). Alternatively, the preferred shares may be “$3 preferred,” which means that the preferred shareholders receive an annual dividend of $3 per share regardless of the share’s stated value. The dividend rate on no-par preferred shares is stated in a dollar amount per share.</a:t>
            </a:r>
          </a:p>
          <a:p>
            <a:r>
              <a:rPr lang="en-US" altLang="en-US" dirty="0">
                <a:latin typeface="Arial" pitchFamily="34" charset="0"/>
                <a:ea typeface="ＭＳ Ｐゴシック" pitchFamily="34" charset="-128"/>
              </a:rPr>
              <a:t>The balance sheet classification of preferred shares, as well as the allocation of dividends, may be complex if the preferred shares are cumulative. Corporations sometimes fail to pay a dividend to preferred shareholders. This is called passing the dividend, and the passed dividends are said to be in arrears. The owners of cumulative preferred shares must receive all dividends in arrears plus the current year’s dividend before any dividends go to the common shareholders.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8266629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preferred shares of Pinecraft Industries Inc. are cumulative. Suppose the company passed the 20X1 preferred dividend of $150,000. Before paying dividends to its common shareholders in 20X2, the company must first pay preferred dividends of $150,000 for both 20X1 and 20X2, a total of $300,000. Assume that Pinecraft declared a dividend of $500,000 on September 6, 20X2. </a:t>
            </a:r>
          </a:p>
          <a:p>
            <a:endParaRPr lang="en-CA"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Note that even though dividends of $150,000 were in arrears at the end of 20X1, no liability for these dividends is recorded until the board declares a dividend. If the preferred shares are non-cumulative, the corporation is not obligated to pay preferred dividends in arrears.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0928878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When a company wishes to increase or decrease its market value per share without altering its assets, liabilities, or shareholders’ equity, it can declare a stock split, which results in an increase or decrease in the number of issued and outstanding shares of the company, but does not affect any financial statement balances. If, for example, a company wanted to decrease its share price from $400 to $200, it would execute a 2-for-1 stock split, which would result in there being twice as many shares issued and outstanding after the split. </a:t>
            </a:r>
          </a:p>
          <a:p>
            <a:r>
              <a:rPr lang="en-US" altLang="en-US" dirty="0">
                <a:latin typeface="Arial" pitchFamily="34" charset="0"/>
                <a:ea typeface="ＭＳ Ｐゴシック" pitchFamily="34" charset="-128"/>
              </a:rPr>
              <a:t>No journal entry is prepared for a stock split. All account balances are the same after the split as before. Total equity doesn’t change, nor do any assets or liabilities.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62377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table summarizes the transactions covered in this chapter and their impact on the balance sheet.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771374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fifth learning objective is to evaluate a company’s return on equity.</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To compare profitability of companies of different size, investors use some standard profitability measures, including return on assets and return on equity. Return on assets (ROA) is the product of two drivers: net income and asset usage. Net income measures how effectively the company has earned revenue while controlling costs. Average total assets measures how efficiently the company has managed its assets</a:t>
            </a:r>
            <a:r>
              <a:rPr lang="en-US" altLang="en-US">
                <a:latin typeface="Arial" pitchFamily="34" charset="0"/>
                <a:ea typeface="ＭＳ Ｐゴシック" pitchFamily="34" charset="-128"/>
              </a:rPr>
              <a:t>. </a:t>
            </a:r>
            <a:endParaRPr 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1892281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ROE shows the relationship between net income and common shareholders’ equity. Return on equity is computed only on common shares because the return to preferred shareholders is usually limited to a specified dividend. The numerator of ROE is net income minus preferred dividends, if any. The denominator is average common shareholders’ equity —total shareholders’ equity minus preferred equity, if any. Since most companies do not have preferred shares, adjustments for preferred dividends and preferred equity are usually not necessary.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974612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sixth learning objective is to report equity transactions and events in the financial statements.</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statement of changes in shareholders’ equity reports the details of all the changes in the shareholders’ equity section of the balance sheet during the period. This slide presents National Hardware’s equity during 2022. The statement contains a column for each major element of equity, starting with Share Capital on the left and ending with a column summarizing the total changes for the period. The top row reports the beginning balance for each element as at December 31, 2021, while the </a:t>
            </a:r>
            <a:r>
              <a:rPr lang="en-US" altLang="en-US">
                <a:latin typeface="Arial" pitchFamily="34" charset="0"/>
                <a:ea typeface="ＭＳ Ｐゴシック" pitchFamily="34" charset="-128"/>
              </a:rPr>
              <a:t>next nine </a:t>
            </a:r>
            <a:r>
              <a:rPr lang="en-US" altLang="en-US" dirty="0">
                <a:latin typeface="Arial" pitchFamily="34" charset="0"/>
                <a:ea typeface="ＭＳ Ｐゴシック" pitchFamily="34" charset="-128"/>
              </a:rPr>
              <a:t>rows detail the causes of the changes in each element during the fiscal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2740567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Businesses often use terminology and formats in reporting shareholders’ equity that differ from our examples. We use a more detailed format in this book to help you learn the main components of shareholders’ equity. One of the most important skills you will take from this textbook is the ability to understand the financial statements of real companies. This slide presents a side-by-side comparison of our general textbook format for reporting shareholders’ equity and a format you will commonly encounter in the real world.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474943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 general, the following are a few of the key pieces of equity information that must be disclosed in the balance sheet, statement of changes in owners’ equity, or the notes: </a:t>
            </a:r>
          </a:p>
          <a:p>
            <a:r>
              <a:rPr lang="en-US" altLang="en-US" dirty="0">
                <a:latin typeface="Arial" pitchFamily="34" charset="0"/>
                <a:ea typeface="ＭＳ Ｐゴシック" pitchFamily="34" charset="-128"/>
              </a:rPr>
              <a:t>• Number of authorized, issued, and outstanding shares, and changes in these amounts during the year, for each class of share capital; their par value, if any; dividend rights and preferences; and other restrictions and features. </a:t>
            </a:r>
          </a:p>
          <a:p>
            <a:r>
              <a:rPr lang="en-US" altLang="en-US" dirty="0">
                <a:latin typeface="Arial" pitchFamily="34" charset="0"/>
                <a:ea typeface="ＭＳ Ｐゴシック" pitchFamily="34" charset="-128"/>
              </a:rPr>
              <a:t>• Contributed surplus.</a:t>
            </a:r>
          </a:p>
          <a:p>
            <a:r>
              <a:rPr lang="en-US" altLang="en-US" dirty="0">
                <a:latin typeface="Arial" pitchFamily="34" charset="0"/>
                <a:ea typeface="ＭＳ Ｐゴシック" pitchFamily="34" charset="-128"/>
              </a:rPr>
              <a:t>• Accumulated other comprehensive income (IFRS only) </a:t>
            </a:r>
          </a:p>
          <a:p>
            <a:r>
              <a:rPr lang="en-US" altLang="en-US" dirty="0">
                <a:latin typeface="Arial" pitchFamily="34" charset="0"/>
                <a:ea typeface="ＭＳ Ｐゴシック" pitchFamily="34" charset="-128"/>
              </a:rPr>
              <a:t>• Retained earnings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7697664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Seven.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884700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11/4/25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11/4/25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11/4/25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11/4/25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4" name="Title 13"/>
          <p:cNvSpPr>
            <a:spLocks noGrp="1"/>
          </p:cNvSpPr>
          <p:nvPr>
            <p:ph type="title"/>
          </p:nvPr>
        </p:nvSpPr>
        <p:spPr>
          <a:xfrm>
            <a:off x="457200" y="215372"/>
            <a:ext cx="8229600" cy="621792"/>
          </a:xfrm>
        </p:spPr>
        <p:txBody>
          <a:bodyPr anchor="t" anchorCtr="0"/>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5" name="Date Placeholder 14"/>
          <p:cNvSpPr>
            <a:spLocks noGrp="1"/>
          </p:cNvSpPr>
          <p:nvPr>
            <p:ph type="dt" sz="half" idx="16"/>
          </p:nvPr>
        </p:nvSpPr>
        <p:spPr>
          <a:xfrm>
            <a:off x="6335713" y="113072"/>
            <a:ext cx="2133600" cy="182880"/>
          </a:xfrm>
          <a:prstGeom prst="rect">
            <a:avLst/>
          </a:prstGeom>
        </p:spPr>
        <p:txBody>
          <a:bodyPr/>
          <a:lstStyle/>
          <a:p>
            <a:fld id="{A9DF6EFB-3F44-496C-A842-1E0B3D3B975A}" type="datetimeFigureOut">
              <a:rPr lang="en-US" smtClean="0"/>
              <a:pPr/>
              <a:t>11/4/25</a:t>
            </a:fld>
            <a:endParaRPr lang="en-US" dirty="0"/>
          </a:p>
        </p:txBody>
      </p:sp>
      <p:sp>
        <p:nvSpPr>
          <p:cNvPr id="17" name="Slide Number Placeholder 16"/>
          <p:cNvSpPr>
            <a:spLocks noGrp="1"/>
          </p:cNvSpPr>
          <p:nvPr>
            <p:ph type="sldNum" sz="quarter" idx="17"/>
          </p:nvPr>
        </p:nvSpPr>
        <p:spPr/>
        <p:txBody>
          <a:bodyPr/>
          <a:lstStyle>
            <a:lvl1pPr>
              <a:defRPr sz="900"/>
            </a:lvl1pPr>
          </a:lstStyle>
          <a:p>
            <a:fld id="{200B2350-5261-4F5C-9DF5-EF0D264FC8D2}" type="slidenum">
              <a:rPr lang="en-US" smtClean="0"/>
              <a:pPr/>
              <a:t>‹#›</a:t>
            </a:fld>
            <a:endParaRPr lang="en-US" dirty="0"/>
          </a:p>
        </p:txBody>
      </p:sp>
      <p:sp>
        <p:nvSpPr>
          <p:cNvPr id="18" name="Footer Placeholder 17"/>
          <p:cNvSpPr>
            <a:spLocks noGrp="1"/>
          </p:cNvSpPr>
          <p:nvPr>
            <p:ph type="ftr" sz="quarter" idx="18"/>
          </p:nvPr>
        </p:nvSpPr>
        <p:spPr/>
        <p:txBody>
          <a:bodyPr/>
          <a:lstStyle/>
          <a:p>
            <a:endParaRPr lang="en-US" dirty="0"/>
          </a:p>
        </p:txBody>
      </p:sp>
      <p:sp>
        <p:nvSpPr>
          <p:cNvPr id="27" name="Text Placeholder 25"/>
          <p:cNvSpPr>
            <a:spLocks noGrp="1"/>
          </p:cNvSpPr>
          <p:nvPr>
            <p:ph type="body" sz="quarter" idx="19" hasCustomPrompt="1"/>
          </p:nvPr>
        </p:nvSpPr>
        <p:spPr>
          <a:xfrm>
            <a:off x="5007428" y="6428232"/>
            <a:ext cx="3657600" cy="201168"/>
          </a:xfr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kumimoji="0" lang="en-US" altLang="en-US" sz="800" b="1" i="0" u="none" strike="noStrike" kern="120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Pearson Canada Inc.</a:t>
            </a:r>
            <a:endParaRPr kumimoji="0" lang="en-US" altLang="en-US" sz="1000" b="0" i="0" u="none" strike="noStrike" kern="1200" cap="none" spc="0" normalizeH="0" baseline="0" noProof="0" dirty="0">
              <a:ln>
                <a:noFill/>
              </a:ln>
              <a:solidFill>
                <a:schemeClr val="tx1"/>
              </a:solidFill>
              <a:effectLst/>
              <a:uLnTx/>
              <a:uFillTx/>
              <a:latin typeface="+mn-lt"/>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410076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buNone/>
              <a:defRPr lang="en-US" sz="2000" kern="1200" dirty="0">
                <a:solidFill>
                  <a:schemeClr val="tx1"/>
                </a:solidFill>
                <a:latin typeface="+mn-lt"/>
                <a:ea typeface="+mn-ea"/>
                <a:cs typeface="+mn-cs"/>
              </a:defRPr>
            </a:lvl1pPr>
            <a:lvl2pPr marL="569913" indent="-285750">
              <a:buClr>
                <a:srgbClr val="007FA3"/>
              </a:buClr>
              <a:buNone/>
              <a:defRPr lang="en-US" sz="20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11/4/25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9686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11/4/25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791882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338942"/>
            <a:ext cx="4040982"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162854"/>
            <a:ext cx="4040982"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338942"/>
            <a:ext cx="4057650"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629150" y="2162854"/>
            <a:ext cx="405765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11/4/25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
        <p:nvSpPr>
          <p:cNvPr id="10" name="Content Placeholder 3"/>
          <p:cNvSpPr>
            <a:spLocks noGrp="1"/>
          </p:cNvSpPr>
          <p:nvPr>
            <p:ph sz="half" idx="13"/>
          </p:nvPr>
        </p:nvSpPr>
        <p:spPr>
          <a:xfrm>
            <a:off x="457200" y="3935863"/>
            <a:ext cx="4042512"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637312" y="3946751"/>
            <a:ext cx="4049488"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010577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11/4/25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09552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7"/>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6" r:id="rId22"/>
    <p:sldLayoutId id="2147483727" r:id="rId23"/>
    <p:sldLayoutId id="2147483728" r:id="rId24"/>
    <p:sldLayoutId id="2147483729"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13.wmf"/></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8</a:t>
            </a:r>
            <a:br>
              <a:rPr lang="en-US" sz="4400" dirty="0"/>
            </a:br>
            <a:r>
              <a:rPr lang="en-US" altLang="en-US" sz="4400" dirty="0">
                <a:solidFill>
                  <a:schemeClr val="accent2"/>
                </a:solidFill>
              </a:rPr>
              <a:t>Shareholder’s Equity</a:t>
            </a:r>
            <a:endParaRPr lang="en-US" sz="4400" dirty="0"/>
          </a:p>
        </p:txBody>
      </p:sp>
      <p:sp>
        <p:nvSpPr>
          <p:cNvPr id="4" name="Subtitle 3">
            <a:extLst>
              <a:ext uri="{FF2B5EF4-FFF2-40B4-BE49-F238E27FC236}">
                <a16:creationId xmlns:a16="http://schemas.microsoft.com/office/drawing/2014/main" id="{E4A46C98-5076-55BD-2774-EBF6AF2DA35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CAF4-1210-BDA6-0753-717F286CDD97}"/>
              </a:ext>
            </a:extLst>
          </p:cNvPr>
          <p:cNvSpPr>
            <a:spLocks noGrp="1"/>
          </p:cNvSpPr>
          <p:nvPr>
            <p:ph type="title"/>
          </p:nvPr>
        </p:nvSpPr>
        <p:spPr/>
        <p:txBody>
          <a:bodyPr/>
          <a:lstStyle/>
          <a:p>
            <a:r>
              <a:rPr lang="en-US"/>
              <a:t>Learning Objectives</a:t>
            </a:r>
          </a:p>
        </p:txBody>
      </p:sp>
      <p:sp>
        <p:nvSpPr>
          <p:cNvPr id="3" name="Content Placeholder 2">
            <a:extLst>
              <a:ext uri="{FF2B5EF4-FFF2-40B4-BE49-F238E27FC236}">
                <a16:creationId xmlns:a16="http://schemas.microsoft.com/office/drawing/2014/main" id="{42F02B29-6C32-80FC-5274-12D1DCD5E5BF}"/>
              </a:ext>
            </a:extLst>
          </p:cNvPr>
          <p:cNvSpPr>
            <a:spLocks noGrp="1"/>
          </p:cNvSpPr>
          <p:nvPr>
            <p:ph idx="1"/>
          </p:nvPr>
        </p:nvSpPr>
        <p:spPr/>
        <p:txBody>
          <a:bodyPr>
            <a:normAutofit/>
          </a:bodyPr>
          <a:lstStyle/>
          <a:p>
            <a:pPr marL="0" indent="0">
              <a:buNone/>
            </a:pPr>
            <a:r>
              <a:rPr lang="en-US" dirty="0"/>
              <a:t>LO1</a:t>
            </a:r>
            <a:r>
              <a:rPr lang="en-US" b="1" dirty="0"/>
              <a:t> Explain</a:t>
            </a:r>
            <a:r>
              <a:rPr lang="en-US" dirty="0"/>
              <a:t> the main features of a corporation.</a:t>
            </a:r>
          </a:p>
          <a:p>
            <a:pPr marL="0" indent="0">
              <a:buNone/>
            </a:pPr>
            <a:r>
              <a:rPr lang="en-US" altLang="en-US" sz="2400" dirty="0">
                <a:solidFill>
                  <a:schemeClr val="accent2"/>
                </a:solidFill>
                <a:ea typeface="ＭＳ Ｐゴシック" pitchFamily="34" charset="-128"/>
              </a:rPr>
              <a:t>LO2</a:t>
            </a:r>
            <a:r>
              <a:rPr lang="en-US" altLang="en-US" sz="2400" b="1" dirty="0">
                <a:solidFill>
                  <a:schemeClr val="accent2"/>
                </a:solidFill>
                <a:ea typeface="ＭＳ Ｐゴシック" pitchFamily="34" charset="-128"/>
              </a:rPr>
              <a:t> Account</a:t>
            </a:r>
            <a:r>
              <a:rPr lang="en-US" altLang="en-US" sz="2400" dirty="0">
                <a:solidFill>
                  <a:schemeClr val="accent2"/>
                </a:solidFill>
                <a:ea typeface="ＭＳ Ｐゴシック" pitchFamily="34" charset="-128"/>
              </a:rPr>
              <a:t> for the issuance of shares.</a:t>
            </a:r>
          </a:p>
          <a:p>
            <a:pPr marL="0" indent="0">
              <a:buNone/>
            </a:pPr>
            <a:r>
              <a:rPr lang="en-US" altLang="en-US" sz="2400" dirty="0">
                <a:solidFill>
                  <a:schemeClr val="accent2"/>
                </a:solidFill>
                <a:ea typeface="ＭＳ Ｐゴシック" pitchFamily="34" charset="-128"/>
              </a:rPr>
              <a:t>LO3</a:t>
            </a:r>
            <a:r>
              <a:rPr lang="en-US" altLang="en-US" sz="2400" b="1" dirty="0">
                <a:solidFill>
                  <a:schemeClr val="accent2"/>
                </a:solidFill>
                <a:ea typeface="ＭＳ Ｐゴシック" pitchFamily="34" charset="-128"/>
              </a:rPr>
              <a:t> Explain</a:t>
            </a:r>
            <a:r>
              <a:rPr lang="en-US" altLang="en-US" sz="2400" dirty="0">
                <a:solidFill>
                  <a:schemeClr val="accent2"/>
                </a:solidFill>
                <a:ea typeface="ＭＳ Ｐゴシック" pitchFamily="34" charset="-128"/>
              </a:rPr>
              <a:t> why a company repurchases shares.</a:t>
            </a:r>
          </a:p>
          <a:p>
            <a:pPr marL="0" indent="0">
              <a:buNone/>
            </a:pPr>
            <a:r>
              <a:rPr lang="en-US" altLang="en-US" sz="2400" dirty="0">
                <a:solidFill>
                  <a:schemeClr val="accent2"/>
                </a:solidFill>
                <a:ea typeface="ＭＳ Ｐゴシック" pitchFamily="34" charset="-128"/>
              </a:rPr>
              <a:t>LO4</a:t>
            </a:r>
            <a:r>
              <a:rPr lang="en-US" altLang="en-US" sz="2400" b="1" dirty="0">
                <a:solidFill>
                  <a:schemeClr val="accent2"/>
                </a:solidFill>
                <a:ea typeface="ＭＳ Ｐゴシック" pitchFamily="34" charset="-128"/>
              </a:rPr>
              <a:t> Account </a:t>
            </a:r>
            <a:r>
              <a:rPr lang="en-US" altLang="en-US" sz="2400" dirty="0">
                <a:solidFill>
                  <a:schemeClr val="accent2"/>
                </a:solidFill>
                <a:ea typeface="ＭＳ Ｐゴシック" pitchFamily="34" charset="-128"/>
              </a:rPr>
              <a:t>for retained earnings, dividends, &amp; stock splits.</a:t>
            </a:r>
            <a:endParaRPr lang="en-US" altLang="en-US" sz="2400" b="1" dirty="0">
              <a:solidFill>
                <a:schemeClr val="accent2"/>
              </a:solidFill>
              <a:ea typeface="ＭＳ Ｐゴシック" pitchFamily="34" charset="-128"/>
            </a:endParaRPr>
          </a:p>
          <a:p>
            <a:pPr marL="0" indent="0">
              <a:buNone/>
            </a:pPr>
            <a:r>
              <a:rPr lang="en-US" altLang="en-US" sz="2400" dirty="0">
                <a:solidFill>
                  <a:schemeClr val="accent2"/>
                </a:solidFill>
                <a:ea typeface="ＭＳ Ｐゴシック" pitchFamily="34" charset="-128"/>
              </a:rPr>
              <a:t>LO 5</a:t>
            </a:r>
            <a:r>
              <a:rPr lang="en-US" altLang="en-US" sz="2400" b="1" dirty="0">
                <a:solidFill>
                  <a:schemeClr val="accent2"/>
                </a:solidFill>
                <a:ea typeface="ＭＳ Ｐゴシック" pitchFamily="34" charset="-128"/>
              </a:rPr>
              <a:t> </a:t>
            </a:r>
            <a:r>
              <a:rPr lang="en-US" altLang="en-US" b="1" dirty="0">
                <a:solidFill>
                  <a:schemeClr val="accent2"/>
                </a:solidFill>
                <a:ea typeface="ＭＳ Ｐゴシック" pitchFamily="34" charset="-128"/>
              </a:rPr>
              <a:t>Evaluate</a:t>
            </a:r>
            <a:r>
              <a:rPr lang="en-US" altLang="en-US" sz="2400" b="1" dirty="0">
                <a:solidFill>
                  <a:schemeClr val="accent2"/>
                </a:solidFill>
                <a:ea typeface="ＭＳ Ｐゴシック" pitchFamily="34" charset="-128"/>
              </a:rPr>
              <a:t> </a:t>
            </a:r>
            <a:r>
              <a:rPr lang="en-US" altLang="en-US" sz="2400" dirty="0">
                <a:solidFill>
                  <a:schemeClr val="accent2"/>
                </a:solidFill>
                <a:ea typeface="ＭＳ Ｐゴシック" pitchFamily="34" charset="-128"/>
              </a:rPr>
              <a:t>a company’s return on equity.</a:t>
            </a:r>
          </a:p>
          <a:p>
            <a:pPr marL="0" indent="0">
              <a:buNone/>
            </a:pPr>
            <a:r>
              <a:rPr lang="en-CA" i="0" dirty="0">
                <a:solidFill>
                  <a:srgbClr val="000000"/>
                </a:solidFill>
                <a:effectLst/>
              </a:rPr>
              <a:t>LO 6 </a:t>
            </a:r>
            <a:r>
              <a:rPr lang="en-CA" b="1" i="0" dirty="0">
                <a:solidFill>
                  <a:srgbClr val="000000"/>
                </a:solidFill>
                <a:effectLst/>
              </a:rPr>
              <a:t>Report </a:t>
            </a:r>
            <a:r>
              <a:rPr lang="en-CA" b="0" i="0" dirty="0">
                <a:solidFill>
                  <a:srgbClr val="000000"/>
                </a:solidFill>
                <a:effectLst/>
              </a:rPr>
              <a:t> equity transactions and events in the financial statements</a:t>
            </a:r>
          </a:p>
          <a:p>
            <a:endParaRPr lang="en-US" sz="2400" dirty="0">
              <a:solidFill>
                <a:schemeClr val="accent2"/>
              </a:solidFill>
            </a:endParaRPr>
          </a:p>
          <a:p>
            <a:endParaRPr lang="en-US" sz="2400" dirty="0">
              <a:solidFill>
                <a:schemeClr val="accent2"/>
              </a:solidFill>
            </a:endParaRPr>
          </a:p>
          <a:p>
            <a:endParaRPr lang="en-US" altLang="en-US" sz="2400" dirty="0">
              <a:solidFill>
                <a:schemeClr val="accent2"/>
              </a:solidFill>
              <a:ea typeface="ＭＳ Ｐゴシック" pitchFamily="34" charset="-128"/>
            </a:endParaRPr>
          </a:p>
          <a:p>
            <a:endParaRPr lang="en-US" sz="2400" dirty="0">
              <a:solidFill>
                <a:schemeClr val="accent2"/>
              </a:solidFill>
            </a:endParaRPr>
          </a:p>
          <a:p>
            <a:endParaRPr lang="en-US" dirty="0"/>
          </a:p>
          <a:p>
            <a:endParaRPr lang="en-US" dirty="0"/>
          </a:p>
        </p:txBody>
      </p:sp>
    </p:spTree>
    <p:extLst>
      <p:ext uri="{BB962C8B-B14F-4D97-AF65-F5344CB8AC3E}">
        <p14:creationId xmlns:p14="http://schemas.microsoft.com/office/powerpoint/2010/main" val="62543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Explain</a:t>
            </a:r>
            <a:r>
              <a:rPr lang="en-US" altLang="en-US" dirty="0">
                <a:ea typeface="ＭＳ Ｐゴシック" pitchFamily="34" charset="-128"/>
              </a:rPr>
              <a:t> the main features of a corporation</a:t>
            </a:r>
            <a:endParaRPr lang="en-US" dirty="0"/>
          </a:p>
        </p:txBody>
      </p:sp>
    </p:spTree>
    <p:extLst>
      <p:ext uri="{BB962C8B-B14F-4D97-AF65-F5344CB8AC3E}">
        <p14:creationId xmlns:p14="http://schemas.microsoft.com/office/powerpoint/2010/main" val="23146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Characteristics of a Corporation</a:t>
            </a:r>
            <a:endParaRPr lang="en-US" dirty="0"/>
          </a:p>
        </p:txBody>
      </p:sp>
      <p:sp>
        <p:nvSpPr>
          <p:cNvPr id="3" name="Content Placeholder 2"/>
          <p:cNvSpPr>
            <a:spLocks noGrp="1"/>
          </p:cNvSpPr>
          <p:nvPr>
            <p:ph idx="1"/>
          </p:nvPr>
        </p:nvSpPr>
        <p:spPr/>
        <p:txBody>
          <a:bodyPr anchor="ctr"/>
          <a:lstStyle/>
          <a:p>
            <a:pPr marL="0" indent="0" algn="ctr">
              <a:buNone/>
            </a:pPr>
            <a:r>
              <a:rPr lang="en-US" sz="2400" dirty="0">
                <a:cs typeface="Arial" charset="0"/>
              </a:rPr>
              <a:t>Separate legal entity</a:t>
            </a:r>
          </a:p>
          <a:p>
            <a:pPr marL="0" indent="0" algn="ctr">
              <a:buNone/>
            </a:pPr>
            <a:r>
              <a:rPr lang="en-US" sz="2400" dirty="0">
                <a:cs typeface="Arial" charset="0"/>
              </a:rPr>
              <a:t>Continuous life and transferability of ownership</a:t>
            </a:r>
          </a:p>
          <a:p>
            <a:pPr marL="0" indent="0" algn="ctr">
              <a:buNone/>
            </a:pPr>
            <a:r>
              <a:rPr lang="en-US" sz="2400" dirty="0">
                <a:cs typeface="Arial" charset="0"/>
              </a:rPr>
              <a:t>Limited liability</a:t>
            </a:r>
          </a:p>
          <a:p>
            <a:pPr marL="0" indent="0" algn="ctr">
              <a:buNone/>
            </a:pPr>
            <a:r>
              <a:rPr lang="en-US" sz="2400" dirty="0">
                <a:cs typeface="Arial" charset="0"/>
              </a:rPr>
              <a:t>Separation of ownership and management</a:t>
            </a:r>
          </a:p>
          <a:p>
            <a:pPr marL="0" indent="0" algn="ctr">
              <a:buNone/>
            </a:pPr>
            <a:r>
              <a:rPr lang="en-US" sz="2400" dirty="0">
                <a:cs typeface="Arial" charset="0"/>
              </a:rPr>
              <a:t>Corporate taxation</a:t>
            </a:r>
          </a:p>
          <a:p>
            <a:pPr marL="0" indent="0" algn="ctr">
              <a:buNone/>
            </a:pPr>
            <a:r>
              <a:rPr lang="en-US" sz="2400" dirty="0">
                <a:cs typeface="Arial" charset="0"/>
              </a:rPr>
              <a:t>Government regula</a:t>
            </a:r>
            <a:r>
              <a:rPr lang="en-US" sz="2400" dirty="0">
                <a:latin typeface="Arial" charset="0"/>
                <a:cs typeface="Arial" charset="0"/>
              </a:rPr>
              <a:t>tion</a:t>
            </a:r>
            <a:endParaRPr lang="en-US" sz="2400" dirty="0"/>
          </a:p>
        </p:txBody>
      </p:sp>
    </p:spTree>
    <p:extLst>
      <p:ext uri="{BB962C8B-B14F-4D97-AF65-F5344CB8AC3E}">
        <p14:creationId xmlns:p14="http://schemas.microsoft.com/office/powerpoint/2010/main" val="346063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Corporate Characteristics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r>
              <a:rPr lang="en-US" sz="2000" b="1" dirty="0"/>
              <a:t>ADVANTAGES</a:t>
            </a:r>
          </a:p>
        </p:txBody>
      </p:sp>
      <p:sp>
        <p:nvSpPr>
          <p:cNvPr id="4" name="Content Placeholder 3"/>
          <p:cNvSpPr>
            <a:spLocks noGrp="1"/>
          </p:cNvSpPr>
          <p:nvPr>
            <p:ph sz="half" idx="2"/>
          </p:nvPr>
        </p:nvSpPr>
        <p:spPr>
          <a:xfrm>
            <a:off x="457200" y="2182812"/>
            <a:ext cx="4040982" cy="3684588"/>
          </a:xfrm>
        </p:spPr>
        <p:txBody>
          <a:bodyPr/>
          <a:lstStyle/>
          <a:p>
            <a:r>
              <a:rPr lang="en-US" altLang="en-US" dirty="0">
                <a:ea typeface="ＭＳ Ｐゴシック" pitchFamily="34" charset="-128"/>
              </a:rPr>
              <a:t>Can raise more capital than a proprietorship or partnership </a:t>
            </a:r>
          </a:p>
          <a:p>
            <a:r>
              <a:rPr lang="en-US" altLang="en-US" dirty="0">
                <a:ea typeface="ＭＳ Ｐゴシック" pitchFamily="34" charset="-128"/>
              </a:rPr>
              <a:t>Continuous life</a:t>
            </a:r>
          </a:p>
          <a:p>
            <a:r>
              <a:rPr lang="en-US" altLang="en-US" dirty="0">
                <a:ea typeface="ＭＳ Ｐゴシック" pitchFamily="34" charset="-128"/>
              </a:rPr>
              <a:t>Transferability of ownership</a:t>
            </a:r>
          </a:p>
          <a:p>
            <a:r>
              <a:rPr lang="en-US" altLang="en-US" dirty="0">
                <a:ea typeface="ＭＳ Ｐゴシック" pitchFamily="34" charset="-128"/>
              </a:rPr>
              <a:t>Limited liability</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r>
              <a:rPr lang="en-US" sz="2000" b="1" dirty="0"/>
              <a:t>DISADVANTAGES</a:t>
            </a:r>
          </a:p>
        </p:txBody>
      </p:sp>
      <p:sp>
        <p:nvSpPr>
          <p:cNvPr id="6" name="Content Placeholder 5"/>
          <p:cNvSpPr>
            <a:spLocks noGrp="1"/>
          </p:cNvSpPr>
          <p:nvPr>
            <p:ph sz="quarter" idx="4"/>
          </p:nvPr>
        </p:nvSpPr>
        <p:spPr>
          <a:xfrm>
            <a:off x="4629150" y="2182812"/>
            <a:ext cx="4057650" cy="3684588"/>
          </a:xfrm>
        </p:spPr>
        <p:txBody>
          <a:bodyPr/>
          <a:lstStyle/>
          <a:p>
            <a:r>
              <a:rPr lang="en-US" altLang="en-US" dirty="0">
                <a:ea typeface="ＭＳ Ｐゴシック" pitchFamily="34" charset="-128"/>
              </a:rPr>
              <a:t>Separation of ownership and management</a:t>
            </a:r>
          </a:p>
          <a:p>
            <a:r>
              <a:rPr lang="en-US" altLang="en-US" dirty="0">
                <a:ea typeface="ＭＳ Ｐゴシック" pitchFamily="34" charset="-128"/>
              </a:rPr>
              <a:t>Corporate taxation</a:t>
            </a:r>
          </a:p>
          <a:p>
            <a:r>
              <a:rPr lang="en-US" altLang="en-US" dirty="0">
                <a:ea typeface="ＭＳ Ｐゴシック" pitchFamily="34" charset="-128"/>
              </a:rPr>
              <a:t>Government regulation</a:t>
            </a:r>
          </a:p>
        </p:txBody>
      </p:sp>
    </p:spTree>
    <p:extLst>
      <p:ext uri="{BB962C8B-B14F-4D97-AF65-F5344CB8AC3E}">
        <p14:creationId xmlns:p14="http://schemas.microsoft.com/office/powerpoint/2010/main" val="35843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461022" y="304800"/>
            <a:ext cx="8229600" cy="630936"/>
          </a:xfrm>
        </p:spPr>
        <p:txBody>
          <a:bodyPr/>
          <a:lstStyle/>
          <a:p>
            <a:r>
              <a:rPr lang="en-US" altLang="en-US" sz="2800" dirty="0">
                <a:ea typeface="ＭＳ Ｐゴシック" pitchFamily="34" charset="-128"/>
              </a:rPr>
              <a:t>Authority Structure in a Large Corporation</a:t>
            </a:r>
            <a:endParaRPr lang="en-US" sz="2800" dirty="0"/>
          </a:p>
        </p:txBody>
      </p:sp>
      <p:sp>
        <p:nvSpPr>
          <p:cNvPr id="5" name="Text Placeholder 4"/>
          <p:cNvSpPr>
            <a:spLocks noGrp="1"/>
          </p:cNvSpPr>
          <p:nvPr>
            <p:ph type="body" idx="1"/>
          </p:nvPr>
        </p:nvSpPr>
        <p:spPr>
          <a:xfrm>
            <a:off x="3295662" y="1144404"/>
            <a:ext cx="2560320" cy="458220"/>
          </a:xfrm>
        </p:spPr>
        <p:txBody>
          <a:bodyPr>
            <a:normAutofit fontScale="92500" lnSpcReduction="20000"/>
          </a:bodyPr>
          <a:lstStyle/>
          <a:p>
            <a:r>
              <a:rPr lang="en-US" sz="2400" dirty="0"/>
              <a:t>Shareholders</a:t>
            </a:r>
            <a:endParaRPr lang="en-US" dirty="0"/>
          </a:p>
        </p:txBody>
      </p:sp>
      <p:cxnSp>
        <p:nvCxnSpPr>
          <p:cNvPr id="18" name="Straight Arrow Connector 17"/>
          <p:cNvCxnSpPr>
            <a:cxnSpLocks noGrp="1" noRot="1" noMove="1" noResize="1" noEditPoints="1" noAdjustHandles="1" noChangeArrowheads="1" noChangeShapeType="1"/>
          </p:cNvCxnSpPr>
          <p:nvPr/>
        </p:nvCxnSpPr>
        <p:spPr>
          <a:xfrm>
            <a:off x="4652022" y="1601094"/>
            <a:ext cx="0" cy="457200"/>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6" name="Content Placeholder 5"/>
          <p:cNvSpPr>
            <a:spLocks noGrp="1"/>
          </p:cNvSpPr>
          <p:nvPr>
            <p:ph sz="half" idx="2"/>
          </p:nvPr>
        </p:nvSpPr>
        <p:spPr>
          <a:xfrm>
            <a:off x="2661136" y="2025359"/>
            <a:ext cx="3829371" cy="607860"/>
          </a:xfrm>
        </p:spPr>
        <p:txBody>
          <a:bodyPr/>
          <a:lstStyle/>
          <a:p>
            <a:r>
              <a:rPr lang="en-US" sz="2400" dirty="0"/>
              <a:t>Board of Directors</a:t>
            </a:r>
            <a:endParaRPr lang="en-US" dirty="0"/>
          </a:p>
        </p:txBody>
      </p:sp>
      <p:cxnSp>
        <p:nvCxnSpPr>
          <p:cNvPr id="16" name="Straight Connector 15"/>
          <p:cNvCxnSpPr>
            <a:cxnSpLocks noGrp="1" noRot="1" noMove="1" noResize="1" noEditPoints="1" noAdjustHandles="1" noChangeArrowheads="1" noChangeShapeType="1"/>
          </p:cNvCxnSpPr>
          <p:nvPr/>
        </p:nvCxnSpPr>
        <p:spPr>
          <a:xfrm>
            <a:off x="4648200" y="2651982"/>
            <a:ext cx="1" cy="227284"/>
          </a:xfrm>
          <a:prstGeom prst="line">
            <a:avLst/>
          </a:prstGeom>
          <a:ln w="15875">
            <a:solidFill>
              <a:srgbClr val="007FA3"/>
            </a:solidFill>
          </a:ln>
        </p:spPr>
        <p:style>
          <a:lnRef idx="1">
            <a:schemeClr val="accent1"/>
          </a:lnRef>
          <a:fillRef idx="0">
            <a:schemeClr val="accent1"/>
          </a:fillRef>
          <a:effectRef idx="0">
            <a:schemeClr val="accent1"/>
          </a:effectRef>
          <a:fontRef idx="minor">
            <a:schemeClr val="tx1"/>
          </a:fontRef>
        </p:style>
      </p:cxnSp>
      <p:sp>
        <p:nvSpPr>
          <p:cNvPr id="7" name="Text Placeholder 6"/>
          <p:cNvSpPr>
            <a:spLocks noGrp="1"/>
          </p:cNvSpPr>
          <p:nvPr>
            <p:ph type="body" sz="quarter" idx="3"/>
          </p:nvPr>
        </p:nvSpPr>
        <p:spPr>
          <a:xfrm>
            <a:off x="2111697" y="2896494"/>
            <a:ext cx="5099130" cy="609600"/>
          </a:xfrm>
        </p:spPr>
        <p:txBody>
          <a:bodyPr/>
          <a:lstStyle/>
          <a:p>
            <a:r>
              <a:rPr lang="en-US" sz="2400" dirty="0"/>
              <a:t>President/Chief Executive Officer</a:t>
            </a:r>
            <a:endParaRPr lang="en-US" dirty="0"/>
          </a:p>
        </p:txBody>
      </p:sp>
      <p:cxnSp>
        <p:nvCxnSpPr>
          <p:cNvPr id="27" name="Straight Connector 26"/>
          <p:cNvCxnSpPr>
            <a:cxnSpLocks noGrp="1" noRot="1" noMove="1" noResize="1" noEditPoints="1" noAdjustHandles="1" noChangeArrowheads="1" noChangeShapeType="1"/>
          </p:cNvCxnSpPr>
          <p:nvPr/>
        </p:nvCxnSpPr>
        <p:spPr>
          <a:xfrm>
            <a:off x="1828800" y="3582294"/>
            <a:ext cx="5638800" cy="0"/>
          </a:xfrm>
          <a:prstGeom prst="line">
            <a:avLst/>
          </a:prstGeom>
          <a:ln w="15875">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cxnSpLocks noGrp="1" noRot="1" noMove="1" noResize="1" noEditPoints="1" noAdjustHandles="1" noChangeArrowheads="1" noChangeShapeType="1"/>
          </p:cNvCxnSpPr>
          <p:nvPr/>
        </p:nvCxnSpPr>
        <p:spPr>
          <a:xfrm>
            <a:off x="1828800" y="3585507"/>
            <a:ext cx="0" cy="381597"/>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8" name="Content Placeholder 7"/>
          <p:cNvSpPr>
            <a:spLocks noGrp="1"/>
          </p:cNvSpPr>
          <p:nvPr>
            <p:ph sz="quarter" idx="4"/>
          </p:nvPr>
        </p:nvSpPr>
        <p:spPr>
          <a:xfrm>
            <a:off x="531222" y="3963294"/>
            <a:ext cx="2560320" cy="853440"/>
          </a:xfrm>
        </p:spPr>
        <p:txBody>
          <a:bodyPr/>
          <a:lstStyle/>
          <a:p>
            <a:r>
              <a:rPr lang="en-US" sz="2400" dirty="0"/>
              <a:t>Vice-Presidents</a:t>
            </a:r>
            <a:endParaRPr lang="en-US" dirty="0"/>
          </a:p>
        </p:txBody>
      </p:sp>
      <p:cxnSp>
        <p:nvCxnSpPr>
          <p:cNvPr id="20" name="Straight Arrow Connector 19"/>
          <p:cNvCxnSpPr>
            <a:cxnSpLocks noGrp="1" noRot="1" noMove="1" noResize="1" noEditPoints="1" noAdjustHandles="1" noChangeArrowheads="1" noChangeShapeType="1"/>
          </p:cNvCxnSpPr>
          <p:nvPr/>
        </p:nvCxnSpPr>
        <p:spPr>
          <a:xfrm>
            <a:off x="4648200" y="3592342"/>
            <a:ext cx="0" cy="313605"/>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half" idx="13"/>
          </p:nvPr>
        </p:nvSpPr>
        <p:spPr>
          <a:xfrm>
            <a:off x="3381102" y="3972099"/>
            <a:ext cx="2560320" cy="1134195"/>
          </a:xfrm>
        </p:spPr>
        <p:txBody>
          <a:bodyPr/>
          <a:lstStyle/>
          <a:p>
            <a:r>
              <a:rPr lang="en-US" sz="2400" dirty="0"/>
              <a:t>Chief Financial Officer</a:t>
            </a:r>
          </a:p>
        </p:txBody>
      </p:sp>
      <p:cxnSp>
        <p:nvCxnSpPr>
          <p:cNvPr id="51" name="Straight Arrow Connector 50"/>
          <p:cNvCxnSpPr>
            <a:cxnSpLocks noGrp="1" noRot="1" noMove="1" noResize="1" noEditPoints="1" noAdjustHandles="1" noChangeArrowheads="1" noChangeShapeType="1"/>
          </p:cNvCxnSpPr>
          <p:nvPr/>
        </p:nvCxnSpPr>
        <p:spPr>
          <a:xfrm>
            <a:off x="7467600" y="3582294"/>
            <a:ext cx="0" cy="461010"/>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10" name="Content Placeholder 9"/>
          <p:cNvSpPr>
            <a:spLocks noGrp="1"/>
          </p:cNvSpPr>
          <p:nvPr>
            <p:ph sz="quarter" idx="14"/>
          </p:nvPr>
        </p:nvSpPr>
        <p:spPr>
          <a:xfrm>
            <a:off x="6202680" y="4039494"/>
            <a:ext cx="2560320" cy="558150"/>
          </a:xfrm>
        </p:spPr>
        <p:txBody>
          <a:bodyPr/>
          <a:lstStyle/>
          <a:p>
            <a:r>
              <a:rPr lang="en-US" sz="2400" dirty="0"/>
              <a:t>Secretary</a:t>
            </a:r>
            <a:endParaRPr lang="en-US" dirty="0"/>
          </a:p>
        </p:txBody>
      </p:sp>
      <p:cxnSp>
        <p:nvCxnSpPr>
          <p:cNvPr id="54" name="Straight Connector 53"/>
          <p:cNvCxnSpPr>
            <a:cxnSpLocks noGrp="1" noRot="1" noMove="1" noResize="1" noEditPoints="1" noAdjustHandles="1" noChangeArrowheads="1" noChangeShapeType="1"/>
          </p:cNvCxnSpPr>
          <p:nvPr/>
        </p:nvCxnSpPr>
        <p:spPr>
          <a:xfrm flipV="1">
            <a:off x="4661262" y="5106294"/>
            <a:ext cx="0" cy="303148"/>
          </a:xfrm>
          <a:prstGeom prst="line">
            <a:avLst/>
          </a:prstGeom>
          <a:ln w="15875">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065044" y="5411094"/>
            <a:ext cx="5021556" cy="0"/>
          </a:xfrm>
          <a:prstGeom prst="line">
            <a:avLst/>
          </a:prstGeom>
          <a:ln w="15875">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cxnSpLocks noGrp="1" noRot="1" noMove="1" noResize="1" noEditPoints="1" noAdjustHandles="1" noChangeArrowheads="1" noChangeShapeType="1"/>
          </p:cNvCxnSpPr>
          <p:nvPr/>
        </p:nvCxnSpPr>
        <p:spPr>
          <a:xfrm>
            <a:off x="2068854" y="5411094"/>
            <a:ext cx="0" cy="381000"/>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11" name="Content Placeholder 10"/>
          <p:cNvSpPr>
            <a:spLocks noGrp="1"/>
          </p:cNvSpPr>
          <p:nvPr>
            <p:ph sz="quarter" idx="15"/>
          </p:nvPr>
        </p:nvSpPr>
        <p:spPr>
          <a:xfrm>
            <a:off x="944880" y="5792094"/>
            <a:ext cx="2560320" cy="533400"/>
          </a:xfrm>
        </p:spPr>
        <p:txBody>
          <a:bodyPr>
            <a:normAutofit lnSpcReduction="10000"/>
          </a:bodyPr>
          <a:lstStyle/>
          <a:p>
            <a:r>
              <a:rPr lang="en-US" sz="2400" dirty="0"/>
              <a:t>Controller</a:t>
            </a:r>
            <a:endParaRPr lang="en-US" dirty="0"/>
          </a:p>
        </p:txBody>
      </p:sp>
      <p:cxnSp>
        <p:nvCxnSpPr>
          <p:cNvPr id="32" name="Straight Arrow Connector 31"/>
          <p:cNvCxnSpPr>
            <a:cxnSpLocks noGrp="1" noRot="1" noMove="1" noResize="1" noEditPoints="1" noAdjustHandles="1" noChangeArrowheads="1" noChangeShapeType="1"/>
          </p:cNvCxnSpPr>
          <p:nvPr/>
        </p:nvCxnSpPr>
        <p:spPr>
          <a:xfrm>
            <a:off x="7082790" y="5411094"/>
            <a:ext cx="0" cy="356511"/>
          </a:xfrm>
          <a:prstGeom prst="straightConnector1">
            <a:avLst/>
          </a:prstGeom>
          <a:ln w="15875">
            <a:solidFill>
              <a:srgbClr val="007FA3"/>
            </a:solidFill>
            <a:tailEnd type="arrow"/>
          </a:ln>
        </p:spPr>
        <p:style>
          <a:lnRef idx="1">
            <a:schemeClr val="accent1"/>
          </a:lnRef>
          <a:fillRef idx="0">
            <a:schemeClr val="accent1"/>
          </a:fillRef>
          <a:effectRef idx="0">
            <a:schemeClr val="accent1"/>
          </a:effectRef>
          <a:fontRef idx="minor">
            <a:schemeClr val="tx1"/>
          </a:fontRef>
        </p:style>
      </p:cxnSp>
      <p:sp>
        <p:nvSpPr>
          <p:cNvPr id="12" name="Content Placeholder 11"/>
          <p:cNvSpPr>
            <a:spLocks noGrp="1"/>
          </p:cNvSpPr>
          <p:nvPr>
            <p:ph sz="quarter" idx="16"/>
          </p:nvPr>
        </p:nvSpPr>
        <p:spPr>
          <a:xfrm>
            <a:off x="5676900" y="5767605"/>
            <a:ext cx="2819400" cy="533400"/>
          </a:xfrm>
        </p:spPr>
        <p:txBody>
          <a:bodyPr>
            <a:normAutofit lnSpcReduction="10000"/>
          </a:bodyPr>
          <a:lstStyle/>
          <a:p>
            <a:r>
              <a:rPr lang="en-US" sz="2400" dirty="0"/>
              <a:t>Treasurer</a:t>
            </a:r>
            <a:endParaRPr lang="en-US" dirty="0"/>
          </a:p>
        </p:txBody>
      </p:sp>
    </p:spTree>
    <p:extLst>
      <p:ext uri="{BB962C8B-B14F-4D97-AF65-F5344CB8AC3E}">
        <p14:creationId xmlns:p14="http://schemas.microsoft.com/office/powerpoint/2010/main" val="423958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Shareholders’ Rights</a:t>
            </a:r>
            <a:endParaRPr lang="en-US" dirty="0"/>
          </a:p>
        </p:txBody>
      </p:sp>
      <p:sp>
        <p:nvSpPr>
          <p:cNvPr id="4" name="Text Placeholder 3"/>
          <p:cNvSpPr>
            <a:spLocks noGrp="1"/>
          </p:cNvSpPr>
          <p:nvPr>
            <p:ph type="body" idx="1"/>
          </p:nvPr>
        </p:nvSpPr>
        <p:spPr>
          <a:xfrm>
            <a:off x="1600200" y="1828800"/>
            <a:ext cx="2743200" cy="1828800"/>
          </a:xfrm>
        </p:spPr>
        <p:txBody>
          <a:bodyPr/>
          <a:lstStyle/>
          <a:p>
            <a:r>
              <a:rPr lang="en-US" sz="3200" dirty="0"/>
              <a:t>Sell </a:t>
            </a:r>
            <a:br>
              <a:rPr lang="en-US" sz="3200" dirty="0"/>
            </a:br>
            <a:r>
              <a:rPr lang="en-US" sz="3200" dirty="0"/>
              <a:t>Shares</a:t>
            </a:r>
          </a:p>
        </p:txBody>
      </p:sp>
      <p:sp>
        <p:nvSpPr>
          <p:cNvPr id="5" name="Content Placeholder 4"/>
          <p:cNvSpPr>
            <a:spLocks noGrp="1"/>
          </p:cNvSpPr>
          <p:nvPr>
            <p:ph sz="half" idx="2"/>
          </p:nvPr>
        </p:nvSpPr>
        <p:spPr>
          <a:xfrm>
            <a:off x="4724400" y="1828800"/>
            <a:ext cx="2743200" cy="1828800"/>
          </a:xfrm>
        </p:spPr>
        <p:txBody>
          <a:bodyPr/>
          <a:lstStyle/>
          <a:p>
            <a:pPr marL="0" lvl="0" indent="0"/>
            <a:r>
              <a:rPr lang="en-US" sz="3200" dirty="0"/>
              <a:t>Vote</a:t>
            </a:r>
          </a:p>
        </p:txBody>
      </p:sp>
      <p:sp>
        <p:nvSpPr>
          <p:cNvPr id="6" name="Text Placeholder 5"/>
          <p:cNvSpPr>
            <a:spLocks noGrp="1"/>
          </p:cNvSpPr>
          <p:nvPr>
            <p:ph type="body" sz="quarter" idx="3"/>
          </p:nvPr>
        </p:nvSpPr>
        <p:spPr>
          <a:xfrm>
            <a:off x="1600200" y="4056707"/>
            <a:ext cx="2747813" cy="1810693"/>
          </a:xfrm>
        </p:spPr>
        <p:txBody>
          <a:bodyPr/>
          <a:lstStyle/>
          <a:p>
            <a:pPr lvl="0"/>
            <a:r>
              <a:rPr lang="en-US" sz="3200" dirty="0"/>
              <a:t>Dividends</a:t>
            </a:r>
          </a:p>
        </p:txBody>
      </p:sp>
      <p:sp>
        <p:nvSpPr>
          <p:cNvPr id="7" name="Content Placeholder 6"/>
          <p:cNvSpPr>
            <a:spLocks noGrp="1"/>
          </p:cNvSpPr>
          <p:nvPr>
            <p:ph sz="quarter" idx="4"/>
          </p:nvPr>
        </p:nvSpPr>
        <p:spPr>
          <a:xfrm>
            <a:off x="4724400" y="4038600"/>
            <a:ext cx="2743200" cy="1828800"/>
          </a:xfrm>
        </p:spPr>
        <p:txBody>
          <a:bodyPr/>
          <a:lstStyle/>
          <a:p>
            <a:pPr marL="0" lvl="0" indent="0"/>
            <a:r>
              <a:rPr lang="en-US" sz="3200" dirty="0"/>
              <a:t>Residual Interest</a:t>
            </a:r>
          </a:p>
        </p:txBody>
      </p:sp>
    </p:spTree>
    <p:extLst>
      <p:ext uri="{BB962C8B-B14F-4D97-AF65-F5344CB8AC3E}">
        <p14:creationId xmlns:p14="http://schemas.microsoft.com/office/powerpoint/2010/main" val="525593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en-US" dirty="0"/>
              <a:t>Shareholders’ Equity</a:t>
            </a:r>
            <a:endParaRPr lang="en-US" dirty="0"/>
          </a:p>
        </p:txBody>
      </p:sp>
      <p:sp>
        <p:nvSpPr>
          <p:cNvPr id="14" name="Text Placeholder 13"/>
          <p:cNvSpPr>
            <a:spLocks noGrp="1"/>
          </p:cNvSpPr>
          <p:nvPr>
            <p:ph type="body" idx="1"/>
          </p:nvPr>
        </p:nvSpPr>
        <p:spPr>
          <a:xfrm>
            <a:off x="457200" y="1490908"/>
            <a:ext cx="8235387" cy="823912"/>
          </a:xfrm>
        </p:spPr>
        <p:txBody>
          <a:bodyPr anchor="ctr"/>
          <a:lstStyle/>
          <a:p>
            <a:pPr algn="ctr"/>
            <a:r>
              <a:rPr lang="en-US" altLang="en-US" dirty="0">
                <a:latin typeface="+mn-ea"/>
              </a:rPr>
              <a:t>Four main components:</a:t>
            </a:r>
            <a:endParaRPr lang="en-US" dirty="0"/>
          </a:p>
        </p:txBody>
      </p:sp>
      <p:sp>
        <p:nvSpPr>
          <p:cNvPr id="15" name="Content Placeholder 14"/>
          <p:cNvSpPr>
            <a:spLocks noGrp="1"/>
          </p:cNvSpPr>
          <p:nvPr>
            <p:ph sz="half" idx="2"/>
          </p:nvPr>
        </p:nvSpPr>
        <p:spPr>
          <a:xfrm>
            <a:off x="457200" y="2488992"/>
            <a:ext cx="4040982" cy="1283587"/>
          </a:xfrm>
        </p:spPr>
        <p:txBody>
          <a:bodyPr anchor="ctr"/>
          <a:lstStyle/>
          <a:p>
            <a:pPr marL="0" indent="0" algn="ctr">
              <a:lnSpc>
                <a:spcPct val="85000"/>
              </a:lnSpc>
              <a:buNone/>
              <a:defRPr/>
            </a:pPr>
            <a:r>
              <a:rPr lang="en-US" sz="2800" dirty="0">
                <a:cs typeface="Arial" charset="0"/>
              </a:rPr>
              <a:t>Share Capital</a:t>
            </a:r>
            <a:endParaRPr lang="en-US" dirty="0"/>
          </a:p>
        </p:txBody>
      </p:sp>
      <p:sp>
        <p:nvSpPr>
          <p:cNvPr id="17" name="Content Placeholder 16"/>
          <p:cNvSpPr>
            <a:spLocks noGrp="1"/>
          </p:cNvSpPr>
          <p:nvPr>
            <p:ph sz="quarter" idx="4"/>
          </p:nvPr>
        </p:nvSpPr>
        <p:spPr>
          <a:xfrm>
            <a:off x="4629150" y="2488992"/>
            <a:ext cx="4057650" cy="1283587"/>
          </a:xfrm>
        </p:spPr>
        <p:txBody>
          <a:bodyPr anchor="ctr"/>
          <a:lstStyle/>
          <a:p>
            <a:pPr marL="0" indent="0" algn="ctr">
              <a:buNone/>
            </a:pPr>
            <a:r>
              <a:rPr lang="en-US" sz="2800" dirty="0">
                <a:cs typeface="Arial" charset="0"/>
              </a:rPr>
              <a:t>Contributed Surplus</a:t>
            </a:r>
            <a:endParaRPr lang="en-US" sz="1800" dirty="0"/>
          </a:p>
        </p:txBody>
      </p:sp>
      <p:sp>
        <p:nvSpPr>
          <p:cNvPr id="18" name="Content Placeholder 17"/>
          <p:cNvSpPr>
            <a:spLocks noGrp="1"/>
          </p:cNvSpPr>
          <p:nvPr>
            <p:ph sz="half" idx="13"/>
          </p:nvPr>
        </p:nvSpPr>
        <p:spPr/>
        <p:txBody>
          <a:bodyPr anchor="ctr"/>
          <a:lstStyle/>
          <a:p>
            <a:pPr marL="0" indent="0" algn="ctr">
              <a:buNone/>
              <a:defRPr/>
            </a:pPr>
            <a:r>
              <a:rPr lang="en-US" sz="2800" dirty="0">
                <a:cs typeface="Arial" charset="0"/>
              </a:rPr>
              <a:t>Accumulated Other </a:t>
            </a:r>
          </a:p>
          <a:p>
            <a:pPr marL="0" indent="0" algn="ctr">
              <a:buNone/>
              <a:defRPr/>
            </a:pPr>
            <a:r>
              <a:rPr lang="en-US" sz="2800" dirty="0">
                <a:cs typeface="Arial" charset="0"/>
              </a:rPr>
              <a:t>Comprehensive Income</a:t>
            </a:r>
            <a:endParaRPr lang="en-US" sz="2800" dirty="0"/>
          </a:p>
        </p:txBody>
      </p:sp>
      <p:sp>
        <p:nvSpPr>
          <p:cNvPr id="19" name="Content Placeholder 18"/>
          <p:cNvSpPr>
            <a:spLocks noGrp="1"/>
          </p:cNvSpPr>
          <p:nvPr>
            <p:ph sz="quarter" idx="14"/>
          </p:nvPr>
        </p:nvSpPr>
        <p:spPr/>
        <p:txBody>
          <a:bodyPr anchor="ctr"/>
          <a:lstStyle/>
          <a:p>
            <a:pPr marL="0" indent="0" algn="ctr">
              <a:buNone/>
            </a:pPr>
            <a:r>
              <a:rPr lang="en-US" sz="2800" dirty="0">
                <a:cs typeface="Arial" charset="0"/>
              </a:rPr>
              <a:t>Retained Earnings</a:t>
            </a:r>
            <a:endParaRPr lang="en-US" sz="2800" dirty="0"/>
          </a:p>
        </p:txBody>
      </p:sp>
    </p:spTree>
    <p:extLst>
      <p:ext uri="{BB962C8B-B14F-4D97-AF65-F5344CB8AC3E}">
        <p14:creationId xmlns:p14="http://schemas.microsoft.com/office/powerpoint/2010/main" val="306412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ＭＳ Ｐゴシック" pitchFamily="34" charset="-128"/>
              </a:rPr>
              <a:t>Share Capital</a:t>
            </a:r>
            <a:endParaRPr lang="en-US" dirty="0"/>
          </a:p>
        </p:txBody>
      </p:sp>
      <p:sp>
        <p:nvSpPr>
          <p:cNvPr id="5" name="Content Placeholder 4"/>
          <p:cNvSpPr>
            <a:spLocks noGrp="1"/>
          </p:cNvSpPr>
          <p:nvPr>
            <p:ph idx="1"/>
          </p:nvPr>
        </p:nvSpPr>
        <p:spPr/>
        <p:txBody>
          <a:bodyPr anchor="ctr"/>
          <a:lstStyle/>
          <a:p>
            <a:pPr marL="0" indent="0" algn="ctr">
              <a:buNone/>
            </a:pPr>
            <a:r>
              <a:rPr lang="en-US" altLang="en-US" sz="2800" dirty="0">
                <a:cs typeface="Arial" pitchFamily="34" charset="0"/>
              </a:rPr>
              <a:t>Corporate ownership is evidenced </a:t>
            </a:r>
            <a:br>
              <a:rPr lang="en-US" altLang="en-US" sz="2800" dirty="0">
                <a:cs typeface="Arial" pitchFamily="34" charset="0"/>
              </a:rPr>
            </a:br>
            <a:r>
              <a:rPr lang="en-US" altLang="en-US" sz="2800" dirty="0">
                <a:cs typeface="Arial" pitchFamily="34" charset="0"/>
              </a:rPr>
              <a:t>by a share certificate, which may </a:t>
            </a:r>
            <a:br>
              <a:rPr lang="en-US" altLang="en-US" sz="2800" dirty="0">
                <a:cs typeface="Arial" pitchFamily="34" charset="0"/>
              </a:rPr>
            </a:br>
            <a:r>
              <a:rPr lang="en-US" altLang="en-US" sz="2800" dirty="0">
                <a:cs typeface="Arial" pitchFamily="34" charset="0"/>
              </a:rPr>
              <a:t>be for any number of shares.</a:t>
            </a:r>
          </a:p>
          <a:p>
            <a:pPr marL="0" indent="0" algn="ctr">
              <a:buNone/>
            </a:pPr>
            <a:r>
              <a:rPr lang="en-US" sz="2800" dirty="0">
                <a:cs typeface="Arial" pitchFamily="34" charset="0"/>
              </a:rPr>
              <a:t>Authorized, issued, and outstanding</a:t>
            </a:r>
          </a:p>
        </p:txBody>
      </p:sp>
    </p:spTree>
    <p:extLst>
      <p:ext uri="{BB962C8B-B14F-4D97-AF65-F5344CB8AC3E}">
        <p14:creationId xmlns:p14="http://schemas.microsoft.com/office/powerpoint/2010/main" val="2778962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Classes of Shares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r>
              <a:rPr lang="en-US" sz="2000" b="1" dirty="0"/>
              <a:t>COMMON</a:t>
            </a:r>
          </a:p>
        </p:txBody>
      </p:sp>
      <p:sp>
        <p:nvSpPr>
          <p:cNvPr id="4" name="Content Placeholder 3"/>
          <p:cNvSpPr>
            <a:spLocks noGrp="1"/>
          </p:cNvSpPr>
          <p:nvPr>
            <p:ph sz="half" idx="2"/>
          </p:nvPr>
        </p:nvSpPr>
        <p:spPr>
          <a:xfrm>
            <a:off x="457200" y="2182812"/>
            <a:ext cx="4040982" cy="3684588"/>
          </a:xfrm>
        </p:spPr>
        <p:txBody>
          <a:bodyPr/>
          <a:lstStyle/>
          <a:p>
            <a:r>
              <a:rPr lang="en-US" altLang="en-US" dirty="0">
                <a:ea typeface="ＭＳ Ｐゴシック" pitchFamily="34" charset="-128"/>
              </a:rPr>
              <a:t>Basic form of capital</a:t>
            </a:r>
          </a:p>
          <a:p>
            <a:r>
              <a:rPr lang="en-US" altLang="en-US" dirty="0">
                <a:ea typeface="ＭＳ Ｐゴシック" pitchFamily="34" charset="-128"/>
              </a:rPr>
              <a:t>Has four rights</a:t>
            </a:r>
          </a:p>
          <a:p>
            <a:r>
              <a:rPr lang="en-US" altLang="en-US" dirty="0">
                <a:ea typeface="ＭＳ Ｐゴシック" pitchFamily="34" charset="-128"/>
              </a:rPr>
              <a:t>Shareholders benefit most if corporation succeeds</a:t>
            </a:r>
          </a:p>
          <a:p>
            <a:pPr lvl="1"/>
            <a:r>
              <a:rPr lang="en-US" altLang="en-US" dirty="0">
                <a:ea typeface="ＭＳ Ｐゴシック" pitchFamily="34" charset="-128"/>
              </a:rPr>
              <a:t>Take more risk</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r>
              <a:rPr lang="en-US" sz="2000" b="1" dirty="0"/>
              <a:t>PREFERRED</a:t>
            </a:r>
          </a:p>
        </p:txBody>
      </p:sp>
      <p:sp>
        <p:nvSpPr>
          <p:cNvPr id="6" name="Content Placeholder 5"/>
          <p:cNvSpPr>
            <a:spLocks noGrp="1"/>
          </p:cNvSpPr>
          <p:nvPr>
            <p:ph sz="quarter" idx="4"/>
          </p:nvPr>
        </p:nvSpPr>
        <p:spPr>
          <a:xfrm>
            <a:off x="4629150" y="2182812"/>
            <a:ext cx="4057650" cy="3684588"/>
          </a:xfrm>
        </p:spPr>
        <p:txBody>
          <a:bodyPr/>
          <a:lstStyle/>
          <a:p>
            <a:r>
              <a:rPr lang="en-US" altLang="en-US" dirty="0">
                <a:ea typeface="ＭＳ Ｐゴシック" pitchFamily="34" charset="-128"/>
              </a:rPr>
              <a:t>Has advantages over common</a:t>
            </a:r>
          </a:p>
          <a:p>
            <a:pPr lvl="1"/>
            <a:r>
              <a:rPr lang="en-US" altLang="en-US" dirty="0">
                <a:ea typeface="ＭＳ Ｐゴシック" pitchFamily="34" charset="-128"/>
              </a:rPr>
              <a:t>Receive dividends first</a:t>
            </a:r>
          </a:p>
          <a:p>
            <a:pPr lvl="1"/>
            <a:r>
              <a:rPr lang="en-US" altLang="en-US" dirty="0">
                <a:ea typeface="ＭＳ Ｐゴシック" pitchFamily="34" charset="-128"/>
              </a:rPr>
              <a:t>Receive assets first in liquidation</a:t>
            </a:r>
          </a:p>
          <a:p>
            <a:r>
              <a:rPr lang="en-US" altLang="en-US" dirty="0">
                <a:ea typeface="ＭＳ Ｐゴシック" pitchFamily="34" charset="-128"/>
              </a:rPr>
              <a:t>Shareholders earn a fixed dividend</a:t>
            </a:r>
          </a:p>
          <a:p>
            <a:r>
              <a:rPr lang="en-US" altLang="en-US" dirty="0">
                <a:ea typeface="ＭＳ Ｐゴシック" pitchFamily="34" charset="-128"/>
              </a:rPr>
              <a:t>Very few corporations issue</a:t>
            </a:r>
            <a:endParaRPr lang="en-US" dirty="0"/>
          </a:p>
        </p:txBody>
      </p:sp>
    </p:spTree>
    <p:extLst>
      <p:ext uri="{BB962C8B-B14F-4D97-AF65-F5344CB8AC3E}">
        <p14:creationId xmlns:p14="http://schemas.microsoft.com/office/powerpoint/2010/main" val="371859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Par Value and Stated Value</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Arbitrary amount assigned to a share</a:t>
            </a:r>
          </a:p>
          <a:p>
            <a:r>
              <a:rPr lang="en-US" altLang="en-US" dirty="0">
                <a:ea typeface="ＭＳ Ｐゴシック" pitchFamily="34" charset="-128"/>
              </a:rPr>
              <a:t>Federally and most provincially incorporated companies have shares issued without par value, known as the stated value</a:t>
            </a:r>
            <a:endParaRPr lang="en-US" dirty="0"/>
          </a:p>
        </p:txBody>
      </p:sp>
    </p:spTree>
    <p:extLst>
      <p:ext uri="{BB962C8B-B14F-4D97-AF65-F5344CB8AC3E}">
        <p14:creationId xmlns:p14="http://schemas.microsoft.com/office/powerpoint/2010/main" val="3560439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normAutofit fontScale="90000"/>
          </a:bodyPr>
          <a:lstStyle/>
          <a:p>
            <a:r>
              <a:rPr lang="en-US" dirty="0"/>
              <a:t>S8-3 Who are the real owners of a corporation?</a:t>
            </a:r>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normAutofit/>
          </a:bodyPr>
          <a:lstStyle/>
          <a:p>
            <a:pPr marL="385763" indent="-385763">
              <a:buFont typeface="+mj-lt"/>
              <a:buAutoNum type="alphaLcParenR"/>
            </a:pPr>
            <a:r>
              <a:rPr lang="en-US" dirty="0"/>
              <a:t>The president of the corporation</a:t>
            </a:r>
          </a:p>
          <a:p>
            <a:pPr marL="385763" indent="-385763">
              <a:buFont typeface="+mj-lt"/>
              <a:buAutoNum type="alphaLcParenR"/>
            </a:pPr>
            <a:r>
              <a:rPr lang="en-US" dirty="0"/>
              <a:t>Senior management</a:t>
            </a:r>
          </a:p>
          <a:p>
            <a:pPr marL="385763" indent="-385763">
              <a:buFont typeface="+mj-lt"/>
              <a:buAutoNum type="alphaLcParenR"/>
            </a:pPr>
            <a:r>
              <a:rPr lang="en-US" dirty="0"/>
              <a:t>Common shareholders</a:t>
            </a:r>
          </a:p>
          <a:p>
            <a:pPr marL="385763" indent="-385763">
              <a:buFont typeface="+mj-lt"/>
              <a:buAutoNum type="alphaLcParenR"/>
            </a:pPr>
            <a:r>
              <a:rPr lang="en-US" dirty="0"/>
              <a:t>Preferred shareholders</a:t>
            </a:r>
          </a:p>
        </p:txBody>
      </p:sp>
      <p:sp>
        <p:nvSpPr>
          <p:cNvPr id="4" name="Slide Number Placeholder 3">
            <a:extLst>
              <a:ext uri="{FF2B5EF4-FFF2-40B4-BE49-F238E27FC236}">
                <a16:creationId xmlns:a16="http://schemas.microsoft.com/office/drawing/2014/main" id="{916A53AC-8636-7DD3-55AC-3407BEA380D9}"/>
              </a:ext>
            </a:extLst>
          </p:cNvPr>
          <p:cNvSpPr>
            <a:spLocks noGrp="1"/>
          </p:cNvSpPr>
          <p:nvPr>
            <p:ph type="sldNum"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05895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normAutofit fontScale="90000"/>
          </a:bodyPr>
          <a:lstStyle/>
          <a:p>
            <a:r>
              <a:rPr lang="en-US" dirty="0"/>
              <a:t>S8-3 What privileges do preferred shareholders have over common shareholders?</a:t>
            </a:r>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normAutofit/>
          </a:bodyPr>
          <a:lstStyle/>
          <a:p>
            <a:pPr marL="385763" indent="-385763">
              <a:buFont typeface="+mj-lt"/>
              <a:buAutoNum type="alphaLcParenR"/>
            </a:pPr>
            <a:r>
              <a:rPr lang="en-US" dirty="0"/>
              <a:t>Preferred shareholders receive dividends first</a:t>
            </a:r>
          </a:p>
          <a:p>
            <a:pPr marL="385763" indent="-385763">
              <a:buFont typeface="+mj-lt"/>
              <a:buAutoNum type="alphaLcParenR"/>
            </a:pPr>
            <a:r>
              <a:rPr lang="en-US" dirty="0"/>
              <a:t>Preferred shareholders receive assets first if the company liquidates</a:t>
            </a:r>
          </a:p>
          <a:p>
            <a:pPr marL="385763" indent="-385763">
              <a:buFont typeface="+mj-lt"/>
              <a:buAutoNum type="alphaLcParenR"/>
            </a:pPr>
            <a:r>
              <a:rPr lang="en-US" dirty="0"/>
              <a:t>Dividends earned by preferred shareholders vary depending on the company’s profitability</a:t>
            </a:r>
          </a:p>
          <a:p>
            <a:pPr marL="385763" indent="-385763">
              <a:buFont typeface="+mj-lt"/>
              <a:buAutoNum type="alphaLcParenR"/>
            </a:pPr>
            <a:r>
              <a:rPr lang="en-US" dirty="0"/>
              <a:t>Both a and b</a:t>
            </a:r>
          </a:p>
        </p:txBody>
      </p:sp>
      <p:sp>
        <p:nvSpPr>
          <p:cNvPr id="4" name="Slide Number Placeholder 3">
            <a:extLst>
              <a:ext uri="{FF2B5EF4-FFF2-40B4-BE49-F238E27FC236}">
                <a16:creationId xmlns:a16="http://schemas.microsoft.com/office/drawing/2014/main" id="{916A53AC-8636-7DD3-55AC-3407BEA380D9}"/>
              </a:ext>
            </a:extLst>
          </p:cNvPr>
          <p:cNvSpPr>
            <a:spLocks noGrp="1"/>
          </p:cNvSpPr>
          <p:nvPr>
            <p:ph type="sldNum"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189070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normAutofit fontScale="90000"/>
          </a:bodyPr>
          <a:lstStyle/>
          <a:p>
            <a:r>
              <a:rPr lang="en-US" dirty="0"/>
              <a:t>S8-3 Which class of shareholders reaps greater benefits from a highly profitable corporation?</a:t>
            </a:r>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normAutofit/>
          </a:bodyPr>
          <a:lstStyle/>
          <a:p>
            <a:pPr marL="385763" indent="-385763">
              <a:buFont typeface="+mj-lt"/>
              <a:buAutoNum type="alphaLcParenR"/>
            </a:pPr>
            <a:r>
              <a:rPr lang="en-US" dirty="0"/>
              <a:t>Preferred shareholders</a:t>
            </a:r>
          </a:p>
          <a:p>
            <a:pPr marL="385763" indent="-385763">
              <a:buFont typeface="+mj-lt"/>
              <a:buAutoNum type="alphaLcParenR"/>
            </a:pPr>
            <a:r>
              <a:rPr lang="en-US" dirty="0"/>
              <a:t>Common shareholders</a:t>
            </a:r>
          </a:p>
          <a:p>
            <a:pPr marL="385763" indent="-385763">
              <a:buFont typeface="+mj-lt"/>
              <a:buAutoNum type="alphaLcParenR"/>
            </a:pPr>
            <a:r>
              <a:rPr lang="en-US" dirty="0"/>
              <a:t>Both preferred and common shareholders</a:t>
            </a:r>
          </a:p>
          <a:p>
            <a:pPr marL="385763" indent="-385763">
              <a:buFont typeface="+mj-lt"/>
              <a:buAutoNum type="alphaLcParenR"/>
            </a:pPr>
            <a:endParaRPr lang="en-US" dirty="0"/>
          </a:p>
        </p:txBody>
      </p:sp>
      <p:sp>
        <p:nvSpPr>
          <p:cNvPr id="4" name="Slide Number Placeholder 3">
            <a:extLst>
              <a:ext uri="{FF2B5EF4-FFF2-40B4-BE49-F238E27FC236}">
                <a16:creationId xmlns:a16="http://schemas.microsoft.com/office/drawing/2014/main" id="{916A53AC-8636-7DD3-55AC-3407BEA380D9}"/>
              </a:ext>
            </a:extLst>
          </p:cNvPr>
          <p:cNvSpPr>
            <a:spLocks noGrp="1"/>
          </p:cNvSpPr>
          <p:nvPr>
            <p:ph type="sldNum"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394795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Account</a:t>
            </a:r>
            <a:r>
              <a:rPr lang="en-US" altLang="en-US" dirty="0">
                <a:ea typeface="ＭＳ Ｐゴシック" pitchFamily="34" charset="-128"/>
              </a:rPr>
              <a:t> for the issuance of shares</a:t>
            </a:r>
          </a:p>
        </p:txBody>
      </p:sp>
    </p:spTree>
    <p:extLst>
      <p:ext uri="{BB962C8B-B14F-4D97-AF65-F5344CB8AC3E}">
        <p14:creationId xmlns:p14="http://schemas.microsoft.com/office/powerpoint/2010/main" val="316886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Issuing Shares For Cash</a:t>
            </a:r>
            <a:endParaRPr lang="en-US" dirty="0"/>
          </a:p>
        </p:txBody>
      </p:sp>
      <p:graphicFrame>
        <p:nvGraphicFramePr>
          <p:cNvPr id="5" name="Content Placeholder 4">
            <a:extLst>
              <a:ext uri="{FF2B5EF4-FFF2-40B4-BE49-F238E27FC236}">
                <a16:creationId xmlns:a16="http://schemas.microsoft.com/office/drawing/2014/main" id="{0347EE89-9B1F-4ADA-B97E-85D4D253E378}"/>
              </a:ext>
            </a:extLst>
          </p:cNvPr>
          <p:cNvGraphicFramePr>
            <a:graphicFrameLocks noGrp="1"/>
          </p:cNvGraphicFramePr>
          <p:nvPr>
            <p:ph idx="1"/>
          </p:nvPr>
        </p:nvGraphicFramePr>
        <p:xfrm>
          <a:off x="457200" y="1869670"/>
          <a:ext cx="8229600" cy="247373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Cash</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5,000,000</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     Common Shares</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5,000,000</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i="1" u="none" strike="noStrike" cap="none" normalizeH="0" baseline="0" dirty="0">
                          <a:ln>
                            <a:noFill/>
                          </a:ln>
                          <a:effectLst/>
                          <a:latin typeface="+mn-lt"/>
                        </a:rPr>
                        <a:t>Issued 100,000 common shares at $50 per share</a:t>
                      </a:r>
                      <a:endParaRPr kumimoji="0" lang="en-US" altLang="en-US" sz="1800" b="0" i="1"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8284425"/>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1"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697" marB="456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400569"/>
                  </a:ext>
                </a:extLst>
              </a:tr>
            </a:tbl>
          </a:graphicData>
        </a:graphic>
      </p:graphicFrame>
    </p:spTree>
    <p:extLst>
      <p:ext uri="{BB962C8B-B14F-4D97-AF65-F5344CB8AC3E}">
        <p14:creationId xmlns:p14="http://schemas.microsoft.com/office/powerpoint/2010/main" val="11245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Shares Issued for Non-Cash Assets</a:t>
            </a:r>
            <a:endParaRPr lang="en-US" dirty="0"/>
          </a:p>
        </p:txBody>
      </p:sp>
      <p:sp>
        <p:nvSpPr>
          <p:cNvPr id="3" name="Content Placeholder 2"/>
          <p:cNvSpPr>
            <a:spLocks noGrp="1"/>
          </p:cNvSpPr>
          <p:nvPr>
            <p:ph idx="1"/>
          </p:nvPr>
        </p:nvSpPr>
        <p:spPr>
          <a:xfrm>
            <a:off x="457200" y="1600201"/>
            <a:ext cx="8229600" cy="533400"/>
          </a:xfrm>
        </p:spPr>
        <p:txBody>
          <a:bodyPr/>
          <a:lstStyle/>
          <a:p>
            <a:r>
              <a:rPr lang="en-US" altLang="en-US" dirty="0">
                <a:ea typeface="ＭＳ Ｐゴシック" pitchFamily="34" charset="-128"/>
              </a:rPr>
              <a:t>Asset received is recorded at current market value</a:t>
            </a:r>
            <a:endParaRPr lang="en-US" dirty="0"/>
          </a:p>
        </p:txBody>
      </p:sp>
      <p:graphicFrame>
        <p:nvGraphicFramePr>
          <p:cNvPr id="5" name="Content Placeholder 3">
            <a:extLst>
              <a:ext uri="{FF2B5EF4-FFF2-40B4-BE49-F238E27FC236}">
                <a16:creationId xmlns:a16="http://schemas.microsoft.com/office/drawing/2014/main" id="{626ECC6C-517A-417B-B654-E5877A79F145}"/>
              </a:ext>
            </a:extLst>
          </p:cNvPr>
          <p:cNvGraphicFramePr>
            <a:graphicFrameLocks/>
          </p:cNvGraphicFramePr>
          <p:nvPr/>
        </p:nvGraphicFramePr>
        <p:xfrm>
          <a:off x="424543" y="2286000"/>
          <a:ext cx="8229600" cy="247374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Equipment</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4,000</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Building</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120,000</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     Common Shares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124,000</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8284425"/>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i="1" u="none" strike="noStrike" cap="none" normalizeH="0" baseline="0" dirty="0">
                          <a:ln>
                            <a:noFill/>
                          </a:ln>
                          <a:effectLst/>
                          <a:latin typeface="+mn-lt"/>
                        </a:rPr>
                        <a:t>Issued shares in exchange for equipment and building</a:t>
                      </a:r>
                      <a:endParaRPr kumimoji="0" lang="en-US" altLang="en-US" sz="1800" b="0" i="1"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T="45698" marB="456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400569"/>
                  </a:ext>
                </a:extLst>
              </a:tr>
            </a:tbl>
          </a:graphicData>
        </a:graphic>
      </p:graphicFrame>
    </p:spTree>
    <p:extLst>
      <p:ext uri="{BB962C8B-B14F-4D97-AF65-F5344CB8AC3E}">
        <p14:creationId xmlns:p14="http://schemas.microsoft.com/office/powerpoint/2010/main" val="2737760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Preferred Shares</a:t>
            </a:r>
            <a:endParaRPr lang="en-US" dirty="0"/>
          </a:p>
        </p:txBody>
      </p:sp>
      <p:sp>
        <p:nvSpPr>
          <p:cNvPr id="3" name="Content Placeholder 2"/>
          <p:cNvSpPr>
            <a:spLocks noGrp="1"/>
          </p:cNvSpPr>
          <p:nvPr>
            <p:ph idx="1"/>
          </p:nvPr>
        </p:nvSpPr>
        <p:spPr>
          <a:xfrm>
            <a:off x="437920" y="1371600"/>
            <a:ext cx="8229600" cy="3611563"/>
          </a:xfrm>
        </p:spPr>
        <p:txBody>
          <a:bodyPr anchor="ctr"/>
          <a:lstStyle/>
          <a:p>
            <a:pPr marL="0" indent="0">
              <a:buNone/>
              <a:defRPr/>
            </a:pPr>
            <a:r>
              <a:rPr lang="en-CA" sz="2800" dirty="0"/>
              <a:t>Accounting for the issuance of preferred shares for cash or other assets is the same as that for common shares.</a:t>
            </a:r>
            <a:endParaRPr lang="en-US" sz="2800" dirty="0"/>
          </a:p>
        </p:txBody>
      </p:sp>
    </p:spTree>
    <p:extLst>
      <p:ext uri="{BB962C8B-B14F-4D97-AF65-F5344CB8AC3E}">
        <p14:creationId xmlns:p14="http://schemas.microsoft.com/office/powerpoint/2010/main" val="110963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Explain </a:t>
            </a:r>
            <a:r>
              <a:rPr lang="en-US" altLang="en-US" dirty="0">
                <a:ea typeface="ＭＳ Ｐゴシック" pitchFamily="34" charset="-128"/>
              </a:rPr>
              <a:t>why a company repurchases shares</a:t>
            </a:r>
            <a:endParaRPr lang="en-US" dirty="0"/>
          </a:p>
        </p:txBody>
      </p:sp>
    </p:spTree>
    <p:extLst>
      <p:ext uri="{BB962C8B-B14F-4D97-AF65-F5344CB8AC3E}">
        <p14:creationId xmlns:p14="http://schemas.microsoft.com/office/powerpoint/2010/main" val="2981319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Shares Reacquired by the Company</a:t>
            </a:r>
            <a:endParaRPr lang="en-US" dirty="0"/>
          </a:p>
        </p:txBody>
      </p:sp>
      <p:sp>
        <p:nvSpPr>
          <p:cNvPr id="3" name="Content Placeholder 2"/>
          <p:cNvSpPr>
            <a:spLocks noGrp="1"/>
          </p:cNvSpPr>
          <p:nvPr>
            <p:ph idx="1"/>
          </p:nvPr>
        </p:nvSpPr>
        <p:spPr/>
        <p:txBody>
          <a:bodyPr/>
          <a:lstStyle/>
          <a:p>
            <a:pPr marL="0" indent="0">
              <a:buNone/>
            </a:pPr>
            <a:r>
              <a:rPr lang="en-US" altLang="en-US" dirty="0">
                <a:ea typeface="ＭＳ Ｐゴシック" pitchFamily="34" charset="-128"/>
              </a:rPr>
              <a:t>Reasons:</a:t>
            </a:r>
          </a:p>
          <a:p>
            <a:pPr marL="402336" indent="-402336">
              <a:buFont typeface="+mj-lt"/>
              <a:buAutoNum type="arabicPeriod"/>
            </a:pPr>
            <a:r>
              <a:rPr lang="en-US" altLang="en-US" dirty="0">
                <a:ea typeface="ＭＳ Ｐゴシック" pitchFamily="34" charset="-128"/>
              </a:rPr>
              <a:t>The company needs the repurchased shares to fulfill future share issuance commitments.</a:t>
            </a:r>
          </a:p>
          <a:p>
            <a:pPr marL="402336" indent="-402336">
              <a:buFont typeface="+mj-lt"/>
              <a:buAutoNum type="arabicPeriod"/>
            </a:pPr>
            <a:r>
              <a:rPr lang="en-US" altLang="en-US" dirty="0">
                <a:ea typeface="ＭＳ Ｐゴシック" pitchFamily="34" charset="-128"/>
              </a:rPr>
              <a:t>The purchase may help support the share’s current market price.</a:t>
            </a:r>
          </a:p>
          <a:p>
            <a:pPr marL="402336" indent="-402336">
              <a:buFont typeface="+mj-lt"/>
              <a:buAutoNum type="arabicPeriod"/>
            </a:pPr>
            <a:r>
              <a:rPr lang="en-US" altLang="en-US" dirty="0">
                <a:ea typeface="ＭＳ Ｐゴシック" pitchFamily="34" charset="-128"/>
              </a:rPr>
              <a:t>Management wants to avoid a takeover by an outside party.</a:t>
            </a:r>
            <a:endParaRPr lang="en-US" dirty="0"/>
          </a:p>
        </p:txBody>
      </p:sp>
    </p:spTree>
    <p:extLst>
      <p:ext uri="{BB962C8B-B14F-4D97-AF65-F5344CB8AC3E}">
        <p14:creationId xmlns:p14="http://schemas.microsoft.com/office/powerpoint/2010/main" val="69466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Account</a:t>
            </a:r>
            <a:r>
              <a:rPr lang="en-US" altLang="en-US" dirty="0">
                <a:ea typeface="ＭＳ Ｐゴシック" pitchFamily="34" charset="-128"/>
              </a:rPr>
              <a:t> for retained earnings, dividends, and stock splits</a:t>
            </a:r>
            <a:endParaRPr lang="en-US" dirty="0"/>
          </a:p>
        </p:txBody>
      </p:sp>
    </p:spTree>
    <p:extLst>
      <p:ext uri="{BB962C8B-B14F-4D97-AF65-F5344CB8AC3E}">
        <p14:creationId xmlns:p14="http://schemas.microsoft.com/office/powerpoint/2010/main" val="344905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Retained Earnings</a:t>
            </a:r>
            <a:endParaRPr lang="en-US" dirty="0"/>
          </a:p>
        </p:txBody>
      </p:sp>
      <p:pic>
        <p:nvPicPr>
          <p:cNvPr id="3" name="Picture 2" descr="Cumulative net income minus net losses minus dividends declared">
            <a:extLst>
              <a:ext uri="{FF2B5EF4-FFF2-40B4-BE49-F238E27FC236}">
                <a16:creationId xmlns:a16="http://schemas.microsoft.com/office/drawing/2014/main" id="{E88259B4-C327-443E-B911-BAC99FB85003}"/>
              </a:ext>
            </a:extLst>
          </p:cNvPr>
          <p:cNvPicPr>
            <a:picLocks noChangeAspect="1"/>
          </p:cNvPicPr>
          <p:nvPr/>
        </p:nvPicPr>
        <p:blipFill>
          <a:blip r:embed="rId3"/>
          <a:stretch>
            <a:fillRect/>
          </a:stretch>
        </p:blipFill>
        <p:spPr>
          <a:xfrm>
            <a:off x="457200" y="2362200"/>
            <a:ext cx="8291279" cy="1511939"/>
          </a:xfrm>
          <a:prstGeom prst="rect">
            <a:avLst/>
          </a:prstGeom>
        </p:spPr>
      </p:pic>
    </p:spTree>
    <p:extLst>
      <p:ext uri="{BB962C8B-B14F-4D97-AF65-F5344CB8AC3E}">
        <p14:creationId xmlns:p14="http://schemas.microsoft.com/office/powerpoint/2010/main" val="78671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Retained Earnings Balance</a:t>
            </a:r>
            <a:endParaRPr lang="en-US" dirty="0"/>
          </a:p>
        </p:txBody>
      </p:sp>
      <p:graphicFrame>
        <p:nvGraphicFramePr>
          <p:cNvPr id="4" name="Object 3" descr="Credit balance is when lifetime earnings is greater than lifetime losses and dividends"/>
          <p:cNvGraphicFramePr>
            <a:graphicFrameLocks noChangeAspect="1"/>
          </p:cNvGraphicFramePr>
          <p:nvPr/>
        </p:nvGraphicFramePr>
        <p:xfrm>
          <a:off x="970040" y="1828724"/>
          <a:ext cx="7203920" cy="1860703"/>
        </p:xfrm>
        <a:graphic>
          <a:graphicData uri="http://schemas.openxmlformats.org/presentationml/2006/ole">
            <mc:AlternateContent xmlns:mc="http://schemas.openxmlformats.org/markup-compatibility/2006">
              <mc:Choice xmlns:v="urn:schemas-microsoft-com:vml" Requires="v">
                <p:oleObj name="Equation" r:id="rId3" imgW="4622760" imgH="1193760" progId="Equation.DSMT4">
                  <p:embed/>
                </p:oleObj>
              </mc:Choice>
              <mc:Fallback>
                <p:oleObj name="Equation" r:id="rId3" imgW="4622760" imgH="1193760" progId="Equation.DSMT4">
                  <p:embed/>
                  <p:pic>
                    <p:nvPicPr>
                      <p:cNvPr id="4" name="Object 3" descr="Credit balance is when lifetime earnings is greater than lifetime losses and dividends"/>
                      <p:cNvPicPr/>
                      <p:nvPr/>
                    </p:nvPicPr>
                    <p:blipFill>
                      <a:blip r:embed="rId4"/>
                      <a:stretch>
                        <a:fillRect/>
                      </a:stretch>
                    </p:blipFill>
                    <p:spPr>
                      <a:xfrm>
                        <a:off x="970040" y="1828724"/>
                        <a:ext cx="7203920" cy="1860703"/>
                      </a:xfrm>
                      <a:prstGeom prst="rect">
                        <a:avLst/>
                      </a:prstGeom>
                    </p:spPr>
                  </p:pic>
                </p:oleObj>
              </mc:Fallback>
            </mc:AlternateContent>
          </a:graphicData>
        </a:graphic>
      </p:graphicFrame>
      <p:graphicFrame>
        <p:nvGraphicFramePr>
          <p:cNvPr id="5" name="Object 4" descr="Debit balance is when lifetime earnings is less than lifetime losses and dividends"/>
          <p:cNvGraphicFramePr>
            <a:graphicFrameLocks noChangeAspect="1"/>
          </p:cNvGraphicFramePr>
          <p:nvPr/>
        </p:nvGraphicFramePr>
        <p:xfrm>
          <a:off x="970040" y="4038394"/>
          <a:ext cx="7203920" cy="1859375"/>
        </p:xfrm>
        <a:graphic>
          <a:graphicData uri="http://schemas.openxmlformats.org/presentationml/2006/ole">
            <mc:AlternateContent xmlns:mc="http://schemas.openxmlformats.org/markup-compatibility/2006">
              <mc:Choice xmlns:v="urn:schemas-microsoft-com:vml" Requires="v">
                <p:oleObj name="Equation" r:id="rId5" imgW="4622760" imgH="1193760" progId="Equation.DSMT4">
                  <p:embed/>
                </p:oleObj>
              </mc:Choice>
              <mc:Fallback>
                <p:oleObj name="Equation" r:id="rId5" imgW="4622760" imgH="1193760" progId="Equation.DSMT4">
                  <p:embed/>
                  <p:pic>
                    <p:nvPicPr>
                      <p:cNvPr id="5" name="Object 4" descr="Debit balance is when lifetime earnings is less than lifetime losses and dividends"/>
                      <p:cNvPicPr>
                        <a:picLocks noChangeAspect="1" noChangeArrowheads="1"/>
                      </p:cNvPicPr>
                      <p:nvPr/>
                    </p:nvPicPr>
                    <p:blipFill>
                      <a:blip r:embed="rId6"/>
                      <a:srcRect/>
                      <a:stretch>
                        <a:fillRect/>
                      </a:stretch>
                    </p:blipFill>
                    <p:spPr bwMode="auto">
                      <a:xfrm>
                        <a:off x="970040" y="4038394"/>
                        <a:ext cx="7203920" cy="18593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2640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Cash Dividends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Before a company can pay a cash dividend it must have:</a:t>
            </a:r>
          </a:p>
          <a:p>
            <a:pPr lvl="1"/>
            <a:r>
              <a:rPr lang="en-US" altLang="en-US" dirty="0">
                <a:ea typeface="ＭＳ Ｐゴシック" pitchFamily="34" charset="-128"/>
              </a:rPr>
              <a:t>Retained Earnings in excess of the desired dividend</a:t>
            </a:r>
          </a:p>
          <a:p>
            <a:pPr lvl="1"/>
            <a:r>
              <a:rPr lang="en-US" altLang="en-US" dirty="0">
                <a:ea typeface="ＭＳ Ｐゴシック" pitchFamily="34" charset="-128"/>
              </a:rPr>
              <a:t>enough cash to pay the dividend</a:t>
            </a:r>
          </a:p>
          <a:p>
            <a:pPr lvl="1"/>
            <a:endParaRPr lang="en-US" altLang="en-US" dirty="0">
              <a:ea typeface="ＭＳ Ｐゴシック" pitchFamily="34" charset="-128"/>
            </a:endParaRPr>
          </a:p>
          <a:p>
            <a:r>
              <a:rPr lang="en-US" altLang="en-US" dirty="0">
                <a:ea typeface="ＭＳ Ｐゴシック" pitchFamily="34" charset="-128"/>
              </a:rPr>
              <a:t>Board of directors has authority to declare a dividend</a:t>
            </a:r>
          </a:p>
          <a:p>
            <a:pPr lvl="1"/>
            <a:r>
              <a:rPr lang="en-US" altLang="en-US" dirty="0">
                <a:ea typeface="ＭＳ Ｐゴシック" pitchFamily="34" charset="-128"/>
              </a:rPr>
              <a:t>Company not obligated to pay dividend until declared</a:t>
            </a:r>
            <a:endParaRPr lang="en-US" dirty="0"/>
          </a:p>
        </p:txBody>
      </p:sp>
    </p:spTree>
    <p:extLst>
      <p:ext uri="{BB962C8B-B14F-4D97-AF65-F5344CB8AC3E}">
        <p14:creationId xmlns:p14="http://schemas.microsoft.com/office/powerpoint/2010/main" val="140936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Dividend Dates </a:t>
            </a:r>
            <a:r>
              <a:rPr lang="en-US" altLang="en-US" sz="2000" b="0" dirty="0">
                <a:ea typeface="ＭＳ Ｐゴシック" pitchFamily="34" charset="-128"/>
              </a:rPr>
              <a:t>(1 of 3)</a:t>
            </a:r>
            <a:endParaRPr lang="en-US" b="0" dirty="0"/>
          </a:p>
        </p:txBody>
      </p:sp>
      <p:sp>
        <p:nvSpPr>
          <p:cNvPr id="3" name="Content Placeholder 2"/>
          <p:cNvSpPr>
            <a:spLocks noGrp="1"/>
          </p:cNvSpPr>
          <p:nvPr>
            <p:ph idx="1"/>
          </p:nvPr>
        </p:nvSpPr>
        <p:spPr>
          <a:xfrm>
            <a:off x="457200" y="1752600"/>
            <a:ext cx="3810000" cy="457200"/>
          </a:xfrm>
          <a:ln w="12700">
            <a:solidFill>
              <a:schemeClr val="tx1"/>
            </a:solidFill>
          </a:ln>
        </p:spPr>
        <p:txBody>
          <a:bodyPr anchor="ctr"/>
          <a:lstStyle/>
          <a:p>
            <a:pPr marL="91440" indent="0">
              <a:buNone/>
            </a:pPr>
            <a:r>
              <a:rPr lang="en-US" b="1" dirty="0">
                <a:solidFill>
                  <a:schemeClr val="dk1"/>
                </a:solidFill>
              </a:rPr>
              <a:t>1. Declaration date</a:t>
            </a:r>
            <a:endParaRPr lang="en-US" dirty="0"/>
          </a:p>
        </p:txBody>
      </p:sp>
      <p:graphicFrame>
        <p:nvGraphicFramePr>
          <p:cNvPr id="5" name="Content Placeholder 3">
            <a:extLst>
              <a:ext uri="{FF2B5EF4-FFF2-40B4-BE49-F238E27FC236}">
                <a16:creationId xmlns:a16="http://schemas.microsoft.com/office/drawing/2014/main" id="{E048EA80-CC02-46F6-8025-383EDE881266}"/>
              </a:ext>
            </a:extLst>
          </p:cNvPr>
          <p:cNvGraphicFramePr>
            <a:graphicFrameLocks/>
          </p:cNvGraphicFramePr>
          <p:nvPr/>
        </p:nvGraphicFramePr>
        <p:xfrm>
          <a:off x="442127" y="2438400"/>
          <a:ext cx="8229600" cy="146812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Retained Earnings</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     Dividends Payable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bl>
          </a:graphicData>
        </a:graphic>
      </p:graphicFrame>
    </p:spTree>
    <p:extLst>
      <p:ext uri="{BB962C8B-B14F-4D97-AF65-F5344CB8AC3E}">
        <p14:creationId xmlns:p14="http://schemas.microsoft.com/office/powerpoint/2010/main" val="12622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Dividend Dates </a:t>
            </a:r>
            <a:r>
              <a:rPr lang="en-US" altLang="en-US" sz="2000" b="0" dirty="0">
                <a:ea typeface="ＭＳ Ｐゴシック" pitchFamily="34" charset="-128"/>
              </a:rPr>
              <a:t>(2 of 3)</a:t>
            </a:r>
            <a:endParaRPr lang="en-US" dirty="0"/>
          </a:p>
        </p:txBody>
      </p:sp>
      <p:sp>
        <p:nvSpPr>
          <p:cNvPr id="3" name="Content Placeholder 2"/>
          <p:cNvSpPr>
            <a:spLocks noGrp="1"/>
          </p:cNvSpPr>
          <p:nvPr>
            <p:ph idx="1"/>
          </p:nvPr>
        </p:nvSpPr>
        <p:spPr>
          <a:xfrm>
            <a:off x="457200" y="2514600"/>
            <a:ext cx="2560320" cy="365760"/>
          </a:xfrm>
          <a:ln w="12700">
            <a:solidFill>
              <a:schemeClr val="tx1"/>
            </a:solidFill>
          </a:ln>
        </p:spPr>
        <p:txBody>
          <a:bodyPr anchor="ctr">
            <a:normAutofit lnSpcReduction="10000"/>
          </a:bodyPr>
          <a:lstStyle/>
          <a:p>
            <a:pPr marL="91440" indent="0">
              <a:buNone/>
            </a:pPr>
            <a:r>
              <a:rPr lang="en-US" b="1" dirty="0">
                <a:solidFill>
                  <a:schemeClr val="dk1"/>
                </a:solidFill>
              </a:rPr>
              <a:t>2. Date of record</a:t>
            </a:r>
            <a:endParaRPr lang="en-US" dirty="0"/>
          </a:p>
        </p:txBody>
      </p:sp>
      <p:sp>
        <p:nvSpPr>
          <p:cNvPr id="4" name="Oval 3"/>
          <p:cNvSpPr/>
          <p:nvPr/>
        </p:nvSpPr>
        <p:spPr>
          <a:xfrm>
            <a:off x="3323167" y="2362200"/>
            <a:ext cx="3763433" cy="645160"/>
          </a:xfrm>
          <a:prstGeom prst="ellipse">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5" name="Content Placeholder 4"/>
          <p:cNvSpPr>
            <a:spLocks noGrp="1"/>
          </p:cNvSpPr>
          <p:nvPr>
            <p:ph idx="13"/>
          </p:nvPr>
        </p:nvSpPr>
        <p:spPr>
          <a:xfrm>
            <a:off x="4114800" y="2488565"/>
            <a:ext cx="1981200" cy="381000"/>
          </a:xfrm>
        </p:spPr>
        <p:txBody>
          <a:bodyPr anchor="ctr">
            <a:normAutofit fontScale="77500" lnSpcReduction="20000"/>
          </a:bodyPr>
          <a:lstStyle/>
          <a:p>
            <a:pPr marL="0" indent="0" algn="ctr">
              <a:buNone/>
            </a:pPr>
            <a:r>
              <a:rPr lang="en-US" b="1" dirty="0">
                <a:solidFill>
                  <a:schemeClr val="bg1"/>
                </a:solidFill>
              </a:rPr>
              <a:t>No journal entry</a:t>
            </a:r>
            <a:endParaRPr lang="en-US" dirty="0">
              <a:solidFill>
                <a:schemeClr val="bg1"/>
              </a:solidFill>
            </a:endParaRPr>
          </a:p>
        </p:txBody>
      </p:sp>
    </p:spTree>
    <p:extLst>
      <p:ext uri="{BB962C8B-B14F-4D97-AF65-F5344CB8AC3E}">
        <p14:creationId xmlns:p14="http://schemas.microsoft.com/office/powerpoint/2010/main" val="2930433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Dividend Dates </a:t>
            </a:r>
            <a:r>
              <a:rPr lang="en-US" altLang="en-US" sz="2000" b="0" dirty="0">
                <a:ea typeface="ＭＳ Ｐゴシック" pitchFamily="34" charset="-128"/>
              </a:rPr>
              <a:t>(3 of 3)</a:t>
            </a:r>
            <a:endParaRPr lang="en-US" dirty="0"/>
          </a:p>
        </p:txBody>
      </p:sp>
      <p:sp>
        <p:nvSpPr>
          <p:cNvPr id="3" name="Content Placeholder 2"/>
          <p:cNvSpPr>
            <a:spLocks noGrp="1"/>
          </p:cNvSpPr>
          <p:nvPr>
            <p:ph idx="1"/>
          </p:nvPr>
        </p:nvSpPr>
        <p:spPr>
          <a:xfrm>
            <a:off x="457200" y="1600200"/>
            <a:ext cx="2560320" cy="457200"/>
          </a:xfrm>
          <a:ln>
            <a:solidFill>
              <a:schemeClr val="tx1"/>
            </a:solidFill>
          </a:ln>
        </p:spPr>
        <p:txBody>
          <a:bodyPr anchor="ctr">
            <a:normAutofit fontScale="85000" lnSpcReduction="10000"/>
          </a:bodyPr>
          <a:lstStyle/>
          <a:p>
            <a:pPr marL="91440" indent="0">
              <a:buNone/>
            </a:pPr>
            <a:r>
              <a:rPr lang="en-US" b="1" dirty="0">
                <a:solidFill>
                  <a:schemeClr val="dk1"/>
                </a:solidFill>
              </a:rPr>
              <a:t>3. Payment date</a:t>
            </a:r>
            <a:endParaRPr lang="en-US" dirty="0"/>
          </a:p>
        </p:txBody>
      </p:sp>
      <p:graphicFrame>
        <p:nvGraphicFramePr>
          <p:cNvPr id="5" name="Content Placeholder 3">
            <a:extLst>
              <a:ext uri="{FF2B5EF4-FFF2-40B4-BE49-F238E27FC236}">
                <a16:creationId xmlns:a16="http://schemas.microsoft.com/office/drawing/2014/main" id="{E4653B2C-92D2-4506-8095-E85F6AA1BA52}"/>
              </a:ext>
            </a:extLst>
          </p:cNvPr>
          <p:cNvGraphicFramePr>
            <a:graphicFrameLocks/>
          </p:cNvGraphicFramePr>
          <p:nvPr/>
        </p:nvGraphicFramePr>
        <p:xfrm>
          <a:off x="457200" y="2438400"/>
          <a:ext cx="8229600" cy="146812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Dividends Payable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      Cash</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bl>
          </a:graphicData>
        </a:graphic>
      </p:graphicFrame>
    </p:spTree>
    <p:extLst>
      <p:ext uri="{BB962C8B-B14F-4D97-AF65-F5344CB8AC3E}">
        <p14:creationId xmlns:p14="http://schemas.microsoft.com/office/powerpoint/2010/main" val="337105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Stock Dividends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Proportional distribution of stock to shareholders</a:t>
            </a:r>
          </a:p>
          <a:p>
            <a:r>
              <a:rPr lang="en-US" altLang="en-US" dirty="0">
                <a:ea typeface="ＭＳ Ｐゴシック" pitchFamily="34" charset="-128"/>
              </a:rPr>
              <a:t>Increase Share Capital and decrease Retained Earnings</a:t>
            </a:r>
          </a:p>
          <a:p>
            <a:pPr lvl="1"/>
            <a:r>
              <a:rPr lang="en-US" altLang="en-US" dirty="0">
                <a:ea typeface="ＭＳ Ｐゴシック" pitchFamily="34" charset="-128"/>
              </a:rPr>
              <a:t>Total equity is unchanged</a:t>
            </a:r>
          </a:p>
          <a:p>
            <a:r>
              <a:rPr lang="en-US" altLang="en-US" dirty="0">
                <a:ea typeface="ＭＳ Ｐゴシック" pitchFamily="34" charset="-128"/>
              </a:rPr>
              <a:t>Reasons stock dividends are distributed</a:t>
            </a:r>
          </a:p>
          <a:p>
            <a:pPr lvl="1"/>
            <a:r>
              <a:rPr lang="en-US" altLang="en-US" dirty="0">
                <a:ea typeface="ＭＳ Ｐゴシック" pitchFamily="34" charset="-128"/>
              </a:rPr>
              <a:t>Continue dividends, but conserve cash</a:t>
            </a:r>
          </a:p>
          <a:p>
            <a:pPr lvl="1"/>
            <a:r>
              <a:rPr lang="en-US" altLang="en-US" dirty="0">
                <a:ea typeface="ＭＳ Ｐゴシック" pitchFamily="34" charset="-128"/>
              </a:rPr>
              <a:t>Reduce market price of shares</a:t>
            </a:r>
            <a:endParaRPr lang="en-US" dirty="0"/>
          </a:p>
        </p:txBody>
      </p:sp>
    </p:spTree>
    <p:extLst>
      <p:ext uri="{BB962C8B-B14F-4D97-AF65-F5344CB8AC3E}">
        <p14:creationId xmlns:p14="http://schemas.microsoft.com/office/powerpoint/2010/main" val="234536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Stock Dividend Dates</a:t>
            </a:r>
            <a:endParaRPr lang="en-US" dirty="0"/>
          </a:p>
        </p:txBody>
      </p:sp>
      <p:sp>
        <p:nvSpPr>
          <p:cNvPr id="3" name="Text Placeholder 2"/>
          <p:cNvSpPr>
            <a:spLocks noGrp="1"/>
          </p:cNvSpPr>
          <p:nvPr>
            <p:ph type="body" idx="1"/>
          </p:nvPr>
        </p:nvSpPr>
        <p:spPr>
          <a:xfrm>
            <a:off x="457200" y="1552956"/>
            <a:ext cx="3158836" cy="413004"/>
          </a:xfrm>
          <a:noFill/>
          <a:ln>
            <a:solidFill>
              <a:schemeClr val="tx1"/>
            </a:solidFill>
          </a:ln>
        </p:spPr>
        <p:txBody>
          <a:bodyPr anchor="ctr"/>
          <a:lstStyle/>
          <a:p>
            <a:pPr marL="91440"/>
            <a:r>
              <a:rPr lang="en-US" sz="2000" b="1" dirty="0">
                <a:solidFill>
                  <a:schemeClr val="dk1"/>
                </a:solidFill>
              </a:rPr>
              <a:t>1. Declaration date</a:t>
            </a:r>
            <a:endParaRPr lang="en-US" sz="2000" b="1" dirty="0"/>
          </a:p>
        </p:txBody>
      </p:sp>
      <p:graphicFrame>
        <p:nvGraphicFramePr>
          <p:cNvPr id="10" name="Content Placeholder 3">
            <a:extLst>
              <a:ext uri="{FF2B5EF4-FFF2-40B4-BE49-F238E27FC236}">
                <a16:creationId xmlns:a16="http://schemas.microsoft.com/office/drawing/2014/main" id="{9DAB713B-B1B2-4148-9129-BE14A6976C53}"/>
              </a:ext>
            </a:extLst>
          </p:cNvPr>
          <p:cNvGraphicFramePr>
            <a:graphicFrameLocks/>
          </p:cNvGraphicFramePr>
          <p:nvPr/>
        </p:nvGraphicFramePr>
        <p:xfrm>
          <a:off x="457200" y="2075180"/>
          <a:ext cx="8229600" cy="146812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Retained Earnings</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ＭＳ Ｐゴシック" pitchFamily="34" charset="-128"/>
                          <a:cs typeface="+mn-cs"/>
                        </a:rPr>
                        <a:t>Stock Dividends Distributable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bl>
          </a:graphicData>
        </a:graphic>
      </p:graphicFrame>
      <p:sp>
        <p:nvSpPr>
          <p:cNvPr id="4" name="Content Placeholder 3"/>
          <p:cNvSpPr>
            <a:spLocks noGrp="1"/>
          </p:cNvSpPr>
          <p:nvPr>
            <p:ph sz="half" idx="2"/>
          </p:nvPr>
        </p:nvSpPr>
        <p:spPr>
          <a:xfrm>
            <a:off x="457200" y="3779520"/>
            <a:ext cx="2924174" cy="365760"/>
          </a:xfrm>
          <a:ln>
            <a:solidFill>
              <a:schemeClr val="tx1"/>
            </a:solidFill>
          </a:ln>
        </p:spPr>
        <p:txBody>
          <a:bodyPr anchor="ctr">
            <a:normAutofit lnSpcReduction="10000"/>
          </a:bodyPr>
          <a:lstStyle/>
          <a:p>
            <a:pPr marL="91440" indent="0">
              <a:buNone/>
            </a:pPr>
            <a:r>
              <a:rPr lang="en-US" b="1" dirty="0">
                <a:solidFill>
                  <a:schemeClr val="dk1"/>
                </a:solidFill>
              </a:rPr>
              <a:t>2. Date of record</a:t>
            </a:r>
            <a:endParaRPr lang="en-US" dirty="0"/>
          </a:p>
        </p:txBody>
      </p:sp>
      <p:sp>
        <p:nvSpPr>
          <p:cNvPr id="7" name="Oval 6"/>
          <p:cNvSpPr/>
          <p:nvPr/>
        </p:nvSpPr>
        <p:spPr>
          <a:xfrm>
            <a:off x="3505200" y="3745068"/>
            <a:ext cx="3276600" cy="556676"/>
          </a:xfrm>
          <a:prstGeom prst="ellipse">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6" name="Content Placeholder 5"/>
          <p:cNvSpPr>
            <a:spLocks noGrp="1"/>
          </p:cNvSpPr>
          <p:nvPr>
            <p:ph sz="quarter" idx="4"/>
          </p:nvPr>
        </p:nvSpPr>
        <p:spPr>
          <a:xfrm>
            <a:off x="3886200" y="3794413"/>
            <a:ext cx="2771774" cy="487474"/>
          </a:xfrm>
        </p:spPr>
        <p:txBody>
          <a:bodyPr/>
          <a:lstStyle/>
          <a:p>
            <a:pPr marL="0" indent="0">
              <a:buNone/>
            </a:pPr>
            <a:r>
              <a:rPr lang="en-US" b="1" dirty="0">
                <a:solidFill>
                  <a:schemeClr val="bg1"/>
                </a:solidFill>
              </a:rPr>
              <a:t>No journal entry</a:t>
            </a:r>
            <a:endParaRPr lang="en-US" dirty="0">
              <a:solidFill>
                <a:schemeClr val="bg1"/>
              </a:solidFill>
            </a:endParaRPr>
          </a:p>
        </p:txBody>
      </p:sp>
      <p:sp>
        <p:nvSpPr>
          <p:cNvPr id="5" name="Text Placeholder 4"/>
          <p:cNvSpPr>
            <a:spLocks noGrp="1"/>
          </p:cNvSpPr>
          <p:nvPr>
            <p:ph type="body" sz="quarter" idx="3"/>
          </p:nvPr>
        </p:nvSpPr>
        <p:spPr>
          <a:xfrm>
            <a:off x="457200" y="4236720"/>
            <a:ext cx="2560320" cy="365760"/>
          </a:xfrm>
          <a:noFill/>
          <a:ln>
            <a:solidFill>
              <a:schemeClr val="tx1"/>
            </a:solidFill>
          </a:ln>
        </p:spPr>
        <p:txBody>
          <a:bodyPr anchor="ctr">
            <a:normAutofit lnSpcReduction="10000"/>
          </a:bodyPr>
          <a:lstStyle/>
          <a:p>
            <a:pPr marL="91440"/>
            <a:r>
              <a:rPr lang="en-US" sz="2000" b="1" dirty="0">
                <a:solidFill>
                  <a:schemeClr val="dk1"/>
                </a:solidFill>
              </a:rPr>
              <a:t>3. Payment date</a:t>
            </a:r>
            <a:endParaRPr lang="en-US" sz="2000" b="1" dirty="0"/>
          </a:p>
        </p:txBody>
      </p:sp>
      <p:graphicFrame>
        <p:nvGraphicFramePr>
          <p:cNvPr id="11" name="Content Placeholder 3">
            <a:extLst>
              <a:ext uri="{FF2B5EF4-FFF2-40B4-BE49-F238E27FC236}">
                <a16:creationId xmlns:a16="http://schemas.microsoft.com/office/drawing/2014/main" id="{3F6AEDD4-38C8-45C7-9214-E58A9D55CBE8}"/>
              </a:ext>
            </a:extLst>
          </p:cNvPr>
          <p:cNvGraphicFramePr>
            <a:graphicFrameLocks/>
          </p:cNvGraphicFramePr>
          <p:nvPr/>
        </p:nvGraphicFramePr>
        <p:xfrm>
          <a:off x="457200" y="4693920"/>
          <a:ext cx="8229600" cy="146812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1627907849"/>
                    </a:ext>
                  </a:extLst>
                </a:gridCol>
                <a:gridCol w="4572000">
                  <a:extLst>
                    <a:ext uri="{9D8B030D-6E8A-4147-A177-3AD203B41FA5}">
                      <a16:colId xmlns:a16="http://schemas.microsoft.com/office/drawing/2014/main" val="2642391466"/>
                    </a:ext>
                  </a:extLst>
                </a:gridCol>
                <a:gridCol w="1447800">
                  <a:extLst>
                    <a:ext uri="{9D8B030D-6E8A-4147-A177-3AD203B41FA5}">
                      <a16:colId xmlns:a16="http://schemas.microsoft.com/office/drawing/2014/main" val="2131903877"/>
                    </a:ext>
                  </a:extLst>
                </a:gridCol>
                <a:gridCol w="1295400">
                  <a:extLst>
                    <a:ext uri="{9D8B030D-6E8A-4147-A177-3AD203B41FA5}">
                      <a16:colId xmlns:a16="http://schemas.microsoft.com/office/drawing/2014/main" val="2438141820"/>
                    </a:ext>
                  </a:extLst>
                </a:gridCol>
              </a:tblGrid>
              <a:tr h="370840">
                <a:tc gridSpan="4">
                  <a:txBody>
                    <a:bodyPr/>
                    <a:lstStyle/>
                    <a:p>
                      <a:pPr algn="ctr"/>
                      <a:r>
                        <a:rPr kumimoji="0" lang="en-US" altLang="en-US" sz="1800" b="1" u="none" strike="noStrike" cap="none" normalizeH="0" baseline="0" dirty="0">
                          <a:ln>
                            <a:noFill/>
                          </a:ln>
                          <a:effectLst/>
                          <a:latin typeface="+mn-lt"/>
                        </a:rPr>
                        <a:t>JOURNAL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12000324"/>
                  </a:ext>
                </a:extLst>
              </a:tr>
              <a:tr h="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3972473"/>
                  </a:ext>
                </a:extLst>
              </a:tr>
              <a:tr h="27305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Stock Dividends Distributable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704604"/>
                  </a:ext>
                </a:extLst>
              </a:tr>
              <a:tr h="1803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Common Shares</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2989962"/>
                  </a:ext>
                </a:extLst>
              </a:tr>
            </a:tbl>
          </a:graphicData>
        </a:graphic>
      </p:graphicFrame>
    </p:spTree>
    <p:extLst>
      <p:ext uri="{BB962C8B-B14F-4D97-AF65-F5344CB8AC3E}">
        <p14:creationId xmlns:p14="http://schemas.microsoft.com/office/powerpoint/2010/main" val="341557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Dividends on Preferred Shares </a:t>
            </a:r>
            <a:r>
              <a:rPr lang="en-US" altLang="en-US" sz="2000" b="0" dirty="0">
                <a:ea typeface="ＭＳ Ｐゴシック" pitchFamily="34" charset="-128"/>
              </a:rPr>
              <a:t>(1 of 2)</a:t>
            </a:r>
            <a:endParaRPr lang="en-US" sz="2000" b="0" dirty="0"/>
          </a:p>
        </p:txBody>
      </p:sp>
      <p:sp>
        <p:nvSpPr>
          <p:cNvPr id="3" name="Content Placeholder 2"/>
          <p:cNvSpPr>
            <a:spLocks noGrp="1"/>
          </p:cNvSpPr>
          <p:nvPr>
            <p:ph idx="1"/>
          </p:nvPr>
        </p:nvSpPr>
        <p:spPr/>
        <p:txBody>
          <a:bodyPr/>
          <a:lstStyle/>
          <a:p>
            <a:r>
              <a:rPr lang="en-US" altLang="en-US" dirty="0">
                <a:ea typeface="ＭＳ Ｐゴシック" pitchFamily="34" charset="-128"/>
              </a:rPr>
              <a:t>Paid dividends before common shareholders</a:t>
            </a:r>
          </a:p>
          <a:p>
            <a:r>
              <a:rPr lang="en-US" altLang="en-US" dirty="0">
                <a:ea typeface="ＭＳ Ｐゴシック" pitchFamily="34" charset="-128"/>
              </a:rPr>
              <a:t>Expressed as an annual dollar figure or as a percentage of the share’s stated value</a:t>
            </a:r>
          </a:p>
          <a:p>
            <a:r>
              <a:rPr lang="en-US" altLang="en-US" dirty="0">
                <a:ea typeface="ＭＳ Ｐゴシック" pitchFamily="34" charset="-128"/>
              </a:rPr>
              <a:t>May be cumulative</a:t>
            </a:r>
          </a:p>
          <a:p>
            <a:pPr lvl="1"/>
            <a:r>
              <a:rPr lang="en-US" altLang="en-US" dirty="0">
                <a:ea typeface="ＭＳ Ｐゴシック" pitchFamily="34" charset="-128"/>
              </a:rPr>
              <a:t>Passed dividends are owed to preferred shareholders</a:t>
            </a:r>
          </a:p>
          <a:p>
            <a:pPr lvl="2"/>
            <a:r>
              <a:rPr lang="en-US" altLang="en-US" dirty="0">
                <a:ea typeface="ＭＳ Ｐゴシック" pitchFamily="34" charset="-128"/>
              </a:rPr>
              <a:t>In arrears</a:t>
            </a:r>
            <a:endParaRPr lang="en-US" dirty="0"/>
          </a:p>
        </p:txBody>
      </p:sp>
    </p:spTree>
    <p:extLst>
      <p:ext uri="{BB962C8B-B14F-4D97-AF65-F5344CB8AC3E}">
        <p14:creationId xmlns:p14="http://schemas.microsoft.com/office/powerpoint/2010/main" val="353226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Dividends on Preferred Shares </a:t>
            </a:r>
            <a:r>
              <a:rPr lang="en-US" altLang="en-US" sz="2000" b="0" dirty="0">
                <a:ea typeface="ＭＳ Ｐゴシック" pitchFamily="34" charset="-128"/>
              </a:rPr>
              <a:t>(2 of 2)</a:t>
            </a:r>
            <a:endParaRPr lang="en-US" sz="2000" b="0" dirty="0"/>
          </a:p>
        </p:txBody>
      </p:sp>
      <p:sp>
        <p:nvSpPr>
          <p:cNvPr id="3" name="Content Placeholder 2"/>
          <p:cNvSpPr>
            <a:spLocks noGrp="1"/>
          </p:cNvSpPr>
          <p:nvPr>
            <p:ph idx="1"/>
          </p:nvPr>
        </p:nvSpPr>
        <p:spPr>
          <a:xfrm>
            <a:off x="457200" y="1600200"/>
            <a:ext cx="8229600" cy="1981199"/>
          </a:xfrm>
        </p:spPr>
        <p:txBody>
          <a:bodyPr/>
          <a:lstStyle/>
          <a:p>
            <a:pPr marL="0" indent="0" algn="ctr">
              <a:buNone/>
            </a:pPr>
            <a:r>
              <a:rPr lang="en-US" dirty="0">
                <a:cs typeface="Arial" charset="0"/>
              </a:rPr>
              <a:t>The preferred shares of Pinecraft are cumulative</a:t>
            </a:r>
            <a:r>
              <a:rPr lang="en-US" dirty="0">
                <a:latin typeface="Arial" charset="0"/>
                <a:cs typeface="Arial" charset="0"/>
              </a:rPr>
              <a:t>.</a:t>
            </a:r>
          </a:p>
          <a:p>
            <a:pPr marL="0" indent="0" algn="ctr">
              <a:buNone/>
              <a:defRPr/>
            </a:pPr>
            <a:r>
              <a:rPr lang="en-US" dirty="0">
                <a:cs typeface="Arial" charset="0"/>
              </a:rPr>
              <a:t>Suppose the company passed the 20X1 </a:t>
            </a:r>
            <a:br>
              <a:rPr lang="en-US" dirty="0">
                <a:cs typeface="Arial" charset="0"/>
              </a:rPr>
            </a:br>
            <a:r>
              <a:rPr lang="en-US" dirty="0">
                <a:cs typeface="Arial" charset="0"/>
              </a:rPr>
              <a:t>preferred dividend of $150,000.</a:t>
            </a:r>
          </a:p>
          <a:p>
            <a:pPr marL="0" indent="0" algn="ctr">
              <a:buNone/>
              <a:defRPr/>
            </a:pPr>
            <a:r>
              <a:rPr lang="en-US" dirty="0">
                <a:cs typeface="Arial" charset="0"/>
              </a:rPr>
              <a:t>In 20X2, the company declares a $500,000 dividend.</a:t>
            </a:r>
            <a:endParaRPr lang="en-US" dirty="0"/>
          </a:p>
        </p:txBody>
      </p:sp>
      <p:graphicFrame>
        <p:nvGraphicFramePr>
          <p:cNvPr id="4" name="Table 3"/>
          <p:cNvGraphicFramePr>
            <a:graphicFrameLocks noGrp="1"/>
          </p:cNvGraphicFramePr>
          <p:nvPr/>
        </p:nvGraphicFramePr>
        <p:xfrm>
          <a:off x="914400" y="3581400"/>
          <a:ext cx="7315200" cy="2032870"/>
        </p:xfrm>
        <a:graphic>
          <a:graphicData uri="http://schemas.openxmlformats.org/drawingml/2006/table">
            <a:tbl>
              <a:tblPr firstRow="1" bandRow="1">
                <a:tableStyleId>{2D5ABB26-0587-4C30-8999-92F81FD0307C}</a:tableStyleId>
              </a:tblPr>
              <a:tblGrid>
                <a:gridCol w="4975952">
                  <a:extLst>
                    <a:ext uri="{9D8B030D-6E8A-4147-A177-3AD203B41FA5}">
                      <a16:colId xmlns:a16="http://schemas.microsoft.com/office/drawing/2014/main" val="20000"/>
                    </a:ext>
                  </a:extLst>
                </a:gridCol>
                <a:gridCol w="2339248">
                  <a:extLst>
                    <a:ext uri="{9D8B030D-6E8A-4147-A177-3AD203B41FA5}">
                      <a16:colId xmlns:a16="http://schemas.microsoft.com/office/drawing/2014/main" val="20001"/>
                    </a:ext>
                  </a:extLst>
                </a:gridCol>
              </a:tblGrid>
              <a:tr h="221114">
                <a:tc>
                  <a:txBody>
                    <a:bodyPr/>
                    <a:lstStyle/>
                    <a:p>
                      <a:r>
                        <a:rPr lang="en-US" altLang="en-US" sz="1800" dirty="0">
                          <a:latin typeface="+mn-lt"/>
                        </a:rPr>
                        <a:t>Retained Earnings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mn-lt"/>
                        </a:rPr>
                        <a:t>500,000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4185">
                <a:tc>
                  <a:txBody>
                    <a:bodyPr/>
                    <a:lstStyle/>
                    <a:p>
                      <a:pPr marL="274320"/>
                      <a:r>
                        <a:rPr lang="en-US" altLang="en-US" sz="1800" dirty="0">
                          <a:latin typeface="+mn-lt"/>
                        </a:rPr>
                        <a:t>Dividends Payable, Preferred</a:t>
                      </a:r>
                    </a:p>
                    <a:p>
                      <a:pPr marL="27432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($150,000 × 2 years)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300,000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6950">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Dividends Payable, Common</a:t>
                      </a:r>
                      <a:br>
                        <a:rPr lang="en-US" altLang="en-US" sz="1800" dirty="0">
                          <a:latin typeface="+mn-lt"/>
                        </a:rPr>
                      </a:br>
                      <a:r>
                        <a:rPr lang="en-US" altLang="en-US" sz="1800" dirty="0">
                          <a:latin typeface="+mn-lt"/>
                        </a:rPr>
                        <a:t>($500,000 – $300,000)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sz="1800" dirty="0">
                          <a:latin typeface="+mn-lt"/>
                        </a:rPr>
                        <a:t>200,000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6950">
                <a:tc>
                  <a:txBody>
                    <a:bodyPr/>
                    <a:lstStyle/>
                    <a:p>
                      <a:r>
                        <a:rPr lang="en-US" altLang="en-US" sz="1800" i="1" dirty="0">
                          <a:latin typeface="+mn-lt"/>
                        </a:rPr>
                        <a:t>To declare a cash dividend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1972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Stock Splits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Results in an increase or decrease in the number of issued and outstanding shares, but does not affect any financial statement balances</a:t>
            </a:r>
          </a:p>
          <a:p>
            <a:r>
              <a:rPr lang="en-US" altLang="en-US" dirty="0">
                <a:ea typeface="ＭＳ Ｐゴシック" pitchFamily="34" charset="-128"/>
              </a:rPr>
              <a:t>Increases or decreases market value per share</a:t>
            </a:r>
          </a:p>
          <a:p>
            <a:pPr marL="0" indent="0">
              <a:buNone/>
            </a:pPr>
            <a:endParaRPr lang="en-US" dirty="0"/>
          </a:p>
        </p:txBody>
      </p:sp>
    </p:spTree>
    <p:extLst>
      <p:ext uri="{BB962C8B-B14F-4D97-AF65-F5344CB8AC3E}">
        <p14:creationId xmlns:p14="http://schemas.microsoft.com/office/powerpoint/2010/main" val="43320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81000" y="304800"/>
            <a:ext cx="8229600" cy="609600"/>
          </a:xfrm>
        </p:spPr>
        <p:txBody>
          <a:bodyPr/>
          <a:lstStyle/>
          <a:p>
            <a:r>
              <a:rPr lang="en-US" altLang="en-US" dirty="0">
                <a:ea typeface="ＭＳ Ｐゴシック" pitchFamily="34" charset="-128"/>
              </a:rPr>
              <a:t>Transactions and Their Impacts</a:t>
            </a:r>
            <a:endParaRPr lang="en-US" dirty="0"/>
          </a:p>
        </p:txBody>
      </p:sp>
      <p:graphicFrame>
        <p:nvGraphicFramePr>
          <p:cNvPr id="5" name="Content Placeholder 4">
            <a:extLst>
              <a:ext uri="{FF2B5EF4-FFF2-40B4-BE49-F238E27FC236}">
                <a16:creationId xmlns:a16="http://schemas.microsoft.com/office/drawing/2014/main" id="{9BD4A003-865D-404F-9146-5ED480C2788B}"/>
              </a:ext>
            </a:extLst>
          </p:cNvPr>
          <p:cNvGraphicFramePr>
            <a:graphicFrameLocks noGrp="1"/>
          </p:cNvGraphicFramePr>
          <p:nvPr>
            <p:ph idx="1"/>
          </p:nvPr>
        </p:nvGraphicFramePr>
        <p:xfrm>
          <a:off x="457200" y="1600200"/>
          <a:ext cx="8229600" cy="3774422"/>
        </p:xfrm>
        <a:graphic>
          <a:graphicData uri="http://schemas.openxmlformats.org/drawingml/2006/table">
            <a:tbl>
              <a:tblPr firstRow="1" bandRow="1">
                <a:tableStyleId>{3B4B98B0-60AC-42C2-AFA5-B58CD77FA1E5}</a:tableStyleId>
              </a:tblPr>
              <a:tblGrid>
                <a:gridCol w="2514600">
                  <a:extLst>
                    <a:ext uri="{9D8B030D-6E8A-4147-A177-3AD203B41FA5}">
                      <a16:colId xmlns:a16="http://schemas.microsoft.com/office/drawing/2014/main" val="3520255443"/>
                    </a:ext>
                  </a:extLst>
                </a:gridCol>
                <a:gridCol w="1524000">
                  <a:extLst>
                    <a:ext uri="{9D8B030D-6E8A-4147-A177-3AD203B41FA5}">
                      <a16:colId xmlns:a16="http://schemas.microsoft.com/office/drawing/2014/main" val="3441382202"/>
                    </a:ext>
                  </a:extLst>
                </a:gridCol>
                <a:gridCol w="457200">
                  <a:extLst>
                    <a:ext uri="{9D8B030D-6E8A-4147-A177-3AD203B41FA5}">
                      <a16:colId xmlns:a16="http://schemas.microsoft.com/office/drawing/2014/main" val="4018374141"/>
                    </a:ext>
                  </a:extLst>
                </a:gridCol>
                <a:gridCol w="1447800">
                  <a:extLst>
                    <a:ext uri="{9D8B030D-6E8A-4147-A177-3AD203B41FA5}">
                      <a16:colId xmlns:a16="http://schemas.microsoft.com/office/drawing/2014/main" val="4286500850"/>
                    </a:ext>
                  </a:extLst>
                </a:gridCol>
                <a:gridCol w="533400">
                  <a:extLst>
                    <a:ext uri="{9D8B030D-6E8A-4147-A177-3AD203B41FA5}">
                      <a16:colId xmlns:a16="http://schemas.microsoft.com/office/drawing/2014/main" val="286557953"/>
                    </a:ext>
                  </a:extLst>
                </a:gridCol>
                <a:gridCol w="1752600">
                  <a:extLst>
                    <a:ext uri="{9D8B030D-6E8A-4147-A177-3AD203B41FA5}">
                      <a16:colId xmlns:a16="http://schemas.microsoft.com/office/drawing/2014/main" val="3339743630"/>
                    </a:ext>
                  </a:extLst>
                </a:gridCol>
              </a:tblGrid>
              <a:tr h="370840">
                <a:tc gridSpan="6">
                  <a:txBody>
                    <a:bodyPr/>
                    <a:lstStyle/>
                    <a:p>
                      <a:pPr algn="ctr"/>
                      <a:r>
                        <a:rPr kumimoji="0" lang="en-US" altLang="en-US" sz="1800" b="1" u="none" strike="noStrike" kern="1200" cap="none" normalizeH="0" baseline="0" dirty="0">
                          <a:ln>
                            <a:noFill/>
                          </a:ln>
                          <a:solidFill>
                            <a:schemeClr val="tx1"/>
                          </a:solidFill>
                          <a:effectLst/>
                          <a:latin typeface="+mn-lt"/>
                          <a:ea typeface="+mn-ea"/>
                          <a:cs typeface="+mn-cs"/>
                        </a:rPr>
                        <a:t>Effect on 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62383229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cap="none" normalizeH="0" baseline="0" dirty="0">
                          <a:ln>
                            <a:noFill/>
                          </a:ln>
                          <a:solidFill>
                            <a:srgbClr val="000000"/>
                          </a:solidFill>
                          <a:effectLst/>
                          <a:latin typeface="+mn-lt"/>
                          <a:ea typeface="ＭＳ Ｐゴシック" pitchFamily="34" charset="-128"/>
                          <a:cs typeface="Arial" pitchFamily="34" charset="0"/>
                        </a:rPr>
                        <a:t>Transaction</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ea typeface="+mn-ea"/>
                        </a:rPr>
                        <a:t>Assets</a:t>
                      </a:r>
                      <a:endParaRPr kumimoji="0" lang="en-US" altLang="en-US" sz="1800" b="1"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ea typeface="+mn-ea"/>
                        </a:rPr>
                        <a:t>=</a:t>
                      </a:r>
                      <a:endParaRPr kumimoji="0" lang="en-US" altLang="en-US" sz="1800" b="1"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ea typeface="+mn-ea"/>
                        </a:rPr>
                        <a:t>Liabilities</a:t>
                      </a:r>
                      <a:endParaRPr kumimoji="0" lang="en-US" altLang="en-US" sz="1800" b="1"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ea"/>
                          <a:ea typeface="+mn-ea"/>
                        </a:rPr>
                        <a:t> +</a:t>
                      </a:r>
                      <a:endParaRPr kumimoji="0" lang="en-US" altLang="en-US" sz="1800" b="1"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kern="1200" cap="none" normalizeH="0" baseline="0" dirty="0">
                          <a:ln>
                            <a:noFill/>
                          </a:ln>
                          <a:solidFill>
                            <a:schemeClr val="tx1"/>
                          </a:solidFill>
                          <a:effectLst/>
                          <a:latin typeface="+mn-lt"/>
                          <a:ea typeface="+mn-ea"/>
                          <a:cs typeface="+mn-cs"/>
                        </a:rPr>
                        <a:t>Shareholders</a:t>
                      </a:r>
                      <a:r>
                        <a:rPr kumimoji="0" lang="ja-JP" altLang="en-US" sz="1800" b="1" u="none" strike="noStrike" kern="1200" cap="none" normalizeH="0" baseline="0" dirty="0">
                          <a:ln>
                            <a:noFill/>
                          </a:ln>
                          <a:solidFill>
                            <a:schemeClr val="tx1"/>
                          </a:solidFill>
                          <a:effectLst/>
                          <a:latin typeface="+mn-lt"/>
                          <a:ea typeface="+mn-ea"/>
                          <a:cs typeface="+mn-cs"/>
                        </a:rPr>
                        <a:t>’</a:t>
                      </a:r>
                      <a:r>
                        <a:rPr kumimoji="0" lang="en-US" altLang="ja-JP" sz="1800" b="1" u="none" strike="noStrike" kern="1200" cap="none" normalizeH="0" baseline="0" dirty="0">
                          <a:ln>
                            <a:noFill/>
                          </a:ln>
                          <a:solidFill>
                            <a:schemeClr val="tx1"/>
                          </a:solidFill>
                          <a:effectLst/>
                          <a:latin typeface="+mn-lt"/>
                          <a:ea typeface="+mn-ea"/>
                          <a:cs typeface="+mn-cs"/>
                        </a:rPr>
                        <a:t> Equity</a:t>
                      </a:r>
                      <a:endParaRPr kumimoji="0" lang="en-US" altLang="en-US" sz="1800" b="1" u="none" strike="noStrike" kern="1200" cap="none" normalizeH="0" baseline="0" dirty="0">
                        <a:ln>
                          <a:noFill/>
                        </a:ln>
                        <a:solidFill>
                          <a:schemeClr val="tx1"/>
                        </a:solidFill>
                        <a:effectLst/>
                        <a:latin typeface="+mn-lt"/>
                        <a:ea typeface="+mn-ea"/>
                        <a:cs typeface="+mn-cs"/>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1950140"/>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Issuance of shares</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Increase</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Increase</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5539554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Repurchase of shares</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Decrease</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Decrease</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751919"/>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Declaration of cash dividend</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Increase</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Decrease</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7056920"/>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Payment of cash dividend</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Decrease</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Decrease</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No effect</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12327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Stock dividend</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No effect</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730924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Stock split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ea typeface="+mn-ea"/>
                        </a:rPr>
                        <a:t>No effect</a:t>
                      </a:r>
                      <a:endParaRPr kumimoji="0" lang="en-US" altLang="en-US" sz="1800" b="0" i="0" u="none" strike="noStrike" cap="none" normalizeH="0" baseline="0" dirty="0">
                        <a:ln>
                          <a:noFill/>
                        </a:ln>
                        <a:solidFill>
                          <a:srgbClr val="000000"/>
                        </a:solidFill>
                        <a:effectLst/>
                        <a:latin typeface="+mn-lt"/>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mn-ea"/>
                        <a:ea typeface="+mn-ea"/>
                        <a:cs typeface="Arial" pitchFamily="34" charset="0"/>
                      </a:endParaRP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kern="1200" cap="none" normalizeH="0" baseline="0" dirty="0">
                          <a:ln>
                            <a:noFill/>
                          </a:ln>
                          <a:solidFill>
                            <a:schemeClr val="tx1"/>
                          </a:solidFill>
                          <a:effectLst/>
                          <a:latin typeface="+mn-lt"/>
                          <a:ea typeface="+mn-ea"/>
                          <a:cs typeface="+mn-cs"/>
                        </a:rPr>
                        <a:t>No effect</a:t>
                      </a:r>
                    </a:p>
                  </a:txBody>
                  <a:tcPr marT="45717" marB="45717"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8860747"/>
                  </a:ext>
                </a:extLst>
              </a:tr>
            </a:tbl>
          </a:graphicData>
        </a:graphic>
      </p:graphicFrame>
    </p:spTree>
    <p:extLst>
      <p:ext uri="{BB962C8B-B14F-4D97-AF65-F5344CB8AC3E}">
        <p14:creationId xmlns:p14="http://schemas.microsoft.com/office/powerpoint/2010/main" val="267701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4B77A-A156-333A-CD35-4F44B2C1E472}"/>
              </a:ext>
            </a:extLst>
          </p:cNvPr>
          <p:cNvSpPr>
            <a:spLocks noGrp="1"/>
          </p:cNvSpPr>
          <p:nvPr>
            <p:ph type="title"/>
          </p:nvPr>
        </p:nvSpPr>
        <p:spPr/>
        <p:txBody>
          <a:bodyPr/>
          <a:lstStyle/>
          <a:p>
            <a:r>
              <a:rPr lang="en-US" dirty="0"/>
              <a:t>Short Exercise S8-5</a:t>
            </a:r>
          </a:p>
        </p:txBody>
      </p:sp>
      <p:sp>
        <p:nvSpPr>
          <p:cNvPr id="3" name="Content Placeholder 2">
            <a:extLst>
              <a:ext uri="{FF2B5EF4-FFF2-40B4-BE49-F238E27FC236}">
                <a16:creationId xmlns:a16="http://schemas.microsoft.com/office/drawing/2014/main" id="{13DE6E06-B9D2-D73B-7045-50C9BA53DE52}"/>
              </a:ext>
            </a:extLst>
          </p:cNvPr>
          <p:cNvSpPr>
            <a:spLocks noGrp="1"/>
          </p:cNvSpPr>
          <p:nvPr>
            <p:ph idx="1"/>
          </p:nvPr>
        </p:nvSpPr>
        <p:spPr/>
        <p:txBody>
          <a:bodyPr/>
          <a:lstStyle/>
          <a:p>
            <a:r>
              <a:rPr lang="en-CA" dirty="0"/>
              <a:t>On December 31, 2020, shareholders’ equity accounts of Green Products Inc. (GPI) had the balances shown below. GPI paid dividends of $4,096 on December 1, 2020.</a:t>
            </a:r>
          </a:p>
          <a:p>
            <a:endParaRPr lang="en-US" dirty="0"/>
          </a:p>
        </p:txBody>
      </p:sp>
      <p:pic>
        <p:nvPicPr>
          <p:cNvPr id="4" name="Picture 3">
            <a:extLst>
              <a:ext uri="{FF2B5EF4-FFF2-40B4-BE49-F238E27FC236}">
                <a16:creationId xmlns:a16="http://schemas.microsoft.com/office/drawing/2014/main" id="{7C2E352D-805F-480B-CAFA-15095442BBAB}"/>
              </a:ext>
            </a:extLst>
          </p:cNvPr>
          <p:cNvPicPr>
            <a:picLocks noChangeAspect="1"/>
          </p:cNvPicPr>
          <p:nvPr/>
        </p:nvPicPr>
        <p:blipFill>
          <a:blip r:embed="rId2"/>
          <a:stretch>
            <a:fillRect/>
          </a:stretch>
        </p:blipFill>
        <p:spPr>
          <a:xfrm>
            <a:off x="1003020" y="3197515"/>
            <a:ext cx="7137960" cy="2247319"/>
          </a:xfrm>
          <a:prstGeom prst="rect">
            <a:avLst/>
          </a:prstGeom>
        </p:spPr>
      </p:pic>
      <p:sp>
        <p:nvSpPr>
          <p:cNvPr id="6" name="Slide Number Placeholder 5">
            <a:extLst>
              <a:ext uri="{FF2B5EF4-FFF2-40B4-BE49-F238E27FC236}">
                <a16:creationId xmlns:a16="http://schemas.microsoft.com/office/drawing/2014/main" id="{F2A7F090-F97F-3C21-1716-47498202228B}"/>
              </a:ext>
            </a:extLst>
          </p:cNvPr>
          <p:cNvSpPr>
            <a:spLocks noGrp="1"/>
          </p:cNvSpPr>
          <p:nvPr>
            <p:ph type="sldNum" sz="quarter" idx="11"/>
          </p:nvPr>
        </p:nvSpPr>
        <p:spPr>
          <a:xfrm>
            <a:off x="6439538" y="645574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F39135-229F-F941-8091-03BABA0F1D87}" type="slidenum">
              <a:rPr lang="en-US" smtClean="0"/>
              <a:pPr/>
              <a:t>34</a:t>
            </a:fld>
            <a:endParaRPr lang="en-US" dirty="0"/>
          </a:p>
        </p:txBody>
      </p:sp>
    </p:spTree>
    <p:extLst>
      <p:ext uri="{BB962C8B-B14F-4D97-AF65-F5344CB8AC3E}">
        <p14:creationId xmlns:p14="http://schemas.microsoft.com/office/powerpoint/2010/main" val="3819066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F1C9-A958-D159-21F6-5985B0AD8B89}"/>
              </a:ext>
            </a:extLst>
          </p:cNvPr>
          <p:cNvSpPr>
            <a:spLocks noGrp="1"/>
          </p:cNvSpPr>
          <p:nvPr>
            <p:ph type="title"/>
          </p:nvPr>
        </p:nvSpPr>
        <p:spPr/>
        <p:txBody>
          <a:bodyPr/>
          <a:lstStyle/>
          <a:p>
            <a:r>
              <a:rPr lang="en-US" dirty="0"/>
              <a:t>Short Exercise S8-5</a:t>
            </a:r>
          </a:p>
        </p:txBody>
      </p:sp>
      <p:sp>
        <p:nvSpPr>
          <p:cNvPr id="3" name="Content Placeholder 2">
            <a:extLst>
              <a:ext uri="{FF2B5EF4-FFF2-40B4-BE49-F238E27FC236}">
                <a16:creationId xmlns:a16="http://schemas.microsoft.com/office/drawing/2014/main" id="{39B9CC44-8E61-9956-60F8-37C0442A3F26}"/>
              </a:ext>
            </a:extLst>
          </p:cNvPr>
          <p:cNvSpPr>
            <a:spLocks noGrp="1"/>
          </p:cNvSpPr>
          <p:nvPr>
            <p:ph idx="1"/>
          </p:nvPr>
        </p:nvSpPr>
        <p:spPr/>
        <p:txBody>
          <a:bodyPr>
            <a:normAutofit fontScale="92500" lnSpcReduction="10000"/>
          </a:bodyPr>
          <a:lstStyle/>
          <a:p>
            <a:endParaRPr lang="en-CA" dirty="0"/>
          </a:p>
          <a:p>
            <a:endParaRPr lang="en-CA" dirty="0"/>
          </a:p>
          <a:p>
            <a:endParaRPr lang="en-CA" dirty="0"/>
          </a:p>
          <a:p>
            <a:endParaRPr lang="en-CA" dirty="0"/>
          </a:p>
          <a:p>
            <a:r>
              <a:rPr lang="en-CA" dirty="0"/>
              <a:t>GPI sold 10,000 common shares on June 30, 2020. What was the average selling price of these shares if this was the only common-shares transaction during 2020?</a:t>
            </a:r>
          </a:p>
          <a:p>
            <a:r>
              <a:rPr lang="en-CA" dirty="0"/>
              <a:t>Journalize GPI’s sale of the common shares on June 30, 2020.</a:t>
            </a:r>
          </a:p>
          <a:p>
            <a:r>
              <a:rPr lang="en-CA" dirty="0"/>
              <a:t>Based only on the above information, did GPI earn a profit or suffer a loss during 2020? Calculate the profit or loss.</a:t>
            </a:r>
          </a:p>
          <a:p>
            <a:endParaRPr lang="en-US" dirty="0"/>
          </a:p>
        </p:txBody>
      </p:sp>
      <p:pic>
        <p:nvPicPr>
          <p:cNvPr id="4" name="Picture 3">
            <a:extLst>
              <a:ext uri="{FF2B5EF4-FFF2-40B4-BE49-F238E27FC236}">
                <a16:creationId xmlns:a16="http://schemas.microsoft.com/office/drawing/2014/main" id="{4BD7C8A9-E4FA-8BE1-FDA4-B255CE05895F}"/>
              </a:ext>
            </a:extLst>
          </p:cNvPr>
          <p:cNvPicPr>
            <a:picLocks noChangeAspect="1"/>
          </p:cNvPicPr>
          <p:nvPr/>
        </p:nvPicPr>
        <p:blipFill>
          <a:blip r:embed="rId2"/>
          <a:stretch>
            <a:fillRect/>
          </a:stretch>
        </p:blipFill>
        <p:spPr>
          <a:xfrm>
            <a:off x="1003020" y="1181681"/>
            <a:ext cx="7137960" cy="2247319"/>
          </a:xfrm>
          <a:prstGeom prst="rect">
            <a:avLst/>
          </a:prstGeom>
        </p:spPr>
      </p:pic>
      <p:sp>
        <p:nvSpPr>
          <p:cNvPr id="6" name="Slide Number Placeholder 5">
            <a:extLst>
              <a:ext uri="{FF2B5EF4-FFF2-40B4-BE49-F238E27FC236}">
                <a16:creationId xmlns:a16="http://schemas.microsoft.com/office/drawing/2014/main" id="{F5824CFC-161B-57F6-F30B-90C28D757456}"/>
              </a:ext>
            </a:extLst>
          </p:cNvPr>
          <p:cNvSpPr>
            <a:spLocks noGrp="1"/>
          </p:cNvSpPr>
          <p:nvPr>
            <p:ph type="sldNum" sz="quarter" idx="11"/>
          </p:nvPr>
        </p:nvSpPr>
        <p:spPr>
          <a:xfrm>
            <a:off x="6439538" y="645574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F39135-229F-F941-8091-03BABA0F1D87}" type="slidenum">
              <a:rPr lang="en-US" smtClean="0"/>
              <a:pPr/>
              <a:t>35</a:t>
            </a:fld>
            <a:endParaRPr lang="en-US" dirty="0"/>
          </a:p>
        </p:txBody>
      </p:sp>
    </p:spTree>
    <p:extLst>
      <p:ext uri="{BB962C8B-B14F-4D97-AF65-F5344CB8AC3E}">
        <p14:creationId xmlns:p14="http://schemas.microsoft.com/office/powerpoint/2010/main" val="69951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Evaluate </a:t>
            </a:r>
            <a:r>
              <a:rPr lang="en-US" altLang="en-US" dirty="0">
                <a:ea typeface="ＭＳ Ｐゴシック" pitchFamily="34" charset="-128"/>
              </a:rPr>
              <a:t>a company’s return on equity</a:t>
            </a:r>
            <a:endParaRPr lang="en-US" dirty="0"/>
          </a:p>
        </p:txBody>
      </p:sp>
    </p:spTree>
    <p:extLst>
      <p:ext uri="{BB962C8B-B14F-4D97-AF65-F5344CB8AC3E}">
        <p14:creationId xmlns:p14="http://schemas.microsoft.com/office/powerpoint/2010/main" val="247527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r>
              <a:rPr lang="en-US" altLang="en-US" dirty="0">
                <a:ea typeface="ＭＳ Ｐゴシック" pitchFamily="34" charset="-128"/>
              </a:rPr>
              <a:t>Return on Assets</a:t>
            </a:r>
            <a:endParaRPr lang="en-US" sz="2000" dirty="0"/>
          </a:p>
        </p:txBody>
      </p:sp>
      <p:graphicFrame>
        <p:nvGraphicFramePr>
          <p:cNvPr id="3" name="Object 2">
            <a:extLst>
              <a:ext uri="{FF2B5EF4-FFF2-40B4-BE49-F238E27FC236}">
                <a16:creationId xmlns:a16="http://schemas.microsoft.com/office/drawing/2014/main" id="{ACF51BEF-6D61-F37C-F418-3EC6166AA68C}"/>
              </a:ext>
            </a:extLst>
          </p:cNvPr>
          <p:cNvGraphicFramePr>
            <a:graphicFrameLocks noChangeAspect="1"/>
          </p:cNvGraphicFramePr>
          <p:nvPr/>
        </p:nvGraphicFramePr>
        <p:xfrm>
          <a:off x="2629677" y="2590800"/>
          <a:ext cx="3884646" cy="1084901"/>
        </p:xfrm>
        <a:graphic>
          <a:graphicData uri="http://schemas.openxmlformats.org/presentationml/2006/ole">
            <mc:AlternateContent xmlns:mc="http://schemas.openxmlformats.org/markup-compatibility/2006">
              <mc:Choice xmlns:v="urn:schemas-microsoft-com:vml" Requires="v">
                <p:oleObj name="Equation" r:id="rId3" imgW="2819160" imgH="787320" progId="Equation.DSMT4">
                  <p:embed/>
                </p:oleObj>
              </mc:Choice>
              <mc:Fallback>
                <p:oleObj name="Equation" r:id="rId3" imgW="2819160" imgH="787320" progId="Equation.DSMT4">
                  <p:embed/>
                  <p:pic>
                    <p:nvPicPr>
                      <p:cNvPr id="3" name="Object 2">
                        <a:extLst>
                          <a:ext uri="{FF2B5EF4-FFF2-40B4-BE49-F238E27FC236}">
                            <a16:creationId xmlns:a16="http://schemas.microsoft.com/office/drawing/2014/main" id="{ACF51BEF-6D61-F37C-F418-3EC6166AA68C}"/>
                          </a:ext>
                        </a:extLst>
                      </p:cNvPr>
                      <p:cNvPicPr/>
                      <p:nvPr/>
                    </p:nvPicPr>
                    <p:blipFill>
                      <a:blip r:embed="rId4"/>
                      <a:stretch>
                        <a:fillRect/>
                      </a:stretch>
                    </p:blipFill>
                    <p:spPr>
                      <a:xfrm>
                        <a:off x="2629677" y="2590800"/>
                        <a:ext cx="3884646" cy="1084901"/>
                      </a:xfrm>
                      <a:prstGeom prst="rect">
                        <a:avLst/>
                      </a:prstGeom>
                    </p:spPr>
                  </p:pic>
                </p:oleObj>
              </mc:Fallback>
            </mc:AlternateContent>
          </a:graphicData>
        </a:graphic>
      </p:graphicFrame>
    </p:spTree>
    <p:extLst>
      <p:ext uri="{BB962C8B-B14F-4D97-AF65-F5344CB8AC3E}">
        <p14:creationId xmlns:p14="http://schemas.microsoft.com/office/powerpoint/2010/main" val="151538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Return on Equity</a:t>
            </a:r>
            <a:endParaRPr lang="en-US" dirty="0"/>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AA658814-EC46-EA57-CEB4-9A48AA21EB50}"/>
                  </a:ext>
                </a:extLst>
              </p:cNvPr>
              <p:cNvSpPr txBox="1"/>
              <p:nvPr/>
            </p:nvSpPr>
            <p:spPr>
              <a:xfrm>
                <a:off x="590550" y="2532063"/>
                <a:ext cx="7962900" cy="1185862"/>
              </a:xfrm>
              <a:prstGeom prst="rect">
                <a:avLst/>
              </a:prstGeom>
            </p:spPr>
            <p:txBody>
              <a:bodyPr>
                <a:normAutofit fontScale="92500"/>
              </a:bodyPr>
              <a:lstStyle/>
              <a:p>
                <a:pPr/>
                <a14:m>
                  <m:oMathPara xmlns:m="http://schemas.openxmlformats.org/officeDocument/2006/math">
                    <m:oMathParaPr>
                      <m:jc m:val="center"/>
                    </m:oMathParaPr>
                    <m:oMath xmlns:m="http://schemas.openxmlformats.org/officeDocument/2006/math">
                      <m:f>
                        <m:fPr>
                          <m:ctrlPr>
                            <a:rPr lang="en-CA" sz="3600" b="1" i="1" smtClean="0">
                              <a:solidFill>
                                <a:srgbClr val="000000"/>
                              </a:solidFill>
                              <a:latin typeface="Cambria Math" panose="02040503050406030204" pitchFamily="18" charset="0"/>
                            </a:rPr>
                          </m:ctrlPr>
                        </m:fPr>
                        <m:num>
                          <m:r>
                            <a:rPr lang="en-CA" sz="3600" b="1" i="0">
                              <a:solidFill>
                                <a:srgbClr val="000000"/>
                              </a:solidFill>
                              <a:latin typeface="Cambria Math" panose="02040503050406030204" pitchFamily="18" charset="0"/>
                            </a:rPr>
                            <m:t>𝐍𝐞𝐭</m:t>
                          </m:r>
                          <m:r>
                            <a:rPr lang="en-CA" sz="3600" b="1" i="0">
                              <a:solidFill>
                                <a:srgbClr val="000000"/>
                              </a:solidFill>
                              <a:latin typeface="Cambria Math" panose="02040503050406030204" pitchFamily="18" charset="0"/>
                            </a:rPr>
                            <m:t> </m:t>
                          </m:r>
                          <m:r>
                            <a:rPr lang="en-CA" sz="3600" b="1" i="0">
                              <a:solidFill>
                                <a:srgbClr val="000000"/>
                              </a:solidFill>
                              <a:latin typeface="Cambria Math" panose="02040503050406030204" pitchFamily="18" charset="0"/>
                            </a:rPr>
                            <m:t>𝐢𝐧𝐜𝐨𝐦𝐞</m:t>
                          </m:r>
                          <m:r>
                            <a:rPr lang="en-CA" sz="3600" b="1" i="0">
                              <a:solidFill>
                                <a:srgbClr val="000000"/>
                              </a:solidFill>
                              <a:latin typeface="Cambria Math" panose="02040503050406030204" pitchFamily="18" charset="0"/>
                            </a:rPr>
                            <m:t> ― </m:t>
                          </m:r>
                          <m:r>
                            <a:rPr lang="en-CA" sz="3600" b="1" i="0">
                              <a:solidFill>
                                <a:srgbClr val="000000"/>
                              </a:solidFill>
                              <a:latin typeface="Cambria Math" panose="02040503050406030204" pitchFamily="18" charset="0"/>
                            </a:rPr>
                            <m:t>𝐏𝐫𝐞𝐟𝐞𝐫𝐫𝐞𝐝</m:t>
                          </m:r>
                          <m:r>
                            <a:rPr lang="en-CA" sz="3600" b="1" i="0">
                              <a:solidFill>
                                <a:srgbClr val="000000"/>
                              </a:solidFill>
                              <a:latin typeface="Cambria Math" panose="02040503050406030204" pitchFamily="18" charset="0"/>
                            </a:rPr>
                            <m:t> </m:t>
                          </m:r>
                          <m:r>
                            <a:rPr lang="en-CA" sz="3600" b="1" i="0">
                              <a:solidFill>
                                <a:srgbClr val="000000"/>
                              </a:solidFill>
                              <a:latin typeface="Cambria Math" panose="02040503050406030204" pitchFamily="18" charset="0"/>
                            </a:rPr>
                            <m:t>𝐝𝐢𝐯𝐢𝐝𝐞𝐧𝐝𝐬</m:t>
                          </m:r>
                        </m:num>
                        <m:den>
                          <m:r>
                            <a:rPr lang="en-CA" sz="3600" b="1" i="0">
                              <a:solidFill>
                                <a:srgbClr val="000000"/>
                              </a:solidFill>
                              <a:latin typeface="Cambria Math" panose="02040503050406030204" pitchFamily="18" charset="0"/>
                            </a:rPr>
                            <m:t>𝐀𝐯𝐞𝐫𝐚𝐠𝐞</m:t>
                          </m:r>
                          <m:r>
                            <a:rPr lang="en-CA" sz="3600" b="1" i="0">
                              <a:solidFill>
                                <a:srgbClr val="000000"/>
                              </a:solidFill>
                              <a:latin typeface="Cambria Math" panose="02040503050406030204" pitchFamily="18" charset="0"/>
                            </a:rPr>
                            <m:t> </m:t>
                          </m:r>
                          <m:r>
                            <a:rPr lang="en-CA" sz="3600" b="1" i="0">
                              <a:solidFill>
                                <a:srgbClr val="000000"/>
                              </a:solidFill>
                              <a:latin typeface="Cambria Math" panose="02040503050406030204" pitchFamily="18" charset="0"/>
                            </a:rPr>
                            <m:t>𝐜𝐨𝐦𝐦𝐨𝐧</m:t>
                          </m:r>
                          <m:r>
                            <a:rPr lang="en-CA" sz="3600" b="1" i="0">
                              <a:solidFill>
                                <a:srgbClr val="000000"/>
                              </a:solidFill>
                              <a:latin typeface="Cambria Math" panose="02040503050406030204" pitchFamily="18" charset="0"/>
                            </a:rPr>
                            <m:t> </m:t>
                          </m:r>
                          <m:r>
                            <a:rPr lang="en-CA" sz="3600" b="1" i="0">
                              <a:solidFill>
                                <a:srgbClr val="000000"/>
                              </a:solidFill>
                              <a:latin typeface="Cambria Math" panose="02040503050406030204" pitchFamily="18" charset="0"/>
                            </a:rPr>
                            <m:t>𝐬𝐡𝐚𝐫𝐞𝐡𝐨𝐥𝐝𝐞𝐫𝐬</m:t>
                          </m:r>
                          <m:r>
                            <a:rPr lang="en-US" sz="3600" b="1" i="0" smtClean="0">
                              <a:solidFill>
                                <a:srgbClr val="000000"/>
                              </a:solidFill>
                              <a:latin typeface="Cambria Math" panose="02040503050406030204" pitchFamily="18" charset="0"/>
                            </a:rPr>
                            <m:t> </m:t>
                          </m:r>
                          <m:r>
                            <a:rPr lang="en-CA" sz="3600" b="1" i="0">
                              <a:solidFill>
                                <a:srgbClr val="000000"/>
                              </a:solidFill>
                              <a:latin typeface="Cambria Math" panose="02040503050406030204" pitchFamily="18" charset="0"/>
                            </a:rPr>
                            <m:t>𝐞𝐪𝐮𝐢𝐭𝐲</m:t>
                          </m:r>
                        </m:den>
                      </m:f>
                    </m:oMath>
                  </m:oMathPara>
                </a14:m>
                <a:endParaRPr lang="en-CA" sz="3600" b="1" dirty="0">
                  <a:latin typeface="Arial" panose="020B0604020202020204" pitchFamily="34" charset="0"/>
                  <a:cs typeface="Arial" panose="020B0604020202020204" pitchFamily="34" charset="0"/>
                </a:endParaRPr>
              </a:p>
            </p:txBody>
          </p:sp>
        </mc:Choice>
        <mc:Fallback xmlns="">
          <p:sp>
            <p:nvSpPr>
              <p:cNvPr id="4" name="Object 3">
                <a:extLst>
                  <a:ext uri="{FF2B5EF4-FFF2-40B4-BE49-F238E27FC236}">
                    <a16:creationId xmlns:a16="http://schemas.microsoft.com/office/drawing/2014/main" id="{AA658814-EC46-EA57-CEB4-9A48AA21EB50}"/>
                  </a:ext>
                </a:extLst>
              </p:cNvPr>
              <p:cNvSpPr txBox="1">
                <a:spLocks noRot="1" noChangeAspect="1" noMove="1" noResize="1" noEditPoints="1" noAdjustHandles="1" noChangeArrowheads="1" noChangeShapeType="1" noTextEdit="1"/>
              </p:cNvSpPr>
              <p:nvPr/>
            </p:nvSpPr>
            <p:spPr>
              <a:xfrm>
                <a:off x="590550" y="2532063"/>
                <a:ext cx="7962900" cy="1185862"/>
              </a:xfrm>
              <a:prstGeom prst="rect">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74533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Six</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Report </a:t>
            </a:r>
            <a:r>
              <a:rPr lang="en-US" altLang="en-US" dirty="0">
                <a:ea typeface="ＭＳ Ｐゴシック" pitchFamily="34" charset="-128"/>
              </a:rPr>
              <a:t>equity transactions and events in the financial statements</a:t>
            </a:r>
            <a:endParaRPr lang="en-US" dirty="0"/>
          </a:p>
        </p:txBody>
      </p:sp>
    </p:spTree>
    <p:extLst>
      <p:ext uri="{BB962C8B-B14F-4D97-AF65-F5344CB8AC3E}">
        <p14:creationId xmlns:p14="http://schemas.microsoft.com/office/powerpoint/2010/main" val="1400564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Statement of Changes in Shareholders’ Equity</a:t>
            </a:r>
            <a:endParaRPr lang="en-US" sz="2000" dirty="0">
              <a:solidFill>
                <a:schemeClr val="tx1"/>
              </a:solidFill>
            </a:endParaRPr>
          </a:p>
        </p:txBody>
      </p:sp>
      <p:sp>
        <p:nvSpPr>
          <p:cNvPr id="3" name="Content Placeholder 2"/>
          <p:cNvSpPr>
            <a:spLocks noGrp="1"/>
          </p:cNvSpPr>
          <p:nvPr>
            <p:ph idx="1"/>
          </p:nvPr>
        </p:nvSpPr>
        <p:spPr>
          <a:xfrm>
            <a:off x="358140" y="1440181"/>
            <a:ext cx="8420100" cy="693419"/>
          </a:xfrm>
          <a:ln w="12700">
            <a:solidFill>
              <a:schemeClr val="tx1"/>
            </a:solidFill>
          </a:ln>
        </p:spPr>
        <p:txBody>
          <a:bodyPr>
            <a:normAutofit lnSpcReduction="10000"/>
          </a:bodyPr>
          <a:lstStyle/>
          <a:p>
            <a:pPr marL="0" indent="0" algn="ctr">
              <a:buNone/>
            </a:pPr>
            <a:r>
              <a:rPr lang="en-US" sz="1400" b="1" dirty="0"/>
              <a:t>National Hardware Ltd.</a:t>
            </a:r>
            <a:br>
              <a:rPr lang="en-US" sz="1400" dirty="0"/>
            </a:br>
            <a:r>
              <a:rPr lang="en-US" sz="1400" dirty="0"/>
              <a:t>Consolidated Statement of Changes in Shareholders’ Equity </a:t>
            </a:r>
            <a:br>
              <a:rPr lang="en-US" sz="1400" dirty="0"/>
            </a:br>
            <a:r>
              <a:rPr lang="en-US" sz="1400" dirty="0"/>
              <a:t>For the Year Ended December 31, 2022</a:t>
            </a:r>
            <a:endParaRPr lang="en-US" sz="1800" dirty="0"/>
          </a:p>
        </p:txBody>
      </p:sp>
      <p:graphicFrame>
        <p:nvGraphicFramePr>
          <p:cNvPr id="5" name="Table 4"/>
          <p:cNvGraphicFramePr>
            <a:graphicFrameLocks noGrp="1"/>
          </p:cNvGraphicFramePr>
          <p:nvPr/>
        </p:nvGraphicFramePr>
        <p:xfrm>
          <a:off x="362744" y="2133600"/>
          <a:ext cx="8418513" cy="4620582"/>
        </p:xfrm>
        <a:graphic>
          <a:graphicData uri="http://schemas.openxmlformats.org/drawingml/2006/table">
            <a:tbl>
              <a:tblPr firstRow="1" bandRow="1">
                <a:tableStyleId>{2D5ABB26-0587-4C30-8999-92F81FD0307C}</a:tableStyleId>
              </a:tblPr>
              <a:tblGrid>
                <a:gridCol w="3066256">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838200">
                  <a:extLst>
                    <a:ext uri="{9D8B030D-6E8A-4147-A177-3AD203B41FA5}">
                      <a16:colId xmlns:a16="http://schemas.microsoft.com/office/drawing/2014/main" val="2126950319"/>
                    </a:ext>
                  </a:extLst>
                </a:gridCol>
                <a:gridCol w="1066800">
                  <a:extLst>
                    <a:ext uri="{9D8B030D-6E8A-4147-A177-3AD203B41FA5}">
                      <a16:colId xmlns:a16="http://schemas.microsoft.com/office/drawing/2014/main" val="20004"/>
                    </a:ext>
                  </a:extLst>
                </a:gridCol>
                <a:gridCol w="780257">
                  <a:extLst>
                    <a:ext uri="{9D8B030D-6E8A-4147-A177-3AD203B41FA5}">
                      <a16:colId xmlns:a16="http://schemas.microsoft.com/office/drawing/2014/main" val="20005"/>
                    </a:ext>
                  </a:extLst>
                </a:gridCol>
              </a:tblGrid>
              <a:tr h="700088">
                <a:tc>
                  <a:txBody>
                    <a:bodyPr/>
                    <a:lstStyle/>
                    <a:p>
                      <a:pPr algn="ctr"/>
                      <a:r>
                        <a:rPr lang="en-US" sz="1200" b="1" i="1" u="none" strike="noStrike" kern="1200" baseline="0" dirty="0">
                          <a:solidFill>
                            <a:schemeClr val="tx1"/>
                          </a:solidFill>
                          <a:latin typeface="+mn-lt"/>
                          <a:ea typeface="+mn-ea"/>
                          <a:cs typeface="+mn-cs"/>
                        </a:rPr>
                        <a:t>(in millions)</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kern="1200" baseline="0" dirty="0">
                          <a:solidFill>
                            <a:schemeClr val="tx1"/>
                          </a:solidFill>
                          <a:latin typeface="+mn-lt"/>
                          <a:ea typeface="+mn-ea"/>
                          <a:cs typeface="+mn-cs"/>
                        </a:rPr>
                        <a:t>Share</a:t>
                      </a:r>
                    </a:p>
                    <a:p>
                      <a:pPr algn="ctr"/>
                      <a:r>
                        <a:rPr lang="en-US" sz="1200" b="1" i="0" u="none" strike="noStrike" kern="1200" baseline="0" dirty="0">
                          <a:solidFill>
                            <a:schemeClr val="tx1"/>
                          </a:solidFill>
                          <a:latin typeface="+mn-lt"/>
                          <a:ea typeface="+mn-ea"/>
                          <a:cs typeface="+mn-cs"/>
                        </a:rPr>
                        <a:t>Capital</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kern="1200" baseline="0" dirty="0" err="1">
                          <a:solidFill>
                            <a:schemeClr val="tx1"/>
                          </a:solidFill>
                          <a:latin typeface="+mn-lt"/>
                          <a:ea typeface="+mn-ea"/>
                          <a:cs typeface="+mn-cs"/>
                        </a:rPr>
                        <a:t>Contri-buted</a:t>
                      </a:r>
                      <a:endParaRPr lang="en-US" sz="1200" b="1" i="0" u="none" strike="noStrike" kern="1200" baseline="0" dirty="0">
                        <a:solidFill>
                          <a:schemeClr val="tx1"/>
                        </a:solidFill>
                        <a:latin typeface="+mn-lt"/>
                        <a:ea typeface="+mn-ea"/>
                        <a:cs typeface="+mn-cs"/>
                      </a:endParaRPr>
                    </a:p>
                    <a:p>
                      <a:pPr algn="ctr"/>
                      <a:r>
                        <a:rPr lang="en-US" sz="1200" b="1" i="0" u="none" strike="noStrike" kern="1200" baseline="0" dirty="0">
                          <a:solidFill>
                            <a:schemeClr val="tx1"/>
                          </a:solidFill>
                          <a:latin typeface="+mn-lt"/>
                          <a:ea typeface="+mn-ea"/>
                          <a:cs typeface="+mn-cs"/>
                        </a:rPr>
                        <a:t>Surplus</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kern="1200" baseline="0" dirty="0">
                          <a:solidFill>
                            <a:schemeClr val="tx1"/>
                          </a:solidFill>
                          <a:latin typeface="+mn-lt"/>
                          <a:ea typeface="+mn-ea"/>
                          <a:cs typeface="+mn-cs"/>
                        </a:rPr>
                        <a:t>Accumulated</a:t>
                      </a:r>
                    </a:p>
                    <a:p>
                      <a:pPr algn="ctr"/>
                      <a:r>
                        <a:rPr lang="en-US" sz="1200" b="1" i="0" u="none" strike="noStrike" kern="1200" baseline="0" dirty="0" err="1">
                          <a:solidFill>
                            <a:schemeClr val="tx1"/>
                          </a:solidFill>
                          <a:latin typeface="+mn-lt"/>
                          <a:ea typeface="+mn-ea"/>
                          <a:cs typeface="+mn-cs"/>
                        </a:rPr>
                        <a:t>Compre-hensive</a:t>
                      </a:r>
                      <a:endParaRPr lang="en-US" sz="1200" b="1" i="0" u="none" strike="noStrike" kern="1200" baseline="0" dirty="0">
                        <a:solidFill>
                          <a:schemeClr val="tx1"/>
                        </a:solidFill>
                        <a:latin typeface="+mn-lt"/>
                        <a:ea typeface="+mn-ea"/>
                        <a:cs typeface="+mn-cs"/>
                      </a:endParaRPr>
                    </a:p>
                    <a:p>
                      <a:pPr algn="ctr"/>
                      <a:r>
                        <a:rPr lang="en-US" sz="1200" b="1" i="0" u="none" strike="noStrike" kern="1200" baseline="0" dirty="0">
                          <a:solidFill>
                            <a:schemeClr val="tx1"/>
                          </a:solidFill>
                          <a:latin typeface="+mn-lt"/>
                          <a:ea typeface="+mn-ea"/>
                          <a:cs typeface="+mn-cs"/>
                        </a:rPr>
                        <a:t>Income</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Retained Earnings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i="0" u="none" strike="noStrike" kern="1200" baseline="0" dirty="0">
                        <a:solidFill>
                          <a:schemeClr val="tx1"/>
                        </a:solidFill>
                        <a:latin typeface="+mn-lt"/>
                        <a:ea typeface="+mn-ea"/>
                        <a:cs typeface="+mn-cs"/>
                      </a:endParaRPr>
                    </a:p>
                    <a:p>
                      <a:pPr algn="ctr"/>
                      <a:r>
                        <a:rPr lang="en-US" sz="1200" b="1" i="0" u="none" strike="noStrike" kern="1200" baseline="0" dirty="0">
                          <a:solidFill>
                            <a:schemeClr val="tx1"/>
                          </a:solidFill>
                          <a:latin typeface="+mn-lt"/>
                          <a:ea typeface="+mn-ea"/>
                          <a:cs typeface="+mn-cs"/>
                        </a:rPr>
                        <a:t>Non-Controlling Interests</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kern="1200" baseline="0" dirty="0">
                          <a:solidFill>
                            <a:schemeClr val="tx1"/>
                          </a:solidFill>
                          <a:latin typeface="+mn-lt"/>
                          <a:ea typeface="+mn-ea"/>
                          <a:cs typeface="+mn-cs"/>
                        </a:rPr>
                        <a:t>Total</a:t>
                      </a:r>
                      <a:endParaRPr lang="en-US" sz="1200"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0038">
                <a:tc>
                  <a:txBody>
                    <a:bodyPr/>
                    <a:lstStyle/>
                    <a:p>
                      <a:r>
                        <a:rPr lang="en-US" sz="1200" b="1" i="0" u="none" strike="noStrike" kern="1200" baseline="0" dirty="0">
                          <a:solidFill>
                            <a:schemeClr val="tx1"/>
                          </a:solidFill>
                          <a:latin typeface="+mn-lt"/>
                          <a:ea typeface="+mn-ea"/>
                          <a:cs typeface="+mn-cs"/>
                        </a:rPr>
                        <a:t>Balance as per December 31, 2021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$ 587.0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$ 47.4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$ 4,526.7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$ 286.4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$5,449.9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0038">
                <a:tc>
                  <a:txBody>
                    <a:bodyPr/>
                    <a:lstStyle/>
                    <a:p>
                      <a:r>
                        <a:rPr lang="en-US" sz="1200" b="0" i="0" u="none" strike="noStrike" kern="1200" baseline="0" dirty="0">
                          <a:solidFill>
                            <a:schemeClr val="tx1"/>
                          </a:solidFill>
                          <a:latin typeface="+mn-lt"/>
                          <a:ea typeface="+mn-ea"/>
                          <a:cs typeface="+mn-cs"/>
                        </a:rPr>
                        <a:t>Net income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639.3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639.3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0038">
                <a:tc>
                  <a:txBody>
                    <a:bodyPr/>
                    <a:lstStyle/>
                    <a:p>
                      <a:r>
                        <a:rPr lang="en-US" sz="1200" b="0" i="0" u="none" strike="noStrike" kern="1200" baseline="0" dirty="0">
                          <a:solidFill>
                            <a:schemeClr val="tx1"/>
                          </a:solidFill>
                          <a:latin typeface="+mn-lt"/>
                          <a:ea typeface="+mn-ea"/>
                          <a:cs typeface="+mn-cs"/>
                        </a:rPr>
                        <a:t>Other comprehensive income (loss)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34.6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a:t>(13.1)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21.5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0038">
                <a:tc>
                  <a:txBody>
                    <a:bodyPr/>
                    <a:lstStyle/>
                    <a:p>
                      <a:r>
                        <a:rPr lang="en-US" sz="1200" b="0" i="0" u="none" strike="noStrike" kern="1200" baseline="0" dirty="0">
                          <a:solidFill>
                            <a:schemeClr val="tx1"/>
                          </a:solidFill>
                          <a:latin typeface="+mn-lt"/>
                          <a:ea typeface="+mn-ea"/>
                          <a:cs typeface="+mn-cs"/>
                        </a:rPr>
                        <a:t>Issuance of Class A non-voting shares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6.9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6.9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0038">
                <a:tc>
                  <a:txBody>
                    <a:bodyPr/>
                    <a:lstStyle/>
                    <a:p>
                      <a:r>
                        <a:rPr lang="en-US" sz="1200" b="0" i="0" u="none" strike="noStrike" kern="1200" baseline="0" dirty="0">
                          <a:solidFill>
                            <a:schemeClr val="tx1"/>
                          </a:solidFill>
                          <a:latin typeface="+mn-lt"/>
                          <a:ea typeface="+mn-ea"/>
                          <a:cs typeface="+mn-cs"/>
                        </a:rPr>
                        <a:t>Repurchase of Class A non-voting shares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(322.2)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(322.2)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0038">
                <a:tc>
                  <a:txBody>
                    <a:bodyPr/>
                    <a:lstStyle/>
                    <a:p>
                      <a:r>
                        <a:rPr lang="en-US" sz="1200" b="0" i="0" u="none" strike="noStrike" kern="1200" baseline="0" dirty="0">
                          <a:solidFill>
                            <a:schemeClr val="tx1"/>
                          </a:solidFill>
                          <a:latin typeface="+mn-lt"/>
                          <a:ea typeface="+mn-ea"/>
                          <a:cs typeface="+mn-cs"/>
                        </a:rPr>
                        <a:t>Excess of repurchase price over avg cost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423.8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(423.8)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0.0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0038">
                <a:tc>
                  <a:txBody>
                    <a:bodyPr/>
                    <a:lstStyle/>
                    <a:p>
                      <a:r>
                        <a:rPr lang="en-US" sz="1200" b="0" i="0" u="none" strike="noStrike" kern="1200" baseline="0" dirty="0">
                          <a:solidFill>
                            <a:schemeClr val="tx1"/>
                          </a:solidFill>
                          <a:latin typeface="+mn-lt"/>
                          <a:ea typeface="+mn-ea"/>
                          <a:cs typeface="+mn-cs"/>
                        </a:rPr>
                        <a:t>Dividends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(154.0)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(154.0)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0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Issuance of redeemable financial </a:t>
                      </a:r>
                      <a:r>
                        <a:rPr lang="en-US" sz="1200" b="0" i="0" u="none" strike="noStrike" kern="1200" baseline="0" dirty="0" err="1">
                          <a:solidFill>
                            <a:schemeClr val="tx1"/>
                          </a:solidFill>
                          <a:latin typeface="+mn-lt"/>
                          <a:ea typeface="+mn-ea"/>
                          <a:cs typeface="+mn-cs"/>
                        </a:rPr>
                        <a:t>instrumts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2050308"/>
                  </a:ext>
                </a:extLst>
              </a:tr>
              <a:tr h="300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Contributed surplus, sale of property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220880"/>
                  </a:ext>
                </a:extLst>
              </a:tr>
              <a:tr h="300038">
                <a:tc>
                  <a:txBody>
                    <a:bodyPr/>
                    <a:lstStyle/>
                    <a:p>
                      <a:r>
                        <a:rPr lang="en-US" sz="1200" dirty="0"/>
                        <a:t>Changes in non-controlling interests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sz="1200" dirty="0"/>
                        <a:t>488.9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r>
                        <a:rPr lang="en-US" sz="1200" dirty="0"/>
                        <a:t>488.9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47632">
                <a:tc>
                  <a:txBody>
                    <a:bodyPr/>
                    <a:lstStyle/>
                    <a:p>
                      <a:r>
                        <a:rPr lang="en-US" sz="1200" b="1" i="0" u="none" strike="noStrike" kern="1200" baseline="0" dirty="0">
                          <a:solidFill>
                            <a:schemeClr val="tx1"/>
                          </a:solidFill>
                          <a:latin typeface="+mn-lt"/>
                          <a:ea typeface="+mn-ea"/>
                          <a:cs typeface="+mn-cs"/>
                        </a:rPr>
                        <a:t>Balance as at December 31, 2022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$695.5</a:t>
                      </a:r>
                      <a:endParaRPr lang="en-US" sz="1200" u="none"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$ 2.9</a:t>
                      </a:r>
                      <a:endParaRPr lang="en-US" sz="1200" u="none"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$ 82.0</a:t>
                      </a:r>
                      <a:endParaRPr lang="en-US" sz="1200" u="none"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1200" u="none" baseline="0" dirty="0"/>
                        <a:t>$ 4,075.1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$ 775.3</a:t>
                      </a:r>
                      <a:endParaRPr lang="en-US" sz="1200" u="none"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1200" b="0" i="0" u="none" strike="noStrike" kern="1200" baseline="0" dirty="0">
                          <a:solidFill>
                            <a:schemeClr val="tx1"/>
                          </a:solidFill>
                          <a:latin typeface="+mn-lt"/>
                          <a:ea typeface="+mn-ea"/>
                          <a:cs typeface="+mn-cs"/>
                        </a:rPr>
                        <a:t>$5,630.8</a:t>
                      </a:r>
                      <a:endParaRPr lang="en-US" sz="1200" u="none"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2097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Shareholders’ Equity on the Balance Sheet</a:t>
            </a:r>
            <a:endParaRPr lang="en-US" dirty="0"/>
          </a:p>
        </p:txBody>
      </p:sp>
      <p:pic>
        <p:nvPicPr>
          <p:cNvPr id="5" name="Picture 4" descr="Reporting shareholders' equity in general textbook format and common real world format.">
            <a:extLst>
              <a:ext uri="{FF2B5EF4-FFF2-40B4-BE49-F238E27FC236}">
                <a16:creationId xmlns:a16="http://schemas.microsoft.com/office/drawing/2014/main" id="{67DE4E79-4B4B-A533-CFCF-0E35E130E000}"/>
              </a:ext>
            </a:extLst>
          </p:cNvPr>
          <p:cNvPicPr>
            <a:picLocks noChangeAspect="1"/>
          </p:cNvPicPr>
          <p:nvPr/>
        </p:nvPicPr>
        <p:blipFill rotWithShape="1">
          <a:blip r:embed="rId3">
            <a:extLst>
              <a:ext uri="{28A0092B-C50C-407E-A947-70E740481C1C}">
                <a14:useLocalDpi xmlns:a14="http://schemas.microsoft.com/office/drawing/2010/main" val="0"/>
              </a:ext>
            </a:extLst>
          </a:blip>
          <a:srcRect t="6975"/>
          <a:stretch/>
        </p:blipFill>
        <p:spPr>
          <a:xfrm>
            <a:off x="921287" y="1600200"/>
            <a:ext cx="7301425" cy="4587638"/>
          </a:xfrm>
          <a:prstGeom prst="rect">
            <a:avLst/>
          </a:prstGeom>
        </p:spPr>
      </p:pic>
    </p:spTree>
    <p:extLst>
      <p:ext uri="{BB962C8B-B14F-4D97-AF65-F5344CB8AC3E}">
        <p14:creationId xmlns:p14="http://schemas.microsoft.com/office/powerpoint/2010/main" val="315881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232428"/>
          </a:xfrm>
        </p:spPr>
        <p:txBody>
          <a:bodyPr/>
          <a:lstStyle/>
          <a:p>
            <a:r>
              <a:rPr lang="en-US" altLang="en-US" sz="2800" dirty="0">
                <a:ea typeface="ＭＳ Ｐゴシック" pitchFamily="34" charset="-128"/>
              </a:rPr>
              <a:t>Shareholders’ Equity on the Balance Sheet, Statement of Changes in Owners’ Equity, or the Notes</a:t>
            </a:r>
            <a:endParaRPr lang="en-US" sz="2800" dirty="0"/>
          </a:p>
        </p:txBody>
      </p:sp>
      <p:sp>
        <p:nvSpPr>
          <p:cNvPr id="3" name="Content Placeholder 2"/>
          <p:cNvSpPr>
            <a:spLocks noGrp="1"/>
          </p:cNvSpPr>
          <p:nvPr>
            <p:ph idx="1"/>
          </p:nvPr>
        </p:nvSpPr>
        <p:spPr>
          <a:xfrm>
            <a:off x="457200" y="1676400"/>
            <a:ext cx="8229600" cy="4449763"/>
          </a:xfrm>
        </p:spPr>
        <p:txBody>
          <a:bodyPr/>
          <a:lstStyle/>
          <a:p>
            <a:pPr marL="0" indent="0">
              <a:buNone/>
            </a:pPr>
            <a:r>
              <a:rPr lang="en-US" dirty="0">
                <a:cs typeface="Arial" charset="0"/>
              </a:rPr>
              <a:t>Required Equity Information:</a:t>
            </a:r>
            <a:endParaRPr lang="en-US" dirty="0"/>
          </a:p>
          <a:p>
            <a:r>
              <a:rPr lang="en-US" altLang="en-US" dirty="0"/>
              <a:t>Number of authorized, issued, and outstanding shares, and changes during the year; their par value, if any; dividend rights and preferences; and other restrictions and features</a:t>
            </a:r>
          </a:p>
          <a:p>
            <a:r>
              <a:rPr lang="en-US" altLang="en-US" dirty="0"/>
              <a:t>Contributed surplus</a:t>
            </a:r>
          </a:p>
          <a:p>
            <a:r>
              <a:rPr lang="en-US" altLang="en-US" dirty="0"/>
              <a:t>Accumulated other comprehensive income (IFRS only)</a:t>
            </a:r>
          </a:p>
          <a:p>
            <a:r>
              <a:rPr lang="en-US" altLang="en-US" dirty="0"/>
              <a:t>Retained earnings</a:t>
            </a:r>
            <a:endParaRPr lang="en-US" dirty="0"/>
          </a:p>
        </p:txBody>
      </p:sp>
    </p:spTree>
    <p:extLst>
      <p:ext uri="{BB962C8B-B14F-4D97-AF65-F5344CB8AC3E}">
        <p14:creationId xmlns:p14="http://schemas.microsoft.com/office/powerpoint/2010/main" val="240767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B8DF-C70D-741C-E306-CE534659B025}"/>
              </a:ext>
            </a:extLst>
          </p:cNvPr>
          <p:cNvSpPr>
            <a:spLocks noGrp="1"/>
          </p:cNvSpPr>
          <p:nvPr>
            <p:ph type="title"/>
          </p:nvPr>
        </p:nvSpPr>
        <p:spPr/>
        <p:txBody>
          <a:bodyPr/>
          <a:lstStyle/>
          <a:p>
            <a:r>
              <a:rPr lang="en-US" dirty="0"/>
              <a:t>E8-23</a:t>
            </a:r>
          </a:p>
        </p:txBody>
      </p:sp>
      <p:sp>
        <p:nvSpPr>
          <p:cNvPr id="3" name="Content Placeholder 2">
            <a:extLst>
              <a:ext uri="{FF2B5EF4-FFF2-40B4-BE49-F238E27FC236}">
                <a16:creationId xmlns:a16="http://schemas.microsoft.com/office/drawing/2014/main" id="{96E72E2D-ACE3-9FCC-1159-92E20364E6FA}"/>
              </a:ext>
            </a:extLst>
          </p:cNvPr>
          <p:cNvSpPr>
            <a:spLocks noGrp="1"/>
          </p:cNvSpPr>
          <p:nvPr>
            <p:ph idx="1"/>
          </p:nvPr>
        </p:nvSpPr>
        <p:spPr>
          <a:xfrm>
            <a:off x="194914" y="962893"/>
            <a:ext cx="8949087" cy="5570482"/>
          </a:xfrm>
        </p:spPr>
        <p:txBody>
          <a:bodyPr>
            <a:normAutofit/>
          </a:bodyPr>
          <a:lstStyle/>
          <a:p>
            <a:pPr marL="0" indent="0">
              <a:buNone/>
            </a:pPr>
            <a:r>
              <a:rPr lang="en-CA" sz="2000" dirty="0"/>
              <a:t>At December 31, 2019, </a:t>
            </a:r>
            <a:r>
              <a:rPr lang="en-CA" sz="2000" dirty="0" err="1"/>
              <a:t>Blumenthall</a:t>
            </a:r>
            <a:r>
              <a:rPr lang="en-CA" sz="2000" dirty="0"/>
              <a:t> Corporation reported the shareholders’ equity accounts shown here (as adapted, with dollar amounts in millions):</a:t>
            </a:r>
          </a:p>
          <a:p>
            <a:endParaRPr lang="en-CA" sz="2000" dirty="0"/>
          </a:p>
          <a:p>
            <a:endParaRPr lang="en-CA" sz="2000" dirty="0"/>
          </a:p>
          <a:p>
            <a:pPr marL="0" indent="0">
              <a:buNone/>
            </a:pPr>
            <a:endParaRPr lang="en-CA" sz="2000" dirty="0"/>
          </a:p>
          <a:p>
            <a:pPr marL="0" indent="0">
              <a:buNone/>
            </a:pPr>
            <a:endParaRPr lang="en-CA" sz="2000" dirty="0"/>
          </a:p>
          <a:p>
            <a:pPr marL="0" indent="0">
              <a:buNone/>
            </a:pPr>
            <a:endParaRPr lang="en-CA" sz="2000" dirty="0"/>
          </a:p>
          <a:p>
            <a:pPr marL="0" indent="0">
              <a:lnSpc>
                <a:spcPts val="1040"/>
              </a:lnSpc>
              <a:buNone/>
            </a:pPr>
            <a:r>
              <a:rPr lang="en-CA" sz="2000" dirty="0" err="1"/>
              <a:t>Blumenthall’s</a:t>
            </a:r>
            <a:r>
              <a:rPr lang="en-CA" sz="2000" dirty="0"/>
              <a:t> 2020 transactions included the following:</a:t>
            </a:r>
          </a:p>
          <a:p>
            <a:pPr>
              <a:lnSpc>
                <a:spcPts val="1040"/>
              </a:lnSpc>
              <a:buFont typeface="+mj-lt"/>
              <a:buAutoNum type="arabicPeriod"/>
            </a:pPr>
            <a:r>
              <a:rPr lang="en-CA" sz="2000" dirty="0"/>
              <a:t>Issuance of 6 million common shares for $12.50 per share</a:t>
            </a:r>
          </a:p>
          <a:p>
            <a:pPr>
              <a:lnSpc>
                <a:spcPts val="1040"/>
              </a:lnSpc>
              <a:buFont typeface="+mj-lt"/>
              <a:buAutoNum type="arabicPeriod"/>
            </a:pPr>
            <a:r>
              <a:rPr lang="en-CA" sz="2000" dirty="0"/>
              <a:t>Declared cash dividends of $25 million.</a:t>
            </a:r>
          </a:p>
          <a:p>
            <a:pPr>
              <a:lnSpc>
                <a:spcPts val="1040"/>
              </a:lnSpc>
              <a:buFont typeface="+mj-lt"/>
              <a:buAutoNum type="arabicPeriod"/>
            </a:pPr>
            <a:r>
              <a:rPr lang="en-CA" sz="2000" dirty="0"/>
              <a:t>Paid the dividends declared in (b).</a:t>
            </a:r>
          </a:p>
          <a:p>
            <a:pPr>
              <a:lnSpc>
                <a:spcPts val="1040"/>
              </a:lnSpc>
              <a:buFont typeface="+mj-lt"/>
              <a:buAutoNum type="arabicPeriod"/>
            </a:pPr>
            <a:endParaRPr lang="en-CA" sz="2000" dirty="0"/>
          </a:p>
          <a:p>
            <a:pPr marL="0" indent="0">
              <a:lnSpc>
                <a:spcPts val="1040"/>
              </a:lnSpc>
              <a:buNone/>
            </a:pPr>
            <a:endParaRPr lang="en-CA" sz="2000" dirty="0"/>
          </a:p>
        </p:txBody>
      </p:sp>
      <p:sp>
        <p:nvSpPr>
          <p:cNvPr id="4" name="Slide Number Placeholder 3">
            <a:extLst>
              <a:ext uri="{FF2B5EF4-FFF2-40B4-BE49-F238E27FC236}">
                <a16:creationId xmlns:a16="http://schemas.microsoft.com/office/drawing/2014/main" id="{1EE2AFE4-8A7B-F7E9-055A-5298F4DFBB1C}"/>
              </a:ext>
            </a:extLst>
          </p:cNvPr>
          <p:cNvSpPr>
            <a:spLocks noGrp="1"/>
          </p:cNvSpPr>
          <p:nvPr>
            <p:ph type="sldNum" sz="quarter" idx="11"/>
          </p:nvPr>
        </p:nvSpPr>
        <p:spPr>
          <a:xfrm>
            <a:off x="6439538" y="645574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F39135-229F-F941-8091-03BABA0F1D87}" type="slidenum">
              <a:rPr lang="en-US" smtClean="0"/>
              <a:pPr/>
              <a:t>43</a:t>
            </a:fld>
            <a:endParaRPr lang="en-US" dirty="0"/>
          </a:p>
        </p:txBody>
      </p:sp>
      <p:pic>
        <p:nvPicPr>
          <p:cNvPr id="5" name="Picture 4">
            <a:extLst>
              <a:ext uri="{FF2B5EF4-FFF2-40B4-BE49-F238E27FC236}">
                <a16:creationId xmlns:a16="http://schemas.microsoft.com/office/drawing/2014/main" id="{3D39D179-0BFF-FA86-9A8B-15935148EF83}"/>
              </a:ext>
            </a:extLst>
          </p:cNvPr>
          <p:cNvPicPr>
            <a:picLocks noChangeAspect="1"/>
          </p:cNvPicPr>
          <p:nvPr/>
        </p:nvPicPr>
        <p:blipFill>
          <a:blip r:embed="rId2"/>
          <a:stretch>
            <a:fillRect/>
          </a:stretch>
        </p:blipFill>
        <p:spPr>
          <a:xfrm>
            <a:off x="762475" y="1597572"/>
            <a:ext cx="7734463" cy="2470731"/>
          </a:xfrm>
          <a:prstGeom prst="rect">
            <a:avLst/>
          </a:prstGeom>
        </p:spPr>
      </p:pic>
    </p:spTree>
    <p:extLst>
      <p:ext uri="{BB962C8B-B14F-4D97-AF65-F5344CB8AC3E}">
        <p14:creationId xmlns:p14="http://schemas.microsoft.com/office/powerpoint/2010/main" val="3960663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68548-2C41-F27D-F84D-EFC55350AEAE}"/>
              </a:ext>
            </a:extLst>
          </p:cNvPr>
          <p:cNvSpPr>
            <a:spLocks noGrp="1"/>
          </p:cNvSpPr>
          <p:nvPr>
            <p:ph type="title"/>
          </p:nvPr>
        </p:nvSpPr>
        <p:spPr/>
        <p:txBody>
          <a:bodyPr/>
          <a:lstStyle/>
          <a:p>
            <a:r>
              <a:rPr lang="en-US" dirty="0"/>
              <a:t>E8-23 - Required</a:t>
            </a:r>
          </a:p>
        </p:txBody>
      </p:sp>
      <p:sp>
        <p:nvSpPr>
          <p:cNvPr id="3" name="Content Placeholder 2">
            <a:extLst>
              <a:ext uri="{FF2B5EF4-FFF2-40B4-BE49-F238E27FC236}">
                <a16:creationId xmlns:a16="http://schemas.microsoft.com/office/drawing/2014/main" id="{833F6B2C-0096-112A-4BEA-3975A4DA697A}"/>
              </a:ext>
            </a:extLst>
          </p:cNvPr>
          <p:cNvSpPr>
            <a:spLocks noGrp="1"/>
          </p:cNvSpPr>
          <p:nvPr>
            <p:ph idx="1"/>
          </p:nvPr>
        </p:nvSpPr>
        <p:spPr/>
        <p:txBody>
          <a:bodyPr/>
          <a:lstStyle/>
          <a:p>
            <a:pPr marL="457200" indent="-457200">
              <a:buFont typeface="+mj-lt"/>
              <a:buAutoNum type="arabicPeriod"/>
            </a:pPr>
            <a:r>
              <a:rPr lang="en-CA" sz="2400" dirty="0"/>
              <a:t>Journalize </a:t>
            </a:r>
            <a:r>
              <a:rPr lang="en-CA" sz="2400" dirty="0" err="1"/>
              <a:t>Blumenthall’s</a:t>
            </a:r>
            <a:r>
              <a:rPr lang="en-CA" sz="2400" dirty="0"/>
              <a:t> transactions. Explanations are not  required.</a:t>
            </a:r>
          </a:p>
          <a:p>
            <a:pPr marL="457200" indent="-457200">
              <a:buFont typeface="+mj-lt"/>
              <a:buAutoNum type="arabicPeriod"/>
            </a:pPr>
            <a:r>
              <a:rPr lang="en-CA" dirty="0"/>
              <a:t>Assuming </a:t>
            </a:r>
            <a:r>
              <a:rPr lang="en-CA" dirty="0" err="1"/>
              <a:t>Blumenthall</a:t>
            </a:r>
            <a:r>
              <a:rPr lang="en-CA" dirty="0"/>
              <a:t> earned $350 million in net income in 2020, prepare the Shareholder’s Equity section of the company’s Balance Sheet at December 31, 2020.</a:t>
            </a:r>
            <a:endParaRPr lang="en-CA" sz="2400" dirty="0"/>
          </a:p>
          <a:p>
            <a:endParaRPr lang="en-US" dirty="0"/>
          </a:p>
        </p:txBody>
      </p:sp>
    </p:spTree>
    <p:extLst>
      <p:ext uri="{BB962C8B-B14F-4D97-AF65-F5344CB8AC3E}">
        <p14:creationId xmlns:p14="http://schemas.microsoft.com/office/powerpoint/2010/main" val="70424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B8D4-C510-9D16-C6B1-824E067A30C6}"/>
              </a:ext>
            </a:extLst>
          </p:cNvPr>
          <p:cNvSpPr>
            <a:spLocks noGrp="1"/>
          </p:cNvSpPr>
          <p:nvPr>
            <p:ph type="title"/>
          </p:nvPr>
        </p:nvSpPr>
        <p:spPr/>
        <p:txBody>
          <a:bodyPr/>
          <a:lstStyle/>
          <a:p>
            <a:r>
              <a:rPr lang="en-US" dirty="0"/>
              <a:t>E8-28</a:t>
            </a:r>
          </a:p>
        </p:txBody>
      </p:sp>
      <p:sp>
        <p:nvSpPr>
          <p:cNvPr id="3" name="Content Placeholder 2">
            <a:extLst>
              <a:ext uri="{FF2B5EF4-FFF2-40B4-BE49-F238E27FC236}">
                <a16:creationId xmlns:a16="http://schemas.microsoft.com/office/drawing/2014/main" id="{E0663385-307D-1806-FEFD-6A8D1ABDE47A}"/>
              </a:ext>
            </a:extLst>
          </p:cNvPr>
          <p:cNvSpPr>
            <a:spLocks noGrp="1"/>
          </p:cNvSpPr>
          <p:nvPr>
            <p:ph idx="1"/>
          </p:nvPr>
        </p:nvSpPr>
        <p:spPr/>
        <p:txBody>
          <a:bodyPr numCol="2">
            <a:normAutofit fontScale="85000" lnSpcReduction="10000"/>
          </a:bodyPr>
          <a:lstStyle/>
          <a:p>
            <a:pPr marL="0" indent="0">
              <a:buNone/>
            </a:pPr>
            <a:r>
              <a:rPr lang="en-CA" dirty="0"/>
              <a:t>Identify the effects—both the direction and the dollar amount—of the following assumed transactions on the total shareholders’ equity of a large corporation. Each transaction is independent.</a:t>
            </a:r>
          </a:p>
          <a:p>
            <a:pPr>
              <a:buFont typeface="+mj-lt"/>
              <a:buAutoNum type="arabicPeriod"/>
            </a:pPr>
            <a:r>
              <a:rPr lang="en-CA" dirty="0"/>
              <a:t>Declaration of cash dividends of $80 million</a:t>
            </a:r>
          </a:p>
          <a:p>
            <a:pPr>
              <a:buFont typeface="+mj-lt"/>
              <a:buAutoNum type="arabicPeriod"/>
            </a:pPr>
            <a:r>
              <a:rPr lang="en-CA" dirty="0"/>
              <a:t>Payment of the cash dividend declared</a:t>
            </a:r>
          </a:p>
          <a:p>
            <a:pPr>
              <a:buFont typeface="+mj-lt"/>
              <a:buAutoNum type="arabicPeriod"/>
            </a:pPr>
            <a:r>
              <a:rPr lang="en-CA" dirty="0"/>
              <a:t>10% stock dividend. Before the dividend, 69 million common shares were outstanding; the market price was $7.625 at the time of the dividend.</a:t>
            </a:r>
          </a:p>
          <a:p>
            <a:pPr>
              <a:buFont typeface="+mj-lt"/>
              <a:buAutoNum type="arabicPeriod"/>
            </a:pPr>
            <a:r>
              <a:rPr lang="en-CA" dirty="0"/>
              <a:t>A 50% stock dividend. Before the dividend, 69 million common shares were outstanding; the market price was $13.75 at the time of the dividend.</a:t>
            </a:r>
          </a:p>
          <a:p>
            <a:pPr>
              <a:buFont typeface="+mj-lt"/>
              <a:buAutoNum type="arabicPeriod"/>
            </a:pPr>
            <a:r>
              <a:rPr lang="en-CA" dirty="0"/>
              <a:t>Sale of 600 common shares for $5.00 per share</a:t>
            </a:r>
          </a:p>
          <a:p>
            <a:pPr>
              <a:buFont typeface="+mj-lt"/>
              <a:buAutoNum type="arabicPeriod"/>
            </a:pPr>
            <a:r>
              <a:rPr lang="en-CA" dirty="0"/>
              <a:t>A 3-for-l stock split. Prior to the split, 69 million common shares were outstanding.</a:t>
            </a:r>
          </a:p>
          <a:p>
            <a:endParaRPr lang="en-US" dirty="0"/>
          </a:p>
        </p:txBody>
      </p:sp>
      <p:sp>
        <p:nvSpPr>
          <p:cNvPr id="4" name="Slide Number Placeholder 3">
            <a:extLst>
              <a:ext uri="{FF2B5EF4-FFF2-40B4-BE49-F238E27FC236}">
                <a16:creationId xmlns:a16="http://schemas.microsoft.com/office/drawing/2014/main" id="{F862C693-B5C1-866A-1385-347946024F59}"/>
              </a:ext>
            </a:extLst>
          </p:cNvPr>
          <p:cNvSpPr>
            <a:spLocks noGrp="1"/>
          </p:cNvSpPr>
          <p:nvPr>
            <p:ph type="sldNum" sz="quarter" idx="11"/>
          </p:nvPr>
        </p:nvSpPr>
        <p:spPr>
          <a:xfrm>
            <a:off x="6439538" y="645574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F39135-229F-F941-8091-03BABA0F1D87}" type="slidenum">
              <a:rPr lang="en-US" smtClean="0"/>
              <a:pPr/>
              <a:t>45</a:t>
            </a:fld>
            <a:endParaRPr lang="en-US" dirty="0"/>
          </a:p>
        </p:txBody>
      </p:sp>
    </p:spTree>
    <p:extLst>
      <p:ext uri="{BB962C8B-B14F-4D97-AF65-F5344CB8AC3E}">
        <p14:creationId xmlns:p14="http://schemas.microsoft.com/office/powerpoint/2010/main" val="202652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FE91F-FA66-AA0B-CE50-CD4975AFAC28}"/>
              </a:ext>
            </a:extLst>
          </p:cNvPr>
          <p:cNvSpPr>
            <a:spLocks noGrp="1"/>
          </p:cNvSpPr>
          <p:nvPr>
            <p:ph type="title"/>
          </p:nvPr>
        </p:nvSpPr>
        <p:spPr/>
        <p:txBody>
          <a:bodyPr/>
          <a:lstStyle/>
          <a:p>
            <a:r>
              <a:rPr lang="en-US" dirty="0"/>
              <a:t>E8-32</a:t>
            </a:r>
          </a:p>
        </p:txBody>
      </p:sp>
      <p:sp>
        <p:nvSpPr>
          <p:cNvPr id="3" name="Content Placeholder 2">
            <a:extLst>
              <a:ext uri="{FF2B5EF4-FFF2-40B4-BE49-F238E27FC236}">
                <a16:creationId xmlns:a16="http://schemas.microsoft.com/office/drawing/2014/main" id="{A8B262D4-D5DC-E967-1239-5D3FD74CFED1}"/>
              </a:ext>
            </a:extLst>
          </p:cNvPr>
          <p:cNvSpPr>
            <a:spLocks noGrp="1"/>
          </p:cNvSpPr>
          <p:nvPr>
            <p:ph idx="1"/>
          </p:nvPr>
        </p:nvSpPr>
        <p:spPr>
          <a:xfrm>
            <a:off x="194914" y="1048084"/>
            <a:ext cx="8677297" cy="4595117"/>
          </a:xfrm>
        </p:spPr>
        <p:txBody>
          <a:bodyPr/>
          <a:lstStyle/>
          <a:p>
            <a:r>
              <a:rPr lang="en-CA" dirty="0"/>
              <a:t>Easton Company included the following items in its financial statements for 2020, the current year (amounts in millions):</a:t>
            </a:r>
            <a:endParaRPr lang="en-US" dirty="0"/>
          </a:p>
        </p:txBody>
      </p:sp>
      <p:sp>
        <p:nvSpPr>
          <p:cNvPr id="4" name="Slide Number Placeholder 3">
            <a:extLst>
              <a:ext uri="{FF2B5EF4-FFF2-40B4-BE49-F238E27FC236}">
                <a16:creationId xmlns:a16="http://schemas.microsoft.com/office/drawing/2014/main" id="{6FA54617-604A-4D9D-7E36-53DF42AE9BCC}"/>
              </a:ext>
            </a:extLst>
          </p:cNvPr>
          <p:cNvSpPr>
            <a:spLocks noGrp="1"/>
          </p:cNvSpPr>
          <p:nvPr>
            <p:ph type="sldNum" sz="quarter" idx="11"/>
          </p:nvPr>
        </p:nvSpPr>
        <p:spPr>
          <a:xfrm>
            <a:off x="6439538" y="645574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BF39135-229F-F941-8091-03BABA0F1D87}" type="slidenum">
              <a:rPr lang="en-US" smtClean="0"/>
              <a:pPr/>
              <a:t>46</a:t>
            </a:fld>
            <a:endParaRPr lang="en-US" dirty="0"/>
          </a:p>
        </p:txBody>
      </p:sp>
      <p:pic>
        <p:nvPicPr>
          <p:cNvPr id="5" name="Picture 4">
            <a:extLst>
              <a:ext uri="{FF2B5EF4-FFF2-40B4-BE49-F238E27FC236}">
                <a16:creationId xmlns:a16="http://schemas.microsoft.com/office/drawing/2014/main" id="{0B2DD726-291B-87A4-52A2-ABD1B8DA13C0}"/>
              </a:ext>
            </a:extLst>
          </p:cNvPr>
          <p:cNvPicPr>
            <a:picLocks noChangeAspect="1"/>
          </p:cNvPicPr>
          <p:nvPr/>
        </p:nvPicPr>
        <p:blipFill>
          <a:blip r:embed="rId2"/>
          <a:stretch>
            <a:fillRect/>
          </a:stretch>
        </p:blipFill>
        <p:spPr>
          <a:xfrm>
            <a:off x="0" y="1838931"/>
            <a:ext cx="6295697" cy="5019069"/>
          </a:xfrm>
          <a:prstGeom prst="rect">
            <a:avLst/>
          </a:prstGeom>
        </p:spPr>
      </p:pic>
      <p:sp>
        <p:nvSpPr>
          <p:cNvPr id="6" name="TextBox 5">
            <a:extLst>
              <a:ext uri="{FF2B5EF4-FFF2-40B4-BE49-F238E27FC236}">
                <a16:creationId xmlns:a16="http://schemas.microsoft.com/office/drawing/2014/main" id="{B6657E10-B311-9D0B-C777-C8A8EBA0DA05}"/>
              </a:ext>
            </a:extLst>
          </p:cNvPr>
          <p:cNvSpPr txBox="1"/>
          <p:nvPr/>
        </p:nvSpPr>
        <p:spPr>
          <a:xfrm>
            <a:off x="6295697" y="2286290"/>
            <a:ext cx="2653389" cy="1200329"/>
          </a:xfrm>
          <a:prstGeom prst="rect">
            <a:avLst/>
          </a:prstGeom>
          <a:noFill/>
        </p:spPr>
        <p:txBody>
          <a:bodyPr wrap="square" rtlCol="0">
            <a:spAutoFit/>
          </a:bodyPr>
          <a:lstStyle/>
          <a:p>
            <a:r>
              <a:rPr lang="en-CA" dirty="0"/>
              <a:t>Evaluate Easton’s return on assets and return on equity for 2020.</a:t>
            </a:r>
            <a:endParaRPr lang="en-US" dirty="0"/>
          </a:p>
        </p:txBody>
      </p:sp>
    </p:spTree>
    <p:extLst>
      <p:ext uri="{BB962C8B-B14F-4D97-AF65-F5344CB8AC3E}">
        <p14:creationId xmlns:p14="http://schemas.microsoft.com/office/powerpoint/2010/main" val="1658364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Eight</a:t>
            </a:r>
          </a:p>
        </p:txBody>
      </p:sp>
      <p:sp>
        <p:nvSpPr>
          <p:cNvPr id="2" name="Subtitle 4">
            <a:extLst>
              <a:ext uri="{FF2B5EF4-FFF2-40B4-BE49-F238E27FC236}">
                <a16:creationId xmlns:a16="http://schemas.microsoft.com/office/drawing/2014/main" id="{6EB258BB-ED1C-094F-C6AC-8ABF6A4D118A}"/>
              </a:ext>
            </a:extLst>
          </p:cNvPr>
          <p:cNvSpPr>
            <a:spLocks noGrp="1"/>
          </p:cNvSpPr>
          <p:nvPr>
            <p:ph type="subTitle" idx="1"/>
          </p:nvPr>
        </p:nvSpPr>
        <p:spPr>
          <a:xfrm>
            <a:off x="575082" y="5416751"/>
            <a:ext cx="6519149" cy="249758"/>
          </a:xfrm>
        </p:spPr>
        <p:txBody>
          <a:bodyPr>
            <a:noAutofit/>
          </a:bodyPr>
          <a:lstStyle/>
          <a:p>
            <a:r>
              <a:rPr lang="en-US" sz="1200" dirty="0"/>
              <a:t>Slides adapted from Pearson Canada Inc. 2024</a:t>
            </a:r>
          </a:p>
        </p:txBody>
      </p:sp>
    </p:spTree>
    <p:extLst>
      <p:ext uri="{BB962C8B-B14F-4D97-AF65-F5344CB8AC3E}">
        <p14:creationId xmlns:p14="http://schemas.microsoft.com/office/powerpoint/2010/main" val="4287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A4D800B5-A7C7-4A38-A875-53B18BAC9D5C}">
  <ds:schemaRefs>
    <ds:schemaRef ds:uri="http://purl.org/dc/elements/1.1/"/>
    <ds:schemaRef ds:uri="http://schemas.microsoft.com/office/infopath/2007/PartnerControls"/>
    <ds:schemaRef ds:uri="baf01252-53fa-40dd-aec5-420f8d6c2b25"/>
    <ds:schemaRef ds:uri="http://schemas.microsoft.com/office/2006/documentManagement/types"/>
    <ds:schemaRef ds:uri="http://schemas.openxmlformats.org/package/2006/metadata/core-properties"/>
    <ds:schemaRef ds:uri="http://purl.org/dc/terms/"/>
    <ds:schemaRef ds:uri="http://www.w3.org/XML/1998/namespace"/>
    <ds:schemaRef ds:uri="http://schemas.microsoft.com/office/2006/metadata/properties"/>
    <ds:schemaRef ds:uri="9a5288b5-dab3-4678-90e6-28176b4bed68"/>
    <ds:schemaRef ds:uri="http://purl.org/dc/dcmitype/"/>
  </ds:schemaRefs>
</ds:datastoreItem>
</file>

<file path=customXml/itemProps3.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1883</TotalTime>
  <Words>4956</Words>
  <Application>Microsoft Macintosh PowerPoint</Application>
  <PresentationFormat>On-screen Show (4:3)</PresentationFormat>
  <Paragraphs>469</Paragraphs>
  <Slides>47</Slides>
  <Notes>40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7" baseType="lpstr">
      <vt:lpstr>ＭＳ Ｐゴシック</vt:lpstr>
      <vt:lpstr>Arial</vt:lpstr>
      <vt:lpstr>Calibri</vt:lpstr>
      <vt:lpstr>Cambria Math</vt:lpstr>
      <vt:lpstr>Georgia</vt:lpstr>
      <vt:lpstr>Impact</vt:lpstr>
      <vt:lpstr>Verdana</vt:lpstr>
      <vt:lpstr>Wingdings</vt:lpstr>
      <vt:lpstr>UofWaterloo_WhiteBkgrd</vt:lpstr>
      <vt:lpstr>Equation</vt:lpstr>
      <vt:lpstr>Chapter 8 Shareholder’s Equity</vt:lpstr>
      <vt:lpstr>Learning Objectives</vt:lpstr>
      <vt:lpstr>Learning Objective One</vt:lpstr>
      <vt:lpstr>Characteristics of a Corporation</vt:lpstr>
      <vt:lpstr>Corporate Characteristics</vt:lpstr>
      <vt:lpstr>Authority Structure in a Large Corporation</vt:lpstr>
      <vt:lpstr>Shareholders’ Rights</vt:lpstr>
      <vt:lpstr>Shareholders’ Equity</vt:lpstr>
      <vt:lpstr>Share Capital</vt:lpstr>
      <vt:lpstr>Classes of Shares</vt:lpstr>
      <vt:lpstr>Par Value and Stated Value</vt:lpstr>
      <vt:lpstr>S8-3 Who are the real owners of a corporation?</vt:lpstr>
      <vt:lpstr>S8-3 What privileges do preferred shareholders have over common shareholders?</vt:lpstr>
      <vt:lpstr>S8-3 Which class of shareholders reaps greater benefits from a highly profitable corporation?</vt:lpstr>
      <vt:lpstr>Learning Objective Two</vt:lpstr>
      <vt:lpstr>Issuing Shares For Cash</vt:lpstr>
      <vt:lpstr>Shares Issued for Non-Cash Assets</vt:lpstr>
      <vt:lpstr>Preferred Shares</vt:lpstr>
      <vt:lpstr>Learning Objective Three</vt:lpstr>
      <vt:lpstr>Shares Reacquired by the Company</vt:lpstr>
      <vt:lpstr>Learning Objective Four</vt:lpstr>
      <vt:lpstr>Retained Earnings</vt:lpstr>
      <vt:lpstr>Retained Earnings Balance</vt:lpstr>
      <vt:lpstr>Cash Dividends</vt:lpstr>
      <vt:lpstr>Dividend Dates (1 of 3)</vt:lpstr>
      <vt:lpstr>Dividend Dates (2 of 3)</vt:lpstr>
      <vt:lpstr>Dividend Dates (3 of 3)</vt:lpstr>
      <vt:lpstr>Stock Dividends</vt:lpstr>
      <vt:lpstr>Stock Dividend Dates</vt:lpstr>
      <vt:lpstr>Dividends on Preferred Shares (1 of 2)</vt:lpstr>
      <vt:lpstr>Dividends on Preferred Shares (2 of 2)</vt:lpstr>
      <vt:lpstr>Stock Splits</vt:lpstr>
      <vt:lpstr>Transactions and Their Impacts</vt:lpstr>
      <vt:lpstr>Short Exercise S8-5</vt:lpstr>
      <vt:lpstr>Short Exercise S8-5</vt:lpstr>
      <vt:lpstr>Learning Objective Five</vt:lpstr>
      <vt:lpstr>Return on Assets</vt:lpstr>
      <vt:lpstr>Return on Equity</vt:lpstr>
      <vt:lpstr>Learning Objective Six</vt:lpstr>
      <vt:lpstr>Statement of Changes in Shareholders’ Equity</vt:lpstr>
      <vt:lpstr>Shareholders’ Equity on the Balance Sheet</vt:lpstr>
      <vt:lpstr>Shareholders’ Equity on the Balance Sheet, Statement of Changes in Owners’ Equity, or the Notes</vt:lpstr>
      <vt:lpstr>E8-23</vt:lpstr>
      <vt:lpstr>E8-23 - Required</vt:lpstr>
      <vt:lpstr>E8-28</vt:lpstr>
      <vt:lpstr>E8-32</vt:lpstr>
      <vt:lpstr>End of Chapter Eight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103</cp:revision>
  <cp:lastPrinted>2024-11-01T20:33:48Z</cp:lastPrinted>
  <dcterms:created xsi:type="dcterms:W3CDTF">2020-07-10T19:47:04Z</dcterms:created>
  <dcterms:modified xsi:type="dcterms:W3CDTF">2025-11-04T18:49:14Z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