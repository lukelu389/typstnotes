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62"/>
  </p:notesMasterIdLst>
  <p:sldIdLst>
    <p:sldId id="256" r:id="rId5"/>
    <p:sldId id="257" r:id="rId6"/>
    <p:sldId id="318" r:id="rId7"/>
    <p:sldId id="260" r:id="rId8"/>
    <p:sldId id="261" r:id="rId9"/>
    <p:sldId id="309" r:id="rId10"/>
    <p:sldId id="310" r:id="rId11"/>
    <p:sldId id="311" r:id="rId12"/>
    <p:sldId id="312"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319" r:id="rId29"/>
    <p:sldId id="283" r:id="rId30"/>
    <p:sldId id="284" r:id="rId31"/>
    <p:sldId id="285" r:id="rId32"/>
    <p:sldId id="335" r:id="rId33"/>
    <p:sldId id="339" r:id="rId34"/>
    <p:sldId id="286" r:id="rId35"/>
    <p:sldId id="287" r:id="rId36"/>
    <p:sldId id="288" r:id="rId37"/>
    <p:sldId id="289" r:id="rId38"/>
    <p:sldId id="290" r:id="rId39"/>
    <p:sldId id="291" r:id="rId40"/>
    <p:sldId id="292" r:id="rId41"/>
    <p:sldId id="313" r:id="rId42"/>
    <p:sldId id="314" r:id="rId43"/>
    <p:sldId id="293" r:id="rId44"/>
    <p:sldId id="315" r:id="rId45"/>
    <p:sldId id="297" r:id="rId46"/>
    <p:sldId id="298" r:id="rId47"/>
    <p:sldId id="299" r:id="rId48"/>
    <p:sldId id="300" r:id="rId49"/>
    <p:sldId id="301" r:id="rId50"/>
    <p:sldId id="302" r:id="rId51"/>
    <p:sldId id="316" r:id="rId52"/>
    <p:sldId id="317" r:id="rId53"/>
    <p:sldId id="305" r:id="rId54"/>
    <p:sldId id="306" r:id="rId55"/>
    <p:sldId id="307" r:id="rId56"/>
    <p:sldId id="321" r:id="rId57"/>
    <p:sldId id="323" r:id="rId58"/>
    <p:sldId id="320" r:id="rId59"/>
    <p:sldId id="322" r:id="rId60"/>
    <p:sldId id="308" r:id="rId6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B429"/>
    <a:srgbClr val="FFD54F"/>
    <a:srgbClr val="FFEA3D"/>
    <a:srgbClr val="FFFFAA"/>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05BF3C-0448-BF44-A630-2597F7D1B45F}" v="2" dt="2024-08-25T18:56:44.2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1304" autoAdjust="0"/>
    <p:restoredTop sz="89172"/>
  </p:normalViewPr>
  <p:slideViewPr>
    <p:cSldViewPr snapToGrid="0">
      <p:cViewPr varScale="1">
        <p:scale>
          <a:sx n="96" d="100"/>
          <a:sy n="96" d="100"/>
        </p:scale>
        <p:origin x="552" y="168"/>
      </p:cViewPr>
      <p:guideLst>
        <p:guide orient="horz" pos="2160"/>
        <p:guide pos="2880"/>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 Carty" userId="22830c01-2f55-4e06-b79c-b355947cb1ea" providerId="ADAL" clId="{BF05BF3C-0448-BF44-A630-2597F7D1B45F}"/>
    <pc:docChg chg="modSld">
      <pc:chgData name="Lynn Carty" userId="22830c01-2f55-4e06-b79c-b355947cb1ea" providerId="ADAL" clId="{BF05BF3C-0448-BF44-A630-2597F7D1B45F}" dt="2024-08-25T18:56:44.246" v="1"/>
      <pc:docMkLst>
        <pc:docMk/>
      </pc:docMkLst>
      <pc:sldChg chg="setBg">
        <pc:chgData name="Lynn Carty" userId="22830c01-2f55-4e06-b79c-b355947cb1ea" providerId="ADAL" clId="{BF05BF3C-0448-BF44-A630-2597F7D1B45F}" dt="2024-08-25T18:55:46.627" v="0"/>
        <pc:sldMkLst>
          <pc:docMk/>
          <pc:sldMk cId="3254239193" sldId="257"/>
        </pc:sldMkLst>
      </pc:sldChg>
      <pc:sldChg chg="setBg">
        <pc:chgData name="Lynn Carty" userId="22830c01-2f55-4e06-b79c-b355947cb1ea" providerId="ADAL" clId="{BF05BF3C-0448-BF44-A630-2597F7D1B45F}" dt="2024-08-25T18:56:44.246" v="1"/>
        <pc:sldMkLst>
          <pc:docMk/>
          <pc:sldMk cId="916067990" sldId="260"/>
        </pc:sldMkLst>
      </pc:sldChg>
      <pc:sldChg chg="setBg">
        <pc:chgData name="Lynn Carty" userId="22830c01-2f55-4e06-b79c-b355947cb1ea" providerId="ADAL" clId="{BF05BF3C-0448-BF44-A630-2597F7D1B45F}" dt="2024-08-25T18:56:44.246" v="1"/>
        <pc:sldMkLst>
          <pc:docMk/>
          <pc:sldMk cId="3502067554" sldId="267"/>
        </pc:sldMkLst>
      </pc:sldChg>
      <pc:sldChg chg="setBg">
        <pc:chgData name="Lynn Carty" userId="22830c01-2f55-4e06-b79c-b355947cb1ea" providerId="ADAL" clId="{BF05BF3C-0448-BF44-A630-2597F7D1B45F}" dt="2024-08-25T18:56:44.246" v="1"/>
        <pc:sldMkLst>
          <pc:docMk/>
          <pc:sldMk cId="1408152182" sldId="286"/>
        </pc:sldMkLst>
      </pc:sldChg>
      <pc:sldChg chg="setBg">
        <pc:chgData name="Lynn Carty" userId="22830c01-2f55-4e06-b79c-b355947cb1ea" providerId="ADAL" clId="{BF05BF3C-0448-BF44-A630-2597F7D1B45F}" dt="2024-08-25T18:56:44.246" v="1"/>
        <pc:sldMkLst>
          <pc:docMk/>
          <pc:sldMk cId="687793122" sldId="297"/>
        </pc:sldMkLst>
      </pc:sldChg>
      <pc:sldChg chg="setBg">
        <pc:chgData name="Lynn Carty" userId="22830c01-2f55-4e06-b79c-b355947cb1ea" providerId="ADAL" clId="{BF05BF3C-0448-BF44-A630-2597F7D1B45F}" dt="2024-08-25T18:56:44.246" v="1"/>
        <pc:sldMkLst>
          <pc:docMk/>
          <pc:sldMk cId="2143114327" sldId="305"/>
        </pc:sldMkLst>
      </pc:sldChg>
      <pc:sldChg chg="setBg">
        <pc:chgData name="Lynn Carty" userId="22830c01-2f55-4e06-b79c-b355947cb1ea" providerId="ADAL" clId="{BF05BF3C-0448-BF44-A630-2597F7D1B45F}" dt="2024-08-25T18:56:44.246" v="1"/>
        <pc:sldMkLst>
          <pc:docMk/>
          <pc:sldMk cId="2498866562" sldId="3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4B78E97C-1779-4CEE-80D0-5BBB1AC4023D}" type="datetimeFigureOut">
              <a:rPr lang="en-US" smtClean="0"/>
              <a:t>8/25/24</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first learning objective is to r</a:t>
            </a:r>
            <a:r>
              <a:rPr lang="en-CA" dirty="0">
                <a:latin typeface="Arial" pitchFamily="34" charset="0"/>
                <a:ea typeface="ＭＳ Ｐゴシック" pitchFamily="34" charset="-128"/>
              </a:rPr>
              <a:t>ecognize a business transaction and describe the various types of accounts in which it can be recorded.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accounting equation expresses the basic relationships of accounting. For each asset, each liability, and each element of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we use a record called the account. An account is the record of all the changes in a particular asset, liability, or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during a period. The account is the basic summary device in accounting.</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dirty="0">
                <a:latin typeface="Arial" pitchFamily="34" charset="0"/>
                <a:ea typeface="ＭＳ Ｐゴシック" pitchFamily="34" charset="-128"/>
              </a:rPr>
              <a:t>Assets are economic resources that provide a future benefit for a business. Most firms use the following asset accounts:</a:t>
            </a:r>
          </a:p>
          <a:p>
            <a:pPr>
              <a:lnSpc>
                <a:spcPct val="90000"/>
              </a:lnSpc>
            </a:pPr>
            <a:r>
              <a:rPr lang="en-US" altLang="en-US" sz="1200" b="1" dirty="0">
                <a:latin typeface="Arial" pitchFamily="34" charset="0"/>
                <a:ea typeface="ＭＳ Ｐゴシック" pitchFamily="34" charset="-128"/>
              </a:rPr>
              <a:t>Cash:</a:t>
            </a:r>
            <a:r>
              <a:rPr lang="en-US" altLang="en-US" sz="1200" dirty="0">
                <a:latin typeface="Arial" pitchFamily="34" charset="0"/>
                <a:ea typeface="ＭＳ Ｐゴシック" pitchFamily="34" charset="-128"/>
              </a:rPr>
              <a:t> money and any medium of exchange including bank account balances, paper currency, coins, certificates of deposit, and cheques.</a:t>
            </a:r>
          </a:p>
          <a:p>
            <a:pPr>
              <a:lnSpc>
                <a:spcPct val="90000"/>
              </a:lnSpc>
            </a:pPr>
            <a:r>
              <a:rPr lang="en-US" altLang="en-US" sz="1200" b="1" dirty="0">
                <a:latin typeface="Arial" pitchFamily="34" charset="0"/>
                <a:ea typeface="ＭＳ Ｐゴシック" pitchFamily="34" charset="-128"/>
              </a:rPr>
              <a:t>Accounts receivable</a:t>
            </a:r>
            <a:r>
              <a:rPr lang="en-US" altLang="en-US" sz="1200" dirty="0">
                <a:latin typeface="Arial" pitchFamily="34" charset="0"/>
                <a:ea typeface="ＭＳ Ｐゴシック" pitchFamily="34" charset="-128"/>
              </a:rPr>
              <a:t>: a company sells its goods and services and receives a promise for future collection of cash. The agreement to allow customers to pay in the future is informal and usually for a short period of time. The Accounts Receivable account holds these amounts.</a:t>
            </a:r>
          </a:p>
          <a:p>
            <a:pPr>
              <a:lnSpc>
                <a:spcPct val="90000"/>
              </a:lnSpc>
            </a:pPr>
            <a:r>
              <a:rPr lang="en-US" altLang="en-US" sz="1200" b="1" dirty="0">
                <a:latin typeface="Arial" pitchFamily="34" charset="0"/>
                <a:ea typeface="ＭＳ Ｐゴシック" pitchFamily="34" charset="-128"/>
              </a:rPr>
              <a:t>Inventory</a:t>
            </a:r>
            <a:r>
              <a:rPr lang="en-US" altLang="en-US" sz="1200" dirty="0">
                <a:latin typeface="Arial" pitchFamily="34" charset="0"/>
                <a:ea typeface="ＭＳ Ｐゴシック" pitchFamily="34" charset="-128"/>
              </a:rPr>
              <a:t>: Often a company</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s most important asset is its inventory—the products it sells to customers. Other titles for this account include Merchandise and Merchandise Inventory.</a:t>
            </a:r>
          </a:p>
          <a:p>
            <a:pPr>
              <a:lnSpc>
                <a:spcPct val="90000"/>
              </a:lnSpc>
            </a:pPr>
            <a:r>
              <a:rPr lang="en-US" altLang="en-US" sz="1200" b="1" dirty="0">
                <a:latin typeface="Arial" pitchFamily="34" charset="0"/>
                <a:ea typeface="ＭＳ Ｐゴシック" pitchFamily="34" charset="-128"/>
              </a:rPr>
              <a:t>Prepaid expenses</a:t>
            </a:r>
            <a:r>
              <a:rPr lang="en-US" altLang="en-US" sz="1200" dirty="0">
                <a:latin typeface="Arial" pitchFamily="34" charset="0"/>
                <a:ea typeface="ＭＳ Ｐゴシック" pitchFamily="34" charset="-128"/>
              </a:rPr>
              <a:t>: Companies pay certain expenses in advance, such as insurance and rent. A prepaid expense is an asset because the payment provides a future benefit for the business. Prepaid Rent, Prepaid Insurance, and Supplies are prepaid expenses.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24475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sz="1200" b="1" dirty="0">
                <a:latin typeface="Arial" pitchFamily="34" charset="0"/>
                <a:ea typeface="ＭＳ Ｐゴシック" pitchFamily="34" charset="-128"/>
              </a:rPr>
              <a:t>Land:</a:t>
            </a:r>
            <a:r>
              <a:rPr lang="en-US" sz="1200" dirty="0">
                <a:latin typeface="Arial" pitchFamily="34" charset="0"/>
                <a:ea typeface="ＭＳ Ｐゴシック" pitchFamily="34" charset="-128"/>
              </a:rPr>
              <a:t> The Land account shows the cost of the land a company uses in its operations.</a:t>
            </a:r>
          </a:p>
          <a:p>
            <a:pPr>
              <a:lnSpc>
                <a:spcPct val="90000"/>
              </a:lnSpc>
            </a:pPr>
            <a:r>
              <a:rPr lang="en-US" sz="1200" b="1" dirty="0">
                <a:latin typeface="Arial" pitchFamily="34" charset="0"/>
                <a:ea typeface="ＭＳ Ｐゴシック" pitchFamily="34" charset="-128"/>
              </a:rPr>
              <a:t>Buildings:</a:t>
            </a:r>
            <a:r>
              <a:rPr lang="en-US" sz="1200" dirty="0">
                <a:latin typeface="Arial" pitchFamily="34" charset="0"/>
                <a:ea typeface="ＭＳ Ｐゴシック" pitchFamily="34" charset="-128"/>
              </a:rPr>
              <a:t> The costs of office buildings, manufacturing plants, and the like appear in the Buildings account.</a:t>
            </a:r>
          </a:p>
          <a:p>
            <a:pPr>
              <a:lnSpc>
                <a:spcPct val="90000"/>
              </a:lnSpc>
            </a:pPr>
            <a:r>
              <a:rPr lang="en-US" sz="1200" b="1" dirty="0">
                <a:latin typeface="Arial" pitchFamily="34" charset="0"/>
                <a:ea typeface="ＭＳ Ｐゴシック" pitchFamily="34" charset="-128"/>
              </a:rPr>
              <a:t>Equipment, Furniture, and Fixtures</a:t>
            </a:r>
            <a:r>
              <a:rPr lang="en-US" sz="1200" dirty="0">
                <a:latin typeface="Arial" pitchFamily="34" charset="0"/>
                <a:ea typeface="ＭＳ Ｐゴシック" pitchFamily="34" charset="-128"/>
              </a:rPr>
              <a:t>: These asset accounts include items such as computers, office furniture, and store shelving. </a:t>
            </a:r>
          </a:p>
          <a:p>
            <a:pPr>
              <a:lnSpc>
                <a:spcPct val="90000"/>
              </a:lnSpc>
            </a:pPr>
            <a:r>
              <a:rPr lang="en-US" sz="1200" dirty="0">
                <a:latin typeface="Arial" pitchFamily="34" charset="0"/>
                <a:ea typeface="ＭＳ Ｐゴシック" pitchFamily="34" charset="-128"/>
              </a:rPr>
              <a:t>The assets Land, Buildings, Equipment, and Furniture and Fixtures are examples of those assets referred to in chapter one as property, plant, and equipment. Notice that even though they are reported on the balance sheet in one amount, they are tracked in separate accounts.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34" charset="0"/>
                <a:ea typeface="ＭＳ Ｐゴシック" pitchFamily="34" charset="-128"/>
              </a:rPr>
              <a:t>Recall that a liability is a debt. A payable is always a liability. The most common types of liabilities include:</a:t>
            </a:r>
          </a:p>
          <a:p>
            <a:r>
              <a:rPr lang="en-US" b="1" dirty="0">
                <a:latin typeface="Arial" pitchFamily="34" charset="0"/>
                <a:ea typeface="ＭＳ Ｐゴシック" pitchFamily="34" charset="-128"/>
              </a:rPr>
              <a:t>Accounts payable</a:t>
            </a:r>
            <a:r>
              <a:rPr lang="en-US" dirty="0">
                <a:latin typeface="Arial" pitchFamily="34" charset="0"/>
                <a:ea typeface="ＭＳ Ｐゴシック" pitchFamily="34" charset="-128"/>
              </a:rPr>
              <a:t>: the direct opposite of Accounts Receivable. A company</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promise to pay a debt arising from a credit purchase of inventory or from a utility bill appears in the Accounts Payable account.</a:t>
            </a:r>
          </a:p>
          <a:p>
            <a:r>
              <a:rPr lang="en-US" b="1" dirty="0">
                <a:latin typeface="Arial" pitchFamily="34" charset="0"/>
                <a:ea typeface="ＭＳ Ｐゴシック" pitchFamily="34" charset="-128"/>
              </a:rPr>
              <a:t>Loans payable</a:t>
            </a:r>
            <a:r>
              <a:rPr lang="en-US" dirty="0">
                <a:latin typeface="Arial" pitchFamily="34" charset="0"/>
                <a:ea typeface="ＭＳ Ｐゴシック" pitchFamily="34" charset="-128"/>
              </a:rPr>
              <a:t>: a loan payable is the amount a company must pay because it borrowed money from a bank or other creditor.</a:t>
            </a:r>
          </a:p>
          <a:p>
            <a:r>
              <a:rPr lang="en-US" b="1" dirty="0">
                <a:latin typeface="Arial" pitchFamily="34" charset="0"/>
                <a:ea typeface="ＭＳ Ｐゴシック" pitchFamily="34" charset="-128"/>
              </a:rPr>
              <a:t>Accrued liabilities</a:t>
            </a:r>
            <a:r>
              <a:rPr lang="en-US" dirty="0">
                <a:latin typeface="Arial" pitchFamily="34" charset="0"/>
                <a:ea typeface="ＭＳ Ｐゴシック" pitchFamily="34" charset="-128"/>
              </a:rPr>
              <a:t>: an accrued liability is a liability for an expense you have not yet paid. Interest Payable and Salary Payable are accrued liability accounts for most companies. Income Tax Payable is another accrued liability.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itchFamily="34" charset="0"/>
                <a:ea typeface="ＭＳ Ｐゴシック" pitchFamily="34" charset="-128"/>
              </a:rPr>
              <a:t>The owners</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 claims to the assets of a corporation are called shareholders</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 equity or simply owners</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 equity. A corporation uses Common Shares, Retained Earnings, and Dividends accounts to record changes in the company</a:t>
            </a:r>
            <a:r>
              <a:rPr lang="en-CA" altLang="ja-JP" dirty="0">
                <a:latin typeface="Arial" pitchFamily="34" charset="0"/>
                <a:ea typeface="ＭＳ Ｐゴシック" pitchFamily="34" charset="-128"/>
              </a:rPr>
              <a:t>’</a:t>
            </a:r>
            <a:r>
              <a:rPr lang="en-US" altLang="ja-JP" sz="1200" dirty="0">
                <a:latin typeface="Arial" pitchFamily="34" charset="0"/>
                <a:ea typeface="ＭＳ Ｐゴシック" pitchFamily="34" charset="-128"/>
              </a:rPr>
              <a:t>s shareholders</a:t>
            </a:r>
            <a:r>
              <a:rPr lang="ja-JP" altLang="en-US" sz="1200" dirty="0">
                <a:latin typeface="Arial" pitchFamily="34" charset="0"/>
                <a:ea typeface="ＭＳ Ｐゴシック" pitchFamily="34" charset="-128"/>
              </a:rPr>
              <a:t>’ </a:t>
            </a:r>
            <a:r>
              <a:rPr lang="en-US" altLang="ja-JP" sz="1200" dirty="0">
                <a:latin typeface="Arial" pitchFamily="34" charset="0"/>
                <a:ea typeface="ＭＳ Ｐゴシック" pitchFamily="34" charset="-128"/>
              </a:rPr>
              <a:t>equity. Revenues increase shareholders' equity, and expenses and dividends decrease shareholders' equity.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2999398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lnSpc>
                <a:spcPct val="80000"/>
              </a:lnSpc>
            </a:pPr>
            <a:r>
              <a:rPr lang="en-US" b="1" dirty="0">
                <a:latin typeface="Arial" pitchFamily="34" charset="0"/>
                <a:ea typeface="ＭＳ Ｐゴシック" pitchFamily="34" charset="-128"/>
              </a:rPr>
              <a:t>Common Shares</a:t>
            </a:r>
            <a:r>
              <a:rPr lang="en-US" dirty="0">
                <a:latin typeface="Arial" pitchFamily="34" charset="0"/>
                <a:ea typeface="ＭＳ Ｐゴシック" pitchFamily="34" charset="-128"/>
              </a:rPr>
              <a:t>: this account shows the owners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 investment in the corporation. The corporation receives cash and issues common shares to its shareholders. A company</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s common shares are its most basic element of equity. All corporations have common shares.</a:t>
            </a:r>
          </a:p>
          <a:p>
            <a:pPr>
              <a:lnSpc>
                <a:spcPct val="80000"/>
              </a:lnSpc>
            </a:pPr>
            <a:r>
              <a:rPr lang="en-US" b="1" dirty="0">
                <a:latin typeface="Arial" pitchFamily="34" charset="0"/>
                <a:ea typeface="ＭＳ Ｐゴシック" pitchFamily="34" charset="-128"/>
              </a:rPr>
              <a:t>Retained Earnings</a:t>
            </a:r>
            <a:r>
              <a:rPr lang="en-US" dirty="0">
                <a:latin typeface="Arial" pitchFamily="34" charset="0"/>
                <a:ea typeface="ＭＳ Ｐゴシック" pitchFamily="34" charset="-128"/>
              </a:rPr>
              <a:t>: this account shows the cumulative net income earned by a corporation over its lifetime, minus its cumulative net losses and dividends.</a:t>
            </a:r>
          </a:p>
          <a:p>
            <a:pPr>
              <a:lnSpc>
                <a:spcPct val="80000"/>
              </a:lnSpc>
            </a:pPr>
            <a:r>
              <a:rPr lang="en-US" b="1" dirty="0">
                <a:latin typeface="Arial" pitchFamily="34" charset="0"/>
                <a:ea typeface="ＭＳ Ｐゴシック" pitchFamily="34" charset="-128"/>
              </a:rPr>
              <a:t>Dividends: </a:t>
            </a:r>
            <a:r>
              <a:rPr lang="en-US" dirty="0">
                <a:latin typeface="Arial" pitchFamily="34" charset="0"/>
                <a:ea typeface="ＭＳ Ｐゴシック" pitchFamily="34" charset="-128"/>
              </a:rPr>
              <a:t>after profitable operations, the board of directors of a corporation may (or may not) declare and pay a cash dividend. Dividends are optional; they are decided by the board of directors. The corporation may keep a separate account titled Dividends, which indicates a decrease in retained earnings.</a:t>
            </a:r>
          </a:p>
          <a:p>
            <a:pPr>
              <a:lnSpc>
                <a:spcPct val="80000"/>
              </a:lnSpc>
            </a:pPr>
            <a:r>
              <a:rPr lang="en-US" b="1" dirty="0">
                <a:latin typeface="Arial" pitchFamily="34" charset="0"/>
                <a:ea typeface="ＭＳ Ｐゴシック" pitchFamily="34" charset="-128"/>
              </a:rPr>
              <a:t>Revenues:</a:t>
            </a:r>
            <a:r>
              <a:rPr lang="en-US" dirty="0">
                <a:latin typeface="Arial" pitchFamily="34" charset="0"/>
                <a:ea typeface="ＭＳ Ｐゴシック" pitchFamily="34" charset="-128"/>
              </a:rPr>
              <a:t> the increase in shareholders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 equity from delivering goods or services to customers is called revenue. The company uses as many revenue accounts as needed. Companies that sell merchandise use a Sales Revenue account for revenue earned by selling its products. Companies that provide services have a Service Revenue account for the revenue it earns by providing services to customers. A business that loans money to an outsider needs an Interest Revenue account. If the business rents a building to a tenant, the business needs a Rent Revenue account.</a:t>
            </a:r>
          </a:p>
          <a:p>
            <a:pPr>
              <a:lnSpc>
                <a:spcPct val="80000"/>
              </a:lnSpc>
            </a:pPr>
            <a:r>
              <a:rPr lang="en-US" b="1" dirty="0">
                <a:latin typeface="Arial" pitchFamily="34" charset="0"/>
                <a:ea typeface="ＭＳ Ｐゴシック" pitchFamily="34" charset="-128"/>
              </a:rPr>
              <a:t>Expenses:</a:t>
            </a:r>
            <a:r>
              <a:rPr lang="en-US" dirty="0">
                <a:latin typeface="Arial" pitchFamily="34" charset="0"/>
                <a:ea typeface="ＭＳ Ｐゴシック" pitchFamily="34" charset="-128"/>
              </a:rPr>
              <a:t> the cost of operating a business is called expense. Expenses decrease shareholders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 equity, the opposite effect of revenues. A business needs a separate account for each type of expense, such as Cost of Goods Sold, Salary Expense, Rent Expense, Advertising Expense, Insurance Expense, Utilities Expense, and Income Tax Expense. Businesses strive to minimize expenses and thereby maximize net income.</a:t>
            </a:r>
            <a:endParaRPr 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second learning objective is to determine </a:t>
            </a:r>
            <a:r>
              <a:rPr lang="en-CA" dirty="0">
                <a:ea typeface="ＭＳ Ｐゴシック" pitchFamily="34" charset="-128"/>
              </a:rPr>
              <a:t>the impact of business transactions on the accounting equation.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Business activity is all about transactions. A transaction is any event that has a financial impact on the business and can be measured reliably. But not all events qualify as transactions. For example, a transaction for a retail store would be when a customer buys a product or the store purchases inventory. Transactions provide objective information about the financial impact on a company.</a:t>
            </a:r>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To demonstrate transaction analysis, we will use the events in used in the text starting on page 63. We will start with the accounting equation and then increase and or/decrease the appropriate accounts. Notice as each transaction is recorded, the accounting equation stays in balance by making sure that each transaction is balanced. Each side of the equation will be changed in the same direction, or the same side of the equation will be changed in opposite directions.</a:t>
            </a:r>
          </a:p>
          <a:p>
            <a:endParaRPr lang="en-US" sz="1000" dirty="0">
              <a:latin typeface="Arial" pitchFamily="34" charset="0"/>
              <a:ea typeface="ＭＳ Ｐゴシック" pitchFamily="34" charset="-128"/>
            </a:endParaRPr>
          </a:p>
          <a:p>
            <a:r>
              <a:rPr lang="en-US" dirty="0">
                <a:latin typeface="Arial" pitchFamily="34" charset="0"/>
                <a:ea typeface="ＭＳ Ｐゴシック" pitchFamily="34" charset="-128"/>
              </a:rPr>
              <a:t>J.J. Booth, Marie Savard, and several fellow engineers opened a consulting company called Tara Inc. During the first month of operation (April), the business experienced the following events:</a:t>
            </a:r>
          </a:p>
          <a:p>
            <a:r>
              <a:rPr lang="en-US" dirty="0">
                <a:latin typeface="Arial" pitchFamily="34" charset="0"/>
                <a:ea typeface="ＭＳ Ｐゴシック" pitchFamily="34" charset="-128"/>
              </a:rPr>
              <a:t>The owners invested $50,000 in the business, which in turn issued its common shares to them. This would increase Cash, an asset, and increase Common Shares, an equity account.</a:t>
            </a:r>
          </a:p>
          <a:p>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business then paid cash for land costing $40,000. This transaction increases one asset – Land, and decreases another – Cash. The accounting equation still balances. Assets equal $50,000 (10,000 cash + 40,000 land) and equity equals $50,000.</a:t>
            </a:r>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business purchased supplies for $3,700 on account. This transaction increases Supplies, an asset, and increases a liability, Accounts Payable. Assets of $53,700 ($10,000 + $40,000 + $3,700) equal Liabilities ($3,700</a:t>
            </a:r>
            <a:r>
              <a:rPr lang="en-US">
                <a:latin typeface="Arial" pitchFamily="34" charset="0"/>
                <a:ea typeface="ＭＳ Ｐゴシック" pitchFamily="34" charset="-128"/>
              </a:rPr>
              <a:t>)  </a:t>
            </a:r>
            <a:r>
              <a:rPr lang="en-US" dirty="0">
                <a:latin typeface="Arial" pitchFamily="34" charset="0"/>
                <a:ea typeface="ＭＳ Ｐゴシック" pitchFamily="34" charset="-128"/>
              </a:rPr>
              <a:t>Equity ($50,000) of $53,700.</a:t>
            </a:r>
            <a:endParaRPr lang="en-CA" dirty="0">
              <a:latin typeface="Arial" pitchFamily="34" charset="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Tara Inc. earned service revenue of $7,000, receiving cash. Revenue would increase and an asset account, Cash, would also increase. The accounting equation is still balanced with both sides equal to $60,700.</a:t>
            </a:r>
            <a:endParaRPr lang="en-CA" dirty="0">
              <a:latin typeface="Arial" pitchFamily="34" charset="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Tara Inc. again earned service revenue; this time it earned $3,000, but did not receive cash. Rather, the customer agreed to pay in the future. Tara will receive cash in the future, but until then it calls the customer</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promise to pay an accounts receivable. Revenue would increase and an asset account, Accounts Receivable, would also increase. The accounting equation is still balanced with both sides equal to $63,700.</a:t>
            </a:r>
            <a:endParaRPr lang="en-CA" dirty="0">
              <a:latin typeface="Arial" pitchFamily="34" charset="0"/>
              <a:ea typeface="ＭＳ Ｐゴシック" pitchFamily="34" charset="-128"/>
            </a:endParaRPr>
          </a:p>
          <a:p>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The business paid cash expenses: office rent, $1,100; employee salaries, $1,200; utilities, $400. These expenses decrease equity and decrease Cash. Both sides of the equation now equal $61,000.</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Tara pays $1,900 cash on account for supplies purchased in Transaction 3. That decreases both an asset, Cash, and a liability, Accounts Payable. The accounting equation is balanced at $59,100.</a:t>
            </a:r>
          </a:p>
          <a:p>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One of the shareholders pays for the re-modeling of his home at a cost of $30,000. This event is a transaction of the </a:t>
            </a:r>
            <a:r>
              <a:rPr lang="en-US" i="1" dirty="0">
                <a:solidFill>
                  <a:schemeClr val="tx2"/>
                </a:solidFill>
                <a:latin typeface="Arial" pitchFamily="34" charset="0"/>
                <a:ea typeface="ＭＳ Ｐゴシック" pitchFamily="34" charset="-128"/>
              </a:rPr>
              <a:t>personal entity</a:t>
            </a:r>
            <a:r>
              <a:rPr lang="en-US" dirty="0">
                <a:latin typeface="Arial" pitchFamily="34" charset="0"/>
                <a:ea typeface="ＭＳ Ｐゴシック" pitchFamily="34" charset="-128"/>
              </a:rPr>
              <a:t>, not the business entity. No transaction is recorded for Tara Inc.</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The business collects $1,000 from a customer on account from transaction 5. $2,000 is still owing. An asset, Cash is increased, and another asset, Accounts Receivable is decreased. Both sides of the accounting equation now equal $59,100.</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Tara Inc. sells part of the land purchased in Transaction 2 for $22,000 in cash, which was the cost of the land. An asset account, Cash, increases by $22,000, and another asset account, Land, decreases by $22,000. Both sides of the equation still equal $59,100.</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The corporation declares a dividend and pays $2,100 cash to the shareholders. An asset account, Cash, decreases and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also decreases by $2,100. Both sides of the equation now equal $57,000.</a:t>
            </a:r>
          </a:p>
          <a:p>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It</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now the end of the month and time to determine the ending totals for the month. As you can see, the four assets (Cash, Accounts Receivable, Office Supplies, and Land) total $57,000.</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itchFamily="34" charset="0"/>
              <a:ea typeface="ＭＳ Ｐゴシック"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liability account, Accounts Payable, equals $1,800. Add this amount to the Common Shares ($50,000) and Retained Earnings ($5,200). Total liabilities and equity equal $57,000.</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 </a:t>
            </a:r>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5091606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211417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3331027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6907311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659357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third learning objective is to analyze business transactions using T-accounts.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dirty="0">
                <a:latin typeface="Arial" pitchFamily="34" charset="0"/>
                <a:ea typeface="ＭＳ Ｐゴシック" pitchFamily="34" charset="-128"/>
              </a:rPr>
              <a:t>An organization uses a chart of accounts to keep track of all its accounts. The chart of accounts lists the name of every account and its unique account number, but it does not provide the account balances.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Each transaction affects at least two accounts. The accounting equation must be equal after all transactions are recorded.</a:t>
            </a:r>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An account can be represented by the letter T. We call them T-accounts. The vertical line in the letter divides the account into its two sides: left and right. The account title appears at the top of the T. The left side of each account is called the debit side, and the right side is called the credit side. Often, students are confused by the words debit and credit. Just remember that debit means </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left side</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and credit means </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right side.</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Every business transaction involves both a debit and a credit. </a:t>
            </a:r>
          </a:p>
          <a:p>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dirty="0">
                <a:latin typeface="Arial" pitchFamily="34" charset="0"/>
                <a:ea typeface="ＭＳ Ｐゴシック" pitchFamily="34" charset="-128"/>
              </a:rPr>
              <a:t>Assets are on the left or debit side of the equation. Liabilities and Shareholders</a:t>
            </a:r>
            <a:r>
              <a:rPr lang="en-CA" altLang="en-US" dirty="0">
                <a:latin typeface="Arial" pitchFamily="34" charset="0"/>
                <a:ea typeface="ＭＳ Ｐゴシック" pitchFamily="34" charset="-128"/>
              </a:rPr>
              <a:t>’</a:t>
            </a:r>
            <a:r>
              <a:rPr lang="en-CA" dirty="0">
                <a:latin typeface="Arial" pitchFamily="34" charset="0"/>
                <a:ea typeface="ＭＳ Ｐゴシック" pitchFamily="34" charset="-128"/>
              </a:rPr>
              <a:t> Equity are on the right or credit side of the equation. The exceptions are expenses and dividends. Expenses and dividends are part of Shareholders</a:t>
            </a:r>
            <a:r>
              <a:rPr lang="en-CA" altLang="en-US" dirty="0">
                <a:latin typeface="Arial" pitchFamily="34" charset="0"/>
                <a:ea typeface="ＭＳ Ｐゴシック" pitchFamily="34" charset="-128"/>
              </a:rPr>
              <a:t>’</a:t>
            </a:r>
            <a:r>
              <a:rPr lang="en-CA" dirty="0">
                <a:latin typeface="Arial" pitchFamily="34" charset="0"/>
                <a:ea typeface="ＭＳ Ｐゴシック" pitchFamily="34" charset="-128"/>
              </a:rPr>
              <a:t> Equity, but they decrease the owners</a:t>
            </a:r>
            <a:r>
              <a:rPr lang="en-CA" altLang="en-US" dirty="0">
                <a:latin typeface="Arial" pitchFamily="34" charset="0"/>
                <a:ea typeface="ＭＳ Ｐゴシック" pitchFamily="34" charset="-128"/>
              </a:rPr>
              <a:t>’</a:t>
            </a:r>
            <a:r>
              <a:rPr lang="en-CA" dirty="0">
                <a:latin typeface="Arial" pitchFamily="34" charset="0"/>
                <a:ea typeface="ＭＳ Ｐゴシック" pitchFamily="34" charset="-128"/>
              </a:rPr>
              <a:t> claims on the assets. See next slide.</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The type of account determines how we record increases and decreases. The rules of debit and credit are shown above.</a:t>
            </a:r>
          </a:p>
          <a:p>
            <a:r>
              <a:rPr lang="en-US" dirty="0">
                <a:latin typeface="Arial" pitchFamily="34" charset="0"/>
                <a:ea typeface="ＭＳ Ｐゴシック" pitchFamily="34" charset="-128"/>
              </a:rPr>
              <a:t>■ Increases in assets are recorded on the left (debit) side of the account. Decreases in assets are recorded on the right (credit) side. You receive cash and debit the Cash account. You pay cash and credit the Cash account.</a:t>
            </a:r>
          </a:p>
          <a:p>
            <a:r>
              <a:rPr lang="en-US" dirty="0">
                <a:latin typeface="Arial" pitchFamily="34" charset="0"/>
                <a:ea typeface="ＭＳ Ｐゴシック" pitchFamily="34" charset="-128"/>
              </a:rPr>
              <a:t>■ Conversely, increases in liabilities and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are recorded by credits.</a:t>
            </a:r>
          </a:p>
          <a:p>
            <a:r>
              <a:rPr lang="en-US" dirty="0">
                <a:latin typeface="Arial" pitchFamily="34" charset="0"/>
                <a:ea typeface="ＭＳ Ｐゴシック" pitchFamily="34" charset="-128"/>
              </a:rPr>
              <a:t>■ Expenses and dividends are the exceptions. Because they decrease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they behave opposite to the </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positive</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components of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In other words, debits increase expenses and dividends and credits decrease those two accounts.</a:t>
            </a:r>
          </a:p>
          <a:p>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We can now express the final form of the rules of debit and credit, as shown above. You should not proceed until you have learned these rules. For example, you must remember that:</a:t>
            </a:r>
          </a:p>
          <a:p>
            <a:r>
              <a:rPr lang="en-US" dirty="0">
                <a:latin typeface="Arial" pitchFamily="34" charset="0"/>
                <a:ea typeface="ＭＳ Ｐゴシック" pitchFamily="34" charset="-128"/>
              </a:rPr>
              <a:t>■ A debit increases an asset account.</a:t>
            </a:r>
          </a:p>
          <a:p>
            <a:r>
              <a:rPr lang="en-US" dirty="0">
                <a:latin typeface="Arial" pitchFamily="34" charset="0"/>
                <a:ea typeface="ＭＳ Ｐゴシック" pitchFamily="34" charset="-128"/>
              </a:rPr>
              <a:t>■ A credit decreases an asset.</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Liabilities and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are the opposite:</a:t>
            </a:r>
          </a:p>
          <a:p>
            <a:r>
              <a:rPr lang="en-US" dirty="0">
                <a:latin typeface="Arial" pitchFamily="34" charset="0"/>
                <a:ea typeface="ＭＳ Ｐゴシック" pitchFamily="34" charset="-128"/>
              </a:rPr>
              <a:t>■ A credit increases a liability or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account.</a:t>
            </a:r>
          </a:p>
          <a:p>
            <a:r>
              <a:rPr lang="en-US" dirty="0">
                <a:latin typeface="Arial" pitchFamily="34" charset="0"/>
                <a:ea typeface="ＭＳ Ｐゴシック" pitchFamily="34" charset="-128"/>
              </a:rPr>
              <a:t>■ A debit decreases a liability or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account.</a:t>
            </a:r>
          </a:p>
          <a:p>
            <a:endParaRPr lang="en-US" dirty="0">
              <a:latin typeface="Arial" pitchFamily="34" charset="0"/>
              <a:ea typeface="ＭＳ Ｐゴシック" pitchFamily="34" charset="-128"/>
            </a:endParaRPr>
          </a:p>
          <a:p>
            <a:r>
              <a:rPr lang="en-US" dirty="0">
                <a:latin typeface="Arial" pitchFamily="34" charset="0"/>
                <a:ea typeface="ＭＳ Ｐゴシック" pitchFamily="34" charset="-128"/>
              </a:rPr>
              <a:t>Dividends and Expense accounts are exceptions to the rule. Dividends and Expenses are equity accounts that are increased by a debit. Dividends and Expense accounts are negative (or contra) equity accounts. Revenues and Expenses are often treated as separate account categories because they appear on the income statement.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To illustrate the ideas shown in the previous slide, let</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looks at a transaction. In slide 12, Tara Inc. received $50,000 and issued common shares. Which accounts are affected? The Cash account and the Common Shares account will hold these amounts. The amount remaining in an account is called its balance. This first transaction gives Cash a $50,000 debit balance and Common Shares a $50,000 credit balance.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22660364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transaction is a $40,000 cash purchase of land. This transaction decreases Cash with a credit and increases Land with a debit, as shown in the above T-accounts. After this transaction, Cash has a $10,000 debit balance, Land has a debit balance of $40,000, and Common Shares has a $50,000 credit balance. Debits ($10,000 + $40,000) = Credits ($50,000).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22660364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An account</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normal balance falls on the side of the account—debit or credit—where increases are recorded. The normal balance of assets is on the debit side, so assets are debit-balance accounts. Conversely, liabilities and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usually have a credit balance, so these are credit-balance accounts. As explained earlier,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usually contains several accounts. Dividends and expenses carry debit balances because they represent decreases in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In total, the equity accounts show a normal credit balance.</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34" charset="0"/>
                <a:ea typeface="ＭＳ Ｐゴシック" pitchFamily="34" charset="-128"/>
              </a:rPr>
              <a:t>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also includes the two categories of income statement accounts, Revenues and Expenses:</a:t>
            </a:r>
          </a:p>
          <a:p>
            <a:r>
              <a:rPr lang="en-US" dirty="0">
                <a:latin typeface="Arial" pitchFamily="34" charset="0"/>
                <a:ea typeface="ＭＳ Ｐゴシック" pitchFamily="34" charset="-128"/>
              </a:rPr>
              <a:t>■ Revenues are increases in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that result from delivering goods or services to customers.</a:t>
            </a:r>
          </a:p>
          <a:p>
            <a:r>
              <a:rPr lang="en-US" dirty="0">
                <a:latin typeface="Arial" pitchFamily="34" charset="0"/>
                <a:ea typeface="ＭＳ Ｐゴシック" pitchFamily="34" charset="-128"/>
              </a:rPr>
              <a:t>■ Expenses are decreases in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due to the cost of operating the business.</a:t>
            </a:r>
          </a:p>
          <a:p>
            <a:r>
              <a:rPr lang="en-US" dirty="0">
                <a:latin typeface="Arial" pitchFamily="34" charset="0"/>
                <a:ea typeface="ＭＳ Ｐゴシック" pitchFamily="34" charset="-128"/>
              </a:rPr>
              <a:t>Therefore, the accounting equation may be expanded. Revenues minus expenses equals net income, which increases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If expenses exceed revenues, there is a net loss, which decreases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16275033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fourth learning objective is to record business transactions in the journal and post them to the ledger.</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Accountants use a chronological record of transactions called a journal. The journalizing process follows three steps:</a:t>
            </a:r>
          </a:p>
          <a:p>
            <a:r>
              <a:rPr lang="en-US" dirty="0">
                <a:latin typeface="Arial" pitchFamily="34" charset="0"/>
                <a:ea typeface="ＭＳ Ｐゴシック" pitchFamily="34" charset="-128"/>
              </a:rPr>
              <a:t>1. Specify each account affected by the transaction.</a:t>
            </a:r>
          </a:p>
          <a:p>
            <a:r>
              <a:rPr lang="en-US" dirty="0">
                <a:latin typeface="Arial" pitchFamily="34" charset="0"/>
                <a:ea typeface="ＭＳ Ｐゴシック" pitchFamily="34" charset="-128"/>
              </a:rPr>
              <a:t>2. Determine whether each account is increased or decreased by the transaction. Use the rules of debit and credit to increase or decrease each account.  Remember that the amount of the debits must equal the amount of the credits.</a:t>
            </a:r>
          </a:p>
          <a:p>
            <a:r>
              <a:rPr lang="en-US" dirty="0">
                <a:latin typeface="Arial" pitchFamily="34" charset="0"/>
                <a:ea typeface="ＭＳ Ｐゴシック" pitchFamily="34" charset="-128"/>
              </a:rPr>
              <a:t>3. Record the transaction in the journal, including a brief explanation. The debit side is entered on the left margin, and the credit side is indented to the right.</a:t>
            </a:r>
          </a:p>
          <a:p>
            <a:r>
              <a:rPr lang="en-US" dirty="0">
                <a:latin typeface="Arial" pitchFamily="34" charset="0"/>
                <a:ea typeface="ＭＳ Ｐゴシック" pitchFamily="34" charset="-128"/>
              </a:rPr>
              <a:t>Step 3 is also called </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making the journal entry</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or </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journalizing the transaction.</a:t>
            </a:r>
            <a:r>
              <a:rPr lang="en-US" altLang="en-US" dirty="0">
                <a:latin typeface="Arial" pitchFamily="34" charset="0"/>
                <a:ea typeface="ＭＳ Ｐゴシック" pitchFamily="34" charset="-128"/>
              </a:rPr>
              <a:t>”</a:t>
            </a:r>
            <a:endParaRPr 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Let</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apply the steps to journalize a transaction in which a company issues share for $50,000 cash from slide 12.</a:t>
            </a:r>
          </a:p>
          <a:p>
            <a:r>
              <a:rPr lang="en-US" b="1" dirty="0">
                <a:latin typeface="Arial" pitchFamily="34" charset="0"/>
                <a:ea typeface="ＭＳ Ｐゴシック" pitchFamily="34" charset="-128"/>
              </a:rPr>
              <a:t>Step 1 </a:t>
            </a:r>
            <a:r>
              <a:rPr lang="en-US" dirty="0">
                <a:latin typeface="Arial" pitchFamily="34" charset="0"/>
                <a:ea typeface="ＭＳ Ｐゴシック" pitchFamily="34" charset="-128"/>
              </a:rPr>
              <a:t>The business receives cash and issues common shares. Cash and Common Shares are affected. Cash is an asset, and Common Shares is equity.</a:t>
            </a:r>
          </a:p>
          <a:p>
            <a:r>
              <a:rPr lang="en-US" b="1" dirty="0">
                <a:latin typeface="Arial" pitchFamily="34" charset="0"/>
                <a:ea typeface="ＭＳ Ｐゴシック" pitchFamily="34" charset="-128"/>
              </a:rPr>
              <a:t>Step 2 </a:t>
            </a:r>
            <a:r>
              <a:rPr lang="en-US" dirty="0">
                <a:latin typeface="Arial" pitchFamily="34" charset="0"/>
                <a:ea typeface="ＭＳ Ｐゴシック" pitchFamily="34" charset="-128"/>
              </a:rPr>
              <a:t>Both Cash and Common Shares increase. Debit Cash to record an increase in this asset. Credit Common Shares to record an increase in this equity account.</a:t>
            </a:r>
          </a:p>
          <a:p>
            <a:r>
              <a:rPr lang="en-US" b="1" dirty="0">
                <a:latin typeface="Arial" pitchFamily="34" charset="0"/>
                <a:ea typeface="ＭＳ Ｐゴシック" pitchFamily="34" charset="-128"/>
              </a:rPr>
              <a:t>Step 3 </a:t>
            </a:r>
            <a:r>
              <a:rPr lang="en-US" dirty="0">
                <a:latin typeface="Arial" pitchFamily="34" charset="0"/>
                <a:ea typeface="ＭＳ Ｐゴシック" pitchFamily="34" charset="-128"/>
              </a:rPr>
              <a:t>Journalize the transaction as shown above.</a:t>
            </a:r>
            <a:endParaRPr lang="en-US" dirty="0">
              <a:solidFill>
                <a:srgbClr val="FF0000"/>
              </a:solidFill>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journal is a chronological record of all company transactions listed by date. But the journal does not indicate how much cash or accounts receivable the business has. The ledger is a grouping of all the T-accounts, with their balances. For example, the balance of the Cash T-account shows how much cash the business has. The balance of Accounts Receivable shows the amount due from customers. Accounts Payable shows how much the business owes suppliers on open account, and so on. In the phrase </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keeping the books,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books refers to the journals as well as the accounts in the ledger. In most accounting systems, the ledger is computerized. The figure above shows how the asset, liability, and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accounts are grouped in the ledger.</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Entering a transaction in the journal does not get the data into the ledger. Data must be copied to the ledger—a process called </a:t>
            </a:r>
            <a:r>
              <a:rPr lang="en-US" b="1" dirty="0">
                <a:latin typeface="Arial" pitchFamily="34" charset="0"/>
                <a:ea typeface="ＭＳ Ｐゴシック" pitchFamily="34" charset="-128"/>
              </a:rPr>
              <a:t>posting. </a:t>
            </a:r>
            <a:r>
              <a:rPr lang="en-US" dirty="0">
                <a:latin typeface="Arial" pitchFamily="34" charset="0"/>
                <a:ea typeface="ＭＳ Ｐゴシック" pitchFamily="34" charset="-128"/>
              </a:rPr>
              <a:t>Debits in the journal are always posted as debits in the accounts, and likewise for credits.  </a:t>
            </a:r>
            <a:endParaRPr lang="en-US" dirty="0">
              <a:solidFill>
                <a:srgbClr val="FF0000"/>
              </a:solidFill>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flow of accounting data is as follows: a transaction occurs and then is analyzed to see its effect on the company</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accounts. Next, a journal entry is made to record the transaction. Periodically, amounts from the journal are posted to the ledger to determine the account balances.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dirty="0">
                <a:latin typeface="Arial" pitchFamily="34" charset="0"/>
                <a:ea typeface="ＭＳ Ｐゴシック" pitchFamily="34" charset="-128"/>
              </a:rPr>
              <a:t>This slide and the next show the previous transactions posted to the ledger.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49</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fifth learning objective is prepare and use a trial balance.</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50</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A trial balance lists all accounts with their balances—assets first, then liabilities and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The trial balance summarizes all the account balances for the financial statements and shows whether total debits equal total credits. A trial balance may be taken at any time, but the most common time is at the end of the period. The trial balance facilitates the preparation of the financial statements. It is possible to prepare an income statement, statement of retained earnings, and balance sheet from the data shown in a trial balance.</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51</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dirty="0">
                <a:latin typeface="Arial" pitchFamily="34" charset="0"/>
                <a:ea typeface="ＭＳ Ｐゴシック" pitchFamily="34" charset="-128"/>
              </a:rPr>
              <a:t>This is the trial balance for Tara Inc. The first four accounts are assets and their balances are debits. The next account, accounts payable, is a liability and its balance is a credit. After accounts payable comes common shares, which is again a credit. All those accounts are found on the Balance Sheet. Dividends are next, with a debit balance. The remaining accounts are found on the Income Statement. First service revenue with a credit balance, and then all of the expenses listed separately with debit balances. The sum of the debits, $61,800 equals the sum of the credits.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52</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sixth learning objective is describe</a:t>
            </a:r>
            <a:r>
              <a:rPr lang="en-US" b="1" dirty="0">
                <a:ea typeface="ＭＳ Ｐゴシック" pitchFamily="34" charset="-128"/>
              </a:rPr>
              <a:t> </a:t>
            </a:r>
            <a:r>
              <a:rPr lang="en-US" dirty="0">
                <a:ea typeface="ＭＳ Ｐゴシック" pitchFamily="34" charset="-128"/>
              </a:rPr>
              <a:t>machine learning and its applications in accounting and business.</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53</a:t>
            </a:fld>
            <a:endParaRPr lang="en-US" dirty="0"/>
          </a:p>
        </p:txBody>
      </p:sp>
    </p:spTree>
    <p:extLst>
      <p:ext uri="{BB962C8B-B14F-4D97-AF65-F5344CB8AC3E}">
        <p14:creationId xmlns:p14="http://schemas.microsoft.com/office/powerpoint/2010/main" val="40331307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55</a:t>
            </a:fld>
            <a:endParaRPr lang="en-US" dirty="0"/>
          </a:p>
        </p:txBody>
      </p:sp>
    </p:spTree>
    <p:extLst>
      <p:ext uri="{BB962C8B-B14F-4D97-AF65-F5344CB8AC3E}">
        <p14:creationId xmlns:p14="http://schemas.microsoft.com/office/powerpoint/2010/main" val="37529099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This concludes Chapter Two.</a:t>
            </a:r>
          </a:p>
        </p:txBody>
      </p:sp>
      <p:sp>
        <p:nvSpPr>
          <p:cNvPr id="4" name="Slide Number Placeholder 3"/>
          <p:cNvSpPr>
            <a:spLocks noGrp="1"/>
          </p:cNvSpPr>
          <p:nvPr>
            <p:ph type="sldNum" sz="quarter" idx="10"/>
          </p:nvPr>
        </p:nvSpPr>
        <p:spPr/>
        <p:txBody>
          <a:bodyPr/>
          <a:lstStyle/>
          <a:p>
            <a:fld id="{A73D6722-9B4D-4E29-B226-C325925A8118}" type="slidenum">
              <a:rPr lang="en-US" smtClean="0"/>
              <a:pPr/>
              <a:t>57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5" y="4266824"/>
            <a:ext cx="5112661"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5958"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8/25/24</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643069D2-FAC5-B540-938A-D5C004FC4D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457200" y="5791200"/>
            <a:ext cx="5432996" cy="722376"/>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8/25/24</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4" name="Picture 23">
            <a:extLst>
              <a:ext uri="{FF2B5EF4-FFF2-40B4-BE49-F238E27FC236}">
                <a16:creationId xmlns:a16="http://schemas.microsoft.com/office/drawing/2014/main" id="{61D60701-02B4-D540-911A-B01AC4D2CAEF}"/>
              </a:ext>
            </a:extLst>
          </p:cNvPr>
          <p:cNvPicPr>
            <a:picLocks noChangeAspect="1"/>
          </p:cNvPicPr>
          <p:nvPr userDrawn="1"/>
        </p:nvPicPr>
        <p:blipFill>
          <a:blip r:embed="rId2"/>
          <a:stretch>
            <a:fillRect/>
          </a:stretch>
        </p:blipFill>
        <p:spPr>
          <a:xfrm>
            <a:off x="6827793" y="6147742"/>
            <a:ext cx="2060466" cy="527423"/>
          </a:xfrm>
          <a:prstGeom prst="rect">
            <a:avLst/>
          </a:prstGeom>
        </p:spPr>
      </p:pic>
      <p:pic>
        <p:nvPicPr>
          <p:cNvPr id="25" name="Picture 24">
            <a:extLst>
              <a:ext uri="{FF2B5EF4-FFF2-40B4-BE49-F238E27FC236}">
                <a16:creationId xmlns:a16="http://schemas.microsoft.com/office/drawing/2014/main" id="{91D4C5F0-5180-6746-A503-097869B289A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8/25/24</a:t>
            </a:fld>
            <a:endParaRPr lang="en-US" dirty="0"/>
          </a:p>
        </p:txBody>
      </p:sp>
      <p:grpSp>
        <p:nvGrpSpPr>
          <p:cNvPr id="17" name="Group 16"/>
          <p:cNvGrpSpPr/>
          <p:nvPr userDrawn="1"/>
        </p:nvGrpSpPr>
        <p:grpSpPr>
          <a:xfrm>
            <a:off x="0" y="0"/>
            <a:ext cx="9144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E043A7D3-71BA-0D4D-8606-264CCB5C2EA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45440" y="5907024"/>
            <a:ext cx="5101781" cy="722376"/>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8/25/24</a:t>
            </a:fld>
            <a:endParaRPr lang="en-US" dirty="0"/>
          </a:p>
        </p:txBody>
      </p:sp>
      <p:grpSp>
        <p:nvGrpSpPr>
          <p:cNvPr id="15" name="Group 14"/>
          <p:cNvGrpSpPr/>
          <p:nvPr userDrawn="1"/>
        </p:nvGrpSpPr>
        <p:grpSpPr>
          <a:xfrm>
            <a:off x="0" y="0"/>
            <a:ext cx="9144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5" name="Picture 24">
            <a:extLst>
              <a:ext uri="{FF2B5EF4-FFF2-40B4-BE49-F238E27FC236}">
                <a16:creationId xmlns:a16="http://schemas.microsoft.com/office/drawing/2014/main" id="{CA074264-89A3-EE45-B1CD-741D4DBB62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75921" y="5907024"/>
            <a:ext cx="4145280" cy="58694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5555773"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6681169"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7806565" y="685060"/>
            <a:ext cx="1065644" cy="286052"/>
          </a:xfrm>
        </p:spPr>
        <p:txBody>
          <a:bodyPr anchor="ctr">
            <a:noAutofit/>
          </a:bodyPr>
          <a:lstStyle>
            <a:lvl1pPr marL="0" indent="0" algn="ctr">
              <a:buNone/>
              <a:defRPr sz="10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4" name="Title 3"/>
          <p:cNvSpPr>
            <a:spLocks noGrp="1"/>
          </p:cNvSpPr>
          <p:nvPr>
            <p:ph type="title"/>
          </p:nvPr>
        </p:nvSpPr>
        <p:spPr>
          <a:xfrm>
            <a:off x="194914" y="434111"/>
            <a:ext cx="5284561" cy="895927"/>
          </a:xfrm>
        </p:spPr>
        <p:txBody>
          <a:bodyPr tIns="182880"/>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3" y="1709741"/>
            <a:ext cx="7049630" cy="2852737"/>
          </a:xfrm>
        </p:spPr>
        <p:txBody>
          <a:bodyPr anchor="b">
            <a:normAutofit/>
          </a:bodyPr>
          <a:lstStyle>
            <a:lvl1pPr algn="l">
              <a:defRPr sz="4000"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94913" y="4589466"/>
            <a:ext cx="7049630" cy="1500187"/>
          </a:xfrm>
        </p:spPr>
        <p:txBody>
          <a:bodyPr>
            <a:normAutofit/>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392" y="3727927"/>
            <a:ext cx="6577965" cy="1212056"/>
          </a:xfrm>
        </p:spPr>
        <p:txBody>
          <a:bodyPr anchor="b">
            <a:noAutofit/>
          </a:bodyPr>
          <a:lstStyle>
            <a:lvl1pPr algn="l">
              <a:defRPr sz="4000"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720392" y="4947816"/>
            <a:ext cx="6577965" cy="666549"/>
          </a:xfrm>
        </p:spPr>
        <p:txBody>
          <a:bodyPr anchor="t">
            <a:normAutofit/>
          </a:bodyPr>
          <a:lstStyle>
            <a:lvl1pPr marL="0" indent="0" algn="l">
              <a:buNone/>
              <a:defRPr sz="240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grpSp>
        <p:nvGrpSpPr>
          <p:cNvPr id="16" name="Group 15"/>
          <p:cNvGrpSpPr/>
          <p:nvPr userDrawn="1"/>
        </p:nvGrpSpPr>
        <p:grpSpPr>
          <a:xfrm>
            <a:off x="0" y="0"/>
            <a:ext cx="9144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F031D293-784B-194D-B017-C76342FBDC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619761" y="1925320"/>
            <a:ext cx="8280400" cy="1100969"/>
          </a:xfrm>
          <a:prstGeom prst="rect">
            <a:avLst/>
          </a:prstGeom>
        </p:spPr>
      </p:pic>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4" y="434111"/>
            <a:ext cx="8677297" cy="895927"/>
          </a:xfrm>
        </p:spPr>
        <p:txBody>
          <a:bodyPr/>
          <a:lstStyle/>
          <a:p>
            <a:r>
              <a:rPr lang="en-US" dirty="0"/>
              <a:t>CLICK TO EDIT MASTER TITLE STYLE</a:t>
            </a:r>
          </a:p>
        </p:txBody>
      </p:sp>
      <p:sp>
        <p:nvSpPr>
          <p:cNvPr id="3" name="Content Placeholder 2"/>
          <p:cNvSpPr>
            <a:spLocks noGrp="1"/>
          </p:cNvSpPr>
          <p:nvPr>
            <p:ph sz="half" idx="1"/>
          </p:nvPr>
        </p:nvSpPr>
        <p:spPr>
          <a:xfrm>
            <a:off x="194913" y="1413164"/>
            <a:ext cx="4190141"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8245" y="1413164"/>
            <a:ext cx="4243965"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912" y="1396192"/>
            <a:ext cx="4214718" cy="670270"/>
          </a:xfrm>
        </p:spPr>
        <p:txBody>
          <a:bodyPr anchor="b">
            <a:noAutofit/>
          </a:bodyPr>
          <a:lstStyle>
            <a:lvl1pPr marL="0" indent="0">
              <a:buNone/>
              <a:defRPr sz="2800" b="1" baseline="0">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94912" y="2184402"/>
            <a:ext cx="4214718"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77115" y="1396192"/>
            <a:ext cx="4195094" cy="670270"/>
          </a:xfrm>
        </p:spPr>
        <p:txBody>
          <a:bodyPr anchor="b">
            <a:normAutofit/>
          </a:bodyPr>
          <a:lstStyle>
            <a:lvl1pPr marL="0" indent="0">
              <a:buNone/>
              <a:defRPr sz="2800" b="1">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77115" y="2184402"/>
            <a:ext cx="4195094"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94914" y="434111"/>
            <a:ext cx="8677297" cy="895927"/>
          </a:xfrm>
        </p:spPr>
        <p:txBody>
          <a:bodyPr/>
          <a:lstStyle/>
          <a:p>
            <a:r>
              <a:rPr lang="en-US" dirty="0"/>
              <a:t>CLICK TO EDIT MASTER TITLE STYLE</a:t>
            </a:r>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47555"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cxnSp>
        <p:nvCxnSpPr>
          <p:cNvPr id="12" name="Straight Connector 11"/>
          <p:cNvCxnSpPr/>
          <p:nvPr userDrawn="1"/>
        </p:nvCxnSpPr>
        <p:spPr>
          <a:xfrm>
            <a:off x="2947556"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2947556"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95300" y="2420360"/>
            <a:ext cx="81534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2947556"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4762714" y="495661"/>
            <a:ext cx="4080486" cy="5757360"/>
          </a:xfrm>
        </p:spPr>
        <p:txBody>
          <a:bodyPr/>
          <a:lstStyle/>
          <a:p>
            <a:r>
              <a:rPr lang="en-US"/>
              <a:t>Click icon to add picture</a:t>
            </a:r>
          </a:p>
        </p:txBody>
      </p:sp>
      <p:sp>
        <p:nvSpPr>
          <p:cNvPr id="2" name="Title 1"/>
          <p:cNvSpPr>
            <a:spLocks noGrp="1"/>
          </p:cNvSpPr>
          <p:nvPr>
            <p:ph type="title" hasCustomPrompt="1"/>
          </p:nvPr>
        </p:nvSpPr>
        <p:spPr>
          <a:xfrm>
            <a:off x="640773"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2915434" cy="250337"/>
          </a:xfrm>
          <a:prstGeom prst="rect">
            <a:avLst/>
          </a:prstGeom>
        </p:spPr>
        <p:txBody>
          <a:bodyPr/>
          <a:lstStyle/>
          <a:p>
            <a:r>
              <a:rPr lang="en-US"/>
              <a:t>PRESENTATION TITLE</a:t>
            </a:r>
            <a:endParaRPr lang="en-US" dirty="0"/>
          </a:p>
        </p:txBody>
      </p:sp>
      <p:sp>
        <p:nvSpPr>
          <p:cNvPr id="15" name="Text Placeholder 14"/>
          <p:cNvSpPr>
            <a:spLocks noGrp="1"/>
          </p:cNvSpPr>
          <p:nvPr>
            <p:ph type="body" sz="quarter" idx="13"/>
          </p:nvPr>
        </p:nvSpPr>
        <p:spPr>
          <a:xfrm>
            <a:off x="408708" y="2409026"/>
            <a:ext cx="3713021"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640773"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640774"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640774"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solidFill>
                  <a:schemeClr val="bg1"/>
                </a:solidFill>
              </a:defRPr>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lvl1pPr>
              <a:defRPr>
                <a:solidFill>
                  <a:schemeClr val="bg1"/>
                </a:solidFill>
              </a:defRPr>
            </a:lvl1pPr>
          </a:lstStyle>
          <a:p>
            <a:r>
              <a:rPr lang="en-US"/>
              <a:t>PRESENTATION TITLE</a:t>
            </a:r>
            <a:endParaRPr lang="en-US" dirty="0"/>
          </a:p>
        </p:txBody>
      </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10" name="Footer Placeholder 9"/>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8" name="Group 7"/>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8EF7CDFE-4AD1-C042-9B69-C29262BF44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2857" y="411480"/>
            <a:ext cx="5683943" cy="4160520"/>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ALT">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7" name="Footer Placeholder 6"/>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10" name="Group 9"/>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7"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bg1"/>
                </a:solidFill>
                <a:latin typeface="Verdana" charset="0"/>
                <a:ea typeface="Verdana" charset="0"/>
                <a:cs typeface="Verdana" charset="0"/>
              </a:defRPr>
            </a:lvl1pPr>
          </a:lstStyle>
          <a:p>
            <a:pPr marL="0" lvl="0" algn="ctr">
              <a:lnSpc>
                <a:spcPct val="75000"/>
              </a:lnSpc>
            </a:pPr>
            <a:r>
              <a:rPr lang="en-US" dirty="0"/>
              <a:t>click to edit master closing slide</a:t>
            </a:r>
          </a:p>
        </p:txBody>
      </p:sp>
      <p:pic>
        <p:nvPicPr>
          <p:cNvPr id="18" name="Picture 17">
            <a:extLst>
              <a:ext uri="{FF2B5EF4-FFF2-40B4-BE49-F238E27FC236}">
                <a16:creationId xmlns:a16="http://schemas.microsoft.com/office/drawing/2014/main" id="{710C154A-5454-7D48-9F68-2CA0B87496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22120" y="355600"/>
            <a:ext cx="5683943" cy="4160520"/>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5" name="Date Placeholder 14"/>
          <p:cNvSpPr>
            <a:spLocks noGrp="1"/>
          </p:cNvSpPr>
          <p:nvPr>
            <p:ph type="dt" sz="half" idx="19"/>
          </p:nvPr>
        </p:nvSpPr>
        <p:spPr/>
        <p:txBody>
          <a:bodyPr/>
          <a:lstStyle/>
          <a:p>
            <a:fld id="{A9DF6EFB-3F44-496C-A842-1E0B3D3B975A}" type="datetimeFigureOut">
              <a:rPr lang="en-US" smtClean="0"/>
              <a:pPr/>
              <a:t>8/25/24</a:t>
            </a:fld>
            <a:endParaRPr lang="en-US" dirty="0"/>
          </a:p>
        </p:txBody>
      </p:sp>
      <p:sp>
        <p:nvSpPr>
          <p:cNvPr id="17" name="Footer Placeholder 16"/>
          <p:cNvSpPr>
            <a:spLocks noGrp="1"/>
          </p:cNvSpPr>
          <p:nvPr>
            <p:ph type="ftr" sz="quarter" idx="20"/>
          </p:nvPr>
        </p:nvSpPr>
        <p:spPr>
          <a:xfrm>
            <a:off x="93969" y="6172200"/>
            <a:ext cx="8595360" cy="457200"/>
          </a:xfrm>
        </p:spPr>
        <p:txBody>
          <a:bodyPr/>
          <a:lstStyle/>
          <a:p>
            <a:endParaRPr lang="en-US" dirty="0"/>
          </a:p>
        </p:txBody>
      </p:sp>
      <p:sp>
        <p:nvSpPr>
          <p:cNvPr id="18" name="Slide Number Placeholder 17"/>
          <p:cNvSpPr>
            <a:spLocks noGrp="1"/>
          </p:cNvSpPr>
          <p:nvPr>
            <p:ph type="sldNum" sz="quarter" idx="21"/>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6210070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8/25/24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200990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Figures+Tabl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7" name="Content Placeholder 6"/>
          <p:cNvSpPr>
            <a:spLocks noGrp="1"/>
          </p:cNvSpPr>
          <p:nvPr>
            <p:ph sz="quarter" idx="14"/>
          </p:nvPr>
        </p:nvSpPr>
        <p:spPr>
          <a:xfrm>
            <a:off x="457200" y="5410200"/>
            <a:ext cx="8229600" cy="758952"/>
          </a:xfrm>
        </p:spPr>
        <p:txBody>
          <a:bodyPr/>
          <a:lstStyle>
            <a:lvl1pPr marL="0" indent="0">
              <a:buNone/>
              <a:defRPr/>
            </a:lvl1pPr>
          </a:lstStyle>
          <a:p>
            <a:pPr lvl="0"/>
            <a:endParaRPr lang="en-US" dirty="0"/>
          </a:p>
        </p:txBody>
      </p:sp>
      <p:sp>
        <p:nvSpPr>
          <p:cNvPr id="4" name="Content Placeholder 3"/>
          <p:cNvSpPr>
            <a:spLocks noGrp="1"/>
          </p:cNvSpPr>
          <p:nvPr>
            <p:ph sz="quarter" idx="13"/>
          </p:nvPr>
        </p:nvSpPr>
        <p:spPr>
          <a:xfrm>
            <a:off x="457200" y="4495800"/>
            <a:ext cx="8229600" cy="762000"/>
          </a:xfrm>
        </p:spPr>
        <p:txBody>
          <a:bodyPr/>
          <a:lstStyle>
            <a:lvl1pPr marL="0" indent="0">
              <a:buNone/>
              <a:defRPr/>
            </a:lvl1pPr>
          </a:lstStyle>
          <a:p>
            <a:pPr lvl="0"/>
            <a:endParaRPr lang="en-US" dirty="0"/>
          </a:p>
        </p:txBody>
      </p:sp>
      <p:sp>
        <p:nvSpPr>
          <p:cNvPr id="3" name="Content Placeholder 2"/>
          <p:cNvSpPr>
            <a:spLocks noGrp="1"/>
          </p:cNvSpPr>
          <p:nvPr>
            <p:ph idx="1"/>
          </p:nvPr>
        </p:nvSpPr>
        <p:spPr>
          <a:xfrm>
            <a:off x="457200" y="1600201"/>
            <a:ext cx="8229600" cy="762000"/>
          </a:xfrm>
        </p:spPr>
        <p:txBody>
          <a:bodyPr/>
          <a:lstStyle>
            <a:lvl1pPr marL="0" indent="0">
              <a:buClr>
                <a:srgbClr val="007FA3"/>
              </a:buClr>
              <a:buSzPct val="100000"/>
              <a:buNone/>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a:prstGeom prst="rect">
            <a:avLst/>
          </a:prstGeom>
        </p:spPr>
        <p:txBody>
          <a:bodyPr/>
          <a:lstStyle/>
          <a:p>
            <a:fld id="{A9DF6EFB-3F44-496C-A842-1E0B3D3B975A}" type="datetimeFigureOut">
              <a:rPr lang="en-US" smtClean="0"/>
              <a:pPr/>
              <a:t>8/25/24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738753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5"/>
          <a:stretch>
            <a:fillRect/>
          </a:stretch>
        </p:blipFill>
        <p:spPr>
          <a:xfrm>
            <a:off x="6827793" y="6147742"/>
            <a:ext cx="2060466" cy="527423"/>
          </a:xfrm>
          <a:prstGeom prst="rect">
            <a:avLst/>
          </a:prstGeom>
        </p:spPr>
      </p:pic>
      <p:sp>
        <p:nvSpPr>
          <p:cNvPr id="2" name="Title Placeholder 1"/>
          <p:cNvSpPr>
            <a:spLocks noGrp="1"/>
          </p:cNvSpPr>
          <p:nvPr>
            <p:ph type="title"/>
          </p:nvPr>
        </p:nvSpPr>
        <p:spPr>
          <a:xfrm>
            <a:off x="194914" y="434111"/>
            <a:ext cx="8677297" cy="895927"/>
          </a:xfrm>
          <a:prstGeom prst="rect">
            <a:avLst/>
          </a:prstGeom>
        </p:spPr>
        <p:txBody>
          <a:bodyPr vert="horz" lIns="91440" tIns="9144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913" y="1413166"/>
            <a:ext cx="8677297"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5" name="Group 14"/>
          <p:cNvGrpSpPr/>
          <p:nvPr userDrawn="1"/>
        </p:nvGrpSpPr>
        <p:grpSpPr>
          <a:xfrm>
            <a:off x="0" y="0"/>
            <a:ext cx="9144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4" name="Picture 13">
            <a:extLst>
              <a:ext uri="{FF2B5EF4-FFF2-40B4-BE49-F238E27FC236}">
                <a16:creationId xmlns:a16="http://schemas.microsoft.com/office/drawing/2014/main" id="{1DEEB02D-A9CE-7C41-A3A6-27E44A035530}"/>
              </a:ext>
            </a:extLst>
          </p:cNvPr>
          <p:cNvPicPr>
            <a:picLocks noChangeAspect="1"/>
          </p:cNvPicPr>
          <p:nvPr userDrawn="1"/>
        </p:nvPicPr>
        <p:blipFill rotWithShape="1">
          <a:blip r:embed="rId26">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3" r:id="rId22"/>
    <p:sldLayoutId id="2147483724" r:id="rId2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p:titleStyle>
    <p:body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557" y="585927"/>
            <a:ext cx="8262905" cy="1917132"/>
          </a:xfrm>
        </p:spPr>
        <p:txBody>
          <a:bodyPr/>
          <a:lstStyle/>
          <a:p>
            <a:r>
              <a:rPr lang="en-US" sz="4400" dirty="0"/>
              <a:t>Chapter 2</a:t>
            </a:r>
            <a:br>
              <a:rPr lang="en-US" sz="4400" dirty="0"/>
            </a:br>
            <a:r>
              <a:rPr lang="en-US" sz="4400" dirty="0"/>
              <a:t>Recording Business Transactions</a:t>
            </a:r>
          </a:p>
        </p:txBody>
      </p:sp>
      <p:sp>
        <p:nvSpPr>
          <p:cNvPr id="3" name="Subtitle 2"/>
          <p:cNvSpPr>
            <a:spLocks noGrp="1"/>
          </p:cNvSpPr>
          <p:nvPr>
            <p:ph type="subTitle" idx="1"/>
          </p:nvPr>
        </p:nvSpPr>
        <p:spPr>
          <a:xfrm>
            <a:off x="339555" y="3790766"/>
            <a:ext cx="5112661" cy="1142608"/>
          </a:xfrm>
        </p:spPr>
        <p:txBody>
          <a:bodyPr>
            <a:normAutofit/>
          </a:bodyPr>
          <a:lstStyle/>
          <a:p>
            <a:endParaRPr lang="en-US" dirty="0"/>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4ED5-82BA-440D-AA9D-94862EE8C8D5}"/>
              </a:ext>
            </a:extLst>
          </p:cNvPr>
          <p:cNvSpPr>
            <a:spLocks noGrp="1"/>
          </p:cNvSpPr>
          <p:nvPr>
            <p:ph type="title"/>
          </p:nvPr>
        </p:nvSpPr>
        <p:spPr/>
        <p:txBody>
          <a:bodyPr/>
          <a:lstStyle/>
          <a:p>
            <a:r>
              <a:rPr lang="en-US" dirty="0"/>
              <a:t>Chapter 2 Learning Objectives</a:t>
            </a:r>
          </a:p>
        </p:txBody>
      </p:sp>
      <p:sp>
        <p:nvSpPr>
          <p:cNvPr id="3" name="Content Placeholder 2">
            <a:extLst>
              <a:ext uri="{FF2B5EF4-FFF2-40B4-BE49-F238E27FC236}">
                <a16:creationId xmlns:a16="http://schemas.microsoft.com/office/drawing/2014/main" id="{1F3005F3-EEB6-48A4-95A6-F8BE0481792D}"/>
              </a:ext>
            </a:extLst>
          </p:cNvPr>
          <p:cNvSpPr>
            <a:spLocks noGrp="1"/>
          </p:cNvSpPr>
          <p:nvPr>
            <p:ph idx="1"/>
          </p:nvPr>
        </p:nvSpPr>
        <p:spPr/>
        <p:txBody>
          <a:bodyPr/>
          <a:lstStyle/>
          <a:p>
            <a:pPr marL="457200" indent="-457200">
              <a:buFont typeface="+mj-lt"/>
              <a:buAutoNum type="arabicPeriod"/>
            </a:pPr>
            <a:r>
              <a:rPr lang="en-CA" b="1" dirty="0">
                <a:ea typeface="ＭＳ Ｐゴシック" pitchFamily="34" charset="-128"/>
              </a:rPr>
              <a:t>Recognize </a:t>
            </a:r>
            <a:r>
              <a:rPr lang="en-CA" dirty="0">
                <a:ea typeface="ＭＳ Ｐゴシック" pitchFamily="34" charset="-128"/>
              </a:rPr>
              <a:t>a business transaction and </a:t>
            </a:r>
            <a:r>
              <a:rPr lang="en-CA" b="1" dirty="0">
                <a:ea typeface="ＭＳ Ｐゴシック" pitchFamily="34" charset="-128"/>
              </a:rPr>
              <a:t>describe</a:t>
            </a:r>
            <a:r>
              <a:rPr lang="en-CA" dirty="0">
                <a:ea typeface="ＭＳ Ｐゴシック" pitchFamily="34" charset="-128"/>
              </a:rPr>
              <a:t> the various types of accounts in which it can be recorded</a:t>
            </a:r>
          </a:p>
          <a:p>
            <a:pPr marL="457200" indent="-457200">
              <a:buFont typeface="+mj-lt"/>
              <a:buAutoNum type="arabicPeriod"/>
            </a:pPr>
            <a:r>
              <a:rPr lang="en-CA" b="1" dirty="0">
                <a:ea typeface="ＭＳ Ｐゴシック" pitchFamily="34" charset="-128"/>
              </a:rPr>
              <a:t>Determine</a:t>
            </a:r>
            <a:r>
              <a:rPr lang="en-CA" dirty="0">
                <a:ea typeface="ＭＳ Ｐゴシック" pitchFamily="34" charset="-128"/>
              </a:rPr>
              <a:t> the impact of business transactions on the accounting equation</a:t>
            </a:r>
          </a:p>
          <a:p>
            <a:pPr marL="457200" indent="-457200">
              <a:buFont typeface="+mj-lt"/>
              <a:buAutoNum type="arabicPeriod"/>
            </a:pPr>
            <a:r>
              <a:rPr lang="en-US" b="1" dirty="0">
                <a:ea typeface="ＭＳ Ｐゴシック" pitchFamily="34" charset="-128"/>
              </a:rPr>
              <a:t>Analyze</a:t>
            </a:r>
            <a:r>
              <a:rPr lang="en-US" dirty="0">
                <a:ea typeface="ＭＳ Ｐゴシック" pitchFamily="34" charset="-128"/>
              </a:rPr>
              <a:t> business transactions using T-accounts</a:t>
            </a:r>
            <a:endParaRPr lang="en-US" dirty="0"/>
          </a:p>
          <a:p>
            <a:pPr marL="457200" indent="-457200">
              <a:buFont typeface="+mj-lt"/>
              <a:buAutoNum type="arabicPeriod"/>
            </a:pPr>
            <a:r>
              <a:rPr lang="en-US" b="1" dirty="0">
                <a:ea typeface="ＭＳ Ｐゴシック" pitchFamily="34" charset="-128"/>
              </a:rPr>
              <a:t>Record</a:t>
            </a:r>
            <a:r>
              <a:rPr lang="en-US" dirty="0">
                <a:ea typeface="ＭＳ Ｐゴシック" pitchFamily="34" charset="-128"/>
              </a:rPr>
              <a:t> business transactions in the journal and post them to the ledger</a:t>
            </a:r>
            <a:endParaRPr lang="en-US" dirty="0"/>
          </a:p>
          <a:p>
            <a:pPr marL="457200" indent="-457200">
              <a:buFont typeface="+mj-lt"/>
              <a:buAutoNum type="arabicPeriod"/>
            </a:pPr>
            <a:r>
              <a:rPr lang="en-US" b="1" dirty="0">
                <a:ea typeface="ＭＳ Ｐゴシック" pitchFamily="34" charset="-128"/>
              </a:rPr>
              <a:t>Prepare </a:t>
            </a:r>
            <a:r>
              <a:rPr lang="en-US" dirty="0">
                <a:ea typeface="ＭＳ Ｐゴシック" pitchFamily="34" charset="-128"/>
              </a:rPr>
              <a:t>and use a trial balance</a:t>
            </a:r>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325423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First 5 Steps of the Accounting Cycle</a:t>
            </a:r>
          </a:p>
        </p:txBody>
      </p:sp>
      <p:pic>
        <p:nvPicPr>
          <p:cNvPr id="5" name="Picture 4" descr="The accounting cycle is as follows.&#10;Recognize a business transaction and describe the various types of accounts in which it can be recorded.&#10;Illustrate the impact of business transactions on the accounting equation.&#10;Analyze business transactions using T accounts.&#10;Record business transactions in the journal and post them to the ledger.&#10;Prepare and use a trial balance.">
            <a:extLst>
              <a:ext uri="{FF2B5EF4-FFF2-40B4-BE49-F238E27FC236}">
                <a16:creationId xmlns:a16="http://schemas.microsoft.com/office/drawing/2014/main" id="{0C2144CF-4A26-E515-EC0A-EB783698E7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463" y="2209800"/>
            <a:ext cx="7695074" cy="3124200"/>
          </a:xfrm>
          <a:prstGeom prst="rect">
            <a:avLst/>
          </a:prstGeom>
        </p:spPr>
      </p:pic>
    </p:spTree>
    <p:extLst>
      <p:ext uri="{BB962C8B-B14F-4D97-AF65-F5344CB8AC3E}">
        <p14:creationId xmlns:p14="http://schemas.microsoft.com/office/powerpoint/2010/main" val="325789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One</a:t>
            </a:r>
          </a:p>
        </p:txBody>
      </p:sp>
      <p:sp>
        <p:nvSpPr>
          <p:cNvPr id="3" name="Content Placeholder 2"/>
          <p:cNvSpPr>
            <a:spLocks noGrp="1"/>
          </p:cNvSpPr>
          <p:nvPr>
            <p:ph type="subTitle" idx="1"/>
          </p:nvPr>
        </p:nvSpPr>
        <p:spPr/>
        <p:txBody>
          <a:bodyPr>
            <a:normAutofit fontScale="77500" lnSpcReduction="20000"/>
          </a:bodyPr>
          <a:lstStyle/>
          <a:p>
            <a:r>
              <a:rPr lang="en-CA" b="1" dirty="0">
                <a:ea typeface="ＭＳ Ｐゴシック" pitchFamily="34" charset="-128"/>
              </a:rPr>
              <a:t>Recognize </a:t>
            </a:r>
            <a:r>
              <a:rPr lang="en-CA" dirty="0">
                <a:ea typeface="ＭＳ Ｐゴシック" pitchFamily="34" charset="-128"/>
              </a:rPr>
              <a:t>a business transaction and </a:t>
            </a:r>
            <a:r>
              <a:rPr lang="en-CA" b="1" dirty="0">
                <a:ea typeface="ＭＳ Ｐゴシック" pitchFamily="34" charset="-128"/>
              </a:rPr>
              <a:t>describe</a:t>
            </a:r>
            <a:r>
              <a:rPr lang="en-CA" dirty="0">
                <a:ea typeface="ＭＳ Ｐゴシック" pitchFamily="34" charset="-128"/>
              </a:rPr>
              <a:t> the various types of accounts in which it can be recorded </a:t>
            </a:r>
            <a:endParaRPr lang="en-US" dirty="0"/>
          </a:p>
        </p:txBody>
      </p:sp>
    </p:spTree>
    <p:extLst>
      <p:ext uri="{BB962C8B-B14F-4D97-AF65-F5344CB8AC3E}">
        <p14:creationId xmlns:p14="http://schemas.microsoft.com/office/powerpoint/2010/main" val="916067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The Account</a:t>
            </a:r>
            <a:endParaRPr lang="en-US" dirty="0"/>
          </a:p>
        </p:txBody>
      </p:sp>
      <p:sp>
        <p:nvSpPr>
          <p:cNvPr id="10" name="Content Placeholder 9"/>
          <p:cNvSpPr>
            <a:spLocks noGrp="1"/>
          </p:cNvSpPr>
          <p:nvPr>
            <p:ph idx="1"/>
          </p:nvPr>
        </p:nvSpPr>
        <p:spPr>
          <a:xfrm>
            <a:off x="457200" y="2209800"/>
            <a:ext cx="8229600" cy="3916363"/>
          </a:xfrm>
        </p:spPr>
        <p:txBody>
          <a:bodyPr/>
          <a:lstStyle/>
          <a:p>
            <a:r>
              <a:rPr lang="en-US" dirty="0">
                <a:ea typeface="ＭＳ Ｐゴシック" pitchFamily="34" charset="-128"/>
              </a:rPr>
              <a:t>Account is a record of each asset, liability, and shareholders</a:t>
            </a:r>
            <a:r>
              <a:rPr lang="en-US" altLang="en-US" dirty="0">
                <a:ea typeface="ＭＳ Ｐゴシック" pitchFamily="34" charset="-128"/>
              </a:rPr>
              <a:t>’</a:t>
            </a:r>
            <a:r>
              <a:rPr lang="en-US" dirty="0">
                <a:ea typeface="ＭＳ Ｐゴシック" pitchFamily="34" charset="-128"/>
              </a:rPr>
              <a:t> equity element</a:t>
            </a:r>
          </a:p>
          <a:p>
            <a:pPr lvl="1"/>
            <a:r>
              <a:rPr lang="en-US" dirty="0">
                <a:ea typeface="ＭＳ Ｐゴシック" pitchFamily="34" charset="-128"/>
              </a:rPr>
              <a:t>Basic summary device of accounting</a:t>
            </a:r>
          </a:p>
        </p:txBody>
      </p:sp>
      <p:sp>
        <p:nvSpPr>
          <p:cNvPr id="5" name="Title 1"/>
          <p:cNvSpPr txBox="1">
            <a:spLocks/>
          </p:cNvSpPr>
          <p:nvPr/>
        </p:nvSpPr>
        <p:spPr>
          <a:xfrm>
            <a:off x="457200" y="1371600"/>
            <a:ext cx="8229600" cy="6400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a:lstStyle>
          <a:p>
            <a:r>
              <a:rPr lang="en-US" sz="3200" dirty="0">
                <a:solidFill>
                  <a:schemeClr val="tx1"/>
                </a:solidFill>
                <a:latin typeface="+mj-lt"/>
                <a:ea typeface="ＭＳ Ｐゴシック" pitchFamily="34" charset="-128"/>
              </a:rPr>
              <a:t>Assets = Liabilities + Shareholders’ Equity</a:t>
            </a:r>
            <a:endParaRPr lang="en-US" sz="3200" dirty="0">
              <a:solidFill>
                <a:schemeClr val="tx1"/>
              </a:solidFill>
              <a:latin typeface="+mj-lt"/>
            </a:endParaRPr>
          </a:p>
        </p:txBody>
      </p:sp>
    </p:spTree>
    <p:extLst>
      <p:ext uri="{BB962C8B-B14F-4D97-AF65-F5344CB8AC3E}">
        <p14:creationId xmlns:p14="http://schemas.microsoft.com/office/powerpoint/2010/main" val="2979464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Assets </a:t>
            </a:r>
            <a:r>
              <a:rPr lang="en-US" sz="2000" b="0" dirty="0"/>
              <a:t>(1 of 2)</a:t>
            </a:r>
            <a:endParaRPr lang="en-US" b="0" dirty="0"/>
          </a:p>
        </p:txBody>
      </p:sp>
      <p:sp>
        <p:nvSpPr>
          <p:cNvPr id="3" name="Text Placeholder 2"/>
          <p:cNvSpPr>
            <a:spLocks noGrp="1"/>
          </p:cNvSpPr>
          <p:nvPr>
            <p:ph type="body" sz="quarter" idx="18"/>
          </p:nvPr>
        </p:nvSpPr>
        <p:spPr>
          <a:xfrm>
            <a:off x="457200" y="1457450"/>
            <a:ext cx="8229600" cy="447550"/>
          </a:xfrm>
        </p:spPr>
        <p:txBody>
          <a:bodyPr>
            <a:normAutofit lnSpcReduction="10000"/>
          </a:bodyPr>
          <a:lstStyle/>
          <a:p>
            <a:pPr marL="0" indent="0">
              <a:buNone/>
            </a:pPr>
            <a:r>
              <a:rPr lang="en-US" dirty="0"/>
              <a:t>Economic resources that provide future benefit</a:t>
            </a:r>
          </a:p>
        </p:txBody>
      </p:sp>
      <p:sp>
        <p:nvSpPr>
          <p:cNvPr id="4" name="Text Placeholder 3"/>
          <p:cNvSpPr>
            <a:spLocks noGrp="1"/>
          </p:cNvSpPr>
          <p:nvPr>
            <p:ph type="body" idx="1"/>
          </p:nvPr>
        </p:nvSpPr>
        <p:spPr>
          <a:xfrm>
            <a:off x="1600200" y="2133600"/>
            <a:ext cx="2743200" cy="1828800"/>
          </a:xfrm>
        </p:spPr>
        <p:txBody>
          <a:bodyPr/>
          <a:lstStyle/>
          <a:p>
            <a:pPr lvl="0"/>
            <a:r>
              <a:rPr lang="en-US" sz="2800" dirty="0"/>
              <a:t>Cash</a:t>
            </a:r>
            <a:endParaRPr lang="en-US" sz="2000" dirty="0"/>
          </a:p>
        </p:txBody>
      </p:sp>
      <p:sp>
        <p:nvSpPr>
          <p:cNvPr id="5" name="Content Placeholder 4"/>
          <p:cNvSpPr>
            <a:spLocks noGrp="1"/>
          </p:cNvSpPr>
          <p:nvPr>
            <p:ph sz="half" idx="2"/>
          </p:nvPr>
        </p:nvSpPr>
        <p:spPr>
          <a:xfrm>
            <a:off x="4831080" y="2133600"/>
            <a:ext cx="2743200" cy="1828800"/>
          </a:xfrm>
        </p:spPr>
        <p:txBody>
          <a:bodyPr/>
          <a:lstStyle/>
          <a:p>
            <a:pPr marL="0" indent="0"/>
            <a:r>
              <a:rPr lang="en-US" sz="2800" dirty="0"/>
              <a:t>Accounts Receivable</a:t>
            </a:r>
          </a:p>
        </p:txBody>
      </p:sp>
      <p:sp>
        <p:nvSpPr>
          <p:cNvPr id="6" name="Text Placeholder 5"/>
          <p:cNvSpPr>
            <a:spLocks noGrp="1"/>
          </p:cNvSpPr>
          <p:nvPr>
            <p:ph type="body" sz="quarter" idx="3"/>
          </p:nvPr>
        </p:nvSpPr>
        <p:spPr>
          <a:xfrm>
            <a:off x="1600200" y="4267200"/>
            <a:ext cx="2743200" cy="1828800"/>
          </a:xfrm>
        </p:spPr>
        <p:txBody>
          <a:bodyPr/>
          <a:lstStyle/>
          <a:p>
            <a:r>
              <a:rPr lang="en-US" sz="2800" dirty="0"/>
              <a:t>Prepaid Expenses</a:t>
            </a:r>
          </a:p>
        </p:txBody>
      </p:sp>
      <p:sp>
        <p:nvSpPr>
          <p:cNvPr id="7" name="Content Placeholder 6"/>
          <p:cNvSpPr>
            <a:spLocks noGrp="1"/>
          </p:cNvSpPr>
          <p:nvPr>
            <p:ph sz="quarter" idx="4"/>
          </p:nvPr>
        </p:nvSpPr>
        <p:spPr>
          <a:xfrm>
            <a:off x="4839716" y="4290350"/>
            <a:ext cx="2743200" cy="1828800"/>
          </a:xfrm>
        </p:spPr>
        <p:txBody>
          <a:bodyPr/>
          <a:lstStyle/>
          <a:p>
            <a:pPr marL="0" indent="0"/>
            <a:r>
              <a:rPr lang="en-US" sz="2800" dirty="0"/>
              <a:t>Inventory</a:t>
            </a:r>
          </a:p>
        </p:txBody>
      </p:sp>
    </p:spTree>
    <p:extLst>
      <p:ext uri="{BB962C8B-B14F-4D97-AF65-F5344CB8AC3E}">
        <p14:creationId xmlns:p14="http://schemas.microsoft.com/office/powerpoint/2010/main" val="2904728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Assets </a:t>
            </a:r>
            <a:r>
              <a:rPr lang="en-US" sz="2000" b="0" dirty="0"/>
              <a:t>(2 of 2)</a:t>
            </a:r>
            <a:endParaRPr lang="en-US" b="0" dirty="0"/>
          </a:p>
        </p:txBody>
      </p:sp>
      <p:sp>
        <p:nvSpPr>
          <p:cNvPr id="4" name="Text Placeholder 3"/>
          <p:cNvSpPr>
            <a:spLocks noGrp="1"/>
          </p:cNvSpPr>
          <p:nvPr>
            <p:ph type="body" idx="1"/>
          </p:nvPr>
        </p:nvSpPr>
        <p:spPr>
          <a:xfrm>
            <a:off x="1600200" y="2133600"/>
            <a:ext cx="2743200" cy="1828800"/>
          </a:xfrm>
        </p:spPr>
        <p:txBody>
          <a:bodyPr/>
          <a:lstStyle/>
          <a:p>
            <a:r>
              <a:rPr lang="en-US" sz="2800" dirty="0"/>
              <a:t>Land</a:t>
            </a:r>
          </a:p>
        </p:txBody>
      </p:sp>
      <p:sp>
        <p:nvSpPr>
          <p:cNvPr id="5" name="Content Placeholder 4"/>
          <p:cNvSpPr>
            <a:spLocks noGrp="1"/>
          </p:cNvSpPr>
          <p:nvPr>
            <p:ph sz="half" idx="2"/>
          </p:nvPr>
        </p:nvSpPr>
        <p:spPr>
          <a:xfrm>
            <a:off x="4831080" y="2133600"/>
            <a:ext cx="2743200" cy="1828800"/>
          </a:xfrm>
        </p:spPr>
        <p:txBody>
          <a:bodyPr/>
          <a:lstStyle/>
          <a:p>
            <a:pPr marL="0" indent="0"/>
            <a:r>
              <a:rPr lang="en-US" sz="2800" dirty="0"/>
              <a:t>Buildings</a:t>
            </a:r>
          </a:p>
        </p:txBody>
      </p:sp>
      <p:sp>
        <p:nvSpPr>
          <p:cNvPr id="6" name="Text Placeholder 5"/>
          <p:cNvSpPr>
            <a:spLocks noGrp="1"/>
          </p:cNvSpPr>
          <p:nvPr>
            <p:ph type="body" sz="quarter" idx="3"/>
          </p:nvPr>
        </p:nvSpPr>
        <p:spPr>
          <a:xfrm>
            <a:off x="3200400" y="4267200"/>
            <a:ext cx="2743200" cy="1828800"/>
          </a:xfrm>
        </p:spPr>
        <p:txBody>
          <a:bodyPr/>
          <a:lstStyle/>
          <a:p>
            <a:r>
              <a:rPr lang="en-US" sz="2800" dirty="0"/>
              <a:t>Equipment, Furniture, and Fixtures</a:t>
            </a:r>
          </a:p>
        </p:txBody>
      </p:sp>
    </p:spTree>
    <p:extLst>
      <p:ext uri="{BB962C8B-B14F-4D97-AF65-F5344CB8AC3E}">
        <p14:creationId xmlns:p14="http://schemas.microsoft.com/office/powerpoint/2010/main" val="323303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Liabilities</a:t>
            </a:r>
          </a:p>
        </p:txBody>
      </p:sp>
      <p:sp>
        <p:nvSpPr>
          <p:cNvPr id="4" name="Text Placeholder 3"/>
          <p:cNvSpPr>
            <a:spLocks noGrp="1"/>
          </p:cNvSpPr>
          <p:nvPr>
            <p:ph type="body" idx="1"/>
          </p:nvPr>
        </p:nvSpPr>
        <p:spPr>
          <a:xfrm>
            <a:off x="381000" y="2130552"/>
            <a:ext cx="2743200" cy="3200400"/>
          </a:xfrm>
        </p:spPr>
        <p:txBody>
          <a:bodyPr/>
          <a:lstStyle/>
          <a:p>
            <a:pPr lvl="0"/>
            <a:r>
              <a:rPr lang="en-US" sz="2800" dirty="0"/>
              <a:t>Accounts Payable</a:t>
            </a:r>
          </a:p>
        </p:txBody>
      </p:sp>
      <p:sp>
        <p:nvSpPr>
          <p:cNvPr id="5" name="Content Placeholder 4"/>
          <p:cNvSpPr>
            <a:spLocks noGrp="1"/>
          </p:cNvSpPr>
          <p:nvPr>
            <p:ph sz="half" idx="2"/>
          </p:nvPr>
        </p:nvSpPr>
        <p:spPr>
          <a:xfrm>
            <a:off x="3276600" y="2130552"/>
            <a:ext cx="2743200" cy="3200400"/>
          </a:xfrm>
        </p:spPr>
        <p:txBody>
          <a:bodyPr/>
          <a:lstStyle/>
          <a:p>
            <a:pPr marL="0" indent="0"/>
            <a:r>
              <a:rPr lang="en-US" sz="2800" dirty="0"/>
              <a:t>Loans Payable</a:t>
            </a:r>
          </a:p>
        </p:txBody>
      </p:sp>
      <p:sp>
        <p:nvSpPr>
          <p:cNvPr id="6" name="Text Placeholder 5"/>
          <p:cNvSpPr>
            <a:spLocks noGrp="1"/>
          </p:cNvSpPr>
          <p:nvPr>
            <p:ph type="body" sz="quarter" idx="3"/>
          </p:nvPr>
        </p:nvSpPr>
        <p:spPr>
          <a:xfrm>
            <a:off x="6180875" y="2130552"/>
            <a:ext cx="2743200" cy="3200400"/>
          </a:xfrm>
        </p:spPr>
        <p:txBody>
          <a:bodyPr/>
          <a:lstStyle/>
          <a:p>
            <a:r>
              <a:rPr lang="en-US" sz="2800" dirty="0"/>
              <a:t>Accrued Liabilities</a:t>
            </a:r>
          </a:p>
        </p:txBody>
      </p:sp>
    </p:spTree>
    <p:extLst>
      <p:ext uri="{BB962C8B-B14F-4D97-AF65-F5344CB8AC3E}">
        <p14:creationId xmlns:p14="http://schemas.microsoft.com/office/powerpoint/2010/main" val="2263252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Shareholders</a:t>
            </a:r>
            <a:r>
              <a:rPr lang="en-US" altLang="en-US" dirty="0"/>
              <a:t>’</a:t>
            </a:r>
            <a:r>
              <a:rPr lang="en-US" dirty="0"/>
              <a:t> Equity</a:t>
            </a:r>
          </a:p>
        </p:txBody>
      </p:sp>
      <p:sp>
        <p:nvSpPr>
          <p:cNvPr id="3" name="Text Placeholder 2"/>
          <p:cNvSpPr>
            <a:spLocks noGrp="1"/>
          </p:cNvSpPr>
          <p:nvPr>
            <p:ph type="body" sz="quarter" idx="18"/>
          </p:nvPr>
        </p:nvSpPr>
        <p:spPr>
          <a:xfrm>
            <a:off x="457200" y="1457450"/>
            <a:ext cx="8229600" cy="441454"/>
          </a:xfrm>
        </p:spPr>
        <p:txBody>
          <a:bodyPr>
            <a:normAutofit lnSpcReduction="10000"/>
          </a:bodyPr>
          <a:lstStyle/>
          <a:p>
            <a:pPr marL="0" indent="0">
              <a:buNone/>
            </a:pPr>
            <a:r>
              <a:rPr lang="en-US" dirty="0"/>
              <a:t>Owners</a:t>
            </a:r>
            <a:r>
              <a:rPr lang="en-US" altLang="en-US" dirty="0"/>
              <a:t>’</a:t>
            </a:r>
            <a:r>
              <a:rPr lang="en-US" dirty="0"/>
              <a:t> claim to assets</a:t>
            </a:r>
          </a:p>
        </p:txBody>
      </p:sp>
      <p:sp>
        <p:nvSpPr>
          <p:cNvPr id="4" name="Text Placeholder 3"/>
          <p:cNvSpPr>
            <a:spLocks noGrp="1"/>
          </p:cNvSpPr>
          <p:nvPr>
            <p:ph type="body" idx="1"/>
          </p:nvPr>
        </p:nvSpPr>
        <p:spPr>
          <a:xfrm>
            <a:off x="272000" y="2130552"/>
            <a:ext cx="2743200" cy="1828800"/>
          </a:xfrm>
        </p:spPr>
        <p:txBody>
          <a:bodyPr/>
          <a:lstStyle/>
          <a:p>
            <a:pPr lvl="0"/>
            <a:r>
              <a:rPr lang="en-US" sz="2800" dirty="0"/>
              <a:t>Common Shares</a:t>
            </a:r>
          </a:p>
        </p:txBody>
      </p:sp>
      <p:sp>
        <p:nvSpPr>
          <p:cNvPr id="5" name="Content Placeholder 4"/>
          <p:cNvSpPr>
            <a:spLocks noGrp="1"/>
          </p:cNvSpPr>
          <p:nvPr>
            <p:ph sz="half" idx="2"/>
          </p:nvPr>
        </p:nvSpPr>
        <p:spPr>
          <a:xfrm>
            <a:off x="3186939" y="2130552"/>
            <a:ext cx="2743200" cy="1828800"/>
          </a:xfrm>
        </p:spPr>
        <p:txBody>
          <a:bodyPr/>
          <a:lstStyle/>
          <a:p>
            <a:pPr marL="0" indent="0"/>
            <a:r>
              <a:rPr lang="en-US" sz="2800" dirty="0"/>
              <a:t>Retained Earnings</a:t>
            </a:r>
          </a:p>
        </p:txBody>
      </p:sp>
      <p:sp>
        <p:nvSpPr>
          <p:cNvPr id="6" name="Text Placeholder 5"/>
          <p:cNvSpPr>
            <a:spLocks noGrp="1"/>
          </p:cNvSpPr>
          <p:nvPr>
            <p:ph type="body" sz="quarter" idx="3"/>
          </p:nvPr>
        </p:nvSpPr>
        <p:spPr>
          <a:xfrm>
            <a:off x="6114905" y="2130552"/>
            <a:ext cx="2743200" cy="1828800"/>
          </a:xfrm>
        </p:spPr>
        <p:txBody>
          <a:bodyPr/>
          <a:lstStyle/>
          <a:p>
            <a:r>
              <a:rPr lang="en-US" sz="2800" dirty="0"/>
              <a:t>Dividends</a:t>
            </a:r>
          </a:p>
        </p:txBody>
      </p:sp>
      <p:sp>
        <p:nvSpPr>
          <p:cNvPr id="7" name="Content Placeholder 6"/>
          <p:cNvSpPr>
            <a:spLocks noGrp="1"/>
          </p:cNvSpPr>
          <p:nvPr>
            <p:ph sz="quarter" idx="4"/>
          </p:nvPr>
        </p:nvSpPr>
        <p:spPr>
          <a:xfrm>
            <a:off x="3186939" y="4191000"/>
            <a:ext cx="2743200" cy="1828800"/>
          </a:xfrm>
        </p:spPr>
        <p:txBody>
          <a:bodyPr/>
          <a:lstStyle/>
          <a:p>
            <a:pPr marL="0" indent="0"/>
            <a:r>
              <a:rPr lang="en-US" sz="2800" dirty="0"/>
              <a:t>Revenues and Expenses</a:t>
            </a:r>
          </a:p>
        </p:txBody>
      </p:sp>
    </p:spTree>
    <p:extLst>
      <p:ext uri="{BB962C8B-B14F-4D97-AF65-F5344CB8AC3E}">
        <p14:creationId xmlns:p14="http://schemas.microsoft.com/office/powerpoint/2010/main" val="2837223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Shareholders</a:t>
            </a:r>
            <a:r>
              <a:rPr lang="en-US" altLang="en-US" dirty="0">
                <a:ea typeface="ＭＳ Ｐゴシック" pitchFamily="34" charset="-128"/>
              </a:rPr>
              <a:t>’</a:t>
            </a:r>
            <a:r>
              <a:rPr lang="en-US" dirty="0">
                <a:ea typeface="ＭＳ Ｐゴシック" pitchFamily="34" charset="-128"/>
              </a:rPr>
              <a:t> Equity Accounts</a:t>
            </a:r>
            <a:endParaRPr lang="en-US" dirty="0"/>
          </a:p>
        </p:txBody>
      </p:sp>
      <p:graphicFrame>
        <p:nvGraphicFramePr>
          <p:cNvPr id="5" name="Table 4"/>
          <p:cNvGraphicFramePr>
            <a:graphicFrameLocks noGrp="1"/>
          </p:cNvGraphicFramePr>
          <p:nvPr/>
        </p:nvGraphicFramePr>
        <p:xfrm>
          <a:off x="346551" y="2042160"/>
          <a:ext cx="8450898" cy="2460170"/>
        </p:xfrm>
        <a:graphic>
          <a:graphicData uri="http://schemas.openxmlformats.org/drawingml/2006/table">
            <a:tbl>
              <a:tblPr firstRow="1" bandRow="1">
                <a:tableStyleId>{2D5ABB26-0587-4C30-8999-92F81FD0307C}</a:tableStyleId>
              </a:tblPr>
              <a:tblGrid>
                <a:gridCol w="2314893">
                  <a:extLst>
                    <a:ext uri="{9D8B030D-6E8A-4147-A177-3AD203B41FA5}">
                      <a16:colId xmlns:a16="http://schemas.microsoft.com/office/drawing/2014/main" val="20000"/>
                    </a:ext>
                  </a:extLst>
                </a:gridCol>
                <a:gridCol w="6136005">
                  <a:extLst>
                    <a:ext uri="{9D8B030D-6E8A-4147-A177-3AD203B41FA5}">
                      <a16:colId xmlns:a16="http://schemas.microsoft.com/office/drawing/2014/main" val="20001"/>
                    </a:ext>
                  </a:extLst>
                </a:gridCol>
              </a:tblGrid>
              <a:tr h="492034">
                <a:tc>
                  <a:txBody>
                    <a:bodyPr/>
                    <a:lstStyle/>
                    <a:p>
                      <a:r>
                        <a:rPr kumimoji="0" lang="en-US" sz="1800" b="0" i="0" u="none" strike="noStrike" cap="none" normalizeH="0" baseline="0" dirty="0">
                          <a:ln>
                            <a:noFill/>
                          </a:ln>
                          <a:solidFill>
                            <a:srgbClr val="000000"/>
                          </a:solidFill>
                          <a:effectLst/>
                          <a:latin typeface="+mn-lt"/>
                          <a:ea typeface="ＭＳ Ｐゴシック" pitchFamily="34" charset="-128"/>
                        </a:rPr>
                        <a:t>Common Shares</a:t>
                      </a:r>
                      <a:endParaRPr lang="en-US" sz="18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800" b="0" i="0" u="none" strike="noStrike" cap="none" normalizeH="0" baseline="0" dirty="0">
                          <a:ln>
                            <a:noFill/>
                          </a:ln>
                          <a:solidFill>
                            <a:srgbClr val="000000"/>
                          </a:solidFill>
                          <a:effectLst/>
                          <a:latin typeface="+mn-lt"/>
                          <a:ea typeface="ＭＳ Ｐゴシック" pitchFamily="34" charset="-128"/>
                        </a:rPr>
                        <a:t>Owners</a:t>
                      </a:r>
                      <a:r>
                        <a:rPr lang="ja-JP" altLang="en-US" dirty="0"/>
                        <a:t>’ </a:t>
                      </a:r>
                      <a:r>
                        <a:rPr kumimoji="0" lang="en-US" altLang="ja-JP" sz="1800" b="0" i="0" u="none" strike="noStrike" cap="none" normalizeH="0" baseline="0" dirty="0">
                          <a:ln>
                            <a:noFill/>
                          </a:ln>
                          <a:solidFill>
                            <a:srgbClr val="000000"/>
                          </a:solidFill>
                          <a:effectLst/>
                          <a:latin typeface="+mn-lt"/>
                          <a:ea typeface="ＭＳ Ｐゴシック" pitchFamily="34" charset="-128"/>
                        </a:rPr>
                        <a:t>investment in the corporation</a:t>
                      </a:r>
                      <a:endParaRPr lang="en-US" sz="18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920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Retained Earnings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Cumulative net income (loss) less dividends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920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Dividends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Distributions to owners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92034">
                <a:tc>
                  <a:txBody>
                    <a:bodyPr/>
                    <a:lstStyle/>
                    <a:p>
                      <a:r>
                        <a:rPr kumimoji="0" lang="en-US" sz="1800" b="0" i="0" u="none" strike="noStrike" cap="none" normalizeH="0" baseline="0" dirty="0">
                          <a:ln>
                            <a:noFill/>
                          </a:ln>
                          <a:solidFill>
                            <a:srgbClr val="000000"/>
                          </a:solidFill>
                          <a:effectLst/>
                          <a:latin typeface="+mn-lt"/>
                          <a:ea typeface="ＭＳ Ｐゴシック" pitchFamily="34" charset="-128"/>
                        </a:rPr>
                        <a:t>Revenues</a:t>
                      </a:r>
                      <a:endParaRPr lang="en-US" sz="18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Income from providing goods and 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20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Expenses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Costs of operating a business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5658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Two</a:t>
            </a:r>
          </a:p>
        </p:txBody>
      </p:sp>
      <p:sp>
        <p:nvSpPr>
          <p:cNvPr id="3" name="Content Placeholder 2"/>
          <p:cNvSpPr>
            <a:spLocks noGrp="1"/>
          </p:cNvSpPr>
          <p:nvPr>
            <p:ph type="subTitle" idx="1"/>
          </p:nvPr>
        </p:nvSpPr>
        <p:spPr/>
        <p:txBody>
          <a:bodyPr>
            <a:normAutofit lnSpcReduction="10000"/>
          </a:bodyPr>
          <a:lstStyle/>
          <a:p>
            <a:r>
              <a:rPr lang="en-CA" b="1" dirty="0">
                <a:ea typeface="ＭＳ Ｐゴシック" pitchFamily="34" charset="-128"/>
              </a:rPr>
              <a:t>Determine</a:t>
            </a:r>
            <a:r>
              <a:rPr lang="en-CA" dirty="0">
                <a:ea typeface="ＭＳ Ｐゴシック" pitchFamily="34" charset="-128"/>
              </a:rPr>
              <a:t> the impact of business transactions on the accounting equation </a:t>
            </a:r>
            <a:endParaRPr lang="en-US" dirty="0"/>
          </a:p>
        </p:txBody>
      </p:sp>
    </p:spTree>
    <p:extLst>
      <p:ext uri="{BB962C8B-B14F-4D97-AF65-F5344CB8AC3E}">
        <p14:creationId xmlns:p14="http://schemas.microsoft.com/office/powerpoint/2010/main" val="3502067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(1 of 13)</a:t>
            </a:r>
            <a:endParaRPr lang="en-US" b="0" dirty="0"/>
          </a:p>
        </p:txBody>
      </p:sp>
      <p:sp>
        <p:nvSpPr>
          <p:cNvPr id="3" name="Content Placeholder 2"/>
          <p:cNvSpPr>
            <a:spLocks noGrp="1"/>
          </p:cNvSpPr>
          <p:nvPr>
            <p:ph idx="1"/>
          </p:nvPr>
        </p:nvSpPr>
        <p:spPr>
          <a:xfrm>
            <a:off x="457200" y="1828800"/>
            <a:ext cx="8229600" cy="4297363"/>
          </a:xfrm>
        </p:spPr>
        <p:txBody>
          <a:bodyPr anchor="ctr"/>
          <a:lstStyle/>
          <a:p>
            <a:pPr marL="0" indent="0" algn="ctr">
              <a:buNone/>
            </a:pPr>
            <a:r>
              <a:rPr lang="en-US" sz="2400" dirty="0"/>
              <a:t>A </a:t>
            </a:r>
            <a:r>
              <a:rPr lang="en-US" sz="2400" i="1" dirty="0"/>
              <a:t>transaction</a:t>
            </a:r>
            <a:r>
              <a:rPr lang="en-US" sz="2400" dirty="0"/>
              <a:t> is an event that both affects </a:t>
            </a:r>
            <a:br>
              <a:rPr lang="en-US" sz="2400" dirty="0"/>
            </a:br>
            <a:r>
              <a:rPr lang="en-US" sz="2400" dirty="0"/>
              <a:t>the financial position of the business entity </a:t>
            </a:r>
            <a:br>
              <a:rPr lang="en-US" sz="2400" dirty="0"/>
            </a:br>
            <a:r>
              <a:rPr lang="en-US" sz="2400" dirty="0"/>
              <a:t>and can be reliably </a:t>
            </a:r>
            <a:r>
              <a:rPr lang="en-US" dirty="0"/>
              <a:t>measur</a:t>
            </a:r>
            <a:r>
              <a:rPr lang="en-US" sz="2400" dirty="0"/>
              <a:t>ed.</a:t>
            </a:r>
          </a:p>
        </p:txBody>
      </p:sp>
    </p:spTree>
    <p:extLst>
      <p:ext uri="{BB962C8B-B14F-4D97-AF65-F5344CB8AC3E}">
        <p14:creationId xmlns:p14="http://schemas.microsoft.com/office/powerpoint/2010/main" val="2865703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(2 of 13)</a:t>
            </a:r>
            <a:endParaRPr lang="en-US" sz="2000" b="0" dirty="0"/>
          </a:p>
        </p:txBody>
      </p:sp>
      <p:sp>
        <p:nvSpPr>
          <p:cNvPr id="3" name="Content Placeholder 2"/>
          <p:cNvSpPr>
            <a:spLocks noGrp="1"/>
          </p:cNvSpPr>
          <p:nvPr>
            <p:ph idx="1"/>
          </p:nvPr>
        </p:nvSpPr>
        <p:spPr>
          <a:xfrm>
            <a:off x="457200" y="1480292"/>
            <a:ext cx="8229600" cy="409468"/>
          </a:xfrm>
        </p:spPr>
        <p:txBody>
          <a:bodyPr>
            <a:normAutofit fontScale="92500" lnSpcReduction="10000"/>
          </a:bodyPr>
          <a:lstStyle/>
          <a:p>
            <a:pPr algn="ctr">
              <a:buNone/>
            </a:pPr>
            <a:r>
              <a:rPr lang="en-US" sz="2400" b="1" kern="10" dirty="0">
                <a:ln w="9525">
                  <a:noFill/>
                  <a:round/>
                  <a:headEnd/>
                  <a:tailEnd/>
                </a:ln>
                <a:cs typeface="Arial"/>
              </a:rPr>
              <a:t>Transaction 1:</a:t>
            </a:r>
            <a:endParaRPr lang="en-US" sz="2400" b="1" dirty="0"/>
          </a:p>
        </p:txBody>
      </p:sp>
      <p:sp>
        <p:nvSpPr>
          <p:cNvPr id="4" name="Content Placeholder 3"/>
          <p:cNvSpPr>
            <a:spLocks noGrp="1"/>
          </p:cNvSpPr>
          <p:nvPr>
            <p:ph idx="13"/>
          </p:nvPr>
        </p:nvSpPr>
        <p:spPr>
          <a:xfrm>
            <a:off x="457200" y="2098875"/>
            <a:ext cx="8229600" cy="949125"/>
          </a:xfrm>
          <a:ln w="12700">
            <a:solidFill>
              <a:schemeClr val="tx1"/>
            </a:solidFill>
          </a:ln>
        </p:spPr>
        <p:txBody>
          <a:bodyPr>
            <a:normAutofit lnSpcReduction="10000"/>
          </a:bodyPr>
          <a:lstStyle/>
          <a:p>
            <a:pPr algn="ctr">
              <a:buNone/>
            </a:pPr>
            <a:r>
              <a:rPr lang="en-US" dirty="0"/>
              <a:t>Booth, Savard, and several fellow engineers invest $50,000 to begin </a:t>
            </a:r>
            <a:br>
              <a:rPr lang="en-US" dirty="0"/>
            </a:br>
            <a:r>
              <a:rPr lang="en-US" dirty="0"/>
              <a:t>Tara Inc., and the business </a:t>
            </a:r>
            <a:br>
              <a:rPr lang="en-US" dirty="0"/>
            </a:br>
            <a:r>
              <a:rPr lang="en-US" dirty="0"/>
              <a:t>issues common shares.</a:t>
            </a:r>
          </a:p>
        </p:txBody>
      </p:sp>
      <p:graphicFrame>
        <p:nvGraphicFramePr>
          <p:cNvPr id="2" name="Table 1"/>
          <p:cNvGraphicFramePr>
            <a:graphicFrameLocks noGrp="1"/>
          </p:cNvGraphicFramePr>
          <p:nvPr>
            <p:extLst>
              <p:ext uri="{D42A27DB-BD31-4B8C-83A1-F6EECF244321}">
                <p14:modId xmlns:p14="http://schemas.microsoft.com/office/powerpoint/2010/main" val="4117586444"/>
              </p:ext>
            </p:extLst>
          </p:nvPr>
        </p:nvGraphicFramePr>
        <p:xfrm>
          <a:off x="96139" y="3215640"/>
          <a:ext cx="8931086" cy="1584960"/>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20000"/>
                    </a:ext>
                  </a:extLst>
                </a:gridCol>
                <a:gridCol w="1042035">
                  <a:extLst>
                    <a:ext uri="{9D8B030D-6E8A-4147-A177-3AD203B41FA5}">
                      <a16:colId xmlns:a16="http://schemas.microsoft.com/office/drawing/2014/main" val="20001"/>
                    </a:ext>
                  </a:extLst>
                </a:gridCol>
                <a:gridCol w="246380">
                  <a:extLst>
                    <a:ext uri="{9D8B030D-6E8A-4147-A177-3AD203B41FA5}">
                      <a16:colId xmlns:a16="http://schemas.microsoft.com/office/drawing/2014/main" val="20002"/>
                    </a:ext>
                  </a:extLst>
                </a:gridCol>
                <a:gridCol w="359093">
                  <a:extLst>
                    <a:ext uri="{9D8B030D-6E8A-4147-A177-3AD203B41FA5}">
                      <a16:colId xmlns:a16="http://schemas.microsoft.com/office/drawing/2014/main" val="20003"/>
                    </a:ext>
                  </a:extLst>
                </a:gridCol>
                <a:gridCol w="246380">
                  <a:extLst>
                    <a:ext uri="{9D8B030D-6E8A-4147-A177-3AD203B41FA5}">
                      <a16:colId xmlns:a16="http://schemas.microsoft.com/office/drawing/2014/main" val="20004"/>
                    </a:ext>
                  </a:extLst>
                </a:gridCol>
                <a:gridCol w="1402080">
                  <a:extLst>
                    <a:ext uri="{9D8B030D-6E8A-4147-A177-3AD203B41FA5}">
                      <a16:colId xmlns:a16="http://schemas.microsoft.com/office/drawing/2014/main" val="20005"/>
                    </a:ext>
                  </a:extLst>
                </a:gridCol>
                <a:gridCol w="379730">
                  <a:extLst>
                    <a:ext uri="{9D8B030D-6E8A-4147-A177-3AD203B41FA5}">
                      <a16:colId xmlns:a16="http://schemas.microsoft.com/office/drawing/2014/main" val="20006"/>
                    </a:ext>
                  </a:extLst>
                </a:gridCol>
                <a:gridCol w="1995805">
                  <a:extLst>
                    <a:ext uri="{9D8B030D-6E8A-4147-A177-3AD203B41FA5}">
                      <a16:colId xmlns:a16="http://schemas.microsoft.com/office/drawing/2014/main" val="20007"/>
                    </a:ext>
                  </a:extLst>
                </a:gridCol>
                <a:gridCol w="246380">
                  <a:extLst>
                    <a:ext uri="{9D8B030D-6E8A-4147-A177-3AD203B41FA5}">
                      <a16:colId xmlns:a16="http://schemas.microsoft.com/office/drawing/2014/main" val="20008"/>
                    </a:ext>
                  </a:extLst>
                </a:gridCol>
                <a:gridCol w="2523935">
                  <a:extLst>
                    <a:ext uri="{9D8B030D-6E8A-4147-A177-3AD203B41FA5}">
                      <a16:colId xmlns:a16="http://schemas.microsoft.com/office/drawing/2014/main" val="20009"/>
                    </a:ext>
                  </a:extLst>
                </a:gridCol>
              </a:tblGrid>
              <a:tr h="777240">
                <a:tc>
                  <a:txBody>
                    <a:bodyPr/>
                    <a:lstStyle/>
                    <a:p>
                      <a:endParaRPr 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br>
                        <a:rPr lang="en-US" sz="1600" b="1" u="none" kern="1200" baseline="0" dirty="0">
                          <a:solidFill>
                            <a:schemeClr val="tx1"/>
                          </a:solidFill>
                          <a:latin typeface="+mn-lt"/>
                          <a:ea typeface="+mn-ea"/>
                          <a:cs typeface="+mn-cs"/>
                        </a:rPr>
                      </a:br>
                      <a:br>
                        <a:rPr lang="en-US" sz="1600" b="1" u="none" kern="1200" baseline="0" dirty="0">
                          <a:solidFill>
                            <a:schemeClr val="tx1"/>
                          </a:solidFill>
                          <a:latin typeface="+mn-lt"/>
                          <a:ea typeface="+mn-ea"/>
                          <a:cs typeface="+mn-cs"/>
                        </a:rPr>
                      </a:br>
                      <a:r>
                        <a:rPr lang="en-US" sz="1400" b="1" u="none" kern="1200" baseline="0" dirty="0">
                          <a:solidFill>
                            <a:schemeClr val="tx1"/>
                          </a:solidFill>
                          <a:latin typeface="+mn-lt"/>
                          <a:ea typeface="+mn-ea"/>
                          <a:cs typeface="+mn-cs"/>
                        </a:rPr>
                        <a:t>ASSETS</a:t>
                      </a:r>
                      <a:endParaRPr lang="en-US" sz="1400" u="none"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u="none"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br>
                        <a:rPr lang="en-US" sz="1600" b="1" u="none" kern="1200" baseline="0" dirty="0">
                          <a:solidFill>
                            <a:schemeClr val="tx1"/>
                          </a:solidFill>
                          <a:latin typeface="+mn-lt"/>
                          <a:ea typeface="+mn-ea"/>
                          <a:cs typeface="+mn-cs"/>
                        </a:rPr>
                      </a:br>
                      <a:br>
                        <a:rPr lang="en-US" sz="1600" b="1" u="none" kern="1200" baseline="0" dirty="0">
                          <a:solidFill>
                            <a:schemeClr val="tx1"/>
                          </a:solidFill>
                          <a:latin typeface="+mn-lt"/>
                          <a:ea typeface="+mn-ea"/>
                          <a:cs typeface="+mn-cs"/>
                        </a:rPr>
                      </a:br>
                      <a:r>
                        <a:rPr lang="en-US" sz="1400" b="1" u="none" kern="1200" baseline="0" dirty="0">
                          <a:solidFill>
                            <a:schemeClr val="tx1"/>
                          </a:solidFill>
                          <a:latin typeface="+mn-lt"/>
                          <a:ea typeface="+mn-ea"/>
                          <a:cs typeface="+mn-cs"/>
                        </a:rPr>
                        <a:t>LIABILITIES</a:t>
                      </a:r>
                      <a:endParaRPr lang="en-US" sz="1400" u="none"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600" b="0" i="0" u="none" strike="noStrike" cap="none" normalizeH="0" baseline="0" dirty="0">
                          <a:ln>
                            <a:noFill/>
                          </a:ln>
                          <a:solidFill>
                            <a:schemeClr val="tx1"/>
                          </a:solidFill>
                          <a:effectLst/>
                          <a:latin typeface="+mn-lt"/>
                          <a:ea typeface="ＭＳ Ｐゴシック" pitchFamily="34" charset="-128"/>
                        </a:rPr>
                      </a:br>
                      <a:br>
                        <a:rPr kumimoji="0" lang="en-US" sz="1600" b="0" i="0" u="none" strike="noStrike" cap="none" normalizeH="0" baseline="0" dirty="0">
                          <a:ln>
                            <a:noFill/>
                          </a:ln>
                          <a:solidFill>
                            <a:schemeClr val="tx1"/>
                          </a:solidFill>
                          <a:effectLst/>
                          <a:latin typeface="+mn-lt"/>
                          <a:ea typeface="ＭＳ Ｐゴシック" pitchFamily="34" charset="-128"/>
                        </a:rPr>
                      </a:br>
                      <a:r>
                        <a:rPr kumimoji="0" lang="en-US" sz="1600" b="0" i="0" u="none" strike="noStrike" cap="none" normalizeH="0" baseline="0" dirty="0">
                          <a:ln>
                            <a:noFill/>
                          </a:ln>
                          <a:solidFill>
                            <a:schemeClr val="tx1"/>
                          </a:solidFill>
                          <a:effectLst/>
                          <a:latin typeface="+mn-lt"/>
                          <a:ea typeface="ＭＳ Ｐゴシック" pitchFamily="34" charset="-128"/>
                        </a:rPr>
                        <a: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br>
                        <a:rPr lang="en-US" sz="1600" b="1" kern="1200" baseline="0" dirty="0">
                          <a:solidFill>
                            <a:schemeClr val="tx1"/>
                          </a:solidFill>
                          <a:latin typeface="+mn-lt"/>
                          <a:ea typeface="+mn-ea"/>
                          <a:cs typeface="+mn-cs"/>
                        </a:rPr>
                      </a:br>
                      <a:r>
                        <a:rPr lang="en-US" sz="1400" b="1" kern="1200" baseline="0" dirty="0">
                          <a:solidFill>
                            <a:schemeClr val="tx1"/>
                          </a:solidFill>
                          <a:latin typeface="+mn-lt"/>
                          <a:ea typeface="+mn-ea"/>
                          <a:cs typeface="+mn-cs"/>
                        </a:rPr>
                        <a:t>SHAREHOLDERS’</a:t>
                      </a:r>
                      <a:br>
                        <a:rPr lang="en-US" sz="1400" b="1" kern="1200" baseline="0" dirty="0">
                          <a:solidFill>
                            <a:schemeClr val="tx1"/>
                          </a:solidFill>
                          <a:latin typeface="+mn-lt"/>
                          <a:ea typeface="+mn-ea"/>
                          <a:cs typeface="+mn-cs"/>
                        </a:rPr>
                      </a:br>
                      <a:r>
                        <a:rPr lang="en-US" sz="1400" b="1" kern="1200" baseline="0" dirty="0">
                          <a:solidFill>
                            <a:schemeClr val="tx1"/>
                          </a:solidFill>
                          <a:latin typeface="+mn-lt"/>
                          <a:ea typeface="+mn-ea"/>
                          <a:cs typeface="+mn-cs"/>
                        </a:rPr>
                        <a:t>EQUITY</a:t>
                      </a:r>
                      <a:endParaRPr kumimoji="0" lang="en-US" sz="1400" b="0" i="0" u="none" strike="noStrike" cap="none" normalizeH="0" baseline="0" dirty="0">
                        <a:ln>
                          <a:noFill/>
                        </a:ln>
                        <a:solidFill>
                          <a:schemeClr val="tx1"/>
                        </a:solidFill>
                        <a:effectLst/>
                        <a:latin typeface="+mn-lt"/>
                        <a:ea typeface="ＭＳ Ｐゴシック" pitchFamily="34" charset="-128"/>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mn-lt"/>
                        <a:ea typeface="ＭＳ Ｐゴシック" pitchFamily="34" charset="-128"/>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baseline="0" dirty="0">
                          <a:solidFill>
                            <a:schemeClr val="tx1"/>
                          </a:solidFill>
                          <a:latin typeface="+mn-lt"/>
                          <a:ea typeface="+mn-ea"/>
                          <a:cs typeface="+mn-cs"/>
                        </a:rPr>
                        <a:t>TYPE OF</a:t>
                      </a:r>
                      <a:endParaRPr lang="en-US" sz="1400" dirty="0">
                        <a:solidFill>
                          <a:schemeClr val="tx1"/>
                        </a:solidFill>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baseline="0" dirty="0">
                          <a:solidFill>
                            <a:schemeClr val="tx1"/>
                          </a:solidFill>
                          <a:latin typeface="+mn-lt"/>
                          <a:ea typeface="+mn-ea"/>
                          <a:cs typeface="+mn-cs"/>
                        </a:rPr>
                        <a:t>SHAREHOLDERS’</a:t>
                      </a:r>
                      <a:br>
                        <a:rPr lang="en-US" sz="1400" b="1" kern="1200" baseline="0" dirty="0">
                          <a:solidFill>
                            <a:schemeClr val="tx1"/>
                          </a:solidFill>
                          <a:latin typeface="+mn-lt"/>
                          <a:ea typeface="+mn-ea"/>
                          <a:cs typeface="+mn-cs"/>
                        </a:rPr>
                      </a:br>
                      <a:r>
                        <a:rPr lang="en-US" sz="1400" b="1" kern="1200" baseline="0" dirty="0">
                          <a:solidFill>
                            <a:schemeClr val="tx1"/>
                          </a:solidFill>
                          <a:latin typeface="+mn-lt"/>
                          <a:ea typeface="+mn-ea"/>
                          <a:cs typeface="+mn-cs"/>
                        </a:rPr>
                        <a:t>EQUITY TRANSACTION</a:t>
                      </a:r>
                      <a:endParaRPr kumimoji="0" lang="en-US" sz="1400" b="0" i="0" u="none" strike="noStrike" cap="none" normalizeH="0" baseline="0" dirty="0">
                        <a:ln>
                          <a:noFill/>
                        </a:ln>
                        <a:solidFill>
                          <a:srgbClr val="000000"/>
                        </a:solidFill>
                        <a:effectLst/>
                        <a:latin typeface="+mn-lt"/>
                        <a:ea typeface="ＭＳ Ｐゴシック" pitchFamily="34" charset="-128"/>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21920">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baseline="0" dirty="0">
                          <a:solidFill>
                            <a:schemeClr val="tx1"/>
                          </a:solidFill>
                          <a:latin typeface="+mn-lt"/>
                          <a:ea typeface="+mn-ea"/>
                          <a:cs typeface="+mn-cs"/>
                        </a:rPr>
                        <a:t>Cash</a:t>
                      </a:r>
                      <a:endParaRPr kumimoji="0" lang="en-US" sz="16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600" dirty="0">
                          <a:solidFill>
                            <a:schemeClr val="tx1"/>
                          </a:solidFill>
                          <a:latin typeface="+mn-lt"/>
                        </a:rPr>
                        <a: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u="none"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u="none"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baseline="0" dirty="0">
                          <a:solidFill>
                            <a:schemeClr val="tx1"/>
                          </a:solidFill>
                          <a:latin typeface="+mn-lt"/>
                          <a:ea typeface="+mn-ea"/>
                          <a:cs typeface="+mn-cs"/>
                        </a:rPr>
                        <a:t>Common Shares</a:t>
                      </a: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26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rgbClr val="000000"/>
                          </a:solidFill>
                          <a:effectLst/>
                          <a:latin typeface="+mn-lt"/>
                          <a:ea typeface="ＭＳ Ｐゴシック" pitchFamily="34" charset="-128"/>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rgbClr val="000000"/>
                          </a:solidFill>
                          <a:effectLst/>
                          <a:latin typeface="+mn-lt"/>
                          <a:ea typeface="ＭＳ Ｐゴシック" pitchFamily="34" charset="-128"/>
                        </a:rPr>
                        <a:t>+ 50,000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rgbClr val="000000"/>
                          </a:solidFill>
                          <a:effectLst/>
                          <a:latin typeface="+mn-lt"/>
                          <a:ea typeface="ＭＳ Ｐゴシック" pitchFamily="34" charset="-128"/>
                        </a:rPr>
                        <a:t>+</a:t>
                      </a:r>
                      <a:r>
                        <a:rPr lang="en-US" sz="1600" kern="1200" baseline="0" dirty="0">
                          <a:solidFill>
                            <a:schemeClr val="tx1"/>
                          </a:solidFill>
                          <a:latin typeface="+mn-lt"/>
                          <a:ea typeface="+mn-ea"/>
                          <a:cs typeface="+mn-cs"/>
                        </a:rPr>
                        <a:t>50,000</a:t>
                      </a: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Issued common shares</a:t>
                      </a: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6" name="Right Brace 5"/>
          <p:cNvSpPr/>
          <p:nvPr/>
        </p:nvSpPr>
        <p:spPr>
          <a:xfrm>
            <a:off x="1655950" y="3938086"/>
            <a:ext cx="149901" cy="80549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Left Brace 4"/>
          <p:cNvSpPr/>
          <p:nvPr/>
        </p:nvSpPr>
        <p:spPr>
          <a:xfrm>
            <a:off x="2293179" y="3942382"/>
            <a:ext cx="154443" cy="78962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336439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(3 of 13)</a:t>
            </a:r>
            <a:endParaRPr lang="en-US" sz="2000" b="0" dirty="0"/>
          </a:p>
        </p:txBody>
      </p:sp>
      <p:sp>
        <p:nvSpPr>
          <p:cNvPr id="3" name="Content Placeholder 2"/>
          <p:cNvSpPr>
            <a:spLocks noGrp="1"/>
          </p:cNvSpPr>
          <p:nvPr>
            <p:ph idx="1"/>
          </p:nvPr>
        </p:nvSpPr>
        <p:spPr>
          <a:xfrm>
            <a:off x="457200" y="1666569"/>
            <a:ext cx="8229600" cy="390831"/>
          </a:xfrm>
        </p:spPr>
        <p:txBody>
          <a:bodyPr>
            <a:normAutofit fontScale="92500" lnSpcReduction="20000"/>
          </a:bodyPr>
          <a:lstStyle/>
          <a:p>
            <a:pPr algn="ctr">
              <a:buNone/>
            </a:pPr>
            <a:r>
              <a:rPr lang="en-CA" sz="2400" b="1" dirty="0">
                <a:cs typeface="Arial" panose="020B0604020202020204" pitchFamily="34" charset="0"/>
              </a:rPr>
              <a:t>Transaction</a:t>
            </a:r>
            <a:r>
              <a:rPr lang="en-CA" sz="2400" b="1" kern="10" dirty="0">
                <a:gradFill rotWithShape="1">
                  <a:gsLst>
                    <a:gs pos="0">
                      <a:srgbClr val="FFFF00"/>
                    </a:gs>
                    <a:gs pos="100000">
                      <a:srgbClr val="FF9933"/>
                    </a:gs>
                  </a:gsLst>
                  <a:path path="rect">
                    <a:fillToRect l="50000" t="50000" r="50000" b="50000"/>
                  </a:path>
                </a:gradFill>
                <a:effectLst>
                  <a:outerShdw dist="35921" dir="2700000" algn="ctr" rotWithShape="0">
                    <a:srgbClr val="C0C0C0"/>
                  </a:outerShdw>
                </a:effectLst>
                <a:cs typeface="Arial" panose="020B0604020202020204" pitchFamily="34" charset="0"/>
              </a:rPr>
              <a:t> </a:t>
            </a:r>
            <a:r>
              <a:rPr lang="en-CA" sz="2400" b="1" dirty="0">
                <a:cs typeface="Arial" panose="020B0604020202020204" pitchFamily="34" charset="0"/>
              </a:rPr>
              <a:t>2:</a:t>
            </a:r>
            <a:endParaRPr lang="en-US" sz="2400" b="1" dirty="0"/>
          </a:p>
        </p:txBody>
      </p:sp>
      <p:sp>
        <p:nvSpPr>
          <p:cNvPr id="4" name="Content Placeholder 3"/>
          <p:cNvSpPr>
            <a:spLocks noGrp="1"/>
          </p:cNvSpPr>
          <p:nvPr>
            <p:ph idx="13"/>
          </p:nvPr>
        </p:nvSpPr>
        <p:spPr>
          <a:xfrm>
            <a:off x="457200" y="2196428"/>
            <a:ext cx="8229600" cy="773176"/>
          </a:xfrm>
          <a:ln w="12700">
            <a:solidFill>
              <a:schemeClr val="tx1"/>
            </a:solidFill>
          </a:ln>
        </p:spPr>
        <p:txBody>
          <a:bodyPr/>
          <a:lstStyle/>
          <a:p>
            <a:pPr algn="ctr">
              <a:buNone/>
            </a:pPr>
            <a:r>
              <a:rPr lang="en-US" dirty="0"/>
              <a:t>Tara Inc. purchases land and </a:t>
            </a:r>
            <a:br>
              <a:rPr lang="en-US" dirty="0"/>
            </a:br>
            <a:r>
              <a:rPr lang="en-US" dirty="0"/>
              <a:t>pays $40,000 in cash.</a:t>
            </a:r>
          </a:p>
        </p:txBody>
      </p:sp>
      <p:graphicFrame>
        <p:nvGraphicFramePr>
          <p:cNvPr id="13" name="Table 12"/>
          <p:cNvGraphicFramePr>
            <a:graphicFrameLocks noGrp="1"/>
          </p:cNvGraphicFramePr>
          <p:nvPr>
            <p:extLst>
              <p:ext uri="{D42A27DB-BD31-4B8C-83A1-F6EECF244321}">
                <p14:modId xmlns:p14="http://schemas.microsoft.com/office/powerpoint/2010/main" val="2667086780"/>
              </p:ext>
            </p:extLst>
          </p:nvPr>
        </p:nvGraphicFramePr>
        <p:xfrm>
          <a:off x="381000" y="3175001"/>
          <a:ext cx="8458198" cy="2463800"/>
        </p:xfrm>
        <a:graphic>
          <a:graphicData uri="http://schemas.openxmlformats.org/drawingml/2006/table">
            <a:tbl>
              <a:tblPr firstRow="1" bandRow="1">
                <a:tableStyleId>{2D5ABB26-0587-4C30-8999-92F81FD0307C}</a:tableStyleId>
              </a:tblPr>
              <a:tblGrid>
                <a:gridCol w="940210">
                  <a:extLst>
                    <a:ext uri="{9D8B030D-6E8A-4147-A177-3AD203B41FA5}">
                      <a16:colId xmlns:a16="http://schemas.microsoft.com/office/drawing/2014/main" val="20000"/>
                    </a:ext>
                  </a:extLst>
                </a:gridCol>
                <a:gridCol w="1202556">
                  <a:extLst>
                    <a:ext uri="{9D8B030D-6E8A-4147-A177-3AD203B41FA5}">
                      <a16:colId xmlns:a16="http://schemas.microsoft.com/office/drawing/2014/main" val="20001"/>
                    </a:ext>
                  </a:extLst>
                </a:gridCol>
                <a:gridCol w="345611">
                  <a:extLst>
                    <a:ext uri="{9D8B030D-6E8A-4147-A177-3AD203B41FA5}">
                      <a16:colId xmlns:a16="http://schemas.microsoft.com/office/drawing/2014/main" val="20002"/>
                    </a:ext>
                  </a:extLst>
                </a:gridCol>
                <a:gridCol w="1003696">
                  <a:extLst>
                    <a:ext uri="{9D8B030D-6E8A-4147-A177-3AD203B41FA5}">
                      <a16:colId xmlns:a16="http://schemas.microsoft.com/office/drawing/2014/main" val="20003"/>
                    </a:ext>
                  </a:extLst>
                </a:gridCol>
                <a:gridCol w="292879">
                  <a:extLst>
                    <a:ext uri="{9D8B030D-6E8A-4147-A177-3AD203B41FA5}">
                      <a16:colId xmlns:a16="http://schemas.microsoft.com/office/drawing/2014/main" val="20004"/>
                    </a:ext>
                  </a:extLst>
                </a:gridCol>
                <a:gridCol w="368837">
                  <a:extLst>
                    <a:ext uri="{9D8B030D-6E8A-4147-A177-3AD203B41FA5}">
                      <a16:colId xmlns:a16="http://schemas.microsoft.com/office/drawing/2014/main" val="20005"/>
                    </a:ext>
                  </a:extLst>
                </a:gridCol>
                <a:gridCol w="213295">
                  <a:extLst>
                    <a:ext uri="{9D8B030D-6E8A-4147-A177-3AD203B41FA5}">
                      <a16:colId xmlns:a16="http://schemas.microsoft.com/office/drawing/2014/main" val="20006"/>
                    </a:ext>
                  </a:extLst>
                </a:gridCol>
                <a:gridCol w="1367577">
                  <a:extLst>
                    <a:ext uri="{9D8B030D-6E8A-4147-A177-3AD203B41FA5}">
                      <a16:colId xmlns:a16="http://schemas.microsoft.com/office/drawing/2014/main" val="20007"/>
                    </a:ext>
                  </a:extLst>
                </a:gridCol>
                <a:gridCol w="213295">
                  <a:extLst>
                    <a:ext uri="{9D8B030D-6E8A-4147-A177-3AD203B41FA5}">
                      <a16:colId xmlns:a16="http://schemas.microsoft.com/office/drawing/2014/main" val="20008"/>
                    </a:ext>
                  </a:extLst>
                </a:gridCol>
                <a:gridCol w="350255">
                  <a:extLst>
                    <a:ext uri="{9D8B030D-6E8A-4147-A177-3AD203B41FA5}">
                      <a16:colId xmlns:a16="http://schemas.microsoft.com/office/drawing/2014/main" val="20009"/>
                    </a:ext>
                  </a:extLst>
                </a:gridCol>
                <a:gridCol w="213295">
                  <a:extLst>
                    <a:ext uri="{9D8B030D-6E8A-4147-A177-3AD203B41FA5}">
                      <a16:colId xmlns:a16="http://schemas.microsoft.com/office/drawing/2014/main" val="20010"/>
                    </a:ext>
                  </a:extLst>
                </a:gridCol>
                <a:gridCol w="1946692">
                  <a:extLst>
                    <a:ext uri="{9D8B030D-6E8A-4147-A177-3AD203B41FA5}">
                      <a16:colId xmlns:a16="http://schemas.microsoft.com/office/drawing/2014/main" val="20011"/>
                    </a:ext>
                  </a:extLst>
                </a:gridCol>
              </a:tblGrid>
              <a:tr h="609600">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400" b="1" kern="1200" baseline="0" dirty="0">
                          <a:solidFill>
                            <a:schemeClr val="tx1"/>
                          </a:solidFill>
                          <a:latin typeface="+mn-lt"/>
                          <a:ea typeface="+mn-ea"/>
                          <a:cs typeface="+mn-cs"/>
                        </a:rPr>
                        <a:t>ASSETS</a:t>
                      </a:r>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20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20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br>
                        <a:rPr lang="en-US" sz="1600" b="1" kern="1200" baseline="0" dirty="0">
                          <a:solidFill>
                            <a:schemeClr val="tx1"/>
                          </a:solidFill>
                          <a:latin typeface="+mn-lt"/>
                          <a:ea typeface="+mn-ea"/>
                          <a:cs typeface="+mn-cs"/>
                        </a:rPr>
                      </a:br>
                      <a:r>
                        <a:rPr lang="en-US" sz="1300" b="1" kern="1200" baseline="0" dirty="0">
                          <a:solidFill>
                            <a:schemeClr val="tx1"/>
                          </a:solidFill>
                          <a:latin typeface="+mn-lt"/>
                          <a:ea typeface="+mn-ea"/>
                          <a:cs typeface="+mn-cs"/>
                        </a:rPr>
                        <a:t>LIABILITIES</a:t>
                      </a:r>
                      <a:endParaRPr lang="en-US" sz="13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br>
                        <a:rPr lang="en-US" sz="1600" dirty="0">
                          <a:solidFill>
                            <a:schemeClr val="tx1"/>
                          </a:solidFill>
                          <a:latin typeface="+mn-lt"/>
                        </a:rPr>
                      </a:br>
                      <a:r>
                        <a:rPr lang="en-US" sz="1600" dirty="0">
                          <a:solidFill>
                            <a:schemeClr val="tx1"/>
                          </a:solidFill>
                          <a:latin typeface="+mn-lt"/>
                        </a:rPr>
                        <a: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r>
                        <a:rPr lang="en-US" sz="1400" b="1" kern="1200" baseline="0" dirty="0">
                          <a:solidFill>
                            <a:schemeClr val="tx1"/>
                          </a:solidFill>
                          <a:latin typeface="+mn-lt"/>
                          <a:ea typeface="+mn-ea"/>
                          <a:cs typeface="+mn-cs"/>
                        </a:rPr>
                        <a:t>SHAREHOLDERS’</a:t>
                      </a:r>
                    </a:p>
                    <a:p>
                      <a:pPr algn="ctr"/>
                      <a:r>
                        <a:rPr lang="en-US" sz="1400" b="1" kern="1200" baseline="0" dirty="0">
                          <a:solidFill>
                            <a:schemeClr val="tx1"/>
                          </a:solidFill>
                          <a:latin typeface="+mn-lt"/>
                          <a:ea typeface="+mn-ea"/>
                          <a:cs typeface="+mn-cs"/>
                        </a:rPr>
                        <a:t>EQUITY</a:t>
                      </a:r>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gridSpan="2">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kern="1200" baseline="0" dirty="0">
                          <a:solidFill>
                            <a:schemeClr val="tx1"/>
                          </a:solidFill>
                          <a:latin typeface="+mn-lt"/>
                          <a:ea typeface="+mn-ea"/>
                          <a:cs typeface="+mn-cs"/>
                        </a:rPr>
                        <a:t>Cash</a:t>
                      </a: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kern="1200" baseline="0" dirty="0">
                          <a:solidFill>
                            <a:schemeClr val="tx1"/>
                          </a:solidFill>
                          <a:latin typeface="+mn-lt"/>
                          <a:ea typeface="+mn-ea"/>
                          <a:cs typeface="+mn-cs"/>
                        </a:rPr>
                        <a:t>Cash</a:t>
                      </a: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mn-lt"/>
                        </a:rPr>
                        <a:t>+</a:t>
                      </a:r>
                      <a:endParaRPr kumimoji="0" lang="en-US" sz="1600" b="1"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baseline="0" dirty="0">
                          <a:solidFill>
                            <a:schemeClr val="tx1"/>
                          </a:solidFill>
                          <a:latin typeface="+mn-lt"/>
                          <a:ea typeface="+mn-ea"/>
                          <a:cs typeface="+mn-cs"/>
                        </a:rPr>
                        <a:t>Land</a:t>
                      </a: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baseline="0" dirty="0">
                          <a:solidFill>
                            <a:schemeClr val="tx1"/>
                          </a:solidFill>
                          <a:latin typeface="+mn-lt"/>
                          <a:ea typeface="+mn-ea"/>
                          <a:cs typeface="+mn-cs"/>
                        </a:rPr>
                        <a:t>Common Shares</a:t>
                      </a: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Balance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50,000</a:t>
                      </a: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a:ln>
                            <a:noFill/>
                          </a:ln>
                          <a:solidFill>
                            <a:srgbClr val="000000"/>
                          </a:solidFill>
                          <a:effectLst/>
                          <a:latin typeface="Georgia" pitchFamily="18" charset="0"/>
                          <a:ea typeface="ＭＳ Ｐゴシック" pitchFamily="34" charset="-128"/>
                        </a:rPr>
                        <a:t>=</a:t>
                      </a:r>
                      <a:endParaRPr kumimoji="0" lang="en-US" sz="1600" b="1"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50,000</a:t>
                      </a:r>
                      <a:endParaRPr kumimoji="0" lang="en-US" sz="1600" b="0" i="0" u="none" strike="noStrike" cap="none" normalizeH="0" baseline="0" dirty="0">
                        <a:ln>
                          <a:noFill/>
                        </a:ln>
                        <a:solidFill>
                          <a:srgbClr val="000000"/>
                        </a:solidFill>
                        <a:effectLst/>
                        <a:latin typeface="+mn-lt"/>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en-US" sz="1600" kern="1200" baseline="0" dirty="0">
                          <a:solidFill>
                            <a:schemeClr val="tx1"/>
                          </a:solidFill>
                          <a:latin typeface="+mn-lt"/>
                          <a:ea typeface="+mn-ea"/>
                          <a:cs typeface="+mn-cs"/>
                        </a:rPr>
                        <a:t>(2)</a:t>
                      </a: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kern="1200" dirty="0">
                          <a:solidFill>
                            <a:schemeClr val="tx1"/>
                          </a:solidFill>
                          <a:latin typeface="+mn-lt"/>
                          <a:ea typeface="+mn-ea"/>
                          <a:cs typeface="+mn-cs"/>
                        </a:rPr>
                        <a:t>−</a:t>
                      </a:r>
                      <a:r>
                        <a:rPr lang="en-US" sz="1600" kern="1200" baseline="0" dirty="0">
                          <a:solidFill>
                            <a:schemeClr val="tx1"/>
                          </a:solidFill>
                          <a:latin typeface="+mn-lt"/>
                          <a:ea typeface="+mn-ea"/>
                          <a:cs typeface="+mn-cs"/>
                        </a:rPr>
                        <a:t>40,000</a:t>
                      </a: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+40,000</a:t>
                      </a: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5875" marR="0" lvl="0" indent="0" algn="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Bal.</a:t>
                      </a: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10,000</a:t>
                      </a: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40,000</a:t>
                      </a: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50,000</a:t>
                      </a: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40">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 50,000</a:t>
                      </a:r>
                      <a:endParaRPr kumimoji="0" lang="en-US" sz="1600" b="0" i="0" u="none" strike="noStrike" cap="none" normalizeH="0" baseline="0" dirty="0">
                        <a:ln>
                          <a:noFill/>
                        </a:ln>
                        <a:solidFill>
                          <a:srgbClr val="000000"/>
                        </a:solidFill>
                        <a:effectLst/>
                        <a:latin typeface="Georgia" pitchFamily="18" charset="0"/>
                        <a:ea typeface="ＭＳ Ｐゴシック" pitchFamily="34" charset="-128"/>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rgbClr val="000000"/>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baseline="0" dirty="0">
                          <a:solidFill>
                            <a:schemeClr val="tx1"/>
                          </a:solidFill>
                          <a:latin typeface="+mn-lt"/>
                          <a:ea typeface="+mn-ea"/>
                          <a:cs typeface="+mn-cs"/>
                        </a:rPr>
                        <a:t>50,000</a:t>
                      </a:r>
                      <a:endParaRPr kumimoji="0" lang="en-US" sz="1600" b="0" i="0" u="none" strike="noStrike" cap="none" normalizeH="0" baseline="0" dirty="0">
                        <a:ln>
                          <a:noFill/>
                        </a:ln>
                        <a:solidFill>
                          <a:schemeClr val="tx1"/>
                        </a:solidFill>
                        <a:effectLst/>
                        <a:latin typeface="Georgia" pitchFamily="18" charset="0"/>
                        <a:ea typeface="ＭＳ Ｐゴシック" pitchFamily="34" charset="-128"/>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5" name="Left Brace 14"/>
          <p:cNvSpPr/>
          <p:nvPr/>
        </p:nvSpPr>
        <p:spPr>
          <a:xfrm rot="16200000">
            <a:off x="2460564" y="4245036"/>
            <a:ext cx="218553" cy="211177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Right Brace 15"/>
          <p:cNvSpPr/>
          <p:nvPr/>
        </p:nvSpPr>
        <p:spPr>
          <a:xfrm>
            <a:off x="3962400" y="3276600"/>
            <a:ext cx="175328" cy="218145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Left Brace 16"/>
          <p:cNvSpPr/>
          <p:nvPr/>
        </p:nvSpPr>
        <p:spPr>
          <a:xfrm>
            <a:off x="4454306" y="3276600"/>
            <a:ext cx="176735" cy="213570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Right Brace 17"/>
          <p:cNvSpPr/>
          <p:nvPr/>
        </p:nvSpPr>
        <p:spPr>
          <a:xfrm rot="5400000">
            <a:off x="7792425" y="4711648"/>
            <a:ext cx="165223" cy="107948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475660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0292"/>
            <a:ext cx="8229600" cy="485669"/>
          </a:xfrm>
        </p:spPr>
        <p:txBody>
          <a:bodyPr/>
          <a:lstStyle/>
          <a:p>
            <a:pPr algn="ctr">
              <a:buNone/>
            </a:pPr>
            <a:r>
              <a:rPr lang="en-CA" sz="2400" b="1" dirty="0">
                <a:cs typeface="Arial" panose="020B0604020202020204" pitchFamily="34" charset="0"/>
              </a:rPr>
              <a:t>Transaction</a:t>
            </a:r>
            <a:r>
              <a:rPr lang="en-CA" sz="2400" b="1" kern="10" dirty="0">
                <a:gradFill rotWithShape="1">
                  <a:gsLst>
                    <a:gs pos="0">
                      <a:srgbClr val="FFFF00"/>
                    </a:gs>
                    <a:gs pos="100000">
                      <a:srgbClr val="FF9933"/>
                    </a:gs>
                  </a:gsLst>
                  <a:path path="rect">
                    <a:fillToRect l="50000" t="50000" r="50000" b="50000"/>
                  </a:path>
                </a:gradFill>
                <a:effectLst>
                  <a:outerShdw dist="35921" dir="2700000" algn="ctr" rotWithShape="0">
                    <a:srgbClr val="C0C0C0"/>
                  </a:outerShdw>
                </a:effectLst>
                <a:cs typeface="Arial" panose="020B0604020202020204" pitchFamily="34" charset="0"/>
              </a:rPr>
              <a:t> </a:t>
            </a:r>
            <a:r>
              <a:rPr lang="en-CA" sz="2400" b="1" dirty="0">
                <a:cs typeface="Arial" panose="020B0604020202020204" pitchFamily="34" charset="0"/>
              </a:rPr>
              <a:t>3:</a:t>
            </a:r>
            <a:endParaRPr lang="en-US" sz="2400" dirty="0"/>
          </a:p>
        </p:txBody>
      </p:sp>
      <p:sp>
        <p:nvSpPr>
          <p:cNvPr id="4" name="Content Placeholder 3"/>
          <p:cNvSpPr>
            <a:spLocks noGrp="1"/>
          </p:cNvSpPr>
          <p:nvPr>
            <p:ph idx="13"/>
          </p:nvPr>
        </p:nvSpPr>
        <p:spPr>
          <a:xfrm>
            <a:off x="457200" y="2173224"/>
            <a:ext cx="8229600" cy="950976"/>
          </a:xfrm>
          <a:ln w="12700">
            <a:solidFill>
              <a:schemeClr val="tx1"/>
            </a:solidFill>
          </a:ln>
        </p:spPr>
        <p:txBody>
          <a:bodyPr/>
          <a:lstStyle/>
          <a:p>
            <a:pPr algn="ctr">
              <a:buNone/>
            </a:pPr>
            <a:r>
              <a:rPr lang="en-US" dirty="0"/>
              <a:t>The business buys stationery and other office</a:t>
            </a:r>
            <a:br>
              <a:rPr lang="en-US" dirty="0"/>
            </a:br>
            <a:r>
              <a:rPr lang="en-US" dirty="0"/>
              <a:t>supplies on account, agreeing to pay $3,700 within 30 days.</a:t>
            </a:r>
          </a:p>
        </p:txBody>
      </p:sp>
      <p:graphicFrame>
        <p:nvGraphicFramePr>
          <p:cNvPr id="2" name="Table 1"/>
          <p:cNvGraphicFramePr>
            <a:graphicFrameLocks noGrp="1"/>
          </p:cNvGraphicFramePr>
          <p:nvPr>
            <p:extLst>
              <p:ext uri="{D42A27DB-BD31-4B8C-83A1-F6EECF244321}">
                <p14:modId xmlns:p14="http://schemas.microsoft.com/office/powerpoint/2010/main" val="85796724"/>
              </p:ext>
            </p:extLst>
          </p:nvPr>
        </p:nvGraphicFramePr>
        <p:xfrm>
          <a:off x="42988" y="3291840"/>
          <a:ext cx="9058025" cy="2575560"/>
        </p:xfrm>
        <a:graphic>
          <a:graphicData uri="http://schemas.openxmlformats.org/drawingml/2006/table">
            <a:tbl>
              <a:tblPr firstRow="1" bandRow="1">
                <a:tableStyleId>{2D5ABB26-0587-4C30-8999-92F81FD0307C}</a:tableStyleId>
              </a:tblPr>
              <a:tblGrid>
                <a:gridCol w="589280">
                  <a:extLst>
                    <a:ext uri="{9D8B030D-6E8A-4147-A177-3AD203B41FA5}">
                      <a16:colId xmlns:a16="http://schemas.microsoft.com/office/drawing/2014/main" val="20000"/>
                    </a:ext>
                  </a:extLst>
                </a:gridCol>
                <a:gridCol w="860743">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1086167">
                  <a:extLst>
                    <a:ext uri="{9D8B030D-6E8A-4147-A177-3AD203B41FA5}">
                      <a16:colId xmlns:a16="http://schemas.microsoft.com/office/drawing/2014/main" val="20003"/>
                    </a:ext>
                  </a:extLst>
                </a:gridCol>
                <a:gridCol w="359093">
                  <a:extLst>
                    <a:ext uri="{9D8B030D-6E8A-4147-A177-3AD203B41FA5}">
                      <a16:colId xmlns:a16="http://schemas.microsoft.com/office/drawing/2014/main" val="20004"/>
                    </a:ext>
                  </a:extLst>
                </a:gridCol>
                <a:gridCol w="860743">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359093">
                  <a:extLst>
                    <a:ext uri="{9D8B030D-6E8A-4147-A177-3AD203B41FA5}">
                      <a16:colId xmlns:a16="http://schemas.microsoft.com/office/drawing/2014/main" val="20007"/>
                    </a:ext>
                  </a:extLst>
                </a:gridCol>
                <a:gridCol w="240030">
                  <a:extLst>
                    <a:ext uri="{9D8B030D-6E8A-4147-A177-3AD203B41FA5}">
                      <a16:colId xmlns:a16="http://schemas.microsoft.com/office/drawing/2014/main" val="20008"/>
                    </a:ext>
                  </a:extLst>
                </a:gridCol>
                <a:gridCol w="1987867">
                  <a:extLst>
                    <a:ext uri="{9D8B030D-6E8A-4147-A177-3AD203B41FA5}">
                      <a16:colId xmlns:a16="http://schemas.microsoft.com/office/drawing/2014/main" val="20009"/>
                    </a:ext>
                  </a:extLst>
                </a:gridCol>
                <a:gridCol w="297180">
                  <a:extLst>
                    <a:ext uri="{9D8B030D-6E8A-4147-A177-3AD203B41FA5}">
                      <a16:colId xmlns:a16="http://schemas.microsoft.com/office/drawing/2014/main" val="20010"/>
                    </a:ext>
                  </a:extLst>
                </a:gridCol>
                <a:gridCol w="2001269">
                  <a:extLst>
                    <a:ext uri="{9D8B030D-6E8A-4147-A177-3AD203B41FA5}">
                      <a16:colId xmlns:a16="http://schemas.microsoft.com/office/drawing/2014/main" val="20011"/>
                    </a:ext>
                  </a:extLst>
                </a:gridCol>
              </a:tblGrid>
              <a:tr h="530115">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r>
                        <a:rPr lang="en-US" sz="1400" b="1" kern="1200" baseline="0" dirty="0">
                          <a:solidFill>
                            <a:schemeClr val="tx1"/>
                          </a:solidFill>
                          <a:latin typeface="+mn-lt"/>
                          <a:ea typeface="+mn-ea"/>
                          <a:cs typeface="+mn-cs"/>
                        </a:rPr>
                        <a:t>ASSETS</a:t>
                      </a:r>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4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4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4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4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r>
                        <a:rPr lang="en-US" sz="1600" b="1" kern="1200" baseline="0" dirty="0">
                          <a:solidFill>
                            <a:schemeClr val="tx1"/>
                          </a:solidFill>
                          <a:latin typeface="+mn-lt"/>
                          <a:ea typeface="+mn-ea"/>
                          <a:cs typeface="+mn-cs"/>
                        </a:rPr>
                      </a:br>
                      <a:r>
                        <a:rPr lang="en-US" sz="1400" b="1" kern="1200" baseline="0" dirty="0">
                          <a:solidFill>
                            <a:schemeClr val="tx1"/>
                          </a:solidFill>
                          <a:latin typeface="+mn-lt"/>
                          <a:ea typeface="+mn-ea"/>
                          <a:cs typeface="+mn-cs"/>
                        </a:rPr>
                        <a:t>LIABILITIES</a:t>
                      </a:r>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r>
                        <a:rPr lang="en-US" sz="1600" b="1" dirty="0">
                          <a:solidFill>
                            <a:schemeClr val="tx1"/>
                          </a:solidFill>
                          <a:latin typeface="+mn-lt"/>
                        </a:rPr>
                      </a:br>
                      <a:r>
                        <a:rPr lang="en-US" sz="1600" b="1" dirty="0">
                          <a:solidFill>
                            <a:schemeClr val="tx1"/>
                          </a:solidFill>
                          <a:latin typeface="+mn-lt"/>
                        </a:rPr>
                        <a: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kern="1200" baseline="0" dirty="0">
                          <a:solidFill>
                            <a:schemeClr val="tx1"/>
                          </a:solidFill>
                          <a:latin typeface="+mn-lt"/>
                          <a:ea typeface="+mn-ea"/>
                          <a:cs typeface="+mn-cs"/>
                        </a:rPr>
                        <a:t>SHAREHOLDERS’ EQUITY</a:t>
                      </a:r>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30115">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mn-lt"/>
                        </a:rPr>
                        <a:t>Cash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kern="1200" baseline="0" dirty="0">
                          <a:solidFill>
                            <a:schemeClr val="tx1"/>
                          </a:solidFill>
                          <a:latin typeface="+mn-lt"/>
                          <a:ea typeface="+mn-ea"/>
                          <a:cs typeface="+mn-cs"/>
                        </a:rPr>
                        <a:t>Office</a:t>
                      </a:r>
                    </a:p>
                    <a:p>
                      <a:pPr algn="ctr"/>
                      <a:r>
                        <a:rPr lang="en-US" sz="1600" b="1" kern="1200" baseline="0" dirty="0">
                          <a:solidFill>
                            <a:schemeClr val="tx1"/>
                          </a:solidFill>
                          <a:latin typeface="+mn-lt"/>
                          <a:ea typeface="+mn-ea"/>
                          <a:cs typeface="+mn-cs"/>
                        </a:rPr>
                        <a:t>Supplies</a:t>
                      </a: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kern="1200" baseline="0" dirty="0">
                          <a:solidFill>
                            <a:schemeClr val="tx1"/>
                          </a:solidFill>
                          <a:latin typeface="+mn-lt"/>
                          <a:ea typeface="+mn-ea"/>
                          <a:cs typeface="+mn-cs"/>
                        </a:rPr>
                        <a:t>Land</a:t>
                      </a: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kern="1200" baseline="0" dirty="0">
                          <a:solidFill>
                            <a:schemeClr val="tx1"/>
                          </a:solidFill>
                          <a:latin typeface="+mn-lt"/>
                          <a:ea typeface="+mn-ea"/>
                          <a:cs typeface="+mn-cs"/>
                        </a:rPr>
                        <a:t>Accounts Payable</a:t>
                      </a: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kern="1200" baseline="0" dirty="0">
                          <a:solidFill>
                            <a:schemeClr val="tx1"/>
                          </a:solidFill>
                          <a:latin typeface="+mn-lt"/>
                          <a:ea typeface="+mn-ea"/>
                          <a:cs typeface="+mn-cs"/>
                        </a:rPr>
                        <a:t>Common Shares</a:t>
                      </a: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6909">
                <a:tc>
                  <a:txBody>
                    <a:bodyPr/>
                    <a:lstStyle/>
                    <a:p>
                      <a:r>
                        <a:rPr lang="en-US" sz="1600" kern="1200" baseline="0" dirty="0">
                          <a:solidFill>
                            <a:schemeClr val="tx1"/>
                          </a:solidFill>
                          <a:latin typeface="+mn-lt"/>
                          <a:ea typeface="+mn-ea"/>
                          <a:cs typeface="+mn-cs"/>
                        </a:rPr>
                        <a:t>Bal.</a:t>
                      </a: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kern="1200" baseline="0" dirty="0">
                          <a:solidFill>
                            <a:schemeClr val="tx1"/>
                          </a:solidFill>
                          <a:latin typeface="+mn-lt"/>
                          <a:ea typeface="+mn-ea"/>
                          <a:cs typeface="+mn-cs"/>
                        </a:rPr>
                        <a:t>10,000</a:t>
                      </a: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solidFill>
                            <a:schemeClr val="tx1"/>
                          </a:solidFill>
                          <a:latin typeface="+mn-lt"/>
                        </a:rPr>
                        <a: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6909">
                <a:tc>
                  <a:txBody>
                    <a:bodyPr/>
                    <a:lstStyle/>
                    <a:p>
                      <a:r>
                        <a:rPr lang="en-US" sz="1600" kern="1200" baseline="0" dirty="0">
                          <a:solidFill>
                            <a:schemeClr val="tx1"/>
                          </a:solidFill>
                          <a:latin typeface="+mn-lt"/>
                          <a:ea typeface="+mn-ea"/>
                          <a:cs typeface="+mn-cs"/>
                        </a:rPr>
                        <a:t>(3)</a:t>
                      </a: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06909">
                <a:tc>
                  <a:txBody>
                    <a:bodyPr/>
                    <a:lstStyle/>
                    <a:p>
                      <a:r>
                        <a:rPr lang="en-US" sz="1600" kern="1200" baseline="0" dirty="0">
                          <a:solidFill>
                            <a:schemeClr val="tx1"/>
                          </a:solidFill>
                          <a:latin typeface="+mn-lt"/>
                          <a:ea typeface="+mn-ea"/>
                          <a:cs typeface="+mn-cs"/>
                        </a:rPr>
                        <a:t>Bal.</a:t>
                      </a: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mn-lt"/>
                        </a:rPr>
                        <a:t>10,000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mn-lt"/>
                        </a:rPr>
                        <a:t> 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mn-lt"/>
                        </a:rPr>
                        <a:t>  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11480">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r>
                        <a:rPr lang="en-US" sz="1600" dirty="0">
                          <a:solidFill>
                            <a:schemeClr val="tx1"/>
                          </a:solidFill>
                          <a:latin typeface="+mn-lt"/>
                        </a:rPr>
                        <a:t>53,700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mn-lt"/>
                        </a:rPr>
                        <a:t>53,700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2" name="Left Brace 11"/>
          <p:cNvSpPr/>
          <p:nvPr/>
        </p:nvSpPr>
        <p:spPr>
          <a:xfrm rot="16200000">
            <a:off x="2255311" y="3826525"/>
            <a:ext cx="179875" cy="334722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Right Brace 13"/>
          <p:cNvSpPr/>
          <p:nvPr/>
        </p:nvSpPr>
        <p:spPr>
          <a:xfrm>
            <a:off x="4022669" y="3419199"/>
            <a:ext cx="190066" cy="228453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 name="Left Brace 14"/>
          <p:cNvSpPr/>
          <p:nvPr/>
        </p:nvSpPr>
        <p:spPr>
          <a:xfrm>
            <a:off x="4542536" y="3428559"/>
            <a:ext cx="192024" cy="2280072"/>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Left Brace 15"/>
          <p:cNvSpPr/>
          <p:nvPr/>
        </p:nvSpPr>
        <p:spPr>
          <a:xfrm rot="16200000">
            <a:off x="6886600" y="3939686"/>
            <a:ext cx="185326" cy="3060501"/>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Title 1">
            <a:extLst>
              <a:ext uri="{FF2B5EF4-FFF2-40B4-BE49-F238E27FC236}">
                <a16:creationId xmlns:a16="http://schemas.microsoft.com/office/drawing/2014/main" id="{629A01F0-0DF3-2323-9691-0EAFFE17B580}"/>
              </a:ext>
            </a:extLst>
          </p:cNvPr>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(4 of 13)</a:t>
            </a:r>
            <a:endParaRPr lang="en-US" b="0" dirty="0"/>
          </a:p>
        </p:txBody>
      </p:sp>
    </p:spTree>
    <p:extLst>
      <p:ext uri="{BB962C8B-B14F-4D97-AF65-F5344CB8AC3E}">
        <p14:creationId xmlns:p14="http://schemas.microsoft.com/office/powerpoint/2010/main" val="148832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41961"/>
          </a:xfrm>
        </p:spPr>
        <p:txBody>
          <a:bodyPr>
            <a:normAutofit lnSpcReduction="10000"/>
          </a:bodyPr>
          <a:lstStyle/>
          <a:p>
            <a:pPr algn="ctr">
              <a:buNone/>
            </a:pPr>
            <a:r>
              <a:rPr lang="en-CA" sz="2400" b="1" dirty="0">
                <a:cs typeface="Arial" panose="020B0604020202020204" pitchFamily="34" charset="0"/>
              </a:rPr>
              <a:t>Transaction</a:t>
            </a:r>
            <a:r>
              <a:rPr lang="en-CA" sz="2400" b="1" kern="10" dirty="0">
                <a:gradFill rotWithShape="1">
                  <a:gsLst>
                    <a:gs pos="0">
                      <a:srgbClr val="FFFF00"/>
                    </a:gs>
                    <a:gs pos="100000">
                      <a:srgbClr val="FF9933"/>
                    </a:gs>
                  </a:gsLst>
                  <a:path path="rect">
                    <a:fillToRect l="50000" t="50000" r="50000" b="50000"/>
                  </a:path>
                </a:gradFill>
                <a:effectLst>
                  <a:outerShdw dist="35921" dir="2700000" algn="ctr" rotWithShape="0">
                    <a:srgbClr val="C0C0C0"/>
                  </a:outerShdw>
                </a:effectLst>
                <a:cs typeface="Arial" panose="020B0604020202020204" pitchFamily="34" charset="0"/>
              </a:rPr>
              <a:t> </a:t>
            </a:r>
            <a:r>
              <a:rPr lang="en-CA" sz="2400" b="1" dirty="0">
                <a:cs typeface="Arial" panose="020B0604020202020204" pitchFamily="34" charset="0"/>
              </a:rPr>
              <a:t>4:</a:t>
            </a:r>
            <a:endParaRPr lang="en-US" sz="2400" dirty="0"/>
          </a:p>
        </p:txBody>
      </p:sp>
      <p:sp>
        <p:nvSpPr>
          <p:cNvPr id="4" name="Content Placeholder 3"/>
          <p:cNvSpPr>
            <a:spLocks noGrp="1"/>
          </p:cNvSpPr>
          <p:nvPr>
            <p:ph idx="13"/>
          </p:nvPr>
        </p:nvSpPr>
        <p:spPr>
          <a:xfrm>
            <a:off x="457200" y="2173224"/>
            <a:ext cx="8229600" cy="950976"/>
          </a:xfrm>
          <a:ln w="12700">
            <a:solidFill>
              <a:schemeClr val="tx1"/>
            </a:solidFill>
          </a:ln>
        </p:spPr>
        <p:txBody>
          <a:bodyPr/>
          <a:lstStyle/>
          <a:p>
            <a:pPr algn="ctr">
              <a:buNone/>
            </a:pPr>
            <a:r>
              <a:rPr lang="en-US" dirty="0"/>
              <a:t>Tara Inc. earns service revenue of</a:t>
            </a:r>
            <a:br>
              <a:rPr lang="en-US" dirty="0"/>
            </a:br>
            <a:r>
              <a:rPr lang="en-US" dirty="0"/>
              <a:t>$7,000 and collects this amount in cash.</a:t>
            </a:r>
          </a:p>
        </p:txBody>
      </p:sp>
      <p:graphicFrame>
        <p:nvGraphicFramePr>
          <p:cNvPr id="2" name="Table 1"/>
          <p:cNvGraphicFramePr>
            <a:graphicFrameLocks noGrp="1"/>
          </p:cNvGraphicFramePr>
          <p:nvPr>
            <p:extLst>
              <p:ext uri="{D42A27DB-BD31-4B8C-83A1-F6EECF244321}">
                <p14:modId xmlns:p14="http://schemas.microsoft.com/office/powerpoint/2010/main" val="2830840344"/>
              </p:ext>
            </p:extLst>
          </p:nvPr>
        </p:nvGraphicFramePr>
        <p:xfrm>
          <a:off x="280557" y="3291840"/>
          <a:ext cx="8582886" cy="2545080"/>
        </p:xfrm>
        <a:graphic>
          <a:graphicData uri="http://schemas.openxmlformats.org/drawingml/2006/table">
            <a:tbl>
              <a:tblPr firstRow="1" bandRow="1">
                <a:tableStyleId>{2D5ABB26-0587-4C30-8999-92F81FD0307C}</a:tableStyleId>
              </a:tblPr>
              <a:tblGrid>
                <a:gridCol w="538480">
                  <a:extLst>
                    <a:ext uri="{9D8B030D-6E8A-4147-A177-3AD203B41FA5}">
                      <a16:colId xmlns:a16="http://schemas.microsoft.com/office/drawing/2014/main" val="20000"/>
                    </a:ext>
                  </a:extLst>
                </a:gridCol>
                <a:gridCol w="827405">
                  <a:extLst>
                    <a:ext uri="{9D8B030D-6E8A-4147-A177-3AD203B41FA5}">
                      <a16:colId xmlns:a16="http://schemas.microsoft.com/office/drawing/2014/main" val="20001"/>
                    </a:ext>
                  </a:extLst>
                </a:gridCol>
                <a:gridCol w="314643">
                  <a:extLst>
                    <a:ext uri="{9D8B030D-6E8A-4147-A177-3AD203B41FA5}">
                      <a16:colId xmlns:a16="http://schemas.microsoft.com/office/drawing/2014/main" val="20002"/>
                    </a:ext>
                  </a:extLst>
                </a:gridCol>
                <a:gridCol w="970280">
                  <a:extLst>
                    <a:ext uri="{9D8B030D-6E8A-4147-A177-3AD203B41FA5}">
                      <a16:colId xmlns:a16="http://schemas.microsoft.com/office/drawing/2014/main" val="20003"/>
                    </a:ext>
                  </a:extLst>
                </a:gridCol>
                <a:gridCol w="314643">
                  <a:extLst>
                    <a:ext uri="{9D8B030D-6E8A-4147-A177-3AD203B41FA5}">
                      <a16:colId xmlns:a16="http://schemas.microsoft.com/office/drawing/2014/main" val="20004"/>
                    </a:ext>
                  </a:extLst>
                </a:gridCol>
                <a:gridCol w="77343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309008">
                  <a:extLst>
                    <a:ext uri="{9D8B030D-6E8A-4147-A177-3AD203B41FA5}">
                      <a16:colId xmlns:a16="http://schemas.microsoft.com/office/drawing/2014/main" val="20007"/>
                    </a:ext>
                  </a:extLst>
                </a:gridCol>
                <a:gridCol w="225743">
                  <a:extLst>
                    <a:ext uri="{9D8B030D-6E8A-4147-A177-3AD203B41FA5}">
                      <a16:colId xmlns:a16="http://schemas.microsoft.com/office/drawing/2014/main" val="20008"/>
                    </a:ext>
                  </a:extLst>
                </a:gridCol>
                <a:gridCol w="1228322">
                  <a:extLst>
                    <a:ext uri="{9D8B030D-6E8A-4147-A177-3AD203B41FA5}">
                      <a16:colId xmlns:a16="http://schemas.microsoft.com/office/drawing/2014/main" val="20009"/>
                    </a:ext>
                  </a:extLst>
                </a:gridCol>
                <a:gridCol w="257609">
                  <a:extLst>
                    <a:ext uri="{9D8B030D-6E8A-4147-A177-3AD203B41FA5}">
                      <a16:colId xmlns:a16="http://schemas.microsoft.com/office/drawing/2014/main" val="20010"/>
                    </a:ext>
                  </a:extLst>
                </a:gridCol>
                <a:gridCol w="228600">
                  <a:extLst>
                    <a:ext uri="{9D8B030D-6E8A-4147-A177-3AD203B41FA5}">
                      <a16:colId xmlns:a16="http://schemas.microsoft.com/office/drawing/2014/main" val="20011"/>
                    </a:ext>
                  </a:extLst>
                </a:gridCol>
                <a:gridCol w="968806">
                  <a:extLst>
                    <a:ext uri="{9D8B030D-6E8A-4147-A177-3AD203B41FA5}">
                      <a16:colId xmlns:a16="http://schemas.microsoft.com/office/drawing/2014/main" val="20012"/>
                    </a:ext>
                  </a:extLst>
                </a:gridCol>
                <a:gridCol w="208280">
                  <a:extLst>
                    <a:ext uri="{9D8B030D-6E8A-4147-A177-3AD203B41FA5}">
                      <a16:colId xmlns:a16="http://schemas.microsoft.com/office/drawing/2014/main" val="20013"/>
                    </a:ext>
                  </a:extLst>
                </a:gridCol>
                <a:gridCol w="1209357">
                  <a:extLst>
                    <a:ext uri="{9D8B030D-6E8A-4147-A177-3AD203B41FA5}">
                      <a16:colId xmlns:a16="http://schemas.microsoft.com/office/drawing/2014/main" val="20014"/>
                    </a:ext>
                  </a:extLst>
                </a:gridCol>
              </a:tblGrid>
              <a:tr h="0">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br>
                        <a:rPr lang="en-US" sz="1400" b="1" kern="1200" baseline="0" dirty="0">
                          <a:solidFill>
                            <a:schemeClr val="tx1"/>
                          </a:solidFill>
                          <a:latin typeface="+mn-lt"/>
                          <a:ea typeface="+mn-ea"/>
                          <a:cs typeface="+mn-cs"/>
                        </a:rPr>
                      </a:br>
                      <a:r>
                        <a:rPr lang="en-US" sz="1200" b="1" kern="1200" baseline="0" dirty="0">
                          <a:solidFill>
                            <a:schemeClr val="tx1"/>
                          </a:solidFill>
                          <a:latin typeface="+mn-lt"/>
                          <a:ea typeface="+mn-ea"/>
                          <a:cs typeface="+mn-cs"/>
                        </a:rPr>
                        <a:t>ASSETS</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4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4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4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4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br>
                        <a:rPr lang="en-US" sz="1400" b="1" kern="1200" baseline="0" dirty="0">
                          <a:solidFill>
                            <a:schemeClr val="tx1"/>
                          </a:solidFill>
                          <a:latin typeface="+mn-lt"/>
                          <a:ea typeface="+mn-ea"/>
                          <a:cs typeface="+mn-cs"/>
                        </a:rPr>
                      </a:br>
                      <a:r>
                        <a:rPr lang="en-US" sz="1200" b="1" kern="1200" baseline="0" dirty="0">
                          <a:solidFill>
                            <a:schemeClr val="tx1"/>
                          </a:solidFill>
                          <a:latin typeface="+mn-lt"/>
                          <a:ea typeface="+mn-ea"/>
                          <a:cs typeface="+mn-cs"/>
                        </a:rPr>
                        <a:t>LIABILITIES</a:t>
                      </a:r>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1" dirty="0">
                          <a:solidFill>
                            <a:schemeClr val="tx1"/>
                          </a:solidFill>
                          <a:latin typeface="+mn-lt"/>
                        </a:rPr>
                        <a: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200" b="1" kern="1200" baseline="0" dirty="0">
                          <a:solidFill>
                            <a:schemeClr val="tx1"/>
                          </a:solidFill>
                          <a:latin typeface="+mn-lt"/>
                          <a:ea typeface="+mn-ea"/>
                          <a:cs typeface="+mn-cs"/>
                        </a:rPr>
                        <a:t>SHAREHOLDERS’</a:t>
                      </a:r>
                      <a:br>
                        <a:rPr lang="en-US" sz="1200" b="1" kern="1200" baseline="0" dirty="0">
                          <a:solidFill>
                            <a:schemeClr val="tx1"/>
                          </a:solidFill>
                          <a:latin typeface="+mn-lt"/>
                          <a:ea typeface="+mn-ea"/>
                          <a:cs typeface="+mn-cs"/>
                        </a:rPr>
                      </a:br>
                      <a:r>
                        <a:rPr lang="en-US" sz="1200" b="1" kern="1200" baseline="0" dirty="0">
                          <a:solidFill>
                            <a:schemeClr val="tx1"/>
                          </a:solidFill>
                          <a:latin typeface="+mn-lt"/>
                          <a:ea typeface="+mn-ea"/>
                          <a:cs typeface="+mn-cs"/>
                        </a:rPr>
                        <a:t>EQUITY</a:t>
                      </a:r>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dirty="0">
                          <a:solidFill>
                            <a:schemeClr val="tx1"/>
                          </a:solidFill>
                          <a:latin typeface="+mn-lt"/>
                        </a:rPr>
                        <a:t>Cash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Office</a:t>
                      </a:r>
                    </a:p>
                    <a:p>
                      <a:pPr algn="ctr"/>
                      <a:r>
                        <a:rPr lang="en-US" sz="1200" b="1" kern="1200" baseline="0" dirty="0">
                          <a:solidFill>
                            <a:schemeClr val="tx1"/>
                          </a:solidFill>
                          <a:latin typeface="+mn-lt"/>
                          <a:ea typeface="+mn-ea"/>
                          <a:cs typeface="+mn-cs"/>
                        </a:rPr>
                        <a:t>Supplies</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kern="1200" baseline="0" dirty="0">
                          <a:solidFill>
                            <a:schemeClr val="tx1"/>
                          </a:solidFill>
                          <a:latin typeface="+mn-lt"/>
                          <a:ea typeface="+mn-ea"/>
                          <a:cs typeface="+mn-cs"/>
                        </a:rPr>
                        <a:t>Land</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kern="1200" baseline="0" dirty="0">
                          <a:solidFill>
                            <a:schemeClr val="tx1"/>
                          </a:solidFill>
                          <a:latin typeface="+mn-lt"/>
                          <a:ea typeface="+mn-ea"/>
                          <a:cs typeface="+mn-cs"/>
                        </a:rPr>
                        <a:t>Accounts Payable</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Common Shares</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400" b="1" kern="1200" dirty="0">
                          <a:solidFill>
                            <a:schemeClr val="tx1"/>
                          </a:solidFill>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kern="1200" baseline="0" dirty="0">
                          <a:solidFill>
                            <a:schemeClr val="tx1"/>
                          </a:solidFill>
                          <a:latin typeface="+mn-lt"/>
                          <a:ea typeface="+mn-ea"/>
                          <a:cs typeface="+mn-cs"/>
                        </a:rPr>
                        <a:t>Retained Earnings</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r>
                        <a:rPr lang="en-US" sz="1400" kern="1200" baseline="0" dirty="0">
                          <a:solidFill>
                            <a:schemeClr val="tx1"/>
                          </a:solidFill>
                          <a:latin typeface="+mn-lt"/>
                          <a:ea typeface="+mn-ea"/>
                          <a:cs typeface="+mn-cs"/>
                        </a:rPr>
                        <a:t>Bal.</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kern="1200" baseline="0" dirty="0">
                          <a:solidFill>
                            <a:schemeClr val="tx1"/>
                          </a:solidFill>
                          <a:latin typeface="+mn-lt"/>
                          <a:ea typeface="+mn-ea"/>
                          <a:cs typeface="+mn-cs"/>
                        </a:rPr>
                        <a:t>10,000</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en-US" sz="1400" kern="1200" baseline="0" dirty="0">
                          <a:solidFill>
                            <a:schemeClr val="tx1"/>
                          </a:solidFill>
                          <a:latin typeface="+mn-lt"/>
                          <a:ea typeface="+mn-ea"/>
                          <a:cs typeface="+mn-cs"/>
                        </a:rPr>
                        <a:t>(4)</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+ 7,000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7,000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r>
                        <a:rPr lang="en-US" sz="1400" kern="1200" baseline="0" dirty="0">
                          <a:solidFill>
                            <a:schemeClr val="tx1"/>
                          </a:solidFill>
                          <a:latin typeface="+mn-lt"/>
                          <a:ea typeface="+mn-ea"/>
                          <a:cs typeface="+mn-cs"/>
                        </a:rPr>
                        <a:t>Bal.</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17,000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7,000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26720">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60,700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solidFill>
                            <a:schemeClr val="tx1"/>
                          </a:solidFill>
                          <a:latin typeface="+mn-lt"/>
                        </a:rPr>
                        <a:t>60,700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0" name="Left Brace 9"/>
          <p:cNvSpPr/>
          <p:nvPr/>
        </p:nvSpPr>
        <p:spPr>
          <a:xfrm rot="16200000">
            <a:off x="2337897" y="3883128"/>
            <a:ext cx="170528" cy="2970492"/>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Right Brace 8"/>
          <p:cNvSpPr/>
          <p:nvPr/>
        </p:nvSpPr>
        <p:spPr>
          <a:xfrm>
            <a:off x="4043120" y="3733938"/>
            <a:ext cx="191967" cy="2027407"/>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 name="Left Brace 7"/>
          <p:cNvSpPr/>
          <p:nvPr/>
        </p:nvSpPr>
        <p:spPr>
          <a:xfrm>
            <a:off x="4491030" y="3738227"/>
            <a:ext cx="170413" cy="20034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Left Brace 10"/>
          <p:cNvSpPr/>
          <p:nvPr/>
        </p:nvSpPr>
        <p:spPr>
          <a:xfrm rot="16200000">
            <a:off x="6740606" y="3598156"/>
            <a:ext cx="190253" cy="354973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itle 1">
            <a:extLst>
              <a:ext uri="{FF2B5EF4-FFF2-40B4-BE49-F238E27FC236}">
                <a16:creationId xmlns:a16="http://schemas.microsoft.com/office/drawing/2014/main" id="{260CF0C7-F270-37EA-DC6E-6DF6B5C71B99}"/>
              </a:ext>
            </a:extLst>
          </p:cNvPr>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(5 of 13)</a:t>
            </a:r>
            <a:endParaRPr lang="en-US" b="0" dirty="0"/>
          </a:p>
        </p:txBody>
      </p:sp>
    </p:spTree>
    <p:extLst>
      <p:ext uri="{BB962C8B-B14F-4D97-AF65-F5344CB8AC3E}">
        <p14:creationId xmlns:p14="http://schemas.microsoft.com/office/powerpoint/2010/main" val="1303092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(6 of 13)</a:t>
            </a:r>
            <a:endParaRPr lang="en-US" b="0" dirty="0"/>
          </a:p>
        </p:txBody>
      </p:sp>
      <p:sp>
        <p:nvSpPr>
          <p:cNvPr id="3" name="Content Placeholder 2"/>
          <p:cNvSpPr>
            <a:spLocks noGrp="1"/>
          </p:cNvSpPr>
          <p:nvPr>
            <p:ph idx="1"/>
          </p:nvPr>
        </p:nvSpPr>
        <p:spPr>
          <a:xfrm>
            <a:off x="457200" y="1612399"/>
            <a:ext cx="8229600" cy="445001"/>
          </a:xfrm>
        </p:spPr>
        <p:txBody>
          <a:bodyPr>
            <a:normAutofit lnSpcReduction="10000"/>
          </a:bodyPr>
          <a:lstStyle/>
          <a:p>
            <a:pPr algn="ctr">
              <a:buNone/>
            </a:pPr>
            <a:r>
              <a:rPr lang="en-CA" sz="2400" b="1" dirty="0">
                <a:cs typeface="Arial" panose="020B0604020202020204" pitchFamily="34" charset="0"/>
              </a:rPr>
              <a:t>Transaction</a:t>
            </a:r>
            <a:r>
              <a:rPr lang="en-CA" sz="2400" b="1" kern="10" dirty="0">
                <a:gradFill rotWithShape="1">
                  <a:gsLst>
                    <a:gs pos="0">
                      <a:srgbClr val="FFFF00"/>
                    </a:gs>
                    <a:gs pos="100000">
                      <a:srgbClr val="FF9933"/>
                    </a:gs>
                  </a:gsLst>
                  <a:path path="rect">
                    <a:fillToRect l="50000" t="50000" r="50000" b="50000"/>
                  </a:path>
                </a:gradFill>
                <a:effectLst>
                  <a:outerShdw dist="35921" dir="2700000" algn="ctr" rotWithShape="0">
                    <a:srgbClr val="C0C0C0"/>
                  </a:outerShdw>
                </a:effectLst>
                <a:cs typeface="Arial" panose="020B0604020202020204" pitchFamily="34" charset="0"/>
              </a:rPr>
              <a:t> </a:t>
            </a:r>
            <a:r>
              <a:rPr lang="en-CA" sz="2400" b="1" dirty="0">
                <a:cs typeface="Arial" panose="020B0604020202020204" pitchFamily="34" charset="0"/>
              </a:rPr>
              <a:t>5:</a:t>
            </a:r>
            <a:endParaRPr lang="en-US" sz="2400" dirty="0"/>
          </a:p>
        </p:txBody>
      </p:sp>
      <p:sp>
        <p:nvSpPr>
          <p:cNvPr id="4" name="Content Placeholder 3"/>
          <p:cNvSpPr>
            <a:spLocks noGrp="1"/>
          </p:cNvSpPr>
          <p:nvPr>
            <p:ph idx="13"/>
          </p:nvPr>
        </p:nvSpPr>
        <p:spPr>
          <a:xfrm>
            <a:off x="457200" y="2249424"/>
            <a:ext cx="8229600" cy="722376"/>
          </a:xfrm>
          <a:ln w="12700">
            <a:solidFill>
              <a:schemeClr val="tx1"/>
            </a:solidFill>
          </a:ln>
        </p:spPr>
        <p:txBody>
          <a:bodyPr/>
          <a:lstStyle/>
          <a:p>
            <a:pPr algn="ctr">
              <a:buNone/>
            </a:pPr>
            <a:r>
              <a:rPr lang="en-US" dirty="0"/>
              <a:t>Tara Inc. performs service </a:t>
            </a:r>
            <a:br>
              <a:rPr lang="en-US" dirty="0"/>
            </a:br>
            <a:r>
              <a:rPr lang="en-US" dirty="0"/>
              <a:t>and earns $3,000 on account.</a:t>
            </a:r>
          </a:p>
        </p:txBody>
      </p:sp>
      <p:graphicFrame>
        <p:nvGraphicFramePr>
          <p:cNvPr id="5" name="Table 4"/>
          <p:cNvGraphicFramePr>
            <a:graphicFrameLocks noGrp="1"/>
          </p:cNvGraphicFramePr>
          <p:nvPr>
            <p:extLst>
              <p:ext uri="{D42A27DB-BD31-4B8C-83A1-F6EECF244321}">
                <p14:modId xmlns:p14="http://schemas.microsoft.com/office/powerpoint/2010/main" val="3991020597"/>
              </p:ext>
            </p:extLst>
          </p:nvPr>
        </p:nvGraphicFramePr>
        <p:xfrm>
          <a:off x="40256" y="3332480"/>
          <a:ext cx="9063489" cy="2108200"/>
        </p:xfrm>
        <a:graphic>
          <a:graphicData uri="http://schemas.openxmlformats.org/drawingml/2006/table">
            <a:tbl>
              <a:tblPr firstRow="1" bandRow="1">
                <a:tableStyleId>{2D5ABB26-0587-4C30-8999-92F81FD0307C}</a:tableStyleId>
              </a:tblPr>
              <a:tblGrid>
                <a:gridCol w="538480">
                  <a:extLst>
                    <a:ext uri="{9D8B030D-6E8A-4147-A177-3AD203B41FA5}">
                      <a16:colId xmlns:a16="http://schemas.microsoft.com/office/drawing/2014/main" val="20000"/>
                    </a:ext>
                  </a:extLst>
                </a:gridCol>
                <a:gridCol w="689293">
                  <a:extLst>
                    <a:ext uri="{9D8B030D-6E8A-4147-A177-3AD203B41FA5}">
                      <a16:colId xmlns:a16="http://schemas.microsoft.com/office/drawing/2014/main" val="20001"/>
                    </a:ext>
                  </a:extLst>
                </a:gridCol>
                <a:gridCol w="314643">
                  <a:extLst>
                    <a:ext uri="{9D8B030D-6E8A-4147-A177-3AD203B41FA5}">
                      <a16:colId xmlns:a16="http://schemas.microsoft.com/office/drawing/2014/main" val="20002"/>
                    </a:ext>
                  </a:extLst>
                </a:gridCol>
                <a:gridCol w="1012132">
                  <a:extLst>
                    <a:ext uri="{9D8B030D-6E8A-4147-A177-3AD203B41FA5}">
                      <a16:colId xmlns:a16="http://schemas.microsoft.com/office/drawing/2014/main" val="20003"/>
                    </a:ext>
                  </a:extLst>
                </a:gridCol>
                <a:gridCol w="314643">
                  <a:extLst>
                    <a:ext uri="{9D8B030D-6E8A-4147-A177-3AD203B41FA5}">
                      <a16:colId xmlns:a16="http://schemas.microsoft.com/office/drawing/2014/main" val="20004"/>
                    </a:ext>
                  </a:extLst>
                </a:gridCol>
                <a:gridCol w="836294">
                  <a:extLst>
                    <a:ext uri="{9D8B030D-6E8A-4147-A177-3AD203B41FA5}">
                      <a16:colId xmlns:a16="http://schemas.microsoft.com/office/drawing/2014/main" val="20005"/>
                    </a:ext>
                  </a:extLst>
                </a:gridCol>
                <a:gridCol w="314643">
                  <a:extLst>
                    <a:ext uri="{9D8B030D-6E8A-4147-A177-3AD203B41FA5}">
                      <a16:colId xmlns:a16="http://schemas.microsoft.com/office/drawing/2014/main" val="20006"/>
                    </a:ext>
                  </a:extLst>
                </a:gridCol>
                <a:gridCol w="689293">
                  <a:extLst>
                    <a:ext uri="{9D8B030D-6E8A-4147-A177-3AD203B41FA5}">
                      <a16:colId xmlns:a16="http://schemas.microsoft.com/office/drawing/2014/main" val="20007"/>
                    </a:ext>
                  </a:extLst>
                </a:gridCol>
                <a:gridCol w="226272">
                  <a:extLst>
                    <a:ext uri="{9D8B030D-6E8A-4147-A177-3AD203B41FA5}">
                      <a16:colId xmlns:a16="http://schemas.microsoft.com/office/drawing/2014/main" val="20008"/>
                    </a:ext>
                  </a:extLst>
                </a:gridCol>
                <a:gridCol w="335280">
                  <a:extLst>
                    <a:ext uri="{9D8B030D-6E8A-4147-A177-3AD203B41FA5}">
                      <a16:colId xmlns:a16="http://schemas.microsoft.com/office/drawing/2014/main" val="20009"/>
                    </a:ext>
                  </a:extLst>
                </a:gridCol>
                <a:gridCol w="212053">
                  <a:extLst>
                    <a:ext uri="{9D8B030D-6E8A-4147-A177-3AD203B41FA5}">
                      <a16:colId xmlns:a16="http://schemas.microsoft.com/office/drawing/2014/main" val="20010"/>
                    </a:ext>
                  </a:extLst>
                </a:gridCol>
                <a:gridCol w="1118059">
                  <a:extLst>
                    <a:ext uri="{9D8B030D-6E8A-4147-A177-3AD203B41FA5}">
                      <a16:colId xmlns:a16="http://schemas.microsoft.com/office/drawing/2014/main" val="20011"/>
                    </a:ext>
                  </a:extLst>
                </a:gridCol>
                <a:gridCol w="216659">
                  <a:extLst>
                    <a:ext uri="{9D8B030D-6E8A-4147-A177-3AD203B41FA5}">
                      <a16:colId xmlns:a16="http://schemas.microsoft.com/office/drawing/2014/main" val="20012"/>
                    </a:ext>
                  </a:extLst>
                </a:gridCol>
                <a:gridCol w="914400">
                  <a:extLst>
                    <a:ext uri="{9D8B030D-6E8A-4147-A177-3AD203B41FA5}">
                      <a16:colId xmlns:a16="http://schemas.microsoft.com/office/drawing/2014/main" val="20013"/>
                    </a:ext>
                  </a:extLst>
                </a:gridCol>
                <a:gridCol w="212668">
                  <a:extLst>
                    <a:ext uri="{9D8B030D-6E8A-4147-A177-3AD203B41FA5}">
                      <a16:colId xmlns:a16="http://schemas.microsoft.com/office/drawing/2014/main" val="20014"/>
                    </a:ext>
                  </a:extLst>
                </a:gridCol>
                <a:gridCol w="1118677">
                  <a:extLst>
                    <a:ext uri="{9D8B030D-6E8A-4147-A177-3AD203B41FA5}">
                      <a16:colId xmlns:a16="http://schemas.microsoft.com/office/drawing/2014/main" val="20015"/>
                    </a:ext>
                  </a:extLst>
                </a:gridCol>
              </a:tblGrid>
              <a:tr h="152400">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b="1" dirty="0"/>
                        <a:t>ASSETS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t>LIABILITIES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200" b="1" dirty="0"/>
                        <a:t>SHAREHOLDERS’ </a:t>
                      </a:r>
                      <a:r>
                        <a:rPr lang="en-US" sz="1200" b="1" kern="1200" dirty="0">
                          <a:solidFill>
                            <a:schemeClr val="tx1"/>
                          </a:solidFill>
                          <a:latin typeface="+mn-lt"/>
                          <a:ea typeface="+mn-ea"/>
                          <a:cs typeface="+mn-cs"/>
                        </a:rPr>
                        <a:t>EQUITY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Cash</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kern="1200" baseline="0" dirty="0">
                          <a:solidFill>
                            <a:schemeClr val="tx1"/>
                          </a:solidFill>
                          <a:latin typeface="+mn-lt"/>
                          <a:ea typeface="+mn-ea"/>
                          <a:cs typeface="+mn-cs"/>
                        </a:rPr>
                        <a:t>Accounts Receivable</a:t>
                      </a:r>
                      <a:endParaRPr lang="en-US" sz="1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kern="1200" baseline="0" dirty="0">
                          <a:solidFill>
                            <a:schemeClr val="tx1"/>
                          </a:solidFill>
                          <a:latin typeface="+mn-lt"/>
                          <a:ea typeface="+mn-ea"/>
                          <a:cs typeface="+mn-cs"/>
                        </a:rPr>
                        <a:t>Office Supplies</a:t>
                      </a:r>
                      <a:endParaRPr lang="en-US" sz="1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Land</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Accounts Payable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Common Shares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Retained</a:t>
                      </a:r>
                      <a:br>
                        <a:rPr lang="en-US" sz="1200" b="1" dirty="0"/>
                      </a:br>
                      <a:r>
                        <a:rPr lang="en-US" sz="1200" b="1" dirty="0"/>
                        <a:t>Earnings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17,000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7,000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a:txBody>
                    <a:bodyPr/>
                    <a:lstStyle/>
                    <a:p>
                      <a:r>
                        <a:rPr lang="en-US" sz="1200" dirty="0"/>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+ 3,000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27000">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17,000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40">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dirty="0">
                          <a:solidFill>
                            <a:schemeClr val="tx1"/>
                          </a:solidFill>
                          <a:latin typeface="+mn-lt"/>
                        </a:rPr>
                        <a:t>63,700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r>
                        <a:rPr lang="en-US" sz="1200" dirty="0">
                          <a:solidFill>
                            <a:schemeClr val="tx1"/>
                          </a:solidFill>
                          <a:latin typeface="+mn-lt"/>
                        </a:rPr>
                        <a:t>63,700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Left Brace 14"/>
          <p:cNvSpPr/>
          <p:nvPr/>
        </p:nvSpPr>
        <p:spPr>
          <a:xfrm rot="16200000">
            <a:off x="2540327" y="3049303"/>
            <a:ext cx="147550" cy="410918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4844809" y="3381450"/>
            <a:ext cx="152400" cy="158435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 name="Left Brace 9"/>
          <p:cNvSpPr/>
          <p:nvPr/>
        </p:nvSpPr>
        <p:spPr>
          <a:xfrm>
            <a:off x="5270201" y="3361176"/>
            <a:ext cx="147918" cy="1616202"/>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Left Brace 15"/>
          <p:cNvSpPr/>
          <p:nvPr/>
        </p:nvSpPr>
        <p:spPr>
          <a:xfrm rot="16200000">
            <a:off x="7299270" y="3604726"/>
            <a:ext cx="128363" cy="301752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907479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(7 of 13)</a:t>
            </a:r>
            <a:endParaRPr lang="en-US" b="0" dirty="0"/>
          </a:p>
        </p:txBody>
      </p:sp>
      <p:sp>
        <p:nvSpPr>
          <p:cNvPr id="3" name="Content Placeholder 2"/>
          <p:cNvSpPr>
            <a:spLocks noGrp="1"/>
          </p:cNvSpPr>
          <p:nvPr>
            <p:ph idx="1"/>
          </p:nvPr>
        </p:nvSpPr>
        <p:spPr>
          <a:xfrm>
            <a:off x="457200" y="1579340"/>
            <a:ext cx="8229600" cy="479598"/>
          </a:xfrm>
        </p:spPr>
        <p:txBody>
          <a:bodyPr/>
          <a:lstStyle/>
          <a:p>
            <a:pPr algn="ctr">
              <a:buNone/>
            </a:pPr>
            <a:r>
              <a:rPr lang="en-US" sz="2400" b="1" kern="10" dirty="0">
                <a:ln w="9525">
                  <a:noFill/>
                  <a:round/>
                  <a:headEnd/>
                  <a:tailEnd/>
                </a:ln>
                <a:cs typeface="Arial"/>
              </a:rPr>
              <a:t>Transaction 6:</a:t>
            </a:r>
            <a:endParaRPr lang="en-US" sz="2400" b="1" dirty="0"/>
          </a:p>
        </p:txBody>
      </p:sp>
      <p:sp>
        <p:nvSpPr>
          <p:cNvPr id="4" name="Content Placeholder 3"/>
          <p:cNvSpPr>
            <a:spLocks noGrp="1"/>
          </p:cNvSpPr>
          <p:nvPr>
            <p:ph idx="13"/>
          </p:nvPr>
        </p:nvSpPr>
        <p:spPr>
          <a:xfrm>
            <a:off x="457200" y="2325624"/>
            <a:ext cx="8229600" cy="950976"/>
          </a:xfrm>
          <a:ln w="12700">
            <a:solidFill>
              <a:schemeClr val="tx1"/>
            </a:solidFill>
          </a:ln>
        </p:spPr>
        <p:txBody>
          <a:bodyPr>
            <a:normAutofit lnSpcReduction="10000"/>
          </a:bodyPr>
          <a:lstStyle/>
          <a:p>
            <a:pPr algn="ctr">
              <a:buNone/>
            </a:pPr>
            <a:r>
              <a:rPr lang="en-US" dirty="0"/>
              <a:t>Tara Inc. pays $2,700 for the following expenses: </a:t>
            </a:r>
            <a:br>
              <a:rPr lang="en-US" dirty="0"/>
            </a:br>
            <a:r>
              <a:rPr lang="en-US" dirty="0"/>
              <a:t>office rent $1,100, employee salary $1,200</a:t>
            </a:r>
            <a:br>
              <a:rPr lang="en-US" dirty="0"/>
            </a:br>
            <a:r>
              <a:rPr lang="en-US" dirty="0"/>
              <a:t>and utilities $400</a:t>
            </a:r>
          </a:p>
        </p:txBody>
      </p:sp>
      <p:graphicFrame>
        <p:nvGraphicFramePr>
          <p:cNvPr id="10" name="Table 9"/>
          <p:cNvGraphicFramePr>
            <a:graphicFrameLocks noGrp="1"/>
          </p:cNvGraphicFramePr>
          <p:nvPr>
            <p:extLst>
              <p:ext uri="{D42A27DB-BD31-4B8C-83A1-F6EECF244321}">
                <p14:modId xmlns:p14="http://schemas.microsoft.com/office/powerpoint/2010/main" val="51867141"/>
              </p:ext>
            </p:extLst>
          </p:nvPr>
        </p:nvGraphicFramePr>
        <p:xfrm>
          <a:off x="180203" y="3436972"/>
          <a:ext cx="8783595" cy="2613308"/>
        </p:xfrm>
        <a:graphic>
          <a:graphicData uri="http://schemas.openxmlformats.org/drawingml/2006/table">
            <a:tbl>
              <a:tblPr firstRow="1" bandRow="1">
                <a:tableStyleId>{2D5ABB26-0587-4C30-8999-92F81FD0307C}</a:tableStyleId>
              </a:tblPr>
              <a:tblGrid>
                <a:gridCol w="448963">
                  <a:extLst>
                    <a:ext uri="{9D8B030D-6E8A-4147-A177-3AD203B41FA5}">
                      <a16:colId xmlns:a16="http://schemas.microsoft.com/office/drawing/2014/main" val="20000"/>
                    </a:ext>
                  </a:extLst>
                </a:gridCol>
                <a:gridCol w="682398">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999902">
                  <a:extLst>
                    <a:ext uri="{9D8B030D-6E8A-4147-A177-3AD203B41FA5}">
                      <a16:colId xmlns:a16="http://schemas.microsoft.com/office/drawing/2014/main" val="20003"/>
                    </a:ext>
                  </a:extLst>
                </a:gridCol>
                <a:gridCol w="230856">
                  <a:extLst>
                    <a:ext uri="{9D8B030D-6E8A-4147-A177-3AD203B41FA5}">
                      <a16:colId xmlns:a16="http://schemas.microsoft.com/office/drawing/2014/main" val="20004"/>
                    </a:ext>
                  </a:extLst>
                </a:gridCol>
                <a:gridCol w="893609">
                  <a:extLst>
                    <a:ext uri="{9D8B030D-6E8A-4147-A177-3AD203B41FA5}">
                      <a16:colId xmlns:a16="http://schemas.microsoft.com/office/drawing/2014/main" val="20005"/>
                    </a:ext>
                  </a:extLst>
                </a:gridCol>
                <a:gridCol w="210065">
                  <a:extLst>
                    <a:ext uri="{9D8B030D-6E8A-4147-A177-3AD203B41FA5}">
                      <a16:colId xmlns:a16="http://schemas.microsoft.com/office/drawing/2014/main" val="20006"/>
                    </a:ext>
                  </a:extLst>
                </a:gridCol>
                <a:gridCol w="881901">
                  <a:extLst>
                    <a:ext uri="{9D8B030D-6E8A-4147-A177-3AD203B41FA5}">
                      <a16:colId xmlns:a16="http://schemas.microsoft.com/office/drawing/2014/main" val="20007"/>
                    </a:ext>
                  </a:extLst>
                </a:gridCol>
                <a:gridCol w="226272">
                  <a:extLst>
                    <a:ext uri="{9D8B030D-6E8A-4147-A177-3AD203B41FA5}">
                      <a16:colId xmlns:a16="http://schemas.microsoft.com/office/drawing/2014/main" val="20008"/>
                    </a:ext>
                  </a:extLst>
                </a:gridCol>
                <a:gridCol w="212053">
                  <a:extLst>
                    <a:ext uri="{9D8B030D-6E8A-4147-A177-3AD203B41FA5}">
                      <a16:colId xmlns:a16="http://schemas.microsoft.com/office/drawing/2014/main" val="20009"/>
                    </a:ext>
                  </a:extLst>
                </a:gridCol>
                <a:gridCol w="212053">
                  <a:extLst>
                    <a:ext uri="{9D8B030D-6E8A-4147-A177-3AD203B41FA5}">
                      <a16:colId xmlns:a16="http://schemas.microsoft.com/office/drawing/2014/main" val="20010"/>
                    </a:ext>
                  </a:extLst>
                </a:gridCol>
                <a:gridCol w="1090445">
                  <a:extLst>
                    <a:ext uri="{9D8B030D-6E8A-4147-A177-3AD203B41FA5}">
                      <a16:colId xmlns:a16="http://schemas.microsoft.com/office/drawing/2014/main" val="20011"/>
                    </a:ext>
                  </a:extLst>
                </a:gridCol>
                <a:gridCol w="228600">
                  <a:extLst>
                    <a:ext uri="{9D8B030D-6E8A-4147-A177-3AD203B41FA5}">
                      <a16:colId xmlns:a16="http://schemas.microsoft.com/office/drawing/2014/main" val="20012"/>
                    </a:ext>
                  </a:extLst>
                </a:gridCol>
                <a:gridCol w="914400">
                  <a:extLst>
                    <a:ext uri="{9D8B030D-6E8A-4147-A177-3AD203B41FA5}">
                      <a16:colId xmlns:a16="http://schemas.microsoft.com/office/drawing/2014/main" val="20013"/>
                    </a:ext>
                  </a:extLst>
                </a:gridCol>
                <a:gridCol w="304800">
                  <a:extLst>
                    <a:ext uri="{9D8B030D-6E8A-4147-A177-3AD203B41FA5}">
                      <a16:colId xmlns:a16="http://schemas.microsoft.com/office/drawing/2014/main" val="20014"/>
                    </a:ext>
                  </a:extLst>
                </a:gridCol>
                <a:gridCol w="1038998">
                  <a:extLst>
                    <a:ext uri="{9D8B030D-6E8A-4147-A177-3AD203B41FA5}">
                      <a16:colId xmlns:a16="http://schemas.microsoft.com/office/drawing/2014/main" val="20015"/>
                    </a:ext>
                  </a:extLst>
                </a:gridCol>
              </a:tblGrid>
              <a:tr h="174908">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b="1" dirty="0"/>
                        <a:t>ASSETS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1" dirty="0"/>
                        <a:t>LIABILITIES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endParaRPr 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200" b="1" dirty="0"/>
                        <a:t>SHAREHOLDERS’ </a:t>
                      </a:r>
                      <a:r>
                        <a:rPr lang="en-US" sz="1200" b="1" kern="1200" dirty="0">
                          <a:solidFill>
                            <a:schemeClr val="tx1"/>
                          </a:solidFill>
                          <a:latin typeface="+mn-lt"/>
                          <a:ea typeface="+mn-ea"/>
                          <a:cs typeface="+mn-cs"/>
                        </a:rPr>
                        <a:t>EQUITY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Cash</a:t>
                      </a:r>
                      <a:endParaRPr lang="en-US" sz="120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kern="1200" baseline="0" dirty="0">
                          <a:solidFill>
                            <a:schemeClr val="tx1"/>
                          </a:solidFill>
                          <a:latin typeface="+mn-lt"/>
                          <a:ea typeface="+mn-ea"/>
                          <a:cs typeface="+mn-cs"/>
                        </a:rPr>
                        <a:t>Accounts Receivable</a:t>
                      </a:r>
                      <a:endParaRPr lang="en-US" sz="1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200" b="1" kern="1200" dirty="0">
                          <a:solidFill>
                            <a:schemeClr val="tx1"/>
                          </a:solidFill>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Office Supplies</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Land</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Accounts Payable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tabLst/>
                      </a:pPr>
                      <a:r>
                        <a:rPr lang="en-US" sz="1200" b="1" dirty="0"/>
                        <a:t>Common Shares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Retained</a:t>
                      </a:r>
                      <a:br>
                        <a:rPr lang="en-US" sz="1200" b="1" dirty="0"/>
                      </a:br>
                      <a:r>
                        <a:rPr lang="en-US" sz="1200" b="1" dirty="0"/>
                        <a:t>Earnings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17,000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a:txBody>
                    <a:bodyPr/>
                    <a:lstStyle/>
                    <a:p>
                      <a:r>
                        <a:rPr lang="en-US" sz="1200" dirty="0"/>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–1,100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–1,100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27000">
                <a:tc>
                  <a:txBody>
                    <a:bodyPr/>
                    <a:lstStyle/>
                    <a:p>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–1,200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–1,200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27000">
                <a:tc>
                  <a:txBody>
                    <a:bodyPr/>
                    <a:lstStyle/>
                    <a:p>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  400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  400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27000">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14,300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7,300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27308">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dirty="0">
                          <a:solidFill>
                            <a:schemeClr val="tx1"/>
                          </a:solidFill>
                          <a:latin typeface="+mn-lt"/>
                        </a:rPr>
                        <a:t>61,000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r>
                        <a:rPr lang="en-US" sz="1200" dirty="0">
                          <a:solidFill>
                            <a:schemeClr val="tx1"/>
                          </a:solidFill>
                          <a:latin typeface="+mn-lt"/>
                        </a:rPr>
                        <a:t>61,000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Left Brace 7"/>
          <p:cNvSpPr/>
          <p:nvPr/>
        </p:nvSpPr>
        <p:spPr>
          <a:xfrm rot="16200000">
            <a:off x="2539241" y="3862649"/>
            <a:ext cx="189221" cy="379476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Right Brace 6"/>
          <p:cNvSpPr/>
          <p:nvPr/>
        </p:nvSpPr>
        <p:spPr>
          <a:xfrm>
            <a:off x="4794764" y="3505200"/>
            <a:ext cx="150891" cy="225482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Left Brace 5"/>
          <p:cNvSpPr/>
          <p:nvPr/>
        </p:nvSpPr>
        <p:spPr>
          <a:xfrm>
            <a:off x="5209188" y="3505200"/>
            <a:ext cx="149397" cy="225482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Left Brace 8"/>
          <p:cNvSpPr/>
          <p:nvPr/>
        </p:nvSpPr>
        <p:spPr>
          <a:xfrm rot="16200000">
            <a:off x="7076446" y="4246304"/>
            <a:ext cx="173013" cy="304769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3543035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(8 of 13)</a:t>
            </a:r>
            <a:endParaRPr lang="en-US" b="0" dirty="0"/>
          </a:p>
        </p:txBody>
      </p:sp>
      <p:sp>
        <p:nvSpPr>
          <p:cNvPr id="3" name="Content Placeholder 2"/>
          <p:cNvSpPr>
            <a:spLocks noGrp="1"/>
          </p:cNvSpPr>
          <p:nvPr>
            <p:ph idx="1"/>
          </p:nvPr>
        </p:nvSpPr>
        <p:spPr>
          <a:xfrm>
            <a:off x="457200" y="1905000"/>
            <a:ext cx="8229600" cy="457200"/>
          </a:xfrm>
        </p:spPr>
        <p:txBody>
          <a:bodyPr/>
          <a:lstStyle/>
          <a:p>
            <a:pPr algn="ctr">
              <a:buNone/>
            </a:pPr>
            <a:r>
              <a:rPr lang="en-US" sz="2400" b="1" kern="10" dirty="0">
                <a:ln w="9525">
                  <a:noFill/>
                  <a:round/>
                  <a:headEnd/>
                  <a:tailEnd/>
                </a:ln>
                <a:cs typeface="Arial"/>
              </a:rPr>
              <a:t>Transaction 7:</a:t>
            </a:r>
            <a:endParaRPr lang="en-US" sz="2400" b="1" dirty="0"/>
          </a:p>
        </p:txBody>
      </p:sp>
      <p:sp>
        <p:nvSpPr>
          <p:cNvPr id="4" name="Content Placeholder 3"/>
          <p:cNvSpPr>
            <a:spLocks noGrp="1"/>
          </p:cNvSpPr>
          <p:nvPr>
            <p:ph idx="13"/>
          </p:nvPr>
        </p:nvSpPr>
        <p:spPr>
          <a:xfrm>
            <a:off x="457200" y="2478024"/>
            <a:ext cx="8229600" cy="950976"/>
          </a:xfrm>
          <a:ln w="12700">
            <a:solidFill>
              <a:schemeClr val="tx1"/>
            </a:solidFill>
          </a:ln>
        </p:spPr>
        <p:txBody>
          <a:bodyPr/>
          <a:lstStyle/>
          <a:p>
            <a:pPr algn="ctr">
              <a:buNone/>
            </a:pPr>
            <a:r>
              <a:rPr lang="en-US" dirty="0"/>
              <a:t>Tara pays $1,900 on account for supplies purchased</a:t>
            </a:r>
            <a:br>
              <a:rPr lang="en-US" dirty="0"/>
            </a:br>
            <a:r>
              <a:rPr lang="en-US" dirty="0"/>
              <a:t>in Transaction 3.</a:t>
            </a:r>
          </a:p>
        </p:txBody>
      </p:sp>
      <p:graphicFrame>
        <p:nvGraphicFramePr>
          <p:cNvPr id="10" name="Table 9"/>
          <p:cNvGraphicFramePr>
            <a:graphicFrameLocks noGrp="1"/>
          </p:cNvGraphicFramePr>
          <p:nvPr>
            <p:extLst>
              <p:ext uri="{D42A27DB-BD31-4B8C-83A1-F6EECF244321}">
                <p14:modId xmlns:p14="http://schemas.microsoft.com/office/powerpoint/2010/main" val="3271673468"/>
              </p:ext>
            </p:extLst>
          </p:nvPr>
        </p:nvGraphicFramePr>
        <p:xfrm>
          <a:off x="128908" y="3561080"/>
          <a:ext cx="8886185" cy="2108200"/>
        </p:xfrm>
        <a:graphic>
          <a:graphicData uri="http://schemas.openxmlformats.org/drawingml/2006/table">
            <a:tbl>
              <a:tblPr firstRow="1" bandRow="1">
                <a:tableStyleId>{2D5ABB26-0587-4C30-8999-92F81FD0307C}</a:tableStyleId>
              </a:tblPr>
              <a:tblGrid>
                <a:gridCol w="448963">
                  <a:extLst>
                    <a:ext uri="{9D8B030D-6E8A-4147-A177-3AD203B41FA5}">
                      <a16:colId xmlns:a16="http://schemas.microsoft.com/office/drawing/2014/main" val="20000"/>
                    </a:ext>
                  </a:extLst>
                </a:gridCol>
                <a:gridCol w="682398">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999902">
                  <a:extLst>
                    <a:ext uri="{9D8B030D-6E8A-4147-A177-3AD203B41FA5}">
                      <a16:colId xmlns:a16="http://schemas.microsoft.com/office/drawing/2014/main" val="20003"/>
                    </a:ext>
                  </a:extLst>
                </a:gridCol>
                <a:gridCol w="230856">
                  <a:extLst>
                    <a:ext uri="{9D8B030D-6E8A-4147-A177-3AD203B41FA5}">
                      <a16:colId xmlns:a16="http://schemas.microsoft.com/office/drawing/2014/main" val="20004"/>
                    </a:ext>
                  </a:extLst>
                </a:gridCol>
                <a:gridCol w="893609">
                  <a:extLst>
                    <a:ext uri="{9D8B030D-6E8A-4147-A177-3AD203B41FA5}">
                      <a16:colId xmlns:a16="http://schemas.microsoft.com/office/drawing/2014/main" val="20005"/>
                    </a:ext>
                  </a:extLst>
                </a:gridCol>
                <a:gridCol w="210065">
                  <a:extLst>
                    <a:ext uri="{9D8B030D-6E8A-4147-A177-3AD203B41FA5}">
                      <a16:colId xmlns:a16="http://schemas.microsoft.com/office/drawing/2014/main" val="20006"/>
                    </a:ext>
                  </a:extLst>
                </a:gridCol>
                <a:gridCol w="881901">
                  <a:extLst>
                    <a:ext uri="{9D8B030D-6E8A-4147-A177-3AD203B41FA5}">
                      <a16:colId xmlns:a16="http://schemas.microsoft.com/office/drawing/2014/main" val="20007"/>
                    </a:ext>
                  </a:extLst>
                </a:gridCol>
                <a:gridCol w="226272">
                  <a:extLst>
                    <a:ext uri="{9D8B030D-6E8A-4147-A177-3AD203B41FA5}">
                      <a16:colId xmlns:a16="http://schemas.microsoft.com/office/drawing/2014/main" val="20008"/>
                    </a:ext>
                  </a:extLst>
                </a:gridCol>
                <a:gridCol w="314643">
                  <a:extLst>
                    <a:ext uri="{9D8B030D-6E8A-4147-A177-3AD203B41FA5}">
                      <a16:colId xmlns:a16="http://schemas.microsoft.com/office/drawing/2014/main" val="20009"/>
                    </a:ext>
                  </a:extLst>
                </a:gridCol>
                <a:gridCol w="212053">
                  <a:extLst>
                    <a:ext uri="{9D8B030D-6E8A-4147-A177-3AD203B41FA5}">
                      <a16:colId xmlns:a16="http://schemas.microsoft.com/office/drawing/2014/main" val="20010"/>
                    </a:ext>
                  </a:extLst>
                </a:gridCol>
                <a:gridCol w="1115350">
                  <a:extLst>
                    <a:ext uri="{9D8B030D-6E8A-4147-A177-3AD203B41FA5}">
                      <a16:colId xmlns:a16="http://schemas.microsoft.com/office/drawing/2014/main" val="20011"/>
                    </a:ext>
                  </a:extLst>
                </a:gridCol>
                <a:gridCol w="233272">
                  <a:extLst>
                    <a:ext uri="{9D8B030D-6E8A-4147-A177-3AD203B41FA5}">
                      <a16:colId xmlns:a16="http://schemas.microsoft.com/office/drawing/2014/main" val="20012"/>
                    </a:ext>
                  </a:extLst>
                </a:gridCol>
                <a:gridCol w="909728">
                  <a:extLst>
                    <a:ext uri="{9D8B030D-6E8A-4147-A177-3AD203B41FA5}">
                      <a16:colId xmlns:a16="http://schemas.microsoft.com/office/drawing/2014/main" val="20013"/>
                    </a:ext>
                  </a:extLst>
                </a:gridCol>
                <a:gridCol w="228600">
                  <a:extLst>
                    <a:ext uri="{9D8B030D-6E8A-4147-A177-3AD203B41FA5}">
                      <a16:colId xmlns:a16="http://schemas.microsoft.com/office/drawing/2014/main" val="20014"/>
                    </a:ext>
                  </a:extLst>
                </a:gridCol>
                <a:gridCol w="1090293">
                  <a:extLst>
                    <a:ext uri="{9D8B030D-6E8A-4147-A177-3AD203B41FA5}">
                      <a16:colId xmlns:a16="http://schemas.microsoft.com/office/drawing/2014/main" val="20015"/>
                    </a:ext>
                  </a:extLst>
                </a:gridCol>
              </a:tblGrid>
              <a:tr h="152400">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b="1" dirty="0"/>
                        <a:t>ASSETS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1" dirty="0"/>
                        <a:t>LIABILITIES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rPr>
                        <a:t>+</a:t>
                      </a:r>
                      <a:endParaRPr 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200" b="1" dirty="0"/>
                        <a:t>SHAREHOLDERS’ </a:t>
                      </a:r>
                      <a:r>
                        <a:rPr lang="en-US" sz="1200" b="1" kern="1200" dirty="0">
                          <a:solidFill>
                            <a:schemeClr val="tx1"/>
                          </a:solidFill>
                          <a:latin typeface="+mn-lt"/>
                          <a:ea typeface="+mn-ea"/>
                          <a:cs typeface="+mn-cs"/>
                        </a:rPr>
                        <a:t>EQUITY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Cash</a:t>
                      </a:r>
                      <a:endParaRPr lang="en-US" sz="120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kern="1200" baseline="0" dirty="0">
                          <a:solidFill>
                            <a:schemeClr val="tx1"/>
                          </a:solidFill>
                          <a:latin typeface="+mn-lt"/>
                          <a:ea typeface="+mn-ea"/>
                          <a:cs typeface="+mn-cs"/>
                        </a:rPr>
                        <a:t>Accounts Receivable</a:t>
                      </a:r>
                      <a:endParaRPr lang="en-US" sz="1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Office Supplies</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Land</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Accounts Payable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Common Shares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Retained</a:t>
                      </a:r>
                      <a:br>
                        <a:rPr lang="en-US" sz="1200" b="1" dirty="0"/>
                      </a:br>
                      <a:r>
                        <a:rPr lang="en-US" sz="1200" b="1" dirty="0"/>
                        <a:t>Earnings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14,300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7,300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a:txBody>
                    <a:bodyPr/>
                    <a:lstStyle/>
                    <a:p>
                      <a:r>
                        <a:rPr lang="en-US" sz="1200" dirty="0"/>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–1,900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–1,900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27000">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12,400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1,800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7,300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40">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dirty="0">
                          <a:solidFill>
                            <a:schemeClr val="tx1"/>
                          </a:solidFill>
                          <a:latin typeface="+mn-lt"/>
                        </a:rPr>
                        <a:t>59,100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r>
                        <a:rPr lang="en-US" sz="1200" dirty="0">
                          <a:solidFill>
                            <a:schemeClr val="tx1"/>
                          </a:solidFill>
                          <a:latin typeface="+mn-lt"/>
                        </a:rPr>
                        <a:t>59,100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Left Brace 7"/>
          <p:cNvSpPr/>
          <p:nvPr/>
        </p:nvSpPr>
        <p:spPr>
          <a:xfrm rot="16200000">
            <a:off x="2504371" y="3410877"/>
            <a:ext cx="187348" cy="387103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Right Brace 6"/>
          <p:cNvSpPr/>
          <p:nvPr/>
        </p:nvSpPr>
        <p:spPr>
          <a:xfrm>
            <a:off x="4763529" y="3642360"/>
            <a:ext cx="152400" cy="16002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Left Brace 5"/>
          <p:cNvSpPr/>
          <p:nvPr/>
        </p:nvSpPr>
        <p:spPr>
          <a:xfrm>
            <a:off x="5217846" y="3652520"/>
            <a:ext cx="152400" cy="160020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Left Brace 8"/>
          <p:cNvSpPr/>
          <p:nvPr/>
        </p:nvSpPr>
        <p:spPr>
          <a:xfrm rot="16200000">
            <a:off x="7128739" y="3887331"/>
            <a:ext cx="187348" cy="292877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4242719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(9 of 13)</a:t>
            </a:r>
            <a:endParaRPr lang="en-US" b="0" dirty="0"/>
          </a:p>
        </p:txBody>
      </p:sp>
      <p:sp>
        <p:nvSpPr>
          <p:cNvPr id="5" name="Content Placeholder 4"/>
          <p:cNvSpPr>
            <a:spLocks noGrp="1"/>
          </p:cNvSpPr>
          <p:nvPr>
            <p:ph idx="1"/>
          </p:nvPr>
        </p:nvSpPr>
        <p:spPr>
          <a:xfrm>
            <a:off x="457200" y="1524000"/>
            <a:ext cx="8229600" cy="441961"/>
          </a:xfrm>
        </p:spPr>
        <p:txBody>
          <a:bodyPr>
            <a:normAutofit lnSpcReduction="10000"/>
          </a:bodyPr>
          <a:lstStyle/>
          <a:p>
            <a:pPr algn="ctr"/>
            <a:r>
              <a:rPr lang="en-US" sz="2400" b="1" kern="10" dirty="0">
                <a:ln w="9525">
                  <a:noFill/>
                  <a:round/>
                  <a:headEnd/>
                  <a:tailEnd/>
                </a:ln>
                <a:cs typeface="Arial"/>
              </a:rPr>
              <a:t>Transaction 8:</a:t>
            </a:r>
            <a:endParaRPr lang="en-US" sz="2400" dirty="0"/>
          </a:p>
        </p:txBody>
      </p:sp>
      <p:sp>
        <p:nvSpPr>
          <p:cNvPr id="4" name="Content Placeholder 3"/>
          <p:cNvSpPr>
            <a:spLocks noGrp="1"/>
          </p:cNvSpPr>
          <p:nvPr>
            <p:ph sz="quarter" idx="13"/>
          </p:nvPr>
        </p:nvSpPr>
        <p:spPr>
          <a:xfrm>
            <a:off x="457200" y="2173224"/>
            <a:ext cx="8229600" cy="950976"/>
          </a:xfrm>
          <a:ln w="12700">
            <a:solidFill>
              <a:schemeClr val="tx1"/>
            </a:solidFill>
          </a:ln>
        </p:spPr>
        <p:txBody>
          <a:bodyPr/>
          <a:lstStyle/>
          <a:p>
            <a:pPr algn="ctr"/>
            <a:r>
              <a:rPr lang="en-US" dirty="0"/>
              <a:t>J.J. Booth pays for the re-modeling of </a:t>
            </a:r>
            <a:br>
              <a:rPr lang="en-US" dirty="0"/>
            </a:br>
            <a:r>
              <a:rPr lang="en-US" dirty="0"/>
              <a:t>his home at a cost of $30,000.</a:t>
            </a:r>
          </a:p>
        </p:txBody>
      </p:sp>
      <p:sp>
        <p:nvSpPr>
          <p:cNvPr id="3" name="Content Placeholder 2"/>
          <p:cNvSpPr>
            <a:spLocks noGrp="1"/>
          </p:cNvSpPr>
          <p:nvPr>
            <p:ph sz="quarter" idx="14"/>
          </p:nvPr>
        </p:nvSpPr>
        <p:spPr>
          <a:xfrm>
            <a:off x="457200" y="3225800"/>
            <a:ext cx="8229600" cy="1422400"/>
          </a:xfrm>
        </p:spPr>
        <p:txBody>
          <a:bodyPr/>
          <a:lstStyle/>
          <a:p>
            <a:pPr algn="ctr"/>
            <a:r>
              <a:rPr lang="en-US" sz="2400" dirty="0"/>
              <a:t>This event is a transaction of the</a:t>
            </a:r>
            <a:br>
              <a:rPr lang="en-US" sz="2400" dirty="0"/>
            </a:br>
            <a:r>
              <a:rPr lang="en-US" sz="2400" i="1" dirty="0">
                <a:solidFill>
                  <a:schemeClr val="tx2"/>
                </a:solidFill>
              </a:rPr>
              <a:t>personal entity</a:t>
            </a:r>
            <a:r>
              <a:rPr lang="en-US" sz="2400" dirty="0"/>
              <a:t>, not the business entity.</a:t>
            </a:r>
          </a:p>
          <a:p>
            <a:pPr algn="ctr"/>
            <a:r>
              <a:rPr lang="en-US" sz="2400" dirty="0"/>
              <a:t>No transaction is recorded for Tara Inc.</a:t>
            </a:r>
          </a:p>
        </p:txBody>
      </p:sp>
    </p:spTree>
    <p:extLst>
      <p:ext uri="{BB962C8B-B14F-4D97-AF65-F5344CB8AC3E}">
        <p14:creationId xmlns:p14="http://schemas.microsoft.com/office/powerpoint/2010/main" val="1078835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(10 of 13)</a:t>
            </a:r>
            <a:endParaRPr lang="en-US" b="0" dirty="0"/>
          </a:p>
        </p:txBody>
      </p:sp>
      <p:sp>
        <p:nvSpPr>
          <p:cNvPr id="3" name="Content Placeholder 2"/>
          <p:cNvSpPr>
            <a:spLocks noGrp="1"/>
          </p:cNvSpPr>
          <p:nvPr>
            <p:ph idx="1"/>
          </p:nvPr>
        </p:nvSpPr>
        <p:spPr>
          <a:xfrm>
            <a:off x="457200" y="1828800"/>
            <a:ext cx="8229600" cy="457200"/>
          </a:xfrm>
        </p:spPr>
        <p:txBody>
          <a:bodyPr/>
          <a:lstStyle/>
          <a:p>
            <a:pPr algn="ctr">
              <a:buNone/>
            </a:pPr>
            <a:r>
              <a:rPr lang="en-US" sz="2400" b="1" kern="10" dirty="0">
                <a:ln w="9525">
                  <a:noFill/>
                  <a:round/>
                  <a:headEnd/>
                  <a:tailEnd/>
                </a:ln>
                <a:cs typeface="Arial"/>
              </a:rPr>
              <a:t>Transaction 9:</a:t>
            </a:r>
            <a:endParaRPr lang="en-US" sz="2400" b="1" dirty="0"/>
          </a:p>
        </p:txBody>
      </p:sp>
      <p:sp>
        <p:nvSpPr>
          <p:cNvPr id="4" name="Content Placeholder 3"/>
          <p:cNvSpPr>
            <a:spLocks noGrp="1"/>
          </p:cNvSpPr>
          <p:nvPr>
            <p:ph idx="13"/>
          </p:nvPr>
        </p:nvSpPr>
        <p:spPr>
          <a:xfrm>
            <a:off x="457200" y="2401824"/>
            <a:ext cx="8229600" cy="722376"/>
          </a:xfrm>
          <a:ln w="12700">
            <a:solidFill>
              <a:schemeClr val="tx1"/>
            </a:solidFill>
          </a:ln>
        </p:spPr>
        <p:txBody>
          <a:bodyPr/>
          <a:lstStyle/>
          <a:p>
            <a:pPr algn="ctr">
              <a:buNone/>
            </a:pPr>
            <a:r>
              <a:rPr lang="en-US" dirty="0"/>
              <a:t>The business collects $1,000 </a:t>
            </a:r>
            <a:br>
              <a:rPr lang="en-US" dirty="0"/>
            </a:br>
            <a:r>
              <a:rPr lang="en-US" dirty="0"/>
              <a:t>from a customer on account.</a:t>
            </a:r>
          </a:p>
        </p:txBody>
      </p:sp>
      <p:graphicFrame>
        <p:nvGraphicFramePr>
          <p:cNvPr id="10" name="Table 9"/>
          <p:cNvGraphicFramePr>
            <a:graphicFrameLocks noGrp="1"/>
          </p:cNvGraphicFramePr>
          <p:nvPr>
            <p:extLst>
              <p:ext uri="{D42A27DB-BD31-4B8C-83A1-F6EECF244321}">
                <p14:modId xmlns:p14="http://schemas.microsoft.com/office/powerpoint/2010/main" val="1310368065"/>
              </p:ext>
            </p:extLst>
          </p:nvPr>
        </p:nvGraphicFramePr>
        <p:xfrm>
          <a:off x="128907" y="3330196"/>
          <a:ext cx="8886185" cy="2240843"/>
        </p:xfrm>
        <a:graphic>
          <a:graphicData uri="http://schemas.openxmlformats.org/drawingml/2006/table">
            <a:tbl>
              <a:tblPr firstRow="1" bandRow="1">
                <a:tableStyleId>{2D5ABB26-0587-4C30-8999-92F81FD0307C}</a:tableStyleId>
              </a:tblPr>
              <a:tblGrid>
                <a:gridCol w="448963">
                  <a:extLst>
                    <a:ext uri="{9D8B030D-6E8A-4147-A177-3AD203B41FA5}">
                      <a16:colId xmlns:a16="http://schemas.microsoft.com/office/drawing/2014/main" val="20000"/>
                    </a:ext>
                  </a:extLst>
                </a:gridCol>
                <a:gridCol w="682398">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999902">
                  <a:extLst>
                    <a:ext uri="{9D8B030D-6E8A-4147-A177-3AD203B41FA5}">
                      <a16:colId xmlns:a16="http://schemas.microsoft.com/office/drawing/2014/main" val="20003"/>
                    </a:ext>
                  </a:extLst>
                </a:gridCol>
                <a:gridCol w="230856">
                  <a:extLst>
                    <a:ext uri="{9D8B030D-6E8A-4147-A177-3AD203B41FA5}">
                      <a16:colId xmlns:a16="http://schemas.microsoft.com/office/drawing/2014/main" val="20004"/>
                    </a:ext>
                  </a:extLst>
                </a:gridCol>
                <a:gridCol w="893609">
                  <a:extLst>
                    <a:ext uri="{9D8B030D-6E8A-4147-A177-3AD203B41FA5}">
                      <a16:colId xmlns:a16="http://schemas.microsoft.com/office/drawing/2014/main" val="20005"/>
                    </a:ext>
                  </a:extLst>
                </a:gridCol>
                <a:gridCol w="210065">
                  <a:extLst>
                    <a:ext uri="{9D8B030D-6E8A-4147-A177-3AD203B41FA5}">
                      <a16:colId xmlns:a16="http://schemas.microsoft.com/office/drawing/2014/main" val="20006"/>
                    </a:ext>
                  </a:extLst>
                </a:gridCol>
                <a:gridCol w="881901">
                  <a:extLst>
                    <a:ext uri="{9D8B030D-6E8A-4147-A177-3AD203B41FA5}">
                      <a16:colId xmlns:a16="http://schemas.microsoft.com/office/drawing/2014/main" val="20007"/>
                    </a:ext>
                  </a:extLst>
                </a:gridCol>
                <a:gridCol w="226272">
                  <a:extLst>
                    <a:ext uri="{9D8B030D-6E8A-4147-A177-3AD203B41FA5}">
                      <a16:colId xmlns:a16="http://schemas.microsoft.com/office/drawing/2014/main" val="20008"/>
                    </a:ext>
                  </a:extLst>
                </a:gridCol>
                <a:gridCol w="314643">
                  <a:extLst>
                    <a:ext uri="{9D8B030D-6E8A-4147-A177-3AD203B41FA5}">
                      <a16:colId xmlns:a16="http://schemas.microsoft.com/office/drawing/2014/main" val="20009"/>
                    </a:ext>
                  </a:extLst>
                </a:gridCol>
                <a:gridCol w="212053">
                  <a:extLst>
                    <a:ext uri="{9D8B030D-6E8A-4147-A177-3AD203B41FA5}">
                      <a16:colId xmlns:a16="http://schemas.microsoft.com/office/drawing/2014/main" val="20010"/>
                    </a:ext>
                  </a:extLst>
                </a:gridCol>
                <a:gridCol w="1140342">
                  <a:extLst>
                    <a:ext uri="{9D8B030D-6E8A-4147-A177-3AD203B41FA5}">
                      <a16:colId xmlns:a16="http://schemas.microsoft.com/office/drawing/2014/main" val="20011"/>
                    </a:ext>
                  </a:extLst>
                </a:gridCol>
                <a:gridCol w="208280">
                  <a:extLst>
                    <a:ext uri="{9D8B030D-6E8A-4147-A177-3AD203B41FA5}">
                      <a16:colId xmlns:a16="http://schemas.microsoft.com/office/drawing/2014/main" val="20012"/>
                    </a:ext>
                  </a:extLst>
                </a:gridCol>
                <a:gridCol w="909728">
                  <a:extLst>
                    <a:ext uri="{9D8B030D-6E8A-4147-A177-3AD203B41FA5}">
                      <a16:colId xmlns:a16="http://schemas.microsoft.com/office/drawing/2014/main" val="20013"/>
                    </a:ext>
                  </a:extLst>
                </a:gridCol>
                <a:gridCol w="228600">
                  <a:extLst>
                    <a:ext uri="{9D8B030D-6E8A-4147-A177-3AD203B41FA5}">
                      <a16:colId xmlns:a16="http://schemas.microsoft.com/office/drawing/2014/main" val="20014"/>
                    </a:ext>
                  </a:extLst>
                </a:gridCol>
                <a:gridCol w="1090293">
                  <a:extLst>
                    <a:ext uri="{9D8B030D-6E8A-4147-A177-3AD203B41FA5}">
                      <a16:colId xmlns:a16="http://schemas.microsoft.com/office/drawing/2014/main" val="20015"/>
                    </a:ext>
                  </a:extLst>
                </a:gridCol>
              </a:tblGrid>
              <a:tr h="296359">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b="1" dirty="0"/>
                        <a:t>ASSETS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dirty="0"/>
                        <a:t>LIABILITIES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endParaRPr 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200" b="1" dirty="0"/>
                        <a:t>SHAREHOLDERS’ </a:t>
                      </a:r>
                      <a:r>
                        <a:rPr lang="en-US" sz="1200" b="1" kern="1200" dirty="0">
                          <a:solidFill>
                            <a:schemeClr val="tx1"/>
                          </a:solidFill>
                          <a:latin typeface="+mn-lt"/>
                          <a:ea typeface="+mn-ea"/>
                          <a:cs typeface="+mn-cs"/>
                        </a:rPr>
                        <a:t>EQUITY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93932">
                <a:tc>
                  <a:txBody>
                    <a:bodyPr/>
                    <a:lstStyle/>
                    <a:p>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Cash</a:t>
                      </a:r>
                      <a:endParaRPr lang="en-US" sz="120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kern="1200" baseline="0" dirty="0">
                          <a:solidFill>
                            <a:schemeClr val="tx1"/>
                          </a:solidFill>
                          <a:latin typeface="+mn-lt"/>
                          <a:ea typeface="+mn-ea"/>
                          <a:cs typeface="+mn-cs"/>
                        </a:rPr>
                        <a:t>Accounts Receivable</a:t>
                      </a:r>
                      <a:endParaRPr lang="en-US" sz="1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Office Supplies</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Land</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Accounts Payable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Common Shares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Retained</a:t>
                      </a:r>
                      <a:br>
                        <a:rPr lang="en-US" sz="1200" b="1" dirty="0"/>
                      </a:br>
                      <a:r>
                        <a:rPr lang="en-US" sz="1200" b="1" dirty="0"/>
                        <a:t>Earnings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96359">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12,400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  3,000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1,800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7,300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96359">
                <a:tc>
                  <a:txBody>
                    <a:bodyPr/>
                    <a:lstStyle/>
                    <a:p>
                      <a:r>
                        <a:rPr lang="en-US" sz="1200" dirty="0"/>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+1,000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a:t>
                      </a:r>
                      <a:r>
                        <a:rPr lang="en-US" sz="1200" dirty="0">
                          <a:solidFill>
                            <a:schemeClr val="tx1"/>
                          </a:solidFill>
                          <a:latin typeface="+mn-lt"/>
                        </a:rPr>
                        <a:t>1,000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96359">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13,400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 2,000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1,800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7,300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00634">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dirty="0">
                          <a:solidFill>
                            <a:schemeClr val="tx1"/>
                          </a:solidFill>
                          <a:latin typeface="+mn-lt"/>
                        </a:rPr>
                        <a:t>59,100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r>
                        <a:rPr lang="en-US" sz="1200" dirty="0">
                          <a:solidFill>
                            <a:schemeClr val="tx1"/>
                          </a:solidFill>
                          <a:latin typeface="+mn-lt"/>
                        </a:rPr>
                        <a:t>59,100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Left Brace 7"/>
          <p:cNvSpPr/>
          <p:nvPr/>
        </p:nvSpPr>
        <p:spPr>
          <a:xfrm rot="16200000">
            <a:off x="2534694" y="3193710"/>
            <a:ext cx="178255" cy="387103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Right Brace 6"/>
          <p:cNvSpPr/>
          <p:nvPr/>
        </p:nvSpPr>
        <p:spPr>
          <a:xfrm>
            <a:off x="4763529" y="3625113"/>
            <a:ext cx="152400" cy="166517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Left Brace 5"/>
          <p:cNvSpPr/>
          <p:nvPr/>
        </p:nvSpPr>
        <p:spPr>
          <a:xfrm>
            <a:off x="5158388" y="3637750"/>
            <a:ext cx="149397" cy="164868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Left Brace 8"/>
          <p:cNvSpPr/>
          <p:nvPr/>
        </p:nvSpPr>
        <p:spPr>
          <a:xfrm rot="16200000">
            <a:off x="7168991" y="3617282"/>
            <a:ext cx="193024" cy="298764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458553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(11 of 13)</a:t>
            </a:r>
            <a:endParaRPr lang="en-US" b="0" dirty="0"/>
          </a:p>
        </p:txBody>
      </p:sp>
      <p:sp>
        <p:nvSpPr>
          <p:cNvPr id="3" name="Content Placeholder 2"/>
          <p:cNvSpPr>
            <a:spLocks noGrp="1"/>
          </p:cNvSpPr>
          <p:nvPr>
            <p:ph idx="1"/>
          </p:nvPr>
        </p:nvSpPr>
        <p:spPr>
          <a:xfrm>
            <a:off x="457200" y="2133600"/>
            <a:ext cx="8229600" cy="457200"/>
          </a:xfrm>
        </p:spPr>
        <p:txBody>
          <a:bodyPr/>
          <a:lstStyle/>
          <a:p>
            <a:pPr algn="ctr">
              <a:buNone/>
            </a:pPr>
            <a:r>
              <a:rPr lang="en-US" sz="2400" b="1" kern="10" dirty="0">
                <a:ln w="9525">
                  <a:noFill/>
                  <a:round/>
                  <a:headEnd/>
                  <a:tailEnd/>
                </a:ln>
                <a:cs typeface="Arial"/>
              </a:rPr>
              <a:t>Transaction 10:</a:t>
            </a:r>
            <a:endParaRPr lang="en-US" sz="2400" b="1" dirty="0"/>
          </a:p>
        </p:txBody>
      </p:sp>
      <p:sp>
        <p:nvSpPr>
          <p:cNvPr id="4" name="Content Placeholder 3"/>
          <p:cNvSpPr>
            <a:spLocks noGrp="1"/>
          </p:cNvSpPr>
          <p:nvPr>
            <p:ph idx="13"/>
          </p:nvPr>
        </p:nvSpPr>
        <p:spPr>
          <a:xfrm>
            <a:off x="457200" y="2782824"/>
            <a:ext cx="8229600" cy="628924"/>
          </a:xfrm>
          <a:ln w="12700">
            <a:solidFill>
              <a:schemeClr val="tx1"/>
            </a:solidFill>
          </a:ln>
        </p:spPr>
        <p:txBody>
          <a:bodyPr>
            <a:normAutofit fontScale="92500" lnSpcReduction="10000"/>
          </a:bodyPr>
          <a:lstStyle/>
          <a:p>
            <a:pPr algn="ctr">
              <a:buNone/>
            </a:pPr>
            <a:r>
              <a:rPr lang="en-US" dirty="0"/>
              <a:t>Tara Inc. sells part of the land purchased in </a:t>
            </a:r>
            <a:br>
              <a:rPr lang="en-US" dirty="0"/>
            </a:br>
            <a:r>
              <a:rPr lang="en-US" dirty="0"/>
              <a:t>Transaction 2 for $22,000 (the land’s cost) in cash.</a:t>
            </a:r>
          </a:p>
        </p:txBody>
      </p:sp>
      <p:graphicFrame>
        <p:nvGraphicFramePr>
          <p:cNvPr id="10" name="Table 9"/>
          <p:cNvGraphicFramePr>
            <a:graphicFrameLocks noGrp="1"/>
          </p:cNvGraphicFramePr>
          <p:nvPr>
            <p:extLst>
              <p:ext uri="{D42A27DB-BD31-4B8C-83A1-F6EECF244321}">
                <p14:modId xmlns:p14="http://schemas.microsoft.com/office/powerpoint/2010/main" val="4118102888"/>
              </p:ext>
            </p:extLst>
          </p:nvPr>
        </p:nvGraphicFramePr>
        <p:xfrm>
          <a:off x="107640" y="3515337"/>
          <a:ext cx="8928719" cy="2487246"/>
        </p:xfrm>
        <a:graphic>
          <a:graphicData uri="http://schemas.openxmlformats.org/drawingml/2006/table">
            <a:tbl>
              <a:tblPr firstRow="1" bandRow="1">
                <a:tableStyleId>{2D5ABB26-0587-4C30-8999-92F81FD0307C}</a:tableStyleId>
              </a:tblPr>
              <a:tblGrid>
                <a:gridCol w="455700">
                  <a:extLst>
                    <a:ext uri="{9D8B030D-6E8A-4147-A177-3AD203B41FA5}">
                      <a16:colId xmlns:a16="http://schemas.microsoft.com/office/drawing/2014/main" val="20000"/>
                    </a:ext>
                  </a:extLst>
                </a:gridCol>
                <a:gridCol w="779971">
                  <a:extLst>
                    <a:ext uri="{9D8B030D-6E8A-4147-A177-3AD203B41FA5}">
                      <a16:colId xmlns:a16="http://schemas.microsoft.com/office/drawing/2014/main" val="20001"/>
                    </a:ext>
                  </a:extLst>
                </a:gridCol>
                <a:gridCol w="222421">
                  <a:extLst>
                    <a:ext uri="{9D8B030D-6E8A-4147-A177-3AD203B41FA5}">
                      <a16:colId xmlns:a16="http://schemas.microsoft.com/office/drawing/2014/main" val="20002"/>
                    </a:ext>
                  </a:extLst>
                </a:gridCol>
                <a:gridCol w="1064466">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854401">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766119">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314643">
                  <a:extLst>
                    <a:ext uri="{9D8B030D-6E8A-4147-A177-3AD203B41FA5}">
                      <a16:colId xmlns:a16="http://schemas.microsoft.com/office/drawing/2014/main" val="20009"/>
                    </a:ext>
                  </a:extLst>
                </a:gridCol>
                <a:gridCol w="215235">
                  <a:extLst>
                    <a:ext uri="{9D8B030D-6E8A-4147-A177-3AD203B41FA5}">
                      <a16:colId xmlns:a16="http://schemas.microsoft.com/office/drawing/2014/main" val="20010"/>
                    </a:ext>
                  </a:extLst>
                </a:gridCol>
                <a:gridCol w="1157454">
                  <a:extLst>
                    <a:ext uri="{9D8B030D-6E8A-4147-A177-3AD203B41FA5}">
                      <a16:colId xmlns:a16="http://schemas.microsoft.com/office/drawing/2014/main" val="20011"/>
                    </a:ext>
                  </a:extLst>
                </a:gridCol>
                <a:gridCol w="230509">
                  <a:extLst>
                    <a:ext uri="{9D8B030D-6E8A-4147-A177-3AD203B41FA5}">
                      <a16:colId xmlns:a16="http://schemas.microsoft.com/office/drawing/2014/main" val="20012"/>
                    </a:ext>
                  </a:extLst>
                </a:gridCol>
                <a:gridCol w="979000">
                  <a:extLst>
                    <a:ext uri="{9D8B030D-6E8A-4147-A177-3AD203B41FA5}">
                      <a16:colId xmlns:a16="http://schemas.microsoft.com/office/drawing/2014/main" val="20013"/>
                    </a:ext>
                  </a:extLst>
                </a:gridCol>
                <a:gridCol w="304800">
                  <a:extLst>
                    <a:ext uri="{9D8B030D-6E8A-4147-A177-3AD203B41FA5}">
                      <a16:colId xmlns:a16="http://schemas.microsoft.com/office/drawing/2014/main" val="20014"/>
                    </a:ext>
                  </a:extLst>
                </a:gridCol>
                <a:gridCol w="959160">
                  <a:extLst>
                    <a:ext uri="{9D8B030D-6E8A-4147-A177-3AD203B41FA5}">
                      <a16:colId xmlns:a16="http://schemas.microsoft.com/office/drawing/2014/main" val="20015"/>
                    </a:ext>
                  </a:extLst>
                </a:gridCol>
              </a:tblGrid>
              <a:tr h="313408">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b="1" dirty="0"/>
                        <a:t>ASSETS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dirty="0"/>
                        <a:t>LIABILITIES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200" b="1" dirty="0"/>
                        <a:t>SHAREHOLDERS’ </a:t>
                      </a:r>
                      <a:r>
                        <a:rPr lang="en-US" sz="1200" b="1" kern="1200" dirty="0">
                          <a:solidFill>
                            <a:schemeClr val="tx1"/>
                          </a:solidFill>
                          <a:latin typeface="+mn-lt"/>
                          <a:ea typeface="+mn-ea"/>
                          <a:cs typeface="+mn-cs"/>
                        </a:rPr>
                        <a:t>EQUITY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22348">
                <a:tc>
                  <a:txBody>
                    <a:bodyPr/>
                    <a:lstStyle/>
                    <a:p>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Cash</a:t>
                      </a:r>
                      <a:endParaRPr lang="en-US" sz="120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Accounts Receivable</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kern="1200" baseline="0" dirty="0">
                          <a:solidFill>
                            <a:schemeClr val="tx1"/>
                          </a:solidFill>
                          <a:latin typeface="+mn-lt"/>
                          <a:ea typeface="+mn-ea"/>
                          <a:cs typeface="+mn-cs"/>
                        </a:rPr>
                        <a:t>Office Supplies</a:t>
                      </a:r>
                      <a:endParaRPr lang="en-US" sz="1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Land</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Accounts Payable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Common Shares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Retained</a:t>
                      </a:r>
                      <a:br>
                        <a:rPr lang="en-US" sz="1200" b="1" dirty="0"/>
                      </a:br>
                      <a:r>
                        <a:rPr lang="en-US" sz="1200" b="1" dirty="0"/>
                        <a:t>Earnings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13408">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13,400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2,000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40,000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1,800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7,300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3408">
                <a:tc>
                  <a:txBody>
                    <a:bodyPr/>
                    <a:lstStyle/>
                    <a:p>
                      <a:r>
                        <a:rPr lang="en-US" sz="110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+22,000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a:t>
                      </a:r>
                      <a:r>
                        <a:rPr lang="en-US" sz="1200" dirty="0">
                          <a:solidFill>
                            <a:schemeClr val="tx1"/>
                          </a:solidFill>
                          <a:latin typeface="+mn-lt"/>
                        </a:rPr>
                        <a:t>22,000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13408">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35,400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2,000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18,000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1,800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7,300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23682">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dirty="0">
                          <a:solidFill>
                            <a:schemeClr val="tx1"/>
                          </a:solidFill>
                          <a:latin typeface="+mn-lt"/>
                        </a:rPr>
                        <a:t>59,100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r>
                        <a:rPr lang="en-US" sz="1200" dirty="0">
                          <a:solidFill>
                            <a:schemeClr val="tx1"/>
                          </a:solidFill>
                          <a:latin typeface="+mn-lt"/>
                        </a:rPr>
                        <a:t>59,100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Left Brace 7"/>
          <p:cNvSpPr/>
          <p:nvPr/>
        </p:nvSpPr>
        <p:spPr>
          <a:xfrm rot="16200000">
            <a:off x="2552316" y="3615847"/>
            <a:ext cx="201771" cy="396239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Right Brace 6"/>
          <p:cNvSpPr/>
          <p:nvPr/>
        </p:nvSpPr>
        <p:spPr>
          <a:xfrm>
            <a:off x="4757763" y="3927310"/>
            <a:ext cx="152400" cy="164868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Left Brace 5"/>
          <p:cNvSpPr/>
          <p:nvPr/>
        </p:nvSpPr>
        <p:spPr>
          <a:xfrm>
            <a:off x="5156886" y="3925312"/>
            <a:ext cx="152400" cy="163236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Left Brace 8"/>
          <p:cNvSpPr/>
          <p:nvPr/>
        </p:nvSpPr>
        <p:spPr>
          <a:xfrm rot="16200000">
            <a:off x="7077609" y="4067238"/>
            <a:ext cx="200862" cy="301752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579166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(12 of 13)</a:t>
            </a:r>
            <a:endParaRPr lang="en-US" b="0" dirty="0"/>
          </a:p>
        </p:txBody>
      </p:sp>
      <p:sp>
        <p:nvSpPr>
          <p:cNvPr id="3" name="Content Placeholder 2"/>
          <p:cNvSpPr>
            <a:spLocks noGrp="1"/>
          </p:cNvSpPr>
          <p:nvPr>
            <p:ph idx="1"/>
          </p:nvPr>
        </p:nvSpPr>
        <p:spPr>
          <a:xfrm>
            <a:off x="457200" y="1676400"/>
            <a:ext cx="8229600" cy="528003"/>
          </a:xfrm>
        </p:spPr>
        <p:txBody>
          <a:bodyPr/>
          <a:lstStyle/>
          <a:p>
            <a:pPr algn="ctr">
              <a:buNone/>
            </a:pPr>
            <a:r>
              <a:rPr lang="en-US" sz="2400" b="1" kern="10" dirty="0">
                <a:ln w="9525">
                  <a:noFill/>
                  <a:round/>
                  <a:headEnd/>
                  <a:tailEnd/>
                </a:ln>
                <a:cs typeface="Arial"/>
              </a:rPr>
              <a:t>Transaction 11:</a:t>
            </a:r>
            <a:endParaRPr lang="en-US" sz="2400" b="1" dirty="0"/>
          </a:p>
        </p:txBody>
      </p:sp>
      <p:sp>
        <p:nvSpPr>
          <p:cNvPr id="4" name="Content Placeholder 3"/>
          <p:cNvSpPr>
            <a:spLocks noGrp="1"/>
          </p:cNvSpPr>
          <p:nvPr>
            <p:ph idx="13"/>
          </p:nvPr>
        </p:nvSpPr>
        <p:spPr>
          <a:xfrm>
            <a:off x="457200" y="2325624"/>
            <a:ext cx="8229600" cy="646176"/>
          </a:xfrm>
          <a:ln w="12700">
            <a:solidFill>
              <a:schemeClr val="tx1"/>
            </a:solidFill>
          </a:ln>
        </p:spPr>
        <p:txBody>
          <a:bodyPr>
            <a:normAutofit lnSpcReduction="10000"/>
          </a:bodyPr>
          <a:lstStyle/>
          <a:p>
            <a:pPr algn="ctr">
              <a:buNone/>
            </a:pPr>
            <a:r>
              <a:rPr lang="en-US" dirty="0"/>
              <a:t>The corporation declares a dividend and pays </a:t>
            </a:r>
            <a:br>
              <a:rPr lang="en-US" dirty="0"/>
            </a:br>
            <a:r>
              <a:rPr lang="en-US" dirty="0"/>
              <a:t>$2,100 cash to the shareholders.</a:t>
            </a:r>
          </a:p>
        </p:txBody>
      </p:sp>
      <p:graphicFrame>
        <p:nvGraphicFramePr>
          <p:cNvPr id="10" name="Table 9"/>
          <p:cNvGraphicFramePr>
            <a:graphicFrameLocks noGrp="1"/>
          </p:cNvGraphicFramePr>
          <p:nvPr>
            <p:extLst>
              <p:ext uri="{D42A27DB-BD31-4B8C-83A1-F6EECF244321}">
                <p14:modId xmlns:p14="http://schemas.microsoft.com/office/powerpoint/2010/main" val="3148941371"/>
              </p:ext>
            </p:extLst>
          </p:nvPr>
        </p:nvGraphicFramePr>
        <p:xfrm>
          <a:off x="107640" y="3101010"/>
          <a:ext cx="8928719" cy="2437376"/>
        </p:xfrm>
        <a:graphic>
          <a:graphicData uri="http://schemas.openxmlformats.org/drawingml/2006/table">
            <a:tbl>
              <a:tblPr firstRow="1" bandRow="1">
                <a:tableStyleId>{2D5ABB26-0587-4C30-8999-92F81FD0307C}</a:tableStyleId>
              </a:tblPr>
              <a:tblGrid>
                <a:gridCol w="455700">
                  <a:extLst>
                    <a:ext uri="{9D8B030D-6E8A-4147-A177-3AD203B41FA5}">
                      <a16:colId xmlns:a16="http://schemas.microsoft.com/office/drawing/2014/main" val="20000"/>
                    </a:ext>
                  </a:extLst>
                </a:gridCol>
                <a:gridCol w="779971">
                  <a:extLst>
                    <a:ext uri="{9D8B030D-6E8A-4147-A177-3AD203B41FA5}">
                      <a16:colId xmlns:a16="http://schemas.microsoft.com/office/drawing/2014/main" val="20001"/>
                    </a:ext>
                  </a:extLst>
                </a:gridCol>
                <a:gridCol w="222421">
                  <a:extLst>
                    <a:ext uri="{9D8B030D-6E8A-4147-A177-3AD203B41FA5}">
                      <a16:colId xmlns:a16="http://schemas.microsoft.com/office/drawing/2014/main" val="20002"/>
                    </a:ext>
                  </a:extLst>
                </a:gridCol>
                <a:gridCol w="1064466">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854401">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766119">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314643">
                  <a:extLst>
                    <a:ext uri="{9D8B030D-6E8A-4147-A177-3AD203B41FA5}">
                      <a16:colId xmlns:a16="http://schemas.microsoft.com/office/drawing/2014/main" val="20009"/>
                    </a:ext>
                  </a:extLst>
                </a:gridCol>
                <a:gridCol w="215235">
                  <a:extLst>
                    <a:ext uri="{9D8B030D-6E8A-4147-A177-3AD203B41FA5}">
                      <a16:colId xmlns:a16="http://schemas.microsoft.com/office/drawing/2014/main" val="20010"/>
                    </a:ext>
                  </a:extLst>
                </a:gridCol>
                <a:gridCol w="1157454">
                  <a:extLst>
                    <a:ext uri="{9D8B030D-6E8A-4147-A177-3AD203B41FA5}">
                      <a16:colId xmlns:a16="http://schemas.microsoft.com/office/drawing/2014/main" val="20011"/>
                    </a:ext>
                  </a:extLst>
                </a:gridCol>
                <a:gridCol w="218909">
                  <a:extLst>
                    <a:ext uri="{9D8B030D-6E8A-4147-A177-3AD203B41FA5}">
                      <a16:colId xmlns:a16="http://schemas.microsoft.com/office/drawing/2014/main" val="20012"/>
                    </a:ext>
                  </a:extLst>
                </a:gridCol>
                <a:gridCol w="914400">
                  <a:extLst>
                    <a:ext uri="{9D8B030D-6E8A-4147-A177-3AD203B41FA5}">
                      <a16:colId xmlns:a16="http://schemas.microsoft.com/office/drawing/2014/main" val="20013"/>
                    </a:ext>
                  </a:extLst>
                </a:gridCol>
                <a:gridCol w="304800">
                  <a:extLst>
                    <a:ext uri="{9D8B030D-6E8A-4147-A177-3AD203B41FA5}">
                      <a16:colId xmlns:a16="http://schemas.microsoft.com/office/drawing/2014/main" val="20014"/>
                    </a:ext>
                  </a:extLst>
                </a:gridCol>
                <a:gridCol w="1035360">
                  <a:extLst>
                    <a:ext uri="{9D8B030D-6E8A-4147-A177-3AD203B41FA5}">
                      <a16:colId xmlns:a16="http://schemas.microsoft.com/office/drawing/2014/main" val="20015"/>
                    </a:ext>
                  </a:extLst>
                </a:gridCol>
              </a:tblGrid>
              <a:tr h="329014">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b="1" dirty="0"/>
                        <a:t>ASSETS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dirty="0"/>
                        <a:t>LIABILITIES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200" b="1" dirty="0"/>
                        <a:t>SHAREHOLDERS’ </a:t>
                      </a:r>
                      <a:r>
                        <a:rPr lang="en-US" sz="1200" b="1" kern="1200" dirty="0">
                          <a:solidFill>
                            <a:schemeClr val="tx1"/>
                          </a:solidFill>
                          <a:latin typeface="+mn-lt"/>
                          <a:ea typeface="+mn-ea"/>
                          <a:cs typeface="+mn-cs"/>
                        </a:rPr>
                        <a:t>EQUITY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48356">
                <a:tc>
                  <a:txBody>
                    <a:bodyPr/>
                    <a:lstStyle/>
                    <a:p>
                      <a:endParaRPr lang="en-US"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Cash</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Accounts Receivable</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kern="1200" baseline="0" dirty="0">
                          <a:solidFill>
                            <a:schemeClr val="tx1"/>
                          </a:solidFill>
                          <a:latin typeface="+mn-lt"/>
                          <a:ea typeface="+mn-ea"/>
                          <a:cs typeface="+mn-cs"/>
                        </a:rPr>
                        <a:t>Office Supplies</a:t>
                      </a:r>
                      <a:endParaRPr lang="en-US" sz="1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kern="1200" baseline="0" dirty="0">
                          <a:solidFill>
                            <a:schemeClr val="tx1"/>
                          </a:solidFill>
                          <a:latin typeface="+mn-lt"/>
                          <a:ea typeface="+mn-ea"/>
                          <a:cs typeface="+mn-cs"/>
                        </a:rPr>
                        <a:t>Land</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Accounts Payable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Common Shares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Retained</a:t>
                      </a:r>
                      <a:br>
                        <a:rPr lang="en-US" sz="1200" b="1" dirty="0"/>
                      </a:br>
                      <a:r>
                        <a:rPr lang="en-US" sz="1200" b="1" dirty="0"/>
                        <a:t>Earnings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29014">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35,400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2,000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18,000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solidFill>
                            <a:schemeClr val="tx1"/>
                          </a:solidFill>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1,800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mn-lt"/>
                        </a:rPr>
                        <a:t>7,300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29014">
                <a:tc>
                  <a:txBody>
                    <a:bodyPr/>
                    <a:lstStyle/>
                    <a:p>
                      <a:r>
                        <a:rPr lang="en-US" sz="1200" dirty="0"/>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–2,100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kern="1200" dirty="0">
                          <a:solidFill>
                            <a:schemeClr val="tx1"/>
                          </a:solidFill>
                          <a:latin typeface="+mn-lt"/>
                          <a:ea typeface="+mn-ea"/>
                          <a:cs typeface="+mn-cs"/>
                        </a:rPr>
                        <a:t>–2,100</a:t>
                      </a:r>
                      <a:endParaRPr lang="en-US"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29014">
                <a:tc>
                  <a:txBody>
                    <a:bodyPr/>
                    <a:lstStyle/>
                    <a:p>
                      <a:r>
                        <a:rPr lang="en-US" sz="1200" dirty="0"/>
                        <a:t>Bal.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u="dbl" baseline="0" dirty="0">
                          <a:solidFill>
                            <a:schemeClr val="tx1"/>
                          </a:solidFill>
                          <a:latin typeface="+mn-lt"/>
                        </a:rPr>
                        <a:t> 33,300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u="dbl"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u="dbl" baseline="0" dirty="0">
                          <a:solidFill>
                            <a:schemeClr val="tx1"/>
                          </a:solidFill>
                          <a:latin typeface="+mn-lt"/>
                        </a:rPr>
                        <a:t> 2,000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u="dbl"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u="dbl" baseline="0" dirty="0">
                          <a:solidFill>
                            <a:schemeClr val="tx1"/>
                          </a:solidFill>
                          <a:latin typeface="+mn-lt"/>
                        </a:rPr>
                        <a:t> 3,700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u="dbl"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u="dbl" baseline="0" dirty="0">
                          <a:solidFill>
                            <a:schemeClr val="tx1"/>
                          </a:solidFill>
                          <a:latin typeface="+mn-lt"/>
                        </a:rPr>
                        <a:t> 18,000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u="dbl"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u="dbl"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u="dbl"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u="dbl" baseline="0" dirty="0">
                          <a:solidFill>
                            <a:schemeClr val="tx1"/>
                          </a:solidFill>
                          <a:latin typeface="+mn-lt"/>
                        </a:rPr>
                        <a:t> 1,800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u="dbl"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u="dbl" baseline="0" dirty="0">
                          <a:solidFill>
                            <a:schemeClr val="tx1"/>
                          </a:solidFill>
                          <a:latin typeface="+mn-lt"/>
                        </a:rPr>
                        <a:t> 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u="dbl"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u="dbl" baseline="0" dirty="0">
                          <a:solidFill>
                            <a:schemeClr val="tx1"/>
                          </a:solidFill>
                          <a:latin typeface="+mn-lt"/>
                        </a:rPr>
                        <a:t> 5,200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44778">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r>
                        <a:rPr lang="en-US" sz="1200" dirty="0">
                          <a:solidFill>
                            <a:schemeClr val="tx1"/>
                          </a:solidFill>
                          <a:latin typeface="+mn-lt"/>
                        </a:rPr>
                        <a:t>57,000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r>
                        <a:rPr lang="en-US" sz="1200" dirty="0">
                          <a:solidFill>
                            <a:schemeClr val="tx1"/>
                          </a:solidFill>
                          <a:latin typeface="+mn-lt"/>
                        </a:rPr>
                        <a:t>57,000</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Left Brace 7"/>
          <p:cNvSpPr/>
          <p:nvPr/>
        </p:nvSpPr>
        <p:spPr>
          <a:xfrm rot="16200000">
            <a:off x="2494811" y="3296390"/>
            <a:ext cx="191978" cy="396239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Right Brace 6"/>
          <p:cNvSpPr/>
          <p:nvPr/>
        </p:nvSpPr>
        <p:spPr>
          <a:xfrm>
            <a:off x="4772744" y="3559552"/>
            <a:ext cx="122438" cy="163236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Left Brace 5"/>
          <p:cNvSpPr/>
          <p:nvPr/>
        </p:nvSpPr>
        <p:spPr>
          <a:xfrm>
            <a:off x="5171867" y="3551390"/>
            <a:ext cx="122438" cy="164868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Left Brace 8"/>
          <p:cNvSpPr/>
          <p:nvPr/>
        </p:nvSpPr>
        <p:spPr>
          <a:xfrm rot="16200000">
            <a:off x="7135044" y="3493990"/>
            <a:ext cx="138999" cy="314004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007821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for Business Transactions </a:t>
            </a:r>
            <a:r>
              <a:rPr lang="en-US" sz="2000" b="0" dirty="0">
                <a:ea typeface="ＭＳ Ｐゴシック" pitchFamily="34" charset="-128"/>
              </a:rPr>
              <a:t>(13 of 13)</a:t>
            </a:r>
            <a:endParaRPr lang="en-US" b="0" dirty="0"/>
          </a:p>
        </p:txBody>
      </p:sp>
      <p:graphicFrame>
        <p:nvGraphicFramePr>
          <p:cNvPr id="9" name="Table 8"/>
          <p:cNvGraphicFramePr>
            <a:graphicFrameLocks noGrp="1"/>
          </p:cNvGraphicFramePr>
          <p:nvPr>
            <p:extLst>
              <p:ext uri="{D42A27DB-BD31-4B8C-83A1-F6EECF244321}">
                <p14:modId xmlns:p14="http://schemas.microsoft.com/office/powerpoint/2010/main" val="3553277034"/>
              </p:ext>
            </p:extLst>
          </p:nvPr>
        </p:nvGraphicFramePr>
        <p:xfrm>
          <a:off x="271787" y="1330038"/>
          <a:ext cx="8315623" cy="4011270"/>
        </p:xfrm>
        <a:graphic>
          <a:graphicData uri="http://schemas.openxmlformats.org/drawingml/2006/table">
            <a:tbl>
              <a:tblPr firstRow="1" bandRow="1">
                <a:tableStyleId>{2D5ABB26-0587-4C30-8999-92F81FD0307C}</a:tableStyleId>
              </a:tblPr>
              <a:tblGrid>
                <a:gridCol w="720362">
                  <a:extLst>
                    <a:ext uri="{9D8B030D-6E8A-4147-A177-3AD203B41FA5}">
                      <a16:colId xmlns:a16="http://schemas.microsoft.com/office/drawing/2014/main" val="20000"/>
                    </a:ext>
                  </a:extLst>
                </a:gridCol>
                <a:gridCol w="1061649">
                  <a:extLst>
                    <a:ext uri="{9D8B030D-6E8A-4147-A177-3AD203B41FA5}">
                      <a16:colId xmlns:a16="http://schemas.microsoft.com/office/drawing/2014/main" val="20001"/>
                    </a:ext>
                  </a:extLst>
                </a:gridCol>
                <a:gridCol w="799218">
                  <a:extLst>
                    <a:ext uri="{9D8B030D-6E8A-4147-A177-3AD203B41FA5}">
                      <a16:colId xmlns:a16="http://schemas.microsoft.com/office/drawing/2014/main" val="20002"/>
                    </a:ext>
                  </a:extLst>
                </a:gridCol>
                <a:gridCol w="1003367">
                  <a:extLst>
                    <a:ext uri="{9D8B030D-6E8A-4147-A177-3AD203B41FA5}">
                      <a16:colId xmlns:a16="http://schemas.microsoft.com/office/drawing/2014/main" val="20003"/>
                    </a:ext>
                  </a:extLst>
                </a:gridCol>
                <a:gridCol w="854765">
                  <a:extLst>
                    <a:ext uri="{9D8B030D-6E8A-4147-A177-3AD203B41FA5}">
                      <a16:colId xmlns:a16="http://schemas.microsoft.com/office/drawing/2014/main" val="20004"/>
                    </a:ext>
                  </a:extLst>
                </a:gridCol>
                <a:gridCol w="1073426">
                  <a:extLst>
                    <a:ext uri="{9D8B030D-6E8A-4147-A177-3AD203B41FA5}">
                      <a16:colId xmlns:a16="http://schemas.microsoft.com/office/drawing/2014/main" val="3647942198"/>
                    </a:ext>
                  </a:extLst>
                </a:gridCol>
                <a:gridCol w="1331843">
                  <a:extLst>
                    <a:ext uri="{9D8B030D-6E8A-4147-A177-3AD203B41FA5}">
                      <a16:colId xmlns:a16="http://schemas.microsoft.com/office/drawing/2014/main" val="1753171965"/>
                    </a:ext>
                  </a:extLst>
                </a:gridCol>
                <a:gridCol w="1470993">
                  <a:extLst>
                    <a:ext uri="{9D8B030D-6E8A-4147-A177-3AD203B41FA5}">
                      <a16:colId xmlns:a16="http://schemas.microsoft.com/office/drawing/2014/main" val="787005352"/>
                    </a:ext>
                  </a:extLst>
                </a:gridCol>
              </a:tblGrid>
              <a:tr h="249130">
                <a:tc gridSpan="5">
                  <a:txBody>
                    <a:bodyPr/>
                    <a:lstStyle/>
                    <a:p>
                      <a:pPr algn="ctr"/>
                      <a:r>
                        <a:rPr lang="en-US" sz="1200" b="1" dirty="0">
                          <a:solidFill>
                            <a:schemeClr val="tx1"/>
                          </a:solidFill>
                          <a:latin typeface="+mn-lt"/>
                        </a:rPr>
                        <a:t>ASSETS</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algn="ctr"/>
                      <a:endParaRPr lang="en-US" sz="10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0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0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0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1000" b="1" dirty="0">
                          <a:solidFill>
                            <a:schemeClr val="tx1"/>
                          </a:solidFill>
                          <a:latin typeface="+mn-lt"/>
                        </a:rPr>
                        <a:t>LIABILITIES + SHAREHOLDER’S EQUITY</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algn="ctr"/>
                      <a:endParaRPr lang="en-US" sz="10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0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8967355"/>
                  </a:ext>
                </a:extLst>
              </a:tr>
              <a:tr h="249130">
                <a:tc>
                  <a:txBody>
                    <a:bodyPr/>
                    <a:lstStyle/>
                    <a:p>
                      <a:pPr algn="ctr"/>
                      <a:r>
                        <a:rPr lang="en-US" sz="900" b="1" kern="1200" baseline="0" dirty="0">
                          <a:solidFill>
                            <a:schemeClr val="tx1"/>
                          </a:solidFill>
                          <a:latin typeface="+mn-lt"/>
                          <a:ea typeface="+mn-ea"/>
                          <a:cs typeface="+mn-cs"/>
                        </a:rPr>
                        <a:t>Trans</a:t>
                      </a:r>
                      <a:endParaRPr lang="en-US" sz="9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kern="1200" baseline="0" dirty="0">
                          <a:solidFill>
                            <a:schemeClr val="tx1"/>
                          </a:solidFill>
                          <a:latin typeface="+mn-lt"/>
                          <a:ea typeface="+mn-ea"/>
                          <a:cs typeface="+mn-cs"/>
                        </a:rPr>
                        <a:t>Cash</a:t>
                      </a:r>
                      <a:endParaRPr lang="en-US" sz="10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kern="1200" baseline="0" dirty="0">
                          <a:solidFill>
                            <a:schemeClr val="tx1"/>
                          </a:solidFill>
                          <a:latin typeface="+mn-lt"/>
                          <a:ea typeface="+mn-ea"/>
                          <a:cs typeface="+mn-cs"/>
                        </a:rPr>
                        <a:t>AR</a:t>
                      </a:r>
                      <a:endParaRPr lang="en-US" sz="10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kern="1200" baseline="0" dirty="0">
                          <a:solidFill>
                            <a:schemeClr val="tx1"/>
                          </a:solidFill>
                          <a:latin typeface="+mn-lt"/>
                          <a:ea typeface="+mn-ea"/>
                          <a:cs typeface="+mn-cs"/>
                        </a:rPr>
                        <a:t>Supplies</a:t>
                      </a:r>
                      <a:endParaRPr lang="en-US" sz="10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kern="1200" baseline="0" dirty="0">
                          <a:solidFill>
                            <a:schemeClr val="tx1"/>
                          </a:solidFill>
                          <a:latin typeface="+mn-lt"/>
                          <a:ea typeface="+mn-ea"/>
                          <a:cs typeface="+mn-cs"/>
                        </a:rPr>
                        <a:t>Land</a:t>
                      </a:r>
                      <a:endParaRPr lang="en-US" sz="1000" b="1"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solidFill>
                            <a:schemeClr val="tx1"/>
                          </a:solidFill>
                          <a:latin typeface="+mn-lt"/>
                        </a:rPr>
                        <a:t>AP</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solidFill>
                            <a:schemeClr val="tx1"/>
                          </a:solidFill>
                          <a:latin typeface="+mn-lt"/>
                        </a:rPr>
                        <a:t>Common Shares</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solidFill>
                            <a:schemeClr val="tx1"/>
                          </a:solidFill>
                          <a:latin typeface="+mn-lt"/>
                        </a:rPr>
                        <a:t>Retained Earnings</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9130">
                <a:tc>
                  <a:txBody>
                    <a:bodyPr/>
                    <a:lstStyle/>
                    <a:p>
                      <a:pPr algn="ctr"/>
                      <a:r>
                        <a:rPr lang="en-US" sz="1000" dirty="0">
                          <a:solidFill>
                            <a:schemeClr val="tx1"/>
                          </a:solidFill>
                          <a:latin typeface="+mn-lt"/>
                        </a:rPr>
                        <a:t>1</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r>
                        <a:rPr lang="en-US" sz="1000" dirty="0">
                          <a:solidFill>
                            <a:schemeClr val="tx1"/>
                          </a:solidFill>
                          <a:latin typeface="+mn-lt"/>
                        </a:rPr>
                        <a:t>50,000</a:t>
                      </a: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mn-lt"/>
                        </a:rPr>
                        <a:t>50,000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9130">
                <a:tc>
                  <a:txBody>
                    <a:bodyPr/>
                    <a:lstStyle/>
                    <a:p>
                      <a:pPr algn="ctr"/>
                      <a:r>
                        <a:rPr lang="en-US" sz="1000" dirty="0">
                          <a:solidFill>
                            <a:schemeClr val="tx1"/>
                          </a:solidFill>
                          <a:latin typeface="+mn-lt"/>
                        </a:rPr>
                        <a:t>2</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r>
                        <a:rPr lang="en-US" sz="1000" dirty="0">
                          <a:solidFill>
                            <a:schemeClr val="tx1"/>
                          </a:solidFill>
                          <a:latin typeface="+mn-lt"/>
                        </a:rPr>
                        <a:t>(40,000)</a:t>
                      </a: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solidFill>
                            <a:schemeClr val="tx1"/>
                          </a:solidFill>
                          <a:latin typeface="+mn-lt"/>
                        </a:rPr>
                        <a:t>40,000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9130">
                <a:tc>
                  <a:txBody>
                    <a:bodyPr/>
                    <a:lstStyle/>
                    <a:p>
                      <a:pPr algn="ctr"/>
                      <a:r>
                        <a:rPr lang="en-US" sz="1000" dirty="0">
                          <a:solidFill>
                            <a:schemeClr val="tx1"/>
                          </a:solidFill>
                          <a:latin typeface="+mn-lt"/>
                        </a:rPr>
                        <a:t>3</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endParaRPr lang="en-US" sz="1000" dirty="0">
                        <a:solidFill>
                          <a:schemeClr val="tx1"/>
                        </a:solidFill>
                        <a:latin typeface="+mn-lt"/>
                      </a:endParaRP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solidFill>
                            <a:schemeClr val="tx1"/>
                          </a:solidFill>
                          <a:latin typeface="+mn-lt"/>
                        </a:rPr>
                        <a:t>3,700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mn-lt"/>
                        </a:rPr>
                        <a:t>3,700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49130">
                <a:tc>
                  <a:txBody>
                    <a:bodyPr/>
                    <a:lstStyle/>
                    <a:p>
                      <a:pPr algn="ctr"/>
                      <a:r>
                        <a:rPr lang="en-US" sz="1000" dirty="0">
                          <a:solidFill>
                            <a:schemeClr val="tx1"/>
                          </a:solidFill>
                          <a:latin typeface="+mn-lt"/>
                        </a:rPr>
                        <a:t>4</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r>
                        <a:rPr lang="en-US" sz="1000" dirty="0">
                          <a:solidFill>
                            <a:schemeClr val="tx1"/>
                          </a:solidFill>
                          <a:latin typeface="+mn-lt"/>
                        </a:rPr>
                        <a:t>  7,000</a:t>
                      </a: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solidFill>
                            <a:schemeClr val="tx1"/>
                          </a:solidFill>
                          <a:latin typeface="+mn-lt"/>
                        </a:rPr>
                        <a:t>7,000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49130">
                <a:tc>
                  <a:txBody>
                    <a:bodyPr/>
                    <a:lstStyle/>
                    <a:p>
                      <a:pPr algn="ctr"/>
                      <a:r>
                        <a:rPr lang="en-US" sz="1000" dirty="0">
                          <a:solidFill>
                            <a:schemeClr val="tx1"/>
                          </a:solidFill>
                          <a:latin typeface="+mn-lt"/>
                        </a:rPr>
                        <a:t>5</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endParaRPr lang="en-US" sz="1000" dirty="0">
                        <a:solidFill>
                          <a:schemeClr val="tx1"/>
                        </a:solidFill>
                        <a:latin typeface="+mn-lt"/>
                      </a:endParaRP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solidFill>
                            <a:schemeClr val="tx1"/>
                          </a:solidFill>
                          <a:latin typeface="+mn-lt"/>
                        </a:rPr>
                        <a:t>3,000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kern="1200" baseline="0" dirty="0">
                          <a:solidFill>
                            <a:schemeClr val="tx1"/>
                          </a:solidFill>
                          <a:latin typeface="+mn-lt"/>
                          <a:ea typeface="+mn-ea"/>
                          <a:cs typeface="+mn-cs"/>
                        </a:rPr>
                        <a:t> 3,000</a:t>
                      </a:r>
                      <a:endParaRPr lang="en-US" sz="1000" dirty="0">
                        <a:solidFill>
                          <a:schemeClr val="tx1"/>
                        </a:solidFill>
                        <a:latin typeface="+mn-lt"/>
                      </a:endParaRPr>
                    </a:p>
                  </a:txBody>
                  <a:tcPr marL="118034" marR="1180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49130">
                <a:tc>
                  <a:txBody>
                    <a:bodyPr/>
                    <a:lstStyle/>
                    <a:p>
                      <a:pPr algn="ctr"/>
                      <a:r>
                        <a:rPr lang="en-US" sz="1000" dirty="0">
                          <a:solidFill>
                            <a:schemeClr val="tx1"/>
                          </a:solidFill>
                          <a:latin typeface="+mn-lt"/>
                        </a:rPr>
                        <a:t>6</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r>
                        <a:rPr lang="en-US" sz="1000" dirty="0">
                          <a:solidFill>
                            <a:schemeClr val="tx1"/>
                          </a:solidFill>
                          <a:latin typeface="+mn-lt"/>
                        </a:rPr>
                        <a:t>(2,700)</a:t>
                      </a: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kern="1200" baseline="0" dirty="0">
                          <a:solidFill>
                            <a:schemeClr val="tx1"/>
                          </a:solidFill>
                          <a:latin typeface="+mn-lt"/>
                          <a:ea typeface="+mn-ea"/>
                          <a:cs typeface="+mn-cs"/>
                        </a:rPr>
                        <a:t>(1,100)</a:t>
                      </a:r>
                      <a:endParaRPr lang="en-US" sz="1000" dirty="0">
                        <a:solidFill>
                          <a:schemeClr val="tx1"/>
                        </a:solidFill>
                        <a:latin typeface="+mn-lt"/>
                      </a:endParaRPr>
                    </a:p>
                  </a:txBody>
                  <a:tcPr marL="118034" marR="1180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49130">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endParaRPr lang="en-US" sz="1000" dirty="0">
                        <a:solidFill>
                          <a:schemeClr val="tx1"/>
                        </a:solidFill>
                        <a:latin typeface="+mn-lt"/>
                      </a:endParaRP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kern="1200" baseline="0" dirty="0">
                          <a:solidFill>
                            <a:schemeClr val="tx1"/>
                          </a:solidFill>
                          <a:latin typeface="+mn-lt"/>
                          <a:ea typeface="+mn-ea"/>
                          <a:cs typeface="+mn-cs"/>
                        </a:rPr>
                        <a:t>(1,200)</a:t>
                      </a:r>
                      <a:endParaRPr lang="en-US" sz="1000" dirty="0">
                        <a:solidFill>
                          <a:schemeClr val="tx1"/>
                        </a:solidFill>
                        <a:latin typeface="+mn-lt"/>
                      </a:endParaRPr>
                    </a:p>
                  </a:txBody>
                  <a:tcPr marL="118034" marR="1180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49130">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endParaRPr lang="en-US" sz="1000" dirty="0">
                        <a:solidFill>
                          <a:schemeClr val="tx1"/>
                        </a:solidFill>
                        <a:latin typeface="+mn-lt"/>
                      </a:endParaRP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kern="1200" baseline="0" dirty="0">
                          <a:solidFill>
                            <a:schemeClr val="tx1"/>
                          </a:solidFill>
                          <a:latin typeface="+mn-lt"/>
                          <a:ea typeface="+mn-ea"/>
                          <a:cs typeface="+mn-cs"/>
                        </a:rPr>
                        <a:t>  (400)</a:t>
                      </a:r>
                      <a:endParaRPr lang="en-US" sz="1000" dirty="0">
                        <a:solidFill>
                          <a:schemeClr val="tx1"/>
                        </a:solidFill>
                        <a:latin typeface="+mn-lt"/>
                      </a:endParaRPr>
                    </a:p>
                  </a:txBody>
                  <a:tcPr marL="118034" marR="1180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49130">
                <a:tc>
                  <a:txBody>
                    <a:bodyPr/>
                    <a:lstStyle/>
                    <a:p>
                      <a:pPr algn="ctr"/>
                      <a:r>
                        <a:rPr lang="en-US" sz="1000" dirty="0">
                          <a:solidFill>
                            <a:schemeClr val="tx1"/>
                          </a:solidFill>
                          <a:latin typeface="+mn-lt"/>
                        </a:rPr>
                        <a:t>7</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r>
                        <a:rPr lang="en-US" sz="1000" dirty="0">
                          <a:solidFill>
                            <a:schemeClr val="tx1"/>
                          </a:solidFill>
                          <a:latin typeface="+mn-lt"/>
                        </a:rPr>
                        <a:t>(1,900)</a:t>
                      </a: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00" kern="1200" baseline="0" dirty="0">
                          <a:solidFill>
                            <a:schemeClr val="tx1"/>
                          </a:solidFill>
                          <a:latin typeface="+mn-lt"/>
                          <a:ea typeface="+mn-ea"/>
                          <a:cs typeface="+mn-cs"/>
                        </a:rPr>
                        <a:t>(1,900)</a:t>
                      </a: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49130">
                <a:tc>
                  <a:txBody>
                    <a:bodyPr/>
                    <a:lstStyle/>
                    <a:p>
                      <a:pPr algn="ctr"/>
                      <a:r>
                        <a:rPr lang="en-US" sz="1000" dirty="0">
                          <a:solidFill>
                            <a:schemeClr val="tx1"/>
                          </a:solidFill>
                          <a:latin typeface="+mn-lt"/>
                        </a:rPr>
                        <a:t>9</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r>
                        <a:rPr lang="en-US" sz="1000" dirty="0">
                          <a:solidFill>
                            <a:schemeClr val="tx1"/>
                          </a:solidFill>
                          <a:latin typeface="+mn-lt"/>
                        </a:rPr>
                        <a:t>1,000</a:t>
                      </a: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solidFill>
                            <a:schemeClr val="tx1"/>
                          </a:solidFill>
                          <a:latin typeface="+mn-lt"/>
                        </a:rPr>
                        <a:t>(1,000)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49130">
                <a:tc>
                  <a:txBody>
                    <a:bodyPr/>
                    <a:lstStyle/>
                    <a:p>
                      <a:pPr algn="ctr"/>
                      <a:r>
                        <a:rPr lang="en-US" sz="1000" dirty="0">
                          <a:solidFill>
                            <a:schemeClr val="tx1"/>
                          </a:solidFill>
                          <a:latin typeface="+mn-lt"/>
                        </a:rPr>
                        <a:t>10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r>
                        <a:rPr lang="en-US" sz="1000" dirty="0">
                          <a:solidFill>
                            <a:schemeClr val="tx1"/>
                          </a:solidFill>
                          <a:latin typeface="+mn-lt"/>
                        </a:rPr>
                        <a:t>22,000</a:t>
                      </a: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solidFill>
                            <a:schemeClr val="tx1"/>
                          </a:solidFill>
                          <a:latin typeface="+mn-lt"/>
                        </a:rPr>
                        <a:t>(22,000)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49130">
                <a:tc>
                  <a:txBody>
                    <a:bodyPr/>
                    <a:lstStyle/>
                    <a:p>
                      <a:pPr algn="ctr"/>
                      <a:r>
                        <a:rPr lang="en-US" sz="1000" dirty="0">
                          <a:solidFill>
                            <a:schemeClr val="tx1"/>
                          </a:solidFill>
                          <a:latin typeface="+mn-lt"/>
                        </a:rPr>
                        <a:t>11</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r>
                        <a:rPr lang="en-US" sz="1000" dirty="0">
                          <a:solidFill>
                            <a:schemeClr val="tx1"/>
                          </a:solidFill>
                          <a:latin typeface="+mn-lt"/>
                        </a:rPr>
                        <a:t>(2,100)</a:t>
                      </a: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00" kern="1200" baseline="0" dirty="0">
                          <a:solidFill>
                            <a:schemeClr val="tx1"/>
                          </a:solidFill>
                          <a:latin typeface="+mn-lt"/>
                          <a:ea typeface="+mn-ea"/>
                          <a:cs typeface="+mn-cs"/>
                        </a:rPr>
                        <a:t>(2,100)</a:t>
                      </a: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49130">
                <a:tc>
                  <a:txBody>
                    <a:bodyPr/>
                    <a:lstStyle/>
                    <a:p>
                      <a:pPr algn="ctr"/>
                      <a:r>
                        <a:rPr lang="en-US" sz="1000" dirty="0">
                          <a:solidFill>
                            <a:schemeClr val="tx1"/>
                          </a:solidFill>
                          <a:latin typeface="+mn-lt"/>
                        </a:rPr>
                        <a:t>Bal</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a:r>
                        <a:rPr lang="en-US" sz="1000" dirty="0">
                          <a:solidFill>
                            <a:schemeClr val="tx1"/>
                          </a:solidFill>
                          <a:latin typeface="+mn-lt"/>
                        </a:rPr>
                        <a:t>33,300</a:t>
                      </a:r>
                    </a:p>
                  </a:txBody>
                  <a:tcPr marL="100584"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solidFill>
                            <a:schemeClr val="tx1"/>
                          </a:solidFill>
                          <a:latin typeface="+mn-lt"/>
                        </a:rPr>
                        <a:t>2,000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solidFill>
                            <a:schemeClr val="tx1"/>
                          </a:solidFill>
                          <a:latin typeface="+mn-lt"/>
                        </a:rPr>
                        <a:t>3,700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solidFill>
                            <a:schemeClr val="tx1"/>
                          </a:solidFill>
                          <a:latin typeface="+mn-lt"/>
                        </a:rPr>
                        <a:t>18,000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kern="1200" baseline="0" dirty="0">
                          <a:solidFill>
                            <a:schemeClr val="tx1"/>
                          </a:solidFill>
                          <a:latin typeface="+mn-lt"/>
                          <a:ea typeface="+mn-ea"/>
                          <a:cs typeface="+mn-cs"/>
                        </a:rPr>
                        <a:t>1,800</a:t>
                      </a:r>
                      <a:endParaRPr lang="en-US" sz="1000" dirty="0">
                        <a:solidFill>
                          <a:schemeClr val="tx1"/>
                        </a:solidFill>
                        <a:latin typeface="+mn-lt"/>
                      </a:endParaRPr>
                    </a:p>
                  </a:txBody>
                  <a:tcPr marL="118034" marR="1180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kern="1200" baseline="0" dirty="0">
                          <a:solidFill>
                            <a:schemeClr val="tx1"/>
                          </a:solidFill>
                          <a:latin typeface="+mn-lt"/>
                          <a:ea typeface="+mn-ea"/>
                          <a:cs typeface="+mn-cs"/>
                        </a:rPr>
                        <a:t>50,000</a:t>
                      </a:r>
                      <a:endParaRPr lang="en-US" sz="1000" dirty="0">
                        <a:solidFill>
                          <a:schemeClr val="tx1"/>
                        </a:solidFill>
                        <a:latin typeface="+mn-lt"/>
                      </a:endParaRPr>
                    </a:p>
                  </a:txBody>
                  <a:tcPr marL="118034" marR="1180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kern="1200" baseline="0" dirty="0">
                          <a:solidFill>
                            <a:schemeClr val="tx1"/>
                          </a:solidFill>
                          <a:latin typeface="+mn-lt"/>
                          <a:ea typeface="+mn-ea"/>
                          <a:cs typeface="+mn-cs"/>
                        </a:rPr>
                        <a:t>5,200</a:t>
                      </a:r>
                      <a:endParaRPr lang="en-US" sz="1000" dirty="0">
                        <a:solidFill>
                          <a:schemeClr val="tx1"/>
                        </a:solidFill>
                        <a:latin typeface="+mn-lt"/>
                      </a:endParaRPr>
                    </a:p>
                  </a:txBody>
                  <a:tcPr marL="118034" marR="1180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49130">
                <a:tc>
                  <a:txBody>
                    <a:bodyPr/>
                    <a:lstStyle/>
                    <a:p>
                      <a:pPr algn="ctr"/>
                      <a:r>
                        <a:rPr lang="en-US" sz="1000" dirty="0">
                          <a:solidFill>
                            <a:schemeClr val="tx1"/>
                          </a:solidFill>
                          <a:latin typeface="+mn-lt"/>
                        </a:rPr>
                        <a:t>Totals</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solidFill>
                            <a:schemeClr val="tx1"/>
                          </a:solidFill>
                          <a:latin typeface="+mn-lt"/>
                        </a:rPr>
                        <a:t>57,000</a:t>
                      </a: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96819" marR="968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p>
                  </a:txBody>
                  <a:tcPr marL="118034" marR="1180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kern="1200" baseline="0" dirty="0">
                          <a:solidFill>
                            <a:schemeClr val="tx1"/>
                          </a:solidFill>
                          <a:latin typeface="+mn-lt"/>
                          <a:ea typeface="+mn-ea"/>
                          <a:cs typeface="+mn-cs"/>
                        </a:rPr>
                        <a:t>57,000</a:t>
                      </a:r>
                      <a:endParaRPr lang="en-US" sz="1000" b="1" dirty="0"/>
                    </a:p>
                  </a:txBody>
                  <a:tcPr marL="118034" marR="1180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solidFill>
                          <a:schemeClr val="tx1"/>
                        </a:solidFill>
                        <a:latin typeface="+mn-lt"/>
                      </a:endParaRPr>
                    </a:p>
                  </a:txBody>
                  <a:tcPr marL="118034" marR="1180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4" name="Content Placeholder 3">
            <a:extLst>
              <a:ext uri="{FF2B5EF4-FFF2-40B4-BE49-F238E27FC236}">
                <a16:creationId xmlns:a16="http://schemas.microsoft.com/office/drawing/2014/main" id="{67BEA1A7-D43B-5D2D-FE96-A26A93A0B49F}"/>
              </a:ext>
            </a:extLst>
          </p:cNvPr>
          <p:cNvSpPr>
            <a:spLocks noGrp="1"/>
          </p:cNvSpPr>
          <p:nvPr>
            <p:ph idx="1"/>
          </p:nvPr>
        </p:nvSpPr>
        <p:spPr>
          <a:xfrm>
            <a:off x="194914" y="5762680"/>
            <a:ext cx="8677297" cy="1095320"/>
          </a:xfrm>
        </p:spPr>
        <p:txBody>
          <a:bodyPr/>
          <a:lstStyle/>
          <a:p>
            <a:endParaRPr lang="en-US" dirty="0"/>
          </a:p>
        </p:txBody>
      </p:sp>
    </p:spTree>
    <p:extLst>
      <p:ext uri="{BB962C8B-B14F-4D97-AF65-F5344CB8AC3E}">
        <p14:creationId xmlns:p14="http://schemas.microsoft.com/office/powerpoint/2010/main" val="2721661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2381C-6EE1-48D4-B48E-CAD701203939}"/>
              </a:ext>
            </a:extLst>
          </p:cNvPr>
          <p:cNvSpPr>
            <a:spLocks noGrp="1"/>
          </p:cNvSpPr>
          <p:nvPr>
            <p:ph type="title"/>
          </p:nvPr>
        </p:nvSpPr>
        <p:spPr/>
        <p:txBody>
          <a:bodyPr/>
          <a:lstStyle/>
          <a:p>
            <a:r>
              <a:rPr lang="en-US" dirty="0">
                <a:ea typeface="ＭＳ Ｐゴシック" pitchFamily="34" charset="-128"/>
              </a:rPr>
              <a:t>Transactions and Financial Statements</a:t>
            </a:r>
            <a:endParaRPr lang="en-AU" dirty="0"/>
          </a:p>
        </p:txBody>
      </p:sp>
      <p:graphicFrame>
        <p:nvGraphicFramePr>
          <p:cNvPr id="8" name="Table 8">
            <a:extLst>
              <a:ext uri="{FF2B5EF4-FFF2-40B4-BE49-F238E27FC236}">
                <a16:creationId xmlns:a16="http://schemas.microsoft.com/office/drawing/2014/main" id="{C948EDE8-B845-4EAC-915A-76EA4B6F4BD7}"/>
              </a:ext>
            </a:extLst>
          </p:cNvPr>
          <p:cNvGraphicFramePr>
            <a:graphicFrameLocks noGrp="1"/>
          </p:cNvGraphicFramePr>
          <p:nvPr>
            <p:ph idx="1"/>
            <p:extLst>
              <p:ext uri="{D42A27DB-BD31-4B8C-83A1-F6EECF244321}">
                <p14:modId xmlns:p14="http://schemas.microsoft.com/office/powerpoint/2010/main" val="2248930744"/>
              </p:ext>
            </p:extLst>
          </p:nvPr>
        </p:nvGraphicFramePr>
        <p:xfrm>
          <a:off x="457200" y="1600200"/>
          <a:ext cx="8229600" cy="1097280"/>
        </p:xfrm>
        <a:graphic>
          <a:graphicData uri="http://schemas.openxmlformats.org/drawingml/2006/table">
            <a:tbl>
              <a:tblPr firstRow="1" bandRow="1">
                <a:tableStyleId>{3B4B98B0-60AC-42C2-AFA5-B58CD77FA1E5}</a:tableStyleId>
              </a:tblPr>
              <a:tblGrid>
                <a:gridCol w="8229600">
                  <a:extLst>
                    <a:ext uri="{9D8B030D-6E8A-4147-A177-3AD203B41FA5}">
                      <a16:colId xmlns:a16="http://schemas.microsoft.com/office/drawing/2014/main" val="161156042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rgbClr val="C00000"/>
                          </a:solidFill>
                          <a:cs typeface="Arial" charset="0"/>
                        </a:rPr>
                        <a:t>Income Statement </a:t>
                      </a:r>
                      <a:r>
                        <a:rPr lang="en-US" sz="2200" b="0" dirty="0">
                          <a:cs typeface="Arial" charset="0"/>
                        </a:rPr>
                        <a:t>data appear as revenues and expenses under Retained Earnings. The revenues increase retained earnings; the expenses decrease retained earnings.</a:t>
                      </a:r>
                      <a:endParaRPr lang="en-AU" sz="2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1670165"/>
                  </a:ext>
                </a:extLst>
              </a:tr>
            </a:tbl>
          </a:graphicData>
        </a:graphic>
      </p:graphicFrame>
      <p:graphicFrame>
        <p:nvGraphicFramePr>
          <p:cNvPr id="13" name="Table 13">
            <a:extLst>
              <a:ext uri="{FF2B5EF4-FFF2-40B4-BE49-F238E27FC236}">
                <a16:creationId xmlns:a16="http://schemas.microsoft.com/office/drawing/2014/main" id="{C7EB7291-1BD9-4873-926B-8E32DC10A00A}"/>
              </a:ext>
            </a:extLst>
          </p:cNvPr>
          <p:cNvGraphicFramePr>
            <a:graphicFrameLocks noGrp="1"/>
          </p:cNvGraphicFramePr>
          <p:nvPr>
            <p:ph sz="quarter" idx="13"/>
            <p:extLst>
              <p:ext uri="{D42A27DB-BD31-4B8C-83A1-F6EECF244321}">
                <p14:modId xmlns:p14="http://schemas.microsoft.com/office/powerpoint/2010/main" val="191176608"/>
              </p:ext>
            </p:extLst>
          </p:nvPr>
        </p:nvGraphicFramePr>
        <p:xfrm>
          <a:off x="457200" y="3101340"/>
          <a:ext cx="8229600" cy="762000"/>
        </p:xfrm>
        <a:graphic>
          <a:graphicData uri="http://schemas.openxmlformats.org/drawingml/2006/table">
            <a:tbl>
              <a:tblPr firstRow="1" bandRow="1">
                <a:tableStyleId>{3B4B98B0-60AC-42C2-AFA5-B58CD77FA1E5}</a:tableStyleId>
              </a:tblPr>
              <a:tblGrid>
                <a:gridCol w="8229600">
                  <a:extLst>
                    <a:ext uri="{9D8B030D-6E8A-4147-A177-3AD203B41FA5}">
                      <a16:colId xmlns:a16="http://schemas.microsoft.com/office/drawing/2014/main" val="4235342"/>
                    </a:ext>
                  </a:extLst>
                </a:gridCol>
              </a:tblGrid>
              <a:tr h="436880">
                <a:tc>
                  <a:txBody>
                    <a:bodyPr/>
                    <a:lstStyle/>
                    <a:p>
                      <a:pPr algn="ctr"/>
                      <a:r>
                        <a:rPr lang="en-US" sz="2200" b="1" dirty="0">
                          <a:solidFill>
                            <a:srgbClr val="C00000"/>
                          </a:solidFill>
                          <a:latin typeface="+mn-ea"/>
                        </a:rPr>
                        <a:t>Balance Sheet</a:t>
                      </a:r>
                      <a:r>
                        <a:rPr lang="en-US" sz="2200" b="0" dirty="0">
                          <a:latin typeface="+mn-ea"/>
                        </a:rPr>
                        <a:t> data are composed of the ending balances of the assets, liabilities, and shareholders</a:t>
                      </a:r>
                      <a:r>
                        <a:rPr lang="ja-JP" altLang="en-US" sz="2200" b="0" dirty="0">
                          <a:latin typeface="+mn-ea"/>
                        </a:rPr>
                        <a:t>’</a:t>
                      </a:r>
                      <a:r>
                        <a:rPr lang="en-US" altLang="ja-JP" sz="2200" b="0" dirty="0">
                          <a:latin typeface="+mn-ea"/>
                        </a:rPr>
                        <a:t> equity</a:t>
                      </a:r>
                      <a:endParaRPr lang="en-AU" sz="2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4397221"/>
                  </a:ext>
                </a:extLst>
              </a:tr>
            </a:tbl>
          </a:graphicData>
        </a:graphic>
      </p:graphicFrame>
      <p:graphicFrame>
        <p:nvGraphicFramePr>
          <p:cNvPr id="15" name="Table 15">
            <a:extLst>
              <a:ext uri="{FF2B5EF4-FFF2-40B4-BE49-F238E27FC236}">
                <a16:creationId xmlns:a16="http://schemas.microsoft.com/office/drawing/2014/main" id="{B6D6DB1F-2143-46C2-9C4C-98901605BA2F}"/>
              </a:ext>
            </a:extLst>
          </p:cNvPr>
          <p:cNvGraphicFramePr>
            <a:graphicFrameLocks noGrp="1"/>
          </p:cNvGraphicFramePr>
          <p:nvPr>
            <p:ph sz="quarter" idx="14"/>
            <p:extLst>
              <p:ext uri="{D42A27DB-BD31-4B8C-83A1-F6EECF244321}">
                <p14:modId xmlns:p14="http://schemas.microsoft.com/office/powerpoint/2010/main" val="1336519278"/>
              </p:ext>
            </p:extLst>
          </p:nvPr>
        </p:nvGraphicFramePr>
        <p:xfrm>
          <a:off x="457200" y="4267200"/>
          <a:ext cx="8229600" cy="1143000"/>
        </p:xfrm>
        <a:graphic>
          <a:graphicData uri="http://schemas.openxmlformats.org/drawingml/2006/table">
            <a:tbl>
              <a:tblPr firstRow="1" bandRow="1">
                <a:tableStyleId>{3B4B98B0-60AC-42C2-AFA5-B58CD77FA1E5}</a:tableStyleId>
              </a:tblPr>
              <a:tblGrid>
                <a:gridCol w="8229600">
                  <a:extLst>
                    <a:ext uri="{9D8B030D-6E8A-4147-A177-3AD203B41FA5}">
                      <a16:colId xmlns:a16="http://schemas.microsoft.com/office/drawing/2014/main" val="955261334"/>
                    </a:ext>
                  </a:extLst>
                </a:gridCol>
              </a:tblGrid>
              <a:tr h="1143000">
                <a:tc>
                  <a:txBody>
                    <a:bodyPr/>
                    <a:lstStyle/>
                    <a:p>
                      <a:pPr algn="ctr"/>
                      <a:r>
                        <a:rPr lang="en-US" sz="2200" b="1" dirty="0">
                          <a:solidFill>
                            <a:srgbClr val="C00000"/>
                          </a:solidFill>
                          <a:latin typeface="+mn-ea"/>
                          <a:cs typeface="Arial" charset="0"/>
                        </a:rPr>
                        <a:t>Statement of Retained Earnings </a:t>
                      </a:r>
                      <a:r>
                        <a:rPr lang="en-US" sz="2200" b="0" dirty="0">
                          <a:latin typeface="+mn-ea"/>
                          <a:cs typeface="Arial" charset="0"/>
                        </a:rPr>
                        <a:t>repeats net income (or net loss) from the income statement. Dividends are subtracted. Ending retained earnings is the final result.</a:t>
                      </a:r>
                      <a:endParaRPr lang="en-AU" sz="2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0792532"/>
                  </a:ext>
                </a:extLst>
              </a:tr>
            </a:tbl>
          </a:graphicData>
        </a:graphic>
      </p:graphicFrame>
    </p:spTree>
    <p:extLst>
      <p:ext uri="{BB962C8B-B14F-4D97-AF65-F5344CB8AC3E}">
        <p14:creationId xmlns:p14="http://schemas.microsoft.com/office/powerpoint/2010/main" val="1206973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Income Statement</a:t>
            </a:r>
            <a:endParaRPr lang="en-US" dirty="0"/>
          </a:p>
        </p:txBody>
      </p:sp>
      <p:sp>
        <p:nvSpPr>
          <p:cNvPr id="3" name="Content Placeholder 2"/>
          <p:cNvSpPr>
            <a:spLocks noGrp="1"/>
          </p:cNvSpPr>
          <p:nvPr>
            <p:ph idx="1"/>
          </p:nvPr>
        </p:nvSpPr>
        <p:spPr>
          <a:xfrm>
            <a:off x="841248" y="1600200"/>
            <a:ext cx="7455827" cy="1262380"/>
          </a:xfrm>
          <a:ln w="12700">
            <a:solidFill>
              <a:schemeClr val="tx1"/>
            </a:solidFill>
          </a:ln>
        </p:spPr>
        <p:txBody>
          <a:bodyPr>
            <a:normAutofit fontScale="92500" lnSpcReduction="10000"/>
          </a:bodyPr>
          <a:lstStyle/>
          <a:p>
            <a:pPr marL="0" indent="0" algn="ctr">
              <a:spcBef>
                <a:spcPts val="0"/>
              </a:spcBef>
              <a:buNone/>
            </a:pPr>
            <a:r>
              <a:rPr lang="en-US" b="1" dirty="0"/>
              <a:t>Tara Inc. </a:t>
            </a:r>
          </a:p>
          <a:p>
            <a:pPr marL="0" indent="0" algn="ctr">
              <a:spcBef>
                <a:spcPts val="0"/>
              </a:spcBef>
              <a:buNone/>
            </a:pPr>
            <a:r>
              <a:rPr lang="en-US" dirty="0"/>
              <a:t>Income Statement</a:t>
            </a:r>
          </a:p>
          <a:p>
            <a:pPr marL="0" indent="0" algn="ctr">
              <a:spcBef>
                <a:spcPts val="0"/>
              </a:spcBef>
              <a:buNone/>
            </a:pPr>
            <a:r>
              <a:rPr lang="en-US" dirty="0"/>
              <a:t>For the Month Ended April 30, 20XX</a:t>
            </a:r>
          </a:p>
        </p:txBody>
      </p:sp>
      <p:graphicFrame>
        <p:nvGraphicFramePr>
          <p:cNvPr id="5" name="Table 4"/>
          <p:cNvGraphicFramePr>
            <a:graphicFrameLocks noGrp="1"/>
          </p:cNvGraphicFramePr>
          <p:nvPr/>
        </p:nvGraphicFramePr>
        <p:xfrm>
          <a:off x="848784" y="2862580"/>
          <a:ext cx="7457292" cy="2961640"/>
        </p:xfrm>
        <a:graphic>
          <a:graphicData uri="http://schemas.openxmlformats.org/drawingml/2006/table">
            <a:tbl>
              <a:tblPr firstRow="1" bandRow="1">
                <a:tableStyleId>{2D5ABB26-0587-4C30-8999-92F81FD0307C}</a:tableStyleId>
              </a:tblPr>
              <a:tblGrid>
                <a:gridCol w="4624259">
                  <a:extLst>
                    <a:ext uri="{9D8B030D-6E8A-4147-A177-3AD203B41FA5}">
                      <a16:colId xmlns:a16="http://schemas.microsoft.com/office/drawing/2014/main" val="20000"/>
                    </a:ext>
                  </a:extLst>
                </a:gridCol>
                <a:gridCol w="1271861">
                  <a:extLst>
                    <a:ext uri="{9D8B030D-6E8A-4147-A177-3AD203B41FA5}">
                      <a16:colId xmlns:a16="http://schemas.microsoft.com/office/drawing/2014/main" val="20001"/>
                    </a:ext>
                  </a:extLst>
                </a:gridCol>
                <a:gridCol w="1561172">
                  <a:extLst>
                    <a:ext uri="{9D8B030D-6E8A-4147-A177-3AD203B41FA5}">
                      <a16:colId xmlns:a16="http://schemas.microsoft.com/office/drawing/2014/main" val="20002"/>
                    </a:ext>
                  </a:extLst>
                </a:gridCol>
              </a:tblGrid>
              <a:tr h="370840">
                <a:tc>
                  <a:txBody>
                    <a:bodyPr/>
                    <a:lstStyle/>
                    <a:p>
                      <a:pPr algn="l"/>
                      <a:r>
                        <a:rPr lang="en-US" sz="1800" b="1" kern="1200" baseline="0" dirty="0">
                          <a:solidFill>
                            <a:schemeClr val="tx1"/>
                          </a:solidFill>
                          <a:latin typeface="+mn-lt"/>
                          <a:ea typeface="+mn-ea"/>
                          <a:cs typeface="+mn-cs"/>
                        </a:rPr>
                        <a:t>Revenues</a:t>
                      </a:r>
                      <a:endParaRPr lang="en-US" sz="18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5760">
                <a:tc>
                  <a:txBody>
                    <a:bodyPr/>
                    <a:lstStyle/>
                    <a:p>
                      <a:pPr marL="457200" algn="l"/>
                      <a:r>
                        <a:rPr lang="en-US" sz="1800" kern="1200" baseline="0" dirty="0">
                          <a:solidFill>
                            <a:schemeClr val="tx1"/>
                          </a:solidFill>
                          <a:latin typeface="+mn-lt"/>
                          <a:ea typeface="+mn-ea"/>
                          <a:cs typeface="+mn-cs"/>
                        </a:rPr>
                        <a:t>Service revenue ($7,000 + $3,000)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kern="1200" baseline="0" dirty="0">
                          <a:solidFill>
                            <a:schemeClr val="tx1"/>
                          </a:solidFill>
                          <a:latin typeface="+mn-lt"/>
                          <a:ea typeface="+mn-ea"/>
                          <a:cs typeface="+mn-cs"/>
                        </a:rPr>
                        <a:t>$ 10,000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algn="l"/>
                      <a:r>
                        <a:rPr lang="en-US" sz="1800" b="1" kern="1200" baseline="0" dirty="0">
                          <a:solidFill>
                            <a:schemeClr val="tx1"/>
                          </a:solidFill>
                          <a:latin typeface="+mn-lt"/>
                          <a:ea typeface="+mn-ea"/>
                          <a:cs typeface="+mn-cs"/>
                        </a:rPr>
                        <a:t>Expenses</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marL="182880" algn="l"/>
                      <a:r>
                        <a:rPr lang="en-US" sz="1800" kern="1200" baseline="0" dirty="0">
                          <a:solidFill>
                            <a:schemeClr val="tx1"/>
                          </a:solidFill>
                          <a:latin typeface="+mn-lt"/>
                          <a:ea typeface="+mn-ea"/>
                          <a:cs typeface="+mn-cs"/>
                        </a:rPr>
                        <a:t>Salary expense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kern="1200" baseline="0" dirty="0">
                          <a:solidFill>
                            <a:schemeClr val="tx1"/>
                          </a:solidFill>
                          <a:latin typeface="+mn-lt"/>
                          <a:ea typeface="+mn-ea"/>
                          <a:cs typeface="+mn-cs"/>
                        </a:rPr>
                        <a:t>$ 1,200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pPr marL="182880" algn="l"/>
                      <a:r>
                        <a:rPr lang="en-US" sz="1800" kern="1200" baseline="0" dirty="0">
                          <a:solidFill>
                            <a:schemeClr val="tx1"/>
                          </a:solidFill>
                          <a:latin typeface="+mn-lt"/>
                          <a:ea typeface="+mn-ea"/>
                          <a:cs typeface="+mn-cs"/>
                        </a:rPr>
                        <a:t>Rent expense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baseline="0" dirty="0">
                          <a:solidFill>
                            <a:schemeClr val="tx1"/>
                          </a:solidFill>
                          <a:latin typeface="+mn-lt"/>
                          <a:ea typeface="+mn-ea"/>
                          <a:cs typeface="+mn-cs"/>
                        </a:rPr>
                        <a:t>1,100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40">
                <a:tc>
                  <a:txBody>
                    <a:bodyPr/>
                    <a:lstStyle/>
                    <a:p>
                      <a:pPr marL="182880" algn="l"/>
                      <a:r>
                        <a:rPr lang="en-US" sz="1800" kern="1200" baseline="0" dirty="0">
                          <a:solidFill>
                            <a:schemeClr val="tx1"/>
                          </a:solidFill>
                          <a:latin typeface="+mn-lt"/>
                          <a:ea typeface="+mn-ea"/>
                          <a:cs typeface="+mn-cs"/>
                        </a:rPr>
                        <a:t>Utilities expense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u="none" kern="1200" baseline="0" dirty="0">
                          <a:solidFill>
                            <a:schemeClr val="tx1"/>
                          </a:solidFill>
                          <a:latin typeface="+mn-lt"/>
                          <a:ea typeface="+mn-ea"/>
                          <a:cs typeface="+mn-cs"/>
                        </a:rPr>
                        <a:t>400</a:t>
                      </a:r>
                      <a:endParaRPr lang="en-US" sz="1800" u="none"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70840">
                <a:tc>
                  <a:txBody>
                    <a:bodyPr/>
                    <a:lstStyle/>
                    <a:p>
                      <a:pPr marL="182880" algn="l" defTabSz="914400" rtl="0" eaLnBrk="1" latinLnBrk="0" hangingPunct="1"/>
                      <a:r>
                        <a:rPr lang="en-US" sz="1800" kern="1200" baseline="0" dirty="0">
                          <a:solidFill>
                            <a:schemeClr val="tx1"/>
                          </a:solidFill>
                          <a:latin typeface="+mn-lt"/>
                          <a:ea typeface="+mn-ea"/>
                          <a:cs typeface="+mn-cs"/>
                        </a:rPr>
                        <a:t>Total expenses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u="none" kern="1200" baseline="0" dirty="0">
                          <a:solidFill>
                            <a:schemeClr val="tx1"/>
                          </a:solidFill>
                          <a:latin typeface="+mn-lt"/>
                          <a:ea typeface="+mn-ea"/>
                          <a:cs typeface="+mn-cs"/>
                        </a:rPr>
                        <a:t>    2,700</a:t>
                      </a:r>
                      <a:endParaRPr lang="en-US" sz="1800" u="none"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70840">
                <a:tc>
                  <a:txBody>
                    <a:bodyPr/>
                    <a:lstStyle/>
                    <a:p>
                      <a:pPr algn="l"/>
                      <a:r>
                        <a:rPr lang="en-US" sz="1800" kern="1200" baseline="0" dirty="0">
                          <a:solidFill>
                            <a:schemeClr val="tx1"/>
                          </a:solidFill>
                          <a:latin typeface="+mn-lt"/>
                          <a:ea typeface="+mn-ea"/>
                          <a:cs typeface="+mn-cs"/>
                        </a:rPr>
                        <a:t>Net income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u="none" kern="1200" baseline="0" dirty="0">
                          <a:solidFill>
                            <a:schemeClr val="tx1"/>
                          </a:solidFill>
                          <a:latin typeface="+mn-lt"/>
                          <a:ea typeface="+mn-ea"/>
                          <a:cs typeface="+mn-cs"/>
                        </a:rPr>
                        <a:t> </a:t>
                      </a:r>
                      <a:r>
                        <a:rPr lang="en-US" sz="1800" u="dbl" kern="1200" baseline="0" dirty="0">
                          <a:solidFill>
                            <a:schemeClr val="tx1"/>
                          </a:solidFill>
                          <a:latin typeface="+mn-lt"/>
                          <a:ea typeface="+mn-ea"/>
                          <a:cs typeface="+mn-cs"/>
                        </a:rPr>
                        <a:t>$ 7,300</a:t>
                      </a:r>
                      <a:endParaRPr lang="en-US" sz="1800" u="dbl" baseline="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145464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Statement of Retained Earnings</a:t>
            </a:r>
            <a:endParaRPr lang="en-US" dirty="0"/>
          </a:p>
        </p:txBody>
      </p:sp>
      <p:sp>
        <p:nvSpPr>
          <p:cNvPr id="3" name="Content Placeholder 2"/>
          <p:cNvSpPr>
            <a:spLocks noGrp="1"/>
          </p:cNvSpPr>
          <p:nvPr>
            <p:ph idx="1"/>
          </p:nvPr>
        </p:nvSpPr>
        <p:spPr>
          <a:xfrm>
            <a:off x="841248" y="1524000"/>
            <a:ext cx="7452360" cy="1219200"/>
          </a:xfrm>
          <a:ln w="12700">
            <a:solidFill>
              <a:schemeClr val="tx1"/>
            </a:solidFill>
          </a:ln>
        </p:spPr>
        <p:txBody>
          <a:bodyPr>
            <a:normAutofit fontScale="92500" lnSpcReduction="10000"/>
          </a:bodyPr>
          <a:lstStyle/>
          <a:p>
            <a:pPr marL="0" indent="0" algn="ctr">
              <a:spcBef>
                <a:spcPts val="0"/>
              </a:spcBef>
              <a:buNone/>
            </a:pPr>
            <a:r>
              <a:rPr lang="en-US" b="1" dirty="0"/>
              <a:t>Tara Inc.</a:t>
            </a:r>
          </a:p>
          <a:p>
            <a:pPr marL="0" indent="0" algn="ctr">
              <a:spcBef>
                <a:spcPts val="0"/>
              </a:spcBef>
              <a:buNone/>
            </a:pPr>
            <a:r>
              <a:rPr lang="en-US" dirty="0"/>
              <a:t>Statement of Retained Earnings</a:t>
            </a:r>
          </a:p>
          <a:p>
            <a:pPr marL="0" indent="0" algn="ctr">
              <a:spcBef>
                <a:spcPts val="0"/>
              </a:spcBef>
              <a:buNone/>
            </a:pPr>
            <a:r>
              <a:rPr lang="en-US" dirty="0"/>
              <a:t>For the Month Ended April 30, 20XX</a:t>
            </a:r>
          </a:p>
        </p:txBody>
      </p:sp>
      <p:graphicFrame>
        <p:nvGraphicFramePr>
          <p:cNvPr id="5" name="Table 4"/>
          <p:cNvGraphicFramePr>
            <a:graphicFrameLocks noGrp="1"/>
          </p:cNvGraphicFramePr>
          <p:nvPr/>
        </p:nvGraphicFramePr>
        <p:xfrm>
          <a:off x="841248" y="2971800"/>
          <a:ext cx="7452360" cy="1849120"/>
        </p:xfrm>
        <a:graphic>
          <a:graphicData uri="http://schemas.openxmlformats.org/drawingml/2006/table">
            <a:tbl>
              <a:tblPr firstRow="1" bandRow="1">
                <a:tableStyleId>{2D5ABB26-0587-4C30-8999-92F81FD0307C}</a:tableStyleId>
              </a:tblPr>
              <a:tblGrid>
                <a:gridCol w="4634567">
                  <a:extLst>
                    <a:ext uri="{9D8B030D-6E8A-4147-A177-3AD203B41FA5}">
                      <a16:colId xmlns:a16="http://schemas.microsoft.com/office/drawing/2014/main" val="20000"/>
                    </a:ext>
                  </a:extLst>
                </a:gridCol>
                <a:gridCol w="1271861">
                  <a:extLst>
                    <a:ext uri="{9D8B030D-6E8A-4147-A177-3AD203B41FA5}">
                      <a16:colId xmlns:a16="http://schemas.microsoft.com/office/drawing/2014/main" val="20001"/>
                    </a:ext>
                  </a:extLst>
                </a:gridCol>
                <a:gridCol w="1545932">
                  <a:extLst>
                    <a:ext uri="{9D8B030D-6E8A-4147-A177-3AD203B41FA5}">
                      <a16:colId xmlns:a16="http://schemas.microsoft.com/office/drawing/2014/main" val="20002"/>
                    </a:ext>
                  </a:extLst>
                </a:gridCol>
              </a:tblGrid>
              <a:tr h="370840">
                <a:tc>
                  <a:txBody>
                    <a:bodyPr/>
                    <a:lstStyle/>
                    <a:p>
                      <a:pPr algn="l"/>
                      <a:r>
                        <a:rPr lang="en-US" sz="1800" dirty="0"/>
                        <a:t>Retained earnings, April 1, 20XX</a:t>
                      </a:r>
                      <a:endParaRPr lang="en-US" sz="18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t>$      0</a:t>
                      </a:r>
                      <a:endParaRPr lang="en-US" sz="1800" b="1" dirty="0">
                        <a:solidFill>
                          <a:schemeClr val="tx1"/>
                        </a:solidFill>
                        <a:latin typeface="+mn-lt"/>
                      </a:endParaRPr>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5760">
                <a:tc>
                  <a:txBody>
                    <a:bodyPr/>
                    <a:lstStyle/>
                    <a:p>
                      <a:pPr marL="0" algn="l"/>
                      <a:r>
                        <a:rPr lang="en-US" sz="1800" dirty="0"/>
                        <a:t>Add: Net income for the month</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u="none" dirty="0"/>
                        <a:t>7,300</a:t>
                      </a:r>
                      <a:endParaRPr lang="en-US" sz="1800" u="none" dirty="0">
                        <a:solidFill>
                          <a:schemeClr val="tx1"/>
                        </a:solidFill>
                        <a:latin typeface="+mn-lt"/>
                      </a:endParaRPr>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r>
                        <a:rPr lang="en-US" sz="1800" b="0" i="0" u="none" strike="noStrike" kern="1200" baseline="0" dirty="0">
                          <a:solidFill>
                            <a:schemeClr val="tx1"/>
                          </a:solidFill>
                          <a:latin typeface="+mn-lt"/>
                          <a:ea typeface="+mn-ea"/>
                          <a:cs typeface="+mn-cs"/>
                        </a:rPr>
                        <a:t>Subtotal</a:t>
                      </a:r>
                      <a:endParaRPr lang="en-US" sz="16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u="none" dirty="0"/>
                        <a:t>7,300</a:t>
                      </a:r>
                      <a:endParaRPr lang="en-US" sz="1800" u="none" dirty="0">
                        <a:solidFill>
                          <a:schemeClr val="tx1"/>
                        </a:solidFill>
                        <a:latin typeface="+mn-lt"/>
                      </a:endParaRPr>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algn="l"/>
                      <a:r>
                        <a:rPr lang="en-US" sz="1800" dirty="0"/>
                        <a:t>Less: </a:t>
                      </a:r>
                      <a:r>
                        <a:rPr lang="en-US" sz="1800" b="0" i="0" u="none" strike="noStrike" kern="1200" baseline="0" dirty="0">
                          <a:solidFill>
                            <a:schemeClr val="tx1"/>
                          </a:solidFill>
                          <a:latin typeface="+mn-lt"/>
                          <a:ea typeface="+mn-ea"/>
                          <a:cs typeface="+mn-cs"/>
                        </a:rPr>
                        <a:t>Dividends declared</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t>	</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u="none" dirty="0"/>
                        <a:t>(2,100)</a:t>
                      </a:r>
                      <a:endParaRPr lang="en-US" sz="1800" u="none" dirty="0">
                        <a:solidFill>
                          <a:schemeClr val="tx1"/>
                        </a:solidFill>
                        <a:latin typeface="+mn-lt"/>
                      </a:endParaRPr>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pPr marL="0" algn="l"/>
                      <a:r>
                        <a:rPr lang="en-US" sz="1800" dirty="0"/>
                        <a:t>Retained earnings, April 30, 20XX</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u="sng" dirty="0"/>
                        <a:t> </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u="dbl" baseline="0" dirty="0"/>
                        <a:t>$5,200</a:t>
                      </a:r>
                      <a:endParaRPr lang="en-US" sz="1800" u="dbl" baseline="0" dirty="0">
                        <a:solidFill>
                          <a:schemeClr val="tx1"/>
                        </a:solidFill>
                        <a:latin typeface="+mn-lt"/>
                      </a:endParaRPr>
                    </a:p>
                  </a:txBody>
                  <a:tcPr marR="18288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00563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Balance Sheet</a:t>
            </a:r>
            <a:endParaRPr lang="en-US" dirty="0"/>
          </a:p>
        </p:txBody>
      </p:sp>
      <p:sp>
        <p:nvSpPr>
          <p:cNvPr id="3" name="Content Placeholder 2"/>
          <p:cNvSpPr>
            <a:spLocks noGrp="1"/>
          </p:cNvSpPr>
          <p:nvPr>
            <p:ph idx="1"/>
          </p:nvPr>
        </p:nvSpPr>
        <p:spPr>
          <a:xfrm>
            <a:off x="199497" y="1600200"/>
            <a:ext cx="8762582" cy="1219200"/>
          </a:xfrm>
          <a:noFill/>
          <a:ln w="12700">
            <a:solidFill>
              <a:schemeClr val="tx1"/>
            </a:solidFill>
          </a:ln>
        </p:spPr>
        <p:txBody>
          <a:bodyPr>
            <a:normAutofit fontScale="92500" lnSpcReduction="10000"/>
          </a:bodyPr>
          <a:lstStyle/>
          <a:p>
            <a:pPr marL="0" indent="0" algn="ctr">
              <a:spcBef>
                <a:spcPts val="0"/>
              </a:spcBef>
              <a:buNone/>
            </a:pPr>
            <a:r>
              <a:rPr lang="en-US" b="1" dirty="0"/>
              <a:t>Tara Inc.</a:t>
            </a:r>
          </a:p>
          <a:p>
            <a:pPr marL="0" indent="0" algn="ctr">
              <a:spcBef>
                <a:spcPts val="0"/>
              </a:spcBef>
              <a:buNone/>
            </a:pPr>
            <a:r>
              <a:rPr lang="en-US" dirty="0"/>
              <a:t>Balance Sheet</a:t>
            </a:r>
          </a:p>
          <a:p>
            <a:pPr marL="0" indent="0" algn="ctr">
              <a:spcBef>
                <a:spcPts val="0"/>
              </a:spcBef>
              <a:buNone/>
            </a:pPr>
            <a:r>
              <a:rPr lang="en-US" dirty="0"/>
              <a:t>As at April 30, 20XX</a:t>
            </a:r>
          </a:p>
        </p:txBody>
      </p:sp>
      <p:graphicFrame>
        <p:nvGraphicFramePr>
          <p:cNvPr id="4" name="Table 3"/>
          <p:cNvGraphicFramePr>
            <a:graphicFrameLocks/>
          </p:cNvGraphicFramePr>
          <p:nvPr/>
        </p:nvGraphicFramePr>
        <p:xfrm>
          <a:off x="199700" y="2819400"/>
          <a:ext cx="8762175" cy="2865120"/>
        </p:xfrm>
        <a:graphic>
          <a:graphicData uri="http://schemas.openxmlformats.org/drawingml/2006/table">
            <a:tbl>
              <a:tblPr firstRow="1" bandRow="1">
                <a:tableStyleId>{2D5ABB26-0587-4C30-8999-92F81FD0307C}</a:tableStyleId>
              </a:tblPr>
              <a:tblGrid>
                <a:gridCol w="2291080">
                  <a:extLst>
                    <a:ext uri="{9D8B030D-6E8A-4147-A177-3AD203B41FA5}">
                      <a16:colId xmlns:a16="http://schemas.microsoft.com/office/drawing/2014/main" val="20000"/>
                    </a:ext>
                  </a:extLst>
                </a:gridCol>
                <a:gridCol w="1135380">
                  <a:extLst>
                    <a:ext uri="{9D8B030D-6E8A-4147-A177-3AD203B41FA5}">
                      <a16:colId xmlns:a16="http://schemas.microsoft.com/office/drawing/2014/main" val="20001"/>
                    </a:ext>
                  </a:extLst>
                </a:gridCol>
                <a:gridCol w="4200335">
                  <a:extLst>
                    <a:ext uri="{9D8B030D-6E8A-4147-A177-3AD203B41FA5}">
                      <a16:colId xmlns:a16="http://schemas.microsoft.com/office/drawing/2014/main" val="20002"/>
                    </a:ext>
                  </a:extLst>
                </a:gridCol>
                <a:gridCol w="1135380">
                  <a:extLst>
                    <a:ext uri="{9D8B030D-6E8A-4147-A177-3AD203B41FA5}">
                      <a16:colId xmlns:a16="http://schemas.microsoft.com/office/drawing/2014/main" val="20003"/>
                    </a:ext>
                  </a:extLst>
                </a:gridCol>
              </a:tblGrid>
              <a:tr h="370840">
                <a:tc gridSpan="2">
                  <a:txBody>
                    <a:bodyPr/>
                    <a:lstStyle/>
                    <a:p>
                      <a:pPr algn="ctr"/>
                      <a:r>
                        <a:rPr lang="en-US" sz="1800" b="1" kern="1200" baseline="0" dirty="0">
                          <a:solidFill>
                            <a:schemeClr val="tx1"/>
                          </a:solidFill>
                          <a:latin typeface="+mn-lt"/>
                          <a:ea typeface="+mn-ea"/>
                          <a:cs typeface="+mn-cs"/>
                        </a:rPr>
                        <a:t>Assets</a:t>
                      </a:r>
                      <a:endParaRPr lang="en-US" sz="20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20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800" b="1" kern="1200" baseline="0" dirty="0">
                          <a:solidFill>
                            <a:schemeClr val="tx1"/>
                          </a:solidFill>
                          <a:latin typeface="+mn-lt"/>
                          <a:ea typeface="+mn-ea"/>
                          <a:cs typeface="+mn-cs"/>
                        </a:rPr>
                        <a:t>Liabilities</a:t>
                      </a:r>
                      <a:endParaRPr lang="en-US" sz="20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20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kern="1200" baseline="0" dirty="0">
                          <a:solidFill>
                            <a:schemeClr val="tx1"/>
                          </a:solidFill>
                          <a:latin typeface="+mn-lt"/>
                          <a:ea typeface="+mn-ea"/>
                          <a:cs typeface="+mn-cs"/>
                        </a:rPr>
                        <a:t>Cash</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kern="1200" baseline="0" dirty="0">
                          <a:solidFill>
                            <a:schemeClr val="tx1"/>
                          </a:solidFill>
                          <a:latin typeface="+mn-lt"/>
                          <a:ea typeface="+mn-ea"/>
                          <a:cs typeface="+mn-cs"/>
                        </a:rPr>
                        <a:t>$ 33,300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kern="1200" baseline="0" dirty="0">
                          <a:solidFill>
                            <a:schemeClr val="tx1"/>
                          </a:solidFill>
                          <a:latin typeface="+mn-lt"/>
                          <a:ea typeface="+mn-ea"/>
                          <a:cs typeface="+mn-cs"/>
                        </a:rPr>
                        <a:t>Accounts payable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kern="1200" baseline="0" dirty="0">
                          <a:solidFill>
                            <a:schemeClr val="tx1"/>
                          </a:solidFill>
                          <a:latin typeface="+mn-lt"/>
                          <a:ea typeface="+mn-ea"/>
                          <a:cs typeface="+mn-cs"/>
                        </a:rPr>
                        <a:t>$ 1,800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r>
                        <a:rPr lang="en-US" sz="1800" kern="1200" baseline="0" dirty="0">
                          <a:solidFill>
                            <a:schemeClr val="tx1"/>
                          </a:solidFill>
                          <a:latin typeface="+mn-lt"/>
                          <a:ea typeface="+mn-ea"/>
                          <a:cs typeface="+mn-cs"/>
                        </a:rPr>
                        <a:t>Accounts receivable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kern="1200" baseline="0" dirty="0">
                          <a:solidFill>
                            <a:schemeClr val="tx1"/>
                          </a:solidFill>
                          <a:latin typeface="+mn-lt"/>
                          <a:ea typeface="+mn-ea"/>
                          <a:cs typeface="+mn-cs"/>
                        </a:rPr>
                        <a:t>2,000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4320" algn="l">
                        <a:tabLst>
                          <a:tab pos="284163" algn="l"/>
                        </a:tabLst>
                      </a:pPr>
                      <a:r>
                        <a:rPr lang="en-US" sz="1800" b="1" kern="1200" baseline="0" dirty="0">
                          <a:solidFill>
                            <a:schemeClr val="tx1"/>
                          </a:solidFill>
                          <a:latin typeface="+mn-lt"/>
                          <a:ea typeface="+mn-ea"/>
                          <a:cs typeface="+mn-cs"/>
                        </a:rPr>
                        <a:t>Shareholders’ Equity</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en-US" sz="1800" kern="1200" baseline="0" dirty="0">
                          <a:solidFill>
                            <a:schemeClr val="tx1"/>
                          </a:solidFill>
                          <a:latin typeface="+mn-lt"/>
                          <a:ea typeface="+mn-ea"/>
                          <a:cs typeface="+mn-cs"/>
                        </a:rPr>
                        <a:t>Office supplies</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kern="1200" baseline="0" dirty="0">
                          <a:solidFill>
                            <a:schemeClr val="tx1"/>
                          </a:solidFill>
                          <a:latin typeface="+mn-lt"/>
                          <a:ea typeface="+mn-ea"/>
                          <a:cs typeface="+mn-cs"/>
                        </a:rPr>
                        <a:t>3,700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kern="1200" baseline="0" dirty="0">
                          <a:solidFill>
                            <a:schemeClr val="tx1"/>
                          </a:solidFill>
                          <a:latin typeface="+mn-lt"/>
                          <a:ea typeface="+mn-ea"/>
                          <a:cs typeface="+mn-cs"/>
                        </a:rPr>
                        <a:t>Common shares</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kern="1200" baseline="0" dirty="0">
                          <a:solidFill>
                            <a:schemeClr val="tx1"/>
                          </a:solidFill>
                          <a:latin typeface="+mn-lt"/>
                          <a:ea typeface="+mn-ea"/>
                          <a:cs typeface="+mn-cs"/>
                        </a:rPr>
                        <a:t>50,000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r>
                        <a:rPr lang="en-US" sz="1800" kern="1200" baseline="0" dirty="0">
                          <a:solidFill>
                            <a:schemeClr val="tx1"/>
                          </a:solidFill>
                          <a:latin typeface="+mn-lt"/>
                          <a:ea typeface="+mn-ea"/>
                          <a:cs typeface="+mn-cs"/>
                        </a:rPr>
                        <a:t>Land</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kern="1200" baseline="0" dirty="0">
                          <a:solidFill>
                            <a:schemeClr val="tx1"/>
                          </a:solidFill>
                          <a:latin typeface="+mn-lt"/>
                          <a:ea typeface="+mn-ea"/>
                          <a:cs typeface="+mn-cs"/>
                        </a:rPr>
                        <a:t>18,000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kern="1200" baseline="0" dirty="0">
                          <a:solidFill>
                            <a:schemeClr val="tx1"/>
                          </a:solidFill>
                          <a:latin typeface="+mn-lt"/>
                          <a:ea typeface="+mn-ea"/>
                          <a:cs typeface="+mn-cs"/>
                        </a:rPr>
                        <a:t>Retained earnings</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kern="1200" baseline="0" dirty="0">
                          <a:solidFill>
                            <a:schemeClr val="tx1"/>
                          </a:solidFill>
                          <a:latin typeface="+mn-lt"/>
                          <a:ea typeface="+mn-ea"/>
                          <a:cs typeface="+mn-cs"/>
                        </a:rPr>
                        <a:t>5,200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40">
                <a:tc>
                  <a:txBody>
                    <a:bodyPr/>
                    <a:lstStyle/>
                    <a:p>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4320" algn="l">
                        <a:tabLst>
                          <a:tab pos="284163" algn="l"/>
                        </a:tabLst>
                      </a:pPr>
                      <a:r>
                        <a:rPr lang="en-US" sz="1800" kern="1200" baseline="0" dirty="0">
                          <a:solidFill>
                            <a:schemeClr val="tx1"/>
                          </a:solidFill>
                          <a:latin typeface="+mn-lt"/>
                          <a:ea typeface="+mn-ea"/>
                          <a:cs typeface="+mn-cs"/>
                        </a:rPr>
                        <a:t>Total shareholders’ equity</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kern="1200" baseline="0" dirty="0">
                          <a:solidFill>
                            <a:schemeClr val="tx1"/>
                          </a:solidFill>
                          <a:latin typeface="+mn-lt"/>
                          <a:ea typeface="+mn-ea"/>
                          <a:cs typeface="+mn-cs"/>
                        </a:rPr>
                        <a:t>55,200</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70840">
                <a:tc>
                  <a:txBody>
                    <a:bodyPr/>
                    <a:lstStyle/>
                    <a:p>
                      <a:r>
                        <a:rPr lang="en-US" sz="1800" kern="1200" baseline="0" dirty="0">
                          <a:solidFill>
                            <a:schemeClr val="tx1"/>
                          </a:solidFill>
                          <a:latin typeface="+mn-lt"/>
                          <a:ea typeface="+mn-ea"/>
                          <a:cs typeface="+mn-cs"/>
                        </a:rPr>
                        <a:t>Total assets</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u="dbl" kern="1200" baseline="0" dirty="0">
                          <a:solidFill>
                            <a:schemeClr val="tx1"/>
                          </a:solidFill>
                          <a:latin typeface="+mn-lt"/>
                          <a:ea typeface="+mn-ea"/>
                          <a:cs typeface="+mn-cs"/>
                        </a:rPr>
                        <a:t>$ 57,000</a:t>
                      </a:r>
                      <a:endParaRPr lang="en-US" sz="1800" u="dbl" baseline="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95288" indent="-395288"/>
                      <a:r>
                        <a:rPr lang="en-US" sz="1800" kern="1200" baseline="0" dirty="0">
                          <a:solidFill>
                            <a:schemeClr val="tx1"/>
                          </a:solidFill>
                          <a:latin typeface="+mn-lt"/>
                          <a:ea typeface="+mn-ea"/>
                          <a:cs typeface="+mn-cs"/>
                        </a:rPr>
                        <a:t>Total liabilities and shareholders’ equity</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u="dbl" kern="1200" baseline="0" dirty="0">
                          <a:solidFill>
                            <a:schemeClr val="tx1"/>
                          </a:solidFill>
                          <a:latin typeface="+mn-lt"/>
                          <a:ea typeface="+mn-ea"/>
                          <a:cs typeface="+mn-cs"/>
                        </a:rPr>
                        <a:t>$ 57,000</a:t>
                      </a:r>
                      <a:endParaRPr lang="en-US" sz="1800" u="dbl" baseline="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5035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457200" y="1205058"/>
            <a:ext cx="3429000" cy="4447884"/>
          </a:xfrm>
          <a:prstGeom prst="rect">
            <a:avLst/>
          </a:prstGeom>
        </p:spPr>
        <p:txBody>
          <a:bodyPr wrap="square">
            <a:spAutoFit/>
          </a:bodyPr>
          <a:lstStyle/>
          <a:p>
            <a:pPr marL="285750" indent="-285750">
              <a:lnSpc>
                <a:spcPct val="200000"/>
              </a:lnSpc>
              <a:buClr>
                <a:schemeClr val="accent2"/>
              </a:buClr>
              <a:buFont typeface="Arial" panose="020B0604020202020204" pitchFamily="34" charset="0"/>
              <a:buChar char="•"/>
              <a:defRPr/>
            </a:pPr>
            <a:r>
              <a:rPr lang="en-US" sz="1600" dirty="0">
                <a:solidFill>
                  <a:schemeClr val="accent2"/>
                </a:solidFill>
                <a:latin typeface="Arial" panose="020B0604020202020204" pitchFamily="34" charset="0"/>
              </a:rPr>
              <a:t>Exhibit 2-2 illustrates the three financial statements that are prepared from the 11 transactions summarized in Exhibit 2-1.</a:t>
            </a:r>
          </a:p>
          <a:p>
            <a:pPr marL="285750" indent="-285750">
              <a:lnSpc>
                <a:spcPct val="200000"/>
              </a:lnSpc>
              <a:buClr>
                <a:schemeClr val="accent2"/>
              </a:buClr>
              <a:buFont typeface="Arial" panose="020B0604020202020204" pitchFamily="34" charset="0"/>
              <a:buChar char="•"/>
              <a:defRPr/>
            </a:pPr>
            <a:r>
              <a:rPr lang="en-US" sz="1600" dirty="0">
                <a:solidFill>
                  <a:schemeClr val="accent2"/>
                </a:solidFill>
                <a:latin typeface="Arial" panose="020B0604020202020204" pitchFamily="34" charset="0"/>
              </a:rPr>
              <a:t>Note the flow of data from Income Statement to Statement of Retained Earnings to Balance Sheet.</a:t>
            </a:r>
          </a:p>
        </p:txBody>
      </p:sp>
      <p:pic>
        <p:nvPicPr>
          <p:cNvPr id="4" name="Picture 3">
            <a:extLst>
              <a:ext uri="{FF2B5EF4-FFF2-40B4-BE49-F238E27FC236}">
                <a16:creationId xmlns:a16="http://schemas.microsoft.com/office/drawing/2014/main" id="{8832D545-2B79-4D82-9E7C-2D06FF4E8368}"/>
              </a:ext>
            </a:extLst>
          </p:cNvPr>
          <p:cNvPicPr>
            <a:picLocks noChangeAspect="1"/>
          </p:cNvPicPr>
          <p:nvPr/>
        </p:nvPicPr>
        <p:blipFill>
          <a:blip r:embed="rId3"/>
          <a:stretch>
            <a:fillRect/>
          </a:stretch>
        </p:blipFill>
        <p:spPr>
          <a:xfrm>
            <a:off x="3915344" y="474452"/>
            <a:ext cx="4965576" cy="6184765"/>
          </a:xfrm>
          <a:prstGeom prst="rect">
            <a:avLst/>
          </a:prstGeom>
        </p:spPr>
      </p:pic>
    </p:spTree>
    <p:extLst>
      <p:ext uri="{BB962C8B-B14F-4D97-AF65-F5344CB8AC3E}">
        <p14:creationId xmlns:p14="http://schemas.microsoft.com/office/powerpoint/2010/main" val="328094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398252"/>
          </a:xfrm>
        </p:spPr>
        <p:txBody>
          <a:bodyPr>
            <a:normAutofit fontScale="90000"/>
          </a:bodyPr>
          <a:lstStyle/>
          <a:p>
            <a:pPr algn="ctr"/>
            <a:r>
              <a:rPr lang="en-US" sz="3200" dirty="0">
                <a:solidFill>
                  <a:schemeClr val="accent2"/>
                </a:solidFill>
              </a:rPr>
              <a:t>What “on account” means?</a:t>
            </a:r>
          </a:p>
        </p:txBody>
      </p:sp>
      <p:sp>
        <p:nvSpPr>
          <p:cNvPr id="6" name="Content Placeholder 1"/>
          <p:cNvSpPr>
            <a:spLocks noGrp="1"/>
          </p:cNvSpPr>
          <p:nvPr>
            <p:ph idx="1"/>
          </p:nvPr>
        </p:nvSpPr>
        <p:spPr>
          <a:xfrm>
            <a:off x="103981" y="1524000"/>
            <a:ext cx="8936038" cy="4267200"/>
          </a:xfrm>
        </p:spPr>
        <p:txBody>
          <a:bodyPr>
            <a:normAutofit fontScale="92500"/>
          </a:bodyPr>
          <a:lstStyle/>
          <a:p>
            <a:pPr algn="just">
              <a:lnSpc>
                <a:spcPct val="200000"/>
              </a:lnSpc>
              <a:buClr>
                <a:schemeClr val="accent2"/>
              </a:buClr>
              <a:defRPr/>
            </a:pPr>
            <a:r>
              <a:rPr lang="en-US" sz="2300" dirty="0">
                <a:solidFill>
                  <a:schemeClr val="accent2"/>
                </a:solidFill>
                <a:latin typeface="Arial" panose="020B0604020202020204" pitchFamily="34" charset="0"/>
              </a:rPr>
              <a:t>There are four ways “on account” is used in transactions:</a:t>
            </a:r>
          </a:p>
          <a:p>
            <a:pPr marL="944118" lvl="1" indent="-457200" algn="just">
              <a:lnSpc>
                <a:spcPct val="200000"/>
              </a:lnSpc>
              <a:buClr>
                <a:schemeClr val="accent2"/>
              </a:buClr>
              <a:buFont typeface="+mj-lt"/>
              <a:buAutoNum type="arabicPeriod"/>
              <a:defRPr/>
            </a:pPr>
            <a:r>
              <a:rPr lang="en-US" sz="2300" dirty="0">
                <a:solidFill>
                  <a:schemeClr val="accent2"/>
                </a:solidFill>
                <a:latin typeface="Arial" panose="020B0604020202020204" pitchFamily="34" charset="0"/>
              </a:rPr>
              <a:t>Performed services </a:t>
            </a:r>
            <a:r>
              <a:rPr lang="en-US" sz="2300" i="1" dirty="0">
                <a:solidFill>
                  <a:schemeClr val="accent2"/>
                </a:solidFill>
                <a:latin typeface="Arial" panose="020B0604020202020204" pitchFamily="34" charset="0"/>
              </a:rPr>
              <a:t>on account</a:t>
            </a:r>
            <a:r>
              <a:rPr lang="en-US" sz="2300" dirty="0">
                <a:solidFill>
                  <a:schemeClr val="accent2"/>
                </a:solidFill>
                <a:latin typeface="Arial" panose="020B0604020202020204" pitchFamily="34" charset="0"/>
              </a:rPr>
              <a:t> </a:t>
            </a:r>
            <a:r>
              <a:rPr lang="en-US" sz="2300" dirty="0">
                <a:solidFill>
                  <a:schemeClr val="accent2"/>
                </a:solidFill>
                <a:latin typeface="Arial" panose="020B0604020202020204" pitchFamily="34" charset="0"/>
                <a:sym typeface="Wingdings" panose="05000000000000000000" pitchFamily="2" charset="2"/>
              </a:rPr>
              <a:t> means A/R </a:t>
            </a:r>
            <a:r>
              <a:rPr lang="en-US" sz="2300" dirty="0">
                <a:solidFill>
                  <a:srgbClr val="FF0000"/>
                </a:solidFill>
                <a:latin typeface="Arial" panose="020B0604020202020204" pitchFamily="34" charset="0"/>
                <a:sym typeface="Wingdings" panose="05000000000000000000" pitchFamily="2" charset="2"/>
              </a:rPr>
              <a:t>increases</a:t>
            </a:r>
          </a:p>
          <a:p>
            <a:pPr marL="944118" lvl="1" indent="-457200" algn="just">
              <a:lnSpc>
                <a:spcPct val="200000"/>
              </a:lnSpc>
              <a:buClr>
                <a:schemeClr val="accent2"/>
              </a:buClr>
              <a:buFont typeface="+mj-lt"/>
              <a:buAutoNum type="arabicPeriod"/>
              <a:defRPr/>
            </a:pPr>
            <a:r>
              <a:rPr lang="en-US" sz="2300" dirty="0">
                <a:solidFill>
                  <a:schemeClr val="accent2"/>
                </a:solidFill>
                <a:latin typeface="Arial" panose="020B0604020202020204" pitchFamily="34" charset="0"/>
                <a:sym typeface="Wingdings" panose="05000000000000000000" pitchFamily="2" charset="2"/>
              </a:rPr>
              <a:t>Collected </a:t>
            </a:r>
            <a:r>
              <a:rPr lang="en-US" sz="2300" i="1" dirty="0">
                <a:solidFill>
                  <a:schemeClr val="accent2"/>
                </a:solidFill>
                <a:latin typeface="Arial" panose="020B0604020202020204" pitchFamily="34" charset="0"/>
                <a:sym typeface="Wingdings" panose="05000000000000000000" pitchFamily="2" charset="2"/>
              </a:rPr>
              <a:t>on account </a:t>
            </a:r>
            <a:r>
              <a:rPr lang="en-US" sz="2300" dirty="0">
                <a:solidFill>
                  <a:schemeClr val="accent2"/>
                </a:solidFill>
                <a:latin typeface="Arial" panose="020B0604020202020204" pitchFamily="34" charset="0"/>
                <a:sym typeface="Wingdings" panose="05000000000000000000" pitchFamily="2" charset="2"/>
              </a:rPr>
              <a:t>means  A/R </a:t>
            </a:r>
            <a:r>
              <a:rPr lang="en-US" sz="2300" dirty="0">
                <a:solidFill>
                  <a:srgbClr val="FF0000"/>
                </a:solidFill>
                <a:latin typeface="Arial" panose="020B0604020202020204" pitchFamily="34" charset="0"/>
                <a:sym typeface="Wingdings" panose="05000000000000000000" pitchFamily="2" charset="2"/>
              </a:rPr>
              <a:t>decreases</a:t>
            </a:r>
          </a:p>
          <a:p>
            <a:pPr marL="944118" lvl="1" indent="-457200" algn="just">
              <a:lnSpc>
                <a:spcPct val="200000"/>
              </a:lnSpc>
              <a:buClr>
                <a:schemeClr val="accent2"/>
              </a:buClr>
              <a:buFont typeface="+mj-lt"/>
              <a:buAutoNum type="arabicPeriod"/>
              <a:defRPr/>
            </a:pPr>
            <a:r>
              <a:rPr lang="en-US" sz="2300" dirty="0">
                <a:solidFill>
                  <a:schemeClr val="accent2"/>
                </a:solidFill>
                <a:latin typeface="Arial" panose="020B0604020202020204" pitchFamily="34" charset="0"/>
                <a:sym typeface="Wingdings" panose="05000000000000000000" pitchFamily="2" charset="2"/>
              </a:rPr>
              <a:t>Purchased </a:t>
            </a:r>
            <a:r>
              <a:rPr lang="en-US" sz="2300" i="1" dirty="0">
                <a:solidFill>
                  <a:schemeClr val="accent2"/>
                </a:solidFill>
                <a:latin typeface="Arial" panose="020B0604020202020204" pitchFamily="34" charset="0"/>
                <a:sym typeface="Wingdings" panose="05000000000000000000" pitchFamily="2" charset="2"/>
              </a:rPr>
              <a:t>on account </a:t>
            </a:r>
            <a:r>
              <a:rPr lang="en-US" sz="2300" dirty="0">
                <a:solidFill>
                  <a:schemeClr val="accent2"/>
                </a:solidFill>
                <a:latin typeface="Arial" panose="020B0604020202020204" pitchFamily="34" charset="0"/>
                <a:sym typeface="Wingdings" panose="05000000000000000000" pitchFamily="2" charset="2"/>
              </a:rPr>
              <a:t>means  A/P </a:t>
            </a:r>
            <a:r>
              <a:rPr lang="en-US" sz="2300" dirty="0">
                <a:solidFill>
                  <a:srgbClr val="FF0000"/>
                </a:solidFill>
                <a:latin typeface="Arial" panose="020B0604020202020204" pitchFamily="34" charset="0"/>
                <a:sym typeface="Wingdings" panose="05000000000000000000" pitchFamily="2" charset="2"/>
              </a:rPr>
              <a:t>increases</a:t>
            </a:r>
          </a:p>
          <a:p>
            <a:pPr marL="944118" lvl="1" indent="-457200" algn="just">
              <a:lnSpc>
                <a:spcPct val="200000"/>
              </a:lnSpc>
              <a:buClr>
                <a:schemeClr val="accent2"/>
              </a:buClr>
              <a:buFont typeface="+mj-lt"/>
              <a:buAutoNum type="arabicPeriod"/>
              <a:defRPr/>
            </a:pPr>
            <a:r>
              <a:rPr lang="en-US" sz="2300" dirty="0">
                <a:solidFill>
                  <a:schemeClr val="accent2"/>
                </a:solidFill>
                <a:latin typeface="Arial" panose="020B0604020202020204" pitchFamily="34" charset="0"/>
                <a:sym typeface="Wingdings" panose="05000000000000000000" pitchFamily="2" charset="2"/>
              </a:rPr>
              <a:t>Paid </a:t>
            </a:r>
            <a:r>
              <a:rPr lang="en-US" sz="2300" i="1" dirty="0">
                <a:solidFill>
                  <a:schemeClr val="accent2"/>
                </a:solidFill>
                <a:latin typeface="Arial" panose="020B0604020202020204" pitchFamily="34" charset="0"/>
                <a:sym typeface="Wingdings" panose="05000000000000000000" pitchFamily="2" charset="2"/>
              </a:rPr>
              <a:t>on account </a:t>
            </a:r>
            <a:r>
              <a:rPr lang="en-US" sz="2300" dirty="0">
                <a:solidFill>
                  <a:schemeClr val="accent2"/>
                </a:solidFill>
                <a:latin typeface="Arial" panose="020B0604020202020204" pitchFamily="34" charset="0"/>
                <a:sym typeface="Wingdings" panose="05000000000000000000" pitchFamily="2" charset="2"/>
              </a:rPr>
              <a:t>means  A/P </a:t>
            </a:r>
            <a:r>
              <a:rPr lang="en-US" sz="2300" dirty="0">
                <a:solidFill>
                  <a:srgbClr val="FF0000"/>
                </a:solidFill>
                <a:latin typeface="Arial" panose="020B0604020202020204" pitchFamily="34" charset="0"/>
                <a:sym typeface="Wingdings" panose="05000000000000000000" pitchFamily="2" charset="2"/>
              </a:rPr>
              <a:t>decreases</a:t>
            </a:r>
            <a:endParaRPr lang="en-US" sz="2300" dirty="0">
              <a:solidFill>
                <a:srgbClr val="FF0000"/>
              </a:solidFill>
              <a:latin typeface="Arial" panose="020B0604020202020204" pitchFamily="34" charset="0"/>
            </a:endParaRPr>
          </a:p>
          <a:p>
            <a:pPr algn="just">
              <a:lnSpc>
                <a:spcPct val="150000"/>
              </a:lnSpc>
              <a:buClr>
                <a:schemeClr val="accent2"/>
              </a:buClr>
              <a:defRPr/>
            </a:pPr>
            <a:endParaRPr lang="en-US" sz="2200" dirty="0">
              <a:solidFill>
                <a:schemeClr val="accent2"/>
              </a:solidFill>
              <a:ea typeface="ＭＳ Ｐゴシック" pitchFamily="34" charset="-128"/>
            </a:endParaRPr>
          </a:p>
          <a:p>
            <a:pPr lvl="1">
              <a:lnSpc>
                <a:spcPct val="150000"/>
              </a:lnSpc>
              <a:buClr>
                <a:schemeClr val="accent2"/>
              </a:buClr>
              <a:buSzPct val="100000"/>
              <a:defRPr/>
            </a:pPr>
            <a:endParaRPr lang="en-US" sz="2200" dirty="0">
              <a:solidFill>
                <a:schemeClr val="accent2"/>
              </a:solidFill>
              <a:ea typeface="ＭＳ Ｐゴシック" pitchFamily="34" charset="-128"/>
            </a:endParaRPr>
          </a:p>
          <a:p>
            <a:pPr algn="just" eaLnBrk="1" hangingPunct="1">
              <a:lnSpc>
                <a:spcPct val="150000"/>
              </a:lnSpc>
              <a:buClr>
                <a:schemeClr val="tx2"/>
              </a:buClr>
              <a:defRPr/>
            </a:pPr>
            <a:endParaRPr lang="en-US" dirty="0">
              <a:solidFill>
                <a:schemeClr val="tx2"/>
              </a:solidFill>
              <a:latin typeface="Arial" panose="020B0604020202020204" pitchFamily="34" charset="0"/>
            </a:endParaRPr>
          </a:p>
          <a:p>
            <a:pPr marL="0" indent="0">
              <a:buFont typeface="Wingdings 3" panose="05040102010807070707" pitchFamily="18" charset="2"/>
              <a:buNone/>
              <a:defRPr/>
            </a:pPr>
            <a:endParaRPr lang="en-CA" dirty="0"/>
          </a:p>
        </p:txBody>
      </p:sp>
    </p:spTree>
    <p:extLst>
      <p:ext uri="{BB962C8B-B14F-4D97-AF65-F5344CB8AC3E}">
        <p14:creationId xmlns:p14="http://schemas.microsoft.com/office/powerpoint/2010/main" val="71246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Three</a:t>
            </a:r>
          </a:p>
        </p:txBody>
      </p:sp>
      <p:sp>
        <p:nvSpPr>
          <p:cNvPr id="3" name="Content Placeholder 2"/>
          <p:cNvSpPr>
            <a:spLocks noGrp="1"/>
          </p:cNvSpPr>
          <p:nvPr>
            <p:ph type="subTitle" idx="1"/>
          </p:nvPr>
        </p:nvSpPr>
        <p:spPr/>
        <p:txBody>
          <a:bodyPr>
            <a:normAutofit lnSpcReduction="10000"/>
          </a:bodyPr>
          <a:lstStyle/>
          <a:p>
            <a:pPr marL="44450"/>
            <a:r>
              <a:rPr lang="en-US" b="1" dirty="0">
                <a:ea typeface="ＭＳ Ｐゴシック" pitchFamily="34" charset="-128"/>
              </a:rPr>
              <a:t>Analyze</a:t>
            </a:r>
            <a:r>
              <a:rPr lang="en-US" dirty="0">
                <a:ea typeface="ＭＳ Ｐゴシック" pitchFamily="34" charset="-128"/>
              </a:rPr>
              <a:t> business transactions using T-accounts</a:t>
            </a:r>
            <a:endParaRPr lang="en-US" dirty="0"/>
          </a:p>
        </p:txBody>
      </p:sp>
    </p:spTree>
    <p:extLst>
      <p:ext uri="{BB962C8B-B14F-4D97-AF65-F5344CB8AC3E}">
        <p14:creationId xmlns:p14="http://schemas.microsoft.com/office/powerpoint/2010/main" val="1408152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Tara Inc. Chart of Accounts</a:t>
            </a:r>
            <a:endParaRPr lang="en-US" dirty="0"/>
          </a:p>
        </p:txBody>
      </p:sp>
      <p:sp>
        <p:nvSpPr>
          <p:cNvPr id="6" name="Content Placeholder 5"/>
          <p:cNvSpPr>
            <a:spLocks noGrp="1"/>
          </p:cNvSpPr>
          <p:nvPr>
            <p:ph idx="1"/>
          </p:nvPr>
        </p:nvSpPr>
        <p:spPr>
          <a:xfrm>
            <a:off x="646176" y="1600201"/>
            <a:ext cx="7851648" cy="384048"/>
          </a:xfrm>
          <a:ln w="12700">
            <a:solidFill>
              <a:schemeClr val="tx1"/>
            </a:solidFill>
          </a:ln>
        </p:spPr>
        <p:txBody>
          <a:bodyPr/>
          <a:lstStyle/>
          <a:p>
            <a:pPr algn="ctr">
              <a:buNone/>
            </a:pPr>
            <a:r>
              <a:rPr lang="en-US" sz="1800" dirty="0"/>
              <a:t>BALANCE SHEET ACCOUNTS:</a:t>
            </a:r>
          </a:p>
        </p:txBody>
      </p:sp>
      <p:graphicFrame>
        <p:nvGraphicFramePr>
          <p:cNvPr id="4" name="Table 3"/>
          <p:cNvGraphicFramePr>
            <a:graphicFrameLocks noGrp="1"/>
          </p:cNvGraphicFramePr>
          <p:nvPr/>
        </p:nvGraphicFramePr>
        <p:xfrm>
          <a:off x="644271" y="1981200"/>
          <a:ext cx="7855459" cy="2194560"/>
        </p:xfrm>
        <a:graphic>
          <a:graphicData uri="http://schemas.openxmlformats.org/drawingml/2006/table">
            <a:tbl>
              <a:tblPr firstRow="1" bandRow="1">
                <a:tableStyleId>{2D5ABB26-0587-4C30-8999-92F81FD0307C}</a:tableStyleId>
              </a:tblPr>
              <a:tblGrid>
                <a:gridCol w="2777935">
                  <a:extLst>
                    <a:ext uri="{9D8B030D-6E8A-4147-A177-3AD203B41FA5}">
                      <a16:colId xmlns:a16="http://schemas.microsoft.com/office/drawing/2014/main" val="20000"/>
                    </a:ext>
                  </a:extLst>
                </a:gridCol>
                <a:gridCol w="2507044">
                  <a:extLst>
                    <a:ext uri="{9D8B030D-6E8A-4147-A177-3AD203B41FA5}">
                      <a16:colId xmlns:a16="http://schemas.microsoft.com/office/drawing/2014/main" val="20001"/>
                    </a:ext>
                  </a:extLst>
                </a:gridCol>
                <a:gridCol w="2570480">
                  <a:extLst>
                    <a:ext uri="{9D8B030D-6E8A-4147-A177-3AD203B41FA5}">
                      <a16:colId xmlns:a16="http://schemas.microsoft.com/office/drawing/2014/main" val="20002"/>
                    </a:ext>
                  </a:extLst>
                </a:gridCol>
              </a:tblGrid>
              <a:tr h="271780">
                <a:tc>
                  <a:txBody>
                    <a:bodyPr/>
                    <a:lstStyle/>
                    <a:p>
                      <a:pPr algn="ctr"/>
                      <a:r>
                        <a:rPr lang="en-US" sz="1800" b="1" i="1" dirty="0">
                          <a:solidFill>
                            <a:schemeClr val="tx2"/>
                          </a:solidFill>
                        </a:rPr>
                        <a:t>Assets</a:t>
                      </a:r>
                      <a:endParaRPr lang="en-US" sz="18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i="1" dirty="0">
                          <a:solidFill>
                            <a:schemeClr val="tx2"/>
                          </a:solidFill>
                        </a:rPr>
                        <a:t> Liabilities</a:t>
                      </a:r>
                      <a:endParaRPr lang="en-US" sz="18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i="1" dirty="0">
                          <a:solidFill>
                            <a:schemeClr val="tx2"/>
                          </a:solidFill>
                        </a:rPr>
                        <a:t>Shareholders</a:t>
                      </a:r>
                      <a:r>
                        <a:rPr lang="en-US" altLang="en-US" sz="1800" b="1" i="1" dirty="0">
                          <a:solidFill>
                            <a:schemeClr val="tx2"/>
                          </a:solidFill>
                        </a:rPr>
                        <a:t>’</a:t>
                      </a:r>
                      <a:r>
                        <a:rPr lang="en-US" altLang="ja-JP" sz="1800" b="1" dirty="0">
                          <a:solidFill>
                            <a:schemeClr val="tx2"/>
                          </a:solidFill>
                        </a:rPr>
                        <a:t> </a:t>
                      </a:r>
                      <a:r>
                        <a:rPr lang="en-US" altLang="ja-JP" sz="1800" b="1" i="1" dirty="0">
                          <a:solidFill>
                            <a:schemeClr val="tx2"/>
                          </a:solidFill>
                        </a:rPr>
                        <a:t>Equity</a:t>
                      </a:r>
                      <a:endParaRPr lang="en-US" sz="18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1780">
                <a:tc>
                  <a:txBody>
                    <a:bodyPr/>
                    <a:lstStyle/>
                    <a:p>
                      <a:pPr algn="l"/>
                      <a:r>
                        <a:rPr lang="en-US" sz="1800" dirty="0"/>
                        <a:t>101 Cash</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201 Accounts Payable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301 Common Shares</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71780">
                <a:tc>
                  <a:txBody>
                    <a:bodyPr/>
                    <a:lstStyle/>
                    <a:p>
                      <a:pPr algn="l"/>
                      <a:r>
                        <a:rPr lang="en-US" sz="1800" dirty="0"/>
                        <a:t>111 Accounts Receivable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231 Notes Payable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311 Dividends</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71780">
                <a:tc>
                  <a:txBody>
                    <a:bodyPr/>
                    <a:lstStyle/>
                    <a:p>
                      <a:pPr algn="l"/>
                      <a:r>
                        <a:rPr lang="en-US" sz="1800" dirty="0"/>
                        <a:t>141 Office Supplies</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312 Retained Earnings</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1780">
                <a:tc>
                  <a:txBody>
                    <a:bodyPr/>
                    <a:lstStyle/>
                    <a:p>
                      <a:pPr algn="l"/>
                      <a:r>
                        <a:rPr lang="en-US" sz="1800" dirty="0"/>
                        <a:t>151 Office Furniture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71780">
                <a:tc>
                  <a:txBody>
                    <a:bodyPr/>
                    <a:lstStyle/>
                    <a:p>
                      <a:pPr algn="l"/>
                      <a:r>
                        <a:rPr lang="en-US" sz="1800" dirty="0"/>
                        <a:t>191 Land</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3" name="Text Placeholder 2"/>
          <p:cNvSpPr>
            <a:spLocks noGrp="1"/>
          </p:cNvSpPr>
          <p:nvPr>
            <p:ph idx="13"/>
          </p:nvPr>
        </p:nvSpPr>
        <p:spPr>
          <a:xfrm>
            <a:off x="1371600" y="4337536"/>
            <a:ext cx="6394704" cy="548640"/>
          </a:xfrm>
          <a:ln w="12700">
            <a:solidFill>
              <a:schemeClr val="tx1"/>
            </a:solidFill>
          </a:ln>
        </p:spPr>
        <p:txBody>
          <a:bodyPr>
            <a:normAutofit fontScale="85000" lnSpcReduction="20000"/>
          </a:bodyPr>
          <a:lstStyle/>
          <a:p>
            <a:pPr marL="0" indent="0" algn="ctr">
              <a:spcBef>
                <a:spcPts val="0"/>
              </a:spcBef>
              <a:buNone/>
            </a:pPr>
            <a:r>
              <a:rPr lang="en-US" sz="1600" dirty="0"/>
              <a:t>INCOME STATEMENT ACCOUNTS</a:t>
            </a:r>
          </a:p>
          <a:p>
            <a:pPr marL="0" indent="0" algn="ctr">
              <a:spcBef>
                <a:spcPts val="0"/>
              </a:spcBef>
              <a:buNone/>
            </a:pPr>
            <a:r>
              <a:rPr lang="en-US" sz="1600" dirty="0"/>
              <a:t>(PART OF SHAREHOLDERS</a:t>
            </a:r>
            <a:r>
              <a:rPr lang="en-US" altLang="en-US" sz="1600" dirty="0"/>
              <a:t>’</a:t>
            </a:r>
            <a:r>
              <a:rPr lang="en-US" sz="1600" dirty="0"/>
              <a:t> EQUITY):</a:t>
            </a:r>
          </a:p>
        </p:txBody>
      </p:sp>
      <p:graphicFrame>
        <p:nvGraphicFramePr>
          <p:cNvPr id="5" name="Table 4"/>
          <p:cNvGraphicFramePr>
            <a:graphicFrameLocks noGrp="1"/>
          </p:cNvGraphicFramePr>
          <p:nvPr/>
        </p:nvGraphicFramePr>
        <p:xfrm>
          <a:off x="1371600" y="4886176"/>
          <a:ext cx="6400800" cy="1483360"/>
        </p:xfrm>
        <a:graphic>
          <a:graphicData uri="http://schemas.openxmlformats.org/drawingml/2006/table">
            <a:tbl>
              <a:tblPr firstRow="1" bandRow="1">
                <a:tableStyleId>{2D5ABB26-0587-4C30-8999-92F81FD0307C}</a:tableStyleId>
              </a:tblPr>
              <a:tblGrid>
                <a:gridCol w="3879606">
                  <a:extLst>
                    <a:ext uri="{9D8B030D-6E8A-4147-A177-3AD203B41FA5}">
                      <a16:colId xmlns:a16="http://schemas.microsoft.com/office/drawing/2014/main" val="20000"/>
                    </a:ext>
                  </a:extLst>
                </a:gridCol>
                <a:gridCol w="2521194">
                  <a:extLst>
                    <a:ext uri="{9D8B030D-6E8A-4147-A177-3AD203B41FA5}">
                      <a16:colId xmlns:a16="http://schemas.microsoft.com/office/drawing/2014/main" val="20001"/>
                    </a:ext>
                  </a:extLst>
                </a:gridCol>
              </a:tblGrid>
              <a:tr h="370840">
                <a:tc>
                  <a:txBody>
                    <a:bodyPr/>
                    <a:lstStyle/>
                    <a:p>
                      <a:pPr algn="ctr"/>
                      <a:r>
                        <a:rPr lang="en-US" sz="1800" b="1" i="1" dirty="0">
                          <a:solidFill>
                            <a:schemeClr val="tx2"/>
                          </a:solidFill>
                        </a:rPr>
                        <a:t>Revenues</a:t>
                      </a:r>
                      <a:endParaRPr lang="en-US" sz="18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i="1" dirty="0">
                          <a:solidFill>
                            <a:schemeClr val="tx2"/>
                          </a:solidFill>
                        </a:rPr>
                        <a:t> Expenses</a:t>
                      </a:r>
                      <a:endParaRPr lang="en-US" sz="1800" b="1"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l"/>
                      <a:r>
                        <a:rPr lang="en-US" sz="1800" dirty="0"/>
                        <a:t>401 Service Revenue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501 Rent Expense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algn="l"/>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502 Salary Expense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algn="l"/>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503 Utilities Expense</a:t>
                      </a:r>
                      <a:endParaRPr lang="en-US" sz="1800" dirty="0">
                        <a:solidFill>
                          <a:schemeClr val="tx1"/>
                        </a:solidFill>
                        <a:latin typeface="+mn-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868473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Double-Entry Accounting</a:t>
            </a:r>
            <a:endParaRPr lang="en-US" dirty="0"/>
          </a:p>
        </p:txBody>
      </p:sp>
      <p:sp>
        <p:nvSpPr>
          <p:cNvPr id="3" name="Content Placeholder 2"/>
          <p:cNvSpPr>
            <a:spLocks noGrp="1"/>
          </p:cNvSpPr>
          <p:nvPr>
            <p:ph idx="1"/>
          </p:nvPr>
        </p:nvSpPr>
        <p:spPr/>
        <p:txBody>
          <a:bodyPr/>
          <a:lstStyle/>
          <a:p>
            <a:pPr algn="ctr">
              <a:spcAft>
                <a:spcPts val="1800"/>
              </a:spcAft>
              <a:buNone/>
            </a:pPr>
            <a:r>
              <a:rPr lang="en-US" sz="2400" dirty="0"/>
              <a:t>Double-entry system of accounting uses </a:t>
            </a:r>
            <a:br>
              <a:rPr lang="en-US" sz="2400" dirty="0"/>
            </a:br>
            <a:r>
              <a:rPr lang="en-US" sz="2400" dirty="0"/>
              <a:t>debits and credits to record the dual effects </a:t>
            </a:r>
            <a:br>
              <a:rPr lang="en-US" sz="2400" dirty="0"/>
            </a:br>
            <a:r>
              <a:rPr lang="en-US" sz="2400" dirty="0"/>
              <a:t>of each business transaction.</a:t>
            </a:r>
          </a:p>
          <a:p>
            <a:pPr algn="ctr">
              <a:buNone/>
            </a:pPr>
            <a:r>
              <a:rPr lang="en-US" sz="3200" kern="10" dirty="0">
                <a:ln w="9525">
                  <a:noFill/>
                  <a:round/>
                  <a:headEnd/>
                  <a:tailEnd/>
                </a:ln>
                <a:cs typeface="Arial"/>
              </a:rPr>
              <a:t>Assets = Liabilities + Shareholders' Equity</a:t>
            </a:r>
            <a:endParaRPr lang="en-US" sz="2400" dirty="0"/>
          </a:p>
        </p:txBody>
      </p:sp>
    </p:spTree>
    <p:extLst>
      <p:ext uri="{BB962C8B-B14F-4D97-AF65-F5344CB8AC3E}">
        <p14:creationId xmlns:p14="http://schemas.microsoft.com/office/powerpoint/2010/main" val="3537797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The T-Account</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601006919"/>
              </p:ext>
            </p:extLst>
          </p:nvPr>
        </p:nvGraphicFramePr>
        <p:xfrm>
          <a:off x="1938130" y="2067339"/>
          <a:ext cx="4396059" cy="2062700"/>
        </p:xfrm>
        <a:graphic>
          <a:graphicData uri="http://schemas.openxmlformats.org/drawingml/2006/table">
            <a:tbl>
              <a:tblPr firstRow="1" bandRow="1">
                <a:tableStyleId>{2D5ABB26-0587-4C30-8999-92F81FD0307C}</a:tableStyleId>
              </a:tblPr>
              <a:tblGrid>
                <a:gridCol w="2083742">
                  <a:extLst>
                    <a:ext uri="{9D8B030D-6E8A-4147-A177-3AD203B41FA5}">
                      <a16:colId xmlns:a16="http://schemas.microsoft.com/office/drawing/2014/main" val="20000"/>
                    </a:ext>
                  </a:extLst>
                </a:gridCol>
                <a:gridCol w="2312317">
                  <a:extLst>
                    <a:ext uri="{9D8B030D-6E8A-4147-A177-3AD203B41FA5}">
                      <a16:colId xmlns:a16="http://schemas.microsoft.com/office/drawing/2014/main" val="20001"/>
                    </a:ext>
                  </a:extLst>
                </a:gridCol>
              </a:tblGrid>
              <a:tr h="815486">
                <a:tc gridSpan="2">
                  <a:txBody>
                    <a:bodyPr/>
                    <a:lstStyle/>
                    <a:p>
                      <a:pPr algn="ctr"/>
                      <a:r>
                        <a:rPr lang="en-US" altLang="en-US" sz="2800" dirty="0"/>
                        <a:t>Account Title</a:t>
                      </a:r>
                      <a:endParaRPr lang="en-US" sz="2800" dirty="0"/>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236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000" dirty="0">
                          <a:solidFill>
                            <a:schemeClr val="tx2"/>
                          </a:solidFill>
                        </a:rPr>
                        <a:t>LEFT SIDE</a:t>
                      </a:r>
                      <a:endParaRPr lang="en-US" sz="20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000" dirty="0">
                          <a:solidFill>
                            <a:schemeClr val="tx2"/>
                          </a:solidFill>
                        </a:rPr>
                        <a:t>RIGHT SIDE</a:t>
                      </a:r>
                      <a:endParaRPr lang="en-US" sz="20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6236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000" dirty="0"/>
                        <a:t>Debit</a:t>
                      </a:r>
                      <a:endParaRPr lang="en-US" sz="2000" dirty="0"/>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000" dirty="0"/>
                        <a:t>Credit</a:t>
                      </a:r>
                      <a:endParaRPr lang="en-US" sz="2000" dirty="0"/>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sp>
        <p:nvSpPr>
          <p:cNvPr id="4" name="TextBox 3">
            <a:extLst>
              <a:ext uri="{FF2B5EF4-FFF2-40B4-BE49-F238E27FC236}">
                <a16:creationId xmlns:a16="http://schemas.microsoft.com/office/drawing/2014/main" id="{EE431B70-42BC-FF85-B318-A30A227F709C}"/>
              </a:ext>
            </a:extLst>
          </p:cNvPr>
          <p:cNvSpPr txBox="1"/>
          <p:nvPr/>
        </p:nvSpPr>
        <p:spPr>
          <a:xfrm>
            <a:off x="6334189" y="1093304"/>
            <a:ext cx="2372489" cy="369332"/>
          </a:xfrm>
          <a:prstGeom prst="rect">
            <a:avLst/>
          </a:prstGeom>
          <a:noFill/>
        </p:spPr>
        <p:txBody>
          <a:bodyPr wrap="square" rtlCol="0">
            <a:spAutoFit/>
          </a:bodyPr>
          <a:lstStyle/>
          <a:p>
            <a:r>
              <a:rPr lang="en-US" b="1" dirty="0">
                <a:solidFill>
                  <a:srgbClr val="C00000"/>
                </a:solidFill>
              </a:rPr>
              <a:t>KEY CONCEPT!!!</a:t>
            </a:r>
          </a:p>
        </p:txBody>
      </p:sp>
    </p:spTree>
    <p:extLst>
      <p:ext uri="{BB962C8B-B14F-4D97-AF65-F5344CB8AC3E}">
        <p14:creationId xmlns:p14="http://schemas.microsoft.com/office/powerpoint/2010/main" val="75694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The Rule of Debit &amp; Credit</a:t>
            </a:r>
            <a:endParaRPr lang="en-US" dirty="0"/>
          </a:p>
        </p:txBody>
      </p:sp>
      <p:graphicFrame>
        <p:nvGraphicFramePr>
          <p:cNvPr id="5" name="Table 4"/>
          <p:cNvGraphicFramePr>
            <a:graphicFrameLocks noGrp="1"/>
          </p:cNvGraphicFramePr>
          <p:nvPr/>
        </p:nvGraphicFramePr>
        <p:xfrm>
          <a:off x="1524000" y="1828800"/>
          <a:ext cx="6096000" cy="88900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sz="2800" dirty="0"/>
                        <a:t>Debits</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t>=</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t>Credits</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ctr"/>
                      <a:r>
                        <a:rPr lang="en-US" dirty="0"/>
                        <a:t>(Left side)</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(Right side)</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6" name="Content Placeholder 5"/>
          <p:cNvSpPr>
            <a:spLocks noGrp="1"/>
          </p:cNvSpPr>
          <p:nvPr>
            <p:ph idx="13"/>
          </p:nvPr>
        </p:nvSpPr>
        <p:spPr/>
        <p:txBody>
          <a:bodyPr/>
          <a:lstStyle/>
          <a:p>
            <a:pPr marL="0" indent="0" algn="ctr">
              <a:buNone/>
            </a:pPr>
            <a:r>
              <a:rPr lang="en-US" sz="3200" dirty="0">
                <a:latin typeface="+mn-ea"/>
              </a:rPr>
              <a:t>Assets = Liabilities + Shareholders</a:t>
            </a:r>
            <a:r>
              <a:rPr lang="ja-JP" altLang="en-US" sz="3200" dirty="0">
                <a:latin typeface="+mn-ea"/>
              </a:rPr>
              <a:t>’</a:t>
            </a:r>
            <a:r>
              <a:rPr lang="en-US" altLang="ja-JP" sz="3200" dirty="0">
                <a:latin typeface="+mn-ea"/>
              </a:rPr>
              <a:t> Equity</a:t>
            </a:r>
            <a:endParaRPr lang="en-US" sz="3200" dirty="0"/>
          </a:p>
        </p:txBody>
      </p:sp>
      <p:sp>
        <p:nvSpPr>
          <p:cNvPr id="3" name="TextBox 2">
            <a:extLst>
              <a:ext uri="{FF2B5EF4-FFF2-40B4-BE49-F238E27FC236}">
                <a16:creationId xmlns:a16="http://schemas.microsoft.com/office/drawing/2014/main" id="{44A017FC-DD2B-CC57-E881-0E9B57A4FE9A}"/>
              </a:ext>
            </a:extLst>
          </p:cNvPr>
          <p:cNvSpPr txBox="1"/>
          <p:nvPr/>
        </p:nvSpPr>
        <p:spPr>
          <a:xfrm>
            <a:off x="5715000" y="731837"/>
            <a:ext cx="3234086" cy="369332"/>
          </a:xfrm>
          <a:prstGeom prst="rect">
            <a:avLst/>
          </a:prstGeom>
          <a:noFill/>
        </p:spPr>
        <p:txBody>
          <a:bodyPr wrap="square" rtlCol="0">
            <a:spAutoFit/>
          </a:bodyPr>
          <a:lstStyle/>
          <a:p>
            <a:r>
              <a:rPr lang="en-US" b="1" dirty="0">
                <a:solidFill>
                  <a:srgbClr val="C00000"/>
                </a:solidFill>
              </a:rPr>
              <a:t>MORE KEY CONCEPTS…</a:t>
            </a:r>
          </a:p>
        </p:txBody>
      </p:sp>
    </p:spTree>
    <p:extLst>
      <p:ext uri="{BB962C8B-B14F-4D97-AF65-F5344CB8AC3E}">
        <p14:creationId xmlns:p14="http://schemas.microsoft.com/office/powerpoint/2010/main" val="1422291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US" dirty="0">
                <a:ea typeface="ＭＳ Ｐゴシック" pitchFamily="34" charset="-128"/>
              </a:rPr>
              <a:t>Increases and Decreases in the Accounts</a:t>
            </a:r>
            <a:endParaRPr lang="en-US" dirty="0"/>
          </a:p>
        </p:txBody>
      </p:sp>
      <p:pic>
        <p:nvPicPr>
          <p:cNvPr id="8" name="Picture 7" descr="In the accounting equation, assets = liabilities plus shareholders’ equity. In T accounts for each component of the equation, debit is on the left side of the account and credit is on the right side of the account. The rules of debit and credit are as follows.&#10;Assets. Increases, debit. Decreases, credit.&#10;Liabilities. Decreases, debit. Increases, credit.&#10;Shareholders’ equity. Decreases, debit. Increases, credit.&#10;">
            <a:extLst>
              <a:ext uri="{FF2B5EF4-FFF2-40B4-BE49-F238E27FC236}">
                <a16:creationId xmlns:a16="http://schemas.microsoft.com/office/drawing/2014/main" id="{55C898FC-97F8-EA9B-B81F-92F91D7552D0}"/>
              </a:ext>
            </a:extLst>
          </p:cNvPr>
          <p:cNvPicPr>
            <a:picLocks noChangeAspect="1"/>
          </p:cNvPicPr>
          <p:nvPr/>
        </p:nvPicPr>
        <p:blipFill>
          <a:blip r:embed="rId3"/>
          <a:stretch>
            <a:fillRect/>
          </a:stretch>
        </p:blipFill>
        <p:spPr>
          <a:xfrm>
            <a:off x="387705" y="2819400"/>
            <a:ext cx="8368589" cy="1828800"/>
          </a:xfrm>
          <a:prstGeom prst="rect">
            <a:avLst/>
          </a:prstGeom>
        </p:spPr>
      </p:pic>
      <p:sp>
        <p:nvSpPr>
          <p:cNvPr id="3" name="TextBox 2">
            <a:extLst>
              <a:ext uri="{FF2B5EF4-FFF2-40B4-BE49-F238E27FC236}">
                <a16:creationId xmlns:a16="http://schemas.microsoft.com/office/drawing/2014/main" id="{C81293B5-4423-1795-606A-01F7BF2D527C}"/>
              </a:ext>
            </a:extLst>
          </p:cNvPr>
          <p:cNvSpPr txBox="1"/>
          <p:nvPr/>
        </p:nvSpPr>
        <p:spPr>
          <a:xfrm>
            <a:off x="4572001" y="1330039"/>
            <a:ext cx="4377086" cy="369332"/>
          </a:xfrm>
          <a:prstGeom prst="rect">
            <a:avLst/>
          </a:prstGeom>
          <a:noFill/>
        </p:spPr>
        <p:txBody>
          <a:bodyPr wrap="square" rtlCol="0">
            <a:spAutoFit/>
          </a:bodyPr>
          <a:lstStyle/>
          <a:p>
            <a:r>
              <a:rPr lang="en-US" b="1" dirty="0">
                <a:solidFill>
                  <a:srgbClr val="C00000"/>
                </a:solidFill>
              </a:rPr>
              <a:t>A FEW MORE KEY CONCEPTS…</a:t>
            </a:r>
          </a:p>
        </p:txBody>
      </p:sp>
    </p:spTree>
    <p:extLst>
      <p:ext uri="{BB962C8B-B14F-4D97-AF65-F5344CB8AC3E}">
        <p14:creationId xmlns:p14="http://schemas.microsoft.com/office/powerpoint/2010/main" val="1137329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Rules of Debit and Credit </a:t>
            </a:r>
            <a:r>
              <a:rPr lang="en-US" sz="2000" b="0" dirty="0">
                <a:ea typeface="ＭＳ Ｐゴシック" pitchFamily="34" charset="-128"/>
              </a:rPr>
              <a:t>(1 of 3)</a:t>
            </a:r>
            <a:endParaRPr lang="en-US" sz="2000" b="0" dirty="0"/>
          </a:p>
        </p:txBody>
      </p:sp>
      <p:sp>
        <p:nvSpPr>
          <p:cNvPr id="4" name="Content Placeholder 3"/>
          <p:cNvSpPr>
            <a:spLocks noGrp="1"/>
          </p:cNvSpPr>
          <p:nvPr>
            <p:ph idx="1"/>
          </p:nvPr>
        </p:nvSpPr>
        <p:spPr>
          <a:xfrm>
            <a:off x="457200" y="1600201"/>
            <a:ext cx="8229600" cy="457200"/>
          </a:xfrm>
        </p:spPr>
        <p:txBody>
          <a:bodyPr/>
          <a:lstStyle/>
          <a:p>
            <a:pPr marL="0" indent="0" algn="ctr" defTabSz="842963">
              <a:buNone/>
            </a:pPr>
            <a:r>
              <a:rPr lang="en-US" altLang="en-US" b="1" dirty="0"/>
              <a:t>Assets  =  Liabilities	+  Shareholders’ Equity</a:t>
            </a:r>
            <a:endParaRPr lang="en-US" dirty="0"/>
          </a:p>
        </p:txBody>
      </p:sp>
      <p:graphicFrame>
        <p:nvGraphicFramePr>
          <p:cNvPr id="105" name="Table 104"/>
          <p:cNvGraphicFramePr>
            <a:graphicFrameLocks noGrp="1"/>
          </p:cNvGraphicFramePr>
          <p:nvPr/>
        </p:nvGraphicFramePr>
        <p:xfrm>
          <a:off x="417904" y="2882305"/>
          <a:ext cx="1635760" cy="741680"/>
        </p:xfrm>
        <a:graphic>
          <a:graphicData uri="http://schemas.openxmlformats.org/drawingml/2006/table">
            <a:tbl>
              <a:tblPr firstRow="1" bandRow="1">
                <a:tableStyleId>{2D5ABB26-0587-4C30-8999-92F81FD0307C}</a:tableStyleId>
              </a:tblPr>
              <a:tblGrid>
                <a:gridCol w="779780">
                  <a:extLst>
                    <a:ext uri="{9D8B030D-6E8A-4147-A177-3AD203B41FA5}">
                      <a16:colId xmlns:a16="http://schemas.microsoft.com/office/drawing/2014/main" val="20000"/>
                    </a:ext>
                  </a:extLst>
                </a:gridCol>
                <a:gridCol w="855980">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Debit</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Credit</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bl>
          </a:graphicData>
        </a:graphic>
      </p:graphicFrame>
      <p:graphicFrame>
        <p:nvGraphicFramePr>
          <p:cNvPr id="108" name="Table 107"/>
          <p:cNvGraphicFramePr>
            <a:graphicFrameLocks noGrp="1"/>
          </p:cNvGraphicFramePr>
          <p:nvPr/>
        </p:nvGraphicFramePr>
        <p:xfrm>
          <a:off x="2320080" y="2882305"/>
          <a:ext cx="1777048" cy="741680"/>
        </p:xfrm>
        <a:graphic>
          <a:graphicData uri="http://schemas.openxmlformats.org/drawingml/2006/table">
            <a:tbl>
              <a:tblPr firstRow="1" bandRow="1">
                <a:tableStyleId>{2D5ABB26-0587-4C30-8999-92F81FD0307C}</a:tableStyleId>
              </a:tblPr>
              <a:tblGrid>
                <a:gridCol w="846455">
                  <a:extLst>
                    <a:ext uri="{9D8B030D-6E8A-4147-A177-3AD203B41FA5}">
                      <a16:colId xmlns:a16="http://schemas.microsoft.com/office/drawing/2014/main" val="20000"/>
                    </a:ext>
                  </a:extLst>
                </a:gridCol>
                <a:gridCol w="930593">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Debit</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Credit</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bl>
          </a:graphicData>
        </a:graphic>
      </p:graphicFrame>
      <p:graphicFrame>
        <p:nvGraphicFramePr>
          <p:cNvPr id="109" name="Table 108"/>
          <p:cNvGraphicFramePr>
            <a:graphicFrameLocks noGrp="1"/>
          </p:cNvGraphicFramePr>
          <p:nvPr/>
        </p:nvGraphicFramePr>
        <p:xfrm>
          <a:off x="4350456" y="2516621"/>
          <a:ext cx="2068044" cy="1381760"/>
        </p:xfrm>
        <a:graphic>
          <a:graphicData uri="http://schemas.openxmlformats.org/drawingml/2006/table">
            <a:tbl>
              <a:tblPr firstRow="1" bandRow="1">
                <a:tableStyleId>{2D5ABB26-0587-4C30-8999-92F81FD0307C}</a:tableStyleId>
              </a:tblPr>
              <a:tblGrid>
                <a:gridCol w="1070952">
                  <a:extLst>
                    <a:ext uri="{9D8B030D-6E8A-4147-A177-3AD203B41FA5}">
                      <a16:colId xmlns:a16="http://schemas.microsoft.com/office/drawing/2014/main" val="20000"/>
                    </a:ext>
                  </a:extLst>
                </a:gridCol>
                <a:gridCol w="997092">
                  <a:extLst>
                    <a:ext uri="{9D8B030D-6E8A-4147-A177-3AD203B41FA5}">
                      <a16:colId xmlns:a16="http://schemas.microsoft.com/office/drawing/2014/main" val="20001"/>
                    </a:ext>
                  </a:extLst>
                </a:gridCol>
              </a:tblGrid>
              <a:tr h="304800">
                <a:tc gridSpan="2">
                  <a:txBody>
                    <a:bodyPr/>
                    <a:lstStyle/>
                    <a:p>
                      <a:pPr algn="ctr"/>
                      <a:r>
                        <a:rPr lang="en-US" altLang="en-US" sz="1800" b="1" dirty="0"/>
                        <a:t>Common Shares</a:t>
                      </a:r>
                      <a:endParaRPr lang="en-US" sz="1800" dirty="0"/>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Debit</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Credit</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graphicFrame>
        <p:nvGraphicFramePr>
          <p:cNvPr id="110" name="Table 109"/>
          <p:cNvGraphicFramePr>
            <a:graphicFrameLocks noGrp="1"/>
          </p:cNvGraphicFramePr>
          <p:nvPr/>
        </p:nvGraphicFramePr>
        <p:xfrm>
          <a:off x="6418500" y="2516621"/>
          <a:ext cx="2252980" cy="1381760"/>
        </p:xfrm>
        <a:graphic>
          <a:graphicData uri="http://schemas.openxmlformats.org/drawingml/2006/table">
            <a:tbl>
              <a:tblPr firstRow="1" bandRow="1">
                <a:tableStyleId>{2D5ABB26-0587-4C30-8999-92F81FD0307C}</a:tableStyleId>
              </a:tblPr>
              <a:tblGrid>
                <a:gridCol w="1230820">
                  <a:extLst>
                    <a:ext uri="{9D8B030D-6E8A-4147-A177-3AD203B41FA5}">
                      <a16:colId xmlns:a16="http://schemas.microsoft.com/office/drawing/2014/main" val="20000"/>
                    </a:ext>
                  </a:extLst>
                </a:gridCol>
                <a:gridCol w="1022160">
                  <a:extLst>
                    <a:ext uri="{9D8B030D-6E8A-4147-A177-3AD203B41FA5}">
                      <a16:colId xmlns:a16="http://schemas.microsoft.com/office/drawing/2014/main" val="20001"/>
                    </a:ext>
                  </a:extLst>
                </a:gridCol>
              </a:tblGrid>
              <a:tr h="304800">
                <a:tc gridSpan="2">
                  <a:txBody>
                    <a:bodyPr/>
                    <a:lstStyle/>
                    <a:p>
                      <a:pPr algn="ctr"/>
                      <a:r>
                        <a:rPr lang="en-US" altLang="en-US" sz="1800" b="1" dirty="0"/>
                        <a:t>Retained Earnings</a:t>
                      </a:r>
                      <a:endParaRPr lang="en-US" sz="1800" dirty="0"/>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Debit</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Credit</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graphicFrame>
        <p:nvGraphicFramePr>
          <p:cNvPr id="112" name="Table 111"/>
          <p:cNvGraphicFramePr>
            <a:graphicFrameLocks noGrp="1"/>
          </p:cNvGraphicFramePr>
          <p:nvPr/>
        </p:nvGraphicFramePr>
        <p:xfrm>
          <a:off x="5227656" y="3882729"/>
          <a:ext cx="2373820" cy="1107440"/>
        </p:xfrm>
        <a:graphic>
          <a:graphicData uri="http://schemas.openxmlformats.org/drawingml/2006/table">
            <a:tbl>
              <a:tblPr firstRow="1" bandRow="1">
                <a:tableStyleId>{2D5ABB26-0587-4C30-8999-92F81FD0307C}</a:tableStyleId>
              </a:tblPr>
              <a:tblGrid>
                <a:gridCol w="1127379">
                  <a:extLst>
                    <a:ext uri="{9D8B030D-6E8A-4147-A177-3AD203B41FA5}">
                      <a16:colId xmlns:a16="http://schemas.microsoft.com/office/drawing/2014/main" val="20000"/>
                    </a:ext>
                  </a:extLst>
                </a:gridCol>
                <a:gridCol w="1246441">
                  <a:extLst>
                    <a:ext uri="{9D8B030D-6E8A-4147-A177-3AD203B41FA5}">
                      <a16:colId xmlns:a16="http://schemas.microsoft.com/office/drawing/2014/main" val="20001"/>
                    </a:ext>
                  </a:extLst>
                </a:gridCol>
              </a:tblGrid>
              <a:tr h="304800">
                <a:tc gridSpan="2">
                  <a:txBody>
                    <a:bodyPr/>
                    <a:lstStyle/>
                    <a:p>
                      <a:pPr algn="ctr"/>
                      <a:r>
                        <a:rPr lang="en-US" altLang="en-US" sz="1800" b="1" dirty="0"/>
                        <a:t>Revenue</a:t>
                      </a:r>
                      <a:endParaRPr lang="en-US" sz="1800" dirty="0"/>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Debit</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Credit</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graphicFrame>
        <p:nvGraphicFramePr>
          <p:cNvPr id="111" name="Table 110"/>
          <p:cNvGraphicFramePr>
            <a:graphicFrameLocks noGrp="1"/>
          </p:cNvGraphicFramePr>
          <p:nvPr/>
        </p:nvGraphicFramePr>
        <p:xfrm>
          <a:off x="3871968" y="5158033"/>
          <a:ext cx="2373820" cy="1107440"/>
        </p:xfrm>
        <a:graphic>
          <a:graphicData uri="http://schemas.openxmlformats.org/drawingml/2006/table">
            <a:tbl>
              <a:tblPr firstRow="1" bandRow="1">
                <a:tableStyleId>{2D5ABB26-0587-4C30-8999-92F81FD0307C}</a:tableStyleId>
              </a:tblPr>
              <a:tblGrid>
                <a:gridCol w="1127379">
                  <a:extLst>
                    <a:ext uri="{9D8B030D-6E8A-4147-A177-3AD203B41FA5}">
                      <a16:colId xmlns:a16="http://schemas.microsoft.com/office/drawing/2014/main" val="20000"/>
                    </a:ext>
                  </a:extLst>
                </a:gridCol>
                <a:gridCol w="1246441">
                  <a:extLst>
                    <a:ext uri="{9D8B030D-6E8A-4147-A177-3AD203B41FA5}">
                      <a16:colId xmlns:a16="http://schemas.microsoft.com/office/drawing/2014/main" val="20001"/>
                    </a:ext>
                  </a:extLst>
                </a:gridCol>
              </a:tblGrid>
              <a:tr h="304800">
                <a:tc gridSpan="2">
                  <a:txBody>
                    <a:bodyPr/>
                    <a:lstStyle/>
                    <a:p>
                      <a:pPr algn="ctr"/>
                      <a:r>
                        <a:rPr lang="en-US" altLang="en-US" sz="1800" b="1" dirty="0">
                          <a:solidFill>
                            <a:schemeClr val="tx1"/>
                          </a:solidFill>
                        </a:rPr>
                        <a:t>Dividends</a:t>
                      </a: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Debit</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Credit</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graphicFrame>
        <p:nvGraphicFramePr>
          <p:cNvPr id="113" name="Table 112"/>
          <p:cNvGraphicFramePr>
            <a:graphicFrameLocks noGrp="1"/>
          </p:cNvGraphicFramePr>
          <p:nvPr/>
        </p:nvGraphicFramePr>
        <p:xfrm>
          <a:off x="6451148" y="5158033"/>
          <a:ext cx="2373820" cy="1107440"/>
        </p:xfrm>
        <a:graphic>
          <a:graphicData uri="http://schemas.openxmlformats.org/drawingml/2006/table">
            <a:tbl>
              <a:tblPr firstRow="1" bandRow="1">
                <a:tableStyleId>{2D5ABB26-0587-4C30-8999-92F81FD0307C}</a:tableStyleId>
              </a:tblPr>
              <a:tblGrid>
                <a:gridCol w="1127379">
                  <a:extLst>
                    <a:ext uri="{9D8B030D-6E8A-4147-A177-3AD203B41FA5}">
                      <a16:colId xmlns:a16="http://schemas.microsoft.com/office/drawing/2014/main" val="20000"/>
                    </a:ext>
                  </a:extLst>
                </a:gridCol>
                <a:gridCol w="1246441">
                  <a:extLst>
                    <a:ext uri="{9D8B030D-6E8A-4147-A177-3AD203B41FA5}">
                      <a16:colId xmlns:a16="http://schemas.microsoft.com/office/drawing/2014/main" val="20001"/>
                    </a:ext>
                  </a:extLst>
                </a:gridCol>
              </a:tblGrid>
              <a:tr h="304800">
                <a:tc gridSpan="2">
                  <a:txBody>
                    <a:bodyPr/>
                    <a:lstStyle/>
                    <a:p>
                      <a:pPr algn="ctr"/>
                      <a:r>
                        <a:rPr lang="en-US" altLang="en-US" sz="1800" b="1" dirty="0">
                          <a:solidFill>
                            <a:schemeClr val="tx1"/>
                          </a:solidFill>
                        </a:rPr>
                        <a:t>Expenses</a:t>
                      </a: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Debit</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Credit</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t>
                      </a:r>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1F0CBA27-D1CD-F6FC-64B8-CD5B94135E54}"/>
              </a:ext>
            </a:extLst>
          </p:cNvPr>
          <p:cNvSpPr txBox="1"/>
          <p:nvPr/>
        </p:nvSpPr>
        <p:spPr>
          <a:xfrm>
            <a:off x="302640" y="4615934"/>
            <a:ext cx="4377086" cy="369332"/>
          </a:xfrm>
          <a:prstGeom prst="rect">
            <a:avLst/>
          </a:prstGeom>
          <a:noFill/>
        </p:spPr>
        <p:txBody>
          <a:bodyPr wrap="square" rtlCol="0">
            <a:spAutoFit/>
          </a:bodyPr>
          <a:lstStyle/>
          <a:p>
            <a:r>
              <a:rPr lang="en-US" b="1" dirty="0">
                <a:solidFill>
                  <a:srgbClr val="C00000"/>
                </a:solidFill>
              </a:rPr>
              <a:t>KEY CONCEPTS SUMMARIZED…</a:t>
            </a:r>
          </a:p>
        </p:txBody>
      </p:sp>
    </p:spTree>
    <p:extLst>
      <p:ext uri="{BB962C8B-B14F-4D97-AF65-F5344CB8AC3E}">
        <p14:creationId xmlns:p14="http://schemas.microsoft.com/office/powerpoint/2010/main" val="1322581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of Debit and Credit </a:t>
            </a:r>
            <a:r>
              <a:rPr lang="en-US" sz="2000" b="0" dirty="0"/>
              <a:t>(2 of 3)</a:t>
            </a:r>
            <a:endParaRPr lang="en-US" b="0" dirty="0"/>
          </a:p>
        </p:txBody>
      </p:sp>
      <p:sp>
        <p:nvSpPr>
          <p:cNvPr id="3" name="Content Placeholder 2"/>
          <p:cNvSpPr>
            <a:spLocks noGrp="1"/>
          </p:cNvSpPr>
          <p:nvPr>
            <p:ph idx="1"/>
          </p:nvPr>
        </p:nvSpPr>
        <p:spPr>
          <a:xfrm>
            <a:off x="457200" y="1600200"/>
            <a:ext cx="8229600" cy="1676400"/>
          </a:xfrm>
        </p:spPr>
        <p:txBody>
          <a:bodyPr/>
          <a:lstStyle/>
          <a:p>
            <a:pPr marL="0" indent="0" algn="ctr">
              <a:spcAft>
                <a:spcPts val="1800"/>
              </a:spcAft>
              <a:buNone/>
            </a:pPr>
            <a:r>
              <a:rPr lang="en-US" altLang="en-US" dirty="0"/>
              <a:t>Tara Inc. received $50,000 and issued shares.</a:t>
            </a:r>
          </a:p>
          <a:p>
            <a:pPr marL="0" indent="0" algn="ctr">
              <a:buNone/>
              <a:defRPr/>
            </a:pPr>
            <a:r>
              <a:rPr lang="en-US" dirty="0">
                <a:latin typeface="Arial" charset="0"/>
                <a:cs typeface="Arial" charset="0"/>
              </a:rPr>
              <a:t>Assets  =    Liabilities  +   Shareholders’ Equity</a:t>
            </a:r>
            <a:endParaRPr lang="en-US" dirty="0"/>
          </a:p>
        </p:txBody>
      </p:sp>
      <p:graphicFrame>
        <p:nvGraphicFramePr>
          <p:cNvPr id="4" name="Table 3"/>
          <p:cNvGraphicFramePr>
            <a:graphicFrameLocks noGrp="1"/>
          </p:cNvGraphicFramePr>
          <p:nvPr/>
        </p:nvGraphicFramePr>
        <p:xfrm>
          <a:off x="902780" y="3421930"/>
          <a:ext cx="2373820" cy="1925320"/>
        </p:xfrm>
        <a:graphic>
          <a:graphicData uri="http://schemas.openxmlformats.org/drawingml/2006/table">
            <a:tbl>
              <a:tblPr firstRow="1" bandRow="1">
                <a:tableStyleId>{2D5ABB26-0587-4C30-8999-92F81FD0307C}</a:tableStyleId>
              </a:tblPr>
              <a:tblGrid>
                <a:gridCol w="1219200">
                  <a:extLst>
                    <a:ext uri="{9D8B030D-6E8A-4147-A177-3AD203B41FA5}">
                      <a16:colId xmlns:a16="http://schemas.microsoft.com/office/drawing/2014/main" val="20000"/>
                    </a:ext>
                  </a:extLst>
                </a:gridCol>
                <a:gridCol w="1154620">
                  <a:extLst>
                    <a:ext uri="{9D8B030D-6E8A-4147-A177-3AD203B41FA5}">
                      <a16:colId xmlns:a16="http://schemas.microsoft.com/office/drawing/2014/main" val="20001"/>
                    </a:ext>
                  </a:extLst>
                </a:gridCol>
              </a:tblGrid>
              <a:tr h="304800">
                <a:tc gridSpan="2">
                  <a:txBody>
                    <a:bodyPr/>
                    <a:lstStyle/>
                    <a:p>
                      <a:pPr algn="ctr"/>
                      <a:r>
                        <a:rPr lang="en-US" altLang="en-US" sz="1800" dirty="0"/>
                        <a:t>Cash</a:t>
                      </a: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eaLnBrk="1" hangingPunct="1"/>
                      <a:r>
                        <a:rPr lang="en-US" altLang="en-US" sz="1800" dirty="0"/>
                        <a:t>Debit</a:t>
                      </a:r>
                    </a:p>
                    <a:p>
                      <a:pPr algn="ctr" eaLnBrk="1" hangingPunct="1"/>
                      <a:r>
                        <a:rPr lang="en-US" altLang="en-US" sz="1800" dirty="0"/>
                        <a:t>for</a:t>
                      </a:r>
                    </a:p>
                    <a:p>
                      <a:pPr algn="ctr" eaLnBrk="1" hangingPunct="1"/>
                      <a:r>
                        <a:rPr lang="en-US" altLang="en-US" sz="1800" dirty="0"/>
                        <a:t>Increase,</a:t>
                      </a:r>
                    </a:p>
                    <a:p>
                      <a:pPr algn="ctr" eaLnBrk="1" hangingPunct="1"/>
                      <a:r>
                        <a:rPr lang="en-US" altLang="en-US" sz="1800" dirty="0"/>
                        <a:t>50,000</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nvGraphicFramePr>
        <p:xfrm>
          <a:off x="5638800" y="3432090"/>
          <a:ext cx="2286000" cy="2038643"/>
        </p:xfrm>
        <a:graphic>
          <a:graphicData uri="http://schemas.openxmlformats.org/drawingml/2006/table">
            <a:tbl>
              <a:tblPr firstRow="1" bandRow="1">
                <a:tableStyleId>{2D5ABB26-0587-4C30-8999-92F81FD0307C}</a:tableStyleId>
              </a:tblPr>
              <a:tblGrid>
                <a:gridCol w="1127379">
                  <a:extLst>
                    <a:ext uri="{9D8B030D-6E8A-4147-A177-3AD203B41FA5}">
                      <a16:colId xmlns:a16="http://schemas.microsoft.com/office/drawing/2014/main" val="20000"/>
                    </a:ext>
                  </a:extLst>
                </a:gridCol>
                <a:gridCol w="1158621">
                  <a:extLst>
                    <a:ext uri="{9D8B030D-6E8A-4147-A177-3AD203B41FA5}">
                      <a16:colId xmlns:a16="http://schemas.microsoft.com/office/drawing/2014/main" val="20001"/>
                    </a:ext>
                  </a:extLst>
                </a:gridCol>
              </a:tblGrid>
              <a:tr h="422031">
                <a:tc gridSpan="2">
                  <a:txBody>
                    <a:bodyPr/>
                    <a:lstStyle/>
                    <a:p>
                      <a:pPr algn="ctr"/>
                      <a:r>
                        <a:rPr lang="en-US" altLang="en-US" sz="1800" dirty="0"/>
                        <a:t>Common Shares</a:t>
                      </a: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05507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algn="ctr" eaLnBrk="1" hangingPunct="1"/>
                      <a:r>
                        <a:rPr lang="en-US" altLang="en-US" sz="1800" dirty="0"/>
                        <a:t>Credit for Increase,</a:t>
                      </a:r>
                    </a:p>
                    <a:p>
                      <a:pPr algn="ctr" eaLnBrk="1" hangingPunct="1"/>
                      <a:r>
                        <a:rPr lang="en-US" altLang="en-US" sz="1800" dirty="0"/>
                        <a:t>50,000</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42789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7508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of Debit and Credit </a:t>
            </a:r>
            <a:r>
              <a:rPr lang="en-US" sz="2000" b="0" dirty="0"/>
              <a:t>(3 of 3)</a:t>
            </a:r>
            <a:endParaRPr lang="en-US" b="0" dirty="0"/>
          </a:p>
        </p:txBody>
      </p:sp>
      <p:sp>
        <p:nvSpPr>
          <p:cNvPr id="3" name="Content Placeholder 2"/>
          <p:cNvSpPr>
            <a:spLocks noGrp="1"/>
          </p:cNvSpPr>
          <p:nvPr>
            <p:ph idx="1"/>
          </p:nvPr>
        </p:nvSpPr>
        <p:spPr>
          <a:xfrm>
            <a:off x="457200" y="1600201"/>
            <a:ext cx="8229600" cy="1132315"/>
          </a:xfrm>
        </p:spPr>
        <p:txBody>
          <a:bodyPr>
            <a:normAutofit lnSpcReduction="10000"/>
          </a:bodyPr>
          <a:lstStyle/>
          <a:p>
            <a:pPr marL="0" indent="0" algn="ctr">
              <a:spcBef>
                <a:spcPts val="1000"/>
              </a:spcBef>
              <a:spcAft>
                <a:spcPts val="1800"/>
              </a:spcAft>
              <a:buNone/>
              <a:defRPr/>
            </a:pPr>
            <a:r>
              <a:rPr lang="en-US" dirty="0"/>
              <a:t>Tara Inc. purchases land for $40,000 cash.</a:t>
            </a:r>
            <a:endParaRPr lang="en-US" dirty="0">
              <a:latin typeface="Arial" charset="0"/>
              <a:cs typeface="Arial" charset="0"/>
            </a:endParaRPr>
          </a:p>
          <a:p>
            <a:pPr marL="0" indent="0" algn="ctr">
              <a:spcBef>
                <a:spcPts val="1000"/>
              </a:spcBef>
              <a:buNone/>
              <a:defRPr/>
            </a:pPr>
            <a:r>
              <a:rPr lang="en-US" dirty="0">
                <a:latin typeface="Arial" charset="0"/>
                <a:cs typeface="Arial" charset="0"/>
              </a:rPr>
              <a:t>Assets 	=	Liabilities	+  Shareholders’ Equity</a:t>
            </a:r>
            <a:endParaRPr lang="en-US" dirty="0"/>
          </a:p>
        </p:txBody>
      </p:sp>
      <p:graphicFrame>
        <p:nvGraphicFramePr>
          <p:cNvPr id="4" name="Table 3"/>
          <p:cNvGraphicFramePr>
            <a:graphicFrameLocks noGrp="1"/>
          </p:cNvGraphicFramePr>
          <p:nvPr/>
        </p:nvGraphicFramePr>
        <p:xfrm>
          <a:off x="457200" y="2855067"/>
          <a:ext cx="3091780" cy="1647381"/>
        </p:xfrm>
        <a:graphic>
          <a:graphicData uri="http://schemas.openxmlformats.org/drawingml/2006/table">
            <a:tbl>
              <a:tblPr firstRow="1" bandRow="1">
                <a:tableStyleId>{2D5ABB26-0587-4C30-8999-92F81FD0307C}</a:tableStyleId>
              </a:tblPr>
              <a:tblGrid>
                <a:gridCol w="1611579">
                  <a:extLst>
                    <a:ext uri="{9D8B030D-6E8A-4147-A177-3AD203B41FA5}">
                      <a16:colId xmlns:a16="http://schemas.microsoft.com/office/drawing/2014/main" val="20000"/>
                    </a:ext>
                  </a:extLst>
                </a:gridCol>
                <a:gridCol w="1480201">
                  <a:extLst>
                    <a:ext uri="{9D8B030D-6E8A-4147-A177-3AD203B41FA5}">
                      <a16:colId xmlns:a16="http://schemas.microsoft.com/office/drawing/2014/main" val="20001"/>
                    </a:ext>
                  </a:extLst>
                </a:gridCol>
              </a:tblGrid>
              <a:tr h="196567">
                <a:tc gridSpan="2">
                  <a:txBody>
                    <a:bodyPr/>
                    <a:lstStyle/>
                    <a:p>
                      <a:pPr algn="ctr"/>
                      <a:r>
                        <a:rPr lang="en-US" altLang="en-US" sz="1800" dirty="0"/>
                        <a:t>Cash</a:t>
                      </a: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91758">
                <a:tc>
                  <a:txBody>
                    <a:bodyPr/>
                    <a:lstStyle/>
                    <a:p>
                      <a:pPr algn="ctr" eaLnBrk="1" hangingPunct="1"/>
                      <a:r>
                        <a:rPr lang="en-US" altLang="en-US" sz="1800" dirty="0"/>
                        <a:t>Bal. 50,000</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algn="ctr" eaLnBrk="1" hangingPunct="1">
                        <a:lnSpc>
                          <a:spcPct val="75000"/>
                        </a:lnSpc>
                      </a:pPr>
                      <a:r>
                        <a:rPr lang="en-US" altLang="en-US" sz="1800" dirty="0"/>
                        <a:t>Credit</a:t>
                      </a:r>
                    </a:p>
                    <a:p>
                      <a:pPr algn="ctr" eaLnBrk="1" hangingPunct="1">
                        <a:lnSpc>
                          <a:spcPct val="75000"/>
                        </a:lnSpc>
                      </a:pPr>
                      <a:r>
                        <a:rPr lang="en-US" altLang="en-US" sz="1800" dirty="0"/>
                        <a:t>for</a:t>
                      </a:r>
                    </a:p>
                    <a:p>
                      <a:pPr algn="ctr" eaLnBrk="1" hangingPunct="1">
                        <a:lnSpc>
                          <a:spcPct val="75000"/>
                        </a:lnSpc>
                      </a:pPr>
                      <a:r>
                        <a:rPr lang="en-US" altLang="en-US" sz="1800" dirty="0"/>
                        <a:t>Decrease,</a:t>
                      </a:r>
                    </a:p>
                    <a:p>
                      <a:pPr algn="ctr" eaLnBrk="1" hangingPunct="1">
                        <a:lnSpc>
                          <a:spcPct val="75000"/>
                        </a:lnSpc>
                      </a:pPr>
                      <a:r>
                        <a:rPr lang="en-US" altLang="en-US" sz="1800" dirty="0"/>
                        <a:t>40,000</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1965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nvGraphicFramePr>
        <p:xfrm>
          <a:off x="1078528" y="4601189"/>
          <a:ext cx="2205168" cy="1769762"/>
        </p:xfrm>
        <a:graphic>
          <a:graphicData uri="http://schemas.openxmlformats.org/drawingml/2006/table">
            <a:tbl>
              <a:tblPr firstRow="1" bandRow="1">
                <a:tableStyleId>{2D5ABB26-0587-4C30-8999-92F81FD0307C}</a:tableStyleId>
              </a:tblPr>
              <a:tblGrid>
                <a:gridCol w="1186180">
                  <a:extLst>
                    <a:ext uri="{9D8B030D-6E8A-4147-A177-3AD203B41FA5}">
                      <a16:colId xmlns:a16="http://schemas.microsoft.com/office/drawing/2014/main" val="20000"/>
                    </a:ext>
                  </a:extLst>
                </a:gridCol>
                <a:gridCol w="1018988">
                  <a:extLst>
                    <a:ext uri="{9D8B030D-6E8A-4147-A177-3AD203B41FA5}">
                      <a16:colId xmlns:a16="http://schemas.microsoft.com/office/drawing/2014/main" val="20001"/>
                    </a:ext>
                  </a:extLst>
                </a:gridCol>
              </a:tblGrid>
              <a:tr h="392070">
                <a:tc gridSpan="2">
                  <a:txBody>
                    <a:bodyPr/>
                    <a:lstStyle/>
                    <a:p>
                      <a:pPr algn="ctr"/>
                      <a:r>
                        <a:rPr lang="en-US" altLang="en-US" sz="1800" dirty="0"/>
                        <a:t>Land</a:t>
                      </a: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80176">
                <a:tc>
                  <a:txBody>
                    <a:bodyPr/>
                    <a:lstStyle/>
                    <a:p>
                      <a:pPr algn="ctr" eaLnBrk="1" hangingPunct="1">
                        <a:lnSpc>
                          <a:spcPct val="75000"/>
                        </a:lnSpc>
                      </a:pPr>
                      <a:r>
                        <a:rPr lang="en-US" altLang="en-US" sz="1800" dirty="0"/>
                        <a:t>Debit</a:t>
                      </a:r>
                    </a:p>
                    <a:p>
                      <a:pPr algn="ctr" eaLnBrk="1" hangingPunct="1">
                        <a:lnSpc>
                          <a:spcPct val="75000"/>
                        </a:lnSpc>
                      </a:pPr>
                      <a:r>
                        <a:rPr lang="en-US" altLang="en-US" sz="1800" dirty="0"/>
                        <a:t>for</a:t>
                      </a:r>
                    </a:p>
                    <a:p>
                      <a:pPr algn="ctr" eaLnBrk="1" hangingPunct="1">
                        <a:lnSpc>
                          <a:spcPct val="75000"/>
                        </a:lnSpc>
                      </a:pPr>
                      <a:r>
                        <a:rPr lang="en-US" altLang="en-US" sz="1800" dirty="0"/>
                        <a:t>Increase,</a:t>
                      </a:r>
                    </a:p>
                    <a:p>
                      <a:pPr algn="ctr" eaLnBrk="1" hangingPunct="1">
                        <a:lnSpc>
                          <a:spcPct val="75000"/>
                        </a:lnSpc>
                      </a:pPr>
                      <a:r>
                        <a:rPr lang="en-US" altLang="en-US" sz="1800" dirty="0"/>
                        <a:t>40,000</a:t>
                      </a:r>
                      <a:endParaRPr lang="en-US" altLang="en-US" sz="1800" b="1"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algn="ctr" eaLnBrk="1" hangingPunct="1">
                        <a:lnSpc>
                          <a:spcPct val="75000"/>
                        </a:lnSpc>
                      </a:pP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9751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nvGraphicFramePr>
        <p:xfrm>
          <a:off x="5387600" y="2992191"/>
          <a:ext cx="2529459" cy="1473760"/>
        </p:xfrm>
        <a:graphic>
          <a:graphicData uri="http://schemas.openxmlformats.org/drawingml/2006/table">
            <a:tbl>
              <a:tblPr firstRow="1" bandRow="1">
                <a:tableStyleId>{2D5ABB26-0587-4C30-8999-92F81FD0307C}</a:tableStyleId>
              </a:tblPr>
              <a:tblGrid>
                <a:gridCol w="1127379">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tblGrid>
              <a:tr h="427056">
                <a:tc gridSpan="2">
                  <a:txBody>
                    <a:bodyPr/>
                    <a:lstStyle/>
                    <a:p>
                      <a:pPr algn="ctr"/>
                      <a:r>
                        <a:rPr lang="en-US" altLang="en-US" sz="1800" dirty="0"/>
                        <a:t>Common Shares</a:t>
                      </a: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2335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algn="ctr" eaLnBrk="1" hangingPunct="1"/>
                      <a:r>
                        <a:rPr lang="en-US" altLang="en-US" sz="1800" dirty="0"/>
                        <a:t>Bal. 50,000</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52335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937652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Normal Balances of Accounts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172608095"/>
              </p:ext>
            </p:extLst>
          </p:nvPr>
        </p:nvGraphicFramePr>
        <p:xfrm>
          <a:off x="790691" y="2602404"/>
          <a:ext cx="7076292" cy="2966720"/>
        </p:xfrm>
        <a:graphic>
          <a:graphicData uri="http://schemas.openxmlformats.org/drawingml/2006/table">
            <a:tbl>
              <a:tblPr firstRow="1" bandRow="1">
                <a:tableStyleId>{2D5ABB26-0587-4C30-8999-92F81FD0307C}</a:tableStyleId>
              </a:tblPr>
              <a:tblGrid>
                <a:gridCol w="4028292">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70840">
                <a:tc>
                  <a:txBody>
                    <a:bodyPr/>
                    <a:lstStyle/>
                    <a:p>
                      <a:r>
                        <a:rPr kumimoji="0" lang="en-US" sz="1800" b="0" i="0" u="none" strike="noStrike" cap="none" normalizeH="0" baseline="0" dirty="0">
                          <a:ln>
                            <a:noFill/>
                          </a:ln>
                          <a:solidFill>
                            <a:schemeClr val="tx1"/>
                          </a:solidFill>
                          <a:effectLst/>
                          <a:latin typeface="+mn-ea"/>
                          <a:ea typeface="+mn-ea"/>
                        </a:rPr>
                        <a:t>Assets</a:t>
                      </a:r>
                      <a:endParaRPr lang="en-US" sz="1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ea"/>
                          <a:ea typeface="+mn-ea"/>
                        </a:rPr>
                        <a:t>Debit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ea"/>
                          <a:ea typeface="+mn-ea"/>
                        </a:rPr>
                        <a:t>Liabilities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ea"/>
                          <a:ea typeface="+mn-ea"/>
                        </a:rPr>
                        <a:t>Credit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ea"/>
                          <a:ea typeface="+mn-ea"/>
                        </a:rPr>
                        <a:t>Shareholders</a:t>
                      </a:r>
                      <a:r>
                        <a:rPr lang="ja-JP" altLang="en-US" dirty="0"/>
                        <a:t>’</a:t>
                      </a:r>
                      <a:r>
                        <a:rPr lang="en-US" altLang="ja-JP" dirty="0"/>
                        <a:t> </a:t>
                      </a:r>
                      <a:r>
                        <a:rPr kumimoji="0" lang="en-US" altLang="ja-JP" sz="1800" b="0" i="0" u="none" strike="noStrike" cap="none" normalizeH="0" baseline="0" dirty="0">
                          <a:ln>
                            <a:noFill/>
                          </a:ln>
                          <a:solidFill>
                            <a:schemeClr val="tx1"/>
                          </a:solidFill>
                          <a:effectLst/>
                          <a:latin typeface="+mn-ea"/>
                          <a:ea typeface="+mn-ea"/>
                        </a:rPr>
                        <a:t>Equity—overall</a:t>
                      </a:r>
                      <a:endParaRPr kumimoji="0" lang="en-US" sz="1800" b="0" i="0" u="none" strike="noStrike" cap="none" normalizeH="0" baseline="0" dirty="0">
                        <a:ln>
                          <a:noFill/>
                        </a:ln>
                        <a:solidFill>
                          <a:schemeClr val="tx1"/>
                        </a:solidFill>
                        <a:effectLst/>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ea"/>
                          <a:ea typeface="+mn-ea"/>
                        </a:rPr>
                        <a:t>Credit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268288"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n-ea"/>
                          <a:ea typeface="+mn-ea"/>
                        </a:rPr>
                        <a:t>Common Shares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ea"/>
                          <a:ea typeface="+mn-ea"/>
                        </a:rPr>
                        <a:t>Credit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n-ea"/>
                          <a:ea typeface="+mn-ea"/>
                        </a:rPr>
                        <a:t>Retained Earnings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ea"/>
                          <a:ea typeface="+mn-ea"/>
                        </a:rPr>
                        <a:t>Credit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n-ea"/>
                          <a:ea typeface="+mn-ea"/>
                        </a:rPr>
                        <a:t>Dividends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ea"/>
                          <a:ea typeface="+mn-ea"/>
                        </a:rPr>
                        <a:t>Debit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n-ea"/>
                          <a:ea typeface="+mn-ea"/>
                        </a:rPr>
                        <a:t>Revenues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US" sz="1800" b="0" i="0" u="none" strike="noStrike" cap="none" normalizeH="0" baseline="0" dirty="0">
                          <a:ln>
                            <a:noFill/>
                          </a:ln>
                          <a:solidFill>
                            <a:schemeClr val="tx1"/>
                          </a:solidFill>
                          <a:effectLst/>
                          <a:latin typeface="+mn-ea"/>
                          <a:ea typeface="+mn-ea"/>
                        </a:rPr>
                        <a:t>Credit</a:t>
                      </a:r>
                      <a:endParaRPr lang="en-US" sz="18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27432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n-ea"/>
                          <a:ea typeface="+mn-ea"/>
                        </a:rPr>
                        <a:t>Expenses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US" sz="1800" b="0" i="0" u="none" strike="noStrike" cap="none" normalizeH="0" baseline="0" dirty="0">
                          <a:ln>
                            <a:noFill/>
                          </a:ln>
                          <a:solidFill>
                            <a:schemeClr val="tx1"/>
                          </a:solidFill>
                          <a:effectLst/>
                          <a:latin typeface="+mn-ea"/>
                          <a:ea typeface="+mn-ea"/>
                        </a:rPr>
                        <a:t>Debit</a:t>
                      </a:r>
                      <a:endParaRPr lang="en-US" sz="18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 name="TextBox 2">
            <a:extLst>
              <a:ext uri="{FF2B5EF4-FFF2-40B4-BE49-F238E27FC236}">
                <a16:creationId xmlns:a16="http://schemas.microsoft.com/office/drawing/2014/main" id="{C09DBCFB-16D1-FAA7-ABAE-C6F9BAEA6976}"/>
              </a:ext>
            </a:extLst>
          </p:cNvPr>
          <p:cNvSpPr txBox="1"/>
          <p:nvPr/>
        </p:nvSpPr>
        <p:spPr>
          <a:xfrm>
            <a:off x="790691" y="1429016"/>
            <a:ext cx="4040760" cy="745213"/>
          </a:xfrm>
          <a:prstGeom prst="rect">
            <a:avLst/>
          </a:prstGeom>
          <a:noFill/>
        </p:spPr>
        <p:txBody>
          <a:bodyPr wrap="square" rtlCol="0">
            <a:spAutoFit/>
          </a:bodyPr>
          <a:lstStyle/>
          <a:p>
            <a:r>
              <a:rPr lang="en-US" sz="1400" b="1" dirty="0">
                <a:solidFill>
                  <a:srgbClr val="C00000"/>
                </a:solidFill>
              </a:rPr>
              <a:t>If you remember that Assets are normally DEBITS (assets are increased on the Debit side of the T-Account)…</a:t>
            </a:r>
          </a:p>
        </p:txBody>
      </p:sp>
      <p:sp>
        <p:nvSpPr>
          <p:cNvPr id="6" name="TextBox 5">
            <a:extLst>
              <a:ext uri="{FF2B5EF4-FFF2-40B4-BE49-F238E27FC236}">
                <a16:creationId xmlns:a16="http://schemas.microsoft.com/office/drawing/2014/main" id="{186253FF-9017-0B09-4708-696062300633}"/>
              </a:ext>
            </a:extLst>
          </p:cNvPr>
          <p:cNvSpPr txBox="1"/>
          <p:nvPr/>
        </p:nvSpPr>
        <p:spPr>
          <a:xfrm>
            <a:off x="4831451" y="1427211"/>
            <a:ext cx="4040760" cy="954107"/>
          </a:xfrm>
          <a:prstGeom prst="rect">
            <a:avLst/>
          </a:prstGeom>
          <a:noFill/>
        </p:spPr>
        <p:txBody>
          <a:bodyPr wrap="square" rtlCol="0">
            <a:spAutoFit/>
          </a:bodyPr>
          <a:lstStyle/>
          <a:p>
            <a:r>
              <a:rPr lang="en-US" sz="1400" b="1" dirty="0">
                <a:solidFill>
                  <a:srgbClr val="C00000"/>
                </a:solidFill>
              </a:rPr>
              <a:t>… then it should make sense that Liabilities and Equity are normally CREDITS because they are on the other side of the accounting equation</a:t>
            </a:r>
          </a:p>
        </p:txBody>
      </p:sp>
      <p:sp>
        <p:nvSpPr>
          <p:cNvPr id="7" name="Down Arrow 6">
            <a:extLst>
              <a:ext uri="{FF2B5EF4-FFF2-40B4-BE49-F238E27FC236}">
                <a16:creationId xmlns:a16="http://schemas.microsoft.com/office/drawing/2014/main" id="{5BCDF30A-D8E8-7984-82C6-497B3421F140}"/>
              </a:ext>
            </a:extLst>
          </p:cNvPr>
          <p:cNvSpPr/>
          <p:nvPr/>
        </p:nvSpPr>
        <p:spPr>
          <a:xfrm rot="18222509">
            <a:off x="4061162" y="1620471"/>
            <a:ext cx="168586" cy="15144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a:extLst>
              <a:ext uri="{FF2B5EF4-FFF2-40B4-BE49-F238E27FC236}">
                <a16:creationId xmlns:a16="http://schemas.microsoft.com/office/drawing/2014/main" id="{108885A3-27F2-668B-704E-5F2285C2FAF8}"/>
              </a:ext>
            </a:extLst>
          </p:cNvPr>
          <p:cNvSpPr/>
          <p:nvPr/>
        </p:nvSpPr>
        <p:spPr>
          <a:xfrm>
            <a:off x="6927574" y="2381318"/>
            <a:ext cx="149088" cy="6600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53B8EB-8B4E-29DB-7DCC-F72C6AFF7393}"/>
              </a:ext>
            </a:extLst>
          </p:cNvPr>
          <p:cNvSpPr txBox="1"/>
          <p:nvPr/>
        </p:nvSpPr>
        <p:spPr>
          <a:xfrm>
            <a:off x="1798983" y="5724298"/>
            <a:ext cx="5019260" cy="954107"/>
          </a:xfrm>
          <a:prstGeom prst="rect">
            <a:avLst/>
          </a:prstGeom>
          <a:noFill/>
        </p:spPr>
        <p:txBody>
          <a:bodyPr wrap="square" rtlCol="0">
            <a:spAutoFit/>
          </a:bodyPr>
          <a:lstStyle/>
          <a:p>
            <a:r>
              <a:rPr lang="en-US" sz="1400" b="1" dirty="0">
                <a:solidFill>
                  <a:srgbClr val="C00000"/>
                </a:solidFill>
              </a:rPr>
              <a:t>Once you understand why the normal balance of Liabilities and Equity is on the CREDIT side, think about where Dividends, Revenue and Expenses are in the expanded accounting equation…</a:t>
            </a:r>
          </a:p>
        </p:txBody>
      </p:sp>
    </p:spTree>
    <p:extLst>
      <p:ext uri="{BB962C8B-B14F-4D97-AF65-F5344CB8AC3E}">
        <p14:creationId xmlns:p14="http://schemas.microsoft.com/office/powerpoint/2010/main" val="1324904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8600"/>
            <a:ext cx="8229600" cy="1554480"/>
          </a:xfrm>
        </p:spPr>
        <p:txBody>
          <a:bodyPr/>
          <a:lstStyle/>
          <a:p>
            <a:r>
              <a:rPr lang="en-US" dirty="0"/>
              <a:t>Additional Shareholders</a:t>
            </a:r>
            <a:r>
              <a:rPr lang="en-US" altLang="en-US" dirty="0"/>
              <a:t>’</a:t>
            </a:r>
            <a:r>
              <a:rPr lang="en-US" dirty="0"/>
              <a:t> Equity Accounts: Revenues, Expenses, and Dividends</a:t>
            </a:r>
          </a:p>
        </p:txBody>
      </p:sp>
      <p:sp>
        <p:nvSpPr>
          <p:cNvPr id="5" name="Text Placeholder 4"/>
          <p:cNvSpPr>
            <a:spLocks noGrp="1"/>
          </p:cNvSpPr>
          <p:nvPr>
            <p:ph type="body" idx="1"/>
          </p:nvPr>
        </p:nvSpPr>
        <p:spPr>
          <a:xfrm>
            <a:off x="899312" y="2179472"/>
            <a:ext cx="2286000" cy="3383280"/>
          </a:xfrm>
        </p:spPr>
        <p:txBody>
          <a:bodyPr/>
          <a:lstStyle/>
          <a:p>
            <a:r>
              <a:rPr lang="en-US" sz="2800" dirty="0"/>
              <a:t>Assets</a:t>
            </a:r>
            <a:endParaRPr lang="en-US" dirty="0"/>
          </a:p>
        </p:txBody>
      </p:sp>
      <p:sp>
        <p:nvSpPr>
          <p:cNvPr id="6" name="Content Placeholder 5"/>
          <p:cNvSpPr>
            <a:spLocks noGrp="1"/>
          </p:cNvSpPr>
          <p:nvPr>
            <p:ph sz="half" idx="2"/>
          </p:nvPr>
        </p:nvSpPr>
        <p:spPr>
          <a:xfrm>
            <a:off x="3342904" y="2186680"/>
            <a:ext cx="2560320" cy="1645920"/>
          </a:xfrm>
        </p:spPr>
        <p:txBody>
          <a:bodyPr/>
          <a:lstStyle/>
          <a:p>
            <a:r>
              <a:rPr lang="en-US" sz="2800" dirty="0"/>
              <a:t>Liabilities</a:t>
            </a:r>
            <a:endParaRPr lang="en-US" dirty="0"/>
          </a:p>
        </p:txBody>
      </p:sp>
      <p:sp>
        <p:nvSpPr>
          <p:cNvPr id="7" name="Text Placeholder 6"/>
          <p:cNvSpPr>
            <a:spLocks noGrp="1"/>
          </p:cNvSpPr>
          <p:nvPr>
            <p:ph type="body" sz="quarter" idx="3"/>
          </p:nvPr>
        </p:nvSpPr>
        <p:spPr>
          <a:xfrm>
            <a:off x="3342904" y="3918848"/>
            <a:ext cx="2560320" cy="1645920"/>
          </a:xfrm>
        </p:spPr>
        <p:txBody>
          <a:bodyPr/>
          <a:lstStyle/>
          <a:p>
            <a:pPr marL="256032" indent="-256032"/>
            <a:r>
              <a:rPr lang="en-US" altLang="en-US" sz="2800" dirty="0"/>
              <a:t>Shareholders</a:t>
            </a:r>
            <a:r>
              <a:rPr lang="ja-JP" altLang="en-US" sz="2800" dirty="0"/>
              <a:t>’</a:t>
            </a:r>
            <a:r>
              <a:rPr lang="en-US" altLang="ja-JP" sz="2800" dirty="0"/>
              <a:t> Equity</a:t>
            </a:r>
            <a:endParaRPr lang="en-US" sz="2800" dirty="0"/>
          </a:p>
        </p:txBody>
      </p:sp>
      <p:sp>
        <p:nvSpPr>
          <p:cNvPr id="8" name="Content Placeholder 7"/>
          <p:cNvSpPr>
            <a:spLocks noGrp="1"/>
          </p:cNvSpPr>
          <p:nvPr>
            <p:ph sz="quarter" idx="4"/>
          </p:nvPr>
        </p:nvSpPr>
        <p:spPr>
          <a:xfrm>
            <a:off x="6043072" y="3277424"/>
            <a:ext cx="2286000" cy="2286000"/>
          </a:xfrm>
        </p:spPr>
        <p:txBody>
          <a:bodyPr>
            <a:normAutofit fontScale="85000" lnSpcReduction="20000"/>
          </a:bodyPr>
          <a:lstStyle/>
          <a:p>
            <a:pPr marL="0" indent="0">
              <a:spcBef>
                <a:spcPts val="0"/>
              </a:spcBef>
            </a:pPr>
            <a:r>
              <a:rPr lang="en-US" altLang="en-US" sz="1600" dirty="0"/>
              <a:t>Common Shares</a:t>
            </a:r>
            <a:br>
              <a:rPr lang="en-US" altLang="en-US" sz="1600" dirty="0"/>
            </a:br>
            <a:r>
              <a:rPr lang="en-US" altLang="en-US" sz="1600" b="1" dirty="0"/>
              <a:t>+</a:t>
            </a:r>
          </a:p>
          <a:p>
            <a:pPr marL="0" indent="0">
              <a:spcBef>
                <a:spcPts val="0"/>
              </a:spcBef>
            </a:pPr>
            <a:r>
              <a:rPr lang="en-US" altLang="en-US" sz="1600" dirty="0"/>
              <a:t>Retained Earnings</a:t>
            </a:r>
          </a:p>
          <a:p>
            <a:pPr marL="0" indent="0">
              <a:spcBef>
                <a:spcPts val="0"/>
              </a:spcBef>
            </a:pPr>
            <a:r>
              <a:rPr lang="en-US" sz="1600" b="1" dirty="0"/>
              <a:t>−</a:t>
            </a:r>
          </a:p>
          <a:p>
            <a:pPr marL="0" indent="0">
              <a:spcBef>
                <a:spcPts val="0"/>
              </a:spcBef>
            </a:pPr>
            <a:r>
              <a:rPr lang="en-US" altLang="en-US" sz="1600" dirty="0"/>
              <a:t>Dividends</a:t>
            </a:r>
          </a:p>
          <a:p>
            <a:pPr marL="0" indent="0">
              <a:spcBef>
                <a:spcPts val="0"/>
              </a:spcBef>
            </a:pPr>
            <a:r>
              <a:rPr lang="en-US" sz="1600" b="1" dirty="0"/>
              <a:t>+</a:t>
            </a:r>
            <a:br>
              <a:rPr lang="en-US" altLang="en-US" sz="1600" dirty="0"/>
            </a:br>
            <a:r>
              <a:rPr lang="en-US" altLang="en-US" sz="1600" dirty="0"/>
              <a:t>Revenues</a:t>
            </a:r>
            <a:br>
              <a:rPr lang="en-US" sz="1600" dirty="0"/>
            </a:br>
            <a:r>
              <a:rPr lang="en-US" sz="1600" b="1" dirty="0"/>
              <a:t>−</a:t>
            </a:r>
            <a:endParaRPr lang="en-US" altLang="en-US" sz="1600" b="1" dirty="0"/>
          </a:p>
          <a:p>
            <a:pPr marL="0" indent="0">
              <a:spcBef>
                <a:spcPts val="0"/>
              </a:spcBef>
            </a:pPr>
            <a:r>
              <a:rPr lang="en-US" altLang="en-US" sz="1600" dirty="0"/>
              <a:t>Expenses</a:t>
            </a:r>
            <a:endParaRPr lang="en-US" sz="1400" dirty="0"/>
          </a:p>
        </p:txBody>
      </p:sp>
    </p:spTree>
    <p:extLst>
      <p:ext uri="{BB962C8B-B14F-4D97-AF65-F5344CB8AC3E}">
        <p14:creationId xmlns:p14="http://schemas.microsoft.com/office/powerpoint/2010/main" val="18944135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Four</a:t>
            </a:r>
          </a:p>
        </p:txBody>
      </p:sp>
      <p:sp>
        <p:nvSpPr>
          <p:cNvPr id="3" name="Content Placeholder 2"/>
          <p:cNvSpPr>
            <a:spLocks noGrp="1"/>
          </p:cNvSpPr>
          <p:nvPr>
            <p:ph type="subTitle" idx="1"/>
          </p:nvPr>
        </p:nvSpPr>
        <p:spPr/>
        <p:txBody>
          <a:bodyPr>
            <a:normAutofit lnSpcReduction="10000"/>
          </a:bodyPr>
          <a:lstStyle/>
          <a:p>
            <a:r>
              <a:rPr lang="en-US" b="1" dirty="0">
                <a:ea typeface="ＭＳ Ｐゴシック" pitchFamily="34" charset="-128"/>
              </a:rPr>
              <a:t>Record</a:t>
            </a:r>
            <a:r>
              <a:rPr lang="en-US" dirty="0">
                <a:ea typeface="ＭＳ Ｐゴシック" pitchFamily="34" charset="-128"/>
              </a:rPr>
              <a:t> business transactions in the journal and post them to the ledger</a:t>
            </a:r>
            <a:endParaRPr lang="en-US" dirty="0"/>
          </a:p>
        </p:txBody>
      </p:sp>
    </p:spTree>
    <p:extLst>
      <p:ext uri="{BB962C8B-B14F-4D97-AF65-F5344CB8AC3E}">
        <p14:creationId xmlns:p14="http://schemas.microsoft.com/office/powerpoint/2010/main" val="687793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The Journal</a:t>
            </a:r>
            <a:endParaRPr lang="en-US" dirty="0"/>
          </a:p>
        </p:txBody>
      </p:sp>
      <p:sp>
        <p:nvSpPr>
          <p:cNvPr id="3" name="Content Placeholder 2"/>
          <p:cNvSpPr>
            <a:spLocks noGrp="1"/>
          </p:cNvSpPr>
          <p:nvPr>
            <p:ph idx="1"/>
          </p:nvPr>
        </p:nvSpPr>
        <p:spPr/>
        <p:txBody>
          <a:bodyPr/>
          <a:lstStyle/>
          <a:p>
            <a:r>
              <a:rPr lang="en-US" dirty="0">
                <a:ea typeface="ＭＳ Ｐゴシック" pitchFamily="34" charset="-128"/>
              </a:rPr>
              <a:t>Chronological record of transactions</a:t>
            </a:r>
          </a:p>
          <a:p>
            <a:r>
              <a:rPr lang="en-US" dirty="0">
                <a:ea typeface="ＭＳ Ｐゴシック" pitchFamily="34" charset="-128"/>
              </a:rPr>
              <a:t>Three steps</a:t>
            </a:r>
          </a:p>
          <a:p>
            <a:pPr lvl="1"/>
            <a:r>
              <a:rPr lang="en-US" dirty="0">
                <a:ea typeface="ＭＳ Ｐゴシック" pitchFamily="34" charset="-128"/>
              </a:rPr>
              <a:t>Specify each account affected by the transaction</a:t>
            </a:r>
          </a:p>
          <a:p>
            <a:pPr lvl="1"/>
            <a:r>
              <a:rPr lang="en-US" dirty="0">
                <a:ea typeface="ＭＳ Ｐゴシック" pitchFamily="34" charset="-128"/>
              </a:rPr>
              <a:t>Determine if each account is increased or decreased</a:t>
            </a:r>
          </a:p>
          <a:p>
            <a:pPr lvl="2"/>
            <a:r>
              <a:rPr lang="en-US" dirty="0">
                <a:ea typeface="ＭＳ Ｐゴシック" pitchFamily="34" charset="-128"/>
              </a:rPr>
              <a:t>Use rules of debit and credit</a:t>
            </a:r>
          </a:p>
          <a:p>
            <a:pPr lvl="1"/>
            <a:r>
              <a:rPr lang="en-US" dirty="0">
                <a:ea typeface="ＭＳ Ｐゴシック" pitchFamily="34" charset="-128"/>
              </a:rPr>
              <a:t>Record in journal</a:t>
            </a:r>
          </a:p>
        </p:txBody>
      </p:sp>
    </p:spTree>
    <p:extLst>
      <p:ext uri="{BB962C8B-B14F-4D97-AF65-F5344CB8AC3E}">
        <p14:creationId xmlns:p14="http://schemas.microsoft.com/office/powerpoint/2010/main" val="2526754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Journal Entry</a:t>
            </a:r>
            <a:endParaRPr lang="en-US" dirty="0"/>
          </a:p>
        </p:txBody>
      </p:sp>
      <p:graphicFrame>
        <p:nvGraphicFramePr>
          <p:cNvPr id="4" name="Content Placeholder 3"/>
          <p:cNvGraphicFramePr>
            <a:graphicFrameLocks noGrp="1"/>
          </p:cNvGraphicFramePr>
          <p:nvPr>
            <p:ph idx="1"/>
          </p:nvPr>
        </p:nvGraphicFramePr>
        <p:xfrm>
          <a:off x="457200" y="2667000"/>
          <a:ext cx="8229598" cy="2225040"/>
        </p:xfrm>
        <a:graphic>
          <a:graphicData uri="http://schemas.openxmlformats.org/drawingml/2006/table">
            <a:tbl>
              <a:tblPr firstRow="1" bandRow="1">
                <a:tableStyleId>{2D5ABB26-0587-4C30-8999-92F81FD0307C}</a:tableStyleId>
              </a:tblPr>
              <a:tblGrid>
                <a:gridCol w="1140061">
                  <a:extLst>
                    <a:ext uri="{9D8B030D-6E8A-4147-A177-3AD203B41FA5}">
                      <a16:colId xmlns:a16="http://schemas.microsoft.com/office/drawing/2014/main" val="20000"/>
                    </a:ext>
                  </a:extLst>
                </a:gridCol>
                <a:gridCol w="4342342">
                  <a:extLst>
                    <a:ext uri="{9D8B030D-6E8A-4147-A177-3AD203B41FA5}">
                      <a16:colId xmlns:a16="http://schemas.microsoft.com/office/drawing/2014/main" val="20001"/>
                    </a:ext>
                  </a:extLst>
                </a:gridCol>
                <a:gridCol w="1485822">
                  <a:extLst>
                    <a:ext uri="{9D8B030D-6E8A-4147-A177-3AD203B41FA5}">
                      <a16:colId xmlns:a16="http://schemas.microsoft.com/office/drawing/2014/main" val="20002"/>
                    </a:ext>
                  </a:extLst>
                </a:gridCol>
                <a:gridCol w="1261373">
                  <a:extLst>
                    <a:ext uri="{9D8B030D-6E8A-4147-A177-3AD203B41FA5}">
                      <a16:colId xmlns:a16="http://schemas.microsoft.com/office/drawing/2014/main" val="20003"/>
                    </a:ext>
                  </a:extLst>
                </a:gridCol>
              </a:tblGrid>
              <a:tr h="37084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mn-lt"/>
                          <a:ea typeface="ＭＳ Ｐゴシック" pitchFamily="34" charset="-128"/>
                        </a:rPr>
                        <a:t>JOURNAL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2000" b="0" i="0" u="none" strike="noStrike" cap="none" normalizeH="0" baseline="0" dirty="0">
                        <a:ln>
                          <a:noFill/>
                        </a:ln>
                        <a:solidFill>
                          <a:schemeClr val="tx1"/>
                        </a:solidFill>
                        <a:effectLst/>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2000" b="0" i="0" u="none" strike="noStrike" cap="none" normalizeH="0" baseline="0" dirty="0">
                        <a:ln>
                          <a:noFill/>
                        </a:ln>
                        <a:solidFill>
                          <a:schemeClr val="tx1"/>
                        </a:solidFill>
                        <a:effectLst/>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2000" b="0" i="0" u="none" strike="noStrike" cap="none" normalizeH="0" baseline="0" dirty="0">
                        <a:ln>
                          <a:noFill/>
                        </a:ln>
                        <a:solidFill>
                          <a:schemeClr val="tx1"/>
                        </a:solidFill>
                        <a:effectLst/>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Accounts and explanation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Debit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Credit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Apr.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Cash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50,000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kumimoji="0" lang="en-US" sz="1800" b="0" i="0" u="none" strike="noStrike" cap="none" normalizeH="0" baseline="0" dirty="0">
                        <a:ln>
                          <a:noFill/>
                        </a:ln>
                        <a:solidFill>
                          <a:schemeClr val="tx1"/>
                        </a:solidFill>
                        <a:effectLst/>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  Common Shares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kumimoji="0" lang="en-US" sz="1800" b="0" i="0" u="none" strike="noStrike" cap="none" normalizeH="0" baseline="0" dirty="0">
                          <a:ln>
                            <a:noFill/>
                          </a:ln>
                          <a:solidFill>
                            <a:schemeClr val="tx1"/>
                          </a:solidFill>
                          <a:effectLst/>
                          <a:latin typeface="+mn-lt"/>
                          <a:ea typeface="ＭＳ Ｐゴシック" pitchFamily="34" charset="-128"/>
                        </a:rPr>
                        <a:t>50,000</a:t>
                      </a:r>
                      <a:endParaRPr kumimoji="0" lang="en-US" sz="1800" b="0" i="0" u="none" strike="noStrike" cap="none" normalizeH="0" baseline="0" dirty="0">
                        <a:ln>
                          <a:noFill/>
                        </a:ln>
                        <a:solidFill>
                          <a:schemeClr val="tx1"/>
                        </a:solidFill>
                        <a:effectLst/>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cap="none" normalizeH="0" baseline="0" dirty="0">
                          <a:ln>
                            <a:noFill/>
                          </a:ln>
                          <a:solidFill>
                            <a:schemeClr val="tx1"/>
                          </a:solidFill>
                          <a:effectLst/>
                          <a:latin typeface="+mn-lt"/>
                          <a:ea typeface="ＭＳ Ｐゴシック" pitchFamily="34" charset="-128"/>
                        </a:rPr>
                        <a:t>Issued common shares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kumimoji="0" lang="en-US" sz="1800" b="0" i="0" u="none" strike="noStrike" cap="none" normalizeH="0" baseline="0" dirty="0">
                        <a:ln>
                          <a:noFill/>
                        </a:ln>
                        <a:solidFill>
                          <a:schemeClr val="tx1"/>
                        </a:solidFill>
                        <a:effectLst/>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kumimoji="0" lang="en-US" sz="1800" b="0" i="0" u="none" strike="noStrike" cap="none" normalizeH="0" baseline="0" dirty="0">
                        <a:ln>
                          <a:noFill/>
                        </a:ln>
                        <a:solidFill>
                          <a:schemeClr val="tx1"/>
                        </a:solidFill>
                        <a:effectLst/>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09103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99028"/>
          </a:xfrm>
        </p:spPr>
        <p:txBody>
          <a:bodyPr/>
          <a:lstStyle/>
          <a:p>
            <a:r>
              <a:rPr lang="en-US" dirty="0">
                <a:ea typeface="ＭＳ Ｐゴシック" pitchFamily="34" charset="-128"/>
              </a:rPr>
              <a:t>The Ledger</a:t>
            </a:r>
            <a:endParaRPr lang="en-US" dirty="0"/>
          </a:p>
        </p:txBody>
      </p:sp>
      <p:graphicFrame>
        <p:nvGraphicFramePr>
          <p:cNvPr id="5" name="Table 4"/>
          <p:cNvGraphicFramePr>
            <a:graphicFrameLocks noGrp="1"/>
          </p:cNvGraphicFramePr>
          <p:nvPr/>
        </p:nvGraphicFramePr>
        <p:xfrm>
          <a:off x="381000" y="1371600"/>
          <a:ext cx="1905000" cy="1981200"/>
        </p:xfrm>
        <a:graphic>
          <a:graphicData uri="http://schemas.openxmlformats.org/drawingml/2006/table">
            <a:tbl>
              <a:tblPr firstRow="1" bandRow="1">
                <a:tableStyleId>{08FB837D-C827-4EFA-A057-4D05807E0F7C}</a:tableStyleId>
              </a:tblPr>
              <a:tblGrid>
                <a:gridCol w="6350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635000">
                  <a:extLst>
                    <a:ext uri="{9D8B030D-6E8A-4147-A177-3AD203B41FA5}">
                      <a16:colId xmlns:a16="http://schemas.microsoft.com/office/drawing/2014/main" val="20002"/>
                    </a:ext>
                  </a:extLst>
                </a:gridCol>
              </a:tblGrid>
              <a:tr h="396240">
                <a:tc gridSpan="3">
                  <a:txBody>
                    <a:bodyPr/>
                    <a:lstStyle/>
                    <a:p>
                      <a:pPr algn="ctr"/>
                      <a:r>
                        <a:rPr lang="en-US" dirty="0"/>
                        <a:t>Cash</a:t>
                      </a:r>
                    </a:p>
                  </a:txBody>
                  <a:tcPr>
                    <a:solidFill>
                      <a:srgbClr val="5C92B5"/>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96240">
                <a:tc>
                  <a:txBody>
                    <a:bodyPr/>
                    <a:lstStyle/>
                    <a:p>
                      <a:endParaRPr lang="en-US" dirty="0"/>
                    </a:p>
                  </a:txBody>
                  <a:tcPr>
                    <a:solidFill>
                      <a:srgbClr val="5C92B5">
                        <a:alpha val="40000"/>
                      </a:srgbClr>
                    </a:solidFill>
                  </a:tcPr>
                </a:tc>
                <a:tc>
                  <a:txBody>
                    <a:bodyPr/>
                    <a:lstStyle/>
                    <a:p>
                      <a:endParaRPr lang="en-US" dirty="0"/>
                    </a:p>
                  </a:txBody>
                  <a:tcPr>
                    <a:solidFill>
                      <a:srgbClr val="5C92B5">
                        <a:alpha val="40000"/>
                      </a:srgbClr>
                    </a:solidFill>
                  </a:tcPr>
                </a:tc>
                <a:tc>
                  <a:txBody>
                    <a:bodyPr/>
                    <a:lstStyle/>
                    <a:p>
                      <a:endParaRPr lang="en-US" dirty="0"/>
                    </a:p>
                  </a:txBody>
                  <a:tcPr>
                    <a:solidFill>
                      <a:srgbClr val="5C92B5">
                        <a:alpha val="40000"/>
                      </a:srgbClr>
                    </a:solidFill>
                  </a:tcPr>
                </a:tc>
                <a:extLst>
                  <a:ext uri="{0D108BD9-81ED-4DB2-BD59-A6C34878D82A}">
                    <a16:rowId xmlns:a16="http://schemas.microsoft.com/office/drawing/2014/main" val="10001"/>
                  </a:ext>
                </a:extLst>
              </a:tr>
              <a:tr h="396240">
                <a:tc>
                  <a:txBody>
                    <a:bodyPr/>
                    <a:lstStyle/>
                    <a:p>
                      <a:endParaRPr lang="en-US" dirty="0"/>
                    </a:p>
                  </a:txBody>
                  <a:tcPr>
                    <a:solidFill>
                      <a:srgbClr val="5C92B5"/>
                    </a:solidFill>
                  </a:tcPr>
                </a:tc>
                <a:tc>
                  <a:txBody>
                    <a:bodyPr/>
                    <a:lstStyle/>
                    <a:p>
                      <a:endParaRPr lang="en-US" dirty="0"/>
                    </a:p>
                  </a:txBody>
                  <a:tcPr>
                    <a:solidFill>
                      <a:srgbClr val="5C92B5"/>
                    </a:solidFill>
                  </a:tcPr>
                </a:tc>
                <a:tc>
                  <a:txBody>
                    <a:bodyPr/>
                    <a:lstStyle/>
                    <a:p>
                      <a:endParaRPr lang="en-US" dirty="0"/>
                    </a:p>
                  </a:txBody>
                  <a:tcPr>
                    <a:solidFill>
                      <a:srgbClr val="5C92B5"/>
                    </a:solidFill>
                  </a:tcPr>
                </a:tc>
                <a:extLst>
                  <a:ext uri="{0D108BD9-81ED-4DB2-BD59-A6C34878D82A}">
                    <a16:rowId xmlns:a16="http://schemas.microsoft.com/office/drawing/2014/main" val="10002"/>
                  </a:ext>
                </a:extLst>
              </a:tr>
              <a:tr h="396240">
                <a:tc>
                  <a:txBody>
                    <a:bodyPr/>
                    <a:lstStyle/>
                    <a:p>
                      <a:endParaRPr lang="en-US" dirty="0"/>
                    </a:p>
                  </a:txBody>
                  <a:tcPr>
                    <a:solidFill>
                      <a:srgbClr val="5C92B5">
                        <a:alpha val="40000"/>
                      </a:srgbClr>
                    </a:solidFill>
                  </a:tcPr>
                </a:tc>
                <a:tc>
                  <a:txBody>
                    <a:bodyPr/>
                    <a:lstStyle/>
                    <a:p>
                      <a:endParaRPr lang="en-US" dirty="0"/>
                    </a:p>
                  </a:txBody>
                  <a:tcPr>
                    <a:solidFill>
                      <a:srgbClr val="5C92B5">
                        <a:alpha val="40000"/>
                      </a:srgbClr>
                    </a:solidFill>
                  </a:tcPr>
                </a:tc>
                <a:tc>
                  <a:txBody>
                    <a:bodyPr/>
                    <a:lstStyle/>
                    <a:p>
                      <a:endParaRPr lang="en-US" dirty="0"/>
                    </a:p>
                  </a:txBody>
                  <a:tcPr>
                    <a:solidFill>
                      <a:srgbClr val="5C92B5">
                        <a:alpha val="40000"/>
                      </a:srgbClr>
                    </a:solidFill>
                  </a:tcPr>
                </a:tc>
                <a:extLst>
                  <a:ext uri="{0D108BD9-81ED-4DB2-BD59-A6C34878D82A}">
                    <a16:rowId xmlns:a16="http://schemas.microsoft.com/office/drawing/2014/main" val="10003"/>
                  </a:ext>
                </a:extLst>
              </a:tr>
              <a:tr h="396240">
                <a:tc>
                  <a:txBody>
                    <a:bodyPr/>
                    <a:lstStyle/>
                    <a:p>
                      <a:endParaRPr lang="en-US" dirty="0"/>
                    </a:p>
                  </a:txBody>
                  <a:tcPr>
                    <a:solidFill>
                      <a:srgbClr val="5C92B5"/>
                    </a:solidFill>
                  </a:tcPr>
                </a:tc>
                <a:tc>
                  <a:txBody>
                    <a:bodyPr/>
                    <a:lstStyle/>
                    <a:p>
                      <a:endParaRPr lang="en-US" dirty="0"/>
                    </a:p>
                  </a:txBody>
                  <a:tcPr>
                    <a:solidFill>
                      <a:srgbClr val="5C92B5"/>
                    </a:solidFill>
                  </a:tcPr>
                </a:tc>
                <a:tc>
                  <a:txBody>
                    <a:bodyPr/>
                    <a:lstStyle/>
                    <a:p>
                      <a:endParaRPr lang="en-US" dirty="0"/>
                    </a:p>
                  </a:txBody>
                  <a:tcPr>
                    <a:solidFill>
                      <a:srgbClr val="5C92B5"/>
                    </a:solidFill>
                  </a:tcPr>
                </a:tc>
                <a:extLst>
                  <a:ext uri="{0D108BD9-81ED-4DB2-BD59-A6C34878D82A}">
                    <a16:rowId xmlns:a16="http://schemas.microsoft.com/office/drawing/2014/main" val="10004"/>
                  </a:ext>
                </a:extLst>
              </a:tr>
            </a:tbl>
          </a:graphicData>
        </a:graphic>
      </p:graphicFrame>
      <p:sp>
        <p:nvSpPr>
          <p:cNvPr id="11" name="Right Arrow 10"/>
          <p:cNvSpPr/>
          <p:nvPr/>
        </p:nvSpPr>
        <p:spPr>
          <a:xfrm>
            <a:off x="2291640" y="1754649"/>
            <a:ext cx="1515987" cy="1463040"/>
          </a:xfrm>
          <a:prstGeom prst="rightArrow">
            <a:avLst/>
          </a:prstGeom>
          <a:solidFill>
            <a:srgbClr val="5C92B5"/>
          </a:solidFill>
        </p:spPr>
        <p:style>
          <a:lnRef idx="2">
            <a:schemeClr val="accent6">
              <a:shade val="50000"/>
            </a:schemeClr>
          </a:lnRef>
          <a:fillRef idx="1">
            <a:schemeClr val="accent6"/>
          </a:fillRef>
          <a:effectRef idx="0">
            <a:schemeClr val="accent6"/>
          </a:effectRef>
          <a:fontRef idx="minor">
            <a:schemeClr val="lt1"/>
          </a:fontRef>
        </p:style>
        <p:txBody>
          <a:bodyPr anchor="ctr">
            <a:noAutofit/>
          </a:bodyPr>
          <a:lstStyle/>
          <a:p>
            <a:pPr algn="ctr" eaLnBrk="1" hangingPunct="1">
              <a:defRPr/>
            </a:pPr>
            <a:r>
              <a:rPr lang="en-US" sz="1600" b="1" dirty="0">
                <a:solidFill>
                  <a:schemeClr val="tx1"/>
                </a:solidFill>
              </a:rPr>
              <a:t>Individual asset accounts</a:t>
            </a:r>
          </a:p>
        </p:txBody>
      </p:sp>
      <p:graphicFrame>
        <p:nvGraphicFramePr>
          <p:cNvPr id="6" name="Table 5"/>
          <p:cNvGraphicFramePr>
            <a:graphicFrameLocks noGrp="1"/>
          </p:cNvGraphicFramePr>
          <p:nvPr/>
        </p:nvGraphicFramePr>
        <p:xfrm>
          <a:off x="381000" y="3888249"/>
          <a:ext cx="1905000" cy="2103120"/>
        </p:xfrm>
        <a:graphic>
          <a:graphicData uri="http://schemas.openxmlformats.org/drawingml/2006/table">
            <a:tbl>
              <a:tblPr firstRow="1" bandRow="1">
                <a:tableStyleId>{3C2FFA5D-87B4-456A-9821-1D502468CF0F}</a:tableStyleId>
              </a:tblPr>
              <a:tblGrid>
                <a:gridCol w="6350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635000">
                  <a:extLst>
                    <a:ext uri="{9D8B030D-6E8A-4147-A177-3AD203B41FA5}">
                      <a16:colId xmlns:a16="http://schemas.microsoft.com/office/drawing/2014/main" val="20002"/>
                    </a:ext>
                  </a:extLst>
                </a:gridCol>
              </a:tblGrid>
              <a:tr h="640080">
                <a:tc gridSpan="3">
                  <a:txBody>
                    <a:bodyPr/>
                    <a:lstStyle/>
                    <a:p>
                      <a:pPr algn="ctr"/>
                      <a:r>
                        <a:rPr lang="en-US" dirty="0"/>
                        <a:t>Accounts Payable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p:sp>
        <p:nvSpPr>
          <p:cNvPr id="9" name="Right Arrow 8"/>
          <p:cNvSpPr/>
          <p:nvPr/>
        </p:nvSpPr>
        <p:spPr>
          <a:xfrm>
            <a:off x="2286000" y="3888249"/>
            <a:ext cx="1515987" cy="1645920"/>
          </a:xfrm>
          <a:prstGeom prst="rightArrow">
            <a:avLst/>
          </a:prstGeom>
          <a:solidFill>
            <a:srgbClr val="7576AB"/>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chemeClr val="tx1"/>
                </a:solidFill>
              </a:rPr>
              <a:t>Individual liability accounts</a:t>
            </a:r>
          </a:p>
        </p:txBody>
      </p:sp>
      <p:graphicFrame>
        <p:nvGraphicFramePr>
          <p:cNvPr id="4" name="Table 3"/>
          <p:cNvGraphicFramePr>
            <a:graphicFrameLocks noGrp="1"/>
          </p:cNvGraphicFramePr>
          <p:nvPr/>
        </p:nvGraphicFramePr>
        <p:xfrm>
          <a:off x="3807627" y="1804889"/>
          <a:ext cx="2135973" cy="3078480"/>
        </p:xfrm>
        <a:graphic>
          <a:graphicData uri="http://schemas.openxmlformats.org/drawingml/2006/table">
            <a:tbl>
              <a:tblPr firstRow="1" bandRow="1">
                <a:tableStyleId>{284E427A-3D55-4303-BF80-6455036E1DE7}</a:tableStyleId>
              </a:tblPr>
              <a:tblGrid>
                <a:gridCol w="711991">
                  <a:extLst>
                    <a:ext uri="{9D8B030D-6E8A-4147-A177-3AD203B41FA5}">
                      <a16:colId xmlns:a16="http://schemas.microsoft.com/office/drawing/2014/main" val="20000"/>
                    </a:ext>
                  </a:extLst>
                </a:gridCol>
                <a:gridCol w="711991">
                  <a:extLst>
                    <a:ext uri="{9D8B030D-6E8A-4147-A177-3AD203B41FA5}">
                      <a16:colId xmlns:a16="http://schemas.microsoft.com/office/drawing/2014/main" val="20001"/>
                    </a:ext>
                  </a:extLst>
                </a:gridCol>
                <a:gridCol w="711991">
                  <a:extLst>
                    <a:ext uri="{9D8B030D-6E8A-4147-A177-3AD203B41FA5}">
                      <a16:colId xmlns:a16="http://schemas.microsoft.com/office/drawing/2014/main" val="20002"/>
                    </a:ext>
                  </a:extLst>
                </a:gridCol>
              </a:tblGrid>
              <a:tr h="518160">
                <a:tc gridSpan="3">
                  <a:txBody>
                    <a:bodyPr/>
                    <a:lstStyle/>
                    <a:p>
                      <a:pPr algn="ctr"/>
                      <a:r>
                        <a:rPr lang="en-US" dirty="0"/>
                        <a:t>Ledger</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4"/>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5"/>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6"/>
                  </a:ext>
                </a:extLst>
              </a:tr>
              <a:tr h="36576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7"/>
                  </a:ext>
                </a:extLst>
              </a:tr>
            </a:tbl>
          </a:graphicData>
        </a:graphic>
      </p:graphicFrame>
      <p:sp>
        <p:nvSpPr>
          <p:cNvPr id="10" name="Left Arrow 9"/>
          <p:cNvSpPr/>
          <p:nvPr/>
        </p:nvSpPr>
        <p:spPr>
          <a:xfrm>
            <a:off x="5943600" y="2745249"/>
            <a:ext cx="1371599" cy="1554480"/>
          </a:xfrm>
          <a:prstGeom prst="leftArrow">
            <a:avLst/>
          </a:prstGeom>
          <a:solidFill>
            <a:srgbClr val="007FA3"/>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r>
              <a:rPr lang="en-US" sz="1400" b="1" dirty="0">
                <a:solidFill>
                  <a:schemeClr val="tx1"/>
                </a:solidFill>
              </a:rPr>
              <a:t>Individual equity accounts</a:t>
            </a:r>
          </a:p>
        </p:txBody>
      </p:sp>
      <p:graphicFrame>
        <p:nvGraphicFramePr>
          <p:cNvPr id="7" name="Table 6"/>
          <p:cNvGraphicFramePr>
            <a:graphicFrameLocks noGrp="1"/>
          </p:cNvGraphicFramePr>
          <p:nvPr/>
        </p:nvGraphicFramePr>
        <p:xfrm>
          <a:off x="7315200" y="2288049"/>
          <a:ext cx="1676400" cy="2103120"/>
        </p:xfrm>
        <a:graphic>
          <a:graphicData uri="http://schemas.openxmlformats.org/drawingml/2006/table">
            <a:tbl>
              <a:tblPr firstRow="1" bandRow="1">
                <a:tableStyleId>{69C7853C-536D-4A76-A0AE-DD22124D55A5}</a:tableStyleId>
              </a:tblPr>
              <a:tblGrid>
                <a:gridCol w="5588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tblGrid>
              <a:tr h="640080">
                <a:tc gridSpan="3">
                  <a:txBody>
                    <a:bodyPr/>
                    <a:lstStyle/>
                    <a:p>
                      <a:pPr algn="ctr"/>
                      <a:r>
                        <a:rPr lang="en-US" dirty="0"/>
                        <a:t>Common Shares</a:t>
                      </a:r>
                    </a:p>
                  </a:txBody>
                  <a:tcPr>
                    <a:solidFill>
                      <a:srgbClr val="007FA3"/>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65760">
                <a:tc>
                  <a:txBody>
                    <a:bodyPr/>
                    <a:lstStyle/>
                    <a:p>
                      <a:endParaRPr lang="en-US" dirty="0"/>
                    </a:p>
                  </a:txBody>
                  <a:tcPr>
                    <a:solidFill>
                      <a:srgbClr val="007FA3"/>
                    </a:solidFill>
                  </a:tcPr>
                </a:tc>
                <a:tc>
                  <a:txBody>
                    <a:bodyPr/>
                    <a:lstStyle/>
                    <a:p>
                      <a:endParaRPr lang="en-US" dirty="0"/>
                    </a:p>
                  </a:txBody>
                  <a:tcPr>
                    <a:solidFill>
                      <a:srgbClr val="007FA3"/>
                    </a:solidFill>
                  </a:tcPr>
                </a:tc>
                <a:tc>
                  <a:txBody>
                    <a:bodyPr/>
                    <a:lstStyle/>
                    <a:p>
                      <a:endParaRPr lang="en-US" dirty="0"/>
                    </a:p>
                  </a:txBody>
                  <a:tcPr>
                    <a:solidFill>
                      <a:srgbClr val="007FA3"/>
                    </a:solidFill>
                  </a:tcPr>
                </a:tc>
                <a:extLst>
                  <a:ext uri="{0D108BD9-81ED-4DB2-BD59-A6C34878D82A}">
                    <a16:rowId xmlns:a16="http://schemas.microsoft.com/office/drawing/2014/main" val="10001"/>
                  </a:ext>
                </a:extLst>
              </a:tr>
              <a:tr h="365760">
                <a:tc>
                  <a:txBody>
                    <a:bodyPr/>
                    <a:lstStyle/>
                    <a:p>
                      <a:endParaRPr lang="en-US" dirty="0"/>
                    </a:p>
                  </a:txBody>
                  <a:tcPr>
                    <a:solidFill>
                      <a:srgbClr val="007FA3"/>
                    </a:solidFill>
                  </a:tcPr>
                </a:tc>
                <a:tc>
                  <a:txBody>
                    <a:bodyPr/>
                    <a:lstStyle/>
                    <a:p>
                      <a:endParaRPr lang="en-US" dirty="0"/>
                    </a:p>
                  </a:txBody>
                  <a:tcPr>
                    <a:solidFill>
                      <a:srgbClr val="007FA3"/>
                    </a:solidFill>
                  </a:tcPr>
                </a:tc>
                <a:tc>
                  <a:txBody>
                    <a:bodyPr/>
                    <a:lstStyle/>
                    <a:p>
                      <a:endParaRPr lang="en-US" dirty="0"/>
                    </a:p>
                  </a:txBody>
                  <a:tcPr>
                    <a:solidFill>
                      <a:srgbClr val="007FA3"/>
                    </a:solidFill>
                  </a:tcPr>
                </a:tc>
                <a:extLst>
                  <a:ext uri="{0D108BD9-81ED-4DB2-BD59-A6C34878D82A}">
                    <a16:rowId xmlns:a16="http://schemas.microsoft.com/office/drawing/2014/main" val="10002"/>
                  </a:ext>
                </a:extLst>
              </a:tr>
              <a:tr h="365760">
                <a:tc>
                  <a:txBody>
                    <a:bodyPr/>
                    <a:lstStyle/>
                    <a:p>
                      <a:endParaRPr lang="en-US" dirty="0"/>
                    </a:p>
                  </a:txBody>
                  <a:tcPr>
                    <a:solidFill>
                      <a:srgbClr val="007FA3"/>
                    </a:solidFill>
                  </a:tcPr>
                </a:tc>
                <a:tc>
                  <a:txBody>
                    <a:bodyPr/>
                    <a:lstStyle/>
                    <a:p>
                      <a:endParaRPr lang="en-US" dirty="0"/>
                    </a:p>
                  </a:txBody>
                  <a:tcPr>
                    <a:solidFill>
                      <a:srgbClr val="007FA3"/>
                    </a:solidFill>
                  </a:tcPr>
                </a:tc>
                <a:tc>
                  <a:txBody>
                    <a:bodyPr/>
                    <a:lstStyle/>
                    <a:p>
                      <a:endParaRPr lang="en-US" dirty="0"/>
                    </a:p>
                  </a:txBody>
                  <a:tcPr>
                    <a:solidFill>
                      <a:srgbClr val="007FA3"/>
                    </a:solidFill>
                  </a:tcPr>
                </a:tc>
                <a:extLst>
                  <a:ext uri="{0D108BD9-81ED-4DB2-BD59-A6C34878D82A}">
                    <a16:rowId xmlns:a16="http://schemas.microsoft.com/office/drawing/2014/main" val="10003"/>
                  </a:ext>
                </a:extLst>
              </a:tr>
              <a:tr h="365760">
                <a:tc>
                  <a:txBody>
                    <a:bodyPr/>
                    <a:lstStyle/>
                    <a:p>
                      <a:endParaRPr lang="en-US" dirty="0"/>
                    </a:p>
                  </a:txBody>
                  <a:tcPr>
                    <a:solidFill>
                      <a:srgbClr val="007FA3"/>
                    </a:solidFill>
                  </a:tcPr>
                </a:tc>
                <a:tc>
                  <a:txBody>
                    <a:bodyPr/>
                    <a:lstStyle/>
                    <a:p>
                      <a:endParaRPr lang="en-US" dirty="0"/>
                    </a:p>
                  </a:txBody>
                  <a:tcPr>
                    <a:solidFill>
                      <a:srgbClr val="007FA3"/>
                    </a:solidFill>
                  </a:tcPr>
                </a:tc>
                <a:tc>
                  <a:txBody>
                    <a:bodyPr/>
                    <a:lstStyle/>
                    <a:p>
                      <a:endParaRPr lang="en-US" dirty="0"/>
                    </a:p>
                  </a:txBody>
                  <a:tcPr>
                    <a:solidFill>
                      <a:srgbClr val="007FA3"/>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61698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a typeface="ＭＳ Ｐゴシック" pitchFamily="34" charset="-128"/>
              </a:rPr>
              <a:t>Copying Information (Posting) from the Journal to the Ledger</a:t>
            </a:r>
            <a:endParaRPr lang="en-US" dirty="0"/>
          </a:p>
        </p:txBody>
      </p:sp>
      <p:graphicFrame>
        <p:nvGraphicFramePr>
          <p:cNvPr id="19" name="Table 18"/>
          <p:cNvGraphicFramePr>
            <a:graphicFrameLocks noGrp="1"/>
          </p:cNvGraphicFramePr>
          <p:nvPr/>
        </p:nvGraphicFramePr>
        <p:xfrm>
          <a:off x="843354" y="2331720"/>
          <a:ext cx="7457292" cy="2194560"/>
        </p:xfrm>
        <a:graphic>
          <a:graphicData uri="http://schemas.openxmlformats.org/drawingml/2006/table">
            <a:tbl>
              <a:tblPr firstRow="1" bandRow="1">
                <a:tableStyleId>{2D5ABB26-0587-4C30-8999-92F81FD0307C}</a:tableStyleId>
              </a:tblPr>
              <a:tblGrid>
                <a:gridCol w="1033072">
                  <a:extLst>
                    <a:ext uri="{9D8B030D-6E8A-4147-A177-3AD203B41FA5}">
                      <a16:colId xmlns:a16="http://schemas.microsoft.com/office/drawing/2014/main" val="20000"/>
                    </a:ext>
                  </a:extLst>
                </a:gridCol>
                <a:gridCol w="3934835">
                  <a:extLst>
                    <a:ext uri="{9D8B030D-6E8A-4147-A177-3AD203B41FA5}">
                      <a16:colId xmlns:a16="http://schemas.microsoft.com/office/drawing/2014/main" val="20001"/>
                    </a:ext>
                  </a:extLst>
                </a:gridCol>
                <a:gridCol w="1346385">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26162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mn-lt"/>
                          <a:ea typeface="ＭＳ Ｐゴシック" pitchFamily="34" charset="-128"/>
                        </a:rPr>
                        <a:t>JOURNAL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2000" b="0" i="0" u="none" strike="noStrike" cap="none" normalizeH="0" baseline="0" dirty="0">
                        <a:ln>
                          <a:noFill/>
                        </a:ln>
                        <a:solidFill>
                          <a:schemeClr val="tx1"/>
                        </a:solidFill>
                        <a:effectLst/>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2000" b="0" i="0" u="none" strike="noStrike" cap="none" normalizeH="0" baseline="0" dirty="0">
                        <a:ln>
                          <a:noFill/>
                        </a:ln>
                        <a:solidFill>
                          <a:schemeClr val="tx1"/>
                        </a:solidFill>
                        <a:effectLst/>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2000" b="0" i="0" u="none" strike="noStrike" cap="none" normalizeH="0" baseline="0" dirty="0">
                        <a:ln>
                          <a:noFill/>
                        </a:ln>
                        <a:solidFill>
                          <a:schemeClr val="tx1"/>
                        </a:solidFill>
                        <a:effectLst/>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61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Accounts and explanation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Debit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Credit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61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Apr.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Cash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50,000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kumimoji="0" lang="en-US" sz="1800" b="0" i="0" u="none" strike="noStrike" cap="none" normalizeH="0" baseline="0" dirty="0">
                        <a:ln>
                          <a:noFill/>
                        </a:ln>
                        <a:solidFill>
                          <a:schemeClr val="tx1"/>
                        </a:solidFill>
                        <a:effectLst/>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61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mn-lt"/>
                          <a:ea typeface="ＭＳ Ｐゴシック" pitchFamily="34" charset="-128"/>
                        </a:rPr>
                        <a:t>  Common Shares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kumimoji="0" lang="en-US" sz="1800" b="0" i="0" u="none" strike="noStrike" cap="none" normalizeH="0" baseline="0" dirty="0">
                          <a:ln>
                            <a:noFill/>
                          </a:ln>
                          <a:solidFill>
                            <a:schemeClr val="tx1"/>
                          </a:solidFill>
                          <a:effectLst/>
                          <a:latin typeface="+mn-lt"/>
                          <a:ea typeface="ＭＳ Ｐゴシック" pitchFamily="34" charset="-128"/>
                        </a:rPr>
                        <a:t>50,000</a:t>
                      </a:r>
                      <a:endParaRPr kumimoji="0" lang="en-US" sz="1800" b="0" i="0" u="none" strike="noStrike" cap="none" normalizeH="0" baseline="0" dirty="0">
                        <a:ln>
                          <a:noFill/>
                        </a:ln>
                        <a:solidFill>
                          <a:schemeClr val="tx1"/>
                        </a:solidFill>
                        <a:effectLst/>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61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cap="none" normalizeH="0" baseline="0" dirty="0">
                          <a:ln>
                            <a:noFill/>
                          </a:ln>
                          <a:solidFill>
                            <a:schemeClr val="tx1"/>
                          </a:solidFill>
                          <a:effectLst/>
                          <a:latin typeface="+mn-lt"/>
                          <a:ea typeface="ＭＳ Ｐゴシック" pitchFamily="34" charset="-128"/>
                        </a:rPr>
                        <a:t>Issued common shares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kumimoji="0" lang="en-US" sz="1800" b="0" i="0" u="none" strike="noStrike" cap="none" normalizeH="0" baseline="0" dirty="0">
                        <a:ln>
                          <a:noFill/>
                        </a:ln>
                        <a:solidFill>
                          <a:schemeClr val="tx1"/>
                        </a:solidFill>
                        <a:effectLst/>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61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kumimoji="0" lang="en-US" sz="1800" b="0" i="0" u="none" strike="noStrike" cap="none" normalizeH="0" baseline="0" dirty="0">
                        <a:ln>
                          <a:noFill/>
                        </a:ln>
                        <a:solidFill>
                          <a:schemeClr val="tx1"/>
                        </a:solidFill>
                        <a:effectLst/>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cxnSp>
        <p:nvCxnSpPr>
          <p:cNvPr id="16" name="Straight Arrow Connector 15"/>
          <p:cNvCxnSpPr>
            <a:cxnSpLocks noChangeShapeType="1"/>
          </p:cNvCxnSpPr>
          <p:nvPr/>
        </p:nvCxnSpPr>
        <p:spPr bwMode="auto">
          <a:xfrm flipH="1">
            <a:off x="4398301" y="3352800"/>
            <a:ext cx="2078699" cy="2124509"/>
          </a:xfrm>
          <a:prstGeom prst="straightConnector1">
            <a:avLst/>
          </a:prstGeom>
          <a:noFill/>
          <a:ln w="31750">
            <a:solidFill>
              <a:srgbClr val="FF0000"/>
            </a:solidFill>
            <a:round/>
            <a:headEnd/>
            <a:tailEnd type="arrow" w="med" len="med"/>
          </a:ln>
          <a:effectLst>
            <a:outerShdw dist="25400" dir="5400000" rotWithShape="0">
              <a:srgbClr val="808080">
                <a:alpha val="45000"/>
              </a:srgbClr>
            </a:outerShdw>
          </a:effectLst>
        </p:spPr>
      </p:cxnSp>
      <p:graphicFrame>
        <p:nvGraphicFramePr>
          <p:cNvPr id="17" name="Table 16"/>
          <p:cNvGraphicFramePr>
            <a:graphicFrameLocks noGrp="1"/>
          </p:cNvGraphicFramePr>
          <p:nvPr/>
        </p:nvGraphicFramePr>
        <p:xfrm>
          <a:off x="3890832" y="5105400"/>
          <a:ext cx="2205168" cy="1067080"/>
        </p:xfrm>
        <a:graphic>
          <a:graphicData uri="http://schemas.openxmlformats.org/drawingml/2006/table">
            <a:tbl>
              <a:tblPr firstRow="1" bandRow="1">
                <a:tableStyleId>{2D5ABB26-0587-4C30-8999-92F81FD0307C}</a:tableStyleId>
              </a:tblPr>
              <a:tblGrid>
                <a:gridCol w="1186180">
                  <a:extLst>
                    <a:ext uri="{9D8B030D-6E8A-4147-A177-3AD203B41FA5}">
                      <a16:colId xmlns:a16="http://schemas.microsoft.com/office/drawing/2014/main" val="20000"/>
                    </a:ext>
                  </a:extLst>
                </a:gridCol>
                <a:gridCol w="1018988">
                  <a:extLst>
                    <a:ext uri="{9D8B030D-6E8A-4147-A177-3AD203B41FA5}">
                      <a16:colId xmlns:a16="http://schemas.microsoft.com/office/drawing/2014/main" val="20001"/>
                    </a:ext>
                  </a:extLst>
                </a:gridCol>
              </a:tblGrid>
              <a:tr h="167332">
                <a:tc gridSpan="2">
                  <a:txBody>
                    <a:bodyPr/>
                    <a:lstStyle/>
                    <a:p>
                      <a:pPr algn="ctr"/>
                      <a:r>
                        <a:rPr lang="en-US" altLang="en-US" sz="2000" dirty="0"/>
                        <a:t>Cash</a:t>
                      </a: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5080">
                <a:tc>
                  <a:txBody>
                    <a:bodyPr/>
                    <a:lstStyle/>
                    <a:p>
                      <a:pPr algn="ctr" eaLnBrk="1" hangingPunct="1">
                        <a:lnSpc>
                          <a:spcPct val="75000"/>
                        </a:lnSpc>
                      </a:pPr>
                      <a:r>
                        <a:rPr lang="en-US" altLang="en-US" sz="1800" dirty="0"/>
                        <a:t> 50,000</a:t>
                      </a:r>
                      <a:endParaRPr lang="en-US" altLang="en-US" sz="1800" b="1"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algn="ctr" eaLnBrk="1" hangingPunct="1">
                        <a:lnSpc>
                          <a:spcPct val="75000"/>
                        </a:lnSpc>
                      </a:pP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16733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cxnSp>
        <p:nvCxnSpPr>
          <p:cNvPr id="5" name="Straight Arrow Connector 4"/>
          <p:cNvCxnSpPr>
            <a:cxnSpLocks noChangeShapeType="1"/>
          </p:cNvCxnSpPr>
          <p:nvPr/>
        </p:nvCxnSpPr>
        <p:spPr bwMode="auto">
          <a:xfrm>
            <a:off x="7898701" y="3773788"/>
            <a:ext cx="407099" cy="1691154"/>
          </a:xfrm>
          <a:prstGeom prst="straightConnector1">
            <a:avLst/>
          </a:prstGeom>
          <a:noFill/>
          <a:ln w="31750">
            <a:solidFill>
              <a:srgbClr val="FF0000"/>
            </a:solidFill>
            <a:round/>
            <a:headEnd/>
            <a:tailEnd type="arrow" w="med" len="med"/>
          </a:ln>
          <a:effectLst>
            <a:outerShdw dist="25400" dir="5400000" rotWithShape="0">
              <a:srgbClr val="808080">
                <a:alpha val="45000"/>
              </a:srgbClr>
            </a:outerShdw>
          </a:effectLst>
        </p:spPr>
      </p:cxnSp>
      <p:graphicFrame>
        <p:nvGraphicFramePr>
          <p:cNvPr id="18" name="Table 17"/>
          <p:cNvGraphicFramePr>
            <a:graphicFrameLocks noGrp="1"/>
          </p:cNvGraphicFramePr>
          <p:nvPr/>
        </p:nvGraphicFramePr>
        <p:xfrm>
          <a:off x="6248400" y="5135544"/>
          <a:ext cx="2205168" cy="1029335"/>
        </p:xfrm>
        <a:graphic>
          <a:graphicData uri="http://schemas.openxmlformats.org/drawingml/2006/table">
            <a:tbl>
              <a:tblPr firstRow="1" bandRow="1">
                <a:tableStyleId>{2D5ABB26-0587-4C30-8999-92F81FD0307C}</a:tableStyleId>
              </a:tblPr>
              <a:tblGrid>
                <a:gridCol w="1186180">
                  <a:extLst>
                    <a:ext uri="{9D8B030D-6E8A-4147-A177-3AD203B41FA5}">
                      <a16:colId xmlns:a16="http://schemas.microsoft.com/office/drawing/2014/main" val="20000"/>
                    </a:ext>
                  </a:extLst>
                </a:gridCol>
                <a:gridCol w="1018988">
                  <a:extLst>
                    <a:ext uri="{9D8B030D-6E8A-4147-A177-3AD203B41FA5}">
                      <a16:colId xmlns:a16="http://schemas.microsoft.com/office/drawing/2014/main" val="20001"/>
                    </a:ext>
                  </a:extLst>
                </a:gridCol>
              </a:tblGrid>
              <a:tr h="190203">
                <a:tc gridSpan="2">
                  <a:txBody>
                    <a:bodyPr/>
                    <a:lstStyle/>
                    <a:p>
                      <a:pPr algn="ctr"/>
                      <a:r>
                        <a:rPr lang="en-US" altLang="en-US" dirty="0"/>
                        <a:t>Common Shares</a:t>
                      </a: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6355">
                <a:tc>
                  <a:txBody>
                    <a:bodyPr/>
                    <a:lstStyle/>
                    <a:p>
                      <a:pPr algn="ctr" eaLnBrk="1" hangingPunct="1">
                        <a:lnSpc>
                          <a:spcPct val="75000"/>
                        </a:lnSpc>
                      </a:pPr>
                      <a:endParaRPr lang="en-US" altLang="en-US" sz="1800" b="1"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algn="ctr" eaLnBrk="1" hangingPunct="1">
                        <a:lnSpc>
                          <a:spcPct val="75000"/>
                        </a:lnSpc>
                      </a:pPr>
                      <a:r>
                        <a:rPr lang="en-US" altLang="en-US" sz="1800" dirty="0"/>
                        <a:t> 50,000</a:t>
                      </a: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19020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91354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Flow of Accounting Data</a:t>
            </a:r>
            <a:endParaRPr lang="en-US" dirty="0"/>
          </a:p>
        </p:txBody>
      </p:sp>
      <p:pic>
        <p:nvPicPr>
          <p:cNvPr id="5" name="Picture 4" descr="In the flow of accounting data, a transaction occurs, the transaction is analyzed, the transaction is entered in the journal, and the transaction is posted to the ledger.">
            <a:extLst>
              <a:ext uri="{FF2B5EF4-FFF2-40B4-BE49-F238E27FC236}">
                <a16:creationId xmlns:a16="http://schemas.microsoft.com/office/drawing/2014/main" id="{FC098BB1-5E22-F0E5-2811-6A0AECF65CB4}"/>
              </a:ext>
            </a:extLst>
          </p:cNvPr>
          <p:cNvPicPr>
            <a:picLocks noChangeAspect="1"/>
          </p:cNvPicPr>
          <p:nvPr/>
        </p:nvPicPr>
        <p:blipFill rotWithShape="1">
          <a:blip r:embed="rId3">
            <a:extLst>
              <a:ext uri="{28A0092B-C50C-407E-A947-70E740481C1C}">
                <a14:useLocalDpi xmlns:a14="http://schemas.microsoft.com/office/drawing/2010/main" val="0"/>
              </a:ext>
            </a:extLst>
          </a:blip>
          <a:srcRect t="15122"/>
          <a:stretch/>
        </p:blipFill>
        <p:spPr>
          <a:xfrm>
            <a:off x="712700" y="2133600"/>
            <a:ext cx="7718600" cy="2994000"/>
          </a:xfrm>
          <a:prstGeom prst="rect">
            <a:avLst/>
          </a:prstGeom>
        </p:spPr>
      </p:pic>
    </p:spTree>
    <p:extLst>
      <p:ext uri="{BB962C8B-B14F-4D97-AF65-F5344CB8AC3E}">
        <p14:creationId xmlns:p14="http://schemas.microsoft.com/office/powerpoint/2010/main" val="2470377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Accounts After Posting </a:t>
            </a:r>
            <a:r>
              <a:rPr lang="en-US" sz="2000" b="0" dirty="0"/>
              <a:t>(1 of 2)</a:t>
            </a:r>
            <a:endParaRPr lang="en-US" b="0" dirty="0"/>
          </a:p>
        </p:txBody>
      </p:sp>
      <p:sp>
        <p:nvSpPr>
          <p:cNvPr id="4" name="Content Placeholder 3"/>
          <p:cNvSpPr>
            <a:spLocks noGrp="1"/>
          </p:cNvSpPr>
          <p:nvPr>
            <p:ph idx="1"/>
          </p:nvPr>
        </p:nvSpPr>
        <p:spPr>
          <a:xfrm>
            <a:off x="457200" y="1600201"/>
            <a:ext cx="8229600" cy="457200"/>
          </a:xfrm>
        </p:spPr>
        <p:txBody>
          <a:bodyPr/>
          <a:lstStyle/>
          <a:p>
            <a:pPr marL="0" indent="0" algn="ctr">
              <a:buNone/>
            </a:pPr>
            <a:r>
              <a:rPr lang="en-US" altLang="en-US" b="1" dirty="0"/>
              <a:t>Assets</a:t>
            </a:r>
            <a:r>
              <a:rPr lang="en-US" altLang="en-US" dirty="0"/>
              <a:t>	 =	</a:t>
            </a:r>
            <a:r>
              <a:rPr lang="en-US" altLang="en-US" b="1" dirty="0"/>
              <a:t>Liabilities</a:t>
            </a:r>
            <a:endParaRPr lang="en-US" b="1" dirty="0"/>
          </a:p>
        </p:txBody>
      </p:sp>
      <p:graphicFrame>
        <p:nvGraphicFramePr>
          <p:cNvPr id="109" name="Table 108"/>
          <p:cNvGraphicFramePr>
            <a:graphicFrameLocks noGrp="1"/>
          </p:cNvGraphicFramePr>
          <p:nvPr/>
        </p:nvGraphicFramePr>
        <p:xfrm>
          <a:off x="1226256" y="1966966"/>
          <a:ext cx="2659944" cy="1482129"/>
        </p:xfrm>
        <a:graphic>
          <a:graphicData uri="http://schemas.openxmlformats.org/drawingml/2006/table">
            <a:tbl>
              <a:tblPr firstRow="1" bandRow="1">
                <a:tableStyleId>{2D5ABB26-0587-4C30-8999-92F81FD0307C}</a:tableStyleId>
              </a:tblPr>
              <a:tblGrid>
                <a:gridCol w="1413472">
                  <a:extLst>
                    <a:ext uri="{9D8B030D-6E8A-4147-A177-3AD203B41FA5}">
                      <a16:colId xmlns:a16="http://schemas.microsoft.com/office/drawing/2014/main" val="20000"/>
                    </a:ext>
                  </a:extLst>
                </a:gridCol>
                <a:gridCol w="1246472">
                  <a:extLst>
                    <a:ext uri="{9D8B030D-6E8A-4147-A177-3AD203B41FA5}">
                      <a16:colId xmlns:a16="http://schemas.microsoft.com/office/drawing/2014/main" val="20001"/>
                    </a:ext>
                  </a:extLst>
                </a:gridCol>
              </a:tblGrid>
              <a:tr h="400084">
                <a:tc gridSpan="2">
                  <a:txBody>
                    <a:bodyPr/>
                    <a:lstStyle/>
                    <a:p>
                      <a:pPr algn="ctr"/>
                      <a:r>
                        <a:rPr lang="en-US" sz="1600" b="1" i="0" u="none" strike="noStrike" kern="1200" baseline="0" dirty="0">
                          <a:solidFill>
                            <a:schemeClr val="tx1"/>
                          </a:solidFill>
                          <a:latin typeface="+mn-lt"/>
                          <a:ea typeface="+mn-ea"/>
                          <a:cs typeface="+mn-cs"/>
                        </a:rPr>
                        <a:t>Cash</a:t>
                      </a:r>
                      <a:endParaRPr lang="en-US" sz="1800" dirty="0"/>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16409">
                <a:tc>
                  <a:txBody>
                    <a:bodyPr/>
                    <a:lstStyle/>
                    <a:p>
                      <a:pPr algn="ctr" fontAlgn="base">
                        <a:lnSpc>
                          <a:spcPct val="85000"/>
                        </a:lnSpc>
                        <a:spcAft>
                          <a:spcPts val="0"/>
                        </a:spcAft>
                      </a:pPr>
                      <a:r>
                        <a:rPr lang="en-US" sz="1400" dirty="0"/>
                        <a:t>(1)  50,000</a:t>
                      </a:r>
                    </a:p>
                  </a:txBody>
                  <a:tcPr marL="0" marR="0" marT="0" marB="0">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algn="ctr" fontAlgn="base">
                        <a:lnSpc>
                          <a:spcPct val="85000"/>
                        </a:lnSpc>
                        <a:spcAft>
                          <a:spcPts val="0"/>
                        </a:spcAft>
                      </a:pPr>
                      <a:r>
                        <a:rPr lang="en-US" sz="1400" dirty="0"/>
                        <a:t>(2) 40,000</a:t>
                      </a:r>
                    </a:p>
                  </a:txBody>
                  <a:tcPr marL="0" marR="0" marT="0" marB="0">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16409">
                <a:tc>
                  <a:txBody>
                    <a:bodyPr/>
                    <a:lstStyle/>
                    <a:p>
                      <a:pPr algn="ctr" fontAlgn="base">
                        <a:lnSpc>
                          <a:spcPct val="85000"/>
                        </a:lnSpc>
                        <a:spcAft>
                          <a:spcPts val="0"/>
                        </a:spcAft>
                      </a:pPr>
                      <a:r>
                        <a:rPr lang="en-US" sz="1400" dirty="0"/>
                        <a:t>(4)    7,000</a:t>
                      </a:r>
                    </a:p>
                  </a:txBody>
                  <a:tcPr marL="0" marR="0" marT="0" marB="0">
                    <a:lnR w="3175" cap="flat" cmpd="sng" algn="ctr">
                      <a:solidFill>
                        <a:schemeClr val="tx1"/>
                      </a:solidFill>
                      <a:prstDash val="solid"/>
                      <a:round/>
                      <a:headEnd type="none" w="med" len="med"/>
                      <a:tailEnd type="none" w="med" len="med"/>
                    </a:lnR>
                  </a:tcPr>
                </a:tc>
                <a:tc>
                  <a:txBody>
                    <a:bodyPr/>
                    <a:lstStyle/>
                    <a:p>
                      <a:pPr algn="ctr" fontAlgn="base">
                        <a:lnSpc>
                          <a:spcPct val="85000"/>
                        </a:lnSpc>
                        <a:spcAft>
                          <a:spcPts val="0"/>
                        </a:spcAft>
                      </a:pPr>
                      <a:r>
                        <a:rPr lang="en-US" sz="1400" dirty="0"/>
                        <a:t>(6)   2,700</a:t>
                      </a:r>
                    </a:p>
                  </a:txBody>
                  <a:tcPr marL="0" marR="0" marT="0" marB="0">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16409">
                <a:tc>
                  <a:txBody>
                    <a:bodyPr/>
                    <a:lstStyle/>
                    <a:p>
                      <a:pPr algn="ctr" fontAlgn="base">
                        <a:lnSpc>
                          <a:spcPct val="85000"/>
                        </a:lnSpc>
                        <a:spcAft>
                          <a:spcPts val="0"/>
                        </a:spcAft>
                      </a:pPr>
                      <a:r>
                        <a:rPr lang="en-US" sz="1400" dirty="0"/>
                        <a:t>(9)    1,000</a:t>
                      </a:r>
                    </a:p>
                  </a:txBody>
                  <a:tcPr marL="0" marR="0" marT="0" marB="0">
                    <a:lnR w="3175" cap="flat" cmpd="sng" algn="ctr">
                      <a:solidFill>
                        <a:schemeClr val="tx1"/>
                      </a:solidFill>
                      <a:prstDash val="solid"/>
                      <a:round/>
                      <a:headEnd type="none" w="med" len="med"/>
                      <a:tailEnd type="none" w="med" len="med"/>
                    </a:lnR>
                  </a:tcPr>
                </a:tc>
                <a:tc>
                  <a:txBody>
                    <a:bodyPr/>
                    <a:lstStyle/>
                    <a:p>
                      <a:pPr algn="ctr" fontAlgn="base">
                        <a:lnSpc>
                          <a:spcPct val="85000"/>
                        </a:lnSpc>
                        <a:spcAft>
                          <a:spcPts val="0"/>
                        </a:spcAft>
                      </a:pPr>
                      <a:r>
                        <a:rPr lang="en-US" sz="1400" dirty="0"/>
                        <a:t>(7)   1,900</a:t>
                      </a:r>
                    </a:p>
                  </a:txBody>
                  <a:tcPr marL="0" marR="0" marT="0" marB="0">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16409">
                <a:tc>
                  <a:txBody>
                    <a:bodyPr/>
                    <a:lstStyle/>
                    <a:p>
                      <a:pPr algn="ctr" fontAlgn="base">
                        <a:lnSpc>
                          <a:spcPct val="85000"/>
                        </a:lnSpc>
                        <a:spcAft>
                          <a:spcPts val="0"/>
                        </a:spcAft>
                      </a:pPr>
                      <a:r>
                        <a:rPr lang="en-US" sz="1400" dirty="0"/>
                        <a:t>(10) 22,000</a:t>
                      </a:r>
                    </a:p>
                  </a:txBody>
                  <a:tcPr marL="0" marR="0" marT="0" marB="0">
                    <a:lnR w="3175"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ase">
                        <a:lnSpc>
                          <a:spcPct val="85000"/>
                        </a:lnSpc>
                        <a:spcAft>
                          <a:spcPts val="0"/>
                        </a:spcAft>
                      </a:pPr>
                      <a:r>
                        <a:rPr lang="en-US" sz="1400" dirty="0"/>
                        <a:t>(11)  2,100</a:t>
                      </a:r>
                    </a:p>
                  </a:txBody>
                  <a:tcPr marL="0" marR="0" marT="0" marB="0">
                    <a:lnL w="3175"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16409">
                <a:tc>
                  <a:txBody>
                    <a:bodyPr/>
                    <a:lstStyle/>
                    <a:p>
                      <a:pPr fontAlgn="base">
                        <a:lnSpc>
                          <a:spcPct val="85000"/>
                        </a:lnSpc>
                        <a:spcAft>
                          <a:spcPts val="0"/>
                        </a:spcAft>
                      </a:pPr>
                      <a:r>
                        <a:rPr lang="en-US" sz="1400" kern="1200" dirty="0">
                          <a:solidFill>
                            <a:schemeClr val="tx1"/>
                          </a:solidFill>
                          <a:effectLst/>
                          <a:latin typeface="+mn-lt"/>
                          <a:ea typeface="+mn-ea"/>
                          <a:cs typeface="+mn-cs"/>
                        </a:rPr>
                        <a:t>Bal.      33,300</a:t>
                      </a:r>
                      <a:endParaRPr lang="en-US" sz="1400" dirty="0"/>
                    </a:p>
                  </a:txBody>
                  <a:tcPr marL="0" marR="0" marT="0" marB="0">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fontAlgn="base">
                        <a:lnSpc>
                          <a:spcPct val="85000"/>
                        </a:lnSpc>
                        <a:spcAft>
                          <a:spcPts val="0"/>
                        </a:spcAft>
                      </a:pPr>
                      <a:endParaRPr lang="en-US" sz="1400" dirty="0"/>
                    </a:p>
                  </a:txBody>
                  <a:tcPr marL="0" marR="0" marT="0" marB="0">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bl>
          </a:graphicData>
        </a:graphic>
      </p:graphicFrame>
      <p:graphicFrame>
        <p:nvGraphicFramePr>
          <p:cNvPr id="11" name="Table 10"/>
          <p:cNvGraphicFramePr>
            <a:graphicFrameLocks noGrp="1"/>
          </p:cNvGraphicFramePr>
          <p:nvPr/>
        </p:nvGraphicFramePr>
        <p:xfrm>
          <a:off x="1217804" y="3489288"/>
          <a:ext cx="2656752" cy="944880"/>
        </p:xfrm>
        <a:graphic>
          <a:graphicData uri="http://schemas.openxmlformats.org/drawingml/2006/table">
            <a:tbl>
              <a:tblPr firstRow="1" bandRow="1">
                <a:tableStyleId>{2D5ABB26-0587-4C30-8999-92F81FD0307C}</a:tableStyleId>
              </a:tblPr>
              <a:tblGrid>
                <a:gridCol w="1420160">
                  <a:extLst>
                    <a:ext uri="{9D8B030D-6E8A-4147-A177-3AD203B41FA5}">
                      <a16:colId xmlns:a16="http://schemas.microsoft.com/office/drawing/2014/main" val="20000"/>
                    </a:ext>
                  </a:extLst>
                </a:gridCol>
                <a:gridCol w="1236592">
                  <a:extLst>
                    <a:ext uri="{9D8B030D-6E8A-4147-A177-3AD203B41FA5}">
                      <a16:colId xmlns:a16="http://schemas.microsoft.com/office/drawing/2014/main" val="20001"/>
                    </a:ext>
                  </a:extLst>
                </a:gridCol>
              </a:tblGrid>
              <a:tr h="252795">
                <a:tc gridSpan="2">
                  <a:txBody>
                    <a:bodyPr/>
                    <a:lstStyle/>
                    <a:p>
                      <a:pPr algn="ctr"/>
                      <a:r>
                        <a:rPr lang="en-US" sz="1600" b="1" i="0" u="none" strike="noStrike" kern="1200" baseline="0" dirty="0">
                          <a:solidFill>
                            <a:schemeClr val="tx1"/>
                          </a:solidFill>
                          <a:latin typeface="+mn-lt"/>
                          <a:ea typeface="+mn-ea"/>
                          <a:cs typeface="+mn-cs"/>
                        </a:rPr>
                        <a:t>Accounts Receivable</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(5)   3,000</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(9) 1,000</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Bal. 2,000</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dirty="0"/>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1217804" y="4484072"/>
          <a:ext cx="2656752" cy="944880"/>
        </p:xfrm>
        <a:graphic>
          <a:graphicData uri="http://schemas.openxmlformats.org/drawingml/2006/table">
            <a:tbl>
              <a:tblPr firstRow="1" bandRow="1">
                <a:tableStyleId>{2D5ABB26-0587-4C30-8999-92F81FD0307C}</a:tableStyleId>
              </a:tblPr>
              <a:tblGrid>
                <a:gridCol w="1420160">
                  <a:extLst>
                    <a:ext uri="{9D8B030D-6E8A-4147-A177-3AD203B41FA5}">
                      <a16:colId xmlns:a16="http://schemas.microsoft.com/office/drawing/2014/main" val="20000"/>
                    </a:ext>
                  </a:extLst>
                </a:gridCol>
                <a:gridCol w="1236592">
                  <a:extLst>
                    <a:ext uri="{9D8B030D-6E8A-4147-A177-3AD203B41FA5}">
                      <a16:colId xmlns:a16="http://schemas.microsoft.com/office/drawing/2014/main" val="20001"/>
                    </a:ext>
                  </a:extLst>
                </a:gridCol>
              </a:tblGrid>
              <a:tr h="25279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i="0" u="none" strike="noStrike" kern="1200" baseline="0" dirty="0">
                          <a:solidFill>
                            <a:schemeClr val="tx1"/>
                          </a:solidFill>
                          <a:latin typeface="+mn-lt"/>
                          <a:ea typeface="+mn-ea"/>
                          <a:cs typeface="+mn-cs"/>
                        </a:rPr>
                        <a:t>Office Supplies</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(3)   3,700</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i="0" u="none" strike="noStrike" kern="1200" baseline="0" dirty="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Bal. 3,700</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dirty="0"/>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nvGraphicFramePr>
        <p:xfrm>
          <a:off x="1245437" y="5478856"/>
          <a:ext cx="2656752" cy="944880"/>
        </p:xfrm>
        <a:graphic>
          <a:graphicData uri="http://schemas.openxmlformats.org/drawingml/2006/table">
            <a:tbl>
              <a:tblPr firstRow="1" bandRow="1">
                <a:tableStyleId>{2D5ABB26-0587-4C30-8999-92F81FD0307C}</a:tableStyleId>
              </a:tblPr>
              <a:tblGrid>
                <a:gridCol w="1420160">
                  <a:extLst>
                    <a:ext uri="{9D8B030D-6E8A-4147-A177-3AD203B41FA5}">
                      <a16:colId xmlns:a16="http://schemas.microsoft.com/office/drawing/2014/main" val="20000"/>
                    </a:ext>
                  </a:extLst>
                </a:gridCol>
                <a:gridCol w="1236592">
                  <a:extLst>
                    <a:ext uri="{9D8B030D-6E8A-4147-A177-3AD203B41FA5}">
                      <a16:colId xmlns:a16="http://schemas.microsoft.com/office/drawing/2014/main" val="20001"/>
                    </a:ext>
                  </a:extLst>
                </a:gridCol>
              </a:tblGrid>
              <a:tr h="25279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i="0" u="none" strike="noStrike" kern="1200" baseline="0" dirty="0">
                          <a:solidFill>
                            <a:schemeClr val="tx1"/>
                          </a:solidFill>
                          <a:latin typeface="+mn-lt"/>
                          <a:ea typeface="+mn-ea"/>
                          <a:cs typeface="+mn-cs"/>
                        </a:rPr>
                        <a:t>Land</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(2) 40,000</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(10) 22,000</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Bal. 18,000</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i="0" u="none" strike="noStrike" kern="1200" baseline="0" dirty="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graphicFrame>
        <p:nvGraphicFramePr>
          <p:cNvPr id="110" name="Table 109"/>
          <p:cNvGraphicFramePr>
            <a:graphicFrameLocks noGrp="1"/>
          </p:cNvGraphicFramePr>
          <p:nvPr/>
        </p:nvGraphicFramePr>
        <p:xfrm>
          <a:off x="4963248" y="2031750"/>
          <a:ext cx="2656752" cy="1092450"/>
        </p:xfrm>
        <a:graphic>
          <a:graphicData uri="http://schemas.openxmlformats.org/drawingml/2006/table">
            <a:tbl>
              <a:tblPr firstRow="1" bandRow="1">
                <a:tableStyleId>{2D5ABB26-0587-4C30-8999-92F81FD0307C}</a:tableStyleId>
              </a:tblPr>
              <a:tblGrid>
                <a:gridCol w="1341456">
                  <a:extLst>
                    <a:ext uri="{9D8B030D-6E8A-4147-A177-3AD203B41FA5}">
                      <a16:colId xmlns:a16="http://schemas.microsoft.com/office/drawing/2014/main" val="20000"/>
                    </a:ext>
                  </a:extLst>
                </a:gridCol>
                <a:gridCol w="1315296">
                  <a:extLst>
                    <a:ext uri="{9D8B030D-6E8A-4147-A177-3AD203B41FA5}">
                      <a16:colId xmlns:a16="http://schemas.microsoft.com/office/drawing/2014/main" val="20001"/>
                    </a:ext>
                  </a:extLst>
                </a:gridCol>
              </a:tblGrid>
              <a:tr h="387644">
                <a:tc gridSpan="2">
                  <a:txBody>
                    <a:bodyPr/>
                    <a:lstStyle/>
                    <a:p>
                      <a:pPr algn="ctr"/>
                      <a:r>
                        <a:rPr lang="en-US" sz="1600" b="1" i="0" u="none" strike="noStrike" kern="1200" baseline="0" dirty="0">
                          <a:solidFill>
                            <a:schemeClr val="tx1"/>
                          </a:solidFill>
                          <a:latin typeface="+mn-lt"/>
                          <a:ea typeface="+mn-ea"/>
                          <a:cs typeface="+mn-cs"/>
                        </a:rPr>
                        <a:t>Accounts Payable</a:t>
                      </a:r>
                      <a:endParaRPr lang="en-US" sz="1400" dirty="0"/>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240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(7) 1,900</a:t>
                      </a:r>
                      <a:endParaRPr lang="en-US" sz="1400" b="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(3)  3,700</a:t>
                      </a:r>
                      <a:endParaRPr lang="en-US" sz="1400" b="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240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dirty="0"/>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Bal. 1,800</a:t>
                      </a:r>
                      <a:endParaRPr lang="en-US" sz="1400" b="0" dirty="0"/>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54470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Accounts After Posting </a:t>
            </a:r>
            <a:r>
              <a:rPr lang="en-US" sz="2000" b="0" dirty="0"/>
              <a:t>(2 of 2)</a:t>
            </a:r>
            <a:endParaRPr lang="en-US" b="0" dirty="0"/>
          </a:p>
        </p:txBody>
      </p:sp>
      <p:sp>
        <p:nvSpPr>
          <p:cNvPr id="4" name="Content Placeholder 3"/>
          <p:cNvSpPr>
            <a:spLocks noGrp="1"/>
          </p:cNvSpPr>
          <p:nvPr>
            <p:ph idx="1"/>
          </p:nvPr>
        </p:nvSpPr>
        <p:spPr>
          <a:xfrm>
            <a:off x="457200" y="1600201"/>
            <a:ext cx="8229600" cy="365758"/>
          </a:xfrm>
        </p:spPr>
        <p:txBody>
          <a:bodyPr>
            <a:normAutofit fontScale="92500" lnSpcReduction="20000"/>
          </a:bodyPr>
          <a:lstStyle/>
          <a:p>
            <a:pPr marL="0" indent="0">
              <a:buNone/>
            </a:pPr>
            <a:r>
              <a:rPr lang="en-US" altLang="en-US" b="1" dirty="0"/>
              <a:t>	</a:t>
            </a:r>
            <a:r>
              <a:rPr lang="en-US" dirty="0"/>
              <a:t>+	</a:t>
            </a:r>
            <a:r>
              <a:rPr lang="en-US" b="1" dirty="0"/>
              <a:t>Shareholders’ Equity</a:t>
            </a:r>
          </a:p>
        </p:txBody>
      </p:sp>
      <p:cxnSp>
        <p:nvCxnSpPr>
          <p:cNvPr id="5" name="Straight Connector 4"/>
          <p:cNvCxnSpPr/>
          <p:nvPr/>
        </p:nvCxnSpPr>
        <p:spPr>
          <a:xfrm>
            <a:off x="1244287" y="2819400"/>
            <a:ext cx="2667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9" name="Table 108"/>
          <p:cNvGraphicFramePr>
            <a:graphicFrameLocks noGrp="1"/>
          </p:cNvGraphicFramePr>
          <p:nvPr/>
        </p:nvGraphicFramePr>
        <p:xfrm>
          <a:off x="1244287" y="2214998"/>
          <a:ext cx="2659944" cy="956654"/>
        </p:xfrm>
        <a:graphic>
          <a:graphicData uri="http://schemas.openxmlformats.org/drawingml/2006/table">
            <a:tbl>
              <a:tblPr firstRow="1" bandRow="1">
                <a:tableStyleId>{2D5ABB26-0587-4C30-8999-92F81FD0307C}</a:tableStyleId>
              </a:tblPr>
              <a:tblGrid>
                <a:gridCol w="1413472">
                  <a:extLst>
                    <a:ext uri="{9D8B030D-6E8A-4147-A177-3AD203B41FA5}">
                      <a16:colId xmlns:a16="http://schemas.microsoft.com/office/drawing/2014/main" val="20000"/>
                    </a:ext>
                  </a:extLst>
                </a:gridCol>
                <a:gridCol w="1246472">
                  <a:extLst>
                    <a:ext uri="{9D8B030D-6E8A-4147-A177-3AD203B41FA5}">
                      <a16:colId xmlns:a16="http://schemas.microsoft.com/office/drawing/2014/main" val="20001"/>
                    </a:ext>
                  </a:extLst>
                </a:gridCol>
              </a:tblGrid>
              <a:tr h="339130">
                <a:tc gridSpan="2">
                  <a:txBody>
                    <a:bodyPr/>
                    <a:lstStyle/>
                    <a:p>
                      <a:pPr algn="ctr"/>
                      <a:r>
                        <a:rPr lang="en-US" sz="1600" b="1" i="0" u="none" strike="noStrike" kern="1200" baseline="0" dirty="0">
                          <a:solidFill>
                            <a:schemeClr val="tx1"/>
                          </a:solidFill>
                          <a:latin typeface="+mn-lt"/>
                          <a:ea typeface="+mn-ea"/>
                          <a:cs typeface="+mn-cs"/>
                        </a:rPr>
                        <a:t>Common Shares</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4719">
                <a:tc>
                  <a:txBody>
                    <a:bodyPr/>
                    <a:lstStyle/>
                    <a:p>
                      <a:pPr algn="ctr" fontAlgn="base">
                        <a:lnSpc>
                          <a:spcPct val="85000"/>
                        </a:lnSpc>
                        <a:spcAft>
                          <a:spcPts val="0"/>
                        </a:spcAft>
                      </a:pPr>
                      <a:endParaRPr lang="en-US" sz="1400" u="none" dirty="0"/>
                    </a:p>
                  </a:txBody>
                  <a:tcPr marL="0" marR="0" marT="0" marB="0">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(1)   50,000</a:t>
                      </a:r>
                    </a:p>
                  </a:txBody>
                  <a:tcPr marL="0" marR="0" marT="0" marB="0">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02805">
                <a:tc>
                  <a:txBody>
                    <a:bodyPr/>
                    <a:lstStyle/>
                    <a:p>
                      <a:pPr fontAlgn="base">
                        <a:lnSpc>
                          <a:spcPct val="85000"/>
                        </a:lnSpc>
                        <a:spcAft>
                          <a:spcPts val="0"/>
                        </a:spcAft>
                      </a:pPr>
                      <a:endParaRPr lang="en-US" sz="1400" dirty="0"/>
                    </a:p>
                  </a:txBody>
                  <a:tcPr marL="0" marR="0" marT="0" marB="0">
                    <a:lnR w="31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Bal. 50,000</a:t>
                      </a:r>
                    </a:p>
                  </a:txBody>
                  <a:tcPr marL="0" marR="0" marT="0" marB="0">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1223668" y="3383280"/>
          <a:ext cx="2656752" cy="1493520"/>
        </p:xfrm>
        <a:graphic>
          <a:graphicData uri="http://schemas.openxmlformats.org/drawingml/2006/table">
            <a:tbl>
              <a:tblPr firstRow="1" bandRow="1">
                <a:tableStyleId>{2D5ABB26-0587-4C30-8999-92F81FD0307C}</a:tableStyleId>
              </a:tblPr>
              <a:tblGrid>
                <a:gridCol w="1413033">
                  <a:extLst>
                    <a:ext uri="{9D8B030D-6E8A-4147-A177-3AD203B41FA5}">
                      <a16:colId xmlns:a16="http://schemas.microsoft.com/office/drawing/2014/main" val="20000"/>
                    </a:ext>
                  </a:extLst>
                </a:gridCol>
                <a:gridCol w="1243719">
                  <a:extLst>
                    <a:ext uri="{9D8B030D-6E8A-4147-A177-3AD203B41FA5}">
                      <a16:colId xmlns:a16="http://schemas.microsoft.com/office/drawing/2014/main" val="20001"/>
                    </a:ext>
                  </a:extLst>
                </a:gridCol>
              </a:tblGrid>
              <a:tr h="431385">
                <a:tc gridSpan="2">
                  <a:txBody>
                    <a:bodyPr/>
                    <a:lstStyle/>
                    <a:p>
                      <a:pPr algn="ctr"/>
                      <a:r>
                        <a:rPr lang="en-US" sz="1600" b="1" i="0" u="none" strike="noStrike" kern="1200" baseline="0" dirty="0">
                          <a:solidFill>
                            <a:schemeClr val="tx1"/>
                          </a:solidFill>
                          <a:latin typeface="+mn-lt"/>
                          <a:ea typeface="+mn-ea"/>
                          <a:cs typeface="+mn-cs"/>
                        </a:rPr>
                        <a:t>REVENUE</a:t>
                      </a:r>
                    </a:p>
                    <a:p>
                      <a:pPr algn="ctr"/>
                      <a:r>
                        <a:rPr lang="en-US" sz="1600" b="1" i="0" u="none" strike="noStrike" kern="1200" baseline="0" dirty="0">
                          <a:solidFill>
                            <a:schemeClr val="tx1"/>
                          </a:solidFill>
                          <a:latin typeface="+mn-lt"/>
                          <a:ea typeface="+mn-ea"/>
                          <a:cs typeface="+mn-cs"/>
                        </a:rPr>
                        <a:t>Service Revenue</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704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i="0" u="none" strike="noStrike" kern="1200" baseline="0" dirty="0">
                        <a:solidFill>
                          <a:schemeClr val="tx1"/>
                        </a:solidFill>
                        <a:latin typeface="+mn-lt"/>
                        <a:ea typeface="+mn-ea"/>
                        <a:cs typeface="+mn-cs"/>
                      </a:endParaRP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(4) 7,000</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22704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i="0" u="none" strike="noStrike" kern="1200" baseline="0" dirty="0">
                        <a:solidFill>
                          <a:schemeClr val="tx1"/>
                        </a:solidFill>
                        <a:latin typeface="+mn-lt"/>
                        <a:ea typeface="+mn-ea"/>
                        <a:cs typeface="+mn-cs"/>
                      </a:endParaRPr>
                    </a:p>
                  </a:txBody>
                  <a:tcPr>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(5) 3,000</a:t>
                      </a:r>
                    </a:p>
                  </a:txBody>
                  <a:tcPr>
                    <a:lnL w="3175"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704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i="0" u="none" strike="noStrike" kern="1200" baseline="0" dirty="0">
                        <a:solidFill>
                          <a:schemeClr val="tx1"/>
                        </a:solidFill>
                        <a:latin typeface="+mn-lt"/>
                        <a:ea typeface="+mn-ea"/>
                        <a:cs typeface="+mn-cs"/>
                      </a:endParaRP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Bal. 10,000</a:t>
                      </a: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bl>
          </a:graphicData>
        </a:graphic>
      </p:graphicFrame>
      <p:graphicFrame>
        <p:nvGraphicFramePr>
          <p:cNvPr id="110" name="Table 109"/>
          <p:cNvGraphicFramePr>
            <a:graphicFrameLocks noGrp="1"/>
          </p:cNvGraphicFramePr>
          <p:nvPr/>
        </p:nvGraphicFramePr>
        <p:xfrm>
          <a:off x="4965192" y="2026920"/>
          <a:ext cx="2656752" cy="944880"/>
        </p:xfrm>
        <a:graphic>
          <a:graphicData uri="http://schemas.openxmlformats.org/drawingml/2006/table">
            <a:tbl>
              <a:tblPr firstRow="1" bandRow="1">
                <a:tableStyleId>{2D5ABB26-0587-4C30-8999-92F81FD0307C}</a:tableStyleId>
              </a:tblPr>
              <a:tblGrid>
                <a:gridCol w="1341456">
                  <a:extLst>
                    <a:ext uri="{9D8B030D-6E8A-4147-A177-3AD203B41FA5}">
                      <a16:colId xmlns:a16="http://schemas.microsoft.com/office/drawing/2014/main" val="20000"/>
                    </a:ext>
                  </a:extLst>
                </a:gridCol>
                <a:gridCol w="1315296">
                  <a:extLst>
                    <a:ext uri="{9D8B030D-6E8A-4147-A177-3AD203B41FA5}">
                      <a16:colId xmlns:a16="http://schemas.microsoft.com/office/drawing/2014/main" val="20001"/>
                    </a:ext>
                  </a:extLst>
                </a:gridCol>
              </a:tblGrid>
              <a:tr h="252795">
                <a:tc gridSpan="2">
                  <a:txBody>
                    <a:bodyPr/>
                    <a:lstStyle/>
                    <a:p>
                      <a:pPr algn="ctr"/>
                      <a:r>
                        <a:rPr lang="en-US" sz="1600" b="1" i="0" u="none" strike="noStrike" kern="1200" baseline="0" dirty="0">
                          <a:solidFill>
                            <a:schemeClr val="tx1"/>
                          </a:solidFill>
                          <a:latin typeface="+mn-lt"/>
                          <a:ea typeface="+mn-ea"/>
                          <a:cs typeface="+mn-cs"/>
                        </a:rPr>
                        <a:t>Dividends</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(11) 2,100</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Bal. 2,100</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dirty="0"/>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4965156" y="3072616"/>
          <a:ext cx="2656752" cy="1188720"/>
        </p:xfrm>
        <a:graphic>
          <a:graphicData uri="http://schemas.openxmlformats.org/drawingml/2006/table">
            <a:tbl>
              <a:tblPr firstRow="1" bandRow="1">
                <a:tableStyleId>{2D5ABB26-0587-4C30-8999-92F81FD0307C}</a:tableStyleId>
              </a:tblPr>
              <a:tblGrid>
                <a:gridCol w="1318428">
                  <a:extLst>
                    <a:ext uri="{9D8B030D-6E8A-4147-A177-3AD203B41FA5}">
                      <a16:colId xmlns:a16="http://schemas.microsoft.com/office/drawing/2014/main" val="20000"/>
                    </a:ext>
                  </a:extLst>
                </a:gridCol>
                <a:gridCol w="1338324">
                  <a:extLst>
                    <a:ext uri="{9D8B030D-6E8A-4147-A177-3AD203B41FA5}">
                      <a16:colId xmlns:a16="http://schemas.microsoft.com/office/drawing/2014/main" val="20001"/>
                    </a:ext>
                  </a:extLst>
                </a:gridCol>
              </a:tblGrid>
              <a:tr h="534572">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i="0" u="none" strike="noStrike" kern="1200" baseline="0" dirty="0">
                          <a:solidFill>
                            <a:schemeClr val="tx1"/>
                          </a:solidFill>
                          <a:latin typeface="+mn-lt"/>
                          <a:ea typeface="+mn-ea"/>
                          <a:cs typeface="+mn-cs"/>
                        </a:rPr>
                        <a:t>EXPENSES</a:t>
                      </a:r>
                    </a:p>
                    <a:p>
                      <a:pPr marL="0" marR="0" indent="0" algn="ctr" defTabSz="914400" rtl="0" eaLnBrk="1" fontAlgn="auto" latinLnBrk="0" hangingPunct="1">
                        <a:lnSpc>
                          <a:spcPct val="100000"/>
                        </a:lnSpc>
                        <a:spcBef>
                          <a:spcPts val="0"/>
                        </a:spcBef>
                        <a:spcAft>
                          <a:spcPts val="0"/>
                        </a:spcAft>
                        <a:buClrTx/>
                        <a:buSzTx/>
                        <a:buFontTx/>
                        <a:buNone/>
                        <a:tabLst/>
                        <a:defRPr/>
                      </a:pPr>
                      <a:r>
                        <a:rPr lang="en-US" sz="1600" b="1" i="0" u="none" strike="noStrike" kern="1200" baseline="0" dirty="0">
                          <a:solidFill>
                            <a:schemeClr val="tx1"/>
                          </a:solidFill>
                          <a:latin typeface="+mn-lt"/>
                          <a:ea typeface="+mn-ea"/>
                          <a:cs typeface="+mn-cs"/>
                        </a:rPr>
                        <a:t>Rent Expense</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135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(6)   1,100</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i="0" u="none" strike="noStrike" kern="1200" baseline="0" dirty="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135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Bal. 1,100</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dirty="0"/>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nvGraphicFramePr>
        <p:xfrm>
          <a:off x="4965156" y="4343400"/>
          <a:ext cx="2656752" cy="944880"/>
        </p:xfrm>
        <a:graphic>
          <a:graphicData uri="http://schemas.openxmlformats.org/drawingml/2006/table">
            <a:tbl>
              <a:tblPr firstRow="1" bandRow="1">
                <a:tableStyleId>{2D5ABB26-0587-4C30-8999-92F81FD0307C}</a:tableStyleId>
              </a:tblPr>
              <a:tblGrid>
                <a:gridCol w="1318428">
                  <a:extLst>
                    <a:ext uri="{9D8B030D-6E8A-4147-A177-3AD203B41FA5}">
                      <a16:colId xmlns:a16="http://schemas.microsoft.com/office/drawing/2014/main" val="20000"/>
                    </a:ext>
                  </a:extLst>
                </a:gridCol>
                <a:gridCol w="1338324">
                  <a:extLst>
                    <a:ext uri="{9D8B030D-6E8A-4147-A177-3AD203B41FA5}">
                      <a16:colId xmlns:a16="http://schemas.microsoft.com/office/drawing/2014/main" val="20001"/>
                    </a:ext>
                  </a:extLst>
                </a:gridCol>
              </a:tblGrid>
              <a:tr h="25279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i="0" u="none" strike="noStrike" kern="1200" baseline="0" dirty="0">
                          <a:solidFill>
                            <a:schemeClr val="tx1"/>
                          </a:solidFill>
                          <a:latin typeface="+mn-lt"/>
                          <a:ea typeface="+mn-ea"/>
                          <a:cs typeface="+mn-cs"/>
                        </a:rPr>
                        <a:t>Salary Expense</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(6)   1,200</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i="0" u="none" strike="noStrike" kern="1200" baseline="0" dirty="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Bal. 1,200</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i="0" u="none" strike="noStrike" kern="1200" baseline="0" dirty="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nvGraphicFramePr>
        <p:xfrm>
          <a:off x="4965156" y="5334000"/>
          <a:ext cx="2656752" cy="944880"/>
        </p:xfrm>
        <a:graphic>
          <a:graphicData uri="http://schemas.openxmlformats.org/drawingml/2006/table">
            <a:tbl>
              <a:tblPr firstRow="1" bandRow="1">
                <a:tableStyleId>{2D5ABB26-0587-4C30-8999-92F81FD0307C}</a:tableStyleId>
              </a:tblPr>
              <a:tblGrid>
                <a:gridCol w="1318428">
                  <a:extLst>
                    <a:ext uri="{9D8B030D-6E8A-4147-A177-3AD203B41FA5}">
                      <a16:colId xmlns:a16="http://schemas.microsoft.com/office/drawing/2014/main" val="20000"/>
                    </a:ext>
                  </a:extLst>
                </a:gridCol>
                <a:gridCol w="1338324">
                  <a:extLst>
                    <a:ext uri="{9D8B030D-6E8A-4147-A177-3AD203B41FA5}">
                      <a16:colId xmlns:a16="http://schemas.microsoft.com/office/drawing/2014/main" val="20001"/>
                    </a:ext>
                  </a:extLst>
                </a:gridCol>
              </a:tblGrid>
              <a:tr h="25279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i="0" u="none" strike="noStrike" kern="1200" baseline="0" dirty="0">
                          <a:solidFill>
                            <a:schemeClr val="tx1"/>
                          </a:solidFill>
                          <a:latin typeface="+mn-lt"/>
                          <a:ea typeface="+mn-ea"/>
                          <a:cs typeface="+mn-cs"/>
                        </a:rPr>
                        <a:t>Utilities Expense</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(6)   400</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i="0" u="none" strike="noStrike" kern="1200" baseline="0" dirty="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180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Bal. 400</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i="0" u="none" strike="noStrike" kern="1200" baseline="0" dirty="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79847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Five</a:t>
            </a:r>
          </a:p>
        </p:txBody>
      </p:sp>
      <p:sp>
        <p:nvSpPr>
          <p:cNvPr id="3" name="Content Placeholder 2"/>
          <p:cNvSpPr>
            <a:spLocks noGrp="1"/>
          </p:cNvSpPr>
          <p:nvPr>
            <p:ph type="subTitle" idx="1"/>
          </p:nvPr>
        </p:nvSpPr>
        <p:spPr/>
        <p:txBody>
          <a:bodyPr/>
          <a:lstStyle/>
          <a:p>
            <a:r>
              <a:rPr lang="en-US" b="1" dirty="0">
                <a:ea typeface="ＭＳ Ｐゴシック" pitchFamily="34" charset="-128"/>
              </a:rPr>
              <a:t>Prepare </a:t>
            </a:r>
            <a:r>
              <a:rPr lang="en-US" dirty="0">
                <a:ea typeface="ＭＳ Ｐゴシック" pitchFamily="34" charset="-128"/>
              </a:rPr>
              <a:t>and </a:t>
            </a:r>
            <a:r>
              <a:rPr lang="en-US" b="1" dirty="0">
                <a:ea typeface="ＭＳ Ｐゴシック" pitchFamily="34" charset="-128"/>
              </a:rPr>
              <a:t>use</a:t>
            </a:r>
            <a:r>
              <a:rPr lang="en-US" dirty="0">
                <a:ea typeface="ＭＳ Ｐゴシック" pitchFamily="34" charset="-128"/>
              </a:rPr>
              <a:t> a trial balance</a:t>
            </a:r>
            <a:endParaRPr lang="en-US" dirty="0"/>
          </a:p>
        </p:txBody>
      </p:sp>
    </p:spTree>
    <p:extLst>
      <p:ext uri="{BB962C8B-B14F-4D97-AF65-F5344CB8AC3E}">
        <p14:creationId xmlns:p14="http://schemas.microsoft.com/office/powerpoint/2010/main" val="2143114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Trial Balance</a:t>
            </a:r>
            <a:endParaRPr lang="en-US" dirty="0"/>
          </a:p>
        </p:txBody>
      </p:sp>
      <p:sp>
        <p:nvSpPr>
          <p:cNvPr id="3" name="Content Placeholder 2"/>
          <p:cNvSpPr>
            <a:spLocks noGrp="1"/>
          </p:cNvSpPr>
          <p:nvPr>
            <p:ph idx="1"/>
          </p:nvPr>
        </p:nvSpPr>
        <p:spPr/>
        <p:txBody>
          <a:bodyPr/>
          <a:lstStyle/>
          <a:p>
            <a:r>
              <a:rPr lang="en-US" dirty="0">
                <a:ea typeface="ＭＳ Ｐゴシック" pitchFamily="34" charset="-128"/>
              </a:rPr>
              <a:t>Lists all accounts with their balances</a:t>
            </a:r>
          </a:p>
          <a:p>
            <a:r>
              <a:rPr lang="en-US" dirty="0">
                <a:ea typeface="ＭＳ Ｐゴシック" pitchFamily="34" charset="-128"/>
              </a:rPr>
              <a:t>Assets listed first, then liabilities and shareholders</a:t>
            </a:r>
            <a:r>
              <a:rPr lang="en-US" altLang="en-US" dirty="0">
                <a:ea typeface="ＭＳ Ｐゴシック" pitchFamily="34" charset="-128"/>
              </a:rPr>
              <a:t>’</a:t>
            </a:r>
            <a:r>
              <a:rPr lang="en-US" dirty="0">
                <a:ea typeface="ＭＳ Ｐゴシック" pitchFamily="34" charset="-128"/>
              </a:rPr>
              <a:t> equity</a:t>
            </a:r>
          </a:p>
          <a:p>
            <a:r>
              <a:rPr lang="en-US" dirty="0">
                <a:ea typeface="ＭＳ Ｐゴシック" pitchFamily="34" charset="-128"/>
              </a:rPr>
              <a:t>Shows that debits equal credits</a:t>
            </a:r>
          </a:p>
          <a:p>
            <a:r>
              <a:rPr lang="en-US" dirty="0">
                <a:ea typeface="ＭＳ Ｐゴシック" pitchFamily="34" charset="-128"/>
              </a:rPr>
              <a:t>Usually prepared at the end of the period</a:t>
            </a:r>
          </a:p>
          <a:p>
            <a:r>
              <a:rPr lang="en-US" dirty="0">
                <a:ea typeface="ＭＳ Ｐゴシック" pitchFamily="34" charset="-128"/>
              </a:rPr>
              <a:t>Facilitates preparation of the financial statements</a:t>
            </a:r>
            <a:endParaRPr lang="en-US" dirty="0"/>
          </a:p>
        </p:txBody>
      </p:sp>
    </p:spTree>
    <p:extLst>
      <p:ext uri="{BB962C8B-B14F-4D97-AF65-F5344CB8AC3E}">
        <p14:creationId xmlns:p14="http://schemas.microsoft.com/office/powerpoint/2010/main" val="1140296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Tara Inc. Trial Balance</a:t>
            </a:r>
            <a:endParaRPr lang="en-US" dirty="0"/>
          </a:p>
        </p:txBody>
      </p:sp>
      <p:sp>
        <p:nvSpPr>
          <p:cNvPr id="6" name="Content Placeholder 5"/>
          <p:cNvSpPr>
            <a:spLocks noGrp="1"/>
          </p:cNvSpPr>
          <p:nvPr>
            <p:ph idx="1"/>
          </p:nvPr>
        </p:nvSpPr>
        <p:spPr>
          <a:xfrm>
            <a:off x="1446962" y="1600201"/>
            <a:ext cx="6173037" cy="731520"/>
          </a:xfrm>
          <a:noFill/>
          <a:ln w="12700">
            <a:solidFill>
              <a:schemeClr val="tx1"/>
            </a:solidFill>
          </a:ln>
        </p:spPr>
        <p:txBody>
          <a:bodyPr>
            <a:normAutofit fontScale="70000" lnSpcReduction="20000"/>
          </a:bodyPr>
          <a:lstStyle/>
          <a:p>
            <a:pPr marL="0" indent="0" algn="ctr">
              <a:spcBef>
                <a:spcPts val="0"/>
              </a:spcBef>
              <a:buNone/>
            </a:pPr>
            <a:r>
              <a:rPr lang="en-US" sz="1600" b="1" dirty="0"/>
              <a:t>Tara Inc. </a:t>
            </a:r>
          </a:p>
          <a:p>
            <a:pPr marL="0" indent="0" algn="ctr">
              <a:spcBef>
                <a:spcPts val="0"/>
              </a:spcBef>
              <a:buNone/>
            </a:pPr>
            <a:r>
              <a:rPr lang="en-US" sz="1600" dirty="0"/>
              <a:t>Trial Balance</a:t>
            </a:r>
          </a:p>
          <a:p>
            <a:pPr marL="0" indent="0" algn="ctr">
              <a:spcBef>
                <a:spcPts val="0"/>
              </a:spcBef>
              <a:buNone/>
            </a:pPr>
            <a:r>
              <a:rPr lang="en-US" sz="1600" dirty="0"/>
              <a:t>April 30, 20XX</a:t>
            </a:r>
          </a:p>
        </p:txBody>
      </p:sp>
      <p:graphicFrame>
        <p:nvGraphicFramePr>
          <p:cNvPr id="5" name="Table 4"/>
          <p:cNvGraphicFramePr>
            <a:graphicFrameLocks noGrp="1"/>
          </p:cNvGraphicFramePr>
          <p:nvPr/>
        </p:nvGraphicFramePr>
        <p:xfrm>
          <a:off x="1447800" y="2332056"/>
          <a:ext cx="6172200" cy="3775536"/>
        </p:xfrm>
        <a:graphic>
          <a:graphicData uri="http://schemas.openxmlformats.org/drawingml/2006/table">
            <a:tbl>
              <a:tblPr firstRow="1" bandRow="1">
                <a:tableStyleId>{2D5ABB26-0587-4C30-8999-92F81FD0307C}</a:tableStyleId>
              </a:tblPr>
              <a:tblGrid>
                <a:gridCol w="32766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270692">
                <a:tc>
                  <a:txBody>
                    <a:bodyPr/>
                    <a:lstStyle/>
                    <a:p>
                      <a:pPr>
                        <a:lnSpc>
                          <a:spcPct val="115000"/>
                        </a:lnSpc>
                        <a:spcAft>
                          <a:spcPts val="0"/>
                        </a:spcAft>
                      </a:pPr>
                      <a:endParaRPr 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600" b="1" dirty="0"/>
                        <a:t>Balance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nSpc>
                          <a:spcPct val="115000"/>
                        </a:lnSpc>
                        <a:spcAft>
                          <a:spcPts val="0"/>
                        </a:spcAft>
                      </a:pPr>
                      <a:endParaRPr lang="en-US" sz="1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0692">
                <a:tc>
                  <a:txBody>
                    <a:bodyPr/>
                    <a:lstStyle/>
                    <a:p>
                      <a:pPr>
                        <a:lnSpc>
                          <a:spcPct val="115000"/>
                        </a:lnSpc>
                        <a:spcAft>
                          <a:spcPts val="0"/>
                        </a:spcAft>
                      </a:pPr>
                      <a:r>
                        <a:rPr lang="en-US" sz="1600" b="1" i="0" u="none" strike="noStrike" kern="1200" baseline="0" dirty="0">
                          <a:solidFill>
                            <a:schemeClr val="tx1"/>
                          </a:solidFill>
                          <a:latin typeface="+mn-lt"/>
                          <a:ea typeface="+mn-ea"/>
                          <a:cs typeface="+mn-cs"/>
                        </a:rPr>
                        <a:t>Account Title</a:t>
                      </a:r>
                      <a:endParaRPr lang="en-US" sz="1600" b="1"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600" b="1" dirty="0"/>
                        <a:t> Debit    </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600" b="1" dirty="0"/>
                        <a:t>Credit</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0692">
                <a:tc>
                  <a:txBody>
                    <a:bodyPr/>
                    <a:lstStyle/>
                    <a:p>
                      <a:pPr>
                        <a:lnSpc>
                          <a:spcPct val="115000"/>
                        </a:lnSpc>
                        <a:spcAft>
                          <a:spcPts val="0"/>
                        </a:spcAft>
                      </a:pPr>
                      <a:r>
                        <a:rPr lang="en-US" sz="1600" dirty="0"/>
                        <a:t>Cash</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r">
                        <a:lnSpc>
                          <a:spcPct val="115000"/>
                        </a:lnSpc>
                        <a:spcAft>
                          <a:spcPts val="0"/>
                        </a:spcAft>
                      </a:pPr>
                      <a:r>
                        <a:rPr lang="en-US" sz="1600" dirty="0"/>
                        <a:t> $33,300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endParaRPr 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0692">
                <a:tc>
                  <a:txBody>
                    <a:bodyPr/>
                    <a:lstStyle/>
                    <a:p>
                      <a:pPr>
                        <a:lnSpc>
                          <a:spcPct val="115000"/>
                        </a:lnSpc>
                        <a:spcAft>
                          <a:spcPts val="0"/>
                        </a:spcAft>
                      </a:pPr>
                      <a:r>
                        <a:rPr lang="en-US" sz="1600" dirty="0"/>
                        <a:t>Accounts receivable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2,000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endParaRPr 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0692">
                <a:tc>
                  <a:txBody>
                    <a:bodyPr/>
                    <a:lstStyle/>
                    <a:p>
                      <a:pPr>
                        <a:lnSpc>
                          <a:spcPct val="115000"/>
                        </a:lnSpc>
                        <a:spcAft>
                          <a:spcPts val="0"/>
                        </a:spcAft>
                      </a:pPr>
                      <a:r>
                        <a:rPr lang="en-US" sz="1600" dirty="0"/>
                        <a:t>Supplies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15000"/>
                        </a:lnSpc>
                        <a:spcBef>
                          <a:spcPts val="0"/>
                        </a:spcBef>
                        <a:spcAft>
                          <a:spcPts val="0"/>
                        </a:spcAft>
                        <a:buClrTx/>
                        <a:buSzTx/>
                        <a:buFontTx/>
                        <a:buNone/>
                        <a:tabLst/>
                        <a:defRPr/>
                      </a:pPr>
                      <a:r>
                        <a:rPr lang="en-US" sz="1600" dirty="0"/>
                        <a:t>3,700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endParaRPr lang="en-US" sz="1600" dirty="0"/>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0692">
                <a:tc>
                  <a:txBody>
                    <a:bodyPr/>
                    <a:lstStyle/>
                    <a:p>
                      <a:pPr>
                        <a:lnSpc>
                          <a:spcPct val="115000"/>
                        </a:lnSpc>
                        <a:spcAft>
                          <a:spcPts val="0"/>
                        </a:spcAft>
                      </a:pPr>
                      <a:r>
                        <a:rPr lang="en-US" sz="1600" dirty="0"/>
                        <a:t>Land</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18,000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endParaRPr lang="en-US" sz="1600" dirty="0"/>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0692">
                <a:tc>
                  <a:txBody>
                    <a:bodyPr/>
                    <a:lstStyle/>
                    <a:p>
                      <a:pPr>
                        <a:lnSpc>
                          <a:spcPct val="115000"/>
                        </a:lnSpc>
                        <a:spcAft>
                          <a:spcPts val="0"/>
                        </a:spcAft>
                      </a:pPr>
                      <a:r>
                        <a:rPr lang="en-US" sz="1600" dirty="0"/>
                        <a:t>Accounts payable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endParaRPr lang="en-US" sz="1600" dirty="0"/>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15000"/>
                        </a:lnSpc>
                        <a:spcBef>
                          <a:spcPts val="0"/>
                        </a:spcBef>
                        <a:spcAft>
                          <a:spcPts val="0"/>
                        </a:spcAft>
                        <a:buClrTx/>
                        <a:buSzTx/>
                        <a:buFontTx/>
                        <a:buNone/>
                        <a:tabLst/>
                        <a:defRPr/>
                      </a:pPr>
                      <a:r>
                        <a:rPr lang="en-US" sz="1600" dirty="0"/>
                        <a:t>$1,800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0692">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Common shares</a:t>
                      </a:r>
                      <a:endParaRPr 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 </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50,000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70692">
                <a:tc>
                  <a:txBody>
                    <a:bodyPr/>
                    <a:lstStyle/>
                    <a:p>
                      <a:pPr>
                        <a:lnSpc>
                          <a:spcPct val="115000"/>
                        </a:lnSpc>
                        <a:spcAft>
                          <a:spcPts val="0"/>
                        </a:spcAft>
                      </a:pPr>
                      <a:r>
                        <a:rPr lang="en-US" sz="1600" dirty="0"/>
                        <a:t>Dividends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2,100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 </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70692">
                <a:tc>
                  <a:txBody>
                    <a:bodyPr/>
                    <a:lstStyle/>
                    <a:p>
                      <a:pPr>
                        <a:lnSpc>
                          <a:spcPct val="115000"/>
                        </a:lnSpc>
                        <a:spcAft>
                          <a:spcPts val="0"/>
                        </a:spcAft>
                      </a:pPr>
                      <a:r>
                        <a:rPr lang="en-US" sz="1600" dirty="0"/>
                        <a:t>Service revenue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endParaRPr lang="en-US" sz="1600" dirty="0"/>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15000"/>
                        </a:lnSpc>
                        <a:spcBef>
                          <a:spcPts val="0"/>
                        </a:spcBef>
                        <a:spcAft>
                          <a:spcPts val="0"/>
                        </a:spcAft>
                        <a:buClrTx/>
                        <a:buSzTx/>
                        <a:buFontTx/>
                        <a:buNone/>
                        <a:tabLst/>
                        <a:defRPr/>
                      </a:pPr>
                      <a:r>
                        <a:rPr lang="en-US" sz="1600" dirty="0"/>
                        <a:t>10,000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70692">
                <a:tc>
                  <a:txBody>
                    <a:bodyPr/>
                    <a:lstStyle/>
                    <a:p>
                      <a:pPr>
                        <a:lnSpc>
                          <a:spcPct val="115000"/>
                        </a:lnSpc>
                        <a:spcAft>
                          <a:spcPts val="0"/>
                        </a:spcAft>
                      </a:pPr>
                      <a:r>
                        <a:rPr lang="en-US" sz="1600" dirty="0"/>
                        <a:t>Rent expense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1,100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 </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70692">
                <a:tc>
                  <a:txBody>
                    <a:bodyPr/>
                    <a:lstStyle/>
                    <a:p>
                      <a:pPr>
                        <a:lnSpc>
                          <a:spcPct val="115000"/>
                        </a:lnSpc>
                        <a:spcAft>
                          <a:spcPts val="0"/>
                        </a:spcAft>
                      </a:pPr>
                      <a:r>
                        <a:rPr lang="en-US" sz="1600" dirty="0"/>
                        <a:t>Salary expense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1,200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 </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70692">
                <a:tc>
                  <a:txBody>
                    <a:bodyPr/>
                    <a:lstStyle/>
                    <a:p>
                      <a:pPr>
                        <a:lnSpc>
                          <a:spcPct val="115000"/>
                        </a:lnSpc>
                        <a:spcAft>
                          <a:spcPts val="0"/>
                        </a:spcAft>
                      </a:pPr>
                      <a:r>
                        <a:rPr lang="en-US" sz="1600" dirty="0"/>
                        <a:t>Utilities expense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u="sng" dirty="0"/>
                        <a:t>       400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dirty="0"/>
                        <a:t> </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47698">
                <a:tc>
                  <a:txBody>
                    <a:bodyPr/>
                    <a:lstStyle/>
                    <a:p>
                      <a:pPr>
                        <a:lnSpc>
                          <a:spcPct val="115000"/>
                        </a:lnSpc>
                        <a:spcAft>
                          <a:spcPts val="0"/>
                        </a:spcAft>
                      </a:pPr>
                      <a:r>
                        <a:rPr lang="en-US" sz="1600" dirty="0"/>
                        <a:t>Total</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u="dbl" baseline="0" dirty="0"/>
                        <a:t> $61,800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u="dbl" baseline="0" dirty="0"/>
                        <a:t>$61,800</a:t>
                      </a: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094400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Six</a:t>
            </a:r>
          </a:p>
        </p:txBody>
      </p:sp>
      <p:sp>
        <p:nvSpPr>
          <p:cNvPr id="3" name="Content Placeholder 2"/>
          <p:cNvSpPr>
            <a:spLocks noGrp="1"/>
          </p:cNvSpPr>
          <p:nvPr>
            <p:ph type="subTitle" idx="1"/>
          </p:nvPr>
        </p:nvSpPr>
        <p:spPr/>
        <p:txBody>
          <a:bodyPr>
            <a:normAutofit lnSpcReduction="10000"/>
          </a:bodyPr>
          <a:lstStyle/>
          <a:p>
            <a:r>
              <a:rPr lang="en-US" b="1" dirty="0">
                <a:ea typeface="ＭＳ Ｐゴシック" pitchFamily="34" charset="-128"/>
              </a:rPr>
              <a:t>Describe </a:t>
            </a:r>
            <a:r>
              <a:rPr lang="en-US" dirty="0">
                <a:ea typeface="ＭＳ Ｐゴシック" pitchFamily="34" charset="-128"/>
              </a:rPr>
              <a:t>machine learning and its applications in accounting and business</a:t>
            </a:r>
            <a:endParaRPr lang="en-US" dirty="0"/>
          </a:p>
        </p:txBody>
      </p:sp>
    </p:spTree>
    <p:extLst>
      <p:ext uri="{BB962C8B-B14F-4D97-AF65-F5344CB8AC3E}">
        <p14:creationId xmlns:p14="http://schemas.microsoft.com/office/powerpoint/2010/main" val="2498866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382000" cy="1097280"/>
          </a:xfrm>
        </p:spPr>
        <p:txBody>
          <a:bodyPr/>
          <a:lstStyle/>
          <a:p>
            <a:r>
              <a:rPr lang="en-CA" dirty="0"/>
              <a:t>Artificial Intelligence and Machine Learning</a:t>
            </a:r>
          </a:p>
        </p:txBody>
      </p:sp>
      <p:sp>
        <p:nvSpPr>
          <p:cNvPr id="3" name="Content Placeholder 2"/>
          <p:cNvSpPr>
            <a:spLocks noGrp="1"/>
          </p:cNvSpPr>
          <p:nvPr>
            <p:ph idx="1"/>
          </p:nvPr>
        </p:nvSpPr>
        <p:spPr/>
        <p:txBody>
          <a:bodyPr/>
          <a:lstStyle/>
          <a:p>
            <a:pPr marL="0" indent="0" algn="l">
              <a:buNone/>
            </a:pPr>
            <a:r>
              <a:rPr lang="en-CA" dirty="0"/>
              <a:t>Artificial </a:t>
            </a:r>
            <a:r>
              <a:rPr lang="en-CA" dirty="0">
                <a:latin typeface="+mj-lt"/>
              </a:rPr>
              <a:t>intelligence (AI): </a:t>
            </a:r>
            <a:r>
              <a:rPr lang="en-CA" b="0" i="0" u="none" strike="noStrike" baseline="0" dirty="0">
                <a:latin typeface="+mj-lt"/>
              </a:rPr>
              <a:t>the science that studies </a:t>
            </a:r>
            <a:r>
              <a:rPr lang="en-US" b="0" i="0" u="none" strike="noStrike" baseline="0" dirty="0">
                <a:latin typeface="+mj-lt"/>
              </a:rPr>
              <a:t>ways to build programs and machines that can creatively solve problems in a humanlike </a:t>
            </a:r>
            <a:r>
              <a:rPr lang="en-CA" b="0" i="0" u="none" strike="noStrike" baseline="0" dirty="0">
                <a:latin typeface="+mj-lt"/>
              </a:rPr>
              <a:t>manner</a:t>
            </a:r>
            <a:endParaRPr lang="en-CA" dirty="0">
              <a:latin typeface="+mj-lt"/>
            </a:endParaRPr>
          </a:p>
          <a:p>
            <a:r>
              <a:rPr lang="en-CA" dirty="0"/>
              <a:t>Examples: ride-sharing apps, plagiarism checkers</a:t>
            </a:r>
          </a:p>
          <a:p>
            <a:pPr marL="0" indent="0" algn="l">
              <a:buNone/>
            </a:pPr>
            <a:r>
              <a:rPr lang="en-CA" dirty="0"/>
              <a:t>Machine learning: </a:t>
            </a:r>
            <a:r>
              <a:rPr lang="en-US" b="0" i="0" u="none" strike="noStrike" baseline="0" dirty="0"/>
              <a:t>a subset of AI where data are provided to machines and the machines learn for themselves without explicitly programming them</a:t>
            </a:r>
            <a:endParaRPr lang="en-CA" dirty="0"/>
          </a:p>
        </p:txBody>
      </p:sp>
    </p:spTree>
    <p:extLst>
      <p:ext uri="{BB962C8B-B14F-4D97-AF65-F5344CB8AC3E}">
        <p14:creationId xmlns:p14="http://schemas.microsoft.com/office/powerpoint/2010/main" val="547603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Supervised and Unsupervised Machine Learning</a:t>
            </a:r>
          </a:p>
        </p:txBody>
      </p:sp>
      <p:sp>
        <p:nvSpPr>
          <p:cNvPr id="3" name="Content Placeholder 2"/>
          <p:cNvSpPr>
            <a:spLocks noGrp="1"/>
          </p:cNvSpPr>
          <p:nvPr>
            <p:ph idx="1"/>
          </p:nvPr>
        </p:nvSpPr>
        <p:spPr/>
        <p:txBody>
          <a:bodyPr/>
          <a:lstStyle/>
          <a:p>
            <a:pPr marL="0" indent="0">
              <a:buNone/>
            </a:pPr>
            <a:r>
              <a:rPr lang="en-CA" dirty="0"/>
              <a:t>Examples using supervised machine learning:</a:t>
            </a:r>
          </a:p>
          <a:p>
            <a:r>
              <a:rPr lang="en-CA" dirty="0"/>
              <a:t>Spam filters</a:t>
            </a:r>
          </a:p>
          <a:p>
            <a:r>
              <a:rPr lang="en-CA" dirty="0"/>
              <a:t>Advertisement placements</a:t>
            </a:r>
          </a:p>
          <a:p>
            <a:pPr marL="0" indent="0">
              <a:buNone/>
            </a:pPr>
            <a:r>
              <a:rPr lang="en-CA" dirty="0"/>
              <a:t>Examples using unsupervised machine learning:</a:t>
            </a:r>
          </a:p>
          <a:p>
            <a:r>
              <a:rPr lang="en-CA" dirty="0"/>
              <a:t>Recommendation systems</a:t>
            </a:r>
          </a:p>
          <a:p>
            <a:r>
              <a:rPr lang="en-CA" dirty="0"/>
              <a:t>Product improvement</a:t>
            </a:r>
          </a:p>
          <a:p>
            <a:endParaRPr lang="en-CA" dirty="0"/>
          </a:p>
          <a:p>
            <a:endParaRPr lang="en-CA" dirty="0"/>
          </a:p>
        </p:txBody>
      </p:sp>
    </p:spTree>
    <p:extLst>
      <p:ext uri="{BB962C8B-B14F-4D97-AF65-F5344CB8AC3E}">
        <p14:creationId xmlns:p14="http://schemas.microsoft.com/office/powerpoint/2010/main" val="2964187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Machine Learning in Accounting</a:t>
            </a:r>
          </a:p>
        </p:txBody>
      </p:sp>
      <p:sp>
        <p:nvSpPr>
          <p:cNvPr id="3" name="Content Placeholder 2"/>
          <p:cNvSpPr>
            <a:spLocks noGrp="1"/>
          </p:cNvSpPr>
          <p:nvPr>
            <p:ph idx="1"/>
          </p:nvPr>
        </p:nvSpPr>
        <p:spPr/>
        <p:txBody>
          <a:bodyPr/>
          <a:lstStyle/>
          <a:p>
            <a:pPr marL="0" indent="0">
              <a:buNone/>
            </a:pPr>
            <a:r>
              <a:rPr lang="en-CA" dirty="0"/>
              <a:t>Machine learning in accounting will provide opportunities to:</a:t>
            </a:r>
          </a:p>
          <a:p>
            <a:r>
              <a:rPr lang="en-CA" dirty="0"/>
              <a:t>Expand sales</a:t>
            </a:r>
          </a:p>
          <a:p>
            <a:r>
              <a:rPr lang="en-CA" dirty="0"/>
              <a:t>Increase profits</a:t>
            </a:r>
          </a:p>
          <a:p>
            <a:r>
              <a:rPr lang="en-CA" dirty="0"/>
              <a:t>Reduce processing errors</a:t>
            </a:r>
          </a:p>
        </p:txBody>
      </p:sp>
    </p:spTree>
    <p:extLst>
      <p:ext uri="{BB962C8B-B14F-4D97-AF65-F5344CB8AC3E}">
        <p14:creationId xmlns:p14="http://schemas.microsoft.com/office/powerpoint/2010/main" val="1445209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End of Chapter Two</a:t>
            </a:r>
          </a:p>
        </p:txBody>
      </p:sp>
    </p:spTree>
    <p:extLst>
      <p:ext uri="{BB962C8B-B14F-4D97-AF65-F5344CB8AC3E}">
        <p14:creationId xmlns:p14="http://schemas.microsoft.com/office/powerpoint/2010/main" val="1089429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Impact + Georgia">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F Branded PP template" id="{79A68145-D4B9-4631-BEF4-7B0E61A80215}" vid="{A743BFCA-C575-4814-BD09-89D271A30E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AE4299700E724EB4A3A9F30476384C" ma:contentTypeVersion="12" ma:contentTypeDescription="Create a new document." ma:contentTypeScope="" ma:versionID="65e170e0dbbae92946b14002ab1c17d9">
  <xsd:schema xmlns:xsd="http://www.w3.org/2001/XMLSchema" xmlns:xs="http://www.w3.org/2001/XMLSchema" xmlns:p="http://schemas.microsoft.com/office/2006/metadata/properties" xmlns:ns2="9a5288b5-dab3-4678-90e6-28176b4bed68" xmlns:ns3="baf01252-53fa-40dd-aec5-420f8d6c2b25" targetNamespace="http://schemas.microsoft.com/office/2006/metadata/properties" ma:root="true" ma:fieldsID="b84896b0ee1e3d4f230a2605d71c901a" ns2:_="" ns3:_="">
    <xsd:import namespace="9a5288b5-dab3-4678-90e6-28176b4bed68"/>
    <xsd:import namespace="baf01252-53fa-40dd-aec5-420f8d6c2b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5288b5-dab3-4678-90e6-28176b4be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f01252-53fa-40dd-aec5-420f8d6c2b2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47C08A3-8C0C-4780-AE19-8EFD012A61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5288b5-dab3-4678-90e6-28176b4bed68"/>
    <ds:schemaRef ds:uri="baf01252-53fa-40dd-aec5-420f8d6c2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C53BC54-77E2-46DB-97BE-8E2381514324}">
  <ds:schemaRefs>
    <ds:schemaRef ds:uri="http://schemas.microsoft.com/sharepoint/v3/contenttype/forms"/>
  </ds:schemaRefs>
</ds:datastoreItem>
</file>

<file path=customXml/itemProps3.xml><?xml version="1.0" encoding="utf-8"?>
<ds:datastoreItem xmlns:ds="http://schemas.openxmlformats.org/officeDocument/2006/customXml" ds:itemID="{A4D800B5-A7C7-4A38-A875-53B18BAC9D5C}">
  <ds:schemaRefs>
    <ds:schemaRef ds:uri="http://purl.org/dc/dcmitype/"/>
    <ds:schemaRef ds:uri="http://purl.org/dc/terms/"/>
    <ds:schemaRef ds:uri="http://schemas.openxmlformats.org/package/2006/metadata/core-properties"/>
    <ds:schemaRef ds:uri="baf01252-53fa-40dd-aec5-420f8d6c2b25"/>
    <ds:schemaRef ds:uri="http://purl.org/dc/elements/1.1/"/>
    <ds:schemaRef ds:uri="http://schemas.microsoft.com/office/2006/metadata/properties"/>
    <ds:schemaRef ds:uri="http://www.w3.org/XML/1998/namespace"/>
    <ds:schemaRef ds:uri="http://schemas.microsoft.com/office/2006/documentManagement/types"/>
    <ds:schemaRef ds:uri="http://schemas.microsoft.com/office/infopath/2007/PartnerControls"/>
    <ds:schemaRef ds:uri="9a5288b5-dab3-4678-90e6-28176b4bed68"/>
  </ds:schemaRefs>
</ds:datastoreItem>
</file>

<file path=docProps/app.xml><?xml version="1.0" encoding="utf-8"?>
<Properties xmlns="http://schemas.openxmlformats.org/officeDocument/2006/extended-properties" xmlns:vt="http://schemas.openxmlformats.org/officeDocument/2006/docPropsVTypes">
  <Template>SAF Branded PP template</Template>
  <TotalTime>1417</TotalTime>
  <Words>5795</Words>
  <Application>Microsoft Macintosh PowerPoint</Application>
  <PresentationFormat>On-screen Show (4:3)</PresentationFormat>
  <Paragraphs>979</Paragraphs>
  <Slides>57</Slides>
  <Notes>51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ＭＳ Ｐゴシック</vt:lpstr>
      <vt:lpstr>Arial</vt:lpstr>
      <vt:lpstr>Calibri</vt:lpstr>
      <vt:lpstr>Georgia</vt:lpstr>
      <vt:lpstr>Impact</vt:lpstr>
      <vt:lpstr>Verdana</vt:lpstr>
      <vt:lpstr>Wingdings</vt:lpstr>
      <vt:lpstr>Wingdings 3</vt:lpstr>
      <vt:lpstr>UofWaterloo_WhiteBkgrd</vt:lpstr>
      <vt:lpstr>Chapter 2 Recording Business Transactions</vt:lpstr>
      <vt:lpstr>Chapter 2 Learning Objectives</vt:lpstr>
      <vt:lpstr>First 5 Steps of the Accounting Cycle</vt:lpstr>
      <vt:lpstr>Learning Objective One</vt:lpstr>
      <vt:lpstr>The Account</vt:lpstr>
      <vt:lpstr>Assets (1 of 2)</vt:lpstr>
      <vt:lpstr>Assets (2 of 2)</vt:lpstr>
      <vt:lpstr>Liabilities</vt:lpstr>
      <vt:lpstr>Shareholders’ Equity</vt:lpstr>
      <vt:lpstr>Shareholders’ Equity Accounts</vt:lpstr>
      <vt:lpstr>Learning Objective Two</vt:lpstr>
      <vt:lpstr>Accounting for Business Transactions (1 of 13)</vt:lpstr>
      <vt:lpstr>Accounting for Business Transactions (2 of 13)</vt:lpstr>
      <vt:lpstr>Accounting for Business Transactions (3 of 13)</vt:lpstr>
      <vt:lpstr>Accounting for Business Transactions (4 of 13)</vt:lpstr>
      <vt:lpstr>Accounting for Business Transactions (5 of 13)</vt:lpstr>
      <vt:lpstr>Accounting for Business Transactions (6 of 13)</vt:lpstr>
      <vt:lpstr>Accounting for Business Transactions (7 of 13)</vt:lpstr>
      <vt:lpstr>Accounting for Business Transactions (8 of 13)</vt:lpstr>
      <vt:lpstr>Accounting for Business Transactions (9 of 13)</vt:lpstr>
      <vt:lpstr>Accounting for Business Transactions (10 of 13)</vt:lpstr>
      <vt:lpstr>Accounting for Business Transactions (11 of 13)</vt:lpstr>
      <vt:lpstr>Accounting for Business Transactions (12 of 13)</vt:lpstr>
      <vt:lpstr>Accounting for Business Transactions (13 of 13)</vt:lpstr>
      <vt:lpstr>Transactions and Financial Statements</vt:lpstr>
      <vt:lpstr>Income Statement</vt:lpstr>
      <vt:lpstr>Statement of Retained Earnings</vt:lpstr>
      <vt:lpstr>Balance Sheet</vt:lpstr>
      <vt:lpstr>PowerPoint Presentation</vt:lpstr>
      <vt:lpstr>What “on account” means?</vt:lpstr>
      <vt:lpstr>Learning Objective Three</vt:lpstr>
      <vt:lpstr>Tara Inc. Chart of Accounts</vt:lpstr>
      <vt:lpstr>Double-Entry Accounting</vt:lpstr>
      <vt:lpstr>The T-Account</vt:lpstr>
      <vt:lpstr>The Rule of Debit &amp; Credit</vt:lpstr>
      <vt:lpstr>Increases and Decreases in the Accounts</vt:lpstr>
      <vt:lpstr>Rules of Debit and Credit (1 of 3)</vt:lpstr>
      <vt:lpstr>Rules of Debit and Credit (2 of 3)</vt:lpstr>
      <vt:lpstr>Rules of Debit and Credit (3 of 3)</vt:lpstr>
      <vt:lpstr>Normal Balances of Accounts</vt:lpstr>
      <vt:lpstr>Additional Shareholders’ Equity Accounts: Revenues, Expenses, and Dividends</vt:lpstr>
      <vt:lpstr>Learning Objective Four</vt:lpstr>
      <vt:lpstr>The Journal</vt:lpstr>
      <vt:lpstr>Journal Entry</vt:lpstr>
      <vt:lpstr>The Ledger</vt:lpstr>
      <vt:lpstr>Copying Information (Posting) from the Journal to the Ledger</vt:lpstr>
      <vt:lpstr>Flow of Accounting Data</vt:lpstr>
      <vt:lpstr>Accounts After Posting (1 of 2)</vt:lpstr>
      <vt:lpstr>Accounts After Posting (2 of 2)</vt:lpstr>
      <vt:lpstr>Learning Objective Five</vt:lpstr>
      <vt:lpstr>Trial Balance</vt:lpstr>
      <vt:lpstr>Tara Inc. Trial Balance</vt:lpstr>
      <vt:lpstr>Learning Objective Six</vt:lpstr>
      <vt:lpstr>Artificial Intelligence and Machine Learning</vt:lpstr>
      <vt:lpstr>Supervised and Unsupervised Machine Learning</vt:lpstr>
      <vt:lpstr>Machine Learning in Accounting</vt:lpstr>
      <vt:lpstr>End of Chapter Two</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AFM 111 – Professional Pathways and Problem Solving</dc:title>
  <dc:creator>Tracy Hilpert</dc:creator>
  <cp:lastModifiedBy>Lynn Carty</cp:lastModifiedBy>
  <cp:revision>11</cp:revision>
  <cp:lastPrinted>2023-09-06T18:12:48Z</cp:lastPrinted>
  <dcterms:created xsi:type="dcterms:W3CDTF">2020-07-10T19:47:04Z</dcterms:created>
  <dcterms:modified xsi:type="dcterms:W3CDTF">2024-08-25T18:56:54Z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0x010100F3AE4299700E724EB4A3A9F30476384C</vt:lpwstr>
  </property>
</Properties>
</file>