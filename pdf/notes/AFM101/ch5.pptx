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63"/>
  </p:notesMasterIdLst>
  <p:sldIdLst>
    <p:sldId id="256" r:id="rId5"/>
    <p:sldId id="271" r:id="rId6"/>
    <p:sldId id="272" r:id="rId7"/>
    <p:sldId id="310" r:id="rId8"/>
    <p:sldId id="273" r:id="rId9"/>
    <p:sldId id="312" r:id="rId10"/>
    <p:sldId id="274" r:id="rId11"/>
    <p:sldId id="275" r:id="rId12"/>
    <p:sldId id="313" r:id="rId13"/>
    <p:sldId id="276" r:id="rId14"/>
    <p:sldId id="277" r:id="rId15"/>
    <p:sldId id="278" r:id="rId16"/>
    <p:sldId id="279" r:id="rId17"/>
    <p:sldId id="280" r:id="rId18"/>
    <p:sldId id="281" r:id="rId19"/>
    <p:sldId id="282" r:id="rId20"/>
    <p:sldId id="331" r:id="rId21"/>
    <p:sldId id="339" r:id="rId22"/>
    <p:sldId id="330" r:id="rId23"/>
    <p:sldId id="332" r:id="rId24"/>
    <p:sldId id="333" r:id="rId25"/>
    <p:sldId id="334" r:id="rId26"/>
    <p:sldId id="314" r:id="rId27"/>
    <p:sldId id="315" r:id="rId28"/>
    <p:sldId id="283" r:id="rId29"/>
    <p:sldId id="286" r:id="rId30"/>
    <p:sldId id="287" r:id="rId31"/>
    <p:sldId id="285" r:id="rId32"/>
    <p:sldId id="290" r:id="rId33"/>
    <p:sldId id="289" r:id="rId34"/>
    <p:sldId id="322" r:id="rId35"/>
    <p:sldId id="291" r:id="rId36"/>
    <p:sldId id="400" r:id="rId37"/>
    <p:sldId id="316" r:id="rId38"/>
    <p:sldId id="293" r:id="rId39"/>
    <p:sldId id="294" r:id="rId40"/>
    <p:sldId id="397" r:id="rId41"/>
    <p:sldId id="317" r:id="rId42"/>
    <p:sldId id="295" r:id="rId43"/>
    <p:sldId id="296" r:id="rId44"/>
    <p:sldId id="335" r:id="rId45"/>
    <p:sldId id="318" r:id="rId46"/>
    <p:sldId id="298" r:id="rId47"/>
    <p:sldId id="297" r:id="rId48"/>
    <p:sldId id="320" r:id="rId49"/>
    <p:sldId id="299" r:id="rId50"/>
    <p:sldId id="399" r:id="rId51"/>
    <p:sldId id="323" r:id="rId52"/>
    <p:sldId id="328" r:id="rId53"/>
    <p:sldId id="326" r:id="rId54"/>
    <p:sldId id="324" r:id="rId55"/>
    <p:sldId id="329" r:id="rId56"/>
    <p:sldId id="336" r:id="rId57"/>
    <p:sldId id="337" r:id="rId58"/>
    <p:sldId id="325" r:id="rId59"/>
    <p:sldId id="284" r:id="rId60"/>
    <p:sldId id="288" r:id="rId61"/>
    <p:sldId id="300" r:id="rId6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69A36-AE3B-B747-8052-B70D32B5C67D}" v="10" dt="2024-09-25T17:10:26.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574" autoAdjust="0"/>
    <p:restoredTop sz="83529" autoAdjust="0"/>
  </p:normalViewPr>
  <p:slideViewPr>
    <p:cSldViewPr snapToGrid="0">
      <p:cViewPr varScale="1">
        <p:scale>
          <a:sx n="97" d="100"/>
          <a:sy n="97" d="100"/>
        </p:scale>
        <p:origin x="200" y="200"/>
      </p:cViewPr>
      <p:guideLst>
        <p:guide orient="horz" pos="2160"/>
        <p:guide pos="2880"/>
      </p:guideLst>
    </p:cSldViewPr>
  </p:slideViewPr>
  <p:notesTextViewPr>
    <p:cViewPr>
      <p:scale>
        <a:sx n="1" d="1"/>
        <a:sy n="1" d="1"/>
      </p:scale>
      <p:origin x="0" y="0"/>
    </p:cViewPr>
  </p:notesTextViewPr>
  <p:sorterViewPr>
    <p:cViewPr>
      <p:scale>
        <a:sx n="91" d="100"/>
        <a:sy n="9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26A69A36-AE3B-B747-8052-B70D32B5C67D}"/>
    <pc:docChg chg="undo custSel addSld delSld modSld">
      <pc:chgData name="Lynn Carty" userId="22830c01-2f55-4e06-b79c-b355947cb1ea" providerId="ADAL" clId="{26A69A36-AE3B-B747-8052-B70D32B5C67D}" dt="2024-09-25T19:06:41.905" v="203" actId="20577"/>
      <pc:docMkLst>
        <pc:docMk/>
      </pc:docMkLst>
      <pc:sldChg chg="del">
        <pc:chgData name="Lynn Carty" userId="22830c01-2f55-4e06-b79c-b355947cb1ea" providerId="ADAL" clId="{26A69A36-AE3B-B747-8052-B70D32B5C67D}" dt="2024-09-24T16:52:23.158" v="0" actId="2696"/>
        <pc:sldMkLst>
          <pc:docMk/>
          <pc:sldMk cId="3254239193" sldId="257"/>
        </pc:sldMkLst>
      </pc:sldChg>
      <pc:sldChg chg="del">
        <pc:chgData name="Lynn Carty" userId="22830c01-2f55-4e06-b79c-b355947cb1ea" providerId="ADAL" clId="{26A69A36-AE3B-B747-8052-B70D32B5C67D}" dt="2024-09-24T16:52:23.257" v="47" actId="2696"/>
        <pc:sldMkLst>
          <pc:docMk/>
          <pc:sldMk cId="4097344631" sldId="258"/>
        </pc:sldMkLst>
      </pc:sldChg>
      <pc:sldChg chg="del">
        <pc:chgData name="Lynn Carty" userId="22830c01-2f55-4e06-b79c-b355947cb1ea" providerId="ADAL" clId="{26A69A36-AE3B-B747-8052-B70D32B5C67D}" dt="2024-09-24T16:52:23.252" v="41" actId="2696"/>
        <pc:sldMkLst>
          <pc:docMk/>
          <pc:sldMk cId="2071720232" sldId="259"/>
        </pc:sldMkLst>
      </pc:sldChg>
      <pc:sldChg chg="del">
        <pc:chgData name="Lynn Carty" userId="22830c01-2f55-4e06-b79c-b355947cb1ea" providerId="ADAL" clId="{26A69A36-AE3B-B747-8052-B70D32B5C67D}" dt="2024-09-24T16:52:23.242" v="34" actId="2696"/>
        <pc:sldMkLst>
          <pc:docMk/>
          <pc:sldMk cId="3708903122" sldId="260"/>
        </pc:sldMkLst>
      </pc:sldChg>
      <pc:sldChg chg="del">
        <pc:chgData name="Lynn Carty" userId="22830c01-2f55-4e06-b79c-b355947cb1ea" providerId="ADAL" clId="{26A69A36-AE3B-B747-8052-B70D32B5C67D}" dt="2024-09-24T16:52:23.233" v="26" actId="2696"/>
        <pc:sldMkLst>
          <pc:docMk/>
          <pc:sldMk cId="531728810" sldId="261"/>
        </pc:sldMkLst>
      </pc:sldChg>
      <pc:sldChg chg="del">
        <pc:chgData name="Lynn Carty" userId="22830c01-2f55-4e06-b79c-b355947cb1ea" providerId="ADAL" clId="{26A69A36-AE3B-B747-8052-B70D32B5C67D}" dt="2024-09-24T16:52:23.240" v="32" actId="2696"/>
        <pc:sldMkLst>
          <pc:docMk/>
          <pc:sldMk cId="2875332195" sldId="262"/>
        </pc:sldMkLst>
      </pc:sldChg>
      <pc:sldChg chg="modSp add mod modTransition setBg">
        <pc:chgData name="Lynn Carty" userId="22830c01-2f55-4e06-b79c-b355947cb1ea" providerId="ADAL" clId="{26A69A36-AE3B-B747-8052-B70D32B5C67D}" dt="2024-09-25T17:10:26.946" v="85" actId="27636"/>
        <pc:sldMkLst>
          <pc:docMk/>
          <pc:sldMk cId="2153175929" sldId="271"/>
        </pc:sldMkLst>
        <pc:spChg chg="mod">
          <ac:chgData name="Lynn Carty" userId="22830c01-2f55-4e06-b79c-b355947cb1ea" providerId="ADAL" clId="{26A69A36-AE3B-B747-8052-B70D32B5C67D}" dt="2024-09-25T17:10:26.946" v="85" actId="27636"/>
          <ac:spMkLst>
            <pc:docMk/>
            <pc:sldMk cId="2153175929" sldId="271"/>
            <ac:spMk id="5" creationId="{00000000-0000-0000-0000-000000000000}"/>
          </ac:spMkLst>
        </pc:spChg>
      </pc:sldChg>
      <pc:sldChg chg="modSp add mod modTransition">
        <pc:chgData name="Lynn Carty" userId="22830c01-2f55-4e06-b79c-b355947cb1ea" providerId="ADAL" clId="{26A69A36-AE3B-B747-8052-B70D32B5C67D}" dt="2024-09-25T17:10:26.953" v="86" actId="27636"/>
        <pc:sldMkLst>
          <pc:docMk/>
          <pc:sldMk cId="4091714679" sldId="272"/>
        </pc:sldMkLst>
        <pc:spChg chg="mod">
          <ac:chgData name="Lynn Carty" userId="22830c01-2f55-4e06-b79c-b355947cb1ea" providerId="ADAL" clId="{26A69A36-AE3B-B747-8052-B70D32B5C67D}" dt="2024-09-25T17:10:26.953" v="86" actId="27636"/>
          <ac:spMkLst>
            <pc:docMk/>
            <pc:sldMk cId="4091714679" sldId="272"/>
            <ac:spMk id="6" creationId="{00000000-0000-0000-0000-000000000000}"/>
          </ac:spMkLst>
        </pc:spChg>
      </pc:sldChg>
      <pc:sldChg chg="add modTransition">
        <pc:chgData name="Lynn Carty" userId="22830c01-2f55-4e06-b79c-b355947cb1ea" providerId="ADAL" clId="{26A69A36-AE3B-B747-8052-B70D32B5C67D}" dt="2024-09-24T16:53:06.143" v="56"/>
        <pc:sldMkLst>
          <pc:docMk/>
          <pc:sldMk cId="2302685806" sldId="273"/>
        </pc:sldMkLst>
      </pc:sldChg>
      <pc:sldChg chg="add del modTransition">
        <pc:chgData name="Lynn Carty" userId="22830c01-2f55-4e06-b79c-b355947cb1ea" providerId="ADAL" clId="{26A69A36-AE3B-B747-8052-B70D32B5C67D}" dt="2024-09-24T16:53:06.143" v="56"/>
        <pc:sldMkLst>
          <pc:docMk/>
          <pc:sldMk cId="724329926" sldId="274"/>
        </pc:sldMkLst>
      </pc:sldChg>
      <pc:sldChg chg="modSp add mod modTransition">
        <pc:chgData name="Lynn Carty" userId="22830c01-2f55-4e06-b79c-b355947cb1ea" providerId="ADAL" clId="{26A69A36-AE3B-B747-8052-B70D32B5C67D}" dt="2024-09-25T17:10:26.968" v="88" actId="27636"/>
        <pc:sldMkLst>
          <pc:docMk/>
          <pc:sldMk cId="4107784574" sldId="275"/>
        </pc:sldMkLst>
        <pc:spChg chg="mod">
          <ac:chgData name="Lynn Carty" userId="22830c01-2f55-4e06-b79c-b355947cb1ea" providerId="ADAL" clId="{26A69A36-AE3B-B747-8052-B70D32B5C67D}" dt="2024-09-25T17:10:26.968" v="88" actId="27636"/>
          <ac:spMkLst>
            <pc:docMk/>
            <pc:sldMk cId="4107784574" sldId="275"/>
            <ac:spMk id="3" creationId="{00000000-0000-0000-0000-000000000000}"/>
          </ac:spMkLst>
        </pc:spChg>
      </pc:sldChg>
      <pc:sldChg chg="add modTransition">
        <pc:chgData name="Lynn Carty" userId="22830c01-2f55-4e06-b79c-b355947cb1ea" providerId="ADAL" clId="{26A69A36-AE3B-B747-8052-B70D32B5C67D}" dt="2024-09-24T16:53:06.143" v="56"/>
        <pc:sldMkLst>
          <pc:docMk/>
          <pc:sldMk cId="1907675618" sldId="276"/>
        </pc:sldMkLst>
      </pc:sldChg>
      <pc:sldChg chg="addSp modSp add mod modTransition">
        <pc:chgData name="Lynn Carty" userId="22830c01-2f55-4e06-b79c-b355947cb1ea" providerId="ADAL" clId="{26A69A36-AE3B-B747-8052-B70D32B5C67D}" dt="2024-09-25T17:10:53.248" v="102" actId="20577"/>
        <pc:sldMkLst>
          <pc:docMk/>
          <pc:sldMk cId="320394749" sldId="277"/>
        </pc:sldMkLst>
        <pc:spChg chg="mod">
          <ac:chgData name="Lynn Carty" userId="22830c01-2f55-4e06-b79c-b355947cb1ea" providerId="ADAL" clId="{26A69A36-AE3B-B747-8052-B70D32B5C67D}" dt="2024-09-25T17:10:53.248" v="102" actId="20577"/>
          <ac:spMkLst>
            <pc:docMk/>
            <pc:sldMk cId="320394749" sldId="277"/>
            <ac:spMk id="2" creationId="{00000000-0000-0000-0000-000000000000}"/>
          </ac:spMkLst>
        </pc:spChg>
        <pc:picChg chg="add mod">
          <ac:chgData name="Lynn Carty" userId="22830c01-2f55-4e06-b79c-b355947cb1ea" providerId="ADAL" clId="{26A69A36-AE3B-B747-8052-B70D32B5C67D}" dt="2024-09-25T17:10:36.439" v="92" actId="1076"/>
          <ac:picMkLst>
            <pc:docMk/>
            <pc:sldMk cId="320394749" sldId="277"/>
            <ac:picMk id="4" creationId="{1A21AE5E-8DA2-4EAA-F449-53FF19AFA88D}"/>
          </ac:picMkLst>
        </pc:picChg>
      </pc:sldChg>
      <pc:sldChg chg="add del modTransition">
        <pc:chgData name="Lynn Carty" userId="22830c01-2f55-4e06-b79c-b355947cb1ea" providerId="ADAL" clId="{26A69A36-AE3B-B747-8052-B70D32B5C67D}" dt="2024-09-24T16:53:06.143" v="56"/>
        <pc:sldMkLst>
          <pc:docMk/>
          <pc:sldMk cId="1377655248" sldId="278"/>
        </pc:sldMkLst>
      </pc:sldChg>
      <pc:sldChg chg="add modTransition">
        <pc:chgData name="Lynn Carty" userId="22830c01-2f55-4e06-b79c-b355947cb1ea" providerId="ADAL" clId="{26A69A36-AE3B-B747-8052-B70D32B5C67D}" dt="2024-09-24T16:53:06.143" v="56"/>
        <pc:sldMkLst>
          <pc:docMk/>
          <pc:sldMk cId="3143639043" sldId="279"/>
        </pc:sldMkLst>
      </pc:sldChg>
      <pc:sldChg chg="add del modTransition">
        <pc:chgData name="Lynn Carty" userId="22830c01-2f55-4e06-b79c-b355947cb1ea" providerId="ADAL" clId="{26A69A36-AE3B-B747-8052-B70D32B5C67D}" dt="2024-09-24T16:53:06.143" v="56"/>
        <pc:sldMkLst>
          <pc:docMk/>
          <pc:sldMk cId="667984760" sldId="280"/>
        </pc:sldMkLst>
      </pc:sldChg>
      <pc:sldChg chg="add modTransition">
        <pc:chgData name="Lynn Carty" userId="22830c01-2f55-4e06-b79c-b355947cb1ea" providerId="ADAL" clId="{26A69A36-AE3B-B747-8052-B70D32B5C67D}" dt="2024-09-24T16:53:06.143" v="56"/>
        <pc:sldMkLst>
          <pc:docMk/>
          <pc:sldMk cId="2086403878" sldId="281"/>
        </pc:sldMkLst>
      </pc:sldChg>
      <pc:sldChg chg="add modTransition">
        <pc:chgData name="Lynn Carty" userId="22830c01-2f55-4e06-b79c-b355947cb1ea" providerId="ADAL" clId="{26A69A36-AE3B-B747-8052-B70D32B5C67D}" dt="2024-09-24T16:53:06.143" v="56"/>
        <pc:sldMkLst>
          <pc:docMk/>
          <pc:sldMk cId="485004209" sldId="282"/>
        </pc:sldMkLst>
      </pc:sldChg>
      <pc:sldChg chg="add modTransition">
        <pc:chgData name="Lynn Carty" userId="22830c01-2f55-4e06-b79c-b355947cb1ea" providerId="ADAL" clId="{26A69A36-AE3B-B747-8052-B70D32B5C67D}" dt="2024-09-24T16:53:06.143" v="56"/>
        <pc:sldMkLst>
          <pc:docMk/>
          <pc:sldMk cId="108094204" sldId="283"/>
        </pc:sldMkLst>
      </pc:sldChg>
      <pc:sldChg chg="modSp add del mod modTransition">
        <pc:chgData name="Lynn Carty" userId="22830c01-2f55-4e06-b79c-b355947cb1ea" providerId="ADAL" clId="{26A69A36-AE3B-B747-8052-B70D32B5C67D}" dt="2024-09-25T17:10:26.937" v="84" actId="27636"/>
        <pc:sldMkLst>
          <pc:docMk/>
          <pc:sldMk cId="538169688" sldId="284"/>
        </pc:sldMkLst>
        <pc:spChg chg="mod">
          <ac:chgData name="Lynn Carty" userId="22830c01-2f55-4e06-b79c-b355947cb1ea" providerId="ADAL" clId="{26A69A36-AE3B-B747-8052-B70D32B5C67D}" dt="2024-09-25T17:10:26.937" v="84" actId="27636"/>
          <ac:spMkLst>
            <pc:docMk/>
            <pc:sldMk cId="538169688" sldId="284"/>
            <ac:spMk id="3" creationId="{00000000-0000-0000-0000-000000000000}"/>
          </ac:spMkLst>
        </pc:spChg>
      </pc:sldChg>
      <pc:sldChg chg="modSp add mod modTransition">
        <pc:chgData name="Lynn Carty" userId="22830c01-2f55-4e06-b79c-b355947cb1ea" providerId="ADAL" clId="{26A69A36-AE3B-B747-8052-B70D32B5C67D}" dt="2024-09-25T19:05:54.579" v="193" actId="20577"/>
        <pc:sldMkLst>
          <pc:docMk/>
          <pc:sldMk cId="3084174911" sldId="285"/>
        </pc:sldMkLst>
        <pc:spChg chg="mod">
          <ac:chgData name="Lynn Carty" userId="22830c01-2f55-4e06-b79c-b355947cb1ea" providerId="ADAL" clId="{26A69A36-AE3B-B747-8052-B70D32B5C67D}" dt="2024-09-25T19:05:54.579" v="193" actId="20577"/>
          <ac:spMkLst>
            <pc:docMk/>
            <pc:sldMk cId="3084174911" sldId="285"/>
            <ac:spMk id="2" creationId="{00000000-0000-0000-0000-000000000000}"/>
          </ac:spMkLst>
        </pc:spChg>
      </pc:sldChg>
      <pc:sldChg chg="modSp add del mod modTransition">
        <pc:chgData name="Lynn Carty" userId="22830c01-2f55-4e06-b79c-b355947cb1ea" providerId="ADAL" clId="{26A69A36-AE3B-B747-8052-B70D32B5C67D}" dt="2024-09-25T17:10:26.843" v="69" actId="27636"/>
        <pc:sldMkLst>
          <pc:docMk/>
          <pc:sldMk cId="4236619499" sldId="286"/>
        </pc:sldMkLst>
        <pc:spChg chg="mod">
          <ac:chgData name="Lynn Carty" userId="22830c01-2f55-4e06-b79c-b355947cb1ea" providerId="ADAL" clId="{26A69A36-AE3B-B747-8052-B70D32B5C67D}" dt="2024-09-25T17:10:26.843" v="69" actId="27636"/>
          <ac:spMkLst>
            <pc:docMk/>
            <pc:sldMk cId="4236619499" sldId="286"/>
            <ac:spMk id="2" creationId="{00000000-0000-0000-0000-000000000000}"/>
          </ac:spMkLst>
        </pc:spChg>
        <pc:spChg chg="mod">
          <ac:chgData name="Lynn Carty" userId="22830c01-2f55-4e06-b79c-b355947cb1ea" providerId="ADAL" clId="{26A69A36-AE3B-B747-8052-B70D32B5C67D}" dt="2024-09-25T17:10:26.842" v="68" actId="27636"/>
          <ac:spMkLst>
            <pc:docMk/>
            <pc:sldMk cId="4236619499" sldId="286"/>
            <ac:spMk id="3" creationId="{00000000-0000-0000-0000-000000000000}"/>
          </ac:spMkLst>
        </pc:spChg>
      </pc:sldChg>
      <pc:sldChg chg="modSp add del mod modTransition">
        <pc:chgData name="Lynn Carty" userId="22830c01-2f55-4e06-b79c-b355947cb1ea" providerId="ADAL" clId="{26A69A36-AE3B-B747-8052-B70D32B5C67D}" dt="2024-09-25T17:10:26.850" v="70" actId="27636"/>
        <pc:sldMkLst>
          <pc:docMk/>
          <pc:sldMk cId="1584108428" sldId="287"/>
        </pc:sldMkLst>
        <pc:spChg chg="mod">
          <ac:chgData name="Lynn Carty" userId="22830c01-2f55-4e06-b79c-b355947cb1ea" providerId="ADAL" clId="{26A69A36-AE3B-B747-8052-B70D32B5C67D}" dt="2024-09-25T17:10:26.850" v="70" actId="27636"/>
          <ac:spMkLst>
            <pc:docMk/>
            <pc:sldMk cId="1584108428" sldId="287"/>
            <ac:spMk id="2" creationId="{00000000-0000-0000-0000-000000000000}"/>
          </ac:spMkLst>
        </pc:spChg>
      </pc:sldChg>
      <pc:sldChg chg="add del modTransition">
        <pc:chgData name="Lynn Carty" userId="22830c01-2f55-4e06-b79c-b355947cb1ea" providerId="ADAL" clId="{26A69A36-AE3B-B747-8052-B70D32B5C67D}" dt="2024-09-24T16:53:06.143" v="56"/>
        <pc:sldMkLst>
          <pc:docMk/>
          <pc:sldMk cId="2830540458" sldId="288"/>
        </pc:sldMkLst>
      </pc:sldChg>
      <pc:sldChg chg="add">
        <pc:chgData name="Lynn Carty" userId="22830c01-2f55-4e06-b79c-b355947cb1ea" providerId="ADAL" clId="{26A69A36-AE3B-B747-8052-B70D32B5C67D}" dt="2024-09-24T16:53:06.143" v="56"/>
        <pc:sldMkLst>
          <pc:docMk/>
          <pc:sldMk cId="892501633" sldId="289"/>
        </pc:sldMkLst>
      </pc:sldChg>
      <pc:sldChg chg="add">
        <pc:chgData name="Lynn Carty" userId="22830c01-2f55-4e06-b79c-b355947cb1ea" providerId="ADAL" clId="{26A69A36-AE3B-B747-8052-B70D32B5C67D}" dt="2024-09-24T16:53:06.143" v="56"/>
        <pc:sldMkLst>
          <pc:docMk/>
          <pc:sldMk cId="3406785228" sldId="290"/>
        </pc:sldMkLst>
      </pc:sldChg>
      <pc:sldChg chg="modSp add del mod">
        <pc:chgData name="Lynn Carty" userId="22830c01-2f55-4e06-b79c-b355947cb1ea" providerId="ADAL" clId="{26A69A36-AE3B-B747-8052-B70D32B5C67D}" dt="2024-09-25T17:10:26.865" v="72" actId="27636"/>
        <pc:sldMkLst>
          <pc:docMk/>
          <pc:sldMk cId="3946945383" sldId="291"/>
        </pc:sldMkLst>
        <pc:spChg chg="mod">
          <ac:chgData name="Lynn Carty" userId="22830c01-2f55-4e06-b79c-b355947cb1ea" providerId="ADAL" clId="{26A69A36-AE3B-B747-8052-B70D32B5C67D}" dt="2024-09-25T17:10:26.865" v="72" actId="27636"/>
          <ac:spMkLst>
            <pc:docMk/>
            <pc:sldMk cId="3946945383" sldId="291"/>
            <ac:spMk id="3" creationId="{00000000-0000-0000-0000-000000000000}"/>
          </ac:spMkLst>
        </pc:spChg>
      </pc:sldChg>
      <pc:sldChg chg="add modTransition">
        <pc:chgData name="Lynn Carty" userId="22830c01-2f55-4e06-b79c-b355947cb1ea" providerId="ADAL" clId="{26A69A36-AE3B-B747-8052-B70D32B5C67D}" dt="2024-09-24T16:53:06.143" v="56"/>
        <pc:sldMkLst>
          <pc:docMk/>
          <pc:sldMk cId="112418424" sldId="293"/>
        </pc:sldMkLst>
      </pc:sldChg>
      <pc:sldChg chg="modSp add mod modTransition">
        <pc:chgData name="Lynn Carty" userId="22830c01-2f55-4e06-b79c-b355947cb1ea" providerId="ADAL" clId="{26A69A36-AE3B-B747-8052-B70D32B5C67D}" dt="2024-09-25T17:10:26.881" v="75" actId="27636"/>
        <pc:sldMkLst>
          <pc:docMk/>
          <pc:sldMk cId="1135362065" sldId="294"/>
        </pc:sldMkLst>
        <pc:spChg chg="mod">
          <ac:chgData name="Lynn Carty" userId="22830c01-2f55-4e06-b79c-b355947cb1ea" providerId="ADAL" clId="{26A69A36-AE3B-B747-8052-B70D32B5C67D}" dt="2024-09-25T17:10:26.878" v="74" actId="27636"/>
          <ac:spMkLst>
            <pc:docMk/>
            <pc:sldMk cId="1135362065" sldId="294"/>
            <ac:spMk id="2" creationId="{00000000-0000-0000-0000-000000000000}"/>
          </ac:spMkLst>
        </pc:spChg>
        <pc:spChg chg="mod">
          <ac:chgData name="Lynn Carty" userId="22830c01-2f55-4e06-b79c-b355947cb1ea" providerId="ADAL" clId="{26A69A36-AE3B-B747-8052-B70D32B5C67D}" dt="2024-09-25T17:10:26.881" v="75" actId="27636"/>
          <ac:spMkLst>
            <pc:docMk/>
            <pc:sldMk cId="1135362065" sldId="294"/>
            <ac:spMk id="3" creationId="{00000000-0000-0000-0000-000000000000}"/>
          </ac:spMkLst>
        </pc:spChg>
      </pc:sldChg>
      <pc:sldChg chg="add modTransition">
        <pc:chgData name="Lynn Carty" userId="22830c01-2f55-4e06-b79c-b355947cb1ea" providerId="ADAL" clId="{26A69A36-AE3B-B747-8052-B70D32B5C67D}" dt="2024-09-24T16:53:06.143" v="56"/>
        <pc:sldMkLst>
          <pc:docMk/>
          <pc:sldMk cId="581517979" sldId="295"/>
        </pc:sldMkLst>
      </pc:sldChg>
      <pc:sldChg chg="add">
        <pc:chgData name="Lynn Carty" userId="22830c01-2f55-4e06-b79c-b355947cb1ea" providerId="ADAL" clId="{26A69A36-AE3B-B747-8052-B70D32B5C67D}" dt="2024-09-24T16:53:06.143" v="56"/>
        <pc:sldMkLst>
          <pc:docMk/>
          <pc:sldMk cId="4012725795" sldId="296"/>
        </pc:sldMkLst>
      </pc:sldChg>
      <pc:sldChg chg="add modTransition">
        <pc:chgData name="Lynn Carty" userId="22830c01-2f55-4e06-b79c-b355947cb1ea" providerId="ADAL" clId="{26A69A36-AE3B-B747-8052-B70D32B5C67D}" dt="2024-09-24T16:53:06.143" v="56"/>
        <pc:sldMkLst>
          <pc:docMk/>
          <pc:sldMk cId="2604838140" sldId="297"/>
        </pc:sldMkLst>
      </pc:sldChg>
      <pc:sldChg chg="add modTransition">
        <pc:chgData name="Lynn Carty" userId="22830c01-2f55-4e06-b79c-b355947cb1ea" providerId="ADAL" clId="{26A69A36-AE3B-B747-8052-B70D32B5C67D}" dt="2024-09-24T16:53:06.143" v="56"/>
        <pc:sldMkLst>
          <pc:docMk/>
          <pc:sldMk cId="1293590336" sldId="298"/>
        </pc:sldMkLst>
      </pc:sldChg>
      <pc:sldChg chg="add">
        <pc:chgData name="Lynn Carty" userId="22830c01-2f55-4e06-b79c-b355947cb1ea" providerId="ADAL" clId="{26A69A36-AE3B-B747-8052-B70D32B5C67D}" dt="2024-09-24T16:53:06.143" v="56"/>
        <pc:sldMkLst>
          <pc:docMk/>
          <pc:sldMk cId="3041320581" sldId="299"/>
        </pc:sldMkLst>
      </pc:sldChg>
      <pc:sldChg chg="add modTransition">
        <pc:chgData name="Lynn Carty" userId="22830c01-2f55-4e06-b79c-b355947cb1ea" providerId="ADAL" clId="{26A69A36-AE3B-B747-8052-B70D32B5C67D}" dt="2024-09-24T16:53:06.143" v="56"/>
        <pc:sldMkLst>
          <pc:docMk/>
          <pc:sldMk cId="2336731943" sldId="300"/>
        </pc:sldMkLst>
      </pc:sldChg>
      <pc:sldChg chg="modSp add mod modTransition">
        <pc:chgData name="Lynn Carty" userId="22830c01-2f55-4e06-b79c-b355947cb1ea" providerId="ADAL" clId="{26A69A36-AE3B-B747-8052-B70D32B5C67D}" dt="2024-09-25T17:10:26.961" v="87" actId="27636"/>
        <pc:sldMkLst>
          <pc:docMk/>
          <pc:sldMk cId="1743892560" sldId="310"/>
        </pc:sldMkLst>
        <pc:spChg chg="mod">
          <ac:chgData name="Lynn Carty" userId="22830c01-2f55-4e06-b79c-b355947cb1ea" providerId="ADAL" clId="{26A69A36-AE3B-B747-8052-B70D32B5C67D}" dt="2024-09-25T17:10:26.961" v="87" actId="27636"/>
          <ac:spMkLst>
            <pc:docMk/>
            <pc:sldMk cId="1743892560" sldId="310"/>
            <ac:spMk id="6" creationId="{00000000-0000-0000-0000-000000000000}"/>
          </ac:spMkLst>
        </pc:spChg>
      </pc:sldChg>
      <pc:sldChg chg="add">
        <pc:chgData name="Lynn Carty" userId="22830c01-2f55-4e06-b79c-b355947cb1ea" providerId="ADAL" clId="{26A69A36-AE3B-B747-8052-B70D32B5C67D}" dt="2024-09-24T16:53:06.143" v="56"/>
        <pc:sldMkLst>
          <pc:docMk/>
          <pc:sldMk cId="1787342584" sldId="312"/>
        </pc:sldMkLst>
      </pc:sldChg>
      <pc:sldChg chg="modSp add del mod modTransition">
        <pc:chgData name="Lynn Carty" userId="22830c01-2f55-4e06-b79c-b355947cb1ea" providerId="ADAL" clId="{26A69A36-AE3B-B747-8052-B70D32B5C67D}" dt="2024-09-25T17:10:26.977" v="89" actId="27636"/>
        <pc:sldMkLst>
          <pc:docMk/>
          <pc:sldMk cId="2495765771" sldId="313"/>
        </pc:sldMkLst>
        <pc:spChg chg="mod">
          <ac:chgData name="Lynn Carty" userId="22830c01-2f55-4e06-b79c-b355947cb1ea" providerId="ADAL" clId="{26A69A36-AE3B-B747-8052-B70D32B5C67D}" dt="2024-09-25T17:10:26.977" v="89" actId="27636"/>
          <ac:spMkLst>
            <pc:docMk/>
            <pc:sldMk cId="2495765771" sldId="313"/>
            <ac:spMk id="6" creationId="{00000000-0000-0000-0000-000000000000}"/>
          </ac:spMkLst>
        </pc:spChg>
      </pc:sldChg>
      <pc:sldChg chg="modSp add mod modTransition setBg">
        <pc:chgData name="Lynn Carty" userId="22830c01-2f55-4e06-b79c-b355947cb1ea" providerId="ADAL" clId="{26A69A36-AE3B-B747-8052-B70D32B5C67D}" dt="2024-09-25T17:10:26.831" v="67" actId="27636"/>
        <pc:sldMkLst>
          <pc:docMk/>
          <pc:sldMk cId="593260680" sldId="314"/>
        </pc:sldMkLst>
        <pc:spChg chg="mod">
          <ac:chgData name="Lynn Carty" userId="22830c01-2f55-4e06-b79c-b355947cb1ea" providerId="ADAL" clId="{26A69A36-AE3B-B747-8052-B70D32B5C67D}" dt="2024-09-25T17:10:26.831" v="67" actId="27636"/>
          <ac:spMkLst>
            <pc:docMk/>
            <pc:sldMk cId="593260680" sldId="314"/>
            <ac:spMk id="3" creationId="{00000000-0000-0000-0000-000000000000}"/>
          </ac:spMkLst>
        </pc:spChg>
      </pc:sldChg>
      <pc:sldChg chg="add del">
        <pc:chgData name="Lynn Carty" userId="22830c01-2f55-4e06-b79c-b355947cb1ea" providerId="ADAL" clId="{26A69A36-AE3B-B747-8052-B70D32B5C67D}" dt="2024-09-24T16:53:06.143" v="56"/>
        <pc:sldMkLst>
          <pc:docMk/>
          <pc:sldMk cId="569709000" sldId="315"/>
        </pc:sldMkLst>
      </pc:sldChg>
      <pc:sldChg chg="modSp add mod modTransition setBg">
        <pc:chgData name="Lynn Carty" userId="22830c01-2f55-4e06-b79c-b355947cb1ea" providerId="ADAL" clId="{26A69A36-AE3B-B747-8052-B70D32B5C67D}" dt="2024-09-25T17:10:26.873" v="73" actId="27636"/>
        <pc:sldMkLst>
          <pc:docMk/>
          <pc:sldMk cId="1771176638" sldId="316"/>
        </pc:sldMkLst>
        <pc:spChg chg="mod">
          <ac:chgData name="Lynn Carty" userId="22830c01-2f55-4e06-b79c-b355947cb1ea" providerId="ADAL" clId="{26A69A36-AE3B-B747-8052-B70D32B5C67D}" dt="2024-09-25T17:10:26.873" v="73" actId="27636"/>
          <ac:spMkLst>
            <pc:docMk/>
            <pc:sldMk cId="1771176638" sldId="316"/>
            <ac:spMk id="3" creationId="{00000000-0000-0000-0000-000000000000}"/>
          </ac:spMkLst>
        </pc:spChg>
      </pc:sldChg>
      <pc:sldChg chg="modSp add mod modTransition setBg">
        <pc:chgData name="Lynn Carty" userId="22830c01-2f55-4e06-b79c-b355947cb1ea" providerId="ADAL" clId="{26A69A36-AE3B-B747-8052-B70D32B5C67D}" dt="2024-09-25T17:10:26.887" v="76" actId="27636"/>
        <pc:sldMkLst>
          <pc:docMk/>
          <pc:sldMk cId="3781124106" sldId="317"/>
        </pc:sldMkLst>
        <pc:spChg chg="mod">
          <ac:chgData name="Lynn Carty" userId="22830c01-2f55-4e06-b79c-b355947cb1ea" providerId="ADAL" clId="{26A69A36-AE3B-B747-8052-B70D32B5C67D}" dt="2024-09-25T17:10:26.887" v="76" actId="27636"/>
          <ac:spMkLst>
            <pc:docMk/>
            <pc:sldMk cId="3781124106" sldId="317"/>
            <ac:spMk id="3" creationId="{00000000-0000-0000-0000-000000000000}"/>
          </ac:spMkLst>
        </pc:spChg>
      </pc:sldChg>
      <pc:sldChg chg="add modTransition setBg">
        <pc:chgData name="Lynn Carty" userId="22830c01-2f55-4e06-b79c-b355947cb1ea" providerId="ADAL" clId="{26A69A36-AE3B-B747-8052-B70D32B5C67D}" dt="2024-09-24T17:07:55.834" v="64"/>
        <pc:sldMkLst>
          <pc:docMk/>
          <pc:sldMk cId="2671780090" sldId="318"/>
        </pc:sldMkLst>
      </pc:sldChg>
      <pc:sldChg chg="add modTransition">
        <pc:chgData name="Lynn Carty" userId="22830c01-2f55-4e06-b79c-b355947cb1ea" providerId="ADAL" clId="{26A69A36-AE3B-B747-8052-B70D32B5C67D}" dt="2024-09-24T16:53:06.143" v="56"/>
        <pc:sldMkLst>
          <pc:docMk/>
          <pc:sldMk cId="2528328510" sldId="320"/>
        </pc:sldMkLst>
      </pc:sldChg>
      <pc:sldChg chg="add del">
        <pc:chgData name="Lynn Carty" userId="22830c01-2f55-4e06-b79c-b355947cb1ea" providerId="ADAL" clId="{26A69A36-AE3B-B747-8052-B70D32B5C67D}" dt="2024-09-25T17:10:42.594" v="93" actId="2696"/>
        <pc:sldMkLst>
          <pc:docMk/>
          <pc:sldMk cId="4188318423" sldId="321"/>
        </pc:sldMkLst>
      </pc:sldChg>
      <pc:sldChg chg="modSp add mod modTransition">
        <pc:chgData name="Lynn Carty" userId="22830c01-2f55-4e06-b79c-b355947cb1ea" providerId="ADAL" clId="{26A69A36-AE3B-B747-8052-B70D32B5C67D}" dt="2024-09-25T19:06:41.905" v="203" actId="20577"/>
        <pc:sldMkLst>
          <pc:docMk/>
          <pc:sldMk cId="3269407243" sldId="322"/>
        </pc:sldMkLst>
        <pc:spChg chg="mod">
          <ac:chgData name="Lynn Carty" userId="22830c01-2f55-4e06-b79c-b355947cb1ea" providerId="ADAL" clId="{26A69A36-AE3B-B747-8052-B70D32B5C67D}" dt="2024-09-25T19:06:41.905" v="203" actId="20577"/>
          <ac:spMkLst>
            <pc:docMk/>
            <pc:sldMk cId="3269407243" sldId="322"/>
            <ac:spMk id="2" creationId="{7FCA8DA4-7A30-4903-A9A0-05ED5151332B}"/>
          </ac:spMkLst>
        </pc:spChg>
      </pc:sldChg>
      <pc:sldChg chg="del">
        <pc:chgData name="Lynn Carty" userId="22830c01-2f55-4e06-b79c-b355947cb1ea" providerId="ADAL" clId="{26A69A36-AE3B-B747-8052-B70D32B5C67D}" dt="2024-09-24T16:52:23.244" v="36" actId="2696"/>
        <pc:sldMkLst>
          <pc:docMk/>
          <pc:sldMk cId="60567394" sldId="323"/>
        </pc:sldMkLst>
      </pc:sldChg>
      <pc:sldChg chg="modSp add mod modTransition setBg">
        <pc:chgData name="Lynn Carty" userId="22830c01-2f55-4e06-b79c-b355947cb1ea" providerId="ADAL" clId="{26A69A36-AE3B-B747-8052-B70D32B5C67D}" dt="2024-09-25T17:10:26.900" v="77" actId="27636"/>
        <pc:sldMkLst>
          <pc:docMk/>
          <pc:sldMk cId="1206418462" sldId="323"/>
        </pc:sldMkLst>
        <pc:spChg chg="mod">
          <ac:chgData name="Lynn Carty" userId="22830c01-2f55-4e06-b79c-b355947cb1ea" providerId="ADAL" clId="{26A69A36-AE3B-B747-8052-B70D32B5C67D}" dt="2024-09-25T17:10:26.900" v="77" actId="27636"/>
          <ac:spMkLst>
            <pc:docMk/>
            <pc:sldMk cId="1206418462" sldId="323"/>
            <ac:spMk id="3" creationId="{00000000-0000-0000-0000-000000000000}"/>
          </ac:spMkLst>
        </pc:spChg>
      </pc:sldChg>
      <pc:sldChg chg="modSp add mod modTransition setBg">
        <pc:chgData name="Lynn Carty" userId="22830c01-2f55-4e06-b79c-b355947cb1ea" providerId="ADAL" clId="{26A69A36-AE3B-B747-8052-B70D32B5C67D}" dt="2024-09-25T17:10:26.926" v="81" actId="27636"/>
        <pc:sldMkLst>
          <pc:docMk/>
          <pc:sldMk cId="1979559221" sldId="324"/>
        </pc:sldMkLst>
        <pc:spChg chg="mod">
          <ac:chgData name="Lynn Carty" userId="22830c01-2f55-4e06-b79c-b355947cb1ea" providerId="ADAL" clId="{26A69A36-AE3B-B747-8052-B70D32B5C67D}" dt="2024-09-25T17:10:26.926" v="81" actId="27636"/>
          <ac:spMkLst>
            <pc:docMk/>
            <pc:sldMk cId="1979559221" sldId="324"/>
            <ac:spMk id="3" creationId="{00000000-0000-0000-0000-000000000000}"/>
          </ac:spMkLst>
        </pc:spChg>
      </pc:sldChg>
      <pc:sldChg chg="del">
        <pc:chgData name="Lynn Carty" userId="22830c01-2f55-4e06-b79c-b355947cb1ea" providerId="ADAL" clId="{26A69A36-AE3B-B747-8052-B70D32B5C67D}" dt="2024-09-24T16:52:23.223" v="22" actId="2696"/>
        <pc:sldMkLst>
          <pc:docMk/>
          <pc:sldMk cId="102099566" sldId="325"/>
        </pc:sldMkLst>
      </pc:sldChg>
      <pc:sldChg chg="add modTransition">
        <pc:chgData name="Lynn Carty" userId="22830c01-2f55-4e06-b79c-b355947cb1ea" providerId="ADAL" clId="{26A69A36-AE3B-B747-8052-B70D32B5C67D}" dt="2024-09-24T16:53:06.143" v="56"/>
        <pc:sldMkLst>
          <pc:docMk/>
          <pc:sldMk cId="1868007374" sldId="325"/>
        </pc:sldMkLst>
      </pc:sldChg>
      <pc:sldChg chg="modSp add mod modTransition">
        <pc:chgData name="Lynn Carty" userId="22830c01-2f55-4e06-b79c-b355947cb1ea" providerId="ADAL" clId="{26A69A36-AE3B-B747-8052-B70D32B5C67D}" dt="2024-09-25T17:10:26.919" v="80" actId="27636"/>
        <pc:sldMkLst>
          <pc:docMk/>
          <pc:sldMk cId="1637377648" sldId="326"/>
        </pc:sldMkLst>
        <pc:spChg chg="mod">
          <ac:chgData name="Lynn Carty" userId="22830c01-2f55-4e06-b79c-b355947cb1ea" providerId="ADAL" clId="{26A69A36-AE3B-B747-8052-B70D32B5C67D}" dt="2024-09-25T17:10:26.919" v="80" actId="27636"/>
          <ac:spMkLst>
            <pc:docMk/>
            <pc:sldMk cId="1637377648" sldId="326"/>
            <ac:spMk id="2" creationId="{00000000-0000-0000-0000-000000000000}"/>
          </ac:spMkLst>
        </pc:spChg>
      </pc:sldChg>
      <pc:sldChg chg="modSp add mod modTransition">
        <pc:chgData name="Lynn Carty" userId="22830c01-2f55-4e06-b79c-b355947cb1ea" providerId="ADAL" clId="{26A69A36-AE3B-B747-8052-B70D32B5C67D}" dt="2024-09-25T17:10:26.914" v="79" actId="27636"/>
        <pc:sldMkLst>
          <pc:docMk/>
          <pc:sldMk cId="1458557505" sldId="328"/>
        </pc:sldMkLst>
        <pc:spChg chg="mod">
          <ac:chgData name="Lynn Carty" userId="22830c01-2f55-4e06-b79c-b355947cb1ea" providerId="ADAL" clId="{26A69A36-AE3B-B747-8052-B70D32B5C67D}" dt="2024-09-25T17:10:26.907" v="78" actId="27636"/>
          <ac:spMkLst>
            <pc:docMk/>
            <pc:sldMk cId="1458557505" sldId="328"/>
            <ac:spMk id="2" creationId="{00000000-0000-0000-0000-000000000000}"/>
          </ac:spMkLst>
        </pc:spChg>
        <pc:spChg chg="mod">
          <ac:chgData name="Lynn Carty" userId="22830c01-2f55-4e06-b79c-b355947cb1ea" providerId="ADAL" clId="{26A69A36-AE3B-B747-8052-B70D32B5C67D}" dt="2024-09-25T17:10:26.914" v="79" actId="27636"/>
          <ac:spMkLst>
            <pc:docMk/>
            <pc:sldMk cId="1458557505" sldId="328"/>
            <ac:spMk id="3" creationId="{00000000-0000-0000-0000-000000000000}"/>
          </ac:spMkLst>
        </pc:spChg>
      </pc:sldChg>
      <pc:sldChg chg="add modTransition">
        <pc:chgData name="Lynn Carty" userId="22830c01-2f55-4e06-b79c-b355947cb1ea" providerId="ADAL" clId="{26A69A36-AE3B-B747-8052-B70D32B5C67D}" dt="2024-09-24T16:53:06.143" v="56"/>
        <pc:sldMkLst>
          <pc:docMk/>
          <pc:sldMk cId="2807978287" sldId="329"/>
        </pc:sldMkLst>
      </pc:sldChg>
      <pc:sldChg chg="del">
        <pc:chgData name="Lynn Carty" userId="22830c01-2f55-4e06-b79c-b355947cb1ea" providerId="ADAL" clId="{26A69A36-AE3B-B747-8052-B70D32B5C67D}" dt="2024-09-24T16:52:23.231" v="25" actId="2696"/>
        <pc:sldMkLst>
          <pc:docMk/>
          <pc:sldMk cId="1824685478" sldId="330"/>
        </pc:sldMkLst>
      </pc:sldChg>
      <pc:sldChg chg="modSp add mod modTransition">
        <pc:chgData name="Lynn Carty" userId="22830c01-2f55-4e06-b79c-b355947cb1ea" providerId="ADAL" clId="{26A69A36-AE3B-B747-8052-B70D32B5C67D}" dt="2024-09-25T17:12:10.345" v="181" actId="20577"/>
        <pc:sldMkLst>
          <pc:docMk/>
          <pc:sldMk cId="2233709466" sldId="330"/>
        </pc:sldMkLst>
        <pc:spChg chg="mod">
          <ac:chgData name="Lynn Carty" userId="22830c01-2f55-4e06-b79c-b355947cb1ea" providerId="ADAL" clId="{26A69A36-AE3B-B747-8052-B70D32B5C67D}" dt="2024-09-25T17:12:10.345" v="181" actId="20577"/>
          <ac:spMkLst>
            <pc:docMk/>
            <pc:sldMk cId="2233709466" sldId="330"/>
            <ac:spMk id="2" creationId="{00000000-0000-0000-0000-000000000000}"/>
          </ac:spMkLst>
        </pc:spChg>
      </pc:sldChg>
      <pc:sldChg chg="modSp add mod modTransition">
        <pc:chgData name="Lynn Carty" userId="22830c01-2f55-4e06-b79c-b355947cb1ea" providerId="ADAL" clId="{26A69A36-AE3B-B747-8052-B70D32B5C67D}" dt="2024-09-25T17:11:59.777" v="169" actId="5793"/>
        <pc:sldMkLst>
          <pc:docMk/>
          <pc:sldMk cId="872295931" sldId="331"/>
        </pc:sldMkLst>
        <pc:spChg chg="mod">
          <ac:chgData name="Lynn Carty" userId="22830c01-2f55-4e06-b79c-b355947cb1ea" providerId="ADAL" clId="{26A69A36-AE3B-B747-8052-B70D32B5C67D}" dt="2024-09-25T17:11:32.511" v="108" actId="20577"/>
          <ac:spMkLst>
            <pc:docMk/>
            <pc:sldMk cId="872295931" sldId="331"/>
            <ac:spMk id="2" creationId="{00000000-0000-0000-0000-000000000000}"/>
          </ac:spMkLst>
        </pc:spChg>
        <pc:spChg chg="mod">
          <ac:chgData name="Lynn Carty" userId="22830c01-2f55-4e06-b79c-b355947cb1ea" providerId="ADAL" clId="{26A69A36-AE3B-B747-8052-B70D32B5C67D}" dt="2024-09-25T17:11:59.777" v="169" actId="5793"/>
          <ac:spMkLst>
            <pc:docMk/>
            <pc:sldMk cId="872295931" sldId="331"/>
            <ac:spMk id="3" creationId="{00000000-0000-0000-0000-000000000000}"/>
          </ac:spMkLst>
        </pc:spChg>
      </pc:sldChg>
      <pc:sldChg chg="del">
        <pc:chgData name="Lynn Carty" userId="22830c01-2f55-4e06-b79c-b355947cb1ea" providerId="ADAL" clId="{26A69A36-AE3B-B747-8052-B70D32B5C67D}" dt="2024-09-24T16:52:23.253" v="42" actId="2696"/>
        <pc:sldMkLst>
          <pc:docMk/>
          <pc:sldMk cId="2019522169" sldId="331"/>
        </pc:sldMkLst>
      </pc:sldChg>
      <pc:sldChg chg="modSp add mod modTransition">
        <pc:chgData name="Lynn Carty" userId="22830c01-2f55-4e06-b79c-b355947cb1ea" providerId="ADAL" clId="{26A69A36-AE3B-B747-8052-B70D32B5C67D}" dt="2024-09-25T17:12:16.469" v="187" actId="20577"/>
        <pc:sldMkLst>
          <pc:docMk/>
          <pc:sldMk cId="367119163" sldId="332"/>
        </pc:sldMkLst>
        <pc:spChg chg="mod">
          <ac:chgData name="Lynn Carty" userId="22830c01-2f55-4e06-b79c-b355947cb1ea" providerId="ADAL" clId="{26A69A36-AE3B-B747-8052-B70D32B5C67D}" dt="2024-09-25T17:12:16.469" v="187" actId="20577"/>
          <ac:spMkLst>
            <pc:docMk/>
            <pc:sldMk cId="367119163" sldId="332"/>
            <ac:spMk id="2" creationId="{00000000-0000-0000-0000-000000000000}"/>
          </ac:spMkLst>
        </pc:spChg>
      </pc:sldChg>
      <pc:sldChg chg="del">
        <pc:chgData name="Lynn Carty" userId="22830c01-2f55-4e06-b79c-b355947cb1ea" providerId="ADAL" clId="{26A69A36-AE3B-B747-8052-B70D32B5C67D}" dt="2024-09-24T16:52:23.189" v="5" actId="2696"/>
        <pc:sldMkLst>
          <pc:docMk/>
          <pc:sldMk cId="3251811693" sldId="333"/>
        </pc:sldMkLst>
      </pc:sldChg>
      <pc:sldChg chg="modSp add mod modTransition">
        <pc:chgData name="Lynn Carty" userId="22830c01-2f55-4e06-b79c-b355947cb1ea" providerId="ADAL" clId="{26A69A36-AE3B-B747-8052-B70D32B5C67D}" dt="2024-09-25T17:10:26.826" v="66" actId="27636"/>
        <pc:sldMkLst>
          <pc:docMk/>
          <pc:sldMk cId="3865774075" sldId="333"/>
        </pc:sldMkLst>
        <pc:spChg chg="mod">
          <ac:chgData name="Lynn Carty" userId="22830c01-2f55-4e06-b79c-b355947cb1ea" providerId="ADAL" clId="{26A69A36-AE3B-B747-8052-B70D32B5C67D}" dt="2024-09-25T17:10:26.826" v="66" actId="27636"/>
          <ac:spMkLst>
            <pc:docMk/>
            <pc:sldMk cId="3865774075" sldId="333"/>
            <ac:spMk id="3" creationId="{00000000-0000-0000-0000-000000000000}"/>
          </ac:spMkLst>
        </pc:spChg>
      </pc:sldChg>
      <pc:sldChg chg="add modTransition">
        <pc:chgData name="Lynn Carty" userId="22830c01-2f55-4e06-b79c-b355947cb1ea" providerId="ADAL" clId="{26A69A36-AE3B-B747-8052-B70D32B5C67D}" dt="2024-09-24T16:53:06.143" v="56"/>
        <pc:sldMkLst>
          <pc:docMk/>
          <pc:sldMk cId="2101039019" sldId="334"/>
        </pc:sldMkLst>
      </pc:sldChg>
      <pc:sldChg chg="del">
        <pc:chgData name="Lynn Carty" userId="22830c01-2f55-4e06-b79c-b355947cb1ea" providerId="ADAL" clId="{26A69A36-AE3B-B747-8052-B70D32B5C67D}" dt="2024-09-24T16:52:23.222" v="21" actId="2696"/>
        <pc:sldMkLst>
          <pc:docMk/>
          <pc:sldMk cId="3458859672" sldId="334"/>
        </pc:sldMkLst>
      </pc:sldChg>
      <pc:sldChg chg="add">
        <pc:chgData name="Lynn Carty" userId="22830c01-2f55-4e06-b79c-b355947cb1ea" providerId="ADAL" clId="{26A69A36-AE3B-B747-8052-B70D32B5C67D}" dt="2024-09-24T16:53:06.143" v="56"/>
        <pc:sldMkLst>
          <pc:docMk/>
          <pc:sldMk cId="13465975" sldId="335"/>
        </pc:sldMkLst>
      </pc:sldChg>
      <pc:sldChg chg="del">
        <pc:chgData name="Lynn Carty" userId="22830c01-2f55-4e06-b79c-b355947cb1ea" providerId="ADAL" clId="{26A69A36-AE3B-B747-8052-B70D32B5C67D}" dt="2024-09-24T16:52:23.251" v="40" actId="2696"/>
        <pc:sldMkLst>
          <pc:docMk/>
          <pc:sldMk cId="3075226051" sldId="335"/>
        </pc:sldMkLst>
      </pc:sldChg>
      <pc:sldChg chg="add modTransition">
        <pc:chgData name="Lynn Carty" userId="22830c01-2f55-4e06-b79c-b355947cb1ea" providerId="ADAL" clId="{26A69A36-AE3B-B747-8052-B70D32B5C67D}" dt="2024-09-24T16:53:06.143" v="56"/>
        <pc:sldMkLst>
          <pc:docMk/>
          <pc:sldMk cId="2600727569" sldId="336"/>
        </pc:sldMkLst>
      </pc:sldChg>
      <pc:sldChg chg="modSp add mod modTransition">
        <pc:chgData name="Lynn Carty" userId="22830c01-2f55-4e06-b79c-b355947cb1ea" providerId="ADAL" clId="{26A69A36-AE3B-B747-8052-B70D32B5C67D}" dt="2024-09-25T17:10:26.932" v="83" actId="27636"/>
        <pc:sldMkLst>
          <pc:docMk/>
          <pc:sldMk cId="2611179467" sldId="337"/>
        </pc:sldMkLst>
        <pc:spChg chg="mod">
          <ac:chgData name="Lynn Carty" userId="22830c01-2f55-4e06-b79c-b355947cb1ea" providerId="ADAL" clId="{26A69A36-AE3B-B747-8052-B70D32B5C67D}" dt="2024-09-25T17:10:26.931" v="82" actId="27636"/>
          <ac:spMkLst>
            <pc:docMk/>
            <pc:sldMk cId="2611179467" sldId="337"/>
            <ac:spMk id="2" creationId="{00000000-0000-0000-0000-000000000000}"/>
          </ac:spMkLst>
        </pc:spChg>
        <pc:spChg chg="mod">
          <ac:chgData name="Lynn Carty" userId="22830c01-2f55-4e06-b79c-b355947cb1ea" providerId="ADAL" clId="{26A69A36-AE3B-B747-8052-B70D32B5C67D}" dt="2024-09-25T17:10:26.932" v="83" actId="27636"/>
          <ac:spMkLst>
            <pc:docMk/>
            <pc:sldMk cId="2611179467" sldId="337"/>
            <ac:spMk id="3" creationId="{00000000-0000-0000-0000-000000000000}"/>
          </ac:spMkLst>
        </pc:spChg>
      </pc:sldChg>
      <pc:sldChg chg="del">
        <pc:chgData name="Lynn Carty" userId="22830c01-2f55-4e06-b79c-b355947cb1ea" providerId="ADAL" clId="{26A69A36-AE3B-B747-8052-B70D32B5C67D}" dt="2024-09-24T16:52:23.202" v="9" actId="2696"/>
        <pc:sldMkLst>
          <pc:docMk/>
          <pc:sldMk cId="890243901" sldId="339"/>
        </pc:sldMkLst>
      </pc:sldChg>
      <pc:sldChg chg="modSp add mod modTransition">
        <pc:chgData name="Lynn Carty" userId="22830c01-2f55-4e06-b79c-b355947cb1ea" providerId="ADAL" clId="{26A69A36-AE3B-B747-8052-B70D32B5C67D}" dt="2024-09-25T17:12:05.925" v="175" actId="20577"/>
        <pc:sldMkLst>
          <pc:docMk/>
          <pc:sldMk cId="1421933154" sldId="339"/>
        </pc:sldMkLst>
        <pc:spChg chg="mod">
          <ac:chgData name="Lynn Carty" userId="22830c01-2f55-4e06-b79c-b355947cb1ea" providerId="ADAL" clId="{26A69A36-AE3B-B747-8052-B70D32B5C67D}" dt="2024-09-25T17:12:05.925" v="175" actId="20577"/>
          <ac:spMkLst>
            <pc:docMk/>
            <pc:sldMk cId="1421933154" sldId="339"/>
            <ac:spMk id="2" creationId="{00000000-0000-0000-0000-000000000000}"/>
          </ac:spMkLst>
        </pc:spChg>
      </pc:sldChg>
      <pc:sldChg chg="del">
        <pc:chgData name="Lynn Carty" userId="22830c01-2f55-4e06-b79c-b355947cb1ea" providerId="ADAL" clId="{26A69A36-AE3B-B747-8052-B70D32B5C67D}" dt="2024-09-24T16:52:23.219" v="19" actId="2696"/>
        <pc:sldMkLst>
          <pc:docMk/>
          <pc:sldMk cId="3893787948" sldId="341"/>
        </pc:sldMkLst>
      </pc:sldChg>
      <pc:sldChg chg="del">
        <pc:chgData name="Lynn Carty" userId="22830c01-2f55-4e06-b79c-b355947cb1ea" providerId="ADAL" clId="{26A69A36-AE3B-B747-8052-B70D32B5C67D}" dt="2024-09-24T16:52:23.257" v="48" actId="2696"/>
        <pc:sldMkLst>
          <pc:docMk/>
          <pc:sldMk cId="1478760988" sldId="358"/>
        </pc:sldMkLst>
      </pc:sldChg>
      <pc:sldChg chg="del">
        <pc:chgData name="Lynn Carty" userId="22830c01-2f55-4e06-b79c-b355947cb1ea" providerId="ADAL" clId="{26A69A36-AE3B-B747-8052-B70D32B5C67D}" dt="2024-09-24T16:52:23.237" v="30" actId="2696"/>
        <pc:sldMkLst>
          <pc:docMk/>
          <pc:sldMk cId="955743596" sldId="359"/>
        </pc:sldMkLst>
      </pc:sldChg>
      <pc:sldChg chg="del">
        <pc:chgData name="Lynn Carty" userId="22830c01-2f55-4e06-b79c-b355947cb1ea" providerId="ADAL" clId="{26A69A36-AE3B-B747-8052-B70D32B5C67D}" dt="2024-09-24T16:52:23.241" v="33" actId="2696"/>
        <pc:sldMkLst>
          <pc:docMk/>
          <pc:sldMk cId="1983638203" sldId="361"/>
        </pc:sldMkLst>
      </pc:sldChg>
      <pc:sldChg chg="del">
        <pc:chgData name="Lynn Carty" userId="22830c01-2f55-4e06-b79c-b355947cb1ea" providerId="ADAL" clId="{26A69A36-AE3B-B747-8052-B70D32B5C67D}" dt="2024-09-24T16:52:23.180" v="3" actId="2696"/>
        <pc:sldMkLst>
          <pc:docMk/>
          <pc:sldMk cId="1672920682" sldId="362"/>
        </pc:sldMkLst>
      </pc:sldChg>
      <pc:sldChg chg="del">
        <pc:chgData name="Lynn Carty" userId="22830c01-2f55-4e06-b79c-b355947cb1ea" providerId="ADAL" clId="{26A69A36-AE3B-B747-8052-B70D32B5C67D}" dt="2024-09-24T16:52:23.196" v="7" actId="2696"/>
        <pc:sldMkLst>
          <pc:docMk/>
          <pc:sldMk cId="1924064932" sldId="363"/>
        </pc:sldMkLst>
      </pc:sldChg>
      <pc:sldChg chg="del">
        <pc:chgData name="Lynn Carty" userId="22830c01-2f55-4e06-b79c-b355947cb1ea" providerId="ADAL" clId="{26A69A36-AE3B-B747-8052-B70D32B5C67D}" dt="2024-09-24T16:52:23.200" v="8" actId="2696"/>
        <pc:sldMkLst>
          <pc:docMk/>
          <pc:sldMk cId="2795231965" sldId="364"/>
        </pc:sldMkLst>
      </pc:sldChg>
      <pc:sldChg chg="del">
        <pc:chgData name="Lynn Carty" userId="22830c01-2f55-4e06-b79c-b355947cb1ea" providerId="ADAL" clId="{26A69A36-AE3B-B747-8052-B70D32B5C67D}" dt="2024-09-24T16:52:23.168" v="2" actId="2696"/>
        <pc:sldMkLst>
          <pc:docMk/>
          <pc:sldMk cId="209988748" sldId="365"/>
        </pc:sldMkLst>
      </pc:sldChg>
      <pc:sldChg chg="del">
        <pc:chgData name="Lynn Carty" userId="22830c01-2f55-4e06-b79c-b355947cb1ea" providerId="ADAL" clId="{26A69A36-AE3B-B747-8052-B70D32B5C67D}" dt="2024-09-24T16:52:23.216" v="17" actId="2696"/>
        <pc:sldMkLst>
          <pc:docMk/>
          <pc:sldMk cId="347740556" sldId="370"/>
        </pc:sldMkLst>
      </pc:sldChg>
      <pc:sldChg chg="del">
        <pc:chgData name="Lynn Carty" userId="22830c01-2f55-4e06-b79c-b355947cb1ea" providerId="ADAL" clId="{26A69A36-AE3B-B747-8052-B70D32B5C67D}" dt="2024-09-24T16:52:23.228" v="23" actId="2696"/>
        <pc:sldMkLst>
          <pc:docMk/>
          <pc:sldMk cId="2542035706" sldId="371"/>
        </pc:sldMkLst>
      </pc:sldChg>
      <pc:sldChg chg="del">
        <pc:chgData name="Lynn Carty" userId="22830c01-2f55-4e06-b79c-b355947cb1ea" providerId="ADAL" clId="{26A69A36-AE3B-B747-8052-B70D32B5C67D}" dt="2024-09-24T16:52:23.239" v="31" actId="2696"/>
        <pc:sldMkLst>
          <pc:docMk/>
          <pc:sldMk cId="2080002338" sldId="372"/>
        </pc:sldMkLst>
      </pc:sldChg>
      <pc:sldChg chg="del">
        <pc:chgData name="Lynn Carty" userId="22830c01-2f55-4e06-b79c-b355947cb1ea" providerId="ADAL" clId="{26A69A36-AE3B-B747-8052-B70D32B5C67D}" dt="2024-09-24T16:52:23.262" v="52" actId="2696"/>
        <pc:sldMkLst>
          <pc:docMk/>
          <pc:sldMk cId="2526251614" sldId="373"/>
        </pc:sldMkLst>
      </pc:sldChg>
      <pc:sldChg chg="del">
        <pc:chgData name="Lynn Carty" userId="22830c01-2f55-4e06-b79c-b355947cb1ea" providerId="ADAL" clId="{26A69A36-AE3B-B747-8052-B70D32B5C67D}" dt="2024-09-24T16:52:23.230" v="24" actId="2696"/>
        <pc:sldMkLst>
          <pc:docMk/>
          <pc:sldMk cId="2793089243" sldId="374"/>
        </pc:sldMkLst>
      </pc:sldChg>
      <pc:sldChg chg="del">
        <pc:chgData name="Lynn Carty" userId="22830c01-2f55-4e06-b79c-b355947cb1ea" providerId="ADAL" clId="{26A69A36-AE3B-B747-8052-B70D32B5C67D}" dt="2024-09-24T16:52:23.256" v="46" actId="2696"/>
        <pc:sldMkLst>
          <pc:docMk/>
          <pc:sldMk cId="2942853959" sldId="375"/>
        </pc:sldMkLst>
      </pc:sldChg>
      <pc:sldChg chg="del">
        <pc:chgData name="Lynn Carty" userId="22830c01-2f55-4e06-b79c-b355947cb1ea" providerId="ADAL" clId="{26A69A36-AE3B-B747-8052-B70D32B5C67D}" dt="2024-09-24T16:52:23.205" v="11" actId="2696"/>
        <pc:sldMkLst>
          <pc:docMk/>
          <pc:sldMk cId="3313528628" sldId="376"/>
        </pc:sldMkLst>
      </pc:sldChg>
      <pc:sldChg chg="del">
        <pc:chgData name="Lynn Carty" userId="22830c01-2f55-4e06-b79c-b355947cb1ea" providerId="ADAL" clId="{26A69A36-AE3B-B747-8052-B70D32B5C67D}" dt="2024-09-24T16:52:23.253" v="43" actId="2696"/>
        <pc:sldMkLst>
          <pc:docMk/>
          <pc:sldMk cId="1186286633" sldId="378"/>
        </pc:sldMkLst>
      </pc:sldChg>
      <pc:sldChg chg="del">
        <pc:chgData name="Lynn Carty" userId="22830c01-2f55-4e06-b79c-b355947cb1ea" providerId="ADAL" clId="{26A69A36-AE3B-B747-8052-B70D32B5C67D}" dt="2024-09-24T16:52:23.233" v="27" actId="2696"/>
        <pc:sldMkLst>
          <pc:docMk/>
          <pc:sldMk cId="1736506824" sldId="379"/>
        </pc:sldMkLst>
      </pc:sldChg>
      <pc:sldChg chg="del">
        <pc:chgData name="Lynn Carty" userId="22830c01-2f55-4e06-b79c-b355947cb1ea" providerId="ADAL" clId="{26A69A36-AE3B-B747-8052-B70D32B5C67D}" dt="2024-09-24T16:52:23.185" v="4" actId="2696"/>
        <pc:sldMkLst>
          <pc:docMk/>
          <pc:sldMk cId="1555797074" sldId="380"/>
        </pc:sldMkLst>
      </pc:sldChg>
      <pc:sldChg chg="del">
        <pc:chgData name="Lynn Carty" userId="22830c01-2f55-4e06-b79c-b355947cb1ea" providerId="ADAL" clId="{26A69A36-AE3B-B747-8052-B70D32B5C67D}" dt="2024-09-24T16:52:23.211" v="14" actId="2696"/>
        <pc:sldMkLst>
          <pc:docMk/>
          <pc:sldMk cId="507270841" sldId="382"/>
        </pc:sldMkLst>
      </pc:sldChg>
      <pc:sldChg chg="del">
        <pc:chgData name="Lynn Carty" userId="22830c01-2f55-4e06-b79c-b355947cb1ea" providerId="ADAL" clId="{26A69A36-AE3B-B747-8052-B70D32B5C67D}" dt="2024-09-24T16:52:23.255" v="44" actId="2696"/>
        <pc:sldMkLst>
          <pc:docMk/>
          <pc:sldMk cId="890483661" sldId="383"/>
        </pc:sldMkLst>
      </pc:sldChg>
      <pc:sldChg chg="del">
        <pc:chgData name="Lynn Carty" userId="22830c01-2f55-4e06-b79c-b355947cb1ea" providerId="ADAL" clId="{26A69A36-AE3B-B747-8052-B70D32B5C67D}" dt="2024-09-24T16:52:23.263" v="54" actId="2696"/>
        <pc:sldMkLst>
          <pc:docMk/>
          <pc:sldMk cId="1827549473" sldId="386"/>
        </pc:sldMkLst>
      </pc:sldChg>
      <pc:sldChg chg="del">
        <pc:chgData name="Lynn Carty" userId="22830c01-2f55-4e06-b79c-b355947cb1ea" providerId="ADAL" clId="{26A69A36-AE3B-B747-8052-B70D32B5C67D}" dt="2024-09-24T16:52:23.218" v="18" actId="2696"/>
        <pc:sldMkLst>
          <pc:docMk/>
          <pc:sldMk cId="860344472" sldId="387"/>
        </pc:sldMkLst>
      </pc:sldChg>
      <pc:sldChg chg="del">
        <pc:chgData name="Lynn Carty" userId="22830c01-2f55-4e06-b79c-b355947cb1ea" providerId="ADAL" clId="{26A69A36-AE3B-B747-8052-B70D32B5C67D}" dt="2024-09-24T16:52:23.209" v="13" actId="2696"/>
        <pc:sldMkLst>
          <pc:docMk/>
          <pc:sldMk cId="1907137752" sldId="388"/>
        </pc:sldMkLst>
      </pc:sldChg>
      <pc:sldChg chg="del">
        <pc:chgData name="Lynn Carty" userId="22830c01-2f55-4e06-b79c-b355947cb1ea" providerId="ADAL" clId="{26A69A36-AE3B-B747-8052-B70D32B5C67D}" dt="2024-09-24T16:52:23.244" v="37" actId="2696"/>
        <pc:sldMkLst>
          <pc:docMk/>
          <pc:sldMk cId="1250716641" sldId="389"/>
        </pc:sldMkLst>
      </pc:sldChg>
      <pc:sldChg chg="del">
        <pc:chgData name="Lynn Carty" userId="22830c01-2f55-4e06-b79c-b355947cb1ea" providerId="ADAL" clId="{26A69A36-AE3B-B747-8052-B70D32B5C67D}" dt="2024-09-24T16:52:23.212" v="15" actId="2696"/>
        <pc:sldMkLst>
          <pc:docMk/>
          <pc:sldMk cId="1267948601" sldId="393"/>
        </pc:sldMkLst>
      </pc:sldChg>
      <pc:sldChg chg="del">
        <pc:chgData name="Lynn Carty" userId="22830c01-2f55-4e06-b79c-b355947cb1ea" providerId="ADAL" clId="{26A69A36-AE3B-B747-8052-B70D32B5C67D}" dt="2024-09-24T16:52:23.203" v="10" actId="2696"/>
        <pc:sldMkLst>
          <pc:docMk/>
          <pc:sldMk cId="2814850053" sldId="394"/>
        </pc:sldMkLst>
      </pc:sldChg>
      <pc:sldChg chg="del">
        <pc:chgData name="Lynn Carty" userId="22830c01-2f55-4e06-b79c-b355947cb1ea" providerId="ADAL" clId="{26A69A36-AE3B-B747-8052-B70D32B5C67D}" dt="2024-09-24T16:52:23.262" v="53" actId="2696"/>
        <pc:sldMkLst>
          <pc:docMk/>
          <pc:sldMk cId="2838385951" sldId="395"/>
        </pc:sldMkLst>
      </pc:sldChg>
      <pc:sldChg chg="del">
        <pc:chgData name="Lynn Carty" userId="22830c01-2f55-4e06-b79c-b355947cb1ea" providerId="ADAL" clId="{26A69A36-AE3B-B747-8052-B70D32B5C67D}" dt="2024-09-24T16:52:23.255" v="45" actId="2696"/>
        <pc:sldMkLst>
          <pc:docMk/>
          <pc:sldMk cId="1800924793" sldId="396"/>
        </pc:sldMkLst>
      </pc:sldChg>
      <pc:sldChg chg="add del">
        <pc:chgData name="Lynn Carty" userId="22830c01-2f55-4e06-b79c-b355947cb1ea" providerId="ADAL" clId="{26A69A36-AE3B-B747-8052-B70D32B5C67D}" dt="2024-09-24T16:55:52.645" v="58"/>
        <pc:sldMkLst>
          <pc:docMk/>
          <pc:sldMk cId="1060464192" sldId="397"/>
        </pc:sldMkLst>
      </pc:sldChg>
      <pc:sldChg chg="del">
        <pc:chgData name="Lynn Carty" userId="22830c01-2f55-4e06-b79c-b355947cb1ea" providerId="ADAL" clId="{26A69A36-AE3B-B747-8052-B70D32B5C67D}" dt="2024-09-24T16:52:23.263" v="55" actId="2696"/>
        <pc:sldMkLst>
          <pc:docMk/>
          <pc:sldMk cId="1769818689" sldId="398"/>
        </pc:sldMkLst>
      </pc:sldChg>
      <pc:sldChg chg="add del">
        <pc:chgData name="Lynn Carty" userId="22830c01-2f55-4e06-b79c-b355947cb1ea" providerId="ADAL" clId="{26A69A36-AE3B-B747-8052-B70D32B5C67D}" dt="2024-09-24T16:56:52.351" v="59"/>
        <pc:sldMkLst>
          <pc:docMk/>
          <pc:sldMk cId="3837775300" sldId="399"/>
        </pc:sldMkLst>
      </pc:sldChg>
      <pc:sldChg chg="add del">
        <pc:chgData name="Lynn Carty" userId="22830c01-2f55-4e06-b79c-b355947cb1ea" providerId="ADAL" clId="{26A69A36-AE3B-B747-8052-B70D32B5C67D}" dt="2024-09-24T16:55:23.570" v="57"/>
        <pc:sldMkLst>
          <pc:docMk/>
          <pc:sldMk cId="3819069660" sldId="4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B78E97C-1779-4CEE-80D0-5BBB1AC4023D}" type="datetimeFigureOut">
              <a:rPr lang="en-US" smtClean="0"/>
              <a:t>9/30/25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237">
              <a:defRPr/>
            </a:pPr>
            <a:r>
              <a:rPr lang="en-US" altLang="en-US" dirty="0">
                <a:latin typeface="Arial" pitchFamily="34" charset="0"/>
                <a:ea typeface="ＭＳ Ｐゴシック" pitchFamily="34" charset="-128"/>
              </a:rPr>
              <a:t>Merchandise inventory is the heart of a merchandising business, and cost of goods sold is the most important expense for a company that sells goods rather than services. Gross profit (or gross margin) is the difference between net sales and cost of goods sold. This chapter covers the accounting for inventory and cost of goods sold. It also shows you how to analyze financial statements. In this chapter, we focus on inventory, cost of goods sold, and gross profit.</a:t>
            </a:r>
          </a:p>
          <a:p>
            <a:endParaRPr lang="en-US" dirty="0"/>
          </a:p>
          <a:p>
            <a:r>
              <a:rPr lang="en-US" dirty="0"/>
              <a:t>If this PowerPoint presentation contains mathematical equations, you may need to check that your computer has the following installed:</a:t>
            </a:r>
          </a:p>
          <a:p>
            <a:r>
              <a:rPr lang="en-US" dirty="0"/>
              <a:t>1) </a:t>
            </a:r>
            <a:r>
              <a:rPr lang="en-US" dirty="0" err="1"/>
              <a:t>MathType</a:t>
            </a:r>
            <a:r>
              <a:rPr lang="en-US" dirty="0"/>
              <a:t> Plugin</a:t>
            </a:r>
          </a:p>
          <a:p>
            <a:r>
              <a:rPr lang="en-US" dirty="0"/>
              <a:t>2) Math Player (free versions available)</a:t>
            </a:r>
          </a:p>
          <a:p>
            <a:r>
              <a:rPr lang="en-US" dirty="0"/>
              <a:t>3) NVDA Reader (free versions available) </a:t>
            </a:r>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3992740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first learning objective is to show how to account for inventory </a:t>
            </a:r>
            <a:r>
              <a:rPr lang="en-US" altLang="en-US" dirty="0">
                <a:ea typeface="ＭＳ Ｐゴシック" pitchFamily="34" charset="-128"/>
              </a:rPr>
              <a:t>under the perpetual inventory system</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4132504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This slide compares income statements from a service company and a merchandising company:</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A service company has service revenue, while a merchandising company has sales revenue or more simply “sales”.</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The major difference between a merchandising company and a service company is that a merchandising company sells inventory, and a service company does not. This means that a merchandising company often has two extra lines on its income statement before the operating expenses that a service company does not have: cost of goods sold and gross profit.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92788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This slide compares income statements from a service company and a merchandising company:</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A merchandising company will have an account called inventory in its current asset section of the Balance Sheet. A service company will not have that account.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92788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basic concept of accounting for merchandise inventory can be illustrated with an example. Suppose a furniture store has in stock three chairs that cost $300 each. The furniture store marks the chairs up by $200 and sells two of the chairs for $500 each.</a:t>
            </a:r>
            <a:r>
              <a:rPr lang="en-US" altLang="en-US" dirty="0">
                <a:latin typeface="Berkeley-Book" charset="0"/>
                <a:ea typeface="ＭＳ Ｐゴシック" pitchFamily="34" charset="-128"/>
              </a:rPr>
              <a:t> The furniture store’s balance sheet reports the one chair that the company still holds in inventory. The income statement reports the cost of the two chairs sold as shown above.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494019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basic concept of how we identify inventory, the asset, from cost of goods sold, the expense is shown above. The cost of the inventory sold shifts from asset to expense when the seller delivers the goods to the buyer.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Note the difference between the sale price of inventory and the cost of inventory. In our example,</a:t>
            </a:r>
          </a:p>
          <a:p>
            <a:r>
              <a:rPr lang="en-US" altLang="en-US" dirty="0">
                <a:latin typeface="Arial" pitchFamily="34" charset="0"/>
                <a:ea typeface="ＭＳ Ｐゴシック" pitchFamily="34" charset="-128"/>
              </a:rPr>
              <a:t>▶ Sales revenue is based on the sale price of the inventory sold ($500 per chair).</a:t>
            </a:r>
          </a:p>
          <a:p>
            <a:r>
              <a:rPr lang="en-US" altLang="en-US" dirty="0">
                <a:latin typeface="Arial" pitchFamily="34" charset="0"/>
                <a:ea typeface="ＭＳ Ｐゴシック" pitchFamily="34" charset="-128"/>
              </a:rPr>
              <a:t>▶ Cost of goods sold is based on the cost of the inventory sold ($300 per chair).</a:t>
            </a:r>
          </a:p>
          <a:p>
            <a:r>
              <a:rPr lang="en-US" altLang="en-US" dirty="0">
                <a:latin typeface="Arial" pitchFamily="34" charset="0"/>
                <a:ea typeface="ＭＳ Ｐゴシック" pitchFamily="34" charset="-128"/>
              </a:rPr>
              <a:t>▶ Inventory on the balance sheet is based on the cost of the inventory still on hand ($300 per chair).</a:t>
            </a:r>
          </a:p>
          <a:p>
            <a:r>
              <a:rPr lang="en-US" altLang="en-US" dirty="0">
                <a:latin typeface="Arial" pitchFamily="34" charset="0"/>
                <a:ea typeface="ＭＳ Ｐゴシック" pitchFamily="34" charset="-128"/>
              </a:rPr>
              <a:t>Gross profit, also called gross margin, is the excess of sales revenue over cost of goods sold. It is called gross profit because operating expenses have not yet been subtracted</a:t>
            </a:r>
            <a:r>
              <a:rPr lang="en-US" altLang="en-US" i="1"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488666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number of inventory units on hand is determined from the accounting records, backed up by a physical count of the goods at year-end.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Arial" pitchFamily="34" charset="0"/>
              <a:ea typeface="ＭＳ Ｐゴシック" pitchFamily="34"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Companies include inventory in transit from suppliers or in transit to customers that, according to shipping terms, legally belongs to them as of the year-end.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itchFamily="34" charset="0"/>
              <a:ea typeface="ＭＳ Ｐゴシック" pitchFamily="34"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ea typeface="ＭＳ Ｐゴシック" pitchFamily="34" charset="-128"/>
              </a:rPr>
              <a:t>Inventory’s cost included its basic purchase price, plus freight-in, insurance while in transit, and any costs paid to get the inventory ready to sell, less returns, allowance, and discounts.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830594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Shipping terms, otherwise known as FOB (free on board) terms, indicate who owns the goods at a particular time and, therefore, who must pay for the shipping costs. When the vendor invoice specifies FOB shipping point (the most common business practice), legal title to the goods passes from the seller to the purchaser when the inventory leaves the seller’s place of business. The purchaser therefore owns the goods while they are in transit and must pay the transportation costs. In the case of goods purchased FOB shipping point, the company purchasing the goods must include goods in transit from suppliers as units in inventory as of the year-end. In the case of goods purchased FOB destination, title to the goods does not pass from the seller to the purchaser until the goods arrive at the purchaser’s receiving dock. Therefore, these goods are not counted in year-end inventory of the purchasing company. Rather, the cost of these goods is included in inventory of the seller until the goods reach their destination.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two main types of inventory accounting systems: the periodic system and the perpetual system. The periodic inventory system is used for inexpensive goods. A fabric store or a lumber yard won’t keep a running record of every bolt of fabric or every two-by-four. Instead, these stores count their inventory periodically—at least once a year—to determine the quantities on hand. Businesses such as restaurants and hometown nurseries also use the periodic system because the accounting cost of a periodic system is low.</a:t>
            </a:r>
          </a:p>
          <a:p>
            <a:r>
              <a:rPr lang="en-US" altLang="en-US" dirty="0">
                <a:latin typeface="Arial" pitchFamily="34" charset="0"/>
                <a:ea typeface="ＭＳ Ｐゴシック" pitchFamily="34" charset="-128"/>
              </a:rPr>
              <a:t>A perpetual inventory system uses computer software to keep a running record of inventory on hand. This system achieves control over goods such as furniture, automobiles, </a:t>
            </a:r>
            <a:r>
              <a:rPr lang="en-US" altLang="en-US" dirty="0" err="1">
                <a:latin typeface="Arial" pitchFamily="34" charset="0"/>
                <a:ea typeface="ＭＳ Ｐゴシック" pitchFamily="34" charset="-128"/>
              </a:rPr>
              <a:t>jewellery</a:t>
            </a:r>
            <a:r>
              <a:rPr lang="en-US" altLang="en-US" dirty="0">
                <a:latin typeface="Arial" pitchFamily="34" charset="0"/>
                <a:ea typeface="ＭＳ Ｐゴシック" pitchFamily="34" charset="-128"/>
              </a:rPr>
              <a:t>, apparel, and most other types of inventory. Due to computers, most businesses use the perpetual inventory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912693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you check out of a store, the clerk scans the bar codes on the labels of the items you buy. Suppose you are buying a desk lamp from a furniture store. The bar code on the product label holds lots of information. The optical scanner reads the bar code, and the computer records the sale and updates the inventory records. All accounting systems record each purchase of inventory. When a company makes a sale, two entries are needed in the perpetual system:</a:t>
            </a:r>
          </a:p>
          <a:p>
            <a:r>
              <a:rPr lang="en-US" altLang="en-US" dirty="0">
                <a:latin typeface="Arial" pitchFamily="34" charset="0"/>
                <a:ea typeface="ＭＳ Ｐゴシック" pitchFamily="34" charset="-128"/>
              </a:rPr>
              <a:t>■ The company records the sale—debits Cash or Accounts Receivable and credits Sales Revenue for the sale price of the goods.</a:t>
            </a:r>
          </a:p>
          <a:p>
            <a:r>
              <a:rPr lang="en-US" altLang="en-US" dirty="0">
                <a:latin typeface="Arial" pitchFamily="34" charset="0"/>
                <a:ea typeface="ＭＳ Ｐゴシック" pitchFamily="34" charset="-128"/>
              </a:rPr>
              <a:t>■ The company also debits Cost of Goods Sold and credits Inventory for the cost of the inventory sold.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00452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journal entries to record inventory transactions are shown above. All amounts are assumed. When inventory is purchased, the Inventory account is increased. When inventory is sold, the Inventory account is decreased. Notice that </a:t>
            </a:r>
            <a:r>
              <a:rPr lang="en-US" altLang="en-US" dirty="0">
                <a:solidFill>
                  <a:srgbClr val="000000"/>
                </a:solidFill>
                <a:latin typeface="Arial" pitchFamily="34" charset="0"/>
                <a:ea typeface="ＭＳ Ｐゴシック" pitchFamily="34" charset="-128"/>
              </a:rPr>
              <a:t>there are two entries for the sale. The first is at the selling price and the second is at cost.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2888518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Continuing the example on the previous page, the T-accounts for Inventory and Cost of Good Sold are shown with the journal entries posted. The beginning balance of inventory is assumed.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313898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resulting balance sheet and income statement are shown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89194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first entry to Inventory in the previous examples summarizes a lot of </a:t>
            </a:r>
            <a:r>
              <a:rPr lang="en-US" altLang="en-US" dirty="0">
                <a:solidFill>
                  <a:srgbClr val="000000"/>
                </a:solidFill>
                <a:latin typeface="Arial" pitchFamily="34" charset="0"/>
                <a:ea typeface="ＭＳ Ｐゴシック" pitchFamily="34" charset="-128"/>
              </a:rPr>
              <a:t>detail. The cost of the inventory, $560,000, is the net amount of the purchases, determined as shown above. Freight-in is the transportation cost, paid by the buyer under terms FOB shipping  point, to move goods from the seller to the buyer. Freight-in is accounted for as part of the cost of inventory. A purchase return is a decrease in the cost of inventory because the buyer returned the goods to the seller (vendor). A purchase allowance also decreases the cost of inventory because the buyer got an allowance (a deduction) from the amount owed. </a:t>
            </a:r>
            <a:r>
              <a:rPr lang="en-US" altLang="en-US" dirty="0">
                <a:latin typeface="Arial" pitchFamily="34" charset="0"/>
                <a:ea typeface="ＭＳ Ｐゴシック" pitchFamily="34" charset="-128"/>
              </a:rPr>
              <a:t>These terms are the “flip side” of the seller’s sales return and sales allowance</a:t>
            </a:r>
            <a:r>
              <a:rPr lang="en-US" altLang="en-US" dirty="0">
                <a:solidFill>
                  <a:srgbClr val="000000"/>
                </a:solidFill>
                <a:latin typeface="Arial" pitchFamily="34" charset="0"/>
                <a:ea typeface="ＭＳ Ｐゴシック" pitchFamily="34" charset="-128"/>
              </a:rPr>
              <a:t>. To document approval of purchase returns, management issues a debit memorandum, meaning that accounts payable are reduced (debited) for the amount of the return. The offsetting credit is to inventory as the goods are shipped back to the seller (vendor). Purchase discounts and allowances are usually documented on the final invoice received from the vendor. A purchase discount is a decrease in the buyer’s cost of inventory earned by paying quickly. Many companies offer payment terms of “2/10 n/30.” This means the buyer can take, and the seller grants, a 2% discount for payment within 10 days, with the full amount due within 30 days if the buyer chooses not to pay early. Another common credit term is “net 30,” which tells </a:t>
            </a:r>
            <a:r>
              <a:rPr lang="en-US" altLang="en-US" dirty="0">
                <a:latin typeface="Arial" pitchFamily="34" charset="0"/>
                <a:ea typeface="ＭＳ Ｐゴシック" pitchFamily="34" charset="-128"/>
              </a:rPr>
              <a:t>the customer to pay the full amount within 30 days.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185944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Net sales are computed exactly the same as net purchases, but with no freight-in. Freight-out paid by the seller, under shipping terms FOB destination, is not part of the cost of inventory. Instead, freight-out is delivery expense. It’s the seller’s expense of delivering merchandise to customers.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713501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709969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880873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To demonstrate, assume that ABC Corporation’s historical experience is that 1% of the items it sells eventually are returned for one reason or another. Assume that the company’s sales revenue for the month is $200,000 and cost of goods sold is 60% of sales. To record the sales of goods, the company would record the two entries shown above.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2327718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As items are returned in the future, the company reduces its sales refund payable account for the amount of cash or accounts receivable credit it gives back to customers. The company also debits its inventory account for items that are returned and put back into inventory and credits the company’s inventory returns estimated account by the same amount. Continuing the example, assume that in June, the company’s customers return $500 of inventory. Using the same cost of goods sold percentage (60%), the company would make the journal entries shown.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27363122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baseline="0" dirty="0"/>
              <a:t>Sales discounts may be offered to speed up cash flows from credit sales. As an example, </a:t>
            </a:r>
            <a:r>
              <a:rPr lang="en-CA" sz="1800" b="0" i="0" u="none" strike="noStrike" baseline="0" dirty="0">
                <a:latin typeface="BerkeleyPro-Book"/>
              </a:rPr>
              <a:t>assume Kana </a:t>
            </a:r>
            <a:r>
              <a:rPr lang="en-US" sz="1800" b="0" i="0" u="none" strike="noStrike" baseline="0" dirty="0">
                <a:latin typeface="BerkeleyPro-Book"/>
              </a:rPr>
              <a:t>Corporation sells goods to a customer and invoices them for $1,500, 2/10, n/30. Cost of goods sold is 40% of sales and the company is not expecting any sales returns. Kana would record the journal entries shown for this sale, with the payment terms given in the explanation of the journal entry.</a:t>
            </a:r>
            <a:endParaRPr lang="en-US" b="0" i="0" u="none" strike="noStrike" baseline="0"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565797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0" i="0" u="none" strike="noStrike" baseline="0" dirty="0"/>
              <a:t>To continue the example, </a:t>
            </a:r>
            <a:r>
              <a:rPr lang="en-US" sz="1800" b="0" i="0" u="none" strike="noStrike" baseline="0" dirty="0">
                <a:latin typeface="BerkeleyPro-Book"/>
              </a:rPr>
              <a:t>if the customer pays the invoice within 10 days, it is entitled to a $30 discount, making the full amount due to settle Kana Corporation’s invoice $1,470 rather than </a:t>
            </a:r>
            <a:r>
              <a:rPr lang="en-CA" sz="1800" b="0" i="0" u="none" strike="noStrike" baseline="0" dirty="0">
                <a:latin typeface="BerkeleyPro-Book"/>
              </a:rPr>
              <a:t>$1,500 (first journal entry above). If </a:t>
            </a:r>
            <a:r>
              <a:rPr lang="en-US" sz="1800" b="0" i="0" u="none" strike="noStrike" baseline="0" dirty="0">
                <a:latin typeface="BerkeleyPro-Book"/>
              </a:rPr>
              <a:t>the customer does not pay its discounted invoice within the prescribed time period of 10 days, it forfeits its contractual right to the sales discount and would be obligated to pay Kana Corporation the full amount (second journal entry above).</a:t>
            </a:r>
            <a:endParaRPr lang="en-US" b="0" i="0" u="none" strike="noStrike" baseline="0"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64517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itchFamily="34" charset="0"/>
                <a:ea typeface="ＭＳ Ｐゴシック" pitchFamily="34" charset="-128"/>
              </a:rPr>
              <a:t>The second learning objective is to apply and compare</a:t>
            </a:r>
            <a:r>
              <a:rPr lang="en-US" altLang="en-US" b="1" dirty="0">
                <a:latin typeface="Arial" pitchFamily="34" charset="0"/>
                <a:ea typeface="ＭＳ Ｐゴシック" pitchFamily="34" charset="-128"/>
              </a:rPr>
              <a:t> </a:t>
            </a:r>
            <a:r>
              <a:rPr lang="en-US" altLang="en-US" dirty="0">
                <a:latin typeface="Arial" pitchFamily="34" charset="0"/>
                <a:ea typeface="ＭＳ Ｐゴシック" pitchFamily="34" charset="-128"/>
              </a:rPr>
              <a:t>various inventory costing methods.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0052449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dirty="0">
                <a:latin typeface="Arial" pitchFamily="34" charset="0"/>
                <a:ea typeface="ＭＳ Ｐゴシック" pitchFamily="34" charset="-128"/>
              </a:rPr>
              <a:t>Inventory is the first asset for which a manager can decide which accounting method to use. The accounting method selected affects the profits to be reported, the amount of income tax to be paid, and the values of the ratios derived from the financial statements</a:t>
            </a:r>
            <a:r>
              <a:rPr lang="en-US" altLang="en-US" b="1" dirty="0">
                <a:latin typeface="Arial" pitchFamily="34" charset="0"/>
                <a:ea typeface="ＭＳ Ｐゴシック" pitchFamily="34" charset="-128"/>
              </a:rPr>
              <a:t>. </a:t>
            </a:r>
            <a:r>
              <a:rPr lang="en-US" altLang="en-US" dirty="0">
                <a:latin typeface="Arial" pitchFamily="34" charset="0"/>
                <a:ea typeface="ＭＳ Ｐゴシック" pitchFamily="34" charset="-128"/>
              </a:rPr>
              <a:t>Determining the cost of inventory is easy when the unit cost remains constant</a:t>
            </a:r>
            <a:r>
              <a:rPr lang="en-US" altLang="en-US" dirty="0">
                <a:solidFill>
                  <a:srgbClr val="C00000"/>
                </a:solidFill>
                <a:latin typeface="Arial" pitchFamily="34" charset="0"/>
                <a:ea typeface="ＭＳ Ｐゴシック" pitchFamily="34" charset="-128"/>
              </a:rPr>
              <a:t>.</a:t>
            </a:r>
            <a:r>
              <a:rPr lang="en-US" altLang="en-US" dirty="0">
                <a:latin typeface="Arial" pitchFamily="34" charset="0"/>
                <a:ea typeface="ＭＳ Ｐゴシック" pitchFamily="34" charset="-128"/>
              </a:rPr>
              <a:t> But the unit cost usually changes. For example, prices often rise. To compute cost of goods sold and the cost of ending inventory still on hand, we must assign unit cost to the items. Accounting uses three generally accepted inventory methods:</a:t>
            </a:r>
          </a:p>
          <a:p>
            <a:pPr>
              <a:lnSpc>
                <a:spcPct val="90000"/>
              </a:lnSpc>
              <a:buFontTx/>
              <a:buAutoNum type="arabicPeriod"/>
            </a:pPr>
            <a:r>
              <a:rPr lang="en-US" altLang="en-US" dirty="0">
                <a:latin typeface="Arial" pitchFamily="34" charset="0"/>
                <a:ea typeface="ＭＳ Ｐゴシック" pitchFamily="34" charset="-128"/>
              </a:rPr>
              <a:t>Specific unit cost </a:t>
            </a:r>
          </a:p>
          <a:p>
            <a:pPr>
              <a:lnSpc>
                <a:spcPct val="90000"/>
              </a:lnSpc>
              <a:buFontTx/>
              <a:buAutoNum type="arabicPeriod"/>
            </a:pPr>
            <a:r>
              <a:rPr lang="en-US" altLang="en-US" dirty="0">
                <a:latin typeface="Arial" pitchFamily="34" charset="0"/>
                <a:ea typeface="ＭＳ Ｐゴシック" pitchFamily="34" charset="-128"/>
              </a:rPr>
              <a:t>Weighted-average cost</a:t>
            </a:r>
          </a:p>
          <a:p>
            <a:pPr>
              <a:lnSpc>
                <a:spcPct val="90000"/>
              </a:lnSpc>
              <a:buFontTx/>
              <a:buAutoNum type="arabicPeriod"/>
            </a:pPr>
            <a:r>
              <a:rPr lang="en-US" altLang="en-US" dirty="0">
                <a:latin typeface="Arial" pitchFamily="34" charset="0"/>
                <a:ea typeface="ＭＳ Ｐゴシック" pitchFamily="34" charset="-128"/>
              </a:rPr>
              <a:t>First-in, first-out (FIFO) cost </a:t>
            </a:r>
          </a:p>
          <a:p>
            <a:pPr>
              <a:lnSpc>
                <a:spcPct val="90000"/>
              </a:lnSpc>
              <a:buFontTx/>
              <a:buAutoNum type="arabicPeriod"/>
            </a:pPr>
            <a:endParaRPr lang="en-US" altLang="en-US" dirty="0">
              <a:latin typeface="Arial" pitchFamily="34" charset="0"/>
              <a:ea typeface="ＭＳ Ｐゴシック" pitchFamily="34" charset="-128"/>
            </a:endParaRPr>
          </a:p>
          <a:p>
            <a:pPr>
              <a:lnSpc>
                <a:spcPct val="90000"/>
              </a:lnSpc>
            </a:pPr>
            <a:r>
              <a:rPr lang="en-US" altLang="en-US" dirty="0">
                <a:latin typeface="Arial" pitchFamily="34" charset="0"/>
                <a:ea typeface="ＭＳ Ｐゴシック" pitchFamily="34" charset="-128"/>
              </a:rPr>
              <a:t>A company can use any of these methods</a:t>
            </a:r>
            <a:r>
              <a:rPr lang="en-US" altLang="en-US" dirty="0">
                <a:solidFill>
                  <a:srgbClr val="C00000"/>
                </a:solidFill>
                <a:latin typeface="Arial" pitchFamily="34" charset="0"/>
                <a:ea typeface="ＭＳ Ｐゴシック" pitchFamily="34" charset="-128"/>
              </a:rPr>
              <a:t> </a:t>
            </a:r>
            <a:r>
              <a:rPr lang="en-US" altLang="en-US" b="1" dirty="0">
                <a:solidFill>
                  <a:srgbClr val="000000"/>
                </a:solidFill>
                <a:latin typeface="Arial" pitchFamily="34" charset="0"/>
                <a:ea typeface="ＭＳ Ｐゴシック" pitchFamily="34" charset="-128"/>
              </a:rPr>
              <a:t>since they are all permitted under Generally Accepted Accounting Principles</a:t>
            </a:r>
            <a:r>
              <a:rPr lang="en-US" altLang="en-US" dirty="0">
                <a:solidFill>
                  <a:srgbClr val="000000"/>
                </a:solidFill>
                <a:latin typeface="Arial" pitchFamily="34" charset="0"/>
                <a:ea typeface="ＭＳ Ｐゴシック" pitchFamily="34" charset="-128"/>
              </a:rPr>
              <a:t>. The methods can have very different effects on reported profits, income taxes, and cash flow. Therefore, companies select their inventory method with great care </a:t>
            </a:r>
            <a:r>
              <a:rPr lang="en-US" altLang="en-US" b="1" dirty="0">
                <a:solidFill>
                  <a:srgbClr val="000000"/>
                </a:solidFill>
                <a:latin typeface="Arial" pitchFamily="34" charset="0"/>
                <a:ea typeface="ＭＳ Ｐゴシック" pitchFamily="34" charset="-128"/>
              </a:rPr>
              <a:t>depending on their profit and cash flow objectives. </a:t>
            </a:r>
          </a:p>
          <a:p>
            <a:pPr>
              <a:lnSpc>
                <a:spcPct val="90000"/>
              </a:lnSpc>
            </a:pPr>
            <a:endParaRPr lang="en-US" alt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Some businesses deal in unique inventory items, such as automobiles, antique furniture, jewels, and real estate. These businesses cost </a:t>
            </a:r>
            <a:r>
              <a:rPr lang="en-US" altLang="en-US" dirty="0">
                <a:solidFill>
                  <a:srgbClr val="000000"/>
                </a:solidFill>
                <a:latin typeface="Arial" pitchFamily="34" charset="0"/>
                <a:ea typeface="ＭＳ Ｐゴシック" pitchFamily="34" charset="-128"/>
              </a:rPr>
              <a:t>their inventories </a:t>
            </a:r>
            <a:r>
              <a:rPr lang="en-US" altLang="en-US" dirty="0">
                <a:latin typeface="Arial" pitchFamily="34" charset="0"/>
                <a:ea typeface="ＭＳ Ｐゴシック" pitchFamily="34" charset="-128"/>
              </a:rPr>
              <a:t>at the specific cost of the particular unit. This method is too expensive to use for inventory items that have common characteristics, such as </a:t>
            </a:r>
            <a:r>
              <a:rPr lang="en-US" altLang="en-US" dirty="0" err="1">
                <a:latin typeface="Arial" pitchFamily="34" charset="0"/>
                <a:ea typeface="ＭＳ Ｐゴシック" pitchFamily="34" charset="-128"/>
              </a:rPr>
              <a:t>tonnes</a:t>
            </a:r>
            <a:r>
              <a:rPr lang="en-US" altLang="en-US" dirty="0">
                <a:latin typeface="Arial" pitchFamily="34" charset="0"/>
                <a:ea typeface="ＭＳ Ｐゴシック" pitchFamily="34" charset="-128"/>
              </a:rPr>
              <a:t> of wheat, </a:t>
            </a:r>
            <a:r>
              <a:rPr lang="en-US" altLang="en-US" dirty="0" err="1">
                <a:latin typeface="Arial" pitchFamily="34" charset="0"/>
                <a:ea typeface="ＭＳ Ｐゴシック" pitchFamily="34" charset="-128"/>
              </a:rPr>
              <a:t>litres</a:t>
            </a:r>
            <a:r>
              <a:rPr lang="en-US" altLang="en-US" dirty="0">
                <a:latin typeface="Arial" pitchFamily="34" charset="0"/>
                <a:ea typeface="ＭＳ Ｐゴシック" pitchFamily="34" charset="-128"/>
              </a:rPr>
              <a:t> of paint, or auto tires.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734626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Leon’s bought a total of 60 lamps, paying a total of $900. At the end of the period, there were only 20 lamps left, meaning 40 lamps had been sold.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495953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defTabSz="457200">
              <a:defRPr/>
            </a:pPr>
            <a:r>
              <a:rPr lang="en-US" sz="1400" dirty="0">
                <a:ea typeface="+mn-ea"/>
                <a:cs typeface="+mn-cs"/>
              </a:rPr>
              <a:t>The big accounting questions are:</a:t>
            </a:r>
          </a:p>
          <a:p>
            <a:pPr marL="457200" indent="-457200" algn="ctr" defTabSz="457200">
              <a:defRPr/>
            </a:pPr>
            <a:endParaRPr lang="en-US" sz="1400" dirty="0">
              <a:ea typeface="+mn-ea"/>
              <a:cs typeface="+mn-cs"/>
            </a:endParaRPr>
          </a:p>
          <a:p>
            <a:pPr marL="457200" indent="-457200" defTabSz="457200">
              <a:buFontTx/>
              <a:buAutoNum type="arabicPeriod"/>
              <a:defRPr/>
            </a:pPr>
            <a:r>
              <a:rPr lang="en-US" dirty="0">
                <a:ea typeface="+mn-ea"/>
                <a:cs typeface="+mn-cs"/>
              </a:rPr>
              <a:t>What is the cost of goods sold for the income statement?</a:t>
            </a:r>
          </a:p>
          <a:p>
            <a:pPr marL="457200" indent="-457200" defTabSz="457200">
              <a:buFontTx/>
              <a:buAutoNum type="arabicPeriod"/>
              <a:defRPr/>
            </a:pPr>
            <a:endParaRPr lang="en-US" dirty="0">
              <a:ea typeface="+mn-ea"/>
              <a:cs typeface="+mn-cs"/>
            </a:endParaRPr>
          </a:p>
          <a:p>
            <a:pPr marL="457200" indent="-457200" defTabSz="457200">
              <a:buFontTx/>
              <a:buAutoNum type="arabicPeriod"/>
              <a:defRPr/>
            </a:pPr>
            <a:r>
              <a:rPr lang="en-US" dirty="0">
                <a:ea typeface="+mn-ea"/>
                <a:cs typeface="+mn-cs"/>
              </a:rPr>
              <a:t>What is the cost of the ending inventory for the balance sheet?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25891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Under the FIFO method, the first costs into inventory are the first costs assigned to cost of goods sold—hence, the name first-in, first-out. Under FIFO, the cost of ending inventory is always based on the latest costs incurred.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2227806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beginning inventory cost $11 each. Therefore the total cost of the 10 units is $110.</a:t>
            </a:r>
          </a:p>
          <a:p>
            <a:r>
              <a:rPr lang="en-CA" altLang="en-US" dirty="0">
                <a:latin typeface="Arial" pitchFamily="34" charset="0"/>
                <a:ea typeface="ＭＳ Ｐゴシック" pitchFamily="34" charset="-128"/>
              </a:rPr>
              <a:t>The first group purchased cost $14 each. Therefore the total cost of the 20 units is $280. </a:t>
            </a:r>
          </a:p>
          <a:p>
            <a:r>
              <a:rPr lang="en-CA" altLang="en-US" dirty="0">
                <a:latin typeface="Arial" pitchFamily="34" charset="0"/>
                <a:ea typeface="ＭＳ Ｐゴシック" pitchFamily="34" charset="-128"/>
              </a:rPr>
              <a:t>The second group purchased cost $16 each. Therefore the total cost of the 10 units is $160.</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Total cost is $550.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9018642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Under the First-in, First-out (FIFO) method, the 20 units left in the ending inventory were 5 units from the second purchase for $16, and 15 units from the last purchase for $18 each. Therefore the total value of the ending inventory is $350.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5621844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steps to calculate the weighted-average cost per unit are:</a:t>
            </a:r>
          </a:p>
          <a:p>
            <a:endParaRPr lang="en-CA" dirty="0"/>
          </a:p>
          <a:p>
            <a:pPr marL="228600" indent="-228600">
              <a:buAutoNum type="arabicParenR"/>
            </a:pPr>
            <a:r>
              <a:rPr lang="en-CA" dirty="0"/>
              <a:t>Calculate the weighted-average cost per unit after each purchase.</a:t>
            </a:r>
          </a:p>
          <a:p>
            <a:pPr marL="228600" indent="-228600">
              <a:buAutoNum type="arabicParenR"/>
            </a:pPr>
            <a:r>
              <a:rPr lang="en-CA" dirty="0"/>
              <a:t>Determine the value for cost of good sold.</a:t>
            </a:r>
          </a:p>
          <a:p>
            <a:pPr marL="228600" indent="-228600">
              <a:buAutoNum type="arabicParenR"/>
            </a:pPr>
            <a:r>
              <a:rPr lang="en-CA" dirty="0"/>
              <a:t>Calculate the cost of ending inventory.</a:t>
            </a:r>
          </a:p>
          <a:p>
            <a:endParaRPr lang="en-CA" dirty="0"/>
          </a:p>
          <a:p>
            <a:r>
              <a:rPr lang="en-CA" dirty="0"/>
              <a:t>Notice how the weighted–average cost per unit under the perpetual inventory system only changes after a purchase is made.</a:t>
            </a:r>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905925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inventory unit costs change, the various inventory methods produce different cost-of-goods sold figures, and therefore gross profit and net income amounts as well. On the balance sheet, the amount of inventory will differ as well. </a:t>
            </a:r>
          </a:p>
          <a:p>
            <a:r>
              <a:rPr lang="en-US" altLang="en-US" dirty="0">
                <a:latin typeface="Arial" pitchFamily="34" charset="0"/>
                <a:ea typeface="ＭＳ Ｐゴシック" pitchFamily="34" charset="-128"/>
              </a:rPr>
              <a:t>When inventory prices are increasing, FIFO will results in the lower Cost of Goods Sold because it consists of older, less expensive costs. This results in a higher gross profit and higher net income. On the balance sheet, FIFO results in a higher inventory balance because it represents the more recent and costly purchases.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2148228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third learning objective is to explain how accounting standards apply to inventory.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8114427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Investors like to compare a company’s financial statements from one period to the next so they can use this information to make a decision. In order to do this, the company must use the same accounting method for inventory consistently from one accounting period to another.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Both IFRS and ASPE allow a change in the accounting method, indicating that it is acceptable if it “results in the financial statements providing reliable and more relevant information.” The change should normally be applied retrospectively, which means that prior years’ financial statements should be restated to reflect the change. In addition, the effect of the change on the current financial statements should be disclosed, and would be found in the notes to the financial statements according to the disclosure principal.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20090163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lower-of-cost-and-net-realizable-value rule (abbreviated as LCNRV) is based on the principles of relevance and representational faithfulness. LCNRV requires that inventory be reported in the financial statements at whichever is lower—the inventory’s historical cost or its market value. Applied to inventories, market value generally means current replacement cost (that is, how much the business would have to pay now to replace its inventory). If the replacement cost of inventory falls below its historical cost, the business must write down the value of its goods to market value, which is the most relevant and representationally faithful measure of its true worth to the business. The business reports ending inventory at its LCNRV value on the balance sheet</a:t>
            </a:r>
            <a:r>
              <a:rPr lang="en-US" altLang="en-US" dirty="0">
                <a:solidFill>
                  <a:srgbClr val="000000"/>
                </a:solidFill>
                <a:latin typeface="Arial" pitchFamily="34" charset="0"/>
                <a:ea typeface="ＭＳ Ｐゴシック" pitchFamily="34" charset="-128"/>
              </a:rPr>
              <a:t>. If the market value of inventory is above cost, no adjustment is made for LCNRV.</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005615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fourth learning objective is to compute and evaluate gross profit</a:t>
            </a:r>
            <a:r>
              <a:rPr lang="en-US" altLang="en-US" baseline="0" dirty="0">
                <a:latin typeface="Arial" pitchFamily="34" charset="0"/>
                <a:ea typeface="ＭＳ Ｐゴシック" pitchFamily="34" charset="-128"/>
              </a:rPr>
              <a:t> percentage, </a:t>
            </a:r>
            <a:r>
              <a:rPr lang="en-US" altLang="en-US" dirty="0">
                <a:ea typeface="ＭＳ Ｐゴシック" pitchFamily="34" charset="-128"/>
              </a:rPr>
              <a:t>inventory turnover, and days’ inventory outstanding.</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1117859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Gross profit—sales minus cost of goods sold—is a key indicator of a company’s ability to sell inventory at a profit. Merchandisers strive to increase gross profit percentage, also called the gross margin percentage. Gross profit percentage is stated as a percentage of a merchandiser’s net sales.</a:t>
            </a:r>
            <a:r>
              <a:rPr lang="en-US" altLang="en-US" dirty="0">
                <a:solidFill>
                  <a:srgbClr val="C0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The gross profit percentage is watched carefully by managers and investors.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28853856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company strives to sell its inventory as quickly as possible because the goods generate no profit until they are sold. The faster the sales, the higher the income, and vice versa for slow-moving goods. Ideally, a business could operate with zero inventory, but most businesses, especially retailers, must keep some goods on hand. Inventory turnover, the ratio of cost of goods sold to average inventory, indicates how rapidly inventory is sold. Inventory turnover varies from industry to industry</a:t>
            </a:r>
            <a:r>
              <a:rPr lang="en-US" altLang="en-US" dirty="0">
                <a:solidFill>
                  <a:srgbClr val="C00000"/>
                </a:solidFill>
                <a:latin typeface="Arial" pitchFamily="34" charset="0"/>
                <a:ea typeface="ＭＳ Ｐゴシック" pitchFamily="34" charset="-128"/>
              </a:rPr>
              <a:t>. </a:t>
            </a:r>
            <a:r>
              <a:rPr lang="en-US" altLang="en-US" dirty="0">
                <a:latin typeface="Arial" pitchFamily="34" charset="0"/>
                <a:ea typeface="ＭＳ Ｐゴシック" pitchFamily="34" charset="-128"/>
              </a:rPr>
              <a:t>The inventory turnover statistic shows how many times the company sold (or turned over) its average level of inventory during the year. Inventory turnover varies from industry to industry.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42853013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A company strives to sell its inventory as quickly as possible because the goods generate no profit until they are sold. The faster the sales, the higher the income, and vice versa for slow-moving goods. Days’ inventory outstanding, calculated as 365 days divided by the inventory turnover,, indicates how </a:t>
            </a:r>
            <a:r>
              <a:rPr lang="en-US" sz="1800" b="0" i="0" u="none" strike="noStrike" baseline="0" dirty="0">
                <a:latin typeface="BerkeleyPro-Book"/>
              </a:rPr>
              <a:t>long it takes for a company to sell its inventory, measured in days</a:t>
            </a:r>
            <a:r>
              <a:rPr lang="en-US" altLang="en-US" dirty="0">
                <a:latin typeface="Arial" pitchFamily="34" charset="0"/>
                <a:ea typeface="ＭＳ Ｐゴシック" pitchFamily="34" charset="-128"/>
              </a:rPr>
              <a:t>. It is helpful for a company to compare days’ inventory outstanding to that of other companies in its industry or to an industry average. Days’ inventory outstanding varies from industry to industry.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1178654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fifth learning objective is to analyze the effects of inventory errors.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24098352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Inventory errors sometimes occur. Start in period 1, in which ending inventory is overstated by $5,000 and cost of goods sold is therefore understated by $5,000. Then compare period 1 with period 3, which is correct. Period 1 should look exactly like period 3.</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 Inventory errors counterbalance in two consecutive periods. Why? Recall that period 1’s ending inventory becomes period 2’s beginning inventory amount. Thus, the error in period 1 carries over into period 2. Trace the ending inventory of $15,000 from period 1 to period 2. Then compare periods 2 and 3. All periods should look exactly like period 3.</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15829253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Inventory errors sometimes occur. An error in ending inventory creates errors for two accounting periods. In the table above, the impact of overstated inventory is shown. Inventory errors counterbalance in two consecutive periods. Beginning inventory and ending inventory have opposite effects on cost of goods sold (beginning inventory is added; ending inventory is subtracted). Therefore, after two periods, an inventory error washes out (counterbalances).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4018829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Since inventory transactions affect cash, their effects are reported on the statement of cash flows. We will see in Chapter 9 how to report inventory transactions on the statement of cash flows.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2799191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two most common ways to “cook the books” with inventory are (1) inserting fictitious inventory, thus over-stating quantities; and (2) deliberately overstating unit prices used in the computation of ending inventory amounts.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23867626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sixth learning objective is to analyze </a:t>
            </a:r>
            <a:r>
              <a:rPr lang="en-US" altLang="en-US" dirty="0">
                <a:ea typeface="ＭＳ Ｐゴシック" pitchFamily="34" charset="-128"/>
              </a:rPr>
              <a:t>inventory records using the XLOOKUP function in Excel</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3096032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Managers need to analyze inventory records for many reasons. A manager may want to analyze sales trends by inventory item. Managers may want to decide which sales promotions to run based on past sales results. Managers may want to know which items are still in stock. Companies will maintain a master list of inventory identifiers in one reference file. This reference file will contain fields like description, location, product type, and </a:t>
            </a:r>
            <a:r>
              <a:rPr lang="en-US" sz="1800" b="0" i="0" u="none" strike="noStrike" baseline="0" dirty="0" err="1">
                <a:latin typeface="BerkeleyPro-Book"/>
              </a:rPr>
              <a:t>colour</a:t>
            </a:r>
            <a:r>
              <a:rPr lang="en-US" sz="1800" b="0" i="0" u="none" strike="noStrike" baseline="0" dirty="0">
                <a:latin typeface="BerkeleyPro-Book"/>
              </a:rPr>
              <a:t> for each inventory SKU. By maintaining the item descriptions in only one file, it makes it easy to update item descriptions when changes are necessary. Transaction data are maintained in other files. Managers sometimes need to combine the data in different files to perform analysis.</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18395016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When managers want to analyze inventory information, they need to combine the two sets of information, the reference file and the transaction file, in an efficient </a:t>
            </a:r>
            <a:r>
              <a:rPr lang="en-CA" sz="1800" b="0" i="0" u="none" strike="noStrike" baseline="0" dirty="0">
                <a:latin typeface="BerkeleyPro-Book"/>
              </a:rPr>
              <a:t>manner. One way is to use </a:t>
            </a:r>
            <a:r>
              <a:rPr lang="en-US" sz="1800" b="0" i="0" u="none" strike="noStrike" baseline="0" dirty="0">
                <a:latin typeface="BerkeleyPro-Book"/>
              </a:rPr>
              <a:t>the XLOOKUP function in Excel to find the inventory information in a </a:t>
            </a:r>
            <a:r>
              <a:rPr lang="en-CA" sz="1800" b="0" i="0" u="none" strike="noStrike" baseline="0" dirty="0">
                <a:latin typeface="BerkeleyPro-Book"/>
              </a:rPr>
              <a:t>reference file. As shown here, </a:t>
            </a:r>
            <a:r>
              <a:rPr lang="en-US" sz="1800" b="0" i="0" u="none" strike="noStrike" baseline="0" dirty="0">
                <a:latin typeface="BerkeleyPro-Book"/>
              </a:rPr>
              <a:t>XLOOKUP is a useful tool in Excel that allows users to retrieve information from a reference file without having to manually look up each record. It can be used in a wide variety of situations.</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26461147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Learning objective A-1 is to </a:t>
            </a:r>
            <a:r>
              <a:rPr lang="en-US" altLang="en-US" b="0" dirty="0">
                <a:latin typeface="+mn-lt"/>
                <a:ea typeface="ＭＳ Ｐゴシック" pitchFamily="34" charset="-128"/>
              </a:rPr>
              <a:t>s</a:t>
            </a:r>
            <a:r>
              <a:rPr lang="en-US" altLang="en-US" b="0" dirty="0">
                <a:ea typeface="ＭＳ Ｐゴシック" pitchFamily="34" charset="-128"/>
              </a:rPr>
              <a:t>how</a:t>
            </a:r>
            <a:r>
              <a:rPr lang="en-US" altLang="en-US" dirty="0">
                <a:ea typeface="ＭＳ Ｐゴシック" pitchFamily="34" charset="-128"/>
              </a:rPr>
              <a:t> how to account for inventory under the periodic inventory system</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extLst>
      <p:ext uri="{BB962C8B-B14F-4D97-AF65-F5344CB8AC3E}">
        <p14:creationId xmlns:p14="http://schemas.microsoft.com/office/powerpoint/2010/main" val="29917456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journal entries to record inventory transactions are shown above. All amounts are assumed. When inventory is purchased, the Purchases account is increased. Notice that </a:t>
            </a:r>
            <a:r>
              <a:rPr lang="en-US" altLang="en-US" dirty="0">
                <a:solidFill>
                  <a:srgbClr val="000000"/>
                </a:solidFill>
                <a:latin typeface="Arial" pitchFamily="34" charset="0"/>
                <a:ea typeface="ＭＳ Ｐゴシック" pitchFamily="34" charset="-128"/>
              </a:rPr>
              <a:t>there is one entry for the sale; there is no entry to record the cost of goods sold as there is in the perpetual inventory system.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38895133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In the periodic system, the Inventory account balance at the beginning of the year is the ending Inventory account balance from the previous year. This amount is carried throughout the current period. The business records purchases of inventory in the Purchases account (an expense). Then, at the end of the period, the Inventory account must be updated for the financial statements. The journal entry to update Inventory removes the beginning balance by crediting Inventory and debiting Cost of Goods Sold. A second journal entry sets up (debits) the ending inventory balance, based on the physical count, and credits Cost of Goods Sold. The final entry in this sequence transfers the amount of Purchases to Cost of Goods Sold, crediting Purchases and</a:t>
            </a:r>
          </a:p>
          <a:p>
            <a:pPr algn="l"/>
            <a:r>
              <a:rPr lang="en-US" sz="1800" b="0" i="0" u="none" strike="noStrike" baseline="0" dirty="0">
                <a:latin typeface="BerkeleyPro-Book"/>
              </a:rPr>
              <a:t>debiting Cost of Goods Sold. The result of these entries is that the ending inventory balance appears on the balance sheet in Inventory, and cost of goods sold for the year appears on the income statement. These end-of-period entries are typically made during </a:t>
            </a:r>
            <a:r>
              <a:rPr lang="en-CA" sz="1800" b="0" i="0" u="none" strike="noStrike" baseline="0" dirty="0">
                <a:latin typeface="BerkeleyPro-Book"/>
              </a:rPr>
              <a:t>the closing process.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11700295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Leon’s bought a total of 60 lamps, paying a total of $900. At the end of the period, there were only 20 lamps left, meaning 40 lamps had been sold.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54</a:t>
            </a:fld>
            <a:endParaRPr lang="en-US" dirty="0"/>
          </a:p>
        </p:txBody>
      </p:sp>
    </p:spTree>
    <p:extLst>
      <p:ext uri="{BB962C8B-B14F-4D97-AF65-F5344CB8AC3E}">
        <p14:creationId xmlns:p14="http://schemas.microsoft.com/office/powerpoint/2010/main" val="14958455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Under the periodic inventory system, all of the information for the entire period is taken into account. This means that FIFO assumes that all of the 10 units in beginning inventory were sold, along with the 20 units from the No. 1 purchase and 10 of the 15 units of the No. 2 purchase. The cost of ending inventory is based on the units remaining: 5 units from the No. 2 purchase and all of the 15 units from the </a:t>
            </a:r>
            <a:r>
              <a:rPr lang="en-CA" sz="1800" b="0" i="0" u="none" strike="noStrike" baseline="0" dirty="0">
                <a:latin typeface="BerkeleyPro-Book"/>
              </a:rPr>
              <a:t>No. 3 purchase.</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31890899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average-cost method, sometimes called the weighted-average method, is based on the average cost of inventory during the period. The average cost per unit is determined by dividing the cost of goods available by the number of units available. Goods and units available is found by summing the beginning inventory plus purchases. This average cost per unit is multiplied by the number of units sold to determine Cost of Goods Sold and by number of units on hand to determine ending inventory.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31280101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60 units cost a total of $900. Therefore on average they cost $900/60 units or $15/unit. </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That average price is then used to calculate the cost of goods sold, and the value of the ending inventory.</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40 units were sold, each worth $15 on average for a cost of good sold of $15 per unit X 40 units or $600.</a:t>
            </a:r>
          </a:p>
          <a:p>
            <a:r>
              <a:rPr lang="en-CA" altLang="en-US" dirty="0">
                <a:latin typeface="Arial" pitchFamily="34" charset="0"/>
                <a:ea typeface="ＭＳ Ｐゴシック" pitchFamily="34" charset="-128"/>
              </a:rPr>
              <a:t>20 units are left, each worth $15 on average for an ending inventory of $15 per unit X 20 units or $300.</a:t>
            </a:r>
          </a:p>
          <a:p>
            <a:r>
              <a:rPr lang="en-CA" altLang="en-US" dirty="0">
                <a:latin typeface="Arial" pitchFamily="34" charset="0"/>
                <a:ea typeface="ＭＳ Ｐゴシック" pitchFamily="34" charset="-128"/>
              </a:rPr>
              <a:t>You can check this buy adding the cost of goods sold with the ending inventory value, which should equal the total cost of goods purchased: $600 + $300 = $900.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57</a:t>
            </a:fld>
            <a:endParaRPr lang="en-US" dirty="0"/>
          </a:p>
        </p:txBody>
      </p:sp>
    </p:spTree>
    <p:extLst>
      <p:ext uri="{BB962C8B-B14F-4D97-AF65-F5344CB8AC3E}">
        <p14:creationId xmlns:p14="http://schemas.microsoft.com/office/powerpoint/2010/main" val="5481535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Five.</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58</a:t>
            </a:fld>
            <a:endParaRPr lang="en-US" dirty="0"/>
          </a:p>
        </p:txBody>
      </p:sp>
    </p:spTree>
    <p:extLst>
      <p:ext uri="{BB962C8B-B14F-4D97-AF65-F5344CB8AC3E}">
        <p14:creationId xmlns:p14="http://schemas.microsoft.com/office/powerpoint/2010/main" val="237873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9/30/25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9/30/25</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9/30/25</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9/30/25</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9/30/25</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42681578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9/30/25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4139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4"/>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25">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8.xml"/><Relationship Id="rId1" Type="http://schemas.openxmlformats.org/officeDocument/2006/relationships/slideLayout" Target="../slideLayouts/slideLayout22.xml"/><Relationship Id="rId4" Type="http://schemas.openxmlformats.org/officeDocument/2006/relationships/image" Target="../media/image10.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9.xml"/><Relationship Id="rId1" Type="http://schemas.openxmlformats.org/officeDocument/2006/relationships/slideLayout" Target="../slideLayouts/slideLayout22.xml"/><Relationship Id="rId4" Type="http://schemas.openxmlformats.org/officeDocument/2006/relationships/image" Target="../media/image11.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13.jpg"/></Relationships>
</file>

<file path=ppt/slides/_rels/slide5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53.xml"/><Relationship Id="rId1" Type="http://schemas.openxmlformats.org/officeDocument/2006/relationships/slideLayout" Target="../slideLayouts/slideLayout5.xml"/><Relationship Id="rId6" Type="http://schemas.openxmlformats.org/officeDocument/2006/relationships/image" Target="../media/image17.wmf"/><Relationship Id="rId5" Type="http://schemas.openxmlformats.org/officeDocument/2006/relationships/oleObject" Target="../embeddings/oleObject5.bin"/><Relationship Id="rId4" Type="http://schemas.openxmlformats.org/officeDocument/2006/relationships/image" Target="../media/image16.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5</a:t>
            </a:r>
            <a:br>
              <a:rPr lang="en-US" sz="4400" dirty="0"/>
            </a:br>
            <a:r>
              <a:rPr lang="en-US" altLang="en-US" sz="4400" dirty="0">
                <a:solidFill>
                  <a:schemeClr val="accent2"/>
                </a:solidFill>
              </a:rPr>
              <a:t>Inventory &amp; Cost of Goods Sold</a:t>
            </a:r>
            <a:endParaRPr lang="en-US" sz="4400" dirty="0"/>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Learning Objective One</a:t>
            </a:r>
          </a:p>
        </p:txBody>
      </p:sp>
      <p:sp>
        <p:nvSpPr>
          <p:cNvPr id="5" name="Subtitle 4"/>
          <p:cNvSpPr>
            <a:spLocks noGrp="1"/>
          </p:cNvSpPr>
          <p:nvPr>
            <p:ph type="subTitle" idx="1"/>
          </p:nvPr>
        </p:nvSpPr>
        <p:spPr/>
        <p:txBody>
          <a:bodyPr>
            <a:normAutofit lnSpcReduction="10000"/>
          </a:bodyPr>
          <a:lstStyle/>
          <a:p>
            <a:r>
              <a:rPr lang="en-US" altLang="en-US" b="1" dirty="0">
                <a:ea typeface="ＭＳ Ｐゴシック" pitchFamily="34" charset="-128"/>
              </a:rPr>
              <a:t>Show</a:t>
            </a:r>
            <a:r>
              <a:rPr lang="en-US" altLang="en-US" dirty="0">
                <a:ea typeface="ＭＳ Ｐゴシック" pitchFamily="34" charset="-128"/>
              </a:rPr>
              <a:t> how to account for inventory under the perpetual inventory system</a:t>
            </a:r>
            <a:endParaRPr lang="en-US" dirty="0"/>
          </a:p>
        </p:txBody>
      </p:sp>
    </p:spTree>
    <p:extLst>
      <p:ext uri="{BB962C8B-B14F-4D97-AF65-F5344CB8AC3E}">
        <p14:creationId xmlns:p14="http://schemas.microsoft.com/office/powerpoint/2010/main" val="215317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Income Statements</a:t>
            </a:r>
            <a:endParaRPr lang="en-US" dirty="0"/>
          </a:p>
        </p:txBody>
      </p:sp>
      <p:sp>
        <p:nvSpPr>
          <p:cNvPr id="4" name="Text Placeholder 3"/>
          <p:cNvSpPr>
            <a:spLocks noGrp="1"/>
          </p:cNvSpPr>
          <p:nvPr>
            <p:ph type="body" idx="1"/>
          </p:nvPr>
        </p:nvSpPr>
        <p:spPr>
          <a:xfrm>
            <a:off x="381000" y="1676400"/>
            <a:ext cx="4117182" cy="796698"/>
          </a:xfrm>
        </p:spPr>
        <p:txBody>
          <a:bodyPr anchor="ctr"/>
          <a:lstStyle/>
          <a:p>
            <a:pPr algn="ctr">
              <a:lnSpc>
                <a:spcPct val="85000"/>
              </a:lnSpc>
              <a:spcBef>
                <a:spcPts val="0"/>
              </a:spcBef>
              <a:defRPr/>
            </a:pPr>
            <a:r>
              <a:rPr lang="en-US" sz="1800" i="1" dirty="0">
                <a:solidFill>
                  <a:schemeClr val="tx2"/>
                </a:solidFill>
                <a:cs typeface="Arial" panose="020B0604020202020204" pitchFamily="34" charset="0"/>
              </a:rPr>
              <a:t>Service Company</a:t>
            </a:r>
          </a:p>
          <a:p>
            <a:pPr algn="ctr">
              <a:lnSpc>
                <a:spcPct val="85000"/>
              </a:lnSpc>
              <a:spcBef>
                <a:spcPts val="0"/>
              </a:spcBef>
              <a:defRPr/>
            </a:pPr>
            <a:r>
              <a:rPr lang="en-US" sz="1800" dirty="0">
                <a:cs typeface="Arial" panose="020B0604020202020204" pitchFamily="34" charset="0"/>
              </a:rPr>
              <a:t>Income Statement</a:t>
            </a:r>
          </a:p>
          <a:p>
            <a:pPr algn="ctr">
              <a:lnSpc>
                <a:spcPct val="85000"/>
              </a:lnSpc>
              <a:spcBef>
                <a:spcPts val="0"/>
              </a:spcBef>
              <a:defRPr/>
            </a:pPr>
            <a:r>
              <a:rPr lang="en-US" sz="1800" dirty="0">
                <a:cs typeface="Arial" panose="020B0604020202020204" pitchFamily="34" charset="0"/>
              </a:rPr>
              <a:t>For the Year Ended December 31, 20XX</a:t>
            </a:r>
            <a:endParaRPr lang="en-US" sz="1800" dirty="0"/>
          </a:p>
        </p:txBody>
      </p:sp>
      <p:graphicFrame>
        <p:nvGraphicFramePr>
          <p:cNvPr id="16" name="Table 15"/>
          <p:cNvGraphicFramePr>
            <a:graphicFrameLocks noGrp="1"/>
          </p:cNvGraphicFramePr>
          <p:nvPr/>
        </p:nvGraphicFramePr>
        <p:xfrm>
          <a:off x="457200" y="2585720"/>
          <a:ext cx="4057650" cy="2900680"/>
        </p:xfrm>
        <a:graphic>
          <a:graphicData uri="http://schemas.openxmlformats.org/drawingml/2006/table">
            <a:tbl>
              <a:tblPr firstRow="1" bandRow="1">
                <a:tableStyleId>{2D5ABB26-0587-4C30-8999-92F81FD0307C}</a:tableStyleId>
              </a:tblPr>
              <a:tblGrid>
                <a:gridCol w="28194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tblGrid>
              <a:tr h="431262">
                <a:tc>
                  <a:txBody>
                    <a:bodyPr/>
                    <a:lstStyle/>
                    <a:p>
                      <a:r>
                        <a:rPr lang="en-US" i="1" dirty="0">
                          <a:solidFill>
                            <a:schemeClr val="tx2"/>
                          </a:solidFill>
                          <a:latin typeface="+mn-lt"/>
                          <a:ea typeface="+mn-ea"/>
                          <a:cs typeface="Arial" panose="020B0604020202020204" pitchFamily="34" charset="0"/>
                        </a:rPr>
                        <a:t>Service</a:t>
                      </a:r>
                      <a:r>
                        <a:rPr lang="en-US" dirty="0">
                          <a:latin typeface="+mn-lt"/>
                          <a:ea typeface="+mn-ea"/>
                          <a:cs typeface="Arial" panose="020B0604020202020204" pitchFamily="34" charset="0"/>
                        </a:rPr>
                        <a:t> revenue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$XXX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1262">
                <a:tc>
                  <a:txBody>
                    <a:bodyPr/>
                    <a:lstStyle/>
                    <a:p>
                      <a:r>
                        <a:rPr lang="en-US" i="1" dirty="0">
                          <a:solidFill>
                            <a:schemeClr val="tx2"/>
                          </a:solidFill>
                          <a:latin typeface="+mn-lt"/>
                          <a:ea typeface="+mn-ea"/>
                          <a:cs typeface="Arial" panose="020B0604020202020204" pitchFamily="34" charset="0"/>
                        </a:rPr>
                        <a:t>Expenses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44370">
                <a:tc>
                  <a:txBody>
                    <a:bodyPr/>
                    <a:lstStyle/>
                    <a:p>
                      <a:pPr marL="182880" marR="0" indent="0" algn="l" defTabSz="914400" rtl="0" eaLnBrk="1" fontAlgn="auto" latinLnBrk="0" hangingPunct="1">
                        <a:lnSpc>
                          <a:spcPct val="100000"/>
                        </a:lnSpc>
                        <a:spcBef>
                          <a:spcPts val="0"/>
                        </a:spcBef>
                        <a:spcAft>
                          <a:spcPts val="0"/>
                        </a:spcAft>
                        <a:buClrTx/>
                        <a:buSzTx/>
                        <a:buFontTx/>
                        <a:buNone/>
                        <a:tabLst/>
                        <a:defRPr/>
                      </a:pPr>
                      <a:r>
                        <a:rPr lang="en-US" dirty="0">
                          <a:latin typeface="+mn-lt"/>
                          <a:ea typeface="+mn-ea"/>
                          <a:cs typeface="Arial" panose="020B0604020202020204" pitchFamily="34" charset="0"/>
                        </a:rPr>
                        <a:t>Operating and administrative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1262">
                <a:tc>
                  <a:txBody>
                    <a:bodyPr/>
                    <a:lstStyle/>
                    <a:p>
                      <a:pPr marL="182880"/>
                      <a:r>
                        <a:rPr lang="en-US" dirty="0">
                          <a:latin typeface="+mn-lt"/>
                          <a:ea typeface="+mn-ea"/>
                          <a:cs typeface="Arial" panose="020B0604020202020204" pitchFamily="34" charset="0"/>
                        </a:rPr>
                        <a:t>Depreciation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31262">
                <a:tc>
                  <a:txBody>
                    <a:bodyPr/>
                    <a:lstStyle/>
                    <a:p>
                      <a:pPr marL="182880"/>
                      <a:r>
                        <a:rPr lang="en-US" dirty="0">
                          <a:latin typeface="+mn-lt"/>
                          <a:ea typeface="+mn-ea"/>
                          <a:cs typeface="Arial" panose="020B0604020202020204" pitchFamily="34" charset="0"/>
                        </a:rPr>
                        <a:t>Income tax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31262">
                <a:tc>
                  <a:txBody>
                    <a:bodyPr/>
                    <a:lstStyle/>
                    <a:p>
                      <a:r>
                        <a:rPr lang="en-US" dirty="0">
                          <a:latin typeface="+mn-lt"/>
                          <a:ea typeface="+mn-ea"/>
                          <a:cs typeface="Arial" panose="020B0604020202020204" pitchFamily="34" charset="0"/>
                        </a:rPr>
                        <a:t>Net income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      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20" name="Straight Arrow Connector 19"/>
          <p:cNvCxnSpPr/>
          <p:nvPr/>
        </p:nvCxnSpPr>
        <p:spPr>
          <a:xfrm>
            <a:off x="4303755" y="2743200"/>
            <a:ext cx="46029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1676400" y="3200400"/>
            <a:ext cx="307902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676400" y="3200400"/>
            <a:ext cx="3079026" cy="7620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sz="quarter" idx="3"/>
          </p:nvPr>
        </p:nvSpPr>
        <p:spPr>
          <a:xfrm>
            <a:off x="4629149" y="1676400"/>
            <a:ext cx="4095025" cy="796698"/>
          </a:xfrm>
        </p:spPr>
        <p:txBody>
          <a:bodyPr anchor="ctr">
            <a:normAutofit fontScale="85000" lnSpcReduction="20000"/>
          </a:bodyPr>
          <a:lstStyle/>
          <a:p>
            <a:pPr algn="ctr">
              <a:lnSpc>
                <a:spcPct val="85000"/>
              </a:lnSpc>
              <a:spcBef>
                <a:spcPts val="0"/>
              </a:spcBef>
              <a:defRPr/>
            </a:pPr>
            <a:r>
              <a:rPr lang="en-US" sz="1800" i="1" dirty="0">
                <a:solidFill>
                  <a:schemeClr val="tx2"/>
                </a:solidFill>
                <a:cs typeface="Arial" panose="020B0604020202020204" pitchFamily="34" charset="0"/>
              </a:rPr>
              <a:t>Merchandising Company</a:t>
            </a:r>
          </a:p>
          <a:p>
            <a:pPr algn="ctr">
              <a:lnSpc>
                <a:spcPct val="85000"/>
              </a:lnSpc>
              <a:spcBef>
                <a:spcPts val="0"/>
              </a:spcBef>
              <a:defRPr/>
            </a:pPr>
            <a:r>
              <a:rPr lang="en-US" sz="1800" dirty="0">
                <a:cs typeface="Arial" panose="020B0604020202020204" pitchFamily="34" charset="0"/>
              </a:rPr>
              <a:t>Income Statement</a:t>
            </a:r>
          </a:p>
          <a:p>
            <a:pPr algn="ctr">
              <a:lnSpc>
                <a:spcPct val="85000"/>
              </a:lnSpc>
              <a:spcBef>
                <a:spcPts val="0"/>
              </a:spcBef>
              <a:defRPr/>
            </a:pPr>
            <a:r>
              <a:rPr lang="en-US" sz="1800" dirty="0">
                <a:cs typeface="Arial" panose="020B0604020202020204" pitchFamily="34" charset="0"/>
              </a:rPr>
              <a:t>For the Year Ended December 31, 20XX</a:t>
            </a:r>
            <a:endParaRPr lang="en-US" sz="1800" dirty="0"/>
          </a:p>
        </p:txBody>
      </p:sp>
      <p:graphicFrame>
        <p:nvGraphicFramePr>
          <p:cNvPr id="17" name="Table 16"/>
          <p:cNvGraphicFramePr>
            <a:graphicFrameLocks noGrp="1"/>
          </p:cNvGraphicFramePr>
          <p:nvPr/>
        </p:nvGraphicFramePr>
        <p:xfrm>
          <a:off x="4666525" y="2585720"/>
          <a:ext cx="4057650" cy="3510280"/>
        </p:xfrm>
        <a:graphic>
          <a:graphicData uri="http://schemas.openxmlformats.org/drawingml/2006/table">
            <a:tbl>
              <a:tblPr firstRow="1" bandRow="1">
                <a:tableStyleId>{2D5ABB26-0587-4C30-8999-92F81FD0307C}</a:tableStyleId>
              </a:tblPr>
              <a:tblGrid>
                <a:gridCol w="314325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02277">
                <a:tc>
                  <a:txBody>
                    <a:bodyPr/>
                    <a:lstStyle/>
                    <a:p>
                      <a:r>
                        <a:rPr lang="en-US" i="1" dirty="0">
                          <a:solidFill>
                            <a:schemeClr val="tx2"/>
                          </a:solidFill>
                          <a:latin typeface="+mn-lt"/>
                          <a:ea typeface="+mn-ea"/>
                          <a:cs typeface="Arial" panose="020B0604020202020204" pitchFamily="34" charset="0"/>
                        </a:rPr>
                        <a:t>Sales Revenue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$XXX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2277">
                <a:tc>
                  <a:txBody>
                    <a:bodyPr/>
                    <a:lstStyle/>
                    <a:p>
                      <a:r>
                        <a:rPr lang="en-US" i="1" dirty="0">
                          <a:solidFill>
                            <a:schemeClr val="tx2"/>
                          </a:solidFill>
                          <a:latin typeface="+mn-lt"/>
                          <a:ea typeface="+mn-ea"/>
                          <a:cs typeface="Arial" panose="020B0604020202020204" pitchFamily="34" charset="0"/>
                        </a:rPr>
                        <a:t>Cost of goods sold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XXX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2277">
                <a:tc>
                  <a:txBody>
                    <a:bodyPr/>
                    <a:lstStyle/>
                    <a:p>
                      <a:r>
                        <a:rPr lang="en-US" dirty="0">
                          <a:latin typeface="+mn-lt"/>
                          <a:ea typeface="+mn-ea"/>
                          <a:cs typeface="Arial" panose="020B0604020202020204" pitchFamily="34" charset="0"/>
                        </a:rPr>
                        <a:t>Gross profit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XXX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2277">
                <a:tc>
                  <a:txBody>
                    <a:bodyPr/>
                    <a:lstStyle/>
                    <a:p>
                      <a:r>
                        <a:rPr lang="en-US" dirty="0">
                          <a:latin typeface="+mn-lt"/>
                          <a:ea typeface="+mn-ea"/>
                          <a:cs typeface="Arial" panose="020B0604020202020204" pitchFamily="34" charset="0"/>
                        </a:rPr>
                        <a:t>Operating </a:t>
                      </a:r>
                      <a:r>
                        <a:rPr lang="en-US" i="1" dirty="0">
                          <a:solidFill>
                            <a:schemeClr val="tx2"/>
                          </a:solidFill>
                          <a:latin typeface="+mn-lt"/>
                          <a:ea typeface="+mn-ea"/>
                          <a:cs typeface="Arial" panose="020B0604020202020204" pitchFamily="34" charset="0"/>
                        </a:rPr>
                        <a:t>expenses: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4341">
                <a:tc>
                  <a:txBody>
                    <a:bodyPr/>
                    <a:lstStyle/>
                    <a:p>
                      <a:pPr marL="182880"/>
                      <a:r>
                        <a:rPr lang="en-US" dirty="0">
                          <a:latin typeface="+mn-lt"/>
                          <a:ea typeface="+mn-ea"/>
                          <a:cs typeface="Arial" panose="020B0604020202020204" pitchFamily="34" charset="0"/>
                        </a:rPr>
                        <a:t>Operating and administrative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2277">
                <a:tc>
                  <a:txBody>
                    <a:bodyPr/>
                    <a:lstStyle/>
                    <a:p>
                      <a:pPr marL="182880"/>
                      <a:r>
                        <a:rPr lang="en-US" dirty="0">
                          <a:latin typeface="+mn-lt"/>
                          <a:ea typeface="+mn-ea"/>
                          <a:cs typeface="Arial" panose="020B0604020202020204" pitchFamily="34" charset="0"/>
                        </a:rPr>
                        <a:t>Depreciation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2277">
                <a:tc>
                  <a:txBody>
                    <a:bodyPr/>
                    <a:lstStyle/>
                    <a:p>
                      <a:pPr marL="182880"/>
                      <a:r>
                        <a:rPr lang="en-US" dirty="0">
                          <a:latin typeface="+mn-lt"/>
                          <a:ea typeface="+mn-ea"/>
                          <a:cs typeface="Arial" panose="020B0604020202020204" pitchFamily="34" charset="0"/>
                        </a:rPr>
                        <a:t>Income tax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      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2277">
                <a:tc>
                  <a:txBody>
                    <a:bodyPr/>
                    <a:lstStyle/>
                    <a:p>
                      <a:r>
                        <a:rPr lang="en-US" dirty="0">
                          <a:latin typeface="+mn-lt"/>
                          <a:ea typeface="+mn-ea"/>
                          <a:cs typeface="Arial" panose="020B0604020202020204" pitchFamily="34" charset="0"/>
                        </a:rPr>
                        <a:t>Net income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      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9171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Sheets</a:t>
            </a:r>
            <a:endParaRPr lang="en-US" dirty="0"/>
          </a:p>
        </p:txBody>
      </p:sp>
      <p:sp>
        <p:nvSpPr>
          <p:cNvPr id="4" name="Text Placeholder 3"/>
          <p:cNvSpPr>
            <a:spLocks noGrp="1"/>
          </p:cNvSpPr>
          <p:nvPr>
            <p:ph type="body" idx="1"/>
          </p:nvPr>
        </p:nvSpPr>
        <p:spPr>
          <a:xfrm>
            <a:off x="457200" y="1649186"/>
            <a:ext cx="4040982" cy="823912"/>
          </a:xfrm>
        </p:spPr>
        <p:txBody>
          <a:bodyPr anchor="ctr"/>
          <a:lstStyle/>
          <a:p>
            <a:pPr algn="ctr">
              <a:lnSpc>
                <a:spcPct val="85000"/>
              </a:lnSpc>
              <a:spcBef>
                <a:spcPts val="0"/>
              </a:spcBef>
              <a:defRPr/>
            </a:pPr>
            <a:r>
              <a:rPr lang="en-US" sz="1800" i="1" dirty="0">
                <a:solidFill>
                  <a:schemeClr val="tx2"/>
                </a:solidFill>
                <a:cs typeface="Arial" panose="020B0604020202020204" pitchFamily="34" charset="0"/>
              </a:rPr>
              <a:t>Service Company</a:t>
            </a:r>
          </a:p>
          <a:p>
            <a:pPr algn="ctr">
              <a:lnSpc>
                <a:spcPct val="85000"/>
              </a:lnSpc>
              <a:spcBef>
                <a:spcPts val="0"/>
              </a:spcBef>
              <a:defRPr/>
            </a:pPr>
            <a:r>
              <a:rPr lang="en-US" sz="1800" dirty="0">
                <a:cs typeface="Arial" panose="020B0604020202020204" pitchFamily="34" charset="0"/>
              </a:rPr>
              <a:t>Balance Sheet</a:t>
            </a:r>
          </a:p>
          <a:p>
            <a:pPr algn="ctr">
              <a:lnSpc>
                <a:spcPct val="85000"/>
              </a:lnSpc>
              <a:spcBef>
                <a:spcPts val="0"/>
              </a:spcBef>
              <a:defRPr/>
            </a:pPr>
            <a:r>
              <a:rPr lang="en-US" sz="1800" dirty="0">
                <a:cs typeface="Arial" panose="020B0604020202020204" pitchFamily="34" charset="0"/>
              </a:rPr>
              <a:t>December 31, 20XX</a:t>
            </a:r>
            <a:endParaRPr lang="en-US" sz="1800" dirty="0"/>
          </a:p>
        </p:txBody>
      </p:sp>
      <p:graphicFrame>
        <p:nvGraphicFramePr>
          <p:cNvPr id="16" name="Table 15"/>
          <p:cNvGraphicFramePr>
            <a:graphicFrameLocks noGrp="1"/>
          </p:cNvGraphicFramePr>
          <p:nvPr/>
        </p:nvGraphicFramePr>
        <p:xfrm>
          <a:off x="457200" y="2562572"/>
          <a:ext cx="4057650" cy="2009428"/>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tblGrid>
              <a:tr h="410715">
                <a:tc>
                  <a:txBody>
                    <a:bodyPr/>
                    <a:lstStyle/>
                    <a:p>
                      <a:r>
                        <a:rPr lang="en-US" dirty="0">
                          <a:latin typeface="+mn-lt"/>
                          <a:ea typeface="+mn-ea"/>
                          <a:cs typeface="Arial" panose="020B0604020202020204" pitchFamily="34" charset="0"/>
                        </a:rPr>
                        <a:t>Current assets: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0715">
                <a:tc>
                  <a:txBody>
                    <a:bodyPr/>
                    <a:lstStyle/>
                    <a:p>
                      <a:pPr marL="182880" algn="l" defTabSz="914400" rtl="0" eaLnBrk="1" latinLnBrk="0" hangingPunct="1"/>
                      <a:r>
                        <a:rPr lang="en-US" sz="1800" kern="1200" dirty="0">
                          <a:solidFill>
                            <a:schemeClr val="tx1"/>
                          </a:solidFill>
                          <a:latin typeface="+mn-lt"/>
                          <a:ea typeface="+mn-ea"/>
                          <a:cs typeface="Arial" panose="020B0604020202020204" pitchFamily="34" charset="0"/>
                        </a:rPr>
                        <a:t>Cash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6568">
                <a:tc>
                  <a:txBody>
                    <a:bodyPr/>
                    <a:lstStyle/>
                    <a:p>
                      <a:pPr marL="182880" marR="0" indent="0" algn="l" defTabSz="914400" rtl="0" eaLnBrk="1" fontAlgn="auto" latinLnBrk="0" hangingPunct="1">
                        <a:lnSpc>
                          <a:spcPct val="100000"/>
                        </a:lnSpc>
                        <a:spcBef>
                          <a:spcPts val="0"/>
                        </a:spcBef>
                        <a:spcAft>
                          <a:spcPts val="0"/>
                        </a:spcAft>
                        <a:buClrTx/>
                        <a:buSzTx/>
                        <a:buFontTx/>
                        <a:buNone/>
                        <a:tabLst/>
                        <a:defRPr/>
                      </a:pPr>
                      <a:r>
                        <a:rPr lang="en-US" dirty="0">
                          <a:latin typeface="+mn-lt"/>
                          <a:ea typeface="+mn-ea"/>
                          <a:cs typeface="Arial" panose="020B0604020202020204" pitchFamily="34" charset="0"/>
                        </a:rPr>
                        <a:t>Short-term investments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0715">
                <a:tc>
                  <a:txBody>
                    <a:bodyPr/>
                    <a:lstStyle/>
                    <a:p>
                      <a:pPr marL="182880"/>
                      <a:r>
                        <a:rPr lang="en-US" dirty="0">
                          <a:latin typeface="+mn-lt"/>
                          <a:ea typeface="+mn-ea"/>
                          <a:cs typeface="Arial" panose="020B0604020202020204" pitchFamily="34" charset="0"/>
                        </a:rPr>
                        <a:t>Accounts receivable, net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10715">
                <a:tc>
                  <a:txBody>
                    <a:bodyPr/>
                    <a:lstStyle/>
                    <a:p>
                      <a:pPr marL="182880"/>
                      <a:r>
                        <a:rPr lang="en-US" dirty="0">
                          <a:latin typeface="+mn-lt"/>
                          <a:ea typeface="+mn-ea"/>
                          <a:cs typeface="Arial" panose="020B0604020202020204" pitchFamily="34" charset="0"/>
                        </a:rPr>
                        <a:t>Prepaid expenses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marR="457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Placeholder 5"/>
          <p:cNvSpPr>
            <a:spLocks noGrp="1"/>
          </p:cNvSpPr>
          <p:nvPr>
            <p:ph type="body" sz="quarter" idx="3"/>
          </p:nvPr>
        </p:nvSpPr>
        <p:spPr>
          <a:xfrm>
            <a:off x="4629150" y="1649186"/>
            <a:ext cx="4057650" cy="823912"/>
          </a:xfrm>
        </p:spPr>
        <p:txBody>
          <a:bodyPr anchor="ctr">
            <a:normAutofit fontScale="92500" lnSpcReduction="20000"/>
          </a:bodyPr>
          <a:lstStyle/>
          <a:p>
            <a:pPr algn="ctr">
              <a:lnSpc>
                <a:spcPct val="85000"/>
              </a:lnSpc>
              <a:spcBef>
                <a:spcPts val="0"/>
              </a:spcBef>
              <a:defRPr/>
            </a:pPr>
            <a:r>
              <a:rPr lang="en-US" sz="1800" i="1" dirty="0">
                <a:solidFill>
                  <a:schemeClr val="tx2"/>
                </a:solidFill>
                <a:cs typeface="Arial" panose="020B0604020202020204" pitchFamily="34" charset="0"/>
              </a:rPr>
              <a:t>Merchandising Company</a:t>
            </a:r>
          </a:p>
          <a:p>
            <a:pPr algn="ctr">
              <a:lnSpc>
                <a:spcPct val="85000"/>
              </a:lnSpc>
              <a:spcBef>
                <a:spcPts val="0"/>
              </a:spcBef>
              <a:defRPr/>
            </a:pPr>
            <a:r>
              <a:rPr lang="en-US" sz="1800" dirty="0">
                <a:cs typeface="Arial" panose="020B0604020202020204" pitchFamily="34" charset="0"/>
              </a:rPr>
              <a:t>Balance Sheet	</a:t>
            </a:r>
          </a:p>
          <a:p>
            <a:pPr algn="ctr">
              <a:lnSpc>
                <a:spcPct val="85000"/>
              </a:lnSpc>
              <a:spcBef>
                <a:spcPts val="0"/>
              </a:spcBef>
              <a:defRPr/>
            </a:pPr>
            <a:r>
              <a:rPr lang="en-US" sz="1800" dirty="0">
                <a:cs typeface="Arial" panose="020B0604020202020204" pitchFamily="34" charset="0"/>
              </a:rPr>
              <a:t>December 31, 20XX</a:t>
            </a:r>
            <a:endParaRPr lang="en-US" sz="1800" dirty="0"/>
          </a:p>
        </p:txBody>
      </p:sp>
      <p:graphicFrame>
        <p:nvGraphicFramePr>
          <p:cNvPr id="17" name="Table 16"/>
          <p:cNvGraphicFramePr>
            <a:graphicFrameLocks noGrp="1"/>
          </p:cNvGraphicFramePr>
          <p:nvPr/>
        </p:nvGraphicFramePr>
        <p:xfrm>
          <a:off x="4666525" y="2486370"/>
          <a:ext cx="4057650" cy="2364324"/>
        </p:xfrm>
        <a:graphic>
          <a:graphicData uri="http://schemas.openxmlformats.org/drawingml/2006/table">
            <a:tbl>
              <a:tblPr firstRow="1" bandRow="1">
                <a:tableStyleId>{2D5ABB26-0587-4C30-8999-92F81FD0307C}</a:tableStyleId>
              </a:tblPr>
              <a:tblGrid>
                <a:gridCol w="314325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94054">
                <a:tc>
                  <a:txBody>
                    <a:bodyPr/>
                    <a:lstStyle/>
                    <a:p>
                      <a:r>
                        <a:rPr lang="en-US" dirty="0">
                          <a:latin typeface="+mn-lt"/>
                          <a:ea typeface="+mn-ea"/>
                          <a:cs typeface="Arial" panose="020B0604020202020204" pitchFamily="34" charset="0"/>
                        </a:rPr>
                        <a:t>Current assets: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4054">
                <a:tc>
                  <a:txBody>
                    <a:bodyPr/>
                    <a:lstStyle/>
                    <a:p>
                      <a:pPr marL="182880" algn="l" defTabSz="914400" rtl="0" eaLnBrk="1" latinLnBrk="0" hangingPunct="1"/>
                      <a:r>
                        <a:rPr lang="en-US" sz="1800" kern="1200" dirty="0">
                          <a:solidFill>
                            <a:schemeClr val="tx1"/>
                          </a:solidFill>
                          <a:latin typeface="+mn-lt"/>
                          <a:ea typeface="+mn-ea"/>
                          <a:cs typeface="Arial" panose="020B0604020202020204" pitchFamily="34" charset="0"/>
                        </a:rPr>
                        <a:t>Cash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 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4054">
                <a:tc>
                  <a:txBody>
                    <a:bodyPr/>
                    <a:lstStyle/>
                    <a:p>
                      <a:pPr marL="182880" algn="l" defTabSz="914400" rtl="0" eaLnBrk="1" latinLnBrk="0" hangingPunct="1"/>
                      <a:r>
                        <a:rPr lang="en-US" sz="1800" kern="1200" dirty="0">
                          <a:solidFill>
                            <a:schemeClr val="tx1"/>
                          </a:solidFill>
                          <a:latin typeface="+mn-lt"/>
                          <a:ea typeface="+mn-ea"/>
                          <a:cs typeface="Arial" panose="020B0604020202020204" pitchFamily="34" charset="0"/>
                        </a:rPr>
                        <a:t>Short-term investments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4054">
                <a:tc>
                  <a:txBody>
                    <a:bodyPr/>
                    <a:lstStyle/>
                    <a:p>
                      <a:pPr marL="182880" algn="l" defTabSz="914400" rtl="0" eaLnBrk="1" latinLnBrk="0" hangingPunct="1"/>
                      <a:r>
                        <a:rPr lang="en-US" sz="1800" kern="1200" dirty="0">
                          <a:solidFill>
                            <a:schemeClr val="tx1"/>
                          </a:solidFill>
                          <a:latin typeface="+mn-lt"/>
                          <a:ea typeface="+mn-ea"/>
                          <a:cs typeface="Arial" panose="020B0604020202020204" pitchFamily="34" charset="0"/>
                        </a:rPr>
                        <a:t>Accounts receivable, 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4054">
                <a:tc>
                  <a:txBody>
                    <a:bodyPr/>
                    <a:lstStyle/>
                    <a:p>
                      <a:pPr marL="182880"/>
                      <a:r>
                        <a:rPr lang="en-US" i="1" dirty="0">
                          <a:solidFill>
                            <a:schemeClr val="tx2"/>
                          </a:solidFill>
                          <a:latin typeface="+mn-lt"/>
                          <a:ea typeface="+mn-ea"/>
                          <a:cs typeface="Arial" panose="020B0604020202020204" pitchFamily="34" charset="0"/>
                        </a:rPr>
                        <a:t>Inventory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i="1" dirty="0">
                          <a:latin typeface="+mn-lt"/>
                          <a:ea typeface="+mn-ea"/>
                          <a:cs typeface="Arial" panose="020B0604020202020204" pitchFamily="34" charset="0"/>
                        </a:rPr>
                        <a:t>X</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4054">
                <a:tc>
                  <a:txBody>
                    <a:bodyPr/>
                    <a:lstStyle/>
                    <a:p>
                      <a:pPr marL="182880"/>
                      <a:r>
                        <a:rPr lang="en-US" dirty="0">
                          <a:latin typeface="+mn-lt"/>
                          <a:ea typeface="+mn-ea"/>
                          <a:cs typeface="Arial" panose="020B0604020202020204" pitchFamily="34" charset="0"/>
                        </a:rPr>
                        <a:t>Prepaid expenses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mn-lt"/>
                          <a:ea typeface="+mn-ea"/>
                          <a:cs typeface="Arial" panose="020B0604020202020204" pitchFamily="34" charset="0"/>
                        </a:rPr>
                        <a:t>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Oval 2"/>
          <p:cNvSpPr/>
          <p:nvPr/>
        </p:nvSpPr>
        <p:spPr>
          <a:xfrm>
            <a:off x="4673275" y="4054763"/>
            <a:ext cx="1600200" cy="401725"/>
          </a:xfrm>
          <a:prstGeom prst="ellipse">
            <a:avLst/>
          </a:prstGeom>
          <a:no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174389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Merchandise Inventory </a:t>
            </a:r>
            <a:r>
              <a:rPr lang="en-US" altLang="en-US" sz="2000" b="0" dirty="0"/>
              <a:t>(1 of 2)</a:t>
            </a:r>
            <a:endParaRPr lang="en-US" sz="2000" b="0" dirty="0"/>
          </a:p>
        </p:txBody>
      </p:sp>
      <p:graphicFrame>
        <p:nvGraphicFramePr>
          <p:cNvPr id="7" name="Table 6"/>
          <p:cNvGraphicFramePr>
            <a:graphicFrameLocks noGrp="1"/>
          </p:cNvGraphicFramePr>
          <p:nvPr/>
        </p:nvGraphicFramePr>
        <p:xfrm>
          <a:off x="1181100" y="1828800"/>
          <a:ext cx="6781800" cy="1981200"/>
        </p:xfrm>
        <a:graphic>
          <a:graphicData uri="http://schemas.openxmlformats.org/drawingml/2006/table">
            <a:tbl>
              <a:tblPr firstRow="1" bandRow="1">
                <a:tableStyleId>{2D5ABB26-0587-4C30-8999-92F81FD0307C}</a:tableStyleId>
              </a:tblPr>
              <a:tblGrid>
                <a:gridCol w="56007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396240">
                <a:tc gridSpan="2">
                  <a:txBody>
                    <a:bodyPr/>
                    <a:lstStyle/>
                    <a:p>
                      <a:pPr algn="ctr"/>
                      <a:r>
                        <a:rPr lang="en-US" sz="1800" b="1" dirty="0"/>
                        <a:t>Balance Sheet (partial)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96240">
                <a:tc>
                  <a:txBody>
                    <a:bodyPr/>
                    <a:lstStyle/>
                    <a:p>
                      <a:r>
                        <a:rPr lang="en-US" sz="1800" dirty="0"/>
                        <a:t>Current</a:t>
                      </a:r>
                      <a:r>
                        <a:rPr lang="en-US" sz="1800" baseline="0" dirty="0"/>
                        <a:t> assets:</a:t>
                      </a:r>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240">
                <a:tc>
                  <a:txBody>
                    <a:bodyPr/>
                    <a:lstStyle/>
                    <a:p>
                      <a:r>
                        <a:rPr lang="en-US" sz="1800" dirty="0"/>
                        <a:t> Cash</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$XXX</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240">
                <a:tc>
                  <a:txBody>
                    <a:bodyPr/>
                    <a:lstStyle/>
                    <a:p>
                      <a:r>
                        <a:rPr lang="en-US" sz="1800" dirty="0"/>
                        <a:t> Accounts receivable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XXX</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240">
                <a:tc>
                  <a:txBody>
                    <a:bodyPr/>
                    <a:lstStyle/>
                    <a:p>
                      <a:r>
                        <a:rPr lang="en-US" sz="1800" b="1" dirty="0">
                          <a:solidFill>
                            <a:srgbClr val="007FA3"/>
                          </a:solidFill>
                        </a:rPr>
                        <a:t> Inventory (1 chair @ cost of $300)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b="1" dirty="0">
                          <a:solidFill>
                            <a:srgbClr val="007FA3"/>
                          </a:solidFill>
                        </a:rPr>
                        <a:t>$300</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1104900" y="4188870"/>
          <a:ext cx="6934200" cy="1584324"/>
        </p:xfrm>
        <a:graphic>
          <a:graphicData uri="http://schemas.openxmlformats.org/drawingml/2006/table">
            <a:tbl>
              <a:tblPr firstRow="1" bandRow="1">
                <a:tableStyleId>{2D5ABB26-0587-4C30-8999-92F81FD0307C}</a:tableStyleId>
              </a:tblPr>
              <a:tblGrid>
                <a:gridCol w="5673436">
                  <a:extLst>
                    <a:ext uri="{9D8B030D-6E8A-4147-A177-3AD203B41FA5}">
                      <a16:colId xmlns:a16="http://schemas.microsoft.com/office/drawing/2014/main" val="20000"/>
                    </a:ext>
                  </a:extLst>
                </a:gridCol>
                <a:gridCol w="1260764">
                  <a:extLst>
                    <a:ext uri="{9D8B030D-6E8A-4147-A177-3AD203B41FA5}">
                      <a16:colId xmlns:a16="http://schemas.microsoft.com/office/drawing/2014/main" val="20001"/>
                    </a:ext>
                  </a:extLst>
                </a:gridCol>
              </a:tblGrid>
              <a:tr h="396081">
                <a:tc gridSpan="2">
                  <a:txBody>
                    <a:bodyPr/>
                    <a:lstStyle/>
                    <a:p>
                      <a:pPr algn="ctr"/>
                      <a:r>
                        <a:rPr lang="en-US" sz="1800" b="1" dirty="0"/>
                        <a:t>Income Statement (partial)</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960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Sales (2 chairs @ $500 selling price)</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t>$1,000</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08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7FA3"/>
                          </a:solidFill>
                        </a:rPr>
                        <a:t>Cost of goods sold (2 chairs @ $300 cost)</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b="1" dirty="0">
                          <a:solidFill>
                            <a:srgbClr val="007FA3"/>
                          </a:solidFill>
                        </a:rPr>
                        <a:t>600</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81">
                <a:tc>
                  <a:txBody>
                    <a:bodyPr/>
                    <a:lstStyle/>
                    <a:p>
                      <a:r>
                        <a:rPr lang="en-US" sz="1800" dirty="0"/>
                        <a:t>Gross profit</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sz="1800" dirty="0"/>
                        <a:t>$400</a:t>
                      </a:r>
                    </a:p>
                  </a:txBody>
                  <a:tcPr marT="45650" marB="4565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0268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15372"/>
            <a:ext cx="8229600" cy="1097280"/>
          </a:xfrm>
        </p:spPr>
        <p:txBody>
          <a:bodyPr/>
          <a:lstStyle/>
          <a:p>
            <a:r>
              <a:rPr lang="en-US" altLang="en-US" dirty="0"/>
              <a:t>Merchandise Inventory </a:t>
            </a:r>
            <a:r>
              <a:rPr lang="en-US" altLang="en-US" sz="2000" b="0" dirty="0"/>
              <a:t>(2 of 2)</a:t>
            </a:r>
            <a:endParaRPr lang="en-US" sz="2000" b="0" dirty="0"/>
          </a:p>
        </p:txBody>
      </p:sp>
      <p:sp>
        <p:nvSpPr>
          <p:cNvPr id="4" name="Text Placeholder 3"/>
          <p:cNvSpPr>
            <a:spLocks noGrp="1"/>
          </p:cNvSpPr>
          <p:nvPr>
            <p:ph type="body" idx="1"/>
          </p:nvPr>
        </p:nvSpPr>
        <p:spPr>
          <a:xfrm>
            <a:off x="1708225" y="1828800"/>
            <a:ext cx="2743200" cy="1828800"/>
          </a:xfrm>
        </p:spPr>
        <p:txBody>
          <a:bodyPr/>
          <a:lstStyle/>
          <a:p>
            <a:r>
              <a:rPr lang="en-US" sz="2000" dirty="0"/>
              <a:t>The cost of inventory on hand = Inventory</a:t>
            </a:r>
          </a:p>
        </p:txBody>
      </p:sp>
      <p:sp>
        <p:nvSpPr>
          <p:cNvPr id="2" name="Arrow: Down 1">
            <a:extLst>
              <a:ext uri="{FF2B5EF4-FFF2-40B4-BE49-F238E27FC236}">
                <a16:creationId xmlns:a16="http://schemas.microsoft.com/office/drawing/2014/main" id="{A2CB92A8-D090-86C6-67C4-6EC82CFD1263}"/>
              </a:ext>
            </a:extLst>
          </p:cNvPr>
          <p:cNvSpPr/>
          <p:nvPr/>
        </p:nvSpPr>
        <p:spPr>
          <a:xfrm flipH="1">
            <a:off x="3093719" y="3429000"/>
            <a:ext cx="193875" cy="74474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dirty="0" err="1"/>
          </a:p>
        </p:txBody>
      </p:sp>
      <p:sp>
        <p:nvSpPr>
          <p:cNvPr id="6" name="Text Placeholder 5"/>
          <p:cNvSpPr>
            <a:spLocks noGrp="1"/>
          </p:cNvSpPr>
          <p:nvPr>
            <p:ph type="body" sz="quarter" idx="3"/>
          </p:nvPr>
        </p:nvSpPr>
        <p:spPr>
          <a:xfrm>
            <a:off x="1797425" y="4172783"/>
            <a:ext cx="2743200" cy="1828800"/>
          </a:xfrm>
        </p:spPr>
        <p:txBody>
          <a:bodyPr/>
          <a:lstStyle/>
          <a:p>
            <a:r>
              <a:rPr lang="en-US" sz="2000" dirty="0"/>
              <a:t>Asset on the Balance Sheet</a:t>
            </a:r>
          </a:p>
        </p:txBody>
      </p:sp>
      <p:sp>
        <p:nvSpPr>
          <p:cNvPr id="5" name="Content Placeholder 4"/>
          <p:cNvSpPr>
            <a:spLocks noGrp="1"/>
          </p:cNvSpPr>
          <p:nvPr>
            <p:ph sz="half" idx="2"/>
          </p:nvPr>
        </p:nvSpPr>
        <p:spPr>
          <a:xfrm>
            <a:off x="4646314" y="1828800"/>
            <a:ext cx="2743200" cy="1828800"/>
          </a:xfrm>
        </p:spPr>
        <p:txBody>
          <a:bodyPr/>
          <a:lstStyle/>
          <a:p>
            <a:pPr marL="0" indent="0">
              <a:spcBef>
                <a:spcPts val="0"/>
              </a:spcBef>
            </a:pPr>
            <a:r>
              <a:rPr lang="en-US" altLang="en-US" sz="2000" dirty="0"/>
              <a:t>The cost of inventory that</a:t>
            </a:r>
            <a:r>
              <a:rPr lang="ja-JP" altLang="en-US" sz="2000" dirty="0"/>
              <a:t>’</a:t>
            </a:r>
            <a:r>
              <a:rPr lang="en-US" altLang="ja-JP" sz="2000" dirty="0"/>
              <a:t>s been sold = </a:t>
            </a:r>
          </a:p>
          <a:p>
            <a:pPr marL="0" indent="0">
              <a:spcBef>
                <a:spcPts val="0"/>
              </a:spcBef>
            </a:pPr>
            <a:r>
              <a:rPr lang="en-US" altLang="en-US" sz="2000" dirty="0"/>
              <a:t>Cost of Goods Sold </a:t>
            </a:r>
            <a:endParaRPr lang="en-US" sz="2000" dirty="0"/>
          </a:p>
        </p:txBody>
      </p:sp>
      <p:sp>
        <p:nvSpPr>
          <p:cNvPr id="3" name="Arrow: Down 2">
            <a:extLst>
              <a:ext uri="{FF2B5EF4-FFF2-40B4-BE49-F238E27FC236}">
                <a16:creationId xmlns:a16="http://schemas.microsoft.com/office/drawing/2014/main" id="{AB93204F-68E2-18FD-638C-FBD7C46FD61A}"/>
              </a:ext>
            </a:extLst>
          </p:cNvPr>
          <p:cNvSpPr/>
          <p:nvPr/>
        </p:nvSpPr>
        <p:spPr>
          <a:xfrm flipH="1">
            <a:off x="5895876" y="3428396"/>
            <a:ext cx="193875" cy="744748"/>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2000" dirty="0" err="1"/>
          </a:p>
        </p:txBody>
      </p:sp>
      <p:sp>
        <p:nvSpPr>
          <p:cNvPr id="7" name="Content Placeholder 6"/>
          <p:cNvSpPr>
            <a:spLocks noGrp="1"/>
          </p:cNvSpPr>
          <p:nvPr>
            <p:ph sz="quarter" idx="4"/>
          </p:nvPr>
        </p:nvSpPr>
        <p:spPr>
          <a:xfrm>
            <a:off x="4642127" y="4170559"/>
            <a:ext cx="2743200" cy="1828800"/>
          </a:xfrm>
        </p:spPr>
        <p:txBody>
          <a:bodyPr/>
          <a:lstStyle/>
          <a:p>
            <a:pPr marL="0" indent="0"/>
            <a:r>
              <a:rPr lang="en-US" sz="2000" dirty="0"/>
              <a:t>Expense on the Income Statement</a:t>
            </a:r>
          </a:p>
        </p:txBody>
      </p:sp>
    </p:spTree>
    <p:extLst>
      <p:ext uri="{BB962C8B-B14F-4D97-AF65-F5344CB8AC3E}">
        <p14:creationId xmlns:p14="http://schemas.microsoft.com/office/powerpoint/2010/main" val="1787342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Sales Price vs. Cost of Inventory</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Sales revenue based on sales price of inventory sold</a:t>
            </a:r>
          </a:p>
          <a:p>
            <a:r>
              <a:rPr lang="en-US" altLang="en-US" dirty="0">
                <a:ea typeface="ＭＳ Ｐゴシック" pitchFamily="34" charset="-128"/>
              </a:rPr>
              <a:t>Cost of goods sold based on cost of inventory sold</a:t>
            </a:r>
          </a:p>
          <a:p>
            <a:r>
              <a:rPr lang="en-US" altLang="en-US" dirty="0">
                <a:ea typeface="ＭＳ Ｐゴシック" pitchFamily="34" charset="-128"/>
              </a:rPr>
              <a:t>Inventory based on cost of inventory on hand</a:t>
            </a:r>
          </a:p>
          <a:p>
            <a:r>
              <a:rPr lang="en-US" altLang="en-US" dirty="0">
                <a:ea typeface="ＭＳ Ｐゴシック" pitchFamily="34" charset="-128"/>
              </a:rPr>
              <a:t>Gross profit, also called gross margin</a:t>
            </a:r>
          </a:p>
          <a:p>
            <a:pPr lvl="1"/>
            <a:r>
              <a:rPr lang="en-US" altLang="en-US" dirty="0">
                <a:ea typeface="ＭＳ Ｐゴシック" pitchFamily="34" charset="-128"/>
              </a:rPr>
              <a:t>Sales revenue minus cost of goods sold</a:t>
            </a:r>
            <a:endParaRPr lang="en-US" dirty="0"/>
          </a:p>
        </p:txBody>
      </p:sp>
    </p:spTree>
    <p:extLst>
      <p:ext uri="{BB962C8B-B14F-4D97-AF65-F5344CB8AC3E}">
        <p14:creationId xmlns:p14="http://schemas.microsoft.com/office/powerpoint/2010/main" val="72432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Number of Units of Inventory</a:t>
            </a:r>
            <a:endParaRPr lang="en-US" dirty="0"/>
          </a:p>
        </p:txBody>
      </p:sp>
      <p:sp>
        <p:nvSpPr>
          <p:cNvPr id="3" name="Content Placeholder 2"/>
          <p:cNvSpPr>
            <a:spLocks noGrp="1"/>
          </p:cNvSpPr>
          <p:nvPr>
            <p:ph idx="1"/>
          </p:nvPr>
        </p:nvSpPr>
        <p:spPr/>
        <p:txBody>
          <a:bodyPr>
            <a:normAutofit lnSpcReduction="10000"/>
          </a:bodyPr>
          <a:lstStyle/>
          <a:p>
            <a:r>
              <a:rPr lang="en-US" altLang="en-US" dirty="0">
                <a:ea typeface="ＭＳ Ｐゴシック" pitchFamily="34" charset="-128"/>
              </a:rPr>
              <a:t>Determined from accounting records</a:t>
            </a:r>
          </a:p>
          <a:p>
            <a:r>
              <a:rPr lang="en-US" altLang="en-US" dirty="0">
                <a:ea typeface="ＭＳ Ｐゴシック" pitchFamily="34" charset="-128"/>
              </a:rPr>
              <a:t>Evidenced by physical count at year-end</a:t>
            </a:r>
          </a:p>
          <a:p>
            <a:r>
              <a:rPr lang="en-US" altLang="en-US" dirty="0">
                <a:ea typeface="ＭＳ Ｐゴシック" pitchFamily="34" charset="-128"/>
              </a:rPr>
              <a:t>In transit goods</a:t>
            </a:r>
          </a:p>
          <a:p>
            <a:pPr lvl="1"/>
            <a:r>
              <a:rPr lang="en-US" altLang="en-US" dirty="0">
                <a:ea typeface="ＭＳ Ｐゴシック" pitchFamily="34" charset="-128"/>
              </a:rPr>
              <a:t>Depends on shipping terms (see next slide)</a:t>
            </a:r>
          </a:p>
          <a:p>
            <a:pPr marL="0" indent="0">
              <a:buNone/>
            </a:pPr>
            <a:r>
              <a:rPr lang="en-US" altLang="en-US" sz="3400" b="1" dirty="0">
                <a:solidFill>
                  <a:srgbClr val="007FA3"/>
                </a:solidFill>
              </a:rPr>
              <a:t>What goes into inventory cost?</a:t>
            </a:r>
          </a:p>
          <a:p>
            <a:pPr marL="0" lvl="1" indent="531813">
              <a:buNone/>
            </a:pPr>
            <a:r>
              <a:rPr lang="en-US" dirty="0">
                <a:latin typeface="Arial" pitchFamily="34" charset="0"/>
                <a:ea typeface="ＭＳ Ｐゴシック" pitchFamily="34" charset="-128"/>
              </a:rPr>
              <a:t>Basic purchase price</a:t>
            </a:r>
          </a:p>
          <a:p>
            <a:pPr marL="531813" lvl="1" indent="-265113">
              <a:buNone/>
            </a:pPr>
            <a:r>
              <a:rPr lang="en-US" dirty="0">
                <a:latin typeface="Arial" pitchFamily="34" charset="0"/>
                <a:ea typeface="ＭＳ Ｐゴシック" pitchFamily="34" charset="-128"/>
              </a:rPr>
              <a:t>+ Freight-in, insurance while in transit, and any costs paid to get the inventory ready to sell</a:t>
            </a:r>
          </a:p>
          <a:p>
            <a:pPr marL="531813" lvl="1" indent="-265113">
              <a:buNone/>
            </a:pPr>
            <a:r>
              <a:rPr lang="en-US" dirty="0">
                <a:latin typeface="Arial" pitchFamily="34" charset="0"/>
                <a:ea typeface="ＭＳ Ｐゴシック" pitchFamily="34" charset="-128"/>
              </a:rPr>
              <a:t>− Returns, allowance, and discounts</a:t>
            </a:r>
            <a:endParaRPr lang="en-US" altLang="en-US" dirty="0">
              <a:ea typeface="ＭＳ Ｐゴシック" pitchFamily="34" charset="-128"/>
            </a:endParaRPr>
          </a:p>
          <a:p>
            <a:pPr marL="0" indent="0">
              <a:buNone/>
            </a:pPr>
            <a:endParaRPr lang="en-US" altLang="en-US" dirty="0">
              <a:ea typeface="ＭＳ Ｐゴシック" pitchFamily="34" charset="-128"/>
            </a:endParaRPr>
          </a:p>
          <a:p>
            <a:pPr marL="0" indent="0">
              <a:buNone/>
            </a:pPr>
            <a:endParaRPr lang="en-US" altLang="en-US" dirty="0">
              <a:ea typeface="ＭＳ Ｐゴシック" pitchFamily="34" charset="-128"/>
            </a:endParaRPr>
          </a:p>
        </p:txBody>
      </p:sp>
    </p:spTree>
    <p:extLst>
      <p:ext uri="{BB962C8B-B14F-4D97-AF65-F5344CB8AC3E}">
        <p14:creationId xmlns:p14="http://schemas.microsoft.com/office/powerpoint/2010/main" val="4107784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296"/>
            <a:ext cx="8229600" cy="1097280"/>
          </a:xfrm>
        </p:spPr>
        <p:txBody>
          <a:bodyPr/>
          <a:lstStyle/>
          <a:p>
            <a:r>
              <a:rPr lang="en-US" altLang="en-US" dirty="0"/>
              <a:t>Shipping terms</a:t>
            </a:r>
            <a:endParaRPr lang="en-US" dirty="0"/>
          </a:p>
        </p:txBody>
      </p:sp>
      <p:sp>
        <p:nvSpPr>
          <p:cNvPr id="3" name="Text Placeholder 2"/>
          <p:cNvSpPr>
            <a:spLocks noGrp="1"/>
          </p:cNvSpPr>
          <p:nvPr>
            <p:ph type="body" idx="1"/>
          </p:nvPr>
        </p:nvSpPr>
        <p:spPr>
          <a:xfrm>
            <a:off x="457200" y="1524001"/>
            <a:ext cx="4040982" cy="457200"/>
          </a:xfrm>
          <a:solidFill>
            <a:srgbClr val="C5F3FF"/>
          </a:solidFill>
          <a:ln>
            <a:solidFill>
              <a:srgbClr val="007FA3"/>
            </a:solidFill>
          </a:ln>
        </p:spPr>
        <p:txBody>
          <a:bodyPr anchor="ctr"/>
          <a:lstStyle/>
          <a:p>
            <a:pPr algn="ctr">
              <a:defRPr/>
            </a:pPr>
            <a:r>
              <a:rPr lang="en-US" sz="2000" b="1" dirty="0"/>
              <a:t>FOB Shipping Point</a:t>
            </a:r>
          </a:p>
        </p:txBody>
      </p:sp>
      <p:sp>
        <p:nvSpPr>
          <p:cNvPr id="4" name="Content Placeholder 3"/>
          <p:cNvSpPr>
            <a:spLocks noGrp="1"/>
          </p:cNvSpPr>
          <p:nvPr>
            <p:ph sz="half" idx="2"/>
          </p:nvPr>
        </p:nvSpPr>
        <p:spPr>
          <a:xfrm>
            <a:off x="533400" y="2068158"/>
            <a:ext cx="3964782" cy="4180242"/>
          </a:xfrm>
        </p:spPr>
        <p:txBody>
          <a:bodyPr/>
          <a:lstStyle/>
          <a:p>
            <a:r>
              <a:rPr lang="en-US" altLang="en-US" dirty="0">
                <a:ea typeface="ＭＳ Ｐゴシック" pitchFamily="34" charset="-128"/>
              </a:rPr>
              <a:t>Legal title passes to purchaser when items leave seller’s place of business</a:t>
            </a:r>
          </a:p>
          <a:p>
            <a:r>
              <a:rPr lang="en-US" altLang="en-US" dirty="0">
                <a:ea typeface="ＭＳ Ｐゴシック" pitchFamily="34" charset="-128"/>
              </a:rPr>
              <a:t>Purchaser owns good while in transit</a:t>
            </a:r>
          </a:p>
          <a:p>
            <a:pPr lvl="1"/>
            <a:r>
              <a:rPr lang="en-US" altLang="en-US" sz="1800" dirty="0">
                <a:ea typeface="ＭＳ Ｐゴシック" pitchFamily="34" charset="-128"/>
              </a:rPr>
              <a:t>Included in purchaser’s inventory count</a:t>
            </a:r>
          </a:p>
          <a:p>
            <a:r>
              <a:rPr lang="en-US" altLang="en-US" dirty="0">
                <a:ea typeface="ＭＳ Ｐゴシック" pitchFamily="34" charset="-128"/>
              </a:rPr>
              <a:t>Purchaser pays transportation costs</a:t>
            </a:r>
            <a:endParaRPr lang="en-US" dirty="0"/>
          </a:p>
        </p:txBody>
      </p:sp>
      <p:sp>
        <p:nvSpPr>
          <p:cNvPr id="5" name="Text Placeholder 4"/>
          <p:cNvSpPr>
            <a:spLocks noGrp="1"/>
          </p:cNvSpPr>
          <p:nvPr>
            <p:ph type="body" sz="quarter" idx="3"/>
          </p:nvPr>
        </p:nvSpPr>
        <p:spPr>
          <a:xfrm>
            <a:off x="4629150" y="1524001"/>
            <a:ext cx="4057650" cy="457200"/>
          </a:xfrm>
          <a:solidFill>
            <a:srgbClr val="C5F3FF"/>
          </a:solidFill>
          <a:ln>
            <a:solidFill>
              <a:srgbClr val="007FA3"/>
            </a:solidFill>
          </a:ln>
        </p:spPr>
        <p:txBody>
          <a:bodyPr anchor="ctr"/>
          <a:lstStyle/>
          <a:p>
            <a:pPr algn="ctr">
              <a:defRPr/>
            </a:pPr>
            <a:r>
              <a:rPr lang="en-US" sz="2000" b="1" dirty="0"/>
              <a:t>FOB Destination</a:t>
            </a:r>
          </a:p>
        </p:txBody>
      </p:sp>
      <p:sp>
        <p:nvSpPr>
          <p:cNvPr id="6" name="Content Placeholder 5"/>
          <p:cNvSpPr>
            <a:spLocks noGrp="1"/>
          </p:cNvSpPr>
          <p:nvPr>
            <p:ph sz="quarter" idx="4"/>
          </p:nvPr>
        </p:nvSpPr>
        <p:spPr>
          <a:xfrm>
            <a:off x="4498182" y="2057400"/>
            <a:ext cx="4188618" cy="3733799"/>
          </a:xfrm>
        </p:spPr>
        <p:txBody>
          <a:bodyPr>
            <a:normAutofit/>
          </a:bodyPr>
          <a:lstStyle/>
          <a:p>
            <a:r>
              <a:rPr lang="en-US" altLang="en-US" dirty="0">
                <a:ea typeface="ＭＳ Ｐゴシック" pitchFamily="34" charset="-128"/>
              </a:rPr>
              <a:t>Legal title passes to purchaser when items arrive at purchaser’s receiving dock</a:t>
            </a:r>
          </a:p>
          <a:p>
            <a:r>
              <a:rPr lang="en-US" altLang="en-US" dirty="0">
                <a:ea typeface="ＭＳ Ｐゴシック" pitchFamily="34" charset="-128"/>
              </a:rPr>
              <a:t>Seller owns goods while in transit</a:t>
            </a:r>
          </a:p>
          <a:p>
            <a:pPr lvl="1"/>
            <a:r>
              <a:rPr lang="en-US" altLang="en-US" sz="1800" dirty="0">
                <a:ea typeface="ＭＳ Ｐゴシック" pitchFamily="34" charset="-128"/>
              </a:rPr>
              <a:t>Included in seller’s inventory count</a:t>
            </a:r>
          </a:p>
          <a:p>
            <a:r>
              <a:rPr lang="en-US" altLang="en-US" dirty="0">
                <a:ea typeface="ＭＳ Ｐゴシック" pitchFamily="34" charset="-128"/>
              </a:rPr>
              <a:t>Seller pays transportation costs</a:t>
            </a:r>
            <a:endParaRPr lang="en-US" sz="1800" dirty="0"/>
          </a:p>
        </p:txBody>
      </p:sp>
    </p:spTree>
    <p:extLst>
      <p:ext uri="{BB962C8B-B14F-4D97-AF65-F5344CB8AC3E}">
        <p14:creationId xmlns:p14="http://schemas.microsoft.com/office/powerpoint/2010/main" val="249576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Inventory Accounting Systems</a:t>
            </a:r>
            <a:endParaRPr lang="en-US" dirty="0"/>
          </a:p>
        </p:txBody>
      </p:sp>
      <p:graphicFrame>
        <p:nvGraphicFramePr>
          <p:cNvPr id="5" name="Table 4"/>
          <p:cNvGraphicFramePr>
            <a:graphicFrameLocks noGrp="1"/>
          </p:cNvGraphicFramePr>
          <p:nvPr/>
        </p:nvGraphicFramePr>
        <p:xfrm>
          <a:off x="152400" y="1828800"/>
          <a:ext cx="8839200" cy="3405188"/>
        </p:xfrm>
        <a:graphic>
          <a:graphicData uri="http://schemas.openxmlformats.org/drawingml/2006/table">
            <a:tbl>
              <a:tblPr firstRow="1" bandRow="1">
                <a:tableStyleId>{2D5ABB26-0587-4C30-8999-92F81FD0307C}</a:tableStyleId>
              </a:tblPr>
              <a:tblGrid>
                <a:gridCol w="44196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822879">
                <a:tc>
                  <a:txBody>
                    <a:bodyPr/>
                    <a:lstStyle/>
                    <a:p>
                      <a:pPr algn="ctr"/>
                      <a:r>
                        <a:rPr lang="en-US" sz="1800" b="1" dirty="0"/>
                        <a:t>Perpetual Inventory</a:t>
                      </a:r>
                      <a:r>
                        <a:rPr lang="en-US" sz="1800" b="1" baseline="0" dirty="0"/>
                        <a:t> System</a:t>
                      </a:r>
                      <a:endParaRPr lang="en-US" sz="1800" b="1" dirty="0"/>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dirty="0"/>
                        <a:t>Periodic Inventory</a:t>
                      </a:r>
                      <a:r>
                        <a:rPr lang="en-US" sz="1800" b="1" baseline="0" dirty="0"/>
                        <a:t> System</a:t>
                      </a:r>
                      <a:endParaRPr lang="en-US" sz="1800" b="1" dirty="0"/>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70800">
                <a:tc>
                  <a:txBody>
                    <a:bodyPr/>
                    <a:lstStyle/>
                    <a:p>
                      <a:r>
                        <a:rPr lang="en-US" sz="1800" dirty="0"/>
                        <a:t>Used for all types of goods</a:t>
                      </a:r>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Used for inexpensive goods</a:t>
                      </a:r>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88630">
                <a:tc>
                  <a:txBody>
                    <a:bodyPr/>
                    <a:lstStyle/>
                    <a:p>
                      <a:r>
                        <a:rPr lang="en-US" sz="1800" dirty="0"/>
                        <a:t>Keeps a running total of all goods bought, sold, and on hand</a:t>
                      </a:r>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Does</a:t>
                      </a:r>
                      <a:r>
                        <a:rPr lang="en-US" sz="1800" baseline="0" dirty="0"/>
                        <a:t> not keep a running total of all goods bought, sold, and on hand</a:t>
                      </a:r>
                      <a:endParaRPr lang="en-US" sz="1800" dirty="0"/>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2879">
                <a:tc>
                  <a:txBody>
                    <a:bodyPr/>
                    <a:lstStyle/>
                    <a:p>
                      <a:r>
                        <a:rPr lang="en-US" sz="1800" dirty="0"/>
                        <a:t>Inventory counted at least once</a:t>
                      </a:r>
                      <a:r>
                        <a:rPr lang="en-US" sz="1800" baseline="0" dirty="0"/>
                        <a:t> a year</a:t>
                      </a:r>
                      <a:endParaRPr lang="en-US" sz="1800" dirty="0"/>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Inventory counted at least once</a:t>
                      </a:r>
                      <a:r>
                        <a:rPr lang="en-US" sz="1800" baseline="0" dirty="0"/>
                        <a:t> a year</a:t>
                      </a:r>
                      <a:endParaRPr lang="en-US" sz="1800" dirty="0"/>
                    </a:p>
                  </a:txBody>
                  <a:tcPr marT="45689" marB="4568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0767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Perpetual Inventory</a:t>
            </a:r>
            <a:endParaRPr lang="en-US" sz="2000" b="0" dirty="0"/>
          </a:p>
        </p:txBody>
      </p:sp>
      <p:sp>
        <p:nvSpPr>
          <p:cNvPr id="3" name="Content Placeholder 2"/>
          <p:cNvSpPr>
            <a:spLocks noGrp="1"/>
          </p:cNvSpPr>
          <p:nvPr>
            <p:ph idx="1"/>
          </p:nvPr>
        </p:nvSpPr>
        <p:spPr/>
        <p:txBody>
          <a:bodyPr/>
          <a:lstStyle/>
          <a:p>
            <a:r>
              <a:rPr lang="en-US" altLang="en-US" dirty="0">
                <a:ea typeface="ＭＳ Ｐゴシック" pitchFamily="34" charset="-128"/>
              </a:rPr>
              <a:t>Bar codes on products provide information to record</a:t>
            </a:r>
          </a:p>
          <a:p>
            <a:pPr lvl="1"/>
            <a:r>
              <a:rPr lang="en-US" altLang="en-US" dirty="0">
                <a:ea typeface="ＭＳ Ｐゴシック" pitchFamily="34" charset="-128"/>
              </a:rPr>
              <a:t>Sale of item</a:t>
            </a:r>
          </a:p>
          <a:p>
            <a:pPr lvl="1"/>
            <a:r>
              <a:rPr lang="en-US" altLang="en-US" dirty="0">
                <a:ea typeface="ＭＳ Ｐゴシック" pitchFamily="34" charset="-128"/>
              </a:rPr>
              <a:t>Update of inventory record</a:t>
            </a:r>
          </a:p>
          <a:p>
            <a:r>
              <a:rPr lang="en-US" altLang="en-US" dirty="0">
                <a:ea typeface="ＭＳ Ｐゴシック" pitchFamily="34" charset="-128"/>
              </a:rPr>
              <a:t>Two entries needed for each sale</a:t>
            </a:r>
          </a:p>
          <a:p>
            <a:pPr lvl="1"/>
            <a:r>
              <a:rPr lang="en-US" altLang="en-US" dirty="0">
                <a:ea typeface="ＭＳ Ｐゴシック" pitchFamily="34" charset="-128"/>
              </a:rPr>
              <a:t>Record revenue and asset received (cash or receivables)</a:t>
            </a:r>
          </a:p>
          <a:p>
            <a:pPr lvl="1"/>
            <a:r>
              <a:rPr lang="en-US" altLang="en-US" dirty="0">
                <a:ea typeface="ＭＳ Ｐゴシック" pitchFamily="34" charset="-128"/>
              </a:rPr>
              <a:t>Record cost of sale and reduction of inventory</a:t>
            </a:r>
            <a:endParaRPr lang="en-US" dirty="0"/>
          </a:p>
        </p:txBody>
      </p:sp>
      <p:pic>
        <p:nvPicPr>
          <p:cNvPr id="4" name="Picture 3" descr="An electronic scanner reads a bar code.">
            <a:extLst>
              <a:ext uri="{FF2B5EF4-FFF2-40B4-BE49-F238E27FC236}">
                <a16:creationId xmlns:a16="http://schemas.microsoft.com/office/drawing/2014/main" id="{1A21AE5E-8DA2-4EAA-F449-53FF19AFA88D}"/>
              </a:ext>
            </a:extLst>
          </p:cNvPr>
          <p:cNvPicPr>
            <a:picLocks noChangeAspect="1"/>
          </p:cNvPicPr>
          <p:nvPr/>
        </p:nvPicPr>
        <p:blipFill>
          <a:blip r:embed="rId3"/>
          <a:stretch>
            <a:fillRect/>
          </a:stretch>
        </p:blipFill>
        <p:spPr>
          <a:xfrm>
            <a:off x="3827706" y="4623820"/>
            <a:ext cx="2770055" cy="1800069"/>
          </a:xfrm>
          <a:prstGeom prst="rect">
            <a:avLst/>
          </a:prstGeom>
        </p:spPr>
      </p:pic>
    </p:spTree>
    <p:extLst>
      <p:ext uri="{BB962C8B-B14F-4D97-AF65-F5344CB8AC3E}">
        <p14:creationId xmlns:p14="http://schemas.microsoft.com/office/powerpoint/2010/main" val="32039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Recording Inventory </a:t>
            </a:r>
            <a:r>
              <a:rPr lang="en-US" altLang="en-US" sz="2400" dirty="0"/>
              <a:t>(Amounts Assumed) </a:t>
            </a:r>
            <a:r>
              <a:rPr lang="en-US" altLang="en-US" sz="2000" b="0" dirty="0"/>
              <a:t>(1 of 2) </a:t>
            </a:r>
            <a:endParaRPr lang="en-US" sz="2000" b="0" dirty="0"/>
          </a:p>
        </p:txBody>
      </p:sp>
      <p:graphicFrame>
        <p:nvGraphicFramePr>
          <p:cNvPr id="4" name="Table 3"/>
          <p:cNvGraphicFramePr>
            <a:graphicFrameLocks noGrp="1"/>
          </p:cNvGraphicFramePr>
          <p:nvPr/>
        </p:nvGraphicFramePr>
        <p:xfrm>
          <a:off x="381000" y="1828800"/>
          <a:ext cx="8458200" cy="4073526"/>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Inventory</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560,000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Accounts Payable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560,000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Purchased inventory on account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Accounts Receivable</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900,000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Sales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900,000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defTabSz="914400" rtl="0" eaLnBrk="1" latinLnBrk="0" hangingPunct="1"/>
                      <a:r>
                        <a:rPr lang="en-US" sz="1700" i="1" kern="1200" dirty="0">
                          <a:solidFill>
                            <a:schemeClr val="tx1"/>
                          </a:solidFill>
                          <a:latin typeface="+mn-lt"/>
                          <a:ea typeface="+mn-ea"/>
                          <a:cs typeface="+mn-cs"/>
                        </a:rPr>
                        <a:t>Sold inventory on account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Cost of Goods Sold</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 540,000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Inventory</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540,000 </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defTabSz="914400" rtl="0" eaLnBrk="1" latinLnBrk="0" hangingPunct="1"/>
                      <a:r>
                        <a:rPr lang="en-US" sz="1700" i="1" kern="1200" dirty="0">
                          <a:solidFill>
                            <a:schemeClr val="tx1"/>
                          </a:solidFill>
                          <a:latin typeface="+mn-lt"/>
                          <a:ea typeface="+mn-ea"/>
                          <a:cs typeface="+mn-cs"/>
                        </a:rPr>
                        <a:t>Recorded cost of goods sold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7765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Recording Inventory </a:t>
            </a:r>
            <a:r>
              <a:rPr lang="en-US" altLang="en-US" sz="2400" dirty="0"/>
              <a:t>(Amounts Assumed) </a:t>
            </a:r>
            <a:r>
              <a:rPr lang="en-US" altLang="en-US" sz="2000" b="0" dirty="0"/>
              <a:t>(2 of 2)</a:t>
            </a:r>
            <a:endParaRPr lang="en-US" sz="2000" b="0" dirty="0"/>
          </a:p>
        </p:txBody>
      </p:sp>
      <p:graphicFrame>
        <p:nvGraphicFramePr>
          <p:cNvPr id="4" name="Table 3"/>
          <p:cNvGraphicFramePr>
            <a:graphicFrameLocks noGrp="1"/>
          </p:cNvGraphicFramePr>
          <p:nvPr/>
        </p:nvGraphicFramePr>
        <p:xfrm>
          <a:off x="760095" y="1828800"/>
          <a:ext cx="7623810" cy="1630680"/>
        </p:xfrm>
        <a:graphic>
          <a:graphicData uri="http://schemas.openxmlformats.org/drawingml/2006/table">
            <a:tbl>
              <a:tblPr firstRow="1" bandRow="1">
                <a:tableStyleId>{2D5ABB26-0587-4C30-8999-92F81FD0307C}</a:tableStyleId>
              </a:tblPr>
              <a:tblGrid>
                <a:gridCol w="274701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518160">
                <a:tc gridSpan="4">
                  <a:txBody>
                    <a:bodyPr/>
                    <a:lstStyle/>
                    <a:p>
                      <a:pPr algn="ctr"/>
                      <a:r>
                        <a:rPr lang="en-US" altLang="en-US" sz="2800" dirty="0"/>
                        <a:t>Inventory</a:t>
                      </a:r>
                      <a:endParaRPr lang="en-US" sz="2800" dirty="0">
                        <a:solidFill>
                          <a:schemeClr val="tx1"/>
                        </a:solidFill>
                      </a:endParaRPr>
                    </a:p>
                  </a:txBody>
                  <a:tcPr anchor="b">
                    <a:lnB w="3175" cap="flat" cmpd="sng" algn="ctr">
                      <a:solidFill>
                        <a:schemeClr val="tx1"/>
                      </a:solidFill>
                      <a:prstDash val="solid"/>
                      <a:round/>
                      <a:headEnd type="none" w="med" len="med"/>
                      <a:tailEnd type="none" w="med" len="med"/>
                    </a:lnB>
                    <a:noFill/>
                  </a:tcPr>
                </a:tc>
                <a:tc hMerge="1">
                  <a:txBody>
                    <a:bodyPr/>
                    <a:lstStyle/>
                    <a:p>
                      <a:pPr algn="ctr"/>
                      <a:endParaRPr lang="en-US" sz="18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Beginning balance</a:t>
                      </a:r>
                      <a:endParaRPr lang="en-US" sz="1800" dirty="0"/>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100,000</a:t>
                      </a:r>
                      <a:endParaRPr lang="en-US" sz="18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Purchases</a:t>
                      </a:r>
                      <a:endParaRPr lang="en-US" sz="1800" dirty="0"/>
                    </a:p>
                  </a:txBody>
                  <a:tcP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560,000</a:t>
                      </a:r>
                      <a:endParaRPr lang="en-US" sz="18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Cost of goods sold</a:t>
                      </a:r>
                      <a:endParaRPr lang="en-US" sz="18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540,000</a:t>
                      </a:r>
                      <a:endParaRPr lang="en-US" sz="1800" dirty="0"/>
                    </a:p>
                  </a:txBody>
                  <a:tcPr>
                    <a:lnL w="12700" cap="flat" cmpd="sng" algn="ctr">
                      <a:no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Ending balance</a:t>
                      </a:r>
                      <a:endParaRPr lang="en-US" sz="1800" dirty="0"/>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120,000</a:t>
                      </a:r>
                      <a:endParaRPr lang="en-US" sz="18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762000" y="3931920"/>
          <a:ext cx="7623810" cy="889000"/>
        </p:xfrm>
        <a:graphic>
          <a:graphicData uri="http://schemas.openxmlformats.org/drawingml/2006/table">
            <a:tbl>
              <a:tblPr firstRow="1" bandRow="1">
                <a:tableStyleId>{2D5ABB26-0587-4C30-8999-92F81FD0307C}</a:tableStyleId>
              </a:tblPr>
              <a:tblGrid>
                <a:gridCol w="274701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51816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2800" dirty="0"/>
                        <a:t>Cost of Goods Sold</a:t>
                      </a:r>
                      <a:endParaRPr lang="en-US" sz="28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Cost of goods sold</a:t>
                      </a:r>
                      <a:endParaRPr lang="en-US" sz="1800" dirty="0"/>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dirty="0"/>
                        <a:t>540,000</a:t>
                      </a:r>
                      <a:endParaRPr lang="en-US" sz="18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4363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Reporting in the Financial Statements</a:t>
            </a:r>
            <a:endParaRPr lang="en-US" dirty="0"/>
          </a:p>
        </p:txBody>
      </p:sp>
      <p:graphicFrame>
        <p:nvGraphicFramePr>
          <p:cNvPr id="3" name="Table 2"/>
          <p:cNvGraphicFramePr>
            <a:graphicFrameLocks noGrp="1"/>
          </p:cNvGraphicFramePr>
          <p:nvPr/>
        </p:nvGraphicFramePr>
        <p:xfrm>
          <a:off x="1676400" y="1828800"/>
          <a:ext cx="5791200" cy="2378076"/>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96346">
                <a:tc gridSpan="2">
                  <a:txBody>
                    <a:bodyPr/>
                    <a:lstStyle/>
                    <a:p>
                      <a:pPr algn="ctr"/>
                      <a:r>
                        <a:rPr lang="en-US" sz="1800" b="1" dirty="0"/>
                        <a:t>Balance Sheet (partial)</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96346">
                <a:tc>
                  <a:txBody>
                    <a:bodyPr/>
                    <a:lstStyle/>
                    <a:p>
                      <a:r>
                        <a:rPr lang="en-US" sz="1800" dirty="0"/>
                        <a:t>Current</a:t>
                      </a:r>
                      <a:r>
                        <a:rPr lang="en-US" sz="1800" baseline="0" dirty="0"/>
                        <a:t> assets:</a:t>
                      </a:r>
                      <a:endParaRPr lang="en-US" sz="1800" dirty="0"/>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346">
                <a:tc>
                  <a:txBody>
                    <a:bodyPr/>
                    <a:lstStyle/>
                    <a:p>
                      <a:pPr marL="91440"/>
                      <a:r>
                        <a:rPr lang="en-US" sz="1800" dirty="0"/>
                        <a:t>Cash</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     XXX</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346">
                <a:tc>
                  <a:txBody>
                    <a:bodyPr/>
                    <a:lstStyle/>
                    <a:p>
                      <a:pPr marL="91440"/>
                      <a:r>
                        <a:rPr lang="en-US" sz="1800" dirty="0"/>
                        <a:t>Accounts receivable</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XXX</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346">
                <a:tc>
                  <a:txBody>
                    <a:bodyPr/>
                    <a:lstStyle/>
                    <a:p>
                      <a:pPr marL="91440"/>
                      <a:r>
                        <a:rPr lang="en-US" sz="1800" dirty="0"/>
                        <a:t>Inventory</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120,000</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346">
                <a:tc>
                  <a:txBody>
                    <a:bodyPr/>
                    <a:lstStyle/>
                    <a:p>
                      <a:r>
                        <a:rPr lang="en-US" sz="1800" dirty="0"/>
                        <a:t> Prepaid expenses</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XXX</a:t>
                      </a:r>
                    </a:p>
                  </a:txBody>
                  <a:tcPr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nvGraphicFramePr>
        <p:xfrm>
          <a:off x="1676400" y="4587876"/>
          <a:ext cx="5791200" cy="1584324"/>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96081">
                <a:tc gridSpan="2">
                  <a:txBody>
                    <a:bodyPr/>
                    <a:lstStyle/>
                    <a:p>
                      <a:pPr algn="ctr"/>
                      <a:r>
                        <a:rPr lang="en-US" sz="1800" b="1" dirty="0"/>
                        <a:t>Income Statement (partial)</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396081">
                <a:tc>
                  <a:txBody>
                    <a:bodyPr/>
                    <a:lstStyle/>
                    <a:p>
                      <a:r>
                        <a:rPr lang="en-US" sz="1800" dirty="0"/>
                        <a:t>Sales</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$900,000</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081">
                <a:tc>
                  <a:txBody>
                    <a:bodyPr/>
                    <a:lstStyle/>
                    <a:p>
                      <a:r>
                        <a:rPr lang="en-US" sz="1800" dirty="0"/>
                        <a:t>Cost of goods sold</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sng" dirty="0"/>
                        <a:t>  540,000</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81">
                <a:tc>
                  <a:txBody>
                    <a:bodyPr/>
                    <a:lstStyle/>
                    <a:p>
                      <a:r>
                        <a:rPr lang="en-US" sz="1800" dirty="0"/>
                        <a:t>Gross profit</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$360,000</a:t>
                      </a:r>
                    </a:p>
                  </a:txBody>
                  <a:tcPr marT="45650" marB="456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798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Cost of Net Purchases</a:t>
            </a:r>
            <a:endParaRPr lang="en-US" dirty="0"/>
          </a:p>
        </p:txBody>
      </p:sp>
      <p:graphicFrame>
        <p:nvGraphicFramePr>
          <p:cNvPr id="6" name="Table 4">
            <a:extLst>
              <a:ext uri="{FF2B5EF4-FFF2-40B4-BE49-F238E27FC236}">
                <a16:creationId xmlns:a16="http://schemas.microsoft.com/office/drawing/2014/main" id="{4A79BE34-3D7B-46B7-8F2D-003FD7B02805}"/>
              </a:ext>
            </a:extLst>
          </p:cNvPr>
          <p:cNvGraphicFramePr>
            <a:graphicFrameLocks noGrp="1"/>
          </p:cNvGraphicFramePr>
          <p:nvPr>
            <p:ph idx="1"/>
          </p:nvPr>
        </p:nvGraphicFramePr>
        <p:xfrm>
          <a:off x="457200" y="2438400"/>
          <a:ext cx="8229600" cy="2225040"/>
        </p:xfrm>
        <a:graphic>
          <a:graphicData uri="http://schemas.openxmlformats.org/drawingml/2006/table">
            <a:tbl>
              <a:tblPr firstRow="1" bandRow="1">
                <a:tableStyleId>{3B4B98B0-60AC-42C2-AFA5-B58CD77FA1E5}</a:tableStyleId>
              </a:tblPr>
              <a:tblGrid>
                <a:gridCol w="914400">
                  <a:extLst>
                    <a:ext uri="{9D8B030D-6E8A-4147-A177-3AD203B41FA5}">
                      <a16:colId xmlns:a16="http://schemas.microsoft.com/office/drawing/2014/main" val="3928763003"/>
                    </a:ext>
                  </a:extLst>
                </a:gridCol>
                <a:gridCol w="5638800">
                  <a:extLst>
                    <a:ext uri="{9D8B030D-6E8A-4147-A177-3AD203B41FA5}">
                      <a16:colId xmlns:a16="http://schemas.microsoft.com/office/drawing/2014/main" val="829030746"/>
                    </a:ext>
                  </a:extLst>
                </a:gridCol>
                <a:gridCol w="1676400">
                  <a:extLst>
                    <a:ext uri="{9D8B030D-6E8A-4147-A177-3AD203B41FA5}">
                      <a16:colId xmlns:a16="http://schemas.microsoft.com/office/drawing/2014/main" val="4011613405"/>
                    </a:ext>
                  </a:extLst>
                </a:gridCol>
              </a:tblGrid>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en-US" altLang="en-US" sz="1800" kern="1200" dirty="0">
                        <a:solidFill>
                          <a:schemeClr val="tx1"/>
                        </a:solidFill>
                        <a:latin typeface="+mn-lt"/>
                        <a:ea typeface="+mn-ea"/>
                        <a:cs typeface="+mn-cs"/>
                      </a:endParaRP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b="0" kern="1200" dirty="0">
                          <a:solidFill>
                            <a:schemeClr val="tx1"/>
                          </a:solidFill>
                          <a:latin typeface="+mn-lt"/>
                          <a:ea typeface="+mn-ea"/>
                          <a:cs typeface="+mn-cs"/>
                        </a:rPr>
                        <a:t>Purchase price of the inventory</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b="0" kern="1200" dirty="0">
                          <a:solidFill>
                            <a:schemeClr val="tx1"/>
                          </a:solidFill>
                          <a:latin typeface="+mn-lt"/>
                          <a:ea typeface="+mn-ea"/>
                          <a:cs typeface="+mn-cs"/>
                        </a:rPr>
                        <a:t>$600,000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239184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Freight-in</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4,000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941444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Purchase returns</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(25,000)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623551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Purchase allowances</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(5,000)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866693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Purchase discounts</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       (14,000)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988199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Net purchases of inventory</a:t>
                      </a:r>
                    </a:p>
                  </a:txBody>
                  <a:tcPr marT="45684" marB="45684"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lang="en-US" altLang="en-US" sz="1800" u="none" kern="1200" dirty="0">
                          <a:solidFill>
                            <a:schemeClr val="tx1"/>
                          </a:solidFill>
                          <a:latin typeface="+mn-lt"/>
                          <a:ea typeface="+mn-ea"/>
                          <a:cs typeface="+mn-cs"/>
                        </a:rPr>
                        <a:t>  </a:t>
                      </a:r>
                      <a:r>
                        <a:rPr lang="en-US" altLang="en-US" sz="1800" u="dbl" kern="1200" baseline="0" dirty="0">
                          <a:solidFill>
                            <a:schemeClr val="tx1"/>
                          </a:solidFill>
                          <a:latin typeface="+mn-lt"/>
                          <a:ea typeface="+mn-ea"/>
                          <a:cs typeface="+mn-cs"/>
                        </a:rPr>
                        <a:t>$ 560,000</a:t>
                      </a:r>
                    </a:p>
                  </a:txBody>
                  <a:tcPr marR="274320"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5974843"/>
                  </a:ext>
                </a:extLst>
              </a:tr>
            </a:tbl>
          </a:graphicData>
        </a:graphic>
      </p:graphicFrame>
    </p:spTree>
    <p:extLst>
      <p:ext uri="{BB962C8B-B14F-4D97-AF65-F5344CB8AC3E}">
        <p14:creationId xmlns:p14="http://schemas.microsoft.com/office/powerpoint/2010/main" val="2086403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 Sales</a:t>
            </a:r>
            <a:endParaRPr lang="en-US" dirty="0"/>
          </a:p>
        </p:txBody>
      </p:sp>
      <p:graphicFrame>
        <p:nvGraphicFramePr>
          <p:cNvPr id="6" name="Table 6">
            <a:extLst>
              <a:ext uri="{FF2B5EF4-FFF2-40B4-BE49-F238E27FC236}">
                <a16:creationId xmlns:a16="http://schemas.microsoft.com/office/drawing/2014/main" id="{E6411313-9E1F-495D-BD33-C7A3C8554846}"/>
              </a:ext>
            </a:extLst>
          </p:cNvPr>
          <p:cNvGraphicFramePr>
            <a:graphicFrameLocks noGrp="1"/>
          </p:cNvGraphicFramePr>
          <p:nvPr/>
        </p:nvGraphicFramePr>
        <p:xfrm>
          <a:off x="1524000" y="2687320"/>
          <a:ext cx="6096000" cy="1483360"/>
        </p:xfrm>
        <a:graphic>
          <a:graphicData uri="http://schemas.openxmlformats.org/drawingml/2006/table">
            <a:tbl>
              <a:tblPr firstRow="1" bandRow="1">
                <a:tableStyleId>{3B4B98B0-60AC-42C2-AFA5-B58CD77FA1E5}</a:tableStyleId>
              </a:tblPr>
              <a:tblGrid>
                <a:gridCol w="609600">
                  <a:extLst>
                    <a:ext uri="{9D8B030D-6E8A-4147-A177-3AD203B41FA5}">
                      <a16:colId xmlns:a16="http://schemas.microsoft.com/office/drawing/2014/main" val="3023969277"/>
                    </a:ext>
                  </a:extLst>
                </a:gridCol>
                <a:gridCol w="5486400">
                  <a:extLst>
                    <a:ext uri="{9D8B030D-6E8A-4147-A177-3AD203B41FA5}">
                      <a16:colId xmlns:a16="http://schemas.microsoft.com/office/drawing/2014/main" val="3839990997"/>
                    </a:ext>
                  </a:extLst>
                </a:gridCol>
              </a:tblGrid>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lang="en-US" altLang="en-US" sz="1800" b="0" kern="1200" dirty="0">
                        <a:solidFill>
                          <a:schemeClr val="tx1"/>
                        </a:solidFill>
                        <a:latin typeface="+mn-lt"/>
                        <a:ea typeface="+mn-ea"/>
                        <a:cs typeface="+mn-cs"/>
                      </a:endParaRP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b="0" kern="1200" dirty="0">
                          <a:solidFill>
                            <a:schemeClr val="tx1"/>
                          </a:solidFill>
                          <a:latin typeface="+mn-lt"/>
                          <a:ea typeface="+mn-ea"/>
                          <a:cs typeface="+mn-cs"/>
                        </a:rPr>
                        <a:t>Sales revenue</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188108"/>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Sales returns and allowances</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434436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Sales discounts</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7938736"/>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1800" kern="1200" dirty="0">
                          <a:solidFill>
                            <a:schemeClr val="tx1"/>
                          </a:solidFill>
                          <a:latin typeface="+mn-lt"/>
                          <a:ea typeface="+mn-ea"/>
                          <a:cs typeface="+mn-cs"/>
                        </a:rPr>
                        <a:t>Net sales</a:t>
                      </a:r>
                    </a:p>
                  </a:txBody>
                  <a:tcPr marT="45697" marB="45697"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0720618"/>
                  </a:ext>
                </a:extLst>
              </a:tr>
            </a:tbl>
          </a:graphicData>
        </a:graphic>
      </p:graphicFrame>
    </p:spTree>
    <p:extLst>
      <p:ext uri="{BB962C8B-B14F-4D97-AF65-F5344CB8AC3E}">
        <p14:creationId xmlns:p14="http://schemas.microsoft.com/office/powerpoint/2010/main" val="48500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altLang="en-US" dirty="0"/>
              <a:t>Sales Returns and Allowances </a:t>
            </a:r>
            <a:r>
              <a:rPr lang="en-US" altLang="en-US" sz="2000" b="0" dirty="0"/>
              <a:t>(1 of 4)</a:t>
            </a:r>
            <a:endParaRPr lang="en-US" sz="2000" b="0" dirty="0"/>
          </a:p>
        </p:txBody>
      </p:sp>
      <p:sp>
        <p:nvSpPr>
          <p:cNvPr id="3" name="Content Placeholder 2"/>
          <p:cNvSpPr>
            <a:spLocks noGrp="1"/>
          </p:cNvSpPr>
          <p:nvPr>
            <p:ph idx="1"/>
          </p:nvPr>
        </p:nvSpPr>
        <p:spPr/>
        <p:txBody>
          <a:bodyPr/>
          <a:lstStyle/>
          <a:p>
            <a:pPr algn="l"/>
            <a:r>
              <a:rPr lang="en-US" b="0" i="0" u="none" strike="noStrike" baseline="0" dirty="0"/>
              <a:t>Customers usually have a right to return unsatisfactory or damaged merchandise to sellers for refund, credit, or exchange, or they are granted an allowance</a:t>
            </a:r>
          </a:p>
          <a:p>
            <a:pPr algn="l"/>
            <a:r>
              <a:rPr lang="en-US" dirty="0"/>
              <a:t>W</a:t>
            </a:r>
            <a:r>
              <a:rPr lang="en-US" b="0" i="0" u="none" strike="noStrike" baseline="0" dirty="0"/>
              <a:t>hen a company sells merchandise where a right of return </a:t>
            </a:r>
            <a:r>
              <a:rPr lang="en-CA" b="0" i="0" u="none" strike="noStrike" baseline="0" dirty="0"/>
              <a:t>exists, it will do two things (see next slide)…</a:t>
            </a:r>
          </a:p>
        </p:txBody>
      </p:sp>
    </p:spTree>
    <p:extLst>
      <p:ext uri="{BB962C8B-B14F-4D97-AF65-F5344CB8AC3E}">
        <p14:creationId xmlns:p14="http://schemas.microsoft.com/office/powerpoint/2010/main" val="872295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altLang="en-US" dirty="0"/>
              <a:t>Sales Returns and Allowances </a:t>
            </a:r>
            <a:r>
              <a:rPr lang="en-US" altLang="en-US" sz="2000" b="0" dirty="0"/>
              <a:t>(2 of 4)</a:t>
            </a:r>
            <a:endParaRPr lang="en-US" sz="2000" b="0" dirty="0"/>
          </a:p>
        </p:txBody>
      </p:sp>
      <p:sp>
        <p:nvSpPr>
          <p:cNvPr id="3" name="Content Placeholder 2"/>
          <p:cNvSpPr>
            <a:spLocks noGrp="1"/>
          </p:cNvSpPr>
          <p:nvPr>
            <p:ph idx="1"/>
          </p:nvPr>
        </p:nvSpPr>
        <p:spPr/>
        <p:txBody>
          <a:bodyPr/>
          <a:lstStyle/>
          <a:p>
            <a:pPr marL="781050" indent="-514350" algn="l">
              <a:buFont typeface="+mj-lt"/>
              <a:buAutoNum type="arabicPeriod"/>
            </a:pPr>
            <a:r>
              <a:rPr lang="en-US" dirty="0"/>
              <a:t>I</a:t>
            </a:r>
            <a:r>
              <a:rPr lang="en-US" b="0" i="0" u="none" strike="noStrike" baseline="0" dirty="0"/>
              <a:t>ncrease sales revenue as well as recognize an </a:t>
            </a:r>
            <a:r>
              <a:rPr lang="en-US" b="0" i="1" u="none" strike="noStrike" baseline="0" dirty="0"/>
              <a:t>accrued liability</a:t>
            </a:r>
            <a:r>
              <a:rPr lang="en-US" b="0" i="0" u="none" strike="noStrike" baseline="0" dirty="0"/>
              <a:t>, called </a:t>
            </a:r>
            <a:r>
              <a:rPr lang="en-US" b="1" i="0" u="none" strike="noStrike" baseline="0" dirty="0"/>
              <a:t>Sales Refund Payable</a:t>
            </a:r>
            <a:r>
              <a:rPr lang="en-US" b="0" i="0" u="none" strike="noStrike" baseline="0" dirty="0"/>
              <a:t>, for the sales prices of items expected to be returned</a:t>
            </a:r>
          </a:p>
          <a:p>
            <a:pPr marL="781050" indent="-514350" algn="l">
              <a:buFont typeface="+mj-lt"/>
              <a:buAutoNum type="arabicPeriod"/>
            </a:pPr>
            <a:r>
              <a:rPr lang="en-US" dirty="0"/>
              <a:t>A</a:t>
            </a:r>
            <a:r>
              <a:rPr lang="en-US" b="0" i="0" u="none" strike="noStrike" baseline="0" dirty="0"/>
              <a:t>djust the inventory and cost of goods sold accounts for the cost of the item expected to be returned using an </a:t>
            </a:r>
            <a:r>
              <a:rPr lang="en-US" b="0" i="1" u="none" strike="noStrike" baseline="0" dirty="0"/>
              <a:t>asset </a:t>
            </a:r>
            <a:r>
              <a:rPr lang="en-US" b="0" i="0" u="none" strike="noStrike" baseline="0" dirty="0"/>
              <a:t>account called </a:t>
            </a:r>
            <a:r>
              <a:rPr lang="en-US" b="1" i="0" u="none" strike="noStrike" baseline="0" dirty="0"/>
              <a:t>Estimated Inventory Returns</a:t>
            </a:r>
            <a:endParaRPr lang="en-US" altLang="en-US" dirty="0">
              <a:ea typeface="ＭＳ Ｐゴシック" pitchFamily="34" charset="-128"/>
            </a:endParaRPr>
          </a:p>
        </p:txBody>
      </p:sp>
    </p:spTree>
    <p:extLst>
      <p:ext uri="{BB962C8B-B14F-4D97-AF65-F5344CB8AC3E}">
        <p14:creationId xmlns:p14="http://schemas.microsoft.com/office/powerpoint/2010/main" val="1421933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altLang="en-US" dirty="0"/>
              <a:t>Sales Returns and Allowances </a:t>
            </a:r>
            <a:r>
              <a:rPr lang="en-US" altLang="en-US" sz="2000" b="0" dirty="0"/>
              <a:t>(3 of 4) </a:t>
            </a:r>
            <a:endParaRPr lang="en-US" sz="2000" b="0" dirty="0"/>
          </a:p>
        </p:txBody>
      </p:sp>
      <p:graphicFrame>
        <p:nvGraphicFramePr>
          <p:cNvPr id="4" name="Table 3"/>
          <p:cNvGraphicFramePr>
            <a:graphicFrameLocks noGrp="1"/>
          </p:cNvGraphicFramePr>
          <p:nvPr>
            <p:extLst>
              <p:ext uri="{D42A27DB-BD31-4B8C-83A1-F6EECF244321}">
                <p14:modId xmlns:p14="http://schemas.microsoft.com/office/powerpoint/2010/main" val="3568775884"/>
              </p:ext>
            </p:extLst>
          </p:nvPr>
        </p:nvGraphicFramePr>
        <p:xfrm>
          <a:off x="381000" y="1510749"/>
          <a:ext cx="8458200" cy="4439272"/>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l"/>
                      <a:r>
                        <a:rPr lang="en-US" sz="1800" b="1" dirty="0"/>
                        <a:t>To record the sale of goods:</a:t>
                      </a:r>
                    </a:p>
                  </a:txBody>
                  <a:tcPr marT="45713" marB="45713">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960044974"/>
                  </a:ext>
                </a:extLst>
              </a:tr>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Cash, or Accounts Receivable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200,000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Sales Revenue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198,000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Sales Refund Payable ($200,000 × 1%)</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2,000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03963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Record the </a:t>
                      </a:r>
                      <a:r>
                        <a:rPr lang="en-US" sz="1700" i="0" dirty="0"/>
                        <a:t>price</a:t>
                      </a:r>
                      <a:r>
                        <a:rPr lang="en-US" sz="1700" i="1" dirty="0"/>
                        <a:t> of product expected to be returned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66234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Cost of Goods Sold</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118,800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solidFill>
                            <a:schemeClr val="tx1"/>
                          </a:solidFill>
                          <a:latin typeface="+mn-lt"/>
                          <a:ea typeface="+mn-ea"/>
                          <a:cs typeface="+mn-cs"/>
                        </a:rPr>
                        <a:t>Inventory Returns Estimated ($120,000 </a:t>
                      </a:r>
                      <a:r>
                        <a:rPr lang="en-US" sz="1800" dirty="0"/>
                        <a:t>× 1%)</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1,200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110028"/>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Inventory</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120,000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Record the </a:t>
                      </a:r>
                      <a:r>
                        <a:rPr lang="en-US" sz="1700" i="0" dirty="0"/>
                        <a:t>cost</a:t>
                      </a:r>
                      <a:r>
                        <a:rPr lang="en-US" sz="1700" i="1" dirty="0"/>
                        <a:t> of product expected to be returned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3370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458200" cy="1097280"/>
          </a:xfrm>
        </p:spPr>
        <p:txBody>
          <a:bodyPr/>
          <a:lstStyle/>
          <a:p>
            <a:r>
              <a:rPr lang="en-US" altLang="en-US" dirty="0"/>
              <a:t>Sales Returns and Allowances </a:t>
            </a:r>
            <a:r>
              <a:rPr lang="en-US" altLang="en-US" sz="2000" b="0" dirty="0"/>
              <a:t>(4 of 4) </a:t>
            </a:r>
            <a:endParaRPr lang="en-US" sz="2000" b="0" dirty="0"/>
          </a:p>
        </p:txBody>
      </p:sp>
      <p:graphicFrame>
        <p:nvGraphicFramePr>
          <p:cNvPr id="4" name="Table 3"/>
          <p:cNvGraphicFramePr>
            <a:graphicFrameLocks noGrp="1"/>
          </p:cNvGraphicFramePr>
          <p:nvPr/>
        </p:nvGraphicFramePr>
        <p:xfrm>
          <a:off x="381000" y="1828800"/>
          <a:ext cx="8458200" cy="3697716"/>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l"/>
                      <a:r>
                        <a:rPr lang="en-US" sz="1800" b="1" dirty="0"/>
                        <a:t>To record the return of goods:</a:t>
                      </a:r>
                    </a:p>
                  </a:txBody>
                  <a:tcPr marT="45713" marB="45713">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960044974"/>
                  </a:ext>
                </a:extLst>
              </a:tr>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Sales Refund Payable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Cash, or Accounts Receivable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03963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To record the </a:t>
                      </a:r>
                      <a:r>
                        <a:rPr lang="en-US" sz="1700" i="0" dirty="0"/>
                        <a:t>price</a:t>
                      </a:r>
                      <a:r>
                        <a:rPr lang="en-US" sz="1700" i="1" dirty="0"/>
                        <a:t> of product returned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66234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Inventory </a:t>
                      </a:r>
                      <a:r>
                        <a:rPr lang="en-US" sz="1800" kern="1200" dirty="0">
                          <a:solidFill>
                            <a:schemeClr val="tx1"/>
                          </a:solidFill>
                          <a:latin typeface="+mn-lt"/>
                          <a:ea typeface="+mn-ea"/>
                          <a:cs typeface="+mn-cs"/>
                        </a:rPr>
                        <a:t>($500 </a:t>
                      </a:r>
                      <a:r>
                        <a:rPr lang="en-US" sz="1800" dirty="0"/>
                        <a:t>× 60%)</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300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Inventory Returns Estimated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300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To record the </a:t>
                      </a:r>
                      <a:r>
                        <a:rPr lang="en-US" sz="1700" i="0" dirty="0"/>
                        <a:t>cost</a:t>
                      </a:r>
                      <a:r>
                        <a:rPr lang="en-US" sz="1700" i="1" dirty="0"/>
                        <a:t> of product returned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711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Sales Discounts </a:t>
            </a:r>
            <a:r>
              <a:rPr lang="en-US" altLang="en-US" sz="2000" b="0" dirty="0"/>
              <a:t>(1 of 2)</a:t>
            </a:r>
            <a:endParaRPr lang="en-US" sz="2000" b="0" dirty="0"/>
          </a:p>
        </p:txBody>
      </p:sp>
      <p:sp>
        <p:nvSpPr>
          <p:cNvPr id="3" name="Content Placeholder 2"/>
          <p:cNvSpPr>
            <a:spLocks noGrp="1"/>
          </p:cNvSpPr>
          <p:nvPr>
            <p:ph idx="1"/>
          </p:nvPr>
        </p:nvSpPr>
        <p:spPr>
          <a:xfrm>
            <a:off x="457200" y="1600201"/>
            <a:ext cx="8229600" cy="1097280"/>
          </a:xfrm>
        </p:spPr>
        <p:txBody>
          <a:bodyPr>
            <a:normAutofit lnSpcReduction="10000"/>
          </a:bodyPr>
          <a:lstStyle/>
          <a:p>
            <a:pPr algn="l"/>
            <a:r>
              <a:rPr lang="en-CA" b="0" i="0" u="none" strike="noStrike" baseline="0" dirty="0"/>
              <a:t>Sales terms of 2/10, n/30 mean the seller will discount the amount of the order if the buyer pays within 10 days; otherwise, the full amount is due in 30 days</a:t>
            </a:r>
          </a:p>
        </p:txBody>
      </p:sp>
      <p:graphicFrame>
        <p:nvGraphicFramePr>
          <p:cNvPr id="6" name="Table 5">
            <a:extLst>
              <a:ext uri="{FF2B5EF4-FFF2-40B4-BE49-F238E27FC236}">
                <a16:creationId xmlns:a16="http://schemas.microsoft.com/office/drawing/2014/main" id="{A9C0368A-5E23-A8EA-7211-33CEB6B3E8A3}"/>
              </a:ext>
            </a:extLst>
          </p:cNvPr>
          <p:cNvGraphicFramePr>
            <a:graphicFrameLocks noGrp="1"/>
          </p:cNvGraphicFramePr>
          <p:nvPr/>
        </p:nvGraphicFramePr>
        <p:xfrm>
          <a:off x="477456" y="2819400"/>
          <a:ext cx="8458200" cy="3331970"/>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Accounts Receivable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Sales Revenue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03963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Record sale on account, payment terms 2/10, n/30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332659"/>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Cost of Goods Sold</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600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Inventory</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600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To record the cost of inventory sold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6577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Sales Discounts </a:t>
            </a:r>
            <a:r>
              <a:rPr lang="en-US" altLang="en-US" sz="2000" b="0" dirty="0"/>
              <a:t>(2 of 2)</a:t>
            </a:r>
            <a:endParaRPr lang="en-US" sz="2000" b="0" dirty="0"/>
          </a:p>
        </p:txBody>
      </p:sp>
      <p:graphicFrame>
        <p:nvGraphicFramePr>
          <p:cNvPr id="6" name="Table 5">
            <a:extLst>
              <a:ext uri="{FF2B5EF4-FFF2-40B4-BE49-F238E27FC236}">
                <a16:creationId xmlns:a16="http://schemas.microsoft.com/office/drawing/2014/main" id="{A9C0368A-5E23-A8EA-7211-33CEB6B3E8A3}"/>
              </a:ext>
            </a:extLst>
          </p:cNvPr>
          <p:cNvGraphicFramePr>
            <a:graphicFrameLocks noGrp="1"/>
          </p:cNvGraphicFramePr>
          <p:nvPr/>
        </p:nvGraphicFramePr>
        <p:xfrm>
          <a:off x="342900" y="1600200"/>
          <a:ext cx="8458200" cy="4855942"/>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If paid within 10 days, there is a $30 discount: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5630500"/>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Cash</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1,470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Sales Discounts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30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077248"/>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Accounts Receivable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03963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To record collection of account receivable, less 2% discount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8332659"/>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b="1" kern="1200" dirty="0">
                          <a:solidFill>
                            <a:schemeClr val="tx1"/>
                          </a:solidFill>
                          <a:latin typeface="+mn-lt"/>
                          <a:ea typeface="+mn-ea"/>
                          <a:cs typeface="+mn-cs"/>
                        </a:rPr>
                        <a:t>If paid after 10 days, full amount must be paid: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2636230"/>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Cash</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Accounts Receivable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1,500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To record collection of cash on account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0103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Apply </a:t>
            </a:r>
            <a:r>
              <a:rPr lang="en-US" altLang="en-US" dirty="0">
                <a:ea typeface="ＭＳ Ｐゴシック" pitchFamily="34" charset="-128"/>
              </a:rPr>
              <a:t>and</a:t>
            </a:r>
            <a:r>
              <a:rPr lang="en-US" altLang="en-US" b="1" dirty="0">
                <a:ea typeface="ＭＳ Ｐゴシック" pitchFamily="34" charset="-128"/>
              </a:rPr>
              <a:t> compare </a:t>
            </a:r>
            <a:r>
              <a:rPr lang="en-US" altLang="en-US" dirty="0">
                <a:ea typeface="ＭＳ Ｐゴシック" pitchFamily="34" charset="-128"/>
              </a:rPr>
              <a:t>various inventory costing methods</a:t>
            </a:r>
            <a:endParaRPr lang="en-US" dirty="0"/>
          </a:p>
        </p:txBody>
      </p:sp>
    </p:spTree>
    <p:extLst>
      <p:ext uri="{BB962C8B-B14F-4D97-AF65-F5344CB8AC3E}">
        <p14:creationId xmlns:p14="http://schemas.microsoft.com/office/powerpoint/2010/main" val="59326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Inventory Costing Methods</a:t>
            </a:r>
            <a:endParaRPr lang="en-US" dirty="0"/>
          </a:p>
        </p:txBody>
      </p:sp>
      <p:sp>
        <p:nvSpPr>
          <p:cNvPr id="4" name="Text Placeholder 3"/>
          <p:cNvSpPr>
            <a:spLocks noGrp="1"/>
          </p:cNvSpPr>
          <p:nvPr>
            <p:ph type="body" idx="1"/>
          </p:nvPr>
        </p:nvSpPr>
        <p:spPr>
          <a:xfrm>
            <a:off x="1600200" y="2133600"/>
            <a:ext cx="2743200" cy="1828800"/>
          </a:xfrm>
        </p:spPr>
        <p:txBody>
          <a:bodyPr/>
          <a:lstStyle/>
          <a:p>
            <a:pPr lvl="0"/>
            <a:r>
              <a:rPr lang="en-US" sz="2400" dirty="0"/>
              <a:t>Specific identification cost</a:t>
            </a:r>
          </a:p>
        </p:txBody>
      </p:sp>
      <p:sp>
        <p:nvSpPr>
          <p:cNvPr id="5" name="Content Placeholder 4"/>
          <p:cNvSpPr>
            <a:spLocks noGrp="1"/>
          </p:cNvSpPr>
          <p:nvPr>
            <p:ph sz="half" idx="2"/>
          </p:nvPr>
        </p:nvSpPr>
        <p:spPr>
          <a:xfrm>
            <a:off x="4831080" y="2133600"/>
            <a:ext cx="2743200" cy="1828800"/>
          </a:xfrm>
        </p:spPr>
        <p:txBody>
          <a:bodyPr/>
          <a:lstStyle/>
          <a:p>
            <a:pPr marL="0" lvl="0" indent="0"/>
            <a:r>
              <a:rPr lang="en-US" sz="2400" dirty="0"/>
              <a:t>Weighted-average cost</a:t>
            </a:r>
          </a:p>
        </p:txBody>
      </p:sp>
      <p:sp>
        <p:nvSpPr>
          <p:cNvPr id="6" name="Text Placeholder 5"/>
          <p:cNvSpPr>
            <a:spLocks noGrp="1"/>
          </p:cNvSpPr>
          <p:nvPr>
            <p:ph type="body" sz="quarter" idx="3"/>
          </p:nvPr>
        </p:nvSpPr>
        <p:spPr>
          <a:xfrm>
            <a:off x="3200400" y="4267200"/>
            <a:ext cx="2743200" cy="1828800"/>
          </a:xfrm>
        </p:spPr>
        <p:txBody>
          <a:bodyPr/>
          <a:lstStyle/>
          <a:p>
            <a:pPr lvl="0"/>
            <a:r>
              <a:rPr lang="en-US" sz="2400" dirty="0"/>
              <a:t>First-in, first-out</a:t>
            </a:r>
          </a:p>
          <a:p>
            <a:pPr lvl="0"/>
            <a:r>
              <a:rPr lang="en-US" sz="2400" dirty="0"/>
              <a:t>(FIFO) cost</a:t>
            </a:r>
          </a:p>
        </p:txBody>
      </p:sp>
    </p:spTree>
    <p:extLst>
      <p:ext uri="{BB962C8B-B14F-4D97-AF65-F5344CB8AC3E}">
        <p14:creationId xmlns:p14="http://schemas.microsoft.com/office/powerpoint/2010/main" val="569709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Specific Identification Cost</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Used for businesses with unique inventory items</a:t>
            </a:r>
          </a:p>
          <a:p>
            <a:pPr lvl="1"/>
            <a:r>
              <a:rPr lang="en-US" altLang="en-US" dirty="0">
                <a:ea typeface="ＭＳ Ｐゴシック" pitchFamily="34" charset="-128"/>
              </a:rPr>
              <a:t>Automobiles, antique furniture, jewels, and real estate</a:t>
            </a:r>
          </a:p>
          <a:p>
            <a:r>
              <a:rPr lang="en-US" altLang="en-US" dirty="0">
                <a:ea typeface="ＭＳ Ｐゴシック" pitchFamily="34" charset="-128"/>
              </a:rPr>
              <a:t>Businesses cost their inventories at the specific cost of the particular unit</a:t>
            </a:r>
          </a:p>
          <a:p>
            <a:r>
              <a:rPr lang="en-US" altLang="en-US" dirty="0">
                <a:ea typeface="ＭＳ Ｐゴシック" pitchFamily="34" charset="-128"/>
              </a:rPr>
              <a:t>Too expensive for inventories with common characteristics</a:t>
            </a:r>
            <a:endParaRPr lang="en-US" dirty="0"/>
          </a:p>
        </p:txBody>
      </p:sp>
    </p:spTree>
    <p:extLst>
      <p:ext uri="{BB962C8B-B14F-4D97-AF65-F5344CB8AC3E}">
        <p14:creationId xmlns:p14="http://schemas.microsoft.com/office/powerpoint/2010/main" val="10809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Illustration of Weighted Average and FIFO Costing </a:t>
            </a:r>
            <a:endParaRPr lang="en-US" b="0" dirty="0"/>
          </a:p>
        </p:txBody>
      </p:sp>
      <p:sp>
        <p:nvSpPr>
          <p:cNvPr id="3" name="Content Placeholder 2"/>
          <p:cNvSpPr>
            <a:spLocks noGrp="1"/>
          </p:cNvSpPr>
          <p:nvPr>
            <p:ph idx="1"/>
          </p:nvPr>
        </p:nvSpPr>
        <p:spPr>
          <a:xfrm>
            <a:off x="457200" y="1600201"/>
            <a:ext cx="8229600" cy="1752597"/>
          </a:xfrm>
        </p:spPr>
        <p:txBody>
          <a:bodyPr>
            <a:normAutofit lnSpcReduction="10000"/>
          </a:bodyPr>
          <a:lstStyle/>
          <a:p>
            <a:pPr marL="0" indent="0">
              <a:buNone/>
            </a:pPr>
            <a:r>
              <a:rPr lang="en-US" altLang="en-US" dirty="0">
                <a:ea typeface="ＭＳ Ｐゴシック" pitchFamily="34" charset="-128"/>
              </a:rPr>
              <a:t>Leon</a:t>
            </a:r>
            <a:r>
              <a:rPr lang="en-US" altLang="en-US" dirty="0"/>
              <a:t>’</a:t>
            </a:r>
            <a:r>
              <a:rPr lang="en-US" altLang="ja-JP" dirty="0">
                <a:ea typeface="ＭＳ Ｐゴシック" pitchFamily="34" charset="-128"/>
              </a:rPr>
              <a:t>s began the period with 10 lamps that cost </a:t>
            </a:r>
            <a:r>
              <a:rPr lang="en-US" altLang="en-US" dirty="0">
                <a:ea typeface="ＭＳ Ｐゴシック" pitchFamily="34" charset="-128"/>
              </a:rPr>
              <a:t>$11 each; the beginning inventory was therefore $110. </a:t>
            </a:r>
          </a:p>
          <a:p>
            <a:pPr marL="0" indent="0">
              <a:buNone/>
            </a:pPr>
            <a:r>
              <a:rPr lang="en-US" altLang="en-US" dirty="0">
                <a:ea typeface="ＭＳ Ｐゴシック" pitchFamily="34" charset="-128"/>
              </a:rPr>
              <a:t>During the period, Leon</a:t>
            </a:r>
            <a:r>
              <a:rPr lang="en-US" altLang="en-US" dirty="0"/>
              <a:t>’</a:t>
            </a:r>
            <a:r>
              <a:rPr lang="ja-JP" altLang="en-US" dirty="0">
                <a:ea typeface="ＭＳ Ｐゴシック" pitchFamily="34" charset="-128"/>
              </a:rPr>
              <a:t> </a:t>
            </a:r>
            <a:r>
              <a:rPr lang="en-US" altLang="ja-JP" dirty="0">
                <a:ea typeface="ＭＳ Ｐゴシック" pitchFamily="34" charset="-128"/>
              </a:rPr>
              <a:t>s bought 50 more lamps, </a:t>
            </a:r>
            <a:r>
              <a:rPr lang="en-US" altLang="en-US" dirty="0">
                <a:ea typeface="ＭＳ Ｐゴシック" pitchFamily="34" charset="-128"/>
              </a:rPr>
              <a:t>sold 40 lamps, and ended the period with 20 lamps.</a:t>
            </a:r>
            <a:endParaRPr lang="en-US" dirty="0">
              <a:ea typeface="ＭＳ Ｐゴシック" pitchFamily="34" charset="-128"/>
            </a:endParaRPr>
          </a:p>
        </p:txBody>
      </p:sp>
      <p:graphicFrame>
        <p:nvGraphicFramePr>
          <p:cNvPr id="4" name="Table 3"/>
          <p:cNvGraphicFramePr>
            <a:graphicFrameLocks noGrp="1"/>
          </p:cNvGraphicFramePr>
          <p:nvPr/>
        </p:nvGraphicFramePr>
        <p:xfrm>
          <a:off x="244793" y="3505199"/>
          <a:ext cx="8654415" cy="2834641"/>
        </p:xfrm>
        <a:graphic>
          <a:graphicData uri="http://schemas.openxmlformats.org/drawingml/2006/table">
            <a:tbl>
              <a:tblPr firstRow="1" bandRow="1">
                <a:tableStyleId>{2D5ABB26-0587-4C30-8999-92F81FD0307C}</a:tableStyleId>
              </a:tblPr>
              <a:tblGrid>
                <a:gridCol w="3570986">
                  <a:extLst>
                    <a:ext uri="{9D8B030D-6E8A-4147-A177-3AD203B41FA5}">
                      <a16:colId xmlns:a16="http://schemas.microsoft.com/office/drawing/2014/main" val="20000"/>
                    </a:ext>
                  </a:extLst>
                </a:gridCol>
                <a:gridCol w="809942">
                  <a:extLst>
                    <a:ext uri="{9D8B030D-6E8A-4147-A177-3AD203B41FA5}">
                      <a16:colId xmlns:a16="http://schemas.microsoft.com/office/drawing/2014/main" val="20001"/>
                    </a:ext>
                  </a:extLst>
                </a:gridCol>
                <a:gridCol w="3545205">
                  <a:extLst>
                    <a:ext uri="{9D8B030D-6E8A-4147-A177-3AD203B41FA5}">
                      <a16:colId xmlns:a16="http://schemas.microsoft.com/office/drawing/2014/main" val="20002"/>
                    </a:ext>
                  </a:extLst>
                </a:gridCol>
                <a:gridCol w="728282">
                  <a:extLst>
                    <a:ext uri="{9D8B030D-6E8A-4147-A177-3AD203B41FA5}">
                      <a16:colId xmlns:a16="http://schemas.microsoft.com/office/drawing/2014/main" val="20003"/>
                    </a:ext>
                  </a:extLst>
                </a:gridCol>
              </a:tblGrid>
              <a:tr h="477748">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mn-lt"/>
                          <a:ea typeface="+mn-ea"/>
                          <a:cs typeface="Arial" panose="020B0604020202020204" pitchFamily="34" charset="0"/>
                        </a:rPr>
                        <a:t>Inventory</a:t>
                      </a:r>
                      <a:endParaRPr lang="en-US" sz="24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03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latin typeface="+mn-lt"/>
                          <a:ea typeface="+mn-ea"/>
                          <a:cs typeface="+mn-cs"/>
                        </a:rPr>
                        <a:t>Beginning bal. (10 units @ $11 )</a:t>
                      </a:r>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110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50349">
                <a:tc>
                  <a:txBody>
                    <a:bodyPr/>
                    <a:lstStyle/>
                    <a:p>
                      <a:r>
                        <a:rPr lang="en-US" sz="1600" dirty="0">
                          <a:latin typeface="+mn-lt"/>
                          <a:ea typeface="+mn-ea"/>
                          <a:cs typeface="Arial" panose="020B0604020202020204" pitchFamily="34" charset="0"/>
                        </a:rPr>
                        <a:t>Purchases:</a:t>
                      </a:r>
                      <a:endParaRPr lang="en-US" sz="1600" dirty="0"/>
                    </a:p>
                  </a:txBody>
                  <a:tcPr>
                    <a:lnR w="12700" cap="flat" cmpd="sng" algn="ctr">
                      <a:noFill/>
                      <a:prstDash val="solid"/>
                      <a:round/>
                      <a:headEnd type="none" w="med" len="med"/>
                      <a:tailEnd type="none" w="med" len="med"/>
                    </a:lnR>
                  </a:tcPr>
                </a:tc>
                <a:tc>
                  <a:txBody>
                    <a:bodyPr/>
                    <a:lstStyle/>
                    <a:p>
                      <a:pPr algn="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Cost of goods sold:   (40 units @ $?)</a:t>
                      </a: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a:t>
                      </a: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2"/>
                  </a:ext>
                </a:extLst>
              </a:tr>
              <a:tr h="350349">
                <a:tc>
                  <a:txBody>
                    <a:bodyPr/>
                    <a:lstStyle/>
                    <a:p>
                      <a:r>
                        <a:rPr lang="en-US" sz="1600" dirty="0">
                          <a:latin typeface="+mn-lt"/>
                          <a:ea typeface="+mn-ea"/>
                          <a:cs typeface="Arial" panose="020B0604020202020204" pitchFamily="34" charset="0"/>
                        </a:rPr>
                        <a:t>No. 1 	      (20 units @ $14)</a:t>
                      </a:r>
                      <a:endParaRPr lang="en-US" sz="1600" dirty="0"/>
                    </a:p>
                  </a:txBody>
                  <a:tcPr>
                    <a:lnR w="12700" cap="flat" cmpd="sng" algn="ctr">
                      <a:noFill/>
                      <a:prstDash val="solid"/>
                      <a:round/>
                      <a:headEnd type="none" w="med" len="med"/>
                      <a:tailEnd type="none" w="med" len="med"/>
                    </a:lnR>
                  </a:tcPr>
                </a:tc>
                <a:tc>
                  <a:txBody>
                    <a:bodyPr/>
                    <a:lstStyle/>
                    <a:p>
                      <a:pPr algn="r"/>
                      <a:r>
                        <a:rPr lang="en-US" sz="1600" dirty="0">
                          <a:latin typeface="+mn-lt"/>
                          <a:ea typeface="+mn-ea"/>
                          <a:cs typeface="Arial" panose="020B0604020202020204" pitchFamily="34" charset="0"/>
                        </a:rPr>
                        <a:t>280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3"/>
                  </a:ext>
                </a:extLst>
              </a:tr>
              <a:tr h="605148">
                <a:tc>
                  <a:txBody>
                    <a:bodyPr/>
                    <a:lstStyle/>
                    <a:p>
                      <a:r>
                        <a:rPr lang="en-US" sz="1600" dirty="0">
                          <a:latin typeface="+mn-lt"/>
                          <a:ea typeface="+mn-ea"/>
                          <a:cs typeface="Arial" panose="020B0604020202020204" pitchFamily="34" charset="0"/>
                        </a:rPr>
                        <a:t>No. 2             (15 units @ $16)</a:t>
                      </a:r>
                    </a:p>
                    <a:p>
                      <a:r>
                        <a:rPr lang="en-US" sz="1600" dirty="0">
                          <a:latin typeface="+mn-lt"/>
                          <a:ea typeface="+mn-ea"/>
                          <a:cs typeface="Arial" panose="020B0604020202020204" pitchFamily="34" charset="0"/>
                        </a:rPr>
                        <a:t>No. 3	     (15 units @ $18)</a:t>
                      </a:r>
                      <a:endParaRPr lang="en-US" sz="1600" dirty="0"/>
                    </a:p>
                  </a:txBody>
                  <a:tcPr>
                    <a:lnR w="12700" cap="flat" cmpd="sng" algn="ctr">
                      <a:noFill/>
                      <a:prstDash val="solid"/>
                      <a:round/>
                      <a:headEnd type="none" w="med" len="med"/>
                      <a:tailEnd type="none" w="med" len="med"/>
                    </a:lnR>
                  </a:tcPr>
                </a:tc>
                <a:tc>
                  <a:txBody>
                    <a:bodyPr/>
                    <a:lstStyle/>
                    <a:p>
                      <a:pPr algn="r"/>
                      <a:r>
                        <a:rPr lang="en-US" sz="1600" u="none" dirty="0">
                          <a:latin typeface="+mn-lt"/>
                          <a:ea typeface="+mn-ea"/>
                          <a:cs typeface="Arial" panose="020B0604020202020204" pitchFamily="34" charset="0"/>
                        </a:rPr>
                        <a:t>  240</a:t>
                      </a:r>
                    </a:p>
                    <a:p>
                      <a:pPr algn="r"/>
                      <a:r>
                        <a:rPr lang="en-US" sz="1600" u="sng" dirty="0">
                          <a:latin typeface="+mn-lt"/>
                          <a:ea typeface="+mn-ea"/>
                          <a:cs typeface="Arial" panose="020B0604020202020204" pitchFamily="34" charset="0"/>
                        </a:rPr>
                        <a:t>270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4"/>
                  </a:ext>
                </a:extLst>
              </a:tr>
              <a:tr h="350349">
                <a:tc>
                  <a:txBody>
                    <a:bodyPr/>
                    <a:lstStyle/>
                    <a:p>
                      <a:endParaRPr lang="en-US" sz="1600" dirty="0"/>
                    </a:p>
                  </a:txBody>
                  <a:tcPr>
                    <a:lnR w="12700"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algn="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0349">
                <a:tc>
                  <a:txBody>
                    <a:bodyPr/>
                    <a:lstStyle/>
                    <a:p>
                      <a:r>
                        <a:rPr lang="en-US" sz="1600" dirty="0">
                          <a:ea typeface="+mn-ea"/>
                          <a:cs typeface="Arial" panose="020B0604020202020204" pitchFamily="34" charset="0"/>
                        </a:rPr>
                        <a:t>Ending bal.    (20 units @ $?)</a:t>
                      </a:r>
                      <a:endParaRPr lang="en-US" sz="1600" dirty="0"/>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r>
                        <a:rPr lang="en-US" sz="1600" u="sng" dirty="0">
                          <a:ea typeface="+mn-ea"/>
                          <a:cs typeface="Arial" panose="020B0604020202020204" pitchFamily="34" charset="0"/>
                        </a:rPr>
                        <a:t>        ?</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36619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Illustration of Weighted-Average and FIFO Costing Methods</a:t>
            </a:r>
            <a:endParaRPr lang="en-US" b="0" dirty="0"/>
          </a:p>
        </p:txBody>
      </p:sp>
      <p:sp>
        <p:nvSpPr>
          <p:cNvPr id="3" name="Content Placeholder 2"/>
          <p:cNvSpPr>
            <a:spLocks noGrp="1"/>
          </p:cNvSpPr>
          <p:nvPr>
            <p:ph idx="1"/>
          </p:nvPr>
        </p:nvSpPr>
        <p:spPr/>
        <p:txBody>
          <a:bodyPr/>
          <a:lstStyle/>
          <a:p>
            <a:pPr marL="0" indent="0" algn="ctr" defTabSz="457200">
              <a:buNone/>
              <a:defRPr/>
            </a:pPr>
            <a:r>
              <a:rPr lang="en-US" sz="2800" dirty="0">
                <a:cs typeface="Arial" panose="020B0604020202020204" pitchFamily="34" charset="0"/>
              </a:rPr>
              <a:t>The big accounting questions are:</a:t>
            </a:r>
          </a:p>
          <a:p>
            <a:pPr marL="402336" indent="-402336" defTabSz="457200">
              <a:spcAft>
                <a:spcPts val="1500"/>
              </a:spcAft>
              <a:buFontTx/>
              <a:buAutoNum type="arabicPeriod"/>
              <a:defRPr/>
            </a:pPr>
            <a:r>
              <a:rPr lang="en-US" dirty="0">
                <a:cs typeface="Arial" panose="020B0604020202020204" pitchFamily="34" charset="0"/>
              </a:rPr>
              <a:t>What is the cost of goods sold for the income statement?</a:t>
            </a:r>
          </a:p>
          <a:p>
            <a:pPr marL="402336" indent="-402336" defTabSz="457200">
              <a:spcAft>
                <a:spcPts val="1500"/>
              </a:spcAft>
              <a:buFontTx/>
              <a:buAutoNum type="arabicPeriod"/>
              <a:defRPr/>
            </a:pPr>
            <a:r>
              <a:rPr lang="en-US" dirty="0">
                <a:cs typeface="Arial" panose="020B0604020202020204" pitchFamily="34" charset="0"/>
              </a:rPr>
              <a:t>What is the cost of the ending inventory for the balance sheet?</a:t>
            </a:r>
            <a:endParaRPr lang="en-US" dirty="0"/>
          </a:p>
        </p:txBody>
      </p:sp>
    </p:spTree>
    <p:extLst>
      <p:ext uri="{BB962C8B-B14F-4D97-AF65-F5344CB8AC3E}">
        <p14:creationId xmlns:p14="http://schemas.microsoft.com/office/powerpoint/2010/main" val="158410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First-in, First-out (FIFO)</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Oldest items assumed to be sold first</a:t>
            </a:r>
          </a:p>
          <a:p>
            <a:r>
              <a:rPr lang="en-US" altLang="en-US" dirty="0">
                <a:ea typeface="ＭＳ Ｐゴシック" pitchFamily="34" charset="-128"/>
              </a:rPr>
              <a:t>Ending inventory consists of most recent purchase costs</a:t>
            </a:r>
            <a:endParaRPr lang="en-US" dirty="0"/>
          </a:p>
        </p:txBody>
      </p:sp>
    </p:spTree>
    <p:extLst>
      <p:ext uri="{BB962C8B-B14F-4D97-AF65-F5344CB8AC3E}">
        <p14:creationId xmlns:p14="http://schemas.microsoft.com/office/powerpoint/2010/main" val="3084174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First-In, First-Out </a:t>
            </a:r>
            <a:r>
              <a:rPr lang="en-US" altLang="en-US" sz="2000" b="0" dirty="0"/>
              <a:t>(1 of 2) </a:t>
            </a:r>
            <a:endParaRPr lang="en-US" sz="2000" b="0" dirty="0"/>
          </a:p>
        </p:txBody>
      </p:sp>
      <p:sp>
        <p:nvSpPr>
          <p:cNvPr id="12" name="Text Placeholder 11"/>
          <p:cNvSpPr>
            <a:spLocks noGrp="1"/>
          </p:cNvSpPr>
          <p:nvPr>
            <p:ph type="body" idx="18"/>
          </p:nvPr>
        </p:nvSpPr>
        <p:spPr>
          <a:xfrm>
            <a:off x="457200" y="1457450"/>
            <a:ext cx="8229600" cy="1230886"/>
          </a:xfrm>
        </p:spPr>
        <p:txBody>
          <a:bodyPr/>
          <a:lstStyle/>
          <a:p>
            <a:pPr marL="0" indent="0">
              <a:buNone/>
            </a:pPr>
            <a:r>
              <a:rPr lang="en-US" dirty="0">
                <a:cs typeface="Arial" panose="020B0604020202020204" pitchFamily="34" charset="0"/>
              </a:rPr>
              <a:t>Sold 40 units: 10 from the beginning balance; 20 from the first group purchased; 10 from the second group purchased</a:t>
            </a:r>
            <a:endParaRPr lang="en-US" dirty="0"/>
          </a:p>
        </p:txBody>
      </p:sp>
      <p:sp>
        <p:nvSpPr>
          <p:cNvPr id="6" name="TextBox 5"/>
          <p:cNvSpPr txBox="1"/>
          <p:nvPr/>
        </p:nvSpPr>
        <p:spPr>
          <a:xfrm>
            <a:off x="228599" y="3172394"/>
            <a:ext cx="3709341" cy="2862322"/>
          </a:xfrm>
          <a:prstGeom prst="rect">
            <a:avLst/>
          </a:prstGeom>
          <a:noFill/>
        </p:spPr>
        <p:txBody>
          <a:bodyPr wrap="square" rtlCol="0">
            <a:spAutoFit/>
          </a:bodyPr>
          <a:lstStyle/>
          <a:p>
            <a:pPr algn="ctr"/>
            <a:r>
              <a:rPr lang="en-US" altLang="en-US" sz="3200" dirty="0">
                <a:solidFill>
                  <a:srgbClr val="000000"/>
                </a:solidFill>
              </a:rPr>
              <a:t>Cost of Goods Sold</a:t>
            </a:r>
          </a:p>
          <a:p>
            <a:pPr algn="ctr"/>
            <a:r>
              <a:rPr lang="en-US" altLang="en-US" sz="3200" dirty="0">
                <a:solidFill>
                  <a:srgbClr val="000000"/>
                </a:solidFill>
              </a:rPr>
              <a:t>                       $110</a:t>
            </a:r>
          </a:p>
          <a:p>
            <a:pPr algn="ctr"/>
            <a:r>
              <a:rPr lang="en-US" altLang="en-US" sz="3200" dirty="0">
                <a:solidFill>
                  <a:srgbClr val="000000"/>
                </a:solidFill>
              </a:rPr>
              <a:t>                        280</a:t>
            </a:r>
          </a:p>
          <a:p>
            <a:pPr algn="ctr"/>
            <a:r>
              <a:rPr lang="en-US" altLang="en-US" sz="3200" b="1" i="1" dirty="0">
                <a:solidFill>
                  <a:srgbClr val="161616"/>
                </a:solidFill>
              </a:rPr>
              <a:t>                       </a:t>
            </a:r>
            <a:r>
              <a:rPr lang="en-US" altLang="en-US" sz="3200" u="sng" dirty="0">
                <a:solidFill>
                  <a:srgbClr val="161616"/>
                </a:solidFill>
              </a:rPr>
              <a:t>160</a:t>
            </a:r>
            <a:r>
              <a:rPr lang="en-US" altLang="en-US" sz="3200" b="1" i="1" dirty="0">
                <a:solidFill>
                  <a:srgbClr val="161616"/>
                </a:solidFill>
              </a:rPr>
              <a:t> </a:t>
            </a:r>
          </a:p>
          <a:p>
            <a:pPr algn="ctr"/>
            <a:r>
              <a:rPr lang="en-US" altLang="en-US" sz="3200" b="1" i="1" dirty="0">
                <a:solidFill>
                  <a:srgbClr val="161616"/>
                </a:solidFill>
              </a:rPr>
              <a:t>                     </a:t>
            </a:r>
            <a:r>
              <a:rPr lang="en-US" altLang="en-US" sz="3200" b="1" dirty="0">
                <a:solidFill>
                  <a:srgbClr val="161616"/>
                </a:solidFill>
              </a:rPr>
              <a:t>$550 </a:t>
            </a:r>
          </a:p>
          <a:p>
            <a:endParaRPr lang="en-CA" sz="2000" dirty="0"/>
          </a:p>
        </p:txBody>
      </p:sp>
      <p:cxnSp>
        <p:nvCxnSpPr>
          <p:cNvPr id="15" name="Elbow Connector 14"/>
          <p:cNvCxnSpPr/>
          <p:nvPr/>
        </p:nvCxnSpPr>
        <p:spPr>
          <a:xfrm rot="10800000" flipV="1">
            <a:off x="3948534" y="3323147"/>
            <a:ext cx="2085130" cy="611246"/>
          </a:xfrm>
          <a:prstGeom prst="bentConnector3">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
          </p:nvPr>
        </p:nvSpPr>
        <p:spPr>
          <a:xfrm>
            <a:off x="6128602" y="2799304"/>
            <a:ext cx="2560320" cy="914400"/>
          </a:xfrm>
        </p:spPr>
        <p:txBody>
          <a:bodyPr/>
          <a:lstStyle/>
          <a:p>
            <a:r>
              <a:rPr lang="en-US" sz="2400" dirty="0">
                <a:cs typeface="Arial" panose="020B0604020202020204" pitchFamily="34" charset="0"/>
              </a:rPr>
              <a:t>10 Units @ $11</a:t>
            </a:r>
            <a:endParaRPr lang="en-US" dirty="0"/>
          </a:p>
        </p:txBody>
      </p:sp>
      <p:cxnSp>
        <p:nvCxnSpPr>
          <p:cNvPr id="21" name="Straight Arrow Connector 20"/>
          <p:cNvCxnSpPr/>
          <p:nvPr/>
        </p:nvCxnSpPr>
        <p:spPr>
          <a:xfrm flipH="1">
            <a:off x="3937941" y="4543994"/>
            <a:ext cx="2070284"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2"/>
          </p:nvPr>
        </p:nvSpPr>
        <p:spPr>
          <a:xfrm>
            <a:off x="6128602" y="4094704"/>
            <a:ext cx="2560320" cy="914400"/>
          </a:xfrm>
        </p:spPr>
        <p:txBody>
          <a:bodyPr/>
          <a:lstStyle/>
          <a:p>
            <a:pPr marL="0" indent="0"/>
            <a:r>
              <a:rPr lang="en-US" sz="2400" dirty="0">
                <a:cs typeface="Arial" panose="020B0604020202020204" pitchFamily="34" charset="0"/>
              </a:rPr>
              <a:t>20 Units @ $14</a:t>
            </a:r>
            <a:endParaRPr lang="en-US" dirty="0"/>
          </a:p>
        </p:txBody>
      </p:sp>
      <p:cxnSp>
        <p:nvCxnSpPr>
          <p:cNvPr id="17" name="Elbow Connector 16"/>
          <p:cNvCxnSpPr/>
          <p:nvPr/>
        </p:nvCxnSpPr>
        <p:spPr>
          <a:xfrm rot="10800000">
            <a:off x="3948534" y="5010666"/>
            <a:ext cx="2085131" cy="942521"/>
          </a:xfrm>
          <a:prstGeom prst="bentConnector3">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128602" y="5466304"/>
            <a:ext cx="2560320" cy="914400"/>
          </a:xfrm>
        </p:spPr>
        <p:txBody>
          <a:bodyPr/>
          <a:lstStyle/>
          <a:p>
            <a:r>
              <a:rPr lang="en-US" sz="2400" dirty="0">
                <a:cs typeface="Arial" panose="020B0604020202020204" pitchFamily="34" charset="0"/>
              </a:rPr>
              <a:t>10 Units @ $16</a:t>
            </a:r>
            <a:endParaRPr lang="en-US" dirty="0"/>
          </a:p>
        </p:txBody>
      </p:sp>
    </p:spTree>
    <p:extLst>
      <p:ext uri="{BB962C8B-B14F-4D97-AF65-F5344CB8AC3E}">
        <p14:creationId xmlns:p14="http://schemas.microsoft.com/office/powerpoint/2010/main" val="3406785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2992"/>
            <a:ext cx="8229600" cy="1097280"/>
          </a:xfrm>
        </p:spPr>
        <p:txBody>
          <a:bodyPr/>
          <a:lstStyle/>
          <a:p>
            <a:r>
              <a:rPr lang="en-US" altLang="en-US" dirty="0"/>
              <a:t>First-In, First-Out </a:t>
            </a:r>
            <a:r>
              <a:rPr lang="en-US" altLang="en-US" sz="2000" b="0" dirty="0"/>
              <a:t>(2 of 2) </a:t>
            </a:r>
            <a:endParaRPr lang="en-US" sz="2000" b="0" dirty="0"/>
          </a:p>
        </p:txBody>
      </p:sp>
      <p:sp>
        <p:nvSpPr>
          <p:cNvPr id="3" name="Content Placeholder 2"/>
          <p:cNvSpPr>
            <a:spLocks noGrp="1"/>
          </p:cNvSpPr>
          <p:nvPr>
            <p:ph idx="1"/>
          </p:nvPr>
        </p:nvSpPr>
        <p:spPr>
          <a:xfrm>
            <a:off x="457200" y="1600201"/>
            <a:ext cx="8229600" cy="533400"/>
          </a:xfrm>
        </p:spPr>
        <p:txBody>
          <a:bodyPr/>
          <a:lstStyle/>
          <a:p>
            <a:pPr marL="0" indent="0" algn="ctr">
              <a:buNone/>
            </a:pPr>
            <a:r>
              <a:rPr lang="en-US" sz="2400" kern="10" dirty="0">
                <a:solidFill>
                  <a:schemeClr val="tx2"/>
                </a:solidFill>
                <a:ea typeface="+mj-lt"/>
                <a:cs typeface="+mj-lt"/>
              </a:rPr>
              <a:t>Ending inventory cost</a:t>
            </a:r>
            <a:endParaRPr lang="en-US" sz="2400" dirty="0"/>
          </a:p>
        </p:txBody>
      </p:sp>
      <p:graphicFrame>
        <p:nvGraphicFramePr>
          <p:cNvPr id="4" name="Table 3"/>
          <p:cNvGraphicFramePr>
            <a:graphicFrameLocks noGrp="1"/>
          </p:cNvGraphicFramePr>
          <p:nvPr/>
        </p:nvGraphicFramePr>
        <p:xfrm>
          <a:off x="1866900" y="2413530"/>
          <a:ext cx="5410200" cy="1259310"/>
        </p:xfrm>
        <a:graphic>
          <a:graphicData uri="http://schemas.openxmlformats.org/drawingml/2006/table">
            <a:tbl>
              <a:tblPr firstRow="1" bandRow="1">
                <a:tableStyleId>{2D5ABB26-0587-4C30-8999-92F81FD0307C}</a:tableStyleId>
              </a:tblPr>
              <a:tblGrid>
                <a:gridCol w="3281680">
                  <a:extLst>
                    <a:ext uri="{9D8B030D-6E8A-4147-A177-3AD203B41FA5}">
                      <a16:colId xmlns:a16="http://schemas.microsoft.com/office/drawing/2014/main" val="20000"/>
                    </a:ext>
                  </a:extLst>
                </a:gridCol>
                <a:gridCol w="2128520">
                  <a:extLst>
                    <a:ext uri="{9D8B030D-6E8A-4147-A177-3AD203B41FA5}">
                      <a16:colId xmlns:a16="http://schemas.microsoft.com/office/drawing/2014/main" val="20001"/>
                    </a:ext>
                  </a:extLst>
                </a:gridCol>
              </a:tblGrid>
              <a:tr h="41977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2000" dirty="0"/>
                        <a:t>60 units</a:t>
                      </a:r>
                      <a:endParaRPr lang="en-US" sz="2000" dirty="0"/>
                    </a:p>
                  </a:txBody>
                  <a:tcPr marL="4572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9770">
                <a:tc>
                  <a:txBody>
                    <a:bodyPr/>
                    <a:lstStyle/>
                    <a:p>
                      <a:r>
                        <a:rPr lang="en-US" altLang="en-US" sz="2000" dirty="0"/>
                        <a:t>Less units sold</a:t>
                      </a:r>
                      <a:endParaRPr lang="en-US" sz="20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2000" u="sng" dirty="0"/>
                        <a:t>40</a:t>
                      </a:r>
                      <a:endParaRPr lang="en-US" sz="2000" dirty="0"/>
                    </a:p>
                  </a:txBody>
                  <a:tcPr marL="4572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9770">
                <a:tc>
                  <a:txBody>
                    <a:bodyPr/>
                    <a:lstStyle/>
                    <a:p>
                      <a:r>
                        <a:rPr lang="en-US" altLang="en-US" sz="2000" dirty="0"/>
                        <a:t>Ending inventory</a:t>
                      </a:r>
                      <a:endParaRPr lang="en-US" sz="20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2000" dirty="0"/>
                        <a:t>20 units</a:t>
                      </a:r>
                      <a:endParaRPr lang="en-US" sz="2000" dirty="0"/>
                    </a:p>
                  </a:txBody>
                  <a:tcPr marL="4572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Content Placeholder 4"/>
          <p:cNvSpPr>
            <a:spLocks noGrp="1"/>
          </p:cNvSpPr>
          <p:nvPr>
            <p:ph idx="13"/>
          </p:nvPr>
        </p:nvSpPr>
        <p:spPr>
          <a:xfrm>
            <a:off x="1866900" y="3962400"/>
            <a:ext cx="4076700" cy="1905000"/>
          </a:xfrm>
        </p:spPr>
        <p:txBody>
          <a:bodyPr/>
          <a:lstStyle/>
          <a:p>
            <a:pPr marL="0" indent="0">
              <a:buNone/>
            </a:pPr>
            <a:r>
              <a:rPr lang="en-US" altLang="en-US" sz="2400" dirty="0"/>
              <a:t>  5 units × $16 =   80</a:t>
            </a:r>
          </a:p>
          <a:p>
            <a:pPr marL="0" indent="0">
              <a:buNone/>
            </a:pPr>
            <a:r>
              <a:rPr lang="en-US" sz="2400" dirty="0"/>
              <a:t>15 units x $18 = </a:t>
            </a:r>
            <a:r>
              <a:rPr lang="en-US" sz="2400" u="sng" dirty="0"/>
              <a:t>270</a:t>
            </a:r>
          </a:p>
          <a:p>
            <a:pPr marL="0" indent="0">
              <a:buNone/>
            </a:pPr>
            <a:r>
              <a:rPr lang="en-US" sz="2400" b="1" dirty="0"/>
              <a:t>                         $350</a:t>
            </a:r>
          </a:p>
        </p:txBody>
      </p:sp>
    </p:spTree>
    <p:extLst>
      <p:ext uri="{BB962C8B-B14F-4D97-AF65-F5344CB8AC3E}">
        <p14:creationId xmlns:p14="http://schemas.microsoft.com/office/powerpoint/2010/main" val="892501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8DA4-7A30-4903-A9A0-05ED5151332B}"/>
              </a:ext>
            </a:extLst>
          </p:cNvPr>
          <p:cNvSpPr>
            <a:spLocks noGrp="1"/>
          </p:cNvSpPr>
          <p:nvPr>
            <p:ph type="title"/>
          </p:nvPr>
        </p:nvSpPr>
        <p:spPr/>
        <p:txBody>
          <a:bodyPr/>
          <a:lstStyle/>
          <a:p>
            <a:r>
              <a:rPr lang="en-CA" dirty="0"/>
              <a:t>Weighted-Average Cost</a:t>
            </a:r>
            <a:endParaRPr lang="en-AU" dirty="0"/>
          </a:p>
        </p:txBody>
      </p:sp>
      <p:graphicFrame>
        <p:nvGraphicFramePr>
          <p:cNvPr id="4" name="Table 4">
            <a:extLst>
              <a:ext uri="{FF2B5EF4-FFF2-40B4-BE49-F238E27FC236}">
                <a16:creationId xmlns:a16="http://schemas.microsoft.com/office/drawing/2014/main" id="{505A1CEC-424B-4301-8557-09E09FC43C60}"/>
              </a:ext>
            </a:extLst>
          </p:cNvPr>
          <p:cNvGraphicFramePr>
            <a:graphicFrameLocks noGrp="1"/>
          </p:cNvGraphicFramePr>
          <p:nvPr>
            <p:ph idx="1"/>
          </p:nvPr>
        </p:nvGraphicFramePr>
        <p:xfrm>
          <a:off x="457200" y="1676400"/>
          <a:ext cx="8229600" cy="3931920"/>
        </p:xfrm>
        <a:graphic>
          <a:graphicData uri="http://schemas.openxmlformats.org/drawingml/2006/table">
            <a:tbl>
              <a:tblPr firstRow="1" bandRow="1">
                <a:tableStyleId>{3B4B98B0-60AC-42C2-AFA5-B58CD77FA1E5}</a:tableStyleId>
              </a:tblPr>
              <a:tblGrid>
                <a:gridCol w="4724400">
                  <a:extLst>
                    <a:ext uri="{9D8B030D-6E8A-4147-A177-3AD203B41FA5}">
                      <a16:colId xmlns:a16="http://schemas.microsoft.com/office/drawing/2014/main" val="941268231"/>
                    </a:ext>
                  </a:extLst>
                </a:gridCol>
                <a:gridCol w="838200">
                  <a:extLst>
                    <a:ext uri="{9D8B030D-6E8A-4147-A177-3AD203B41FA5}">
                      <a16:colId xmlns:a16="http://schemas.microsoft.com/office/drawing/2014/main" val="1890893419"/>
                    </a:ext>
                  </a:extLst>
                </a:gridCol>
                <a:gridCol w="2667000">
                  <a:extLst>
                    <a:ext uri="{9D8B030D-6E8A-4147-A177-3AD203B41FA5}">
                      <a16:colId xmlns:a16="http://schemas.microsoft.com/office/drawing/2014/main" val="606230097"/>
                    </a:ext>
                  </a:extLst>
                </a:gridCol>
              </a:tblGrid>
              <a:tr h="304800">
                <a:tc>
                  <a:txBody>
                    <a:bodyPr/>
                    <a:lstStyle/>
                    <a:p>
                      <a:r>
                        <a:rPr lang="en-AU" sz="1400" b="1" i="0" u="none" strike="noStrike" baseline="0" dirty="0">
                          <a:latin typeface="+mj-lt"/>
                        </a:rPr>
                        <a:t>Item</a:t>
                      </a:r>
                      <a:endParaRPr lang="en-AU" sz="1400" dirty="0">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AU" sz="1400" b="1" i="0" u="none" strike="noStrike" baseline="0" dirty="0">
                          <a:latin typeface="+mj-lt"/>
                        </a:rPr>
                        <a:t>COGS</a:t>
                      </a:r>
                      <a:endParaRPr lang="en-AU" sz="1400" dirty="0">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1" i="0" u="none" strike="noStrike" baseline="0" dirty="0">
                          <a:latin typeface="+mj-lt"/>
                        </a:rPr>
                        <a:t>Balance</a:t>
                      </a:r>
                      <a:endParaRPr lang="en-AU" sz="1400" dirty="0">
                        <a:latin typeface="+mj-l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258035778"/>
                  </a:ext>
                </a:extLst>
              </a:tr>
              <a:tr h="0">
                <a:tc>
                  <a:txBody>
                    <a:bodyPr/>
                    <a:lstStyle/>
                    <a:p>
                      <a:r>
                        <a:rPr lang="en-US" sz="1400" b="0" i="0" u="none" strike="noStrike" kern="1200" baseline="0" dirty="0">
                          <a:solidFill>
                            <a:schemeClr val="tx1"/>
                          </a:solidFill>
                          <a:latin typeface="+mn-lt"/>
                          <a:ea typeface="+mn-ea"/>
                          <a:cs typeface="+mn-cs"/>
                        </a:rPr>
                        <a:t>Beginning Inventory: 10 units </a:t>
                      </a:r>
                      <a:r>
                        <a:rPr lang="en-US" sz="1400" b="0" i="0" u="none" strike="noStrike" kern="1200" baseline="0" dirty="0">
                          <a:solidFill>
                            <a:schemeClr val="tx1"/>
                          </a:solidFill>
                          <a:latin typeface="+mn-lt"/>
                          <a:ea typeface="+mn-ea"/>
                          <a:cs typeface="+mn-cs"/>
                          <a:sym typeface="Symbol" panose="05050102010706020507" pitchFamily="18" charset="2"/>
                        </a:rPr>
                        <a:t></a:t>
                      </a:r>
                      <a:r>
                        <a:rPr lang="en-US" sz="1400" b="0" i="0" u="none" strike="noStrike" kern="1200" baseline="0" dirty="0">
                          <a:solidFill>
                            <a:schemeClr val="tx1"/>
                          </a:solidFill>
                          <a:latin typeface="+mn-lt"/>
                          <a:ea typeface="+mn-ea"/>
                          <a:cs typeface="+mn-cs"/>
                        </a:rPr>
                        <a:t> $11</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$110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75663290"/>
                  </a:ext>
                </a:extLst>
              </a:tr>
              <a:tr h="0">
                <a:tc>
                  <a:txBody>
                    <a:bodyPr/>
                    <a:lstStyle/>
                    <a:p>
                      <a:r>
                        <a:rPr lang="en-US" sz="1400" b="0" i="0" u="none" strike="noStrike" kern="1200" baseline="0" dirty="0">
                          <a:solidFill>
                            <a:schemeClr val="tx1"/>
                          </a:solidFill>
                          <a:latin typeface="+mn-lt"/>
                          <a:ea typeface="+mn-ea"/>
                          <a:cs typeface="+mn-cs"/>
                        </a:rPr>
                        <a:t>Purchase #1: 20 units </a:t>
                      </a:r>
                      <a:r>
                        <a:rPr lang="en-US" sz="1400" b="0" i="0" u="none" strike="noStrike" kern="1200" baseline="0" dirty="0">
                          <a:solidFill>
                            <a:schemeClr val="tx1"/>
                          </a:solidFill>
                          <a:latin typeface="+mn-lt"/>
                          <a:ea typeface="+mn-ea"/>
                          <a:cs typeface="+mn-cs"/>
                          <a:sym typeface="Symbol" panose="05050102010706020507" pitchFamily="18" charset="2"/>
                        </a:rPr>
                        <a:t></a:t>
                      </a:r>
                      <a:r>
                        <a:rPr lang="en-US" sz="1400" b="0" i="0" u="none" strike="noStrike" kern="1200" baseline="0" dirty="0">
                          <a:solidFill>
                            <a:schemeClr val="tx1"/>
                          </a:solidFill>
                          <a:latin typeface="+mn-lt"/>
                          <a:ea typeface="+mn-ea"/>
                          <a:cs typeface="+mn-cs"/>
                        </a:rPr>
                        <a:t> $14 = $280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390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852186960"/>
                  </a:ext>
                </a:extLst>
              </a:tr>
              <a:tr h="0">
                <a:tc>
                  <a:txBody>
                    <a:bodyPr/>
                    <a:lstStyle/>
                    <a:p>
                      <a:r>
                        <a:rPr lang="en-US" sz="1400" b="0" i="1" u="none" strike="noStrike" kern="1200" baseline="0" dirty="0">
                          <a:solidFill>
                            <a:schemeClr val="tx1"/>
                          </a:solidFill>
                          <a:latin typeface="+mn-lt"/>
                          <a:ea typeface="+mn-ea"/>
                          <a:cs typeface="+mn-cs"/>
                        </a:rPr>
                        <a:t>New unit cost: $390/(10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20)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$13</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($110 </a:t>
                      </a:r>
                      <a:r>
                        <a:rPr lang="en-US" sz="1400" b="0" i="0" u="none" strike="noStrike" kern="1200" baseline="0" dirty="0">
                          <a:solidFill>
                            <a:schemeClr val="tx1"/>
                          </a:solidFill>
                          <a:latin typeface="+mn-lt"/>
                          <a:ea typeface="+mn-ea"/>
                          <a:cs typeface="+mn-cs"/>
                        </a:rPr>
                        <a:t>+</a:t>
                      </a:r>
                      <a:r>
                        <a:rPr lang="en-AU" sz="1400" b="0" i="0" u="none" strike="noStrike" kern="1200" baseline="0" dirty="0">
                          <a:solidFill>
                            <a:schemeClr val="tx1"/>
                          </a:solidFill>
                          <a:latin typeface="+mn-lt"/>
                          <a:ea typeface="+mn-ea"/>
                          <a:cs typeface="+mn-cs"/>
                        </a:rPr>
                        <a:t> $280)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84951365"/>
                  </a:ext>
                </a:extLst>
              </a:tr>
              <a:tr h="0">
                <a:tc>
                  <a:txBody>
                    <a:bodyPr/>
                    <a:lstStyle/>
                    <a:p>
                      <a:r>
                        <a:rPr lang="en-US" sz="1400" b="0" i="0" u="none" strike="noStrike" kern="1200" baseline="0" dirty="0">
                          <a:solidFill>
                            <a:schemeClr val="tx1"/>
                          </a:solidFill>
                          <a:latin typeface="+mn-lt"/>
                          <a:ea typeface="+mn-ea"/>
                          <a:cs typeface="+mn-cs"/>
                        </a:rPr>
                        <a:t>Purchase #2: 15 units </a:t>
                      </a:r>
                      <a:r>
                        <a:rPr lang="en-US" sz="1400" b="0" i="0" u="none" strike="noStrike" kern="1200" baseline="0" dirty="0">
                          <a:solidFill>
                            <a:schemeClr val="tx1"/>
                          </a:solidFill>
                          <a:latin typeface="+mn-lt"/>
                          <a:ea typeface="+mn-ea"/>
                          <a:cs typeface="+mn-cs"/>
                          <a:sym typeface="Symbol" panose="05050102010706020507" pitchFamily="18" charset="2"/>
                        </a:rPr>
                        <a:t></a:t>
                      </a:r>
                      <a:r>
                        <a:rPr lang="en-US" sz="1400" b="0" i="0" u="none" strike="noStrike" kern="1200" baseline="0" dirty="0">
                          <a:solidFill>
                            <a:schemeClr val="tx1"/>
                          </a:solidFill>
                          <a:latin typeface="+mn-lt"/>
                          <a:ea typeface="+mn-ea"/>
                          <a:cs typeface="+mn-cs"/>
                        </a:rPr>
                        <a:t> $16 = $240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630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38247263"/>
                  </a:ext>
                </a:extLst>
              </a:tr>
              <a:tr h="0">
                <a:tc>
                  <a:txBody>
                    <a:bodyPr/>
                    <a:lstStyle/>
                    <a:p>
                      <a:r>
                        <a:rPr lang="en-US" sz="1400" b="0" i="1" u="none" strike="noStrike" kern="1200" baseline="0" dirty="0">
                          <a:solidFill>
                            <a:schemeClr val="tx1"/>
                          </a:solidFill>
                          <a:latin typeface="+mn-lt"/>
                          <a:ea typeface="+mn-ea"/>
                          <a:cs typeface="+mn-cs"/>
                        </a:rPr>
                        <a:t>New unit cost: $630/(10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20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15)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$14</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($390 + $240)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32834054"/>
                  </a:ext>
                </a:extLst>
              </a:tr>
              <a:tr h="0">
                <a:tc>
                  <a:txBody>
                    <a:bodyPr/>
                    <a:lstStyle/>
                    <a:p>
                      <a:r>
                        <a:rPr lang="en-US" sz="1400" b="0" i="0" u="none" strike="noStrike" kern="1200" baseline="0" dirty="0">
                          <a:solidFill>
                            <a:schemeClr val="tx1"/>
                          </a:solidFill>
                          <a:latin typeface="+mn-lt"/>
                          <a:ea typeface="+mn-ea"/>
                          <a:cs typeface="+mn-cs"/>
                        </a:rPr>
                        <a:t>Sold 40 units </a:t>
                      </a:r>
                      <a:r>
                        <a:rPr lang="en-US" sz="1400" b="0" i="0" u="none" strike="noStrike" kern="1200" baseline="0" dirty="0">
                          <a:solidFill>
                            <a:schemeClr val="tx1"/>
                          </a:solidFill>
                          <a:latin typeface="+mn-lt"/>
                          <a:ea typeface="+mn-ea"/>
                          <a:cs typeface="+mn-cs"/>
                          <a:sym typeface="Symbol" panose="05050102010706020507" pitchFamily="18" charset="2"/>
                        </a:rPr>
                        <a:t></a:t>
                      </a:r>
                      <a:r>
                        <a:rPr lang="en-US" sz="1400" b="0" i="0" u="none" strike="noStrike" kern="1200" baseline="0" dirty="0">
                          <a:solidFill>
                            <a:schemeClr val="tx1"/>
                          </a:solidFill>
                          <a:latin typeface="+mn-lt"/>
                          <a:ea typeface="+mn-ea"/>
                          <a:cs typeface="+mn-cs"/>
                        </a:rPr>
                        <a:t> $14</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AU" sz="1400" b="0" i="0" u="none" strike="noStrike" kern="1200" baseline="0" dirty="0">
                          <a:solidFill>
                            <a:schemeClr val="tx1"/>
                          </a:solidFill>
                          <a:latin typeface="+mn-lt"/>
                          <a:ea typeface="+mn-ea"/>
                          <a:cs typeface="+mn-cs"/>
                        </a:rPr>
                        <a:t>$560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70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399550285"/>
                  </a:ext>
                </a:extLst>
              </a:tr>
              <a:tr h="0">
                <a:tc>
                  <a:txBody>
                    <a:bodyPr/>
                    <a:lstStyle/>
                    <a:p>
                      <a:endParaRPr lang="en-AU" sz="14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($630 − $560)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230846105"/>
                  </a:ext>
                </a:extLst>
              </a:tr>
              <a:tr h="0">
                <a:tc>
                  <a:txBody>
                    <a:bodyPr/>
                    <a:lstStyle/>
                    <a:p>
                      <a:r>
                        <a:rPr lang="en-US" sz="1400" b="0" i="0" u="none" strike="noStrike" kern="1200" baseline="0" dirty="0">
                          <a:solidFill>
                            <a:schemeClr val="tx1"/>
                          </a:solidFill>
                          <a:latin typeface="+mn-lt"/>
                          <a:ea typeface="+mn-ea"/>
                          <a:cs typeface="+mn-cs"/>
                        </a:rPr>
                        <a:t>Purchase #3: 15 units </a:t>
                      </a:r>
                      <a:r>
                        <a:rPr lang="en-US" sz="1400" b="0" i="0" u="none" strike="noStrike" kern="1200" baseline="0" dirty="0">
                          <a:solidFill>
                            <a:schemeClr val="tx1"/>
                          </a:solidFill>
                          <a:latin typeface="+mn-lt"/>
                          <a:ea typeface="+mn-ea"/>
                          <a:cs typeface="+mn-cs"/>
                          <a:sym typeface="Symbol" panose="05050102010706020507" pitchFamily="18" charset="2"/>
                        </a:rPr>
                        <a:t></a:t>
                      </a:r>
                      <a:r>
                        <a:rPr lang="en-US" sz="1400" b="0" i="0" u="none" strike="noStrike" kern="1200" baseline="0" dirty="0">
                          <a:solidFill>
                            <a:schemeClr val="tx1"/>
                          </a:solidFill>
                          <a:latin typeface="+mn-lt"/>
                          <a:ea typeface="+mn-ea"/>
                          <a:cs typeface="+mn-cs"/>
                        </a:rPr>
                        <a:t> $18 = $270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340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61579700"/>
                  </a:ext>
                </a:extLst>
              </a:tr>
              <a:tr h="0">
                <a:tc>
                  <a:txBody>
                    <a:bodyPr/>
                    <a:lstStyle/>
                    <a:p>
                      <a:r>
                        <a:rPr lang="en-US" sz="1400" b="0" i="1" u="none" strike="noStrike" kern="1200" baseline="0" dirty="0">
                          <a:solidFill>
                            <a:schemeClr val="tx1"/>
                          </a:solidFill>
                          <a:latin typeface="+mn-lt"/>
                          <a:ea typeface="+mn-ea"/>
                          <a:cs typeface="+mn-cs"/>
                        </a:rPr>
                        <a:t>New unit cost: $340/20* </a:t>
                      </a:r>
                      <a:r>
                        <a:rPr lang="en-US" sz="1400" b="0" i="0" u="none" strike="noStrike" kern="1200" baseline="0" dirty="0">
                          <a:solidFill>
                            <a:schemeClr val="tx1"/>
                          </a:solidFill>
                          <a:latin typeface="+mn-lt"/>
                          <a:ea typeface="+mn-ea"/>
                          <a:cs typeface="+mn-cs"/>
                        </a:rPr>
                        <a:t>= </a:t>
                      </a:r>
                      <a:r>
                        <a:rPr lang="en-US" sz="1400" b="0" i="1" u="none" strike="noStrike" kern="1200" baseline="0" dirty="0">
                          <a:solidFill>
                            <a:schemeClr val="tx1"/>
                          </a:solidFill>
                          <a:latin typeface="+mn-lt"/>
                          <a:ea typeface="+mn-ea"/>
                          <a:cs typeface="+mn-cs"/>
                        </a:rPr>
                        <a:t>$17 </a:t>
                      </a:r>
                    </a:p>
                    <a:p>
                      <a:r>
                        <a:rPr lang="en-AU" sz="1400" b="0" i="1" u="none" strike="noStrike" kern="1200" baseline="0" dirty="0">
                          <a:solidFill>
                            <a:schemeClr val="tx1"/>
                          </a:solidFill>
                          <a:latin typeface="+mn-lt"/>
                          <a:ea typeface="+mn-ea"/>
                          <a:cs typeface="+mn-cs"/>
                        </a:rPr>
                        <a:t>*(20 units </a:t>
                      </a:r>
                      <a:r>
                        <a:rPr lang="en-AU" sz="1400" b="0" i="0" u="none" strike="noStrike" kern="1200" baseline="0" dirty="0">
                          <a:solidFill>
                            <a:schemeClr val="tx1"/>
                          </a:solidFill>
                          <a:latin typeface="+mn-lt"/>
                          <a:ea typeface="+mn-ea"/>
                          <a:cs typeface="+mn-cs"/>
                        </a:rPr>
                        <a:t>= </a:t>
                      </a:r>
                      <a:r>
                        <a:rPr lang="en-AU" sz="1400" b="0" i="1" u="none" strike="noStrike" kern="1200" baseline="0" dirty="0">
                          <a:solidFill>
                            <a:schemeClr val="tx1"/>
                          </a:solidFill>
                          <a:latin typeface="+mn-lt"/>
                          <a:ea typeface="+mn-ea"/>
                          <a:cs typeface="+mn-cs"/>
                        </a:rPr>
                        <a:t>10 </a:t>
                      </a:r>
                      <a:r>
                        <a:rPr lang="en-AU" sz="1400" b="0" i="0" u="none" strike="noStrike" kern="1200" baseline="0" dirty="0">
                          <a:solidFill>
                            <a:schemeClr val="tx1"/>
                          </a:solidFill>
                          <a:latin typeface="+mn-lt"/>
                          <a:ea typeface="+mn-ea"/>
                          <a:cs typeface="+mn-cs"/>
                        </a:rPr>
                        <a:t>+ </a:t>
                      </a:r>
                      <a:r>
                        <a:rPr lang="en-AU" sz="1400" b="0" i="1" u="none" strike="noStrike" kern="1200" baseline="0" dirty="0">
                          <a:solidFill>
                            <a:schemeClr val="tx1"/>
                          </a:solidFill>
                          <a:latin typeface="+mn-lt"/>
                          <a:ea typeface="+mn-ea"/>
                          <a:cs typeface="+mn-cs"/>
                        </a:rPr>
                        <a:t>20 </a:t>
                      </a:r>
                      <a:r>
                        <a:rPr lang="en-AU" sz="1400" b="0" i="0" u="none" strike="noStrike" kern="1200" baseline="0" dirty="0">
                          <a:solidFill>
                            <a:schemeClr val="tx1"/>
                          </a:solidFill>
                          <a:latin typeface="+mn-lt"/>
                          <a:ea typeface="+mn-ea"/>
                          <a:cs typeface="+mn-cs"/>
                        </a:rPr>
                        <a:t>+ </a:t>
                      </a:r>
                      <a:r>
                        <a:rPr lang="en-AU" sz="1400" b="0" i="1" u="none" strike="noStrike" kern="1200" baseline="0" dirty="0">
                          <a:solidFill>
                            <a:schemeClr val="tx1"/>
                          </a:solidFill>
                          <a:latin typeface="+mn-lt"/>
                          <a:ea typeface="+mn-ea"/>
                          <a:cs typeface="+mn-cs"/>
                        </a:rPr>
                        <a:t>15 </a:t>
                      </a:r>
                      <a:r>
                        <a:rPr lang="en-AU" sz="1400" b="0" i="0" u="none" strike="noStrike" kern="1200" baseline="0" dirty="0">
                          <a:solidFill>
                            <a:schemeClr val="tx1"/>
                          </a:solidFill>
                          <a:latin typeface="+mn-lt"/>
                          <a:ea typeface="+mn-ea"/>
                          <a:cs typeface="+mn-cs"/>
                        </a:rPr>
                        <a:t>− </a:t>
                      </a:r>
                      <a:r>
                        <a:rPr lang="en-AU" sz="1400" b="0" i="1" u="none" strike="noStrike" kern="1200" baseline="0" dirty="0">
                          <a:solidFill>
                            <a:schemeClr val="tx1"/>
                          </a:solidFill>
                          <a:latin typeface="+mn-lt"/>
                          <a:ea typeface="+mn-ea"/>
                          <a:cs typeface="+mn-cs"/>
                        </a:rPr>
                        <a:t>40 </a:t>
                      </a:r>
                      <a:r>
                        <a:rPr lang="en-AU" sz="1400" b="0" i="0" u="none" strike="noStrike" kern="1200" baseline="0" dirty="0">
                          <a:solidFill>
                            <a:schemeClr val="tx1"/>
                          </a:solidFill>
                          <a:latin typeface="+mn-lt"/>
                          <a:ea typeface="+mn-ea"/>
                          <a:cs typeface="+mn-cs"/>
                        </a:rPr>
                        <a:t>+ </a:t>
                      </a:r>
                      <a:r>
                        <a:rPr lang="en-AU" sz="1400" b="0" i="1" u="none" strike="noStrike" kern="1200" baseline="0" dirty="0">
                          <a:solidFill>
                            <a:schemeClr val="tx1"/>
                          </a:solidFill>
                          <a:latin typeface="+mn-lt"/>
                          <a:ea typeface="+mn-ea"/>
                          <a:cs typeface="+mn-cs"/>
                        </a:rPr>
                        <a:t>15)</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AU" u="none" dirty="0"/>
                        <a:t>___</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none" strike="noStrike" kern="1200" baseline="0" dirty="0">
                          <a:solidFill>
                            <a:schemeClr val="tx1"/>
                          </a:solidFill>
                          <a:latin typeface="+mn-lt"/>
                          <a:ea typeface="+mn-ea"/>
                          <a:cs typeface="+mn-cs"/>
                        </a:rPr>
                        <a:t>($70 + $270)</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7218110"/>
                  </a:ext>
                </a:extLst>
              </a:tr>
              <a:tr h="0">
                <a:tc>
                  <a:txBody>
                    <a:bodyPr/>
                    <a:lstStyle/>
                    <a:p>
                      <a:r>
                        <a:rPr lang="en-AU" sz="1400" b="0" i="0" u="none" strike="noStrike" kern="1200" baseline="0" dirty="0">
                          <a:solidFill>
                            <a:schemeClr val="tx1"/>
                          </a:solidFill>
                          <a:latin typeface="+mn-lt"/>
                          <a:ea typeface="+mn-ea"/>
                          <a:cs typeface="+mn-cs"/>
                        </a:rPr>
                        <a:t>Cost of goods sold</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AU" sz="1400" b="0" i="0" u="dbl" strike="noStrike" kern="1200" baseline="0" dirty="0">
                          <a:solidFill>
                            <a:schemeClr val="tx1"/>
                          </a:solidFill>
                          <a:latin typeface="+mn-lt"/>
                          <a:ea typeface="+mn-ea"/>
                          <a:cs typeface="+mn-cs"/>
                        </a:rPr>
                        <a:t>$560</a:t>
                      </a:r>
                      <a:endParaRPr lang="en-AU" sz="1400" u="dbl" baseline="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dirty="0"/>
                        <a:t>___</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813469094"/>
                  </a:ext>
                </a:extLst>
              </a:tr>
              <a:tr h="0">
                <a:tc>
                  <a:txBody>
                    <a:bodyPr/>
                    <a:lstStyle/>
                    <a:p>
                      <a:r>
                        <a:rPr lang="en-AU" sz="1400" b="0" i="0" u="none" strike="noStrike" kern="1200" baseline="0" dirty="0">
                          <a:solidFill>
                            <a:schemeClr val="tx1"/>
                          </a:solidFill>
                          <a:latin typeface="+mn-lt"/>
                          <a:ea typeface="+mn-ea"/>
                          <a:cs typeface="+mn-cs"/>
                        </a:rPr>
                        <a:t>Ending inventory</a:t>
                      </a:r>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endParaRPr lang="en-AU" sz="14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r"/>
                      <a:r>
                        <a:rPr lang="en-AU" sz="1400" b="0" i="0" u="dbl" strike="noStrike" kern="1200" baseline="0" dirty="0">
                          <a:solidFill>
                            <a:schemeClr val="tx1"/>
                          </a:solidFill>
                          <a:latin typeface="+mn-lt"/>
                          <a:ea typeface="+mn-ea"/>
                          <a:cs typeface="+mn-cs"/>
                        </a:rPr>
                        <a:t>$340</a:t>
                      </a:r>
                      <a:endParaRPr lang="en-AU" sz="1400" u="dbl" baseline="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10497895"/>
                  </a:ext>
                </a:extLst>
              </a:tr>
            </a:tbl>
          </a:graphicData>
        </a:graphic>
      </p:graphicFrame>
    </p:spTree>
    <p:extLst>
      <p:ext uri="{BB962C8B-B14F-4D97-AF65-F5344CB8AC3E}">
        <p14:creationId xmlns:p14="http://schemas.microsoft.com/office/powerpoint/2010/main" val="3269407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When inventory costs are INCREASING</a:t>
            </a:r>
            <a:endParaRPr lang="en-US" dirty="0"/>
          </a:p>
        </p:txBody>
      </p:sp>
      <p:sp>
        <p:nvSpPr>
          <p:cNvPr id="3" name="Content Placeholder 2"/>
          <p:cNvSpPr>
            <a:spLocks noGrp="1"/>
          </p:cNvSpPr>
          <p:nvPr>
            <p:ph idx="1"/>
          </p:nvPr>
        </p:nvSpPr>
        <p:spPr>
          <a:xfrm>
            <a:off x="457200" y="1600201"/>
            <a:ext cx="8229600" cy="1828800"/>
          </a:xfrm>
        </p:spPr>
        <p:txBody>
          <a:bodyPr>
            <a:normAutofit lnSpcReduction="10000"/>
          </a:bodyPr>
          <a:lstStyle/>
          <a:p>
            <a:pPr marL="0" indent="0" algn="ctr">
              <a:spcBef>
                <a:spcPts val="600"/>
              </a:spcBef>
              <a:buNone/>
            </a:pPr>
            <a:r>
              <a:rPr lang="en-US" altLang="en-US" sz="2400" dirty="0"/>
              <a:t>Weighted-average cost of goods sold is higher because it is based on the average of the costs for the period.</a:t>
            </a:r>
          </a:p>
          <a:p>
            <a:pPr marL="0" indent="0" algn="ctr">
              <a:spcBef>
                <a:spcPts val="600"/>
              </a:spcBef>
              <a:buNone/>
            </a:pPr>
            <a:r>
              <a:rPr lang="en-US" altLang="en-US" sz="2400" dirty="0"/>
              <a:t>Gross profit is the lower</a:t>
            </a:r>
          </a:p>
          <a:p>
            <a:pPr marL="0" indent="0" algn="ctr">
              <a:spcBef>
                <a:spcPts val="600"/>
              </a:spcBef>
              <a:buNone/>
            </a:pPr>
            <a:r>
              <a:rPr lang="en-US" altLang="en-US" sz="2400" dirty="0"/>
              <a:t>Ending inventory is the lower</a:t>
            </a:r>
          </a:p>
        </p:txBody>
      </p:sp>
      <p:sp>
        <p:nvSpPr>
          <p:cNvPr id="4" name="Content Placeholder 3"/>
          <p:cNvSpPr>
            <a:spLocks noGrp="1"/>
          </p:cNvSpPr>
          <p:nvPr>
            <p:ph idx="13"/>
          </p:nvPr>
        </p:nvSpPr>
        <p:spPr/>
        <p:txBody>
          <a:bodyPr/>
          <a:lstStyle/>
          <a:p>
            <a:pPr marL="0" indent="0" algn="ctr">
              <a:spcBef>
                <a:spcPts val="600"/>
              </a:spcBef>
              <a:buNone/>
            </a:pPr>
            <a:r>
              <a:rPr lang="en-US" altLang="en-US" sz="2400" dirty="0"/>
              <a:t>FIFO cost of goods sold is lower because it is based on the oldest costs.</a:t>
            </a:r>
          </a:p>
          <a:p>
            <a:pPr marL="0" indent="0" algn="ctr">
              <a:spcBef>
                <a:spcPts val="600"/>
              </a:spcBef>
              <a:buNone/>
            </a:pPr>
            <a:r>
              <a:rPr lang="en-US" altLang="en-US" sz="2400" dirty="0"/>
              <a:t>Gross profit is the higher</a:t>
            </a:r>
          </a:p>
          <a:p>
            <a:pPr marL="0" indent="0" algn="ctr">
              <a:spcBef>
                <a:spcPts val="600"/>
              </a:spcBef>
              <a:buNone/>
            </a:pPr>
            <a:r>
              <a:rPr lang="en-US" sz="2400" dirty="0"/>
              <a:t>Ending inventory is the higher</a:t>
            </a:r>
            <a:endParaRPr lang="en-US" sz="1800" dirty="0"/>
          </a:p>
        </p:txBody>
      </p:sp>
    </p:spTree>
    <p:extLst>
      <p:ext uri="{BB962C8B-B14F-4D97-AF65-F5344CB8AC3E}">
        <p14:creationId xmlns:p14="http://schemas.microsoft.com/office/powerpoint/2010/main" val="3946945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2594-A38A-489A-A8C6-3132D468B037}"/>
              </a:ext>
            </a:extLst>
          </p:cNvPr>
          <p:cNvSpPr>
            <a:spLocks noGrp="1"/>
          </p:cNvSpPr>
          <p:nvPr>
            <p:ph type="title"/>
          </p:nvPr>
        </p:nvSpPr>
        <p:spPr>
          <a:xfrm>
            <a:off x="233351" y="379090"/>
            <a:ext cx="8677297" cy="618838"/>
          </a:xfrm>
        </p:spPr>
        <p:txBody>
          <a:bodyPr/>
          <a:lstStyle/>
          <a:p>
            <a:r>
              <a:rPr lang="en-US" altLang="zh-CN" dirty="0"/>
              <a:t>Practice Problem E5-14</a:t>
            </a:r>
            <a:endParaRPr lang="en-US" dirty="0"/>
          </a:p>
        </p:txBody>
      </p:sp>
      <p:sp>
        <p:nvSpPr>
          <p:cNvPr id="3" name="Content Placeholder 2">
            <a:extLst>
              <a:ext uri="{FF2B5EF4-FFF2-40B4-BE49-F238E27FC236}">
                <a16:creationId xmlns:a16="http://schemas.microsoft.com/office/drawing/2014/main" id="{EFDABBFD-27C6-AD31-B879-2AF3941C76DF}"/>
              </a:ext>
            </a:extLst>
          </p:cNvPr>
          <p:cNvSpPr>
            <a:spLocks noGrp="1"/>
          </p:cNvSpPr>
          <p:nvPr>
            <p:ph idx="1"/>
          </p:nvPr>
        </p:nvSpPr>
        <p:spPr>
          <a:xfrm>
            <a:off x="271790" y="997929"/>
            <a:ext cx="8424154" cy="830872"/>
          </a:xfrm>
        </p:spPr>
        <p:txBody>
          <a:bodyPr>
            <a:normAutofit/>
          </a:bodyPr>
          <a:lstStyle/>
          <a:p>
            <a:pPr marL="0" indent="0">
              <a:buNone/>
            </a:pPr>
            <a:r>
              <a:rPr lang="en-US" sz="2200" dirty="0"/>
              <a:t>Langley Inc. inventory records for a particular development program show the following at October 31, 2020:</a:t>
            </a:r>
          </a:p>
        </p:txBody>
      </p:sp>
      <p:sp>
        <p:nvSpPr>
          <p:cNvPr id="5" name="Content Placeholder 2">
            <a:extLst>
              <a:ext uri="{FF2B5EF4-FFF2-40B4-BE49-F238E27FC236}">
                <a16:creationId xmlns:a16="http://schemas.microsoft.com/office/drawing/2014/main" id="{54F52169-47F3-E009-0A5D-F60A92743AC2}"/>
              </a:ext>
            </a:extLst>
          </p:cNvPr>
          <p:cNvSpPr txBox="1">
            <a:spLocks/>
          </p:cNvSpPr>
          <p:nvPr/>
        </p:nvSpPr>
        <p:spPr>
          <a:xfrm>
            <a:off x="233351" y="3098800"/>
            <a:ext cx="8677297" cy="3234267"/>
          </a:xfrm>
          <a:prstGeom prst="rect">
            <a:avLst/>
          </a:prstGeom>
        </p:spPr>
        <p:txBody>
          <a:bodyPr vert="horz" lIns="91440" tIns="45720" rIns="91440" bIns="45720" rtlCol="0">
            <a:normAutofit fontScale="92500" lnSpcReduction="20000"/>
          </a:bodyPr>
          <a:lst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pPr>
            <a:r>
              <a:rPr lang="en-US" dirty="0"/>
              <a:t>At October 31, ten of these programs are on hand. Langley uses the perpetual inventory system.</a:t>
            </a:r>
          </a:p>
          <a:p>
            <a:pPr marL="457200" indent="-457200">
              <a:buFont typeface="Wingdings" charset="2"/>
              <a:buAutoNum type="arabicPeriod"/>
            </a:pPr>
            <a:r>
              <a:rPr lang="en-US" dirty="0"/>
              <a:t>Journalize for Langley: a. Total October purchases in one summary entry. All purchases were on credit. b. Total October sales and cost of goods sold in two summary entries. The selling price was $500 per unit, and all sales were on credit. Langley uses the FIFO inventory method.</a:t>
            </a:r>
          </a:p>
          <a:p>
            <a:pPr marL="457200" indent="-457200">
              <a:buFont typeface="Wingdings" charset="2"/>
              <a:buAutoNum type="arabicPeriod"/>
            </a:pPr>
            <a:r>
              <a:rPr lang="en-US"/>
              <a:t>Under </a:t>
            </a:r>
            <a:r>
              <a:rPr lang="en-US" dirty="0"/>
              <a:t>FIFO, how much gross profit would Langley earn on these transactions? What is the FIFO cost of Langley's ending inventory?</a:t>
            </a:r>
          </a:p>
        </p:txBody>
      </p:sp>
      <p:graphicFrame>
        <p:nvGraphicFramePr>
          <p:cNvPr id="6" name="Table 6">
            <a:extLst>
              <a:ext uri="{FF2B5EF4-FFF2-40B4-BE49-F238E27FC236}">
                <a16:creationId xmlns:a16="http://schemas.microsoft.com/office/drawing/2014/main" id="{85FA9FE2-25C6-A921-65FD-DD52C47D8FE9}"/>
              </a:ext>
            </a:extLst>
          </p:cNvPr>
          <p:cNvGraphicFramePr>
            <a:graphicFrameLocks noGrp="1"/>
          </p:cNvGraphicFramePr>
          <p:nvPr/>
        </p:nvGraphicFramePr>
        <p:xfrm>
          <a:off x="233351" y="1828801"/>
          <a:ext cx="8638858" cy="1174402"/>
        </p:xfrm>
        <a:graphic>
          <a:graphicData uri="http://schemas.openxmlformats.org/drawingml/2006/table">
            <a:tbl>
              <a:tblPr bandRow="1">
                <a:tableStyleId>{BC89EF96-8CEA-46FF-86C4-4CE0E7609802}</a:tableStyleId>
              </a:tblPr>
              <a:tblGrid>
                <a:gridCol w="884799">
                  <a:extLst>
                    <a:ext uri="{9D8B030D-6E8A-4147-A177-3AD203B41FA5}">
                      <a16:colId xmlns:a16="http://schemas.microsoft.com/office/drawing/2014/main" val="3084982208"/>
                    </a:ext>
                  </a:extLst>
                </a:gridCol>
                <a:gridCol w="3308635">
                  <a:extLst>
                    <a:ext uri="{9D8B030D-6E8A-4147-A177-3AD203B41FA5}">
                      <a16:colId xmlns:a16="http://schemas.microsoft.com/office/drawing/2014/main" val="1730809949"/>
                    </a:ext>
                  </a:extLst>
                </a:gridCol>
                <a:gridCol w="4445424">
                  <a:extLst>
                    <a:ext uri="{9D8B030D-6E8A-4147-A177-3AD203B41FA5}">
                      <a16:colId xmlns:a16="http://schemas.microsoft.com/office/drawing/2014/main" val="2317682296"/>
                    </a:ext>
                  </a:extLst>
                </a:gridCol>
              </a:tblGrid>
              <a:tr h="209217">
                <a:tc>
                  <a:txBody>
                    <a:bodyPr/>
                    <a:lstStyle/>
                    <a:p>
                      <a:pPr algn="r"/>
                      <a:r>
                        <a:rPr lang="en-US" b="0" dirty="0">
                          <a:solidFill>
                            <a:sysClr val="windowText" lastClr="000000"/>
                          </a:solidFill>
                        </a:rPr>
                        <a:t>Oct.  1</a:t>
                      </a:r>
                    </a:p>
                  </a:txBody>
                  <a:tcPr/>
                </a:tc>
                <a:tc>
                  <a:txBody>
                    <a:bodyPr/>
                    <a:lstStyle/>
                    <a:p>
                      <a:r>
                        <a:rPr lang="en-US" b="0" dirty="0">
                          <a:solidFill>
                            <a:sysClr val="windowText" lastClr="000000"/>
                          </a:solidFill>
                        </a:rPr>
                        <a:t>Beginning inventory</a:t>
                      </a:r>
                    </a:p>
                  </a:txBody>
                  <a:tcPr/>
                </a:tc>
                <a:tc>
                  <a:txBody>
                    <a:bodyPr/>
                    <a:lstStyle/>
                    <a:p>
                      <a:pPr algn="r"/>
                      <a:r>
                        <a:rPr lang="en-US" b="0" dirty="0">
                          <a:solidFill>
                            <a:sysClr val="windowText" lastClr="000000"/>
                          </a:solidFill>
                        </a:rPr>
                        <a:t>5 units @ $150 = $ 750</a:t>
                      </a:r>
                    </a:p>
                  </a:txBody>
                  <a:tcPr/>
                </a:tc>
                <a:extLst>
                  <a:ext uri="{0D108BD9-81ED-4DB2-BD59-A6C34878D82A}">
                    <a16:rowId xmlns:a16="http://schemas.microsoft.com/office/drawing/2014/main" val="3366724723"/>
                  </a:ext>
                </a:extLst>
              </a:tr>
              <a:tr h="404321">
                <a:tc>
                  <a:txBody>
                    <a:bodyPr/>
                    <a:lstStyle/>
                    <a:p>
                      <a:pPr algn="r"/>
                      <a:r>
                        <a:rPr lang="en-US" b="0" dirty="0">
                          <a:solidFill>
                            <a:sysClr val="windowText" lastClr="000000"/>
                          </a:solidFill>
                        </a:rPr>
                        <a:t>15</a:t>
                      </a:r>
                    </a:p>
                  </a:txBody>
                  <a:tcPr/>
                </a:tc>
                <a:tc>
                  <a:txBody>
                    <a:bodyPr/>
                    <a:lstStyle/>
                    <a:p>
                      <a:r>
                        <a:rPr lang="en-US" dirty="0"/>
                        <a:t>Purchase</a:t>
                      </a:r>
                      <a:endParaRPr lang="en-US" b="0" dirty="0">
                        <a:solidFill>
                          <a:sysClr val="windowText" lastClr="000000"/>
                        </a:solidFill>
                      </a:endParaRPr>
                    </a:p>
                  </a:txBody>
                  <a:tcPr/>
                </a:tc>
                <a:tc>
                  <a:txBody>
                    <a:bodyPr/>
                    <a:lstStyle/>
                    <a:p>
                      <a:pPr algn="r"/>
                      <a:r>
                        <a:rPr lang="en-US" dirty="0"/>
                        <a:t>11 units @   160 =  1,760</a:t>
                      </a:r>
                      <a:endParaRPr lang="en-US" b="0" dirty="0">
                        <a:solidFill>
                          <a:sysClr val="windowText" lastClr="000000"/>
                        </a:solidFill>
                      </a:endParaRPr>
                    </a:p>
                  </a:txBody>
                  <a:tcPr/>
                </a:tc>
                <a:extLst>
                  <a:ext uri="{0D108BD9-81ED-4DB2-BD59-A6C34878D82A}">
                    <a16:rowId xmlns:a16="http://schemas.microsoft.com/office/drawing/2014/main" val="2919611593"/>
                  </a:ext>
                </a:extLst>
              </a:tr>
              <a:tr h="404321">
                <a:tc>
                  <a:txBody>
                    <a:bodyPr/>
                    <a:lstStyle/>
                    <a:p>
                      <a:pPr algn="r"/>
                      <a:r>
                        <a:rPr lang="en-US" b="0" dirty="0">
                          <a:solidFill>
                            <a:sysClr val="windowText" lastClr="000000"/>
                          </a:solidFill>
                        </a:rPr>
                        <a:t>26</a:t>
                      </a:r>
                    </a:p>
                  </a:txBody>
                  <a:tcPr/>
                </a:tc>
                <a:tc>
                  <a:txBody>
                    <a:bodyPr/>
                    <a:lstStyle/>
                    <a:p>
                      <a:r>
                        <a:rPr lang="en-US" dirty="0"/>
                        <a:t>Purchase</a:t>
                      </a:r>
                      <a:endParaRPr lang="en-US" b="0" dirty="0">
                        <a:solidFill>
                          <a:sysClr val="windowText" lastClr="000000"/>
                        </a:solidFill>
                      </a:endParaRPr>
                    </a:p>
                  </a:txBody>
                  <a:tcPr/>
                </a:tc>
                <a:tc>
                  <a:txBody>
                    <a:bodyPr/>
                    <a:lstStyle/>
                    <a:p>
                      <a:pPr algn="r"/>
                      <a:r>
                        <a:rPr lang="en-US" b="0" dirty="0">
                          <a:solidFill>
                            <a:sysClr val="windowText" lastClr="000000"/>
                          </a:solidFill>
                        </a:rPr>
                        <a:t>5 units @   170 =     850</a:t>
                      </a:r>
                    </a:p>
                  </a:txBody>
                  <a:tcPr/>
                </a:tc>
                <a:extLst>
                  <a:ext uri="{0D108BD9-81ED-4DB2-BD59-A6C34878D82A}">
                    <a16:rowId xmlns:a16="http://schemas.microsoft.com/office/drawing/2014/main" val="2634211058"/>
                  </a:ext>
                </a:extLst>
              </a:tr>
            </a:tbl>
          </a:graphicData>
        </a:graphic>
      </p:graphicFrame>
    </p:spTree>
    <p:extLst>
      <p:ext uri="{BB962C8B-B14F-4D97-AF65-F5344CB8AC3E}">
        <p14:creationId xmlns:p14="http://schemas.microsoft.com/office/powerpoint/2010/main" val="381906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Explain</a:t>
            </a:r>
            <a:r>
              <a:rPr lang="en-US" altLang="en-US" dirty="0">
                <a:ea typeface="ＭＳ Ｐゴシック" pitchFamily="34" charset="-128"/>
              </a:rPr>
              <a:t> how accounting standards apply to inventory</a:t>
            </a:r>
            <a:endParaRPr lang="en-US" dirty="0"/>
          </a:p>
        </p:txBody>
      </p:sp>
    </p:spTree>
    <p:extLst>
      <p:ext uri="{BB962C8B-B14F-4D97-AF65-F5344CB8AC3E}">
        <p14:creationId xmlns:p14="http://schemas.microsoft.com/office/powerpoint/2010/main" val="177117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Comparability </a:t>
            </a:r>
            <a:endParaRPr lang="en-US" dirty="0"/>
          </a:p>
        </p:txBody>
      </p:sp>
      <p:sp>
        <p:nvSpPr>
          <p:cNvPr id="3" name="Content Placeholder 2"/>
          <p:cNvSpPr>
            <a:spLocks noGrp="1"/>
          </p:cNvSpPr>
          <p:nvPr>
            <p:ph idx="1"/>
          </p:nvPr>
        </p:nvSpPr>
        <p:spPr/>
        <p:txBody>
          <a:bodyPr/>
          <a:lstStyle/>
          <a:p>
            <a:r>
              <a:rPr lang="en-US" altLang="en-US" dirty="0"/>
              <a:t>The principle related to inventory</a:t>
            </a:r>
            <a:endParaRPr lang="en-US" altLang="en-US" dirty="0">
              <a:ea typeface="ＭＳ Ｐゴシック" pitchFamily="34" charset="-128"/>
            </a:endParaRPr>
          </a:p>
          <a:p>
            <a:r>
              <a:rPr lang="en-US" altLang="en-US" dirty="0">
                <a:ea typeface="ＭＳ Ｐゴシック" pitchFamily="34" charset="-128"/>
              </a:rPr>
              <a:t>Investors want to compare a company’s financial statements from one period to the next</a:t>
            </a:r>
          </a:p>
          <a:p>
            <a:r>
              <a:rPr lang="en-US" altLang="en-US" dirty="0">
                <a:ea typeface="ＭＳ Ｐゴシック" pitchFamily="34" charset="-128"/>
              </a:rPr>
              <a:t>Therefore, must use the same accounting method for inventory from one period to the next</a:t>
            </a:r>
          </a:p>
          <a:p>
            <a:r>
              <a:rPr lang="en-US" altLang="en-US" dirty="0">
                <a:ea typeface="ＭＳ Ｐゴシック" pitchFamily="34" charset="-128"/>
              </a:rPr>
              <a:t>If a change in accounting method can be justified, a change can be made, but prior statements need to be adjusted</a:t>
            </a:r>
          </a:p>
        </p:txBody>
      </p:sp>
    </p:spTree>
    <p:extLst>
      <p:ext uri="{BB962C8B-B14F-4D97-AF65-F5344CB8AC3E}">
        <p14:creationId xmlns:p14="http://schemas.microsoft.com/office/powerpoint/2010/main" val="112418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Lower-of-Cost-and-Net-Realizable-Value (LCNRV) Rule</a:t>
            </a:r>
            <a:endParaRPr lang="en-US" dirty="0"/>
          </a:p>
        </p:txBody>
      </p:sp>
      <p:sp>
        <p:nvSpPr>
          <p:cNvPr id="3" name="Content Placeholder 2"/>
          <p:cNvSpPr>
            <a:spLocks noGrp="1"/>
          </p:cNvSpPr>
          <p:nvPr>
            <p:ph idx="1"/>
          </p:nvPr>
        </p:nvSpPr>
        <p:spPr>
          <a:xfrm>
            <a:off x="457200" y="1600200"/>
            <a:ext cx="8229600" cy="2285999"/>
          </a:xfrm>
        </p:spPr>
        <p:txBody>
          <a:bodyPr>
            <a:normAutofit fontScale="92500" lnSpcReduction="10000"/>
          </a:bodyPr>
          <a:lstStyle/>
          <a:p>
            <a:r>
              <a:rPr lang="en-US" altLang="en-US" dirty="0">
                <a:ea typeface="ＭＳ Ｐゴシック" pitchFamily="34" charset="-128"/>
              </a:rPr>
              <a:t>Inventory is reported at the lower of:</a:t>
            </a:r>
          </a:p>
          <a:p>
            <a:pPr lvl="1"/>
            <a:r>
              <a:rPr lang="en-US" altLang="en-US" dirty="0">
                <a:ea typeface="ＭＳ Ｐゴシック" pitchFamily="34" charset="-128"/>
              </a:rPr>
              <a:t>Cost or</a:t>
            </a:r>
          </a:p>
          <a:p>
            <a:pPr lvl="1"/>
            <a:r>
              <a:rPr lang="en-US" altLang="en-US" dirty="0">
                <a:ea typeface="ＭＳ Ｐゴシック" pitchFamily="34" charset="-128"/>
              </a:rPr>
              <a:t>Net realizable value (NRV)</a:t>
            </a:r>
          </a:p>
          <a:p>
            <a:pPr lvl="2"/>
            <a:r>
              <a:rPr lang="en-US" altLang="en-US" dirty="0">
                <a:ea typeface="ＭＳ Ｐゴシック" pitchFamily="34" charset="-128"/>
              </a:rPr>
              <a:t>Usually replacement cost</a:t>
            </a:r>
          </a:p>
          <a:p>
            <a:r>
              <a:rPr lang="en-US" altLang="en-US" dirty="0">
                <a:ea typeface="ＭＳ Ｐゴシック" pitchFamily="34" charset="-128"/>
              </a:rPr>
              <a:t>If NRV is lower than cost, inventory is written down </a:t>
            </a:r>
            <a:endParaRPr lang="en-US" dirty="0"/>
          </a:p>
        </p:txBody>
      </p:sp>
      <p:graphicFrame>
        <p:nvGraphicFramePr>
          <p:cNvPr id="4" name="Table 3"/>
          <p:cNvGraphicFramePr>
            <a:graphicFrameLocks noGrp="1"/>
          </p:cNvGraphicFramePr>
          <p:nvPr/>
        </p:nvGraphicFramePr>
        <p:xfrm>
          <a:off x="342900" y="4173747"/>
          <a:ext cx="8458200" cy="1849439"/>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823">
                <a:tc gridSpan="4">
                  <a:txBody>
                    <a:bodyPr/>
                    <a:lstStyle/>
                    <a:p>
                      <a:pPr algn="ctr"/>
                      <a:r>
                        <a:rPr lang="en-US" sz="1800" b="1" dirty="0"/>
                        <a:t>JOURNAL</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904">
                <a:tc>
                  <a:txBody>
                    <a:bodyPr/>
                    <a:lstStyle/>
                    <a:p>
                      <a:r>
                        <a:rPr lang="en-US" sz="1800" dirty="0"/>
                        <a:t>Date</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Cost of Goods Sold</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Inventory</a:t>
                      </a:r>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904">
                <a:tc>
                  <a:txBody>
                    <a:bodyPr/>
                    <a:lstStyle/>
                    <a:p>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91440"/>
                      <a:r>
                        <a:rPr kumimoji="0" lang="en-IN" sz="1800" i="1" kern="1200" baseline="0" dirty="0"/>
                        <a:t>Write inventory down to net realizable value</a:t>
                      </a:r>
                      <a:endParaRPr lang="en-US" sz="1700" i="1"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endParaRPr lang="en-US" sz="1800" dirty="0"/>
                    </a:p>
                  </a:txBody>
                  <a:tcPr marT="45728" marB="4572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3536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2594-A38A-489A-A8C6-3132D468B037}"/>
              </a:ext>
            </a:extLst>
          </p:cNvPr>
          <p:cNvSpPr>
            <a:spLocks noGrp="1"/>
          </p:cNvSpPr>
          <p:nvPr>
            <p:ph type="title"/>
          </p:nvPr>
        </p:nvSpPr>
        <p:spPr>
          <a:xfrm>
            <a:off x="233351" y="379090"/>
            <a:ext cx="8677297" cy="618838"/>
          </a:xfrm>
        </p:spPr>
        <p:txBody>
          <a:bodyPr/>
          <a:lstStyle/>
          <a:p>
            <a:r>
              <a:rPr lang="en-US" altLang="zh-CN" dirty="0"/>
              <a:t>Practice Problem S5-7</a:t>
            </a:r>
            <a:endParaRPr lang="en-US" dirty="0"/>
          </a:p>
        </p:txBody>
      </p:sp>
      <p:sp>
        <p:nvSpPr>
          <p:cNvPr id="3" name="Content Placeholder 2">
            <a:extLst>
              <a:ext uri="{FF2B5EF4-FFF2-40B4-BE49-F238E27FC236}">
                <a16:creationId xmlns:a16="http://schemas.microsoft.com/office/drawing/2014/main" id="{EFDABBFD-27C6-AD31-B879-2AF3941C76DF}"/>
              </a:ext>
            </a:extLst>
          </p:cNvPr>
          <p:cNvSpPr>
            <a:spLocks noGrp="1"/>
          </p:cNvSpPr>
          <p:nvPr>
            <p:ph idx="1"/>
          </p:nvPr>
        </p:nvSpPr>
        <p:spPr>
          <a:xfrm>
            <a:off x="271790" y="997928"/>
            <a:ext cx="8424154" cy="1567101"/>
          </a:xfrm>
        </p:spPr>
        <p:txBody>
          <a:bodyPr/>
          <a:lstStyle/>
          <a:p>
            <a:pPr marL="0" indent="0">
              <a:buNone/>
            </a:pPr>
            <a:r>
              <a:rPr lang="en-US" dirty="0"/>
              <a:t>It is December 31, 2020, end of year, and the controller of Garcia Corporation is applying the lower-of-cost-and-net-realizable-value (LCNRV) rule to inventories. Before any year-end adjustments, Garcia has these data: </a:t>
            </a:r>
          </a:p>
        </p:txBody>
      </p:sp>
      <p:sp>
        <p:nvSpPr>
          <p:cNvPr id="5" name="Content Placeholder 2">
            <a:extLst>
              <a:ext uri="{FF2B5EF4-FFF2-40B4-BE49-F238E27FC236}">
                <a16:creationId xmlns:a16="http://schemas.microsoft.com/office/drawing/2014/main" id="{54F52169-47F3-E009-0A5D-F60A92743AC2}"/>
              </a:ext>
            </a:extLst>
          </p:cNvPr>
          <p:cNvSpPr txBox="1">
            <a:spLocks/>
          </p:cNvSpPr>
          <p:nvPr/>
        </p:nvSpPr>
        <p:spPr>
          <a:xfrm>
            <a:off x="233351" y="3776043"/>
            <a:ext cx="8677297" cy="2319958"/>
          </a:xfrm>
          <a:prstGeom prst="rect">
            <a:avLst/>
          </a:prstGeom>
        </p:spPr>
        <p:txBody>
          <a:bodyPr vert="horz" lIns="91440" tIns="45720" rIns="91440" bIns="45720" rtlCol="0">
            <a:normAutofit/>
          </a:bodyPr>
          <a:lst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pPr>
            <a:r>
              <a:rPr lang="en-US" dirty="0"/>
              <a:t>Garcia determines that the net realizable value of ending inventory is $49,000. Show what Garcia should report for ending inventory and for cost of goods sold. Identify the financial statement where each item appears. How would investors and creditors know about the change in inventory value?</a:t>
            </a:r>
          </a:p>
        </p:txBody>
      </p:sp>
      <p:graphicFrame>
        <p:nvGraphicFramePr>
          <p:cNvPr id="6" name="Table 6">
            <a:extLst>
              <a:ext uri="{FF2B5EF4-FFF2-40B4-BE49-F238E27FC236}">
                <a16:creationId xmlns:a16="http://schemas.microsoft.com/office/drawing/2014/main" id="{85FA9FE2-25C6-A921-65FD-DD52C47D8FE9}"/>
              </a:ext>
            </a:extLst>
          </p:cNvPr>
          <p:cNvGraphicFramePr>
            <a:graphicFrameLocks noGrp="1"/>
          </p:cNvGraphicFramePr>
          <p:nvPr/>
        </p:nvGraphicFramePr>
        <p:xfrm>
          <a:off x="233351" y="2680947"/>
          <a:ext cx="8754172" cy="1005840"/>
        </p:xfrm>
        <a:graphic>
          <a:graphicData uri="http://schemas.openxmlformats.org/drawingml/2006/table">
            <a:tbl>
              <a:tblPr bandRow="1">
                <a:tableStyleId>{BC89EF96-8CEA-46FF-86C4-4CE0E7609802}</a:tableStyleId>
              </a:tblPr>
              <a:tblGrid>
                <a:gridCol w="6322458">
                  <a:extLst>
                    <a:ext uri="{9D8B030D-6E8A-4147-A177-3AD203B41FA5}">
                      <a16:colId xmlns:a16="http://schemas.microsoft.com/office/drawing/2014/main" val="1730809949"/>
                    </a:ext>
                  </a:extLst>
                </a:gridCol>
                <a:gridCol w="2431714">
                  <a:extLst>
                    <a:ext uri="{9D8B030D-6E8A-4147-A177-3AD203B41FA5}">
                      <a16:colId xmlns:a16="http://schemas.microsoft.com/office/drawing/2014/main" val="2317682296"/>
                    </a:ext>
                  </a:extLst>
                </a:gridCol>
              </a:tblGrid>
              <a:tr h="209217">
                <a:tc>
                  <a:txBody>
                    <a:bodyPr/>
                    <a:lstStyle/>
                    <a:p>
                      <a:r>
                        <a:rPr lang="en-US" b="0" dirty="0">
                          <a:solidFill>
                            <a:sysClr val="windowText" lastClr="000000"/>
                          </a:solidFill>
                        </a:rPr>
                        <a:t>Cost of goods sold</a:t>
                      </a:r>
                    </a:p>
                  </a:txBody>
                  <a:tcPr/>
                </a:tc>
                <a:tc>
                  <a:txBody>
                    <a:bodyPr/>
                    <a:lstStyle/>
                    <a:p>
                      <a:pPr algn="r"/>
                      <a:r>
                        <a:rPr lang="en-US" b="0" dirty="0">
                          <a:solidFill>
                            <a:sysClr val="windowText" lastClr="000000"/>
                          </a:solidFill>
                        </a:rPr>
                        <a:t>$410,000 </a:t>
                      </a:r>
                    </a:p>
                  </a:txBody>
                  <a:tcPr/>
                </a:tc>
                <a:extLst>
                  <a:ext uri="{0D108BD9-81ED-4DB2-BD59-A6C34878D82A}">
                    <a16:rowId xmlns:a16="http://schemas.microsoft.com/office/drawing/2014/main" val="3366724723"/>
                  </a:ext>
                </a:extLst>
              </a:tr>
              <a:tr h="404321">
                <a:tc>
                  <a:txBody>
                    <a:bodyPr/>
                    <a:lstStyle/>
                    <a:p>
                      <a:r>
                        <a:rPr lang="en-US" dirty="0"/>
                        <a:t>Historical cost of ending inventory, as determined by a physical count </a:t>
                      </a:r>
                      <a:endParaRPr lang="en-US" b="0" dirty="0">
                        <a:solidFill>
                          <a:sysClr val="windowText" lastClr="000000"/>
                        </a:solidFill>
                      </a:endParaRPr>
                    </a:p>
                  </a:txBody>
                  <a:tcPr/>
                </a:tc>
                <a:tc>
                  <a:txBody>
                    <a:bodyPr/>
                    <a:lstStyle/>
                    <a:p>
                      <a:pPr algn="r"/>
                      <a:r>
                        <a:rPr lang="en-US" dirty="0"/>
                        <a:t>60,000</a:t>
                      </a:r>
                      <a:endParaRPr lang="en-US" b="0" dirty="0">
                        <a:solidFill>
                          <a:sysClr val="windowText" lastClr="000000"/>
                        </a:solidFill>
                      </a:endParaRPr>
                    </a:p>
                  </a:txBody>
                  <a:tcPr/>
                </a:tc>
                <a:extLst>
                  <a:ext uri="{0D108BD9-81ED-4DB2-BD59-A6C34878D82A}">
                    <a16:rowId xmlns:a16="http://schemas.microsoft.com/office/drawing/2014/main" val="2919611593"/>
                  </a:ext>
                </a:extLst>
              </a:tr>
            </a:tbl>
          </a:graphicData>
        </a:graphic>
      </p:graphicFrame>
    </p:spTree>
    <p:extLst>
      <p:ext uri="{BB962C8B-B14F-4D97-AF65-F5344CB8AC3E}">
        <p14:creationId xmlns:p14="http://schemas.microsoft.com/office/powerpoint/2010/main" val="106046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Subtitle 2"/>
          <p:cNvSpPr>
            <a:spLocks noGrp="1"/>
          </p:cNvSpPr>
          <p:nvPr>
            <p:ph type="subTitle" idx="1"/>
          </p:nvPr>
        </p:nvSpPr>
        <p:spPr/>
        <p:txBody>
          <a:bodyPr>
            <a:normAutofit fontScale="85000" lnSpcReduction="10000"/>
          </a:bodyPr>
          <a:lstStyle/>
          <a:p>
            <a:r>
              <a:rPr lang="en-US" altLang="en-US" b="1" dirty="0">
                <a:ea typeface="ＭＳ Ｐゴシック" pitchFamily="34" charset="-128"/>
              </a:rPr>
              <a:t>Compute </a:t>
            </a:r>
            <a:r>
              <a:rPr lang="en-US" altLang="en-US" dirty="0">
                <a:ea typeface="ＭＳ Ｐゴシック" pitchFamily="34" charset="-128"/>
              </a:rPr>
              <a:t>and </a:t>
            </a:r>
            <a:r>
              <a:rPr lang="en-US" altLang="en-US" b="1" dirty="0">
                <a:ea typeface="ＭＳ Ｐゴシック" pitchFamily="34" charset="-128"/>
              </a:rPr>
              <a:t>evaluate</a:t>
            </a:r>
            <a:r>
              <a:rPr lang="en-US" altLang="en-US" dirty="0">
                <a:ea typeface="ＭＳ Ｐゴシック" pitchFamily="34" charset="-128"/>
              </a:rPr>
              <a:t> gross profit percentage, inventory turnover, and days’ inventory outstanding</a:t>
            </a:r>
            <a:endParaRPr lang="en-US" dirty="0"/>
          </a:p>
        </p:txBody>
      </p:sp>
    </p:spTree>
    <p:extLst>
      <p:ext uri="{BB962C8B-B14F-4D97-AF65-F5344CB8AC3E}">
        <p14:creationId xmlns:p14="http://schemas.microsoft.com/office/powerpoint/2010/main" val="378112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Gross Profit Percentage</a:t>
            </a:r>
            <a:endParaRPr lang="en-US" dirty="0"/>
          </a:p>
        </p:txBody>
      </p:sp>
      <p:graphicFrame>
        <p:nvGraphicFramePr>
          <p:cNvPr id="7" name="Object 6" descr="Gross profit over Net sales revenue">
            <a:extLst>
              <a:ext uri="{FF2B5EF4-FFF2-40B4-BE49-F238E27FC236}">
                <a16:creationId xmlns:a16="http://schemas.microsoft.com/office/drawing/2014/main" id="{02FB58AB-A95F-4161-B67A-605788A0D661}"/>
              </a:ext>
            </a:extLst>
          </p:cNvPr>
          <p:cNvGraphicFramePr>
            <a:graphicFrameLocks noChangeAspect="1"/>
          </p:cNvGraphicFramePr>
          <p:nvPr/>
        </p:nvGraphicFramePr>
        <p:xfrm>
          <a:off x="3295650" y="2895600"/>
          <a:ext cx="2552700" cy="746125"/>
        </p:xfrm>
        <a:graphic>
          <a:graphicData uri="http://schemas.openxmlformats.org/presentationml/2006/ole">
            <mc:AlternateContent xmlns:mc="http://schemas.openxmlformats.org/markup-compatibility/2006">
              <mc:Choice xmlns:v="urn:schemas-microsoft-com:vml" Requires="v">
                <p:oleObj name="Equation" r:id="rId3" imgW="2133360" imgH="622080" progId="Equation.DSMT4">
                  <p:embed/>
                </p:oleObj>
              </mc:Choice>
              <mc:Fallback>
                <p:oleObj name="Equation" r:id="rId3" imgW="2133360" imgH="622080" progId="Equation.DSMT4">
                  <p:embed/>
                  <p:pic>
                    <p:nvPicPr>
                      <p:cNvPr id="7" name="Object 6" descr="Gross profit over Net sales revenue">
                        <a:extLst>
                          <a:ext uri="{FF2B5EF4-FFF2-40B4-BE49-F238E27FC236}">
                            <a16:creationId xmlns:a16="http://schemas.microsoft.com/office/drawing/2014/main" id="{02FB58AB-A95F-4161-B67A-605788A0D661}"/>
                          </a:ext>
                        </a:extLst>
                      </p:cNvPr>
                      <p:cNvPicPr>
                        <a:picLocks noChangeAspect="1" noChangeArrowheads="1"/>
                      </p:cNvPicPr>
                      <p:nvPr/>
                    </p:nvPicPr>
                    <p:blipFill>
                      <a:blip r:embed="rId4"/>
                      <a:srcRect/>
                      <a:stretch>
                        <a:fillRect/>
                      </a:stretch>
                    </p:blipFill>
                    <p:spPr bwMode="auto">
                      <a:xfrm>
                        <a:off x="3295650" y="2895600"/>
                        <a:ext cx="2552700"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8151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Inventory Turnover</a:t>
            </a:r>
            <a:endParaRPr lang="en-US" dirty="0"/>
          </a:p>
        </p:txBody>
      </p:sp>
      <p:graphicFrame>
        <p:nvGraphicFramePr>
          <p:cNvPr id="11" name="Object 10" descr="Cost of goods sold over Average inventory">
            <a:extLst>
              <a:ext uri="{FF2B5EF4-FFF2-40B4-BE49-F238E27FC236}">
                <a16:creationId xmlns:a16="http://schemas.microsoft.com/office/drawing/2014/main" id="{28D54AD0-41CA-4591-A408-7F96F621AADA}"/>
              </a:ext>
            </a:extLst>
          </p:cNvPr>
          <p:cNvGraphicFramePr>
            <a:graphicFrameLocks noChangeAspect="1"/>
          </p:cNvGraphicFramePr>
          <p:nvPr/>
        </p:nvGraphicFramePr>
        <p:xfrm>
          <a:off x="2967038" y="2590800"/>
          <a:ext cx="3205162" cy="989013"/>
        </p:xfrm>
        <a:graphic>
          <a:graphicData uri="http://schemas.openxmlformats.org/presentationml/2006/ole">
            <mc:AlternateContent xmlns:mc="http://schemas.openxmlformats.org/markup-compatibility/2006">
              <mc:Choice xmlns:v="urn:schemas-microsoft-com:vml" Requires="v">
                <p:oleObj name="Equation" r:id="rId3" imgW="2184120" imgH="672840" progId="Equation.DSMT4">
                  <p:embed/>
                </p:oleObj>
              </mc:Choice>
              <mc:Fallback>
                <p:oleObj name="Equation" r:id="rId3" imgW="2184120" imgH="672840" progId="Equation.DSMT4">
                  <p:embed/>
                  <p:pic>
                    <p:nvPicPr>
                      <p:cNvPr id="11" name="Object 10" descr="Cost of goods sold over Average inventory">
                        <a:extLst>
                          <a:ext uri="{FF2B5EF4-FFF2-40B4-BE49-F238E27FC236}">
                            <a16:creationId xmlns:a16="http://schemas.microsoft.com/office/drawing/2014/main" id="{28D54AD0-41CA-4591-A408-7F96F621AADA}"/>
                          </a:ext>
                        </a:extLst>
                      </p:cNvPr>
                      <p:cNvPicPr>
                        <a:picLocks noChangeAspect="1" noChangeArrowheads="1"/>
                      </p:cNvPicPr>
                      <p:nvPr/>
                    </p:nvPicPr>
                    <p:blipFill>
                      <a:blip r:embed="rId4"/>
                      <a:srcRect/>
                      <a:stretch>
                        <a:fillRect/>
                      </a:stretch>
                    </p:blipFill>
                    <p:spPr bwMode="auto">
                      <a:xfrm>
                        <a:off x="2967038" y="2590800"/>
                        <a:ext cx="3205162" cy="989013"/>
                      </a:xfrm>
                      <a:prstGeom prst="rect">
                        <a:avLst/>
                      </a:prstGeom>
                      <a:noFill/>
                    </p:spPr>
                  </p:pic>
                </p:oleObj>
              </mc:Fallback>
            </mc:AlternateContent>
          </a:graphicData>
        </a:graphic>
      </p:graphicFrame>
      <p:cxnSp>
        <p:nvCxnSpPr>
          <p:cNvPr id="9" name="Straight Arrow Connector 8"/>
          <p:cNvCxnSpPr>
            <a:cxnSpLocks noChangeShapeType="1"/>
          </p:cNvCxnSpPr>
          <p:nvPr/>
        </p:nvCxnSpPr>
        <p:spPr bwMode="auto">
          <a:xfrm rot="5400000">
            <a:off x="4302137" y="4042893"/>
            <a:ext cx="539726" cy="4365"/>
          </a:xfrm>
          <a:prstGeom prst="straightConnector1">
            <a:avLst/>
          </a:prstGeom>
          <a:noFill/>
          <a:ln w="19050">
            <a:solidFill>
              <a:schemeClr val="tx1"/>
            </a:solidFill>
            <a:round/>
            <a:headEnd/>
            <a:tailEnd type="arrow" w="med" len="med"/>
          </a:ln>
          <a:effectLst>
            <a:outerShdw blurRad="51500" dist="25400" dir="5400000" rotWithShape="0">
              <a:srgbClr val="808080">
                <a:alpha val="39998"/>
              </a:srgbClr>
            </a:outerShdw>
          </a:effectLst>
          <a:extLst>
            <a:ext uri="{909E8E84-426E-40DD-AFC4-6F175D3DCCD1}">
              <a14:hiddenFill xmlns:a14="http://schemas.microsoft.com/office/drawing/2010/main">
                <a:noFill/>
              </a14:hiddenFill>
            </a:ext>
          </a:extLst>
        </p:spPr>
      </p:cxnSp>
      <p:sp>
        <p:nvSpPr>
          <p:cNvPr id="8" name="Content Placeholder 7"/>
          <p:cNvSpPr>
            <a:spLocks noGrp="1"/>
          </p:cNvSpPr>
          <p:nvPr>
            <p:ph idx="13"/>
          </p:nvPr>
        </p:nvSpPr>
        <p:spPr>
          <a:xfrm>
            <a:off x="457200" y="4464175"/>
            <a:ext cx="8229600" cy="539727"/>
          </a:xfrm>
        </p:spPr>
        <p:txBody>
          <a:bodyPr/>
          <a:lstStyle/>
          <a:p>
            <a:pPr marL="0" indent="0" algn="ctr">
              <a:buNone/>
            </a:pPr>
            <a:r>
              <a:rPr lang="en-US" altLang="en-US" dirty="0"/>
              <a:t>(</a:t>
            </a:r>
            <a:r>
              <a:rPr lang="en-US" altLang="en-US" b="1" dirty="0"/>
              <a:t>Beginning Inventory + Ending Inventory)/2</a:t>
            </a:r>
          </a:p>
        </p:txBody>
      </p:sp>
    </p:spTree>
    <p:extLst>
      <p:ext uri="{BB962C8B-B14F-4D97-AF65-F5344CB8AC3E}">
        <p14:creationId xmlns:p14="http://schemas.microsoft.com/office/powerpoint/2010/main" val="4012725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Days’ Inventory Outstanding</a:t>
            </a:r>
            <a:endParaRPr lang="en-US" dirty="0"/>
          </a:p>
        </p:txBody>
      </p:sp>
      <p:graphicFrame>
        <p:nvGraphicFramePr>
          <p:cNvPr id="2" name="Object 1">
            <a:extLst>
              <a:ext uri="{FF2B5EF4-FFF2-40B4-BE49-F238E27FC236}">
                <a16:creationId xmlns:a16="http://schemas.microsoft.com/office/drawing/2014/main" id="{82556A4B-D8CD-F34A-9CC1-9932556C56BA}"/>
              </a:ext>
            </a:extLst>
          </p:cNvPr>
          <p:cNvGraphicFramePr>
            <a:graphicFrameLocks noChangeAspect="1"/>
          </p:cNvGraphicFramePr>
          <p:nvPr/>
        </p:nvGraphicFramePr>
        <p:xfrm>
          <a:off x="3244850" y="2895600"/>
          <a:ext cx="2654300" cy="787400"/>
        </p:xfrm>
        <a:graphic>
          <a:graphicData uri="http://schemas.openxmlformats.org/presentationml/2006/ole">
            <mc:AlternateContent xmlns:mc="http://schemas.openxmlformats.org/markup-compatibility/2006">
              <mc:Choice xmlns:v="urn:schemas-microsoft-com:vml" Requires="v">
                <p:oleObj name="Equation" r:id="rId3" imgW="2654280" imgH="787320" progId="Equation.DSMT4">
                  <p:embed/>
                </p:oleObj>
              </mc:Choice>
              <mc:Fallback>
                <p:oleObj name="Equation" r:id="rId3" imgW="2654280" imgH="787320" progId="Equation.DSMT4">
                  <p:embed/>
                  <p:pic>
                    <p:nvPicPr>
                      <p:cNvPr id="2" name="Object 1">
                        <a:extLst>
                          <a:ext uri="{FF2B5EF4-FFF2-40B4-BE49-F238E27FC236}">
                            <a16:creationId xmlns:a16="http://schemas.microsoft.com/office/drawing/2014/main" id="{82556A4B-D8CD-F34A-9CC1-9932556C56BA}"/>
                          </a:ext>
                        </a:extLst>
                      </p:cNvPr>
                      <p:cNvPicPr/>
                      <p:nvPr/>
                    </p:nvPicPr>
                    <p:blipFill>
                      <a:blip r:embed="rId4"/>
                      <a:stretch>
                        <a:fillRect/>
                      </a:stretch>
                    </p:blipFill>
                    <p:spPr>
                      <a:xfrm>
                        <a:off x="3244850" y="2895600"/>
                        <a:ext cx="2654300" cy="787400"/>
                      </a:xfrm>
                      <a:prstGeom prst="rect">
                        <a:avLst/>
                      </a:prstGeom>
                    </p:spPr>
                  </p:pic>
                </p:oleObj>
              </mc:Fallback>
            </mc:AlternateContent>
          </a:graphicData>
        </a:graphic>
      </p:graphicFrame>
    </p:spTree>
    <p:extLst>
      <p:ext uri="{BB962C8B-B14F-4D97-AF65-F5344CB8AC3E}">
        <p14:creationId xmlns:p14="http://schemas.microsoft.com/office/powerpoint/2010/main" val="13465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Subtitle 2"/>
          <p:cNvSpPr>
            <a:spLocks noGrp="1"/>
          </p:cNvSpPr>
          <p:nvPr>
            <p:ph type="subTitle" idx="1"/>
          </p:nvPr>
        </p:nvSpPr>
        <p:spPr/>
        <p:txBody>
          <a:bodyPr/>
          <a:lstStyle/>
          <a:p>
            <a:r>
              <a:rPr lang="en-US" altLang="en-US" b="1" dirty="0">
                <a:ea typeface="ＭＳ Ｐゴシック" pitchFamily="34" charset="-128"/>
              </a:rPr>
              <a:t>Analyze</a:t>
            </a:r>
            <a:r>
              <a:rPr lang="en-US" altLang="en-US" dirty="0">
                <a:ea typeface="ＭＳ Ｐゴシック" pitchFamily="34" charset="-128"/>
              </a:rPr>
              <a:t> the effects of inventory errors</a:t>
            </a:r>
            <a:endParaRPr lang="en-US" dirty="0"/>
          </a:p>
        </p:txBody>
      </p:sp>
    </p:spTree>
    <p:extLst>
      <p:ext uri="{BB962C8B-B14F-4D97-AF65-F5344CB8AC3E}">
        <p14:creationId xmlns:p14="http://schemas.microsoft.com/office/powerpoint/2010/main" val="267178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Effects of Inventory Errors </a:t>
            </a:r>
            <a:r>
              <a:rPr lang="en-US" altLang="en-US" sz="2000" b="0" dirty="0"/>
              <a:t>(1 of 2)</a:t>
            </a:r>
            <a:endParaRPr lang="en-US" sz="2000" b="0" dirty="0"/>
          </a:p>
        </p:txBody>
      </p:sp>
      <p:graphicFrame>
        <p:nvGraphicFramePr>
          <p:cNvPr id="4" name="Table 3"/>
          <p:cNvGraphicFramePr>
            <a:graphicFrameLocks noGrp="1"/>
          </p:cNvGraphicFramePr>
          <p:nvPr/>
        </p:nvGraphicFramePr>
        <p:xfrm>
          <a:off x="60960" y="1828800"/>
          <a:ext cx="9022080" cy="4224020"/>
        </p:xfrm>
        <a:graphic>
          <a:graphicData uri="http://schemas.openxmlformats.org/drawingml/2006/table">
            <a:tbl>
              <a:tblPr firstRow="1" bandRow="1">
                <a:tableStyleId>{2D5ABB26-0587-4C30-8999-92F81FD0307C}</a:tableStyleId>
              </a:tblPr>
              <a:tblGrid>
                <a:gridCol w="3616960">
                  <a:extLst>
                    <a:ext uri="{9D8B030D-6E8A-4147-A177-3AD203B41FA5}">
                      <a16:colId xmlns:a16="http://schemas.microsoft.com/office/drawing/2014/main" val="20000"/>
                    </a:ext>
                  </a:extLst>
                </a:gridCol>
                <a:gridCol w="1899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70840">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eaLnBrk="1" hangingPunct="1">
                        <a:lnSpc>
                          <a:spcPct val="85000"/>
                        </a:lnSpc>
                      </a:pPr>
                      <a:r>
                        <a:rPr lang="en-US" altLang="en-US" sz="1800" i="1" dirty="0"/>
                        <a:t>Period 1</a:t>
                      </a:r>
                    </a:p>
                    <a:p>
                      <a:pPr algn="ctr" eaLnBrk="1" hangingPunct="1">
                        <a:lnSpc>
                          <a:spcPct val="85000"/>
                        </a:lnSpc>
                      </a:pPr>
                      <a:r>
                        <a:rPr lang="en-US" altLang="en-US" sz="1800" i="1" dirty="0"/>
                        <a:t>Ending</a:t>
                      </a:r>
                    </a:p>
                    <a:p>
                      <a:pPr algn="ctr" eaLnBrk="1" hangingPunct="1">
                        <a:lnSpc>
                          <a:spcPct val="85000"/>
                        </a:lnSpc>
                      </a:pPr>
                      <a:r>
                        <a:rPr lang="en-US" altLang="en-US" sz="1800" i="1" dirty="0"/>
                        <a:t>Inventory</a:t>
                      </a:r>
                    </a:p>
                    <a:p>
                      <a:pPr algn="ctr" eaLnBrk="1" hangingPunct="1">
                        <a:lnSpc>
                          <a:spcPct val="85000"/>
                        </a:lnSpc>
                      </a:pPr>
                      <a:r>
                        <a:rPr lang="en-US" altLang="en-US" sz="1800" i="1" dirty="0"/>
                        <a:t>Overstated</a:t>
                      </a:r>
                    </a:p>
                    <a:p>
                      <a:pPr algn="ctr" eaLnBrk="1" hangingPunct="1">
                        <a:lnSpc>
                          <a:spcPct val="85000"/>
                        </a:lnSpc>
                      </a:pPr>
                      <a:r>
                        <a:rPr lang="en-US" altLang="en-US" sz="1800" i="1" dirty="0"/>
                        <a:t>by $5,000</a:t>
                      </a:r>
                      <a:endParaRPr lang="en-US" sz="1800" dirty="0"/>
                    </a:p>
                  </a:txBody>
                  <a:tcPr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eaLnBrk="1" hangingPunct="1">
                        <a:lnSpc>
                          <a:spcPct val="85000"/>
                        </a:lnSpc>
                      </a:pPr>
                      <a:r>
                        <a:rPr lang="en-US" altLang="en-US" sz="1800" i="1" dirty="0"/>
                        <a:t>Period 2</a:t>
                      </a:r>
                    </a:p>
                    <a:p>
                      <a:pPr algn="ctr" eaLnBrk="1" hangingPunct="1">
                        <a:lnSpc>
                          <a:spcPct val="85000"/>
                        </a:lnSpc>
                      </a:pPr>
                      <a:r>
                        <a:rPr lang="en-US" altLang="en-US" sz="1800" i="1" dirty="0"/>
                        <a:t>Beginning</a:t>
                      </a:r>
                    </a:p>
                    <a:p>
                      <a:pPr algn="ctr" eaLnBrk="1" hangingPunct="1">
                        <a:lnSpc>
                          <a:spcPct val="85000"/>
                        </a:lnSpc>
                      </a:pPr>
                      <a:r>
                        <a:rPr lang="en-US" altLang="en-US" sz="1800" i="1" dirty="0"/>
                        <a:t>Inventory</a:t>
                      </a:r>
                    </a:p>
                    <a:p>
                      <a:pPr algn="ctr" eaLnBrk="1" hangingPunct="1">
                        <a:lnSpc>
                          <a:spcPct val="85000"/>
                        </a:lnSpc>
                      </a:pPr>
                      <a:r>
                        <a:rPr lang="en-US" altLang="en-US" sz="1800" i="1" dirty="0"/>
                        <a:t>Overstated</a:t>
                      </a:r>
                    </a:p>
                    <a:p>
                      <a:pPr algn="ctr" eaLnBrk="1" hangingPunct="1">
                        <a:lnSpc>
                          <a:spcPct val="85000"/>
                        </a:lnSpc>
                      </a:pPr>
                      <a:r>
                        <a:rPr lang="en-US" altLang="en-US" sz="1800" i="1" dirty="0"/>
                        <a:t>by $5,000</a:t>
                      </a:r>
                      <a:endParaRPr lang="en-US" sz="1800" dirty="0"/>
                    </a:p>
                  </a:txBody>
                  <a:tcPr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eaLnBrk="1" hangingPunct="1">
                        <a:lnSpc>
                          <a:spcPct val="85000"/>
                        </a:lnSpc>
                      </a:pPr>
                      <a:r>
                        <a:rPr lang="en-US" altLang="en-US" sz="1800" i="1" dirty="0"/>
                        <a:t>Period 3</a:t>
                      </a:r>
                    </a:p>
                    <a:p>
                      <a:pPr algn="ctr" eaLnBrk="1" hangingPunct="1">
                        <a:lnSpc>
                          <a:spcPct val="85000"/>
                        </a:lnSpc>
                      </a:pPr>
                      <a:r>
                        <a:rPr lang="en-US" altLang="en-US" sz="1800" i="1" dirty="0"/>
                        <a:t>Correct</a:t>
                      </a:r>
                      <a:endParaRPr lang="en-US" sz="1800" dirty="0"/>
                    </a:p>
                  </a:txBody>
                  <a:tcPr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Sales revenue</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t>$100,000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t>$100,000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t>$100,000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en-US" sz="1800" dirty="0"/>
                        <a:t>Cost of goods sold:</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182880"/>
                      <a:r>
                        <a:rPr lang="en-US" altLang="en-US" sz="1800" dirty="0"/>
                        <a:t>Beg. inventory</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t>$10,000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solidFill>
                            <a:schemeClr val="tx2"/>
                          </a:solidFill>
                        </a:rPr>
                        <a:t>$15,000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t>$10,000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182880"/>
                      <a:r>
                        <a:rPr lang="en-US" altLang="en-US" sz="1800" dirty="0"/>
                        <a:t>Purchases</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t> 50,000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t> 50,000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t> 50,000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182880"/>
                      <a:r>
                        <a:rPr lang="en-US" altLang="en-US" sz="1800" dirty="0"/>
                        <a:t>Cost of goods available for sale</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t>$60,000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solidFill>
                            <a:schemeClr val="tx2"/>
                          </a:solidFill>
                        </a:rPr>
                        <a:t>$65,000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dirty="0"/>
                        <a:t>$60,000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182880"/>
                      <a:r>
                        <a:rPr lang="en-US" altLang="en-US" sz="1800" dirty="0">
                          <a:solidFill>
                            <a:schemeClr val="tx2"/>
                          </a:solidFill>
                        </a:rPr>
                        <a:t>Ending inventory</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solidFill>
                            <a:schemeClr val="tx2"/>
                          </a:solidFill>
                        </a:rPr>
                        <a:t>(15,000)</a:t>
                      </a:r>
                      <a:endParaRPr lang="en-US" u="sng"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t>(10,000)</a:t>
                      </a:r>
                      <a:endParaRPr lang="en-US" u="sng"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en-US" sz="1800" u="sng" dirty="0"/>
                        <a:t>(10,000)</a:t>
                      </a:r>
                      <a:endParaRPr lang="en-US" u="sng"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182880"/>
                      <a:r>
                        <a:rPr lang="en-US" altLang="en-US" sz="1800" dirty="0">
                          <a:solidFill>
                            <a:schemeClr val="tx2"/>
                          </a:solidFill>
                        </a:rPr>
                        <a:t>Cost of goods sold</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u="sng" dirty="0">
                          <a:solidFill>
                            <a:schemeClr val="tx2"/>
                          </a:solidFill>
                        </a:rPr>
                        <a:t>   45,000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u="sng" dirty="0">
                          <a:solidFill>
                            <a:schemeClr val="tx2"/>
                          </a:solidFill>
                        </a:rPr>
                        <a:t>   55,000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u="sng" dirty="0"/>
                        <a:t>   50,000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r>
                        <a:rPr lang="en-US" altLang="en-US" sz="1800" dirty="0">
                          <a:solidFill>
                            <a:schemeClr val="tx2"/>
                          </a:solidFill>
                        </a:rPr>
                        <a:t>Gross margin</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rPr>
                        <a:t>$  55,000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solidFill>
                            <a:schemeClr val="tx2"/>
                          </a:solidFill>
                        </a:rPr>
                        <a:t>$ 45,000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r"/>
                      <a:r>
                        <a:rPr lang="en-US" altLang="en-US" sz="1800" dirty="0"/>
                        <a:t>$ 50,000</a:t>
                      </a:r>
                      <a:endParaRPr 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9359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Effects of Inventory Errors </a:t>
            </a:r>
            <a:r>
              <a:rPr lang="en-US" altLang="en-US" sz="2000" b="0" dirty="0"/>
              <a:t>(2 of 2)</a:t>
            </a:r>
            <a:r>
              <a:rPr lang="en-US" altLang="en-US" dirty="0"/>
              <a:t> </a:t>
            </a:r>
            <a:endParaRPr lang="en-US" b="0" dirty="0"/>
          </a:p>
        </p:txBody>
      </p:sp>
      <p:graphicFrame>
        <p:nvGraphicFramePr>
          <p:cNvPr id="3" name="Table 2"/>
          <p:cNvGraphicFramePr>
            <a:graphicFrameLocks noGrp="1"/>
          </p:cNvGraphicFramePr>
          <p:nvPr/>
        </p:nvGraphicFramePr>
        <p:xfrm>
          <a:off x="90095" y="1828800"/>
          <a:ext cx="8963810" cy="3556142"/>
        </p:xfrm>
        <a:graphic>
          <a:graphicData uri="http://schemas.openxmlformats.org/drawingml/2006/table">
            <a:tbl>
              <a:tblPr firstRow="1" bandRow="1">
                <a:tableStyleId>{2D5ABB26-0587-4C30-8999-92F81FD0307C}</a:tableStyleId>
              </a:tblPr>
              <a:tblGrid>
                <a:gridCol w="195341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tblGrid>
              <a:tr h="370872">
                <a:tc>
                  <a:txBody>
                    <a:bodyPr/>
                    <a:lstStyle/>
                    <a:p>
                      <a:endParaRPr lang="en-US" sz="1800" b="1"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2">
                  <a:txBody>
                    <a:bodyPr/>
                    <a:lstStyle/>
                    <a:p>
                      <a:pPr algn="ctr"/>
                      <a:r>
                        <a:rPr lang="en-US" sz="1800" b="1" dirty="0"/>
                        <a:t>Period 1</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tc gridSpan="2">
                  <a:txBody>
                    <a:bodyPr/>
                    <a:lstStyle/>
                    <a:p>
                      <a:pPr algn="ctr"/>
                      <a:r>
                        <a:rPr lang="en-US" sz="1800" b="1" dirty="0"/>
                        <a:t>Period 2</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10000"/>
                  </a:ext>
                </a:extLst>
              </a:tr>
              <a:tr h="914479">
                <a:tc>
                  <a:txBody>
                    <a:bodyPr/>
                    <a:lstStyle/>
                    <a:p>
                      <a:pPr algn="ctr"/>
                      <a:r>
                        <a:rPr kumimoji="0" lang="en-IN" sz="1800" b="1" kern="1200" baseline="0" dirty="0"/>
                        <a:t>Inventory Error</a:t>
                      </a:r>
                      <a:endParaRPr lang="en-US" sz="1800" b="1" dirty="0"/>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Cost of Goods Sold</a:t>
                      </a:r>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dirty="0"/>
                        <a:t>Gross Profit</a:t>
                      </a:r>
                    </a:p>
                    <a:p>
                      <a:pPr marL="0" marR="0" indent="0" algn="ctr" defTabSz="914400" rtl="0" eaLnBrk="1" fontAlgn="auto" latinLnBrk="0" hangingPunct="1">
                        <a:lnSpc>
                          <a:spcPct val="100000"/>
                        </a:lnSpc>
                        <a:spcBef>
                          <a:spcPts val="0"/>
                        </a:spcBef>
                        <a:spcAft>
                          <a:spcPts val="0"/>
                        </a:spcAft>
                        <a:buClrTx/>
                        <a:buSzTx/>
                        <a:buFontTx/>
                        <a:buNone/>
                        <a:tabLst/>
                        <a:defRPr/>
                      </a:pPr>
                      <a:r>
                        <a:rPr lang="en-IN" sz="1800" b="1" dirty="0"/>
                        <a:t>and Net Income</a:t>
                      </a:r>
                      <a:endParaRPr lang="en-US" sz="1800" b="1" dirty="0"/>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Cost of Goods Sold</a:t>
                      </a:r>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dirty="0"/>
                        <a:t>Gross Profit</a:t>
                      </a:r>
                    </a:p>
                    <a:p>
                      <a:pPr marL="0" marR="0" indent="0" algn="ctr" defTabSz="914400" rtl="0" eaLnBrk="1" fontAlgn="auto" latinLnBrk="0" hangingPunct="1">
                        <a:lnSpc>
                          <a:spcPct val="100000"/>
                        </a:lnSpc>
                        <a:spcBef>
                          <a:spcPts val="0"/>
                        </a:spcBef>
                        <a:spcAft>
                          <a:spcPts val="0"/>
                        </a:spcAft>
                        <a:buClrTx/>
                        <a:buSzTx/>
                        <a:buFontTx/>
                        <a:buNone/>
                        <a:tabLst/>
                        <a:defRPr/>
                      </a:pPr>
                      <a:r>
                        <a:rPr lang="en-IN" sz="1800" b="1" dirty="0"/>
                        <a:t>and Net Income</a:t>
                      </a:r>
                      <a:endParaRPr lang="en-US" sz="1800" b="1" dirty="0"/>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196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Period 1</a:t>
                      </a:r>
                      <a:endParaRPr lang="en-US" sz="1800" dirty="0">
                        <a:solidFill>
                          <a:schemeClr val="tx1"/>
                        </a:solidFill>
                      </a:endParaRPr>
                    </a:p>
                  </a:txBody>
                  <a:tcPr marT="45724" marB="45724"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013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Ending inventory overstated</a:t>
                      </a:r>
                      <a:endParaRPr lang="en-US" sz="1800" dirty="0">
                        <a:solidFill>
                          <a:schemeClr val="tx1"/>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Understated</a:t>
                      </a: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Overstated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Overstated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Understated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72">
                <a:tc>
                  <a:txBody>
                    <a:bodyPr/>
                    <a:lstStyle/>
                    <a:p>
                      <a:r>
                        <a:rPr kumimoji="0" lang="en-IN" sz="1800" kern="1200" baseline="0" dirty="0"/>
                        <a:t>Period 1</a:t>
                      </a:r>
                      <a:endParaRPr lang="en-US" sz="1800" dirty="0">
                        <a:solidFill>
                          <a:schemeClr val="tx1"/>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endParaRPr lang="en-US" sz="1800" dirty="0">
                        <a:solidFill>
                          <a:srgbClr val="0070C0"/>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4013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Ending inventory understated</a:t>
                      </a:r>
                      <a:endParaRPr lang="en-US" sz="1800" dirty="0">
                        <a:solidFill>
                          <a:schemeClr val="tx1"/>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Overstated</a:t>
                      </a:r>
                      <a:endParaRPr lang="en-US" sz="1800" dirty="0">
                        <a:solidFill>
                          <a:schemeClr val="tx1"/>
                        </a:solidFill>
                      </a:endParaRPr>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Understated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Understated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Overstated</a:t>
                      </a:r>
                    </a:p>
                    <a:p>
                      <a:pPr algn="ctr"/>
                      <a:endParaRPr lang="en-US" sz="1800" dirty="0"/>
                    </a:p>
                  </a:txBody>
                  <a:tcPr marT="45724" marB="45724">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0483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Reporting on the Statement of Cash Flows</a:t>
            </a:r>
          </a:p>
        </p:txBody>
      </p:sp>
      <p:sp>
        <p:nvSpPr>
          <p:cNvPr id="3" name="Content Placeholder 2"/>
          <p:cNvSpPr>
            <a:spLocks noGrp="1"/>
          </p:cNvSpPr>
          <p:nvPr>
            <p:ph idx="1"/>
          </p:nvPr>
        </p:nvSpPr>
        <p:spPr/>
        <p:txBody>
          <a:bodyPr/>
          <a:lstStyle/>
          <a:p>
            <a:pPr marL="0" indent="0">
              <a:spcBef>
                <a:spcPct val="0"/>
              </a:spcBef>
              <a:buNone/>
            </a:pPr>
            <a:r>
              <a:rPr lang="en-US" altLang="en-US" dirty="0"/>
              <a:t>Inventory transactions are </a:t>
            </a:r>
            <a:r>
              <a:rPr lang="en-US" altLang="en-US" b="1" i="1" dirty="0"/>
              <a:t>operating activities </a:t>
            </a:r>
            <a:r>
              <a:rPr lang="en-US" altLang="en-US" dirty="0"/>
              <a:t>because the purchase and sale of merchandise drives a company</a:t>
            </a:r>
            <a:r>
              <a:rPr lang="ja-JP" altLang="en-US" dirty="0"/>
              <a:t>’</a:t>
            </a:r>
            <a:r>
              <a:rPr lang="en-US" altLang="ja-JP" dirty="0"/>
              <a:t>s operations.</a:t>
            </a:r>
          </a:p>
          <a:p>
            <a:pPr marL="0" indent="0">
              <a:buNone/>
            </a:pPr>
            <a:r>
              <a:rPr lang="en-US" dirty="0"/>
              <a:t>The purchase of inventory requires a cash payment and the sale of inventory generates a cash receipt.</a:t>
            </a:r>
          </a:p>
          <a:p>
            <a:pPr marL="0" indent="0">
              <a:spcBef>
                <a:spcPct val="0"/>
              </a:spcBef>
              <a:buNone/>
            </a:pPr>
            <a:endParaRPr lang="en-US" altLang="en-US" sz="2400" dirty="0"/>
          </a:p>
        </p:txBody>
      </p:sp>
    </p:spTree>
    <p:extLst>
      <p:ext uri="{BB962C8B-B14F-4D97-AF65-F5344CB8AC3E}">
        <p14:creationId xmlns:p14="http://schemas.microsoft.com/office/powerpoint/2010/main" val="2528328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Ethical Considerations</a:t>
            </a:r>
            <a:endParaRPr lang="en-US" dirty="0"/>
          </a:p>
        </p:txBody>
      </p:sp>
      <p:sp>
        <p:nvSpPr>
          <p:cNvPr id="4" name="Content Placeholder 3"/>
          <p:cNvSpPr>
            <a:spLocks noGrp="1"/>
          </p:cNvSpPr>
          <p:nvPr>
            <p:ph idx="1"/>
          </p:nvPr>
        </p:nvSpPr>
        <p:spPr>
          <a:xfrm>
            <a:off x="457200" y="1600201"/>
            <a:ext cx="8229600" cy="1295400"/>
          </a:xfrm>
        </p:spPr>
        <p:txBody>
          <a:bodyPr/>
          <a:lstStyle/>
          <a:p>
            <a:pPr marL="0" indent="0">
              <a:spcBef>
                <a:spcPts val="600"/>
              </a:spcBef>
              <a:buNone/>
            </a:pPr>
            <a:r>
              <a:rPr lang="en-US" altLang="en-US" sz="2600" dirty="0"/>
              <a:t>Managers of companies whose profits do not meet shareholder expectations are sometimes tempted to “cook the books” to increase reported income.</a:t>
            </a:r>
          </a:p>
        </p:txBody>
      </p:sp>
      <p:sp>
        <p:nvSpPr>
          <p:cNvPr id="5" name="Content Placeholder 4"/>
          <p:cNvSpPr>
            <a:spLocks noGrp="1"/>
          </p:cNvSpPr>
          <p:nvPr>
            <p:ph idx="13"/>
          </p:nvPr>
        </p:nvSpPr>
        <p:spPr>
          <a:xfrm>
            <a:off x="457200" y="2971800"/>
            <a:ext cx="8229600" cy="2163763"/>
          </a:xfrm>
        </p:spPr>
        <p:txBody>
          <a:bodyPr/>
          <a:lstStyle/>
          <a:p>
            <a:pPr marL="0" indent="0" algn="ctr">
              <a:buNone/>
            </a:pPr>
            <a:r>
              <a:rPr lang="en-US" sz="2600" kern="10" dirty="0">
                <a:solidFill>
                  <a:schemeClr val="tx2"/>
                </a:solidFill>
                <a:ea typeface="+mj-lt"/>
                <a:cs typeface="+mj-lt"/>
              </a:rPr>
              <a:t>What are some possibilities?</a:t>
            </a:r>
          </a:p>
          <a:p>
            <a:pPr marL="402336" indent="-402336">
              <a:buFont typeface="+mj-lt"/>
              <a:buAutoNum type="arabicPeriod"/>
            </a:pPr>
            <a:r>
              <a:rPr lang="en-US" altLang="en-US" sz="2400" dirty="0"/>
              <a:t>Overstating ending inventory</a:t>
            </a:r>
          </a:p>
          <a:p>
            <a:pPr marL="402336" indent="-402336">
              <a:buFont typeface="+mj-lt"/>
              <a:buAutoNum type="arabicPeriod"/>
            </a:pPr>
            <a:r>
              <a:rPr lang="en-US" altLang="en-US" sz="2400" dirty="0"/>
              <a:t>Creating fictitious sales revenue</a:t>
            </a:r>
            <a:endParaRPr lang="en-US" sz="2400" dirty="0"/>
          </a:p>
        </p:txBody>
      </p:sp>
    </p:spTree>
    <p:extLst>
      <p:ext uri="{BB962C8B-B14F-4D97-AF65-F5344CB8AC3E}">
        <p14:creationId xmlns:p14="http://schemas.microsoft.com/office/powerpoint/2010/main" val="30413205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2594-A38A-489A-A8C6-3132D468B037}"/>
              </a:ext>
            </a:extLst>
          </p:cNvPr>
          <p:cNvSpPr>
            <a:spLocks noGrp="1"/>
          </p:cNvSpPr>
          <p:nvPr>
            <p:ph type="title"/>
          </p:nvPr>
        </p:nvSpPr>
        <p:spPr>
          <a:xfrm>
            <a:off x="233351" y="379090"/>
            <a:ext cx="8677297" cy="618838"/>
          </a:xfrm>
        </p:spPr>
        <p:txBody>
          <a:bodyPr/>
          <a:lstStyle/>
          <a:p>
            <a:r>
              <a:rPr lang="en-US" altLang="zh-CN" dirty="0"/>
              <a:t>Practice Problem S5-9</a:t>
            </a:r>
            <a:endParaRPr lang="en-US" dirty="0"/>
          </a:p>
        </p:txBody>
      </p:sp>
      <p:sp>
        <p:nvSpPr>
          <p:cNvPr id="3" name="Content Placeholder 2">
            <a:extLst>
              <a:ext uri="{FF2B5EF4-FFF2-40B4-BE49-F238E27FC236}">
                <a16:creationId xmlns:a16="http://schemas.microsoft.com/office/drawing/2014/main" id="{EFDABBFD-27C6-AD31-B879-2AF3941C76DF}"/>
              </a:ext>
            </a:extLst>
          </p:cNvPr>
          <p:cNvSpPr>
            <a:spLocks noGrp="1"/>
          </p:cNvSpPr>
          <p:nvPr>
            <p:ph idx="1"/>
          </p:nvPr>
        </p:nvSpPr>
        <p:spPr>
          <a:xfrm>
            <a:off x="271790" y="997928"/>
            <a:ext cx="8424154" cy="1567101"/>
          </a:xfrm>
        </p:spPr>
        <p:txBody>
          <a:bodyPr/>
          <a:lstStyle/>
          <a:p>
            <a:pPr marL="0" indent="0">
              <a:buNone/>
            </a:pPr>
            <a:r>
              <a:rPr lang="en-US" dirty="0"/>
              <a:t>CWD Inc. reported these figures for its fiscal year (amounts in millions):</a:t>
            </a:r>
          </a:p>
        </p:txBody>
      </p:sp>
      <p:graphicFrame>
        <p:nvGraphicFramePr>
          <p:cNvPr id="6" name="Table 6">
            <a:extLst>
              <a:ext uri="{FF2B5EF4-FFF2-40B4-BE49-F238E27FC236}">
                <a16:creationId xmlns:a16="http://schemas.microsoft.com/office/drawing/2014/main" id="{85FA9FE2-25C6-A921-65FD-DD52C47D8FE9}"/>
              </a:ext>
            </a:extLst>
          </p:cNvPr>
          <p:cNvGraphicFramePr>
            <a:graphicFrameLocks noGrp="1"/>
          </p:cNvGraphicFramePr>
          <p:nvPr/>
        </p:nvGraphicFramePr>
        <p:xfrm>
          <a:off x="1870382" y="1997108"/>
          <a:ext cx="4621943" cy="1135841"/>
        </p:xfrm>
        <a:graphic>
          <a:graphicData uri="http://schemas.openxmlformats.org/drawingml/2006/table">
            <a:tbl>
              <a:tblPr bandRow="1">
                <a:tableStyleId>{5C22544A-7EE6-4342-B048-85BDC9FD1C3A}</a:tableStyleId>
              </a:tblPr>
              <a:tblGrid>
                <a:gridCol w="3338070">
                  <a:extLst>
                    <a:ext uri="{9D8B030D-6E8A-4147-A177-3AD203B41FA5}">
                      <a16:colId xmlns:a16="http://schemas.microsoft.com/office/drawing/2014/main" val="1730809949"/>
                    </a:ext>
                  </a:extLst>
                </a:gridCol>
                <a:gridCol w="1283873">
                  <a:extLst>
                    <a:ext uri="{9D8B030D-6E8A-4147-A177-3AD203B41FA5}">
                      <a16:colId xmlns:a16="http://schemas.microsoft.com/office/drawing/2014/main" val="2317682296"/>
                    </a:ext>
                  </a:extLst>
                </a:gridCol>
              </a:tblGrid>
              <a:tr h="0">
                <a:tc>
                  <a:txBody>
                    <a:bodyPr/>
                    <a:lstStyle/>
                    <a:p>
                      <a:r>
                        <a:rPr lang="en-US" b="0" dirty="0">
                          <a:solidFill>
                            <a:sysClr val="windowText" lastClr="000000"/>
                          </a:solidFill>
                        </a:rPr>
                        <a:t>Net sales</a:t>
                      </a:r>
                    </a:p>
                  </a:txBody>
                  <a:tcPr/>
                </a:tc>
                <a:tc>
                  <a:txBody>
                    <a:bodyPr/>
                    <a:lstStyle/>
                    <a:p>
                      <a:pPr algn="r"/>
                      <a:r>
                        <a:rPr lang="en-US" b="0" dirty="0">
                          <a:solidFill>
                            <a:sysClr val="windowText" lastClr="000000"/>
                          </a:solidFill>
                        </a:rPr>
                        <a:t>$1,700 </a:t>
                      </a:r>
                    </a:p>
                  </a:txBody>
                  <a:tcPr/>
                </a:tc>
                <a:extLst>
                  <a:ext uri="{0D108BD9-81ED-4DB2-BD59-A6C34878D82A}">
                    <a16:rowId xmlns:a16="http://schemas.microsoft.com/office/drawing/2014/main" val="3366724723"/>
                  </a:ext>
                </a:extLst>
              </a:tr>
              <a:tr h="209217">
                <a:tc>
                  <a:txBody>
                    <a:bodyPr/>
                    <a:lstStyle/>
                    <a:p>
                      <a:r>
                        <a:rPr lang="en-US" b="0" dirty="0">
                          <a:solidFill>
                            <a:sysClr val="windowText" lastClr="000000"/>
                          </a:solidFill>
                        </a:rPr>
                        <a:t>Cost of goods sold</a:t>
                      </a:r>
                    </a:p>
                  </a:txBody>
                  <a:tcPr/>
                </a:tc>
                <a:tc>
                  <a:txBody>
                    <a:bodyPr/>
                    <a:lstStyle/>
                    <a:p>
                      <a:pPr algn="r"/>
                      <a:r>
                        <a:rPr lang="en-US" b="0" dirty="0">
                          <a:solidFill>
                            <a:sysClr val="windowText" lastClr="000000"/>
                          </a:solidFill>
                        </a:rPr>
                        <a:t>1,180</a:t>
                      </a:r>
                    </a:p>
                  </a:txBody>
                  <a:tcPr/>
                </a:tc>
                <a:extLst>
                  <a:ext uri="{0D108BD9-81ED-4DB2-BD59-A6C34878D82A}">
                    <a16:rowId xmlns:a16="http://schemas.microsoft.com/office/drawing/2014/main" val="2180059970"/>
                  </a:ext>
                </a:extLst>
              </a:tr>
              <a:tr h="404321">
                <a:tc>
                  <a:txBody>
                    <a:bodyPr/>
                    <a:lstStyle/>
                    <a:p>
                      <a:r>
                        <a:rPr lang="en-US" dirty="0"/>
                        <a:t>Ending inventory</a:t>
                      </a:r>
                      <a:endParaRPr lang="en-US" b="0" dirty="0">
                        <a:solidFill>
                          <a:sysClr val="windowText" lastClr="000000"/>
                        </a:solidFill>
                      </a:endParaRPr>
                    </a:p>
                  </a:txBody>
                  <a:tcPr/>
                </a:tc>
                <a:tc>
                  <a:txBody>
                    <a:bodyPr/>
                    <a:lstStyle/>
                    <a:p>
                      <a:pPr algn="r"/>
                      <a:r>
                        <a:rPr lang="en-US" dirty="0"/>
                        <a:t>360</a:t>
                      </a:r>
                    </a:p>
                  </a:txBody>
                  <a:tcPr/>
                </a:tc>
                <a:extLst>
                  <a:ext uri="{0D108BD9-81ED-4DB2-BD59-A6C34878D82A}">
                    <a16:rowId xmlns:a16="http://schemas.microsoft.com/office/drawing/2014/main" val="2919611593"/>
                  </a:ext>
                </a:extLst>
              </a:tr>
            </a:tbl>
          </a:graphicData>
        </a:graphic>
      </p:graphicFrame>
      <p:sp>
        <p:nvSpPr>
          <p:cNvPr id="7" name="Content Placeholder 2">
            <a:extLst>
              <a:ext uri="{FF2B5EF4-FFF2-40B4-BE49-F238E27FC236}">
                <a16:creationId xmlns:a16="http://schemas.microsoft.com/office/drawing/2014/main" id="{0866EDE4-BF64-0EBE-BB19-BAA45F26F411}"/>
              </a:ext>
            </a:extLst>
          </p:cNvPr>
          <p:cNvSpPr txBox="1">
            <a:spLocks/>
          </p:cNvSpPr>
          <p:nvPr/>
        </p:nvSpPr>
        <p:spPr>
          <a:xfrm>
            <a:off x="271790" y="3509421"/>
            <a:ext cx="8424154" cy="1567101"/>
          </a:xfrm>
          <a:prstGeom prst="rect">
            <a:avLst/>
          </a:prstGeom>
        </p:spPr>
        <p:txBody>
          <a:bodyPr vert="horz" lIns="91440" tIns="45720" rIns="91440" bIns="45720" rtlCol="0">
            <a:normAutofit/>
          </a:bodyPr>
          <a:lst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pPr>
            <a:r>
              <a:rPr lang="en-US" dirty="0"/>
              <a:t>Suppose CWD later learns that ending inventory was overstated by $10 million. What are CWD's correct amounts for (a) net sales, (b) ending inventory, (c) cost of goods sold, and (d) gross profit?</a:t>
            </a:r>
          </a:p>
        </p:txBody>
      </p:sp>
    </p:spTree>
    <p:extLst>
      <p:ext uri="{BB962C8B-B14F-4D97-AF65-F5344CB8AC3E}">
        <p14:creationId xmlns:p14="http://schemas.microsoft.com/office/powerpoint/2010/main" val="383777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Six</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Analyze</a:t>
            </a:r>
            <a:r>
              <a:rPr lang="en-US" altLang="en-US" dirty="0">
                <a:ea typeface="ＭＳ Ｐゴシック" pitchFamily="34" charset="-128"/>
              </a:rPr>
              <a:t> inventory records using the XLOOKUP function in Excel</a:t>
            </a:r>
            <a:endParaRPr lang="en-US" dirty="0"/>
          </a:p>
        </p:txBody>
      </p:sp>
    </p:spTree>
    <p:extLst>
      <p:ext uri="{BB962C8B-B14F-4D97-AF65-F5344CB8AC3E}">
        <p14:creationId xmlns:p14="http://schemas.microsoft.com/office/powerpoint/2010/main" val="120641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Using the XLOOKUP Function in Excel Example </a:t>
            </a:r>
            <a:r>
              <a:rPr lang="en-US" altLang="en-US" sz="2000" b="0" dirty="0"/>
              <a:t>(1 of 2)</a:t>
            </a:r>
            <a:endParaRPr lang="en-CA" sz="2000" dirty="0"/>
          </a:p>
        </p:txBody>
      </p:sp>
      <p:sp>
        <p:nvSpPr>
          <p:cNvPr id="3" name="Content Placeholder 2"/>
          <p:cNvSpPr>
            <a:spLocks noGrp="1"/>
          </p:cNvSpPr>
          <p:nvPr>
            <p:ph idx="1"/>
          </p:nvPr>
        </p:nvSpPr>
        <p:spPr>
          <a:xfrm>
            <a:off x="457200" y="1600201"/>
            <a:ext cx="8229600" cy="762000"/>
          </a:xfrm>
        </p:spPr>
        <p:txBody>
          <a:bodyPr>
            <a:normAutofit fontScale="25000" lnSpcReduction="20000"/>
          </a:bodyPr>
          <a:lstStyle/>
          <a:p>
            <a:r>
              <a:rPr lang="en-CA" dirty="0"/>
              <a:t>A manager wants to analyze sales data but details exist in two separate Excel files:</a:t>
            </a:r>
          </a:p>
          <a:p>
            <a:endParaRPr lang="en-CA" dirty="0"/>
          </a:p>
          <a:p>
            <a:pPr marL="0" indent="0" algn="ctr">
              <a:buNone/>
            </a:pPr>
            <a:r>
              <a:rPr lang="en-CA" sz="2000" dirty="0"/>
              <a:t> </a:t>
            </a:r>
          </a:p>
        </p:txBody>
      </p:sp>
      <p:pic>
        <p:nvPicPr>
          <p:cNvPr id="7" name="Picture 6" descr="A worksheet displays the inventory analysis. ">
            <a:extLst>
              <a:ext uri="{FF2B5EF4-FFF2-40B4-BE49-F238E27FC236}">
                <a16:creationId xmlns:a16="http://schemas.microsoft.com/office/drawing/2014/main" id="{61D5002B-DEE0-8E3A-C7B4-3D0D561E2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2514600"/>
            <a:ext cx="6096000" cy="1633728"/>
          </a:xfrm>
          <a:prstGeom prst="rect">
            <a:avLst/>
          </a:prstGeom>
        </p:spPr>
      </p:pic>
      <p:pic>
        <p:nvPicPr>
          <p:cNvPr id="9" name="Picture 8" descr="A worksheet displays the inventory items. ">
            <a:extLst>
              <a:ext uri="{FF2B5EF4-FFF2-40B4-BE49-F238E27FC236}">
                <a16:creationId xmlns:a16="http://schemas.microsoft.com/office/drawing/2014/main" id="{B3614A81-935E-A084-7513-A9EF0B791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300727"/>
            <a:ext cx="6096000" cy="1956816"/>
          </a:xfrm>
          <a:prstGeom prst="rect">
            <a:avLst/>
          </a:prstGeom>
        </p:spPr>
      </p:pic>
    </p:spTree>
    <p:extLst>
      <p:ext uri="{BB962C8B-B14F-4D97-AF65-F5344CB8AC3E}">
        <p14:creationId xmlns:p14="http://schemas.microsoft.com/office/powerpoint/2010/main" val="145855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Using the XLOOKUP Function in Excel Example </a:t>
            </a:r>
            <a:r>
              <a:rPr lang="en-US" altLang="en-US" sz="2000" b="0" dirty="0"/>
              <a:t>(2 of 2)</a:t>
            </a:r>
            <a:endParaRPr lang="en-CA" sz="2000" dirty="0"/>
          </a:p>
        </p:txBody>
      </p:sp>
      <p:sp>
        <p:nvSpPr>
          <p:cNvPr id="3" name="Content Placeholder 2"/>
          <p:cNvSpPr>
            <a:spLocks noGrp="1"/>
          </p:cNvSpPr>
          <p:nvPr>
            <p:ph idx="1"/>
          </p:nvPr>
        </p:nvSpPr>
        <p:spPr>
          <a:xfrm>
            <a:off x="457200" y="1600200"/>
            <a:ext cx="8229600" cy="1600200"/>
          </a:xfrm>
        </p:spPr>
        <p:txBody>
          <a:bodyPr/>
          <a:lstStyle/>
          <a:p>
            <a:pPr algn="l"/>
            <a:r>
              <a:rPr lang="en-US" b="0" i="0" u="none" strike="noStrike" baseline="0" dirty="0"/>
              <a:t>The manager can use the XLOOKUP feature in Excel to get information from the reference file into the original analysis file, then use this file to perform the sales analysis</a:t>
            </a:r>
            <a:r>
              <a:rPr lang="en-CA" dirty="0"/>
              <a:t> </a:t>
            </a:r>
          </a:p>
        </p:txBody>
      </p:sp>
      <p:pic>
        <p:nvPicPr>
          <p:cNvPr id="6" name="Picture 5" descr="A worksheet displays the inventory analysis. ">
            <a:extLst>
              <a:ext uri="{FF2B5EF4-FFF2-40B4-BE49-F238E27FC236}">
                <a16:creationId xmlns:a16="http://schemas.microsoft.com/office/drawing/2014/main" id="{1C3E9409-C56E-FA09-ACD9-E6C1C5A36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581" y="3657601"/>
            <a:ext cx="7686838" cy="1752599"/>
          </a:xfrm>
          <a:prstGeom prst="rect">
            <a:avLst/>
          </a:prstGeom>
        </p:spPr>
      </p:pic>
    </p:spTree>
    <p:extLst>
      <p:ext uri="{BB962C8B-B14F-4D97-AF65-F5344CB8AC3E}">
        <p14:creationId xmlns:p14="http://schemas.microsoft.com/office/powerpoint/2010/main" val="1637377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A-1</a:t>
            </a:r>
          </a:p>
        </p:txBody>
      </p:sp>
      <p:sp>
        <p:nvSpPr>
          <p:cNvPr id="3" name="Subtitle 2"/>
          <p:cNvSpPr>
            <a:spLocks noGrp="1"/>
          </p:cNvSpPr>
          <p:nvPr>
            <p:ph type="subTitle" idx="1"/>
          </p:nvPr>
        </p:nvSpPr>
        <p:spPr/>
        <p:txBody>
          <a:bodyPr>
            <a:normAutofit lnSpcReduction="10000"/>
          </a:bodyPr>
          <a:lstStyle/>
          <a:p>
            <a:r>
              <a:rPr lang="en-US" altLang="en-US" b="1" dirty="0">
                <a:ea typeface="ＭＳ Ｐゴシック" pitchFamily="34" charset="-128"/>
              </a:rPr>
              <a:t>Show</a:t>
            </a:r>
            <a:r>
              <a:rPr lang="en-US" altLang="en-US" dirty="0">
                <a:ea typeface="ＭＳ Ｐゴシック" pitchFamily="34" charset="-128"/>
              </a:rPr>
              <a:t> how to account for inventory under the periodic inventory system</a:t>
            </a:r>
            <a:endParaRPr lang="en-US" dirty="0"/>
          </a:p>
        </p:txBody>
      </p:sp>
    </p:spTree>
    <p:extLst>
      <p:ext uri="{BB962C8B-B14F-4D97-AF65-F5344CB8AC3E}">
        <p14:creationId xmlns:p14="http://schemas.microsoft.com/office/powerpoint/2010/main" val="1979559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Recording Inventory </a:t>
            </a:r>
            <a:r>
              <a:rPr lang="en-US" altLang="en-US" sz="2400" dirty="0"/>
              <a:t> </a:t>
            </a:r>
            <a:r>
              <a:rPr lang="en-US" altLang="en-US" sz="2000" b="0" dirty="0"/>
              <a:t> </a:t>
            </a:r>
            <a:endParaRPr lang="en-US" sz="2000" b="0" dirty="0"/>
          </a:p>
        </p:txBody>
      </p:sp>
      <p:graphicFrame>
        <p:nvGraphicFramePr>
          <p:cNvPr id="4" name="Table 3"/>
          <p:cNvGraphicFramePr>
            <a:graphicFrameLocks noGrp="1"/>
          </p:cNvGraphicFramePr>
          <p:nvPr/>
        </p:nvGraphicFramePr>
        <p:xfrm>
          <a:off x="423441" y="1600200"/>
          <a:ext cx="8458200" cy="4617134"/>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Purchases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560,000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dirty="0"/>
                        <a:t>Accounts Payable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560,000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r>
                        <a:rPr lang="en-US" sz="1700" i="1" dirty="0"/>
                        <a:t>Purchased inventory on account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460637"/>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Accounts Receivable</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900,000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Sales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900,000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1440" algn="l" defTabSz="914400" rtl="0" eaLnBrk="1" latinLnBrk="0" hangingPunct="1"/>
                      <a:r>
                        <a:rPr lang="en-US" sz="1700" i="1" kern="1200" dirty="0">
                          <a:solidFill>
                            <a:schemeClr val="tx1"/>
                          </a:solidFill>
                          <a:latin typeface="+mn-lt"/>
                          <a:ea typeface="+mn-ea"/>
                          <a:cs typeface="+mn-cs"/>
                        </a:rPr>
                        <a:t>Sold inventory on account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418"/>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solidFill>
                            <a:schemeClr val="tx1"/>
                          </a:solidFill>
                          <a:latin typeface="+mn-lt"/>
                          <a:ea typeface="+mn-ea"/>
                          <a:cs typeface="+mn-cs"/>
                        </a:rPr>
                        <a:t>Notice there is no entry to record cost of goods sold, as there is for the perpetual inventory system, when inventory is sold.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0797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Updating Inventory and COGS at Year-End</a:t>
            </a:r>
            <a:endParaRPr lang="en-US" sz="2000" b="0" dirty="0"/>
          </a:p>
        </p:txBody>
      </p:sp>
      <p:graphicFrame>
        <p:nvGraphicFramePr>
          <p:cNvPr id="4" name="Table 3"/>
          <p:cNvGraphicFramePr>
            <a:graphicFrameLocks noGrp="1"/>
          </p:cNvGraphicFramePr>
          <p:nvPr/>
        </p:nvGraphicFramePr>
        <p:xfrm>
          <a:off x="457200" y="1371600"/>
          <a:ext cx="8458200" cy="5013374"/>
        </p:xfrm>
        <a:graphic>
          <a:graphicData uri="http://schemas.openxmlformats.org/drawingml/2006/table">
            <a:tbl>
              <a:tblPr firstRow="1" bandRow="1">
                <a:tableStyleId>{2D5ABB26-0587-4C30-8999-92F81FD0307C}</a:tableStyleId>
              </a:tblPr>
              <a:tblGrid>
                <a:gridCol w="698383">
                  <a:extLst>
                    <a:ext uri="{9D8B030D-6E8A-4147-A177-3AD203B41FA5}">
                      <a16:colId xmlns:a16="http://schemas.microsoft.com/office/drawing/2014/main" val="20000"/>
                    </a:ext>
                  </a:extLst>
                </a:gridCol>
                <a:gridCol w="5276675">
                  <a:extLst>
                    <a:ext uri="{9D8B030D-6E8A-4147-A177-3AD203B41FA5}">
                      <a16:colId xmlns:a16="http://schemas.microsoft.com/office/drawing/2014/main" val="20001"/>
                    </a:ext>
                  </a:extLst>
                </a:gridCol>
                <a:gridCol w="1187742">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65746">
                <a:tc gridSpan="4">
                  <a:txBody>
                    <a:bodyPr/>
                    <a:lstStyle/>
                    <a:p>
                      <a:pPr algn="ctr"/>
                      <a:r>
                        <a:rPr lang="en-US" sz="1800" b="1" dirty="0"/>
                        <a:t>JOURNAL</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778">
                <a:tc>
                  <a:txBody>
                    <a:bodyPr/>
                    <a:lstStyle/>
                    <a:p>
                      <a:r>
                        <a:rPr lang="en-US" sz="1800" dirty="0"/>
                        <a:t>Date</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Accounts and explanation</a:t>
                      </a:r>
                      <a:endParaRPr lang="en-US" sz="1800" i="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Debit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Credit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Cost of Goods Sold</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540,000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3050" marR="0" indent="-273050" algn="l" defTabSz="914400" rtl="0" eaLnBrk="1" fontAlgn="auto" latinLnBrk="0" hangingPunct="1">
                        <a:lnSpc>
                          <a:spcPct val="100000"/>
                        </a:lnSpc>
                        <a:spcBef>
                          <a:spcPts val="0"/>
                        </a:spcBef>
                        <a:spcAft>
                          <a:spcPts val="0"/>
                        </a:spcAft>
                        <a:buClrTx/>
                        <a:buSzTx/>
                        <a:buFontTx/>
                        <a:buNone/>
                        <a:tabLst/>
                        <a:defRPr/>
                      </a:pPr>
                      <a:r>
                        <a:rPr lang="en-US" sz="1800" dirty="0"/>
                        <a:t>Inventory (ending, based on physical count)</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120,000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r>
                        <a:rPr lang="en-US" sz="1800" i="0" dirty="0"/>
                        <a:t>Purchase Allowances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5,000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solidFill>
                            <a:schemeClr val="tx1"/>
                          </a:solidFill>
                          <a:latin typeface="+mn-lt"/>
                          <a:ea typeface="+mn-ea"/>
                          <a:cs typeface="+mn-cs"/>
                        </a:rPr>
                        <a:t>Purchase Returns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25,000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8460637"/>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en-US" sz="1800" kern="1200" dirty="0"/>
                        <a:t>Purchase Discounts</a:t>
                      </a:r>
                      <a:endParaRPr kumimoji="0" lang="en-US" sz="1800"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14,000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7432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Purchases</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600,000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6700" indent="0" algn="l" defTabSz="914400" rtl="0" eaLnBrk="1" latinLnBrk="0" hangingPunct="1"/>
                      <a:r>
                        <a:rPr lang="en-US" sz="1800" i="0" kern="1200" dirty="0">
                          <a:solidFill>
                            <a:schemeClr val="tx1"/>
                          </a:solidFill>
                          <a:latin typeface="+mn-lt"/>
                          <a:ea typeface="+mn-ea"/>
                          <a:cs typeface="+mn-cs"/>
                        </a:rPr>
                        <a:t>Freight-In</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4,000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66700" indent="0" algn="l" rtl="0" eaLnBrk="1" latinLnBrk="0" hangingPunct="1"/>
                      <a:r>
                        <a:rPr kumimoji="0" lang="en-US" sz="1800" kern="1200" dirty="0">
                          <a:solidFill>
                            <a:schemeClr val="tx1"/>
                          </a:solidFill>
                          <a:latin typeface="+mn-lt"/>
                          <a:ea typeface="+mn-ea"/>
                          <a:cs typeface="+mn-cs"/>
                        </a:rPr>
                        <a:t>Inventory (beginning)</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t>100,000</a:t>
                      </a: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418"/>
                  </a:ext>
                </a:extLst>
              </a:tr>
              <a:tr h="370778">
                <a:tc>
                  <a:txBody>
                    <a:bodyPr/>
                    <a:lstStyle/>
                    <a:p>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en-US" sz="1600" b="0" i="1" u="none" strike="noStrike" kern="1200" baseline="0" dirty="0">
                          <a:solidFill>
                            <a:schemeClr val="tx1"/>
                          </a:solidFill>
                          <a:latin typeface="+mn-lt"/>
                          <a:ea typeface="+mn-ea"/>
                          <a:cs typeface="+mn-cs"/>
                        </a:rPr>
                        <a:t>Update the inventory records by </a:t>
                      </a:r>
                      <a:r>
                        <a:rPr lang="en-CA" sz="1600" b="0" i="1" u="none" strike="noStrike" kern="1200" baseline="0" dirty="0">
                          <a:solidFill>
                            <a:schemeClr val="tx1"/>
                          </a:solidFill>
                          <a:latin typeface="+mn-lt"/>
                          <a:ea typeface="+mn-ea"/>
                          <a:cs typeface="+mn-cs"/>
                        </a:rPr>
                        <a:t>closing out the beginning </a:t>
                      </a:r>
                      <a:r>
                        <a:rPr lang="en-US" sz="1600" b="0" i="1" u="none" strike="noStrike" kern="1200" baseline="0" dirty="0">
                          <a:solidFill>
                            <a:schemeClr val="tx1"/>
                          </a:solidFill>
                          <a:latin typeface="+mn-lt"/>
                          <a:ea typeface="+mn-ea"/>
                          <a:cs typeface="+mn-cs"/>
                        </a:rPr>
                        <a:t>inventory, set up ending inventory </a:t>
                      </a:r>
                      <a:r>
                        <a:rPr lang="en-CA" sz="1600" b="0" i="1" u="none" strike="noStrike" kern="1200" baseline="0" dirty="0">
                          <a:solidFill>
                            <a:schemeClr val="tx1"/>
                          </a:solidFill>
                          <a:latin typeface="+mn-lt"/>
                          <a:ea typeface="+mn-ea"/>
                          <a:cs typeface="+mn-cs"/>
                        </a:rPr>
                        <a:t>and close all Purchase-related accounts including Freight-in. </a:t>
                      </a:r>
                      <a:r>
                        <a:rPr lang="en-US" sz="1600" b="0" i="1" u="none" strike="noStrike" kern="1200" baseline="0" dirty="0">
                          <a:solidFill>
                            <a:schemeClr val="tx1"/>
                          </a:solidFill>
                          <a:latin typeface="+mn-lt"/>
                          <a:ea typeface="+mn-ea"/>
                          <a:cs typeface="+mn-cs"/>
                        </a:rPr>
                        <a:t>After the process is complete, Inventory has its correct balance of $120,000 and Cost of Goods </a:t>
                      </a:r>
                      <a:r>
                        <a:rPr lang="en-CA" sz="1600" b="0" i="1" u="none" strike="noStrike" kern="1200" baseline="0" dirty="0">
                          <a:solidFill>
                            <a:schemeClr val="tx1"/>
                          </a:solidFill>
                          <a:latin typeface="+mn-lt"/>
                          <a:ea typeface="+mn-ea"/>
                          <a:cs typeface="+mn-cs"/>
                        </a:rPr>
                        <a:t>Sold shows $540,000.</a:t>
                      </a:r>
                      <a:endParaRPr kumimoji="0" lang="en-US" sz="1600" i="1" kern="1200" dirty="0">
                        <a:solidFill>
                          <a:schemeClr val="tx1"/>
                        </a:solidFill>
                        <a:latin typeface="+mn-lt"/>
                        <a:ea typeface="+mn-ea"/>
                        <a:cs typeface="+mn-cs"/>
                      </a:endParaRPr>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800" dirty="0"/>
                    </a:p>
                  </a:txBody>
                  <a:tcPr marT="45713" marB="457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0072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Illustration of FIFO and Weighted-Average Costing </a:t>
            </a:r>
            <a:endParaRPr lang="en-US" b="0" dirty="0"/>
          </a:p>
        </p:txBody>
      </p:sp>
      <p:sp>
        <p:nvSpPr>
          <p:cNvPr id="3" name="Content Placeholder 2"/>
          <p:cNvSpPr>
            <a:spLocks noGrp="1"/>
          </p:cNvSpPr>
          <p:nvPr>
            <p:ph idx="1"/>
          </p:nvPr>
        </p:nvSpPr>
        <p:spPr>
          <a:xfrm>
            <a:off x="457200" y="1600201"/>
            <a:ext cx="8229600" cy="1752597"/>
          </a:xfrm>
        </p:spPr>
        <p:txBody>
          <a:bodyPr>
            <a:normAutofit lnSpcReduction="10000"/>
          </a:bodyPr>
          <a:lstStyle/>
          <a:p>
            <a:pPr marL="0" indent="0">
              <a:buNone/>
            </a:pPr>
            <a:r>
              <a:rPr lang="en-US" altLang="en-US" dirty="0">
                <a:ea typeface="ＭＳ Ｐゴシック" pitchFamily="34" charset="-128"/>
              </a:rPr>
              <a:t>Leon</a:t>
            </a:r>
            <a:r>
              <a:rPr lang="en-US" altLang="en-US" dirty="0"/>
              <a:t>’</a:t>
            </a:r>
            <a:r>
              <a:rPr lang="en-US" altLang="ja-JP" dirty="0">
                <a:ea typeface="ＭＳ Ｐゴシック" pitchFamily="34" charset="-128"/>
              </a:rPr>
              <a:t>s began the period with 10 lamps that cost </a:t>
            </a:r>
            <a:r>
              <a:rPr lang="en-US" altLang="en-US" dirty="0">
                <a:ea typeface="ＭＳ Ｐゴシック" pitchFamily="34" charset="-128"/>
              </a:rPr>
              <a:t>$11 each; the beginning inventory was therefore $110. </a:t>
            </a:r>
          </a:p>
          <a:p>
            <a:pPr marL="0" indent="0">
              <a:buNone/>
            </a:pPr>
            <a:r>
              <a:rPr lang="en-US" altLang="en-US" dirty="0">
                <a:ea typeface="ＭＳ Ｐゴシック" pitchFamily="34" charset="-128"/>
              </a:rPr>
              <a:t>During the period, Leon</a:t>
            </a:r>
            <a:r>
              <a:rPr lang="en-US" altLang="en-US" dirty="0"/>
              <a:t>’</a:t>
            </a:r>
            <a:r>
              <a:rPr lang="ja-JP" altLang="en-US" dirty="0">
                <a:ea typeface="ＭＳ Ｐゴシック" pitchFamily="34" charset="-128"/>
              </a:rPr>
              <a:t> </a:t>
            </a:r>
            <a:r>
              <a:rPr lang="en-US" altLang="ja-JP" dirty="0">
                <a:ea typeface="ＭＳ Ｐゴシック" pitchFamily="34" charset="-128"/>
              </a:rPr>
              <a:t>s bought 50 more lamps, </a:t>
            </a:r>
            <a:r>
              <a:rPr lang="en-US" altLang="en-US" dirty="0">
                <a:ea typeface="ＭＳ Ｐゴシック" pitchFamily="34" charset="-128"/>
              </a:rPr>
              <a:t>sold 40 lamps, and ended the period with 20 lamps.</a:t>
            </a:r>
            <a:endParaRPr lang="en-US" dirty="0">
              <a:ea typeface="ＭＳ Ｐゴシック" pitchFamily="34" charset="-128"/>
            </a:endParaRPr>
          </a:p>
        </p:txBody>
      </p:sp>
      <p:graphicFrame>
        <p:nvGraphicFramePr>
          <p:cNvPr id="4" name="Table 3"/>
          <p:cNvGraphicFramePr>
            <a:graphicFrameLocks noGrp="1"/>
          </p:cNvGraphicFramePr>
          <p:nvPr/>
        </p:nvGraphicFramePr>
        <p:xfrm>
          <a:off x="244793" y="3505199"/>
          <a:ext cx="8654415" cy="2834641"/>
        </p:xfrm>
        <a:graphic>
          <a:graphicData uri="http://schemas.openxmlformats.org/drawingml/2006/table">
            <a:tbl>
              <a:tblPr firstRow="1" bandRow="1">
                <a:tableStyleId>{2D5ABB26-0587-4C30-8999-92F81FD0307C}</a:tableStyleId>
              </a:tblPr>
              <a:tblGrid>
                <a:gridCol w="3570986">
                  <a:extLst>
                    <a:ext uri="{9D8B030D-6E8A-4147-A177-3AD203B41FA5}">
                      <a16:colId xmlns:a16="http://schemas.microsoft.com/office/drawing/2014/main" val="20000"/>
                    </a:ext>
                  </a:extLst>
                </a:gridCol>
                <a:gridCol w="809942">
                  <a:extLst>
                    <a:ext uri="{9D8B030D-6E8A-4147-A177-3AD203B41FA5}">
                      <a16:colId xmlns:a16="http://schemas.microsoft.com/office/drawing/2014/main" val="20001"/>
                    </a:ext>
                  </a:extLst>
                </a:gridCol>
                <a:gridCol w="3545205">
                  <a:extLst>
                    <a:ext uri="{9D8B030D-6E8A-4147-A177-3AD203B41FA5}">
                      <a16:colId xmlns:a16="http://schemas.microsoft.com/office/drawing/2014/main" val="20002"/>
                    </a:ext>
                  </a:extLst>
                </a:gridCol>
                <a:gridCol w="728282">
                  <a:extLst>
                    <a:ext uri="{9D8B030D-6E8A-4147-A177-3AD203B41FA5}">
                      <a16:colId xmlns:a16="http://schemas.microsoft.com/office/drawing/2014/main" val="20003"/>
                    </a:ext>
                  </a:extLst>
                </a:gridCol>
              </a:tblGrid>
              <a:tr h="477748">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latin typeface="+mn-lt"/>
                          <a:ea typeface="+mn-ea"/>
                          <a:cs typeface="Arial" panose="020B0604020202020204" pitchFamily="34" charset="0"/>
                        </a:rPr>
                        <a:t>Inventory</a:t>
                      </a:r>
                      <a:endParaRPr lang="en-US" sz="24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nchor="b">
                    <a:lnB w="3175" cap="flat" cmpd="sng" algn="ctr">
                      <a:solidFill>
                        <a:schemeClr val="tx1"/>
                      </a:solidFill>
                      <a:prstDash val="solid"/>
                      <a:round/>
                      <a:headEnd type="none" w="med" len="med"/>
                      <a:tailEnd type="none" w="med" len="med"/>
                    </a:lnB>
                  </a:tcPr>
                </a:tc>
                <a:tc hMerge="1">
                  <a:txBody>
                    <a:bodyPr/>
                    <a:lstStyle/>
                    <a:p>
                      <a:endParaRPr lang="en-US" dirty="0"/>
                    </a:p>
                  </a:txBody>
                  <a:tcPr>
                    <a:lnB w="3175" cap="flat" cmpd="sng" algn="ctr">
                      <a:solidFill>
                        <a:schemeClr val="tx1"/>
                      </a:solidFill>
                      <a:prstDash val="solid"/>
                      <a:round/>
                      <a:headEnd type="none" w="med" len="med"/>
                      <a:tailEnd type="none" w="med" len="med"/>
                    </a:lnB>
                  </a:tcPr>
                </a:tc>
                <a:tc hMerge="1">
                  <a:txBody>
                    <a:bodyPr/>
                    <a:lstStyle/>
                    <a:p>
                      <a:pPr algn="ctr"/>
                      <a:endParaRPr lang="en-US" sz="1800" dirty="0">
                        <a:solidFill>
                          <a:schemeClr val="tx1"/>
                        </a:solidFill>
                      </a:endParaRPr>
                    </a:p>
                  </a:txBody>
                  <a:tcP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03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latin typeface="+mn-lt"/>
                          <a:ea typeface="+mn-ea"/>
                          <a:cs typeface="+mn-cs"/>
                        </a:rPr>
                        <a:t>Beginning bal. (10 units @ $11 )</a:t>
                      </a:r>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110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50349">
                <a:tc>
                  <a:txBody>
                    <a:bodyPr/>
                    <a:lstStyle/>
                    <a:p>
                      <a:r>
                        <a:rPr lang="en-US" sz="1600" dirty="0">
                          <a:latin typeface="+mn-lt"/>
                          <a:ea typeface="+mn-ea"/>
                          <a:cs typeface="Arial" panose="020B0604020202020204" pitchFamily="34" charset="0"/>
                        </a:rPr>
                        <a:t>Purchases:</a:t>
                      </a:r>
                      <a:endParaRPr lang="en-US" sz="1600" dirty="0"/>
                    </a:p>
                  </a:txBody>
                  <a:tcPr>
                    <a:lnR w="12700" cap="flat" cmpd="sng" algn="ctr">
                      <a:noFill/>
                      <a:prstDash val="solid"/>
                      <a:round/>
                      <a:headEnd type="none" w="med" len="med"/>
                      <a:tailEnd type="none" w="med" len="med"/>
                    </a:lnR>
                  </a:tcPr>
                </a:tc>
                <a:tc>
                  <a:txBody>
                    <a:bodyPr/>
                    <a:lstStyle/>
                    <a:p>
                      <a:pPr algn="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Cost of goods sold:   (40 units @ $?)</a:t>
                      </a: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mn-lt"/>
                          <a:ea typeface="+mn-ea"/>
                          <a:cs typeface="Arial" panose="020B0604020202020204" pitchFamily="34" charset="0"/>
                        </a:rPr>
                        <a:t>?</a:t>
                      </a: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2"/>
                  </a:ext>
                </a:extLst>
              </a:tr>
              <a:tr h="350349">
                <a:tc>
                  <a:txBody>
                    <a:bodyPr/>
                    <a:lstStyle/>
                    <a:p>
                      <a:r>
                        <a:rPr lang="en-US" sz="1600" dirty="0">
                          <a:latin typeface="+mn-lt"/>
                          <a:ea typeface="+mn-ea"/>
                          <a:cs typeface="Arial" panose="020B0604020202020204" pitchFamily="34" charset="0"/>
                        </a:rPr>
                        <a:t>No. 1 	      (20 units @ $14)</a:t>
                      </a:r>
                      <a:endParaRPr lang="en-US" sz="1600" dirty="0"/>
                    </a:p>
                  </a:txBody>
                  <a:tcPr>
                    <a:lnR w="12700" cap="flat" cmpd="sng" algn="ctr">
                      <a:noFill/>
                      <a:prstDash val="solid"/>
                      <a:round/>
                      <a:headEnd type="none" w="med" len="med"/>
                      <a:tailEnd type="none" w="med" len="med"/>
                    </a:lnR>
                  </a:tcPr>
                </a:tc>
                <a:tc>
                  <a:txBody>
                    <a:bodyPr/>
                    <a:lstStyle/>
                    <a:p>
                      <a:pPr algn="r"/>
                      <a:r>
                        <a:rPr lang="en-US" sz="1600" dirty="0">
                          <a:latin typeface="+mn-lt"/>
                          <a:ea typeface="+mn-ea"/>
                          <a:cs typeface="Arial" panose="020B0604020202020204" pitchFamily="34" charset="0"/>
                        </a:rPr>
                        <a:t>280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3"/>
                  </a:ext>
                </a:extLst>
              </a:tr>
              <a:tr h="605148">
                <a:tc>
                  <a:txBody>
                    <a:bodyPr/>
                    <a:lstStyle/>
                    <a:p>
                      <a:r>
                        <a:rPr lang="en-US" sz="1600" dirty="0">
                          <a:latin typeface="+mn-lt"/>
                          <a:ea typeface="+mn-ea"/>
                          <a:cs typeface="Arial" panose="020B0604020202020204" pitchFamily="34" charset="0"/>
                        </a:rPr>
                        <a:t>No. 2             (15 units @ $16)</a:t>
                      </a:r>
                    </a:p>
                    <a:p>
                      <a:r>
                        <a:rPr lang="en-US" sz="1600" dirty="0">
                          <a:latin typeface="+mn-lt"/>
                          <a:ea typeface="+mn-ea"/>
                          <a:cs typeface="Arial" panose="020B0604020202020204" pitchFamily="34" charset="0"/>
                        </a:rPr>
                        <a:t>No. 3	     (15 units @ $18)</a:t>
                      </a:r>
                      <a:endParaRPr lang="en-US" sz="1600" dirty="0"/>
                    </a:p>
                  </a:txBody>
                  <a:tcPr>
                    <a:lnR w="12700" cap="flat" cmpd="sng" algn="ctr">
                      <a:noFill/>
                      <a:prstDash val="solid"/>
                      <a:round/>
                      <a:headEnd type="none" w="med" len="med"/>
                      <a:tailEnd type="none" w="med" len="med"/>
                    </a:lnR>
                  </a:tcPr>
                </a:tc>
                <a:tc>
                  <a:txBody>
                    <a:bodyPr/>
                    <a:lstStyle/>
                    <a:p>
                      <a:pPr algn="r"/>
                      <a:r>
                        <a:rPr lang="en-US" sz="1600" u="none" dirty="0">
                          <a:latin typeface="+mn-lt"/>
                          <a:ea typeface="+mn-ea"/>
                          <a:cs typeface="Arial" panose="020B0604020202020204" pitchFamily="34" charset="0"/>
                        </a:rPr>
                        <a:t>  240</a:t>
                      </a:r>
                    </a:p>
                    <a:p>
                      <a:pPr algn="r"/>
                      <a:r>
                        <a:rPr lang="en-US" sz="1600" u="sng" dirty="0">
                          <a:latin typeface="+mn-lt"/>
                          <a:ea typeface="+mn-ea"/>
                          <a:cs typeface="Arial" panose="020B0604020202020204" pitchFamily="34" charset="0"/>
                        </a:rPr>
                        <a:t>270</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tcPr>
                </a:tc>
                <a:extLst>
                  <a:ext uri="{0D108BD9-81ED-4DB2-BD59-A6C34878D82A}">
                    <a16:rowId xmlns:a16="http://schemas.microsoft.com/office/drawing/2014/main" val="10004"/>
                  </a:ext>
                </a:extLst>
              </a:tr>
              <a:tr h="350349">
                <a:tc>
                  <a:txBody>
                    <a:bodyPr/>
                    <a:lstStyle/>
                    <a:p>
                      <a:endParaRPr lang="en-US" sz="1600" dirty="0"/>
                    </a:p>
                  </a:txBody>
                  <a:tcPr>
                    <a:lnR w="12700"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algn="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0349">
                <a:tc>
                  <a:txBody>
                    <a:bodyPr/>
                    <a:lstStyle/>
                    <a:p>
                      <a:r>
                        <a:rPr lang="en-US" sz="1600" dirty="0">
                          <a:ea typeface="+mn-ea"/>
                          <a:cs typeface="Arial" panose="020B0604020202020204" pitchFamily="34" charset="0"/>
                        </a:rPr>
                        <a:t>Ending bal.    (20 units @ $?)</a:t>
                      </a:r>
                      <a:endParaRPr lang="en-US" sz="1600" dirty="0"/>
                    </a:p>
                  </a:txBody>
                  <a:tcP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r>
                        <a:rPr lang="en-US" sz="1600" u="sng" dirty="0">
                          <a:ea typeface="+mn-ea"/>
                          <a:cs typeface="Arial" panose="020B0604020202020204" pitchFamily="34" charset="0"/>
                        </a:rPr>
                        <a:t>        ?</a:t>
                      </a:r>
                      <a:endParaRPr lang="en-US" sz="1600" dirty="0"/>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lnL w="12700" cap="flat" cmpd="sng" algn="ctr">
                      <a:no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1117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First-in, First-out (FIFO) – Periodic</a:t>
            </a:r>
            <a:endParaRPr lang="en-CA" dirty="0"/>
          </a:p>
        </p:txBody>
      </p:sp>
      <p:sp>
        <p:nvSpPr>
          <p:cNvPr id="3" name="Content Placeholder 2"/>
          <p:cNvSpPr>
            <a:spLocks noGrp="1"/>
          </p:cNvSpPr>
          <p:nvPr>
            <p:ph idx="1"/>
          </p:nvPr>
        </p:nvSpPr>
        <p:spPr>
          <a:xfrm>
            <a:off x="457200" y="1600201"/>
            <a:ext cx="8229600" cy="914399"/>
          </a:xfrm>
        </p:spPr>
        <p:txBody>
          <a:bodyPr/>
          <a:lstStyle/>
          <a:p>
            <a:pPr marL="0" indent="0">
              <a:buNone/>
            </a:pPr>
            <a:r>
              <a:rPr lang="en-CA" dirty="0"/>
              <a:t>Under the periodic inventory system, all the information for the entire period is taken into account.</a:t>
            </a:r>
          </a:p>
        </p:txBody>
      </p:sp>
      <p:pic>
        <p:nvPicPr>
          <p:cNvPr id="5" name="Picture 4" descr="A T account titled, inventory at F I F O cost, periodic, has two columns, debit and credit.">
            <a:extLst>
              <a:ext uri="{FF2B5EF4-FFF2-40B4-BE49-F238E27FC236}">
                <a16:creationId xmlns:a16="http://schemas.microsoft.com/office/drawing/2014/main" id="{AC02DE5B-70BC-2751-3CF3-E2DE8C002A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947" y="2971798"/>
            <a:ext cx="7208105" cy="2133599"/>
          </a:xfrm>
          <a:prstGeom prst="rect">
            <a:avLst/>
          </a:prstGeom>
        </p:spPr>
      </p:pic>
    </p:spTree>
    <p:extLst>
      <p:ext uri="{BB962C8B-B14F-4D97-AF65-F5344CB8AC3E}">
        <p14:creationId xmlns:p14="http://schemas.microsoft.com/office/powerpoint/2010/main" val="1868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Weighted-Average Cost – Periodic </a:t>
            </a:r>
            <a:r>
              <a:rPr lang="en-US" altLang="en-US" sz="2000" b="0" dirty="0"/>
              <a:t>(1 of 2)</a:t>
            </a:r>
            <a:endParaRPr lang="en-US" sz="2000" b="0" dirty="0"/>
          </a:p>
        </p:txBody>
      </p:sp>
      <p:graphicFrame>
        <p:nvGraphicFramePr>
          <p:cNvPr id="4" name="Object 3" descr="Average cost per unit = cost of goods available, asterisk symbol over number of units available, asterisk symbol"/>
          <p:cNvGraphicFramePr>
            <a:graphicFrameLocks noChangeAspect="1"/>
          </p:cNvGraphicFramePr>
          <p:nvPr/>
        </p:nvGraphicFramePr>
        <p:xfrm>
          <a:off x="1282700" y="1828800"/>
          <a:ext cx="6578600" cy="819150"/>
        </p:xfrm>
        <a:graphic>
          <a:graphicData uri="http://schemas.openxmlformats.org/presentationml/2006/ole">
            <mc:AlternateContent xmlns:mc="http://schemas.openxmlformats.org/markup-compatibility/2006">
              <mc:Choice xmlns:v="urn:schemas-microsoft-com:vml" Requires="v">
                <p:oleObj name="Equation" r:id="rId3" imgW="5499000" imgH="685800" progId="Equation.DSMT4">
                  <p:embed/>
                </p:oleObj>
              </mc:Choice>
              <mc:Fallback>
                <p:oleObj name="Equation" r:id="rId3" imgW="5499000" imgH="685800" progId="Equation.DSMT4">
                  <p:embed/>
                  <p:pic>
                    <p:nvPicPr>
                      <p:cNvPr id="4" name="Object 3" descr="Average cost per unit = cost of goods available, asterisk symbol over number of units available, asterisk symbol"/>
                      <p:cNvPicPr/>
                      <p:nvPr/>
                    </p:nvPicPr>
                    <p:blipFill>
                      <a:blip r:embed="rId4"/>
                      <a:stretch>
                        <a:fillRect/>
                      </a:stretch>
                    </p:blipFill>
                    <p:spPr>
                      <a:xfrm>
                        <a:off x="1282700" y="1828800"/>
                        <a:ext cx="6578600" cy="819150"/>
                      </a:xfrm>
                      <a:prstGeom prst="rect">
                        <a:avLst/>
                      </a:prstGeom>
                      <a:noFill/>
                    </p:spPr>
                  </p:pic>
                </p:oleObj>
              </mc:Fallback>
            </mc:AlternateContent>
          </a:graphicData>
        </a:graphic>
      </p:graphicFrame>
      <p:sp>
        <p:nvSpPr>
          <p:cNvPr id="3" name="Content Placeholder 2"/>
          <p:cNvSpPr>
            <a:spLocks noGrp="1"/>
          </p:cNvSpPr>
          <p:nvPr>
            <p:ph idx="1"/>
          </p:nvPr>
        </p:nvSpPr>
        <p:spPr>
          <a:xfrm>
            <a:off x="457200" y="3119785"/>
            <a:ext cx="8229600" cy="381000"/>
          </a:xfrm>
        </p:spPr>
        <p:txBody>
          <a:bodyPr>
            <a:normAutofit fontScale="92500" lnSpcReduction="20000"/>
          </a:bodyPr>
          <a:lstStyle/>
          <a:p>
            <a:pPr marL="0" indent="0" algn="ctr">
              <a:buNone/>
            </a:pPr>
            <a:r>
              <a:rPr lang="en-US" altLang="en-US" dirty="0"/>
              <a:t>*Goods available = Beginning inventory + Purchases</a:t>
            </a:r>
            <a:endParaRPr lang="en-US" dirty="0"/>
          </a:p>
        </p:txBody>
      </p:sp>
      <p:graphicFrame>
        <p:nvGraphicFramePr>
          <p:cNvPr id="5" name="Object 4" descr="Cost of goods sold = number of units sold times average cost per unit"/>
          <p:cNvGraphicFramePr>
            <a:graphicFrameLocks noChangeAspect="1"/>
          </p:cNvGraphicFramePr>
          <p:nvPr/>
        </p:nvGraphicFramePr>
        <p:xfrm>
          <a:off x="1695007" y="3972621"/>
          <a:ext cx="5753987" cy="719250"/>
        </p:xfrm>
        <a:graphic>
          <a:graphicData uri="http://schemas.openxmlformats.org/presentationml/2006/ole">
            <mc:AlternateContent xmlns:mc="http://schemas.openxmlformats.org/markup-compatibility/2006">
              <mc:Choice xmlns:v="urn:schemas-microsoft-com:vml" Requires="v">
                <p:oleObj name="Equation" r:id="rId5" imgW="5473440" imgH="685800" progId="Equation.DSMT4">
                  <p:embed/>
                </p:oleObj>
              </mc:Choice>
              <mc:Fallback>
                <p:oleObj name="Equation" r:id="rId5" imgW="5473440" imgH="685800" progId="Equation.DSMT4">
                  <p:embed/>
                  <p:pic>
                    <p:nvPicPr>
                      <p:cNvPr id="5" name="Object 4" descr="Cost of goods sold = number of units sold times average cost per unit"/>
                      <p:cNvPicPr>
                        <a:picLocks noChangeAspect="1" noChangeArrowheads="1"/>
                      </p:cNvPicPr>
                      <p:nvPr/>
                    </p:nvPicPr>
                    <p:blipFill>
                      <a:blip r:embed="rId6"/>
                      <a:srcRect/>
                      <a:stretch>
                        <a:fillRect/>
                      </a:stretch>
                    </p:blipFill>
                    <p:spPr bwMode="auto">
                      <a:xfrm>
                        <a:off x="1695007" y="3972621"/>
                        <a:ext cx="5753987" cy="7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descr="Ending inventory = number of units on hand times average cost per unit"/>
          <p:cNvGraphicFramePr>
            <a:graphicFrameLocks noChangeAspect="1"/>
          </p:cNvGraphicFramePr>
          <p:nvPr/>
        </p:nvGraphicFramePr>
        <p:xfrm>
          <a:off x="1515581" y="5228061"/>
          <a:ext cx="6112838" cy="748453"/>
        </p:xfrm>
        <a:graphic>
          <a:graphicData uri="http://schemas.openxmlformats.org/presentationml/2006/ole">
            <mc:AlternateContent xmlns:mc="http://schemas.openxmlformats.org/markup-compatibility/2006">
              <mc:Choice xmlns:v="urn:schemas-microsoft-com:vml" Requires="v">
                <p:oleObj name="Equation" r:id="rId7" imgW="5587920" imgH="685800" progId="Equation.DSMT4">
                  <p:embed/>
                </p:oleObj>
              </mc:Choice>
              <mc:Fallback>
                <p:oleObj name="Equation" r:id="rId7" imgW="5587920" imgH="685800" progId="Equation.DSMT4">
                  <p:embed/>
                  <p:pic>
                    <p:nvPicPr>
                      <p:cNvPr id="7" name="Object 6" descr="Ending inventory = number of units on hand times average cost per unit"/>
                      <p:cNvPicPr>
                        <a:picLocks noChangeAspect="1" noChangeArrowheads="1"/>
                      </p:cNvPicPr>
                      <p:nvPr/>
                    </p:nvPicPr>
                    <p:blipFill>
                      <a:blip r:embed="rId8"/>
                      <a:srcRect/>
                      <a:stretch>
                        <a:fillRect/>
                      </a:stretch>
                    </p:blipFill>
                    <p:spPr bwMode="auto">
                      <a:xfrm>
                        <a:off x="1515581" y="5228061"/>
                        <a:ext cx="6112838" cy="748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38169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Weighted-Average Cost – Periodic </a:t>
            </a:r>
            <a:r>
              <a:rPr lang="en-US" altLang="en-US" sz="2000" b="0" dirty="0"/>
              <a:t>(2 of 2)</a:t>
            </a:r>
            <a:endParaRPr lang="en-US" sz="2000" b="0" dirty="0"/>
          </a:p>
        </p:txBody>
      </p:sp>
      <p:sp>
        <p:nvSpPr>
          <p:cNvPr id="3" name="Content Placeholder 2"/>
          <p:cNvSpPr>
            <a:spLocks noGrp="1"/>
          </p:cNvSpPr>
          <p:nvPr>
            <p:ph idx="1"/>
          </p:nvPr>
        </p:nvSpPr>
        <p:spPr/>
        <p:txBody>
          <a:bodyPr anchor="ctr"/>
          <a:lstStyle/>
          <a:p>
            <a:pPr marL="0" indent="0" algn="ctr">
              <a:spcAft>
                <a:spcPts val="1500"/>
              </a:spcAft>
              <a:buNone/>
            </a:pPr>
            <a:r>
              <a:rPr lang="en-US" altLang="en-US" sz="2800" dirty="0">
                <a:cs typeface="Arial" panose="020B0604020202020204" pitchFamily="34" charset="0"/>
              </a:rPr>
              <a:t>$900 total cost ÷ 60 units = $15/unit</a:t>
            </a:r>
          </a:p>
          <a:p>
            <a:pPr marL="0" indent="0" algn="ctr">
              <a:spcAft>
                <a:spcPts val="1500"/>
              </a:spcAft>
              <a:buNone/>
            </a:pPr>
            <a:r>
              <a:rPr lang="en-US" altLang="en-US" sz="2800" dirty="0">
                <a:cs typeface="Arial" panose="020B0604020202020204" pitchFamily="34" charset="0"/>
              </a:rPr>
              <a:t>Cost of goods sold = 40 × $15 = </a:t>
            </a:r>
            <a:r>
              <a:rPr lang="en-US" altLang="en-US" sz="2800" b="1" dirty="0">
                <a:cs typeface="Arial" panose="020B0604020202020204" pitchFamily="34" charset="0"/>
              </a:rPr>
              <a:t>$600</a:t>
            </a:r>
          </a:p>
          <a:p>
            <a:pPr marL="0" indent="0" algn="ctr">
              <a:spcAft>
                <a:spcPts val="1500"/>
              </a:spcAft>
              <a:buNone/>
            </a:pPr>
            <a:r>
              <a:rPr lang="en-US" altLang="en-US" sz="2800" dirty="0">
                <a:cs typeface="Arial" panose="020B0604020202020204" pitchFamily="34" charset="0"/>
              </a:rPr>
              <a:t>Ending inventory = 20 × $15 = </a:t>
            </a:r>
            <a:r>
              <a:rPr lang="en-US" altLang="en-US" sz="2800" b="1" dirty="0">
                <a:cs typeface="Arial" panose="020B0604020202020204" pitchFamily="34" charset="0"/>
              </a:rPr>
              <a:t>$300</a:t>
            </a:r>
            <a:endParaRPr lang="en-US" sz="2800" b="1" dirty="0">
              <a:cs typeface="Arial" panose="020B0604020202020204" pitchFamily="34" charset="0"/>
            </a:endParaRPr>
          </a:p>
        </p:txBody>
      </p:sp>
    </p:spTree>
    <p:extLst>
      <p:ext uri="{BB962C8B-B14F-4D97-AF65-F5344CB8AC3E}">
        <p14:creationId xmlns:p14="http://schemas.microsoft.com/office/powerpoint/2010/main" val="283054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a:t>End of Chapter Five</a:t>
            </a:r>
          </a:p>
        </p:txBody>
      </p:sp>
    </p:spTree>
    <p:extLst>
      <p:ext uri="{BB962C8B-B14F-4D97-AF65-F5344CB8AC3E}">
        <p14:creationId xmlns:p14="http://schemas.microsoft.com/office/powerpoint/2010/main" val="233673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800B5-A7C7-4A38-A875-53B18BAC9D5C}">
  <ds:schemaRefs>
    <ds:schemaRef ds:uri="http://schemas.microsoft.com/office/infopath/2007/PartnerControls"/>
    <ds:schemaRef ds:uri="http://schemas.openxmlformats.org/package/2006/metadata/core-properties"/>
    <ds:schemaRef ds:uri="http://purl.org/dc/terms/"/>
    <ds:schemaRef ds:uri="http://www.w3.org/XML/1998/namespace"/>
    <ds:schemaRef ds:uri="http://purl.org/dc/dcmitype/"/>
    <ds:schemaRef ds:uri="http://purl.org/dc/elements/1.1/"/>
    <ds:schemaRef ds:uri="http://schemas.microsoft.com/office/2006/documentManagement/types"/>
    <ds:schemaRef ds:uri="baf01252-53fa-40dd-aec5-420f8d6c2b25"/>
    <ds:schemaRef ds:uri="9a5288b5-dab3-4678-90e6-28176b4bed68"/>
    <ds:schemaRef ds:uri="http://schemas.microsoft.com/office/2006/metadata/properties"/>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999</TotalTime>
  <Words>7233</Words>
  <Application>Microsoft Macintosh PowerPoint</Application>
  <PresentationFormat>On-screen Show (4:3)</PresentationFormat>
  <Paragraphs>747</Paragraphs>
  <Slides>58</Slides>
  <Notes>55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9" baseType="lpstr">
      <vt:lpstr>Berkeley-Book</vt:lpstr>
      <vt:lpstr>BerkeleyPro-Book</vt:lpstr>
      <vt:lpstr>ＭＳ Ｐゴシック</vt:lpstr>
      <vt:lpstr>Arial</vt:lpstr>
      <vt:lpstr>Calibri</vt:lpstr>
      <vt:lpstr>Georgia</vt:lpstr>
      <vt:lpstr>Impact</vt:lpstr>
      <vt:lpstr>Verdana</vt:lpstr>
      <vt:lpstr>Wingdings</vt:lpstr>
      <vt:lpstr>UofWaterloo_WhiteBkgrd</vt:lpstr>
      <vt:lpstr>Equation</vt:lpstr>
      <vt:lpstr>Chapter 5 Inventory &amp; Cost of Goods Sold</vt:lpstr>
      <vt:lpstr>Learning Objective One</vt:lpstr>
      <vt:lpstr>Income Statements</vt:lpstr>
      <vt:lpstr>Balance Sheets</vt:lpstr>
      <vt:lpstr>Merchandise Inventory (1 of 2)</vt:lpstr>
      <vt:lpstr>Merchandise Inventory (2 of 2)</vt:lpstr>
      <vt:lpstr>Sales Price vs. Cost of Inventory</vt:lpstr>
      <vt:lpstr>Number of Units of Inventory</vt:lpstr>
      <vt:lpstr>Shipping terms</vt:lpstr>
      <vt:lpstr>Inventory Accounting Systems</vt:lpstr>
      <vt:lpstr>Perpetual Inventory</vt:lpstr>
      <vt:lpstr>Recording Inventory (Amounts Assumed) (1 of 2) </vt:lpstr>
      <vt:lpstr>Recording Inventory (Amounts Assumed) (2 of 2)</vt:lpstr>
      <vt:lpstr>Reporting in the Financial Statements</vt:lpstr>
      <vt:lpstr>Cost of Net Purchases</vt:lpstr>
      <vt:lpstr>Net Sales</vt:lpstr>
      <vt:lpstr>Sales Returns and Allowances (1 of 4)</vt:lpstr>
      <vt:lpstr>Sales Returns and Allowances (2 of 4)</vt:lpstr>
      <vt:lpstr>Sales Returns and Allowances (3 of 4) </vt:lpstr>
      <vt:lpstr>Sales Returns and Allowances (4 of 4) </vt:lpstr>
      <vt:lpstr>Sales Discounts (1 of 2)</vt:lpstr>
      <vt:lpstr>Sales Discounts (2 of 2)</vt:lpstr>
      <vt:lpstr>Learning Objective Two</vt:lpstr>
      <vt:lpstr>Inventory Costing Methods</vt:lpstr>
      <vt:lpstr>Specific Identification Cost</vt:lpstr>
      <vt:lpstr>Illustration of Weighted Average and FIFO Costing </vt:lpstr>
      <vt:lpstr>Illustration of Weighted-Average and FIFO Costing Methods</vt:lpstr>
      <vt:lpstr>First-in, First-out (FIFO)</vt:lpstr>
      <vt:lpstr>First-In, First-Out (1 of 2) </vt:lpstr>
      <vt:lpstr>First-In, First-Out (2 of 2) </vt:lpstr>
      <vt:lpstr>Weighted-Average Cost</vt:lpstr>
      <vt:lpstr>When inventory costs are INCREASING</vt:lpstr>
      <vt:lpstr>Practice Problem E5-14</vt:lpstr>
      <vt:lpstr>Learning Objective Three</vt:lpstr>
      <vt:lpstr>Comparability </vt:lpstr>
      <vt:lpstr>Lower-of-Cost-and-Net-Realizable-Value (LCNRV) Rule</vt:lpstr>
      <vt:lpstr>Practice Problem S5-7</vt:lpstr>
      <vt:lpstr>Learning Objective Four</vt:lpstr>
      <vt:lpstr>Gross Profit Percentage</vt:lpstr>
      <vt:lpstr>Inventory Turnover</vt:lpstr>
      <vt:lpstr>Days’ Inventory Outstanding</vt:lpstr>
      <vt:lpstr>Learning Objective Five</vt:lpstr>
      <vt:lpstr>Effects of Inventory Errors (1 of 2)</vt:lpstr>
      <vt:lpstr>Effects of Inventory Errors (2 of 2) </vt:lpstr>
      <vt:lpstr>Reporting on the Statement of Cash Flows</vt:lpstr>
      <vt:lpstr>Ethical Considerations</vt:lpstr>
      <vt:lpstr>Practice Problem S5-9</vt:lpstr>
      <vt:lpstr>Learning Objective Six</vt:lpstr>
      <vt:lpstr>Using the XLOOKUP Function in Excel Example (1 of 2)</vt:lpstr>
      <vt:lpstr>Using the XLOOKUP Function in Excel Example (2 of 2)</vt:lpstr>
      <vt:lpstr>Learning Objective A-1</vt:lpstr>
      <vt:lpstr>Recording Inventory   </vt:lpstr>
      <vt:lpstr>Updating Inventory and COGS at Year-End</vt:lpstr>
      <vt:lpstr>Illustration of FIFO and Weighted-Average Costing </vt:lpstr>
      <vt:lpstr>First-in, First-out (FIFO) – Periodic</vt:lpstr>
      <vt:lpstr>Weighted-Average Cost – Periodic (1 of 2)</vt:lpstr>
      <vt:lpstr>Weighted-Average Cost – Periodic (2 of 2)</vt:lpstr>
      <vt:lpstr>End of Chapter Five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Xiao Lu</cp:lastModifiedBy>
  <cp:revision>117</cp:revision>
  <cp:lastPrinted>2023-09-27T17:55:24Z</cp:lastPrinted>
  <dcterms:created xsi:type="dcterms:W3CDTF">2020-07-10T19:47:04Z</dcterms:created>
  <dcterms:modified xsi:type="dcterms:W3CDTF">2025-09-30T17:39:00Z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