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4"/>
  </p:sldMasterIdLst>
  <p:notesMasterIdLst>
    <p:notesMasterId r:id="rId78"/>
  </p:notesMasterIdLst>
  <p:sldIdLst>
    <p:sldId id="256" r:id="rId5"/>
    <p:sldId id="379" r:id="rId6"/>
    <p:sldId id="271" r:id="rId7"/>
    <p:sldId id="339" r:id="rId8"/>
    <p:sldId id="340" r:id="rId9"/>
    <p:sldId id="273" r:id="rId10"/>
    <p:sldId id="274" r:id="rId11"/>
    <p:sldId id="278" r:id="rId12"/>
    <p:sldId id="279" r:id="rId13"/>
    <p:sldId id="277" r:id="rId14"/>
    <p:sldId id="276" r:id="rId15"/>
    <p:sldId id="283" r:id="rId16"/>
    <p:sldId id="275" r:id="rId17"/>
    <p:sldId id="282" r:id="rId18"/>
    <p:sldId id="345" r:id="rId19"/>
    <p:sldId id="284" r:id="rId20"/>
    <p:sldId id="281" r:id="rId21"/>
    <p:sldId id="289" r:id="rId22"/>
    <p:sldId id="290" r:id="rId23"/>
    <p:sldId id="291" r:id="rId24"/>
    <p:sldId id="288" r:id="rId25"/>
    <p:sldId id="280" r:id="rId26"/>
    <p:sldId id="287" r:id="rId27"/>
    <p:sldId id="293" r:id="rId28"/>
    <p:sldId id="294" r:id="rId29"/>
    <p:sldId id="295" r:id="rId30"/>
    <p:sldId id="299" r:id="rId31"/>
    <p:sldId id="298" r:id="rId32"/>
    <p:sldId id="297" r:id="rId33"/>
    <p:sldId id="296" r:id="rId34"/>
    <p:sldId id="308" r:id="rId35"/>
    <p:sldId id="302" r:id="rId36"/>
    <p:sldId id="301" r:id="rId37"/>
    <p:sldId id="380" r:id="rId38"/>
    <p:sldId id="303" r:id="rId39"/>
    <p:sldId id="300" r:id="rId40"/>
    <p:sldId id="307" r:id="rId41"/>
    <p:sldId id="306" r:id="rId42"/>
    <p:sldId id="305" r:id="rId43"/>
    <p:sldId id="304" r:id="rId44"/>
    <p:sldId id="310" r:id="rId45"/>
    <p:sldId id="381" r:id="rId46"/>
    <p:sldId id="311" r:id="rId47"/>
    <p:sldId id="309" r:id="rId48"/>
    <p:sldId id="341" r:id="rId49"/>
    <p:sldId id="312" r:id="rId50"/>
    <p:sldId id="313" r:id="rId51"/>
    <p:sldId id="315" r:id="rId52"/>
    <p:sldId id="382" r:id="rId53"/>
    <p:sldId id="316" r:id="rId54"/>
    <p:sldId id="319" r:id="rId55"/>
    <p:sldId id="318" r:id="rId56"/>
    <p:sldId id="322" r:id="rId57"/>
    <p:sldId id="325" r:id="rId58"/>
    <p:sldId id="320" r:id="rId59"/>
    <p:sldId id="326" r:id="rId60"/>
    <p:sldId id="324" r:id="rId61"/>
    <p:sldId id="327" r:id="rId62"/>
    <p:sldId id="328" r:id="rId63"/>
    <p:sldId id="330" r:id="rId64"/>
    <p:sldId id="329" r:id="rId65"/>
    <p:sldId id="332" r:id="rId66"/>
    <p:sldId id="331" r:id="rId67"/>
    <p:sldId id="383" r:id="rId68"/>
    <p:sldId id="336" r:id="rId69"/>
    <p:sldId id="335" r:id="rId70"/>
    <p:sldId id="337" r:id="rId71"/>
    <p:sldId id="334" r:id="rId72"/>
    <p:sldId id="342" r:id="rId73"/>
    <p:sldId id="343" r:id="rId74"/>
    <p:sldId id="344" r:id="rId75"/>
    <p:sldId id="338" r:id="rId76"/>
    <p:sldId id="257" r:id="rId7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4B429"/>
    <a:srgbClr val="FFD54F"/>
    <a:srgbClr val="FFEA3D"/>
    <a:srgbClr val="FFFFAA"/>
    <a:srgbClr val="E0249A"/>
    <a:srgbClr val="0073CF"/>
    <a:srgbClr val="57068C"/>
    <a:srgbClr val="FFDB43"/>
    <a:srgbClr val="FDD541"/>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D6143F-D205-D342-8437-D4B141101FF8}" v="9" dt="2024-10-02T00:16:31.335"/>
  </p1510:revLst>
</p1510:revInfo>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118" autoAdjust="0"/>
    <p:restoredTop sz="86863" autoAdjust="0"/>
  </p:normalViewPr>
  <p:slideViewPr>
    <p:cSldViewPr snapToGrid="0">
      <p:cViewPr varScale="1">
        <p:scale>
          <a:sx n="93" d="100"/>
          <a:sy n="93" d="100"/>
        </p:scale>
        <p:origin x="2056" y="200"/>
      </p:cViewPr>
      <p:guideLst>
        <p:guide orient="horz" pos="2160"/>
        <p:guide pos="2880"/>
      </p:guideLst>
    </p:cSldViewPr>
  </p:slid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microsoft.com/office/2015/10/relationships/revisionInfo" Target="revisionInfo.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ynn Carty" userId="22830c01-2f55-4e06-b79c-b355947cb1ea" providerId="ADAL" clId="{32D6143F-D205-D342-8437-D4B141101FF8}"/>
    <pc:docChg chg="undo custSel addSld delSld modSld">
      <pc:chgData name="Lynn Carty" userId="22830c01-2f55-4e06-b79c-b355947cb1ea" providerId="ADAL" clId="{32D6143F-D205-D342-8437-D4B141101FF8}" dt="2024-10-02T00:21:51.470" v="1912" actId="5793"/>
      <pc:docMkLst>
        <pc:docMk/>
      </pc:docMkLst>
      <pc:sldChg chg="modSp mod">
        <pc:chgData name="Lynn Carty" userId="22830c01-2f55-4e06-b79c-b355947cb1ea" providerId="ADAL" clId="{32D6143F-D205-D342-8437-D4B141101FF8}" dt="2024-10-02T00:21:51.470" v="1912" actId="5793"/>
        <pc:sldMkLst>
          <pc:docMk/>
          <pc:sldMk cId="3254239193" sldId="257"/>
        </pc:sldMkLst>
        <pc:spChg chg="mod">
          <ac:chgData name="Lynn Carty" userId="22830c01-2f55-4e06-b79c-b355947cb1ea" providerId="ADAL" clId="{32D6143F-D205-D342-8437-D4B141101FF8}" dt="2024-10-02T00:21:51.470" v="1912" actId="5793"/>
          <ac:spMkLst>
            <pc:docMk/>
            <pc:sldMk cId="3254239193" sldId="257"/>
            <ac:spMk id="10" creationId="{65A46181-FDC9-6C91-C2E5-C9097B3DA620}"/>
          </ac:spMkLst>
        </pc:spChg>
      </pc:sldChg>
      <pc:sldChg chg="setBg">
        <pc:chgData name="Lynn Carty" userId="22830c01-2f55-4e06-b79c-b355947cb1ea" providerId="ADAL" clId="{32D6143F-D205-D342-8437-D4B141101FF8}" dt="2024-10-01T23:16:59.835" v="187"/>
        <pc:sldMkLst>
          <pc:docMk/>
          <pc:sldMk cId="3206949917" sldId="271"/>
        </pc:sldMkLst>
      </pc:sldChg>
      <pc:sldChg chg="setBg">
        <pc:chgData name="Lynn Carty" userId="22830c01-2f55-4e06-b79c-b355947cb1ea" providerId="ADAL" clId="{32D6143F-D205-D342-8437-D4B141101FF8}" dt="2024-10-01T23:16:59.835" v="187"/>
        <pc:sldMkLst>
          <pc:docMk/>
          <pc:sldMk cId="716283341" sldId="284"/>
        </pc:sldMkLst>
      </pc:sldChg>
      <pc:sldChg chg="setBg">
        <pc:chgData name="Lynn Carty" userId="22830c01-2f55-4e06-b79c-b355947cb1ea" providerId="ADAL" clId="{32D6143F-D205-D342-8437-D4B141101FF8}" dt="2024-10-01T23:16:59.835" v="187"/>
        <pc:sldMkLst>
          <pc:docMk/>
          <pc:sldMk cId="3087637861" sldId="303"/>
        </pc:sldMkLst>
      </pc:sldChg>
      <pc:sldChg chg="modSp del mod">
        <pc:chgData name="Lynn Carty" userId="22830c01-2f55-4e06-b79c-b355947cb1ea" providerId="ADAL" clId="{32D6143F-D205-D342-8437-D4B141101FF8}" dt="2024-10-01T23:28:54.192" v="262" actId="2696"/>
        <pc:sldMkLst>
          <pc:docMk/>
          <pc:sldMk cId="3498971760" sldId="317"/>
        </pc:sldMkLst>
        <pc:spChg chg="mod">
          <ac:chgData name="Lynn Carty" userId="22830c01-2f55-4e06-b79c-b355947cb1ea" providerId="ADAL" clId="{32D6143F-D205-D342-8437-D4B141101FF8}" dt="2024-10-01T23:24:05.551" v="191" actId="20577"/>
          <ac:spMkLst>
            <pc:docMk/>
            <pc:sldMk cId="3498971760" sldId="317"/>
            <ac:spMk id="3" creationId="{00000000-0000-0000-0000-000000000000}"/>
          </ac:spMkLst>
        </pc:spChg>
        <pc:graphicFrameChg chg="mod">
          <ac:chgData name="Lynn Carty" userId="22830c01-2f55-4e06-b79c-b355947cb1ea" providerId="ADAL" clId="{32D6143F-D205-D342-8437-D4B141101FF8}" dt="2024-10-01T23:27:24.045" v="206" actId="1076"/>
          <ac:graphicFrameMkLst>
            <pc:docMk/>
            <pc:sldMk cId="3498971760" sldId="317"/>
            <ac:graphicFrameMk id="2" creationId="{00000000-0000-0000-0000-000000000000}"/>
          </ac:graphicFrameMkLst>
        </pc:graphicFrameChg>
      </pc:sldChg>
      <pc:sldChg chg="del">
        <pc:chgData name="Lynn Carty" userId="22830c01-2f55-4e06-b79c-b355947cb1ea" providerId="ADAL" clId="{32D6143F-D205-D342-8437-D4B141101FF8}" dt="2024-10-01T23:30:20.655" v="263" actId="2696"/>
        <pc:sldMkLst>
          <pc:docMk/>
          <pc:sldMk cId="1267398099" sldId="321"/>
        </pc:sldMkLst>
      </pc:sldChg>
      <pc:sldChg chg="addSp modSp mod">
        <pc:chgData name="Lynn Carty" userId="22830c01-2f55-4e06-b79c-b355947cb1ea" providerId="ADAL" clId="{32D6143F-D205-D342-8437-D4B141101FF8}" dt="2024-10-01T23:28:36.527" v="261" actId="27636"/>
        <pc:sldMkLst>
          <pc:docMk/>
          <pc:sldMk cId="1905439498" sldId="322"/>
        </pc:sldMkLst>
        <pc:spChg chg="mod">
          <ac:chgData name="Lynn Carty" userId="22830c01-2f55-4e06-b79c-b355947cb1ea" providerId="ADAL" clId="{32D6143F-D205-D342-8437-D4B141101FF8}" dt="2024-10-01T23:26:32.887" v="200" actId="20577"/>
          <ac:spMkLst>
            <pc:docMk/>
            <pc:sldMk cId="1905439498" sldId="322"/>
            <ac:spMk id="2" creationId="{00000000-0000-0000-0000-000000000000}"/>
          </ac:spMkLst>
        </pc:spChg>
        <pc:spChg chg="mod">
          <ac:chgData name="Lynn Carty" userId="22830c01-2f55-4e06-b79c-b355947cb1ea" providerId="ADAL" clId="{32D6143F-D205-D342-8437-D4B141101FF8}" dt="2024-10-01T23:28:36.527" v="261" actId="27636"/>
          <ac:spMkLst>
            <pc:docMk/>
            <pc:sldMk cId="1905439498" sldId="322"/>
            <ac:spMk id="3" creationId="{00000000-0000-0000-0000-000000000000}"/>
          </ac:spMkLst>
        </pc:spChg>
        <pc:picChg chg="add mod">
          <ac:chgData name="Lynn Carty" userId="22830c01-2f55-4e06-b79c-b355947cb1ea" providerId="ADAL" clId="{32D6143F-D205-D342-8437-D4B141101FF8}" dt="2024-10-01T23:28:13.547" v="211" actId="1076"/>
          <ac:picMkLst>
            <pc:docMk/>
            <pc:sldMk cId="1905439498" sldId="322"/>
            <ac:picMk id="4" creationId="{C3FD0F23-16FF-D2A0-5FE1-EB21094AFDD4}"/>
          </ac:picMkLst>
        </pc:picChg>
      </pc:sldChg>
      <pc:sldChg chg="del">
        <pc:chgData name="Lynn Carty" userId="22830c01-2f55-4e06-b79c-b355947cb1ea" providerId="ADAL" clId="{32D6143F-D205-D342-8437-D4B141101FF8}" dt="2024-10-02T00:16:57.622" v="1906" actId="2696"/>
        <pc:sldMkLst>
          <pc:docMk/>
          <pc:sldMk cId="1455824574" sldId="323"/>
        </pc:sldMkLst>
      </pc:sldChg>
      <pc:sldChg chg="addSp modSp mod modNotesTx">
        <pc:chgData name="Lynn Carty" userId="22830c01-2f55-4e06-b79c-b355947cb1ea" providerId="ADAL" clId="{32D6143F-D205-D342-8437-D4B141101FF8}" dt="2024-10-02T00:16:52.960" v="1905" actId="20577"/>
        <pc:sldMkLst>
          <pc:docMk/>
          <pc:sldMk cId="1132742393" sldId="324"/>
        </pc:sldMkLst>
        <pc:spChg chg="mod">
          <ac:chgData name="Lynn Carty" userId="22830c01-2f55-4e06-b79c-b355947cb1ea" providerId="ADAL" clId="{32D6143F-D205-D342-8437-D4B141101FF8}" dt="2024-10-02T00:15:29.224" v="1885" actId="20577"/>
          <ac:spMkLst>
            <pc:docMk/>
            <pc:sldMk cId="1132742393" sldId="324"/>
            <ac:spMk id="4" creationId="{00000000-0000-0000-0000-000000000000}"/>
          </ac:spMkLst>
        </pc:spChg>
        <pc:spChg chg="mod">
          <ac:chgData name="Lynn Carty" userId="22830c01-2f55-4e06-b79c-b355947cb1ea" providerId="ADAL" clId="{32D6143F-D205-D342-8437-D4B141101FF8}" dt="2024-10-02T00:15:46.660" v="1895" actId="14100"/>
          <ac:spMkLst>
            <pc:docMk/>
            <pc:sldMk cId="1132742393" sldId="324"/>
            <ac:spMk id="5" creationId="{00000000-0000-0000-0000-000000000000}"/>
          </ac:spMkLst>
        </pc:spChg>
        <pc:graphicFrameChg chg="add mod modGraphic">
          <ac:chgData name="Lynn Carty" userId="22830c01-2f55-4e06-b79c-b355947cb1ea" providerId="ADAL" clId="{32D6143F-D205-D342-8437-D4B141101FF8}" dt="2024-10-02T00:16:36.713" v="1902" actId="1076"/>
          <ac:graphicFrameMkLst>
            <pc:docMk/>
            <pc:sldMk cId="1132742393" sldId="324"/>
            <ac:graphicFrameMk id="2" creationId="{84CE9A66-CBBF-0EC6-2205-D00690DD60B0}"/>
          </ac:graphicFrameMkLst>
        </pc:graphicFrameChg>
      </pc:sldChg>
      <pc:sldChg chg="setBg">
        <pc:chgData name="Lynn Carty" userId="22830c01-2f55-4e06-b79c-b355947cb1ea" providerId="ADAL" clId="{32D6143F-D205-D342-8437-D4B141101FF8}" dt="2024-10-01T23:16:59.835" v="187"/>
        <pc:sldMkLst>
          <pc:docMk/>
          <pc:sldMk cId="1437056849" sldId="325"/>
        </pc:sldMkLst>
      </pc:sldChg>
      <pc:sldChg chg="del">
        <pc:chgData name="Lynn Carty" userId="22830c01-2f55-4e06-b79c-b355947cb1ea" providerId="ADAL" clId="{32D6143F-D205-D342-8437-D4B141101FF8}" dt="2024-10-02T00:18:06.854" v="1907" actId="2696"/>
        <pc:sldMkLst>
          <pc:docMk/>
          <pc:sldMk cId="3568227297" sldId="333"/>
        </pc:sldMkLst>
      </pc:sldChg>
      <pc:sldChg chg="setBg">
        <pc:chgData name="Lynn Carty" userId="22830c01-2f55-4e06-b79c-b355947cb1ea" providerId="ADAL" clId="{32D6143F-D205-D342-8437-D4B141101FF8}" dt="2024-10-01T23:16:59.835" v="187"/>
        <pc:sldMkLst>
          <pc:docMk/>
          <pc:sldMk cId="2007458547" sldId="336"/>
        </pc:sldMkLst>
      </pc:sldChg>
      <pc:sldChg chg="setBg">
        <pc:chgData name="Lynn Carty" userId="22830c01-2f55-4e06-b79c-b355947cb1ea" providerId="ADAL" clId="{32D6143F-D205-D342-8437-D4B141101FF8}" dt="2024-10-01T23:16:59.835" v="187"/>
        <pc:sldMkLst>
          <pc:docMk/>
          <pc:sldMk cId="1067682722" sldId="337"/>
        </pc:sldMkLst>
      </pc:sldChg>
      <pc:sldChg chg="setBg">
        <pc:chgData name="Lynn Carty" userId="22830c01-2f55-4e06-b79c-b355947cb1ea" providerId="ADAL" clId="{32D6143F-D205-D342-8437-D4B141101FF8}" dt="2024-10-01T23:16:59.835" v="187"/>
        <pc:sldMkLst>
          <pc:docMk/>
          <pc:sldMk cId="1442023804" sldId="342"/>
        </pc:sldMkLst>
      </pc:sldChg>
      <pc:sldChg chg="addSp delSp modSp add mod modClrScheme chgLayout modNotesTx">
        <pc:chgData name="Lynn Carty" userId="22830c01-2f55-4e06-b79c-b355947cb1ea" providerId="ADAL" clId="{32D6143F-D205-D342-8437-D4B141101FF8}" dt="2024-10-01T03:11:44.979" v="186" actId="1076"/>
        <pc:sldMkLst>
          <pc:docMk/>
          <pc:sldMk cId="2295001007" sldId="380"/>
        </pc:sldMkLst>
        <pc:spChg chg="mod">
          <ac:chgData name="Lynn Carty" userId="22830c01-2f55-4e06-b79c-b355947cb1ea" providerId="ADAL" clId="{32D6143F-D205-D342-8437-D4B141101FF8}" dt="2024-10-01T03:08:31.605" v="37" actId="26606"/>
          <ac:spMkLst>
            <pc:docMk/>
            <pc:sldMk cId="2295001007" sldId="380"/>
            <ac:spMk id="2" creationId="{D1B68446-41E1-4FB4-30B0-7EAFEE60401E}"/>
          </ac:spMkLst>
        </pc:spChg>
        <pc:spChg chg="add del mod">
          <ac:chgData name="Lynn Carty" userId="22830c01-2f55-4e06-b79c-b355947cb1ea" providerId="ADAL" clId="{32D6143F-D205-D342-8437-D4B141101FF8}" dt="2024-10-01T03:10:41.971" v="96" actId="1076"/>
          <ac:spMkLst>
            <pc:docMk/>
            <pc:sldMk cId="2295001007" sldId="380"/>
            <ac:spMk id="3" creationId="{99FDDFFA-9C8C-293A-7C6B-48CE3AAB81C0}"/>
          </ac:spMkLst>
        </pc:spChg>
        <pc:spChg chg="add">
          <ac:chgData name="Lynn Carty" userId="22830c01-2f55-4e06-b79c-b355947cb1ea" providerId="ADAL" clId="{32D6143F-D205-D342-8437-D4B141101FF8}" dt="2024-10-01T03:07:36.067" v="22"/>
          <ac:spMkLst>
            <pc:docMk/>
            <pc:sldMk cId="2295001007" sldId="380"/>
            <ac:spMk id="5" creationId="{E0C05134-3A28-F189-35E5-D236A3DF5023}"/>
          </ac:spMkLst>
        </pc:spChg>
        <pc:spChg chg="add mod">
          <ac:chgData name="Lynn Carty" userId="22830c01-2f55-4e06-b79c-b355947cb1ea" providerId="ADAL" clId="{32D6143F-D205-D342-8437-D4B141101FF8}" dt="2024-10-01T03:11:30.099" v="184" actId="20577"/>
          <ac:spMkLst>
            <pc:docMk/>
            <pc:sldMk cId="2295001007" sldId="380"/>
            <ac:spMk id="7" creationId="{D9ED2F18-2F1B-D1A2-0C4C-0E59DBC55D4E}"/>
          </ac:spMkLst>
        </pc:spChg>
        <pc:spChg chg="add del mod">
          <ac:chgData name="Lynn Carty" userId="22830c01-2f55-4e06-b79c-b355947cb1ea" providerId="ADAL" clId="{32D6143F-D205-D342-8437-D4B141101FF8}" dt="2024-10-01T03:08:31.597" v="36" actId="26606"/>
          <ac:spMkLst>
            <pc:docMk/>
            <pc:sldMk cId="2295001007" sldId="380"/>
            <ac:spMk id="11" creationId="{E31729F6-A9AB-96D2-839A-DD3AD20BDC2B}"/>
          </ac:spMkLst>
        </pc:spChg>
        <pc:spChg chg="add mod">
          <ac:chgData name="Lynn Carty" userId="22830c01-2f55-4e06-b79c-b355947cb1ea" providerId="ADAL" clId="{32D6143F-D205-D342-8437-D4B141101FF8}" dt="2024-10-01T03:08:31.605" v="37" actId="26606"/>
          <ac:spMkLst>
            <pc:docMk/>
            <pc:sldMk cId="2295001007" sldId="380"/>
            <ac:spMk id="13" creationId="{E8EE13FE-F4A4-829F-0BC6-1BE50CDA624C}"/>
          </ac:spMkLst>
        </pc:spChg>
        <pc:graphicFrameChg chg="add mod">
          <ac:chgData name="Lynn Carty" userId="22830c01-2f55-4e06-b79c-b355947cb1ea" providerId="ADAL" clId="{32D6143F-D205-D342-8437-D4B141101FF8}" dt="2024-10-01T03:07:41.484" v="23"/>
          <ac:graphicFrameMkLst>
            <pc:docMk/>
            <pc:sldMk cId="2295001007" sldId="380"/>
            <ac:graphicFrameMk id="4" creationId="{02386812-4E19-5A06-5271-E762BB43F5CC}"/>
          </ac:graphicFrameMkLst>
        </pc:graphicFrameChg>
        <pc:graphicFrameChg chg="add mod modGraphic">
          <ac:chgData name="Lynn Carty" userId="22830c01-2f55-4e06-b79c-b355947cb1ea" providerId="ADAL" clId="{32D6143F-D205-D342-8437-D4B141101FF8}" dt="2024-10-01T03:11:44.979" v="186" actId="1076"/>
          <ac:graphicFrameMkLst>
            <pc:docMk/>
            <pc:sldMk cId="2295001007" sldId="380"/>
            <ac:graphicFrameMk id="6" creationId="{ECCD2009-4D67-9793-5F9A-9F78650B63F1}"/>
          </ac:graphicFrameMkLst>
        </pc:graphicFrameChg>
      </pc:sldChg>
      <pc:sldChg chg="new del">
        <pc:chgData name="Lynn Carty" userId="22830c01-2f55-4e06-b79c-b355947cb1ea" providerId="ADAL" clId="{32D6143F-D205-D342-8437-D4B141101FF8}" dt="2024-10-01T03:06:47.040" v="1" actId="2696"/>
        <pc:sldMkLst>
          <pc:docMk/>
          <pc:sldMk cId="2837179624" sldId="380"/>
        </pc:sldMkLst>
      </pc:sldChg>
      <pc:sldChg chg="modSp new mod">
        <pc:chgData name="Lynn Carty" userId="22830c01-2f55-4e06-b79c-b355947cb1ea" providerId="ADAL" clId="{32D6143F-D205-D342-8437-D4B141101FF8}" dt="2024-10-01T23:37:13.105" v="667" actId="20577"/>
        <pc:sldMkLst>
          <pc:docMk/>
          <pc:sldMk cId="3999807766" sldId="381"/>
        </pc:sldMkLst>
        <pc:spChg chg="mod">
          <ac:chgData name="Lynn Carty" userId="22830c01-2f55-4e06-b79c-b355947cb1ea" providerId="ADAL" clId="{32D6143F-D205-D342-8437-D4B141101FF8}" dt="2024-10-01T23:35:12.754" v="272" actId="20577"/>
          <ac:spMkLst>
            <pc:docMk/>
            <pc:sldMk cId="3999807766" sldId="381"/>
            <ac:spMk id="2" creationId="{13F18854-0E61-BBD5-1F12-2A8D9971EC09}"/>
          </ac:spMkLst>
        </pc:spChg>
        <pc:spChg chg="mod">
          <ac:chgData name="Lynn Carty" userId="22830c01-2f55-4e06-b79c-b355947cb1ea" providerId="ADAL" clId="{32D6143F-D205-D342-8437-D4B141101FF8}" dt="2024-10-01T23:37:13.105" v="667" actId="20577"/>
          <ac:spMkLst>
            <pc:docMk/>
            <pc:sldMk cId="3999807766" sldId="381"/>
            <ac:spMk id="3" creationId="{FB7BFED3-3CF7-94C8-F53D-9F9718C2F42D}"/>
          </ac:spMkLst>
        </pc:spChg>
      </pc:sldChg>
      <pc:sldChg chg="modSp new mod">
        <pc:chgData name="Lynn Carty" userId="22830c01-2f55-4e06-b79c-b355947cb1ea" providerId="ADAL" clId="{32D6143F-D205-D342-8437-D4B141101FF8}" dt="2024-10-01T23:46:22.088" v="1201" actId="255"/>
        <pc:sldMkLst>
          <pc:docMk/>
          <pc:sldMk cId="270396650" sldId="382"/>
        </pc:sldMkLst>
        <pc:spChg chg="mod">
          <ac:chgData name="Lynn Carty" userId="22830c01-2f55-4e06-b79c-b355947cb1ea" providerId="ADAL" clId="{32D6143F-D205-D342-8437-D4B141101FF8}" dt="2024-10-01T23:41:27.131" v="672" actId="20577"/>
          <ac:spMkLst>
            <pc:docMk/>
            <pc:sldMk cId="270396650" sldId="382"/>
            <ac:spMk id="2" creationId="{8F1A80C9-BBCD-25F8-032A-570C116EF310}"/>
          </ac:spMkLst>
        </pc:spChg>
        <pc:spChg chg="mod">
          <ac:chgData name="Lynn Carty" userId="22830c01-2f55-4e06-b79c-b355947cb1ea" providerId="ADAL" clId="{32D6143F-D205-D342-8437-D4B141101FF8}" dt="2024-10-01T23:46:22.088" v="1201" actId="255"/>
          <ac:spMkLst>
            <pc:docMk/>
            <pc:sldMk cId="270396650" sldId="382"/>
            <ac:spMk id="3" creationId="{C28B8080-61EB-4F15-A2C4-E36CEBC069D1}"/>
          </ac:spMkLst>
        </pc:spChg>
      </pc:sldChg>
      <pc:sldChg chg="modSp new mod">
        <pc:chgData name="Lynn Carty" userId="22830c01-2f55-4e06-b79c-b355947cb1ea" providerId="ADAL" clId="{32D6143F-D205-D342-8437-D4B141101FF8}" dt="2024-10-02T00:09:34.730" v="1876" actId="20577"/>
        <pc:sldMkLst>
          <pc:docMk/>
          <pc:sldMk cId="1992395181" sldId="383"/>
        </pc:sldMkLst>
        <pc:spChg chg="mod">
          <ac:chgData name="Lynn Carty" userId="22830c01-2f55-4e06-b79c-b355947cb1ea" providerId="ADAL" clId="{32D6143F-D205-D342-8437-D4B141101FF8}" dt="2024-10-01T23:59:05.501" v="1207" actId="20577"/>
          <ac:spMkLst>
            <pc:docMk/>
            <pc:sldMk cId="1992395181" sldId="383"/>
            <ac:spMk id="2" creationId="{016E1F18-C820-677E-5BA2-EC70D99464C8}"/>
          </ac:spMkLst>
        </pc:spChg>
        <pc:spChg chg="mod">
          <ac:chgData name="Lynn Carty" userId="22830c01-2f55-4e06-b79c-b355947cb1ea" providerId="ADAL" clId="{32D6143F-D205-D342-8437-D4B141101FF8}" dt="2024-10-02T00:09:34.730" v="1876" actId="20577"/>
          <ac:spMkLst>
            <pc:docMk/>
            <pc:sldMk cId="1992395181" sldId="383"/>
            <ac:spMk id="3" creationId="{0FECA17A-5031-92E2-ECBE-40C08C04036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78E97C-1779-4CEE-80D0-5BBB1AC4023D}" type="datetimeFigureOut">
              <a:rPr lang="en-US" smtClean="0"/>
              <a:t>10/1/24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CEF7D1-689C-4BC1-B59B-4A4CE078ECDF}" type="slidenum">
              <a:rPr lang="en-US" smtClean="0"/>
              <a:t>‹#›</a:t>
            </a:fld>
            <a:endParaRPr lang="en-US"/>
          </a:p>
        </p:txBody>
      </p:sp>
    </p:spTree>
    <p:extLst>
      <p:ext uri="{BB962C8B-B14F-4D97-AF65-F5344CB8AC3E}">
        <p14:creationId xmlns:p14="http://schemas.microsoft.com/office/powerpoint/2010/main" val="1981143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This chapter covers the measurement and reporting principles for tangible long-lived assets (also known as property, plant</a:t>
            </a:r>
          </a:p>
          <a:p>
            <a:r>
              <a:rPr lang="en-US" altLang="en-US" dirty="0">
                <a:latin typeface="Arial" pitchFamily="34" charset="0"/>
                <a:ea typeface="ＭＳ Ｐゴシック" pitchFamily="34" charset="-128"/>
              </a:rPr>
              <a:t>and equipment) as well as intangible assets.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If this PowerPoint presentation contains mathematical equations, you may need to check that your computer has the following installed:</a:t>
            </a:r>
          </a:p>
          <a:p>
            <a:r>
              <a:rPr lang="en-US" sz="1200" kern="1200" dirty="0">
                <a:solidFill>
                  <a:schemeClr val="tx1"/>
                </a:solidFill>
                <a:effectLst/>
                <a:latin typeface="+mn-lt"/>
                <a:ea typeface="+mn-ea"/>
                <a:cs typeface="+mn-cs"/>
              </a:rPr>
              <a:t>1) </a:t>
            </a:r>
            <a:r>
              <a:rPr lang="en-US" sz="1200" kern="1200" dirty="0" err="1">
                <a:solidFill>
                  <a:schemeClr val="tx1"/>
                </a:solidFill>
                <a:effectLst/>
                <a:latin typeface="+mn-lt"/>
                <a:ea typeface="+mn-ea"/>
                <a:cs typeface="+mn-cs"/>
              </a:rPr>
              <a:t>MathType</a:t>
            </a:r>
            <a:r>
              <a:rPr lang="en-US" sz="1200" kern="1200" dirty="0">
                <a:solidFill>
                  <a:schemeClr val="tx1"/>
                </a:solidFill>
                <a:effectLst/>
                <a:latin typeface="+mn-lt"/>
                <a:ea typeface="+mn-ea"/>
                <a:cs typeface="+mn-cs"/>
              </a:rPr>
              <a:t> Plugin</a:t>
            </a:r>
          </a:p>
          <a:p>
            <a:r>
              <a:rPr lang="en-US" sz="1200" kern="1200" dirty="0">
                <a:solidFill>
                  <a:schemeClr val="tx1"/>
                </a:solidFill>
                <a:effectLst/>
                <a:latin typeface="+mn-lt"/>
                <a:ea typeface="+mn-ea"/>
                <a:cs typeface="+mn-cs"/>
              </a:rPr>
              <a:t>2) Math Player (free versions available)</a:t>
            </a:r>
          </a:p>
          <a:p>
            <a:r>
              <a:rPr lang="en-US" sz="1200" kern="1200" dirty="0">
                <a:solidFill>
                  <a:schemeClr val="tx1"/>
                </a:solidFill>
                <a:effectLst/>
                <a:latin typeface="+mn-lt"/>
                <a:ea typeface="+mn-ea"/>
                <a:cs typeface="+mn-cs"/>
              </a:rPr>
              <a:t>3) NVDA Reader (free versions available) </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8CCEF7D1-689C-4BC1-B59B-4A4CE078ECDF}" type="slidenum">
              <a:rPr lang="en-US" smtClean="0"/>
              <a:t>1</a:t>
            </a:fld>
            <a:endParaRPr lang="en-US"/>
          </a:p>
        </p:txBody>
      </p:sp>
    </p:spTree>
    <p:extLst>
      <p:ext uri="{BB962C8B-B14F-4D97-AF65-F5344CB8AC3E}">
        <p14:creationId xmlns:p14="http://schemas.microsoft.com/office/powerpoint/2010/main" val="31169498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extLst>
      <p:ext uri="{BB962C8B-B14F-4D97-AF65-F5344CB8AC3E}">
        <p14:creationId xmlns:p14="http://schemas.microsoft.com/office/powerpoint/2010/main" val="455662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en-US" dirty="0">
                <a:latin typeface="Arial" pitchFamily="34" charset="0"/>
                <a:ea typeface="ＭＳ Ｐゴシック" pitchFamily="34" charset="-128"/>
              </a:rPr>
              <a:t>The first learning objective is to explain </a:t>
            </a:r>
            <a:r>
              <a:rPr lang="en-US" altLang="en-US" dirty="0">
                <a:ea typeface="ＭＳ Ｐゴシック" pitchFamily="34" charset="-128"/>
              </a:rPr>
              <a:t>how to account for the cost of property, plant, and equipment</a:t>
            </a:r>
            <a:r>
              <a:rPr lang="en-US" altLang="en-US" dirty="0">
                <a:latin typeface="Arial" pitchFamily="34" charset="0"/>
                <a:ea typeface="ＭＳ Ｐゴシック" pitchFamily="34" charset="-128"/>
              </a:rPr>
              <a:t>.</a:t>
            </a:r>
            <a:endParaRPr lang="en-US" altLang="en-US" b="1" dirty="0">
              <a:latin typeface="Arial" pitchFamily="34" charset="0"/>
              <a:ea typeface="ＭＳ Ｐゴシック" pitchFamily="34"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Businesses use several types of long-lived assets, as shown in this table. </a:t>
            </a:r>
            <a:r>
              <a:rPr lang="en-US" altLang="en-US" dirty="0">
                <a:solidFill>
                  <a:srgbClr val="000000"/>
                </a:solidFill>
                <a:latin typeface="Arial" pitchFamily="34" charset="0"/>
                <a:ea typeface="ＭＳ Ｐゴシック" pitchFamily="34" charset="-128"/>
              </a:rPr>
              <a:t>The table also shows the expense that applies to each asset. For example, buildings, airplanes, and equipment depreciate.</a:t>
            </a:r>
          </a:p>
          <a:p>
            <a:endParaRPr lang="en-US" altLang="en-US" dirty="0">
              <a:solidFill>
                <a:srgbClr val="000000"/>
              </a:solidFill>
              <a:latin typeface="Arial" pitchFamily="34" charset="0"/>
              <a:ea typeface="ＭＳ Ｐゴシック" pitchFamily="34" charset="-128"/>
            </a:endParaRPr>
          </a:p>
          <a:p>
            <a:r>
              <a:rPr lang="en-US" altLang="en-US" dirty="0">
                <a:solidFill>
                  <a:srgbClr val="000000"/>
                </a:solidFill>
                <a:latin typeface="Arial" pitchFamily="34" charset="0"/>
                <a:ea typeface="ＭＳ Ｐゴシック" pitchFamily="34" charset="-128"/>
              </a:rPr>
              <a:t>Property, plant and equipment assets (PPE) are long-lived assets that are tangible, meaning they have physical substance. The expense associated with these assets is called depreciation. Of the PPE assets, land is unique. Land is not expensed through depreciation over time because its usefulness does not decrease.</a:t>
            </a:r>
            <a:endParaRPr lang="en-US" dirty="0"/>
          </a:p>
          <a:p>
            <a:endParaRPr lang="en-AU"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18376323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Businesses use several types of long-lived assets, as shown in this table. </a:t>
            </a:r>
            <a:r>
              <a:rPr lang="en-US" altLang="en-US" dirty="0">
                <a:solidFill>
                  <a:srgbClr val="000000"/>
                </a:solidFill>
                <a:latin typeface="Arial" pitchFamily="34" charset="0"/>
                <a:ea typeface="ＭＳ Ｐゴシック" pitchFamily="34" charset="-128"/>
              </a:rPr>
              <a:t>The table also shows the expense that applies to each asset. For example, intangible assets are generally amortized.</a:t>
            </a:r>
          </a:p>
          <a:p>
            <a:endParaRPr lang="en-US" altLang="en-US" dirty="0">
              <a:solidFill>
                <a:srgbClr val="000000"/>
              </a:solidFill>
              <a:latin typeface="Arial" pitchFamily="34" charset="0"/>
              <a:ea typeface="ＭＳ Ｐゴシック" pitchFamily="34" charset="-128"/>
            </a:endParaRPr>
          </a:p>
          <a:p>
            <a:r>
              <a:rPr lang="en-US" altLang="en-US" dirty="0">
                <a:solidFill>
                  <a:srgbClr val="000000"/>
                </a:solidFill>
                <a:latin typeface="Arial" pitchFamily="34" charset="0"/>
                <a:ea typeface="ＭＳ Ｐゴシック" pitchFamily="34" charset="-128"/>
              </a:rPr>
              <a:t>Intangible assets are useful because of the special rights they carry. They have no physical form. Patents, copyrights, and goodwill are intangible assets. Accounting for intangibles other than goodwill is similar to accounting for PPE assets. </a:t>
            </a:r>
          </a:p>
          <a:p>
            <a:endParaRPr lang="en-AU"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21861884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altLang="en-US" dirty="0">
                <a:latin typeface="Arial" pitchFamily="34" charset="0"/>
                <a:ea typeface="ＭＳ Ｐゴシック" pitchFamily="34" charset="-128"/>
              </a:rPr>
              <a:t>Here is a basic working rule for determining the cost of an asset—the cost of any asset is the sum of all the costs incurred to bring the asset to </a:t>
            </a:r>
            <a:r>
              <a:rPr lang="en-US" altLang="en-US" dirty="0">
                <a:solidFill>
                  <a:srgbClr val="000000"/>
                </a:solidFill>
                <a:latin typeface="Arial" pitchFamily="34" charset="0"/>
                <a:ea typeface="ＭＳ Ｐゴシック" pitchFamily="34" charset="-128"/>
              </a:rPr>
              <a:t>its location and intended </a:t>
            </a:r>
            <a:r>
              <a:rPr lang="en-US" altLang="en-US" dirty="0">
                <a:latin typeface="Arial" pitchFamily="34" charset="0"/>
                <a:ea typeface="ＭＳ Ｐゴシック" pitchFamily="34" charset="-128"/>
              </a:rPr>
              <a:t>use. The cost of a property, plant and equipment (PPE) asset includes purchase price, plus any taxes, commissions, and other amounts paid to make the asset ready for use.</a:t>
            </a:r>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18951630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The cost of land includes its purchase price (cash plus any note payable given), brokerage commission, survey fees, legal fees, and any back property taxes that the purchaser pays. Land cost also includes expenditures for grading and clearing the land and for removing unwanted buildings. The cost of land does not include the cost of fencing, paving, security systems, and lighting. These are separate plant assets—called land improvements—and they are subject to depreciation.</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val="733906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ltLang="en-US" dirty="0">
                <a:latin typeface="Arial" pitchFamily="34" charset="0"/>
                <a:ea typeface="ＭＳ Ｐゴシック" pitchFamily="34" charset="-128"/>
              </a:rPr>
              <a:t>In addition to the “sticker price” of the land, there are other costs that must be paid in order to get the land into the position that the owners want. Some of these costs are part of the land cost, some are part of the land improvements costs. Land costs are not depreciated, land improvements are.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extLst>
      <p:ext uri="{BB962C8B-B14F-4D97-AF65-F5344CB8AC3E}">
        <p14:creationId xmlns:p14="http://schemas.microsoft.com/office/powerpoint/2010/main" val="16572859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ltLang="en-US" dirty="0">
                <a:latin typeface="Arial" pitchFamily="34" charset="0"/>
                <a:ea typeface="ＭＳ Ｐゴシック" pitchFamily="34" charset="-128"/>
              </a:rPr>
              <a:t>The $260,000 for paving is a land improvement expense and is not part of the land cost. The above costs are one-time expenditures, whereas the paving will likely have to be done again at sometime in the future when the initial paving wears out.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41467225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The cost of constructing a building includes architectural fees, building permits, contractors’ charges, and payments for material, labour, and overhead. If the company constructs its own building, the cost will also include the cost of interest on money borrowed to finance the construction. When an existing building (new or old) is purchased, its cost includes the purchase price, brokerage commission, sales and other taxes paid, and all expenditures to repair and renovate the building for its intended purpose.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val="12570446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The cost of equipment includes its purchase price (less any discounts), plus transportation from the seller, insurance while in transit, sales and other taxes, purchase commission, installation costs, and any expenditures to test the asset before it’s placed in service. The equipment cost will also include the cost of any special platforms. Then after the asset is up and running, insurance, taxes, and maintenance costs are recorded as expenses, not as part of the asset’s cost.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25075766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defRPr/>
            </a:pPr>
            <a:r>
              <a:rPr lang="en-US" altLang="en-US" dirty="0">
                <a:latin typeface="Arial" pitchFamily="34" charset="0"/>
                <a:ea typeface="ＭＳ Ｐゴシック" pitchFamily="34" charset="-128"/>
              </a:rPr>
              <a:t>The cost to pave a parking lot is recorded in a separate account entitled Land Improvements. This account includes costs for such other items as driveways, signs, fences, and sprinkler systems. Although these assets are located on the land, they are subject to decay, and their cost should therefore be depreciated. Companies often lease equipment or property and customize these assets for their special needs. Such improvements to leased assets are capitalized. The cost of leasehold improvements should be depreciated over the term of the lease.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Businesses often purchase several assets as a group, or a “basket,” for a single lump-sum amount. For example, a business may pay one price for land and a building. The company must identify the cost of each asset. The total cost is divided among the assets according to their relative sales (or market) values. This technique is called the relative-sales-value method.</a:t>
            </a:r>
          </a:p>
          <a:p>
            <a:endParaRPr lang="en-US" altLang="en-US" dirty="0">
              <a:latin typeface="Arial" pitchFamily="34" charset="0"/>
              <a:ea typeface="ＭＳ Ｐゴシック" pitchFamily="34" charset="-128"/>
            </a:endParaRPr>
          </a:p>
          <a:p>
            <a:r>
              <a:rPr lang="en-US" altLang="en-US" dirty="0">
                <a:latin typeface="Arial" pitchFamily="34" charset="0"/>
                <a:ea typeface="ＭＳ Ｐゴシック" pitchFamily="34" charset="-128"/>
              </a:rPr>
              <a:t>In the above table, assume a company purchased land and a building for a combined price of $2,800,000. The values of the individual assets are shown in the market value column. This column is totaled. Then the market value of each asset is divided by the total market to determine a percent. This percent is multiplied by the cost. The end result is that land is allocated $280,000 (20%) of the cost, and building is allocated $2,520,000 (80%) of the cost.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extLst>
      <p:ext uri="{BB962C8B-B14F-4D97-AF65-F5344CB8AC3E}">
        <p14:creationId xmlns:p14="http://schemas.microsoft.com/office/powerpoint/2010/main" val="18092241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When a company spends money on a PPE asset, it must decide whether to record an asset or an expense. Expenditures that increase the asset’s </a:t>
            </a:r>
            <a:r>
              <a:rPr lang="en-US" altLang="en-US" dirty="0">
                <a:solidFill>
                  <a:srgbClr val="000000"/>
                </a:solidFill>
                <a:latin typeface="Arial" pitchFamily="34" charset="0"/>
                <a:ea typeface="ＭＳ Ｐゴシック" pitchFamily="34" charset="-128"/>
              </a:rPr>
              <a:t>capacity to produce or extend its useful life are called capital expenditures. For example, the cost of a major overhaul that extends the useful life of a truck is a capital expenditure. Capital expenditures are said to be capitalized, which means the cost is added to an asset account and not expensed immediately.</a:t>
            </a:r>
          </a:p>
          <a:p>
            <a:endParaRPr lang="en-US" altLang="en-US" dirty="0">
              <a:solidFill>
                <a:srgbClr val="000000"/>
              </a:solidFill>
              <a:latin typeface="Arial" pitchFamily="34" charset="0"/>
              <a:ea typeface="ＭＳ Ｐゴシック" pitchFamily="34" charset="-128"/>
            </a:endParaRPr>
          </a:p>
          <a:p>
            <a:r>
              <a:rPr lang="en-US" altLang="en-US" dirty="0">
                <a:solidFill>
                  <a:srgbClr val="000000"/>
                </a:solidFill>
                <a:latin typeface="Arial" pitchFamily="34" charset="0"/>
                <a:ea typeface="ＭＳ Ｐゴシック" pitchFamily="34" charset="-128"/>
              </a:rPr>
              <a:t>Costs that do not extend the asset’s capacity or its useful life, but merely maintain the asset or restore it to working order, are recorded as expenses. For example, Repair Expense is reported on the income statement and matched against revenue. The costs of repainting a delivery truck, repairing a dented fender, and replacing tires are also expensed immediately. </a:t>
            </a:r>
          </a:p>
          <a:p>
            <a:endParaRPr lang="en-US" altLang="en-US" dirty="0">
              <a:solidFill>
                <a:srgbClr val="000000"/>
              </a:solidFill>
              <a:latin typeface="Arial" pitchFamily="34" charset="0"/>
              <a:ea typeface="ＭＳ Ｐゴシック" pitchFamily="34" charset="-128"/>
            </a:endParaRPr>
          </a:p>
          <a:p>
            <a:r>
              <a:rPr lang="en-US" altLang="en-US" dirty="0">
                <a:solidFill>
                  <a:srgbClr val="000000"/>
                </a:solidFill>
                <a:latin typeface="Arial" pitchFamily="34" charset="0"/>
                <a:ea typeface="ＭＳ Ｐゴシック" pitchFamily="34" charset="-128"/>
              </a:rPr>
              <a:t>The distinction between a capital expenditure and an expense requires judgment: Does the cost extend the asset’s usefulness or its useful life? If so, record an asset. If the cost merely repairs the asset, keeps it in normal operating condition, or returns it to its prior condition, then record an expense. Most companies expense all small costs, say, below $1,000. For higher costs, they follow the rule we gave above: Capitalize costs that extend the asset’s usefulness or its useful life, and expense all other costs. A conservative policy </a:t>
            </a:r>
            <a:r>
              <a:rPr lang="en-US" altLang="en-US" dirty="0">
                <a:latin typeface="Arial" pitchFamily="34" charset="0"/>
                <a:ea typeface="ＭＳ Ｐゴシック" pitchFamily="34" charset="-128"/>
              </a:rPr>
              <a:t>is one that avoids overstating assets and profits.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val="2805884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BerkeleyPro-Book"/>
              </a:rPr>
              <a:t>Leasing allows a business to acquire the use of needed fixed assets (property and equipment) without having to make the large up-front payment that purchases of these assets usually require, thus conserving cash. </a:t>
            </a:r>
            <a:r>
              <a:rPr lang="en-CA" sz="1800" b="0" i="0" u="none" strike="noStrike" baseline="0" dirty="0">
                <a:latin typeface="BerkeleyPro-Book"/>
              </a:rPr>
              <a:t>How should </a:t>
            </a:r>
            <a:r>
              <a:rPr lang="en-US" sz="1800" b="0" i="0" u="none" strike="noStrike" baseline="0" dirty="0">
                <a:latin typeface="BerkeleyPro-Book"/>
              </a:rPr>
              <a:t>leased assets be accounted for? Should they be capitalized as fixed assets, with the corresponding obligations for future payments listed as liabilities, or should the money paid for lease payments be listed merely as an expense on a company’s income </a:t>
            </a:r>
            <a:r>
              <a:rPr lang="en-CA" sz="1800" b="0" i="0" u="none" strike="noStrike" baseline="0" dirty="0">
                <a:latin typeface="BerkeleyPro-Book"/>
              </a:rPr>
              <a:t>statement? </a:t>
            </a:r>
            <a:r>
              <a:rPr lang="en-US" sz="1800" b="0" i="0" u="none" strike="noStrike" baseline="0" dirty="0">
                <a:latin typeface="BerkeleyPro-Book"/>
              </a:rPr>
              <a:t>In short, lease agreements for fixed assets usually result in both the “right-to-use asset” and the obligation (liability) for the future lease payments being recorded on the balance sheet. More details on accounting for leased assets and liabilities are covered in Chapter 7 (Liabilities).</a:t>
            </a:r>
            <a:endParaRPr lang="en-US" altLang="en-US" dirty="0">
              <a:latin typeface="Arial" pitchFamily="34" charset="0"/>
              <a:ea typeface="ＭＳ Ｐゴシック" pitchFamily="34"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extLst>
      <p:ext uri="{BB962C8B-B14F-4D97-AF65-F5344CB8AC3E}">
        <p14:creationId xmlns:p14="http://schemas.microsoft.com/office/powerpoint/2010/main" val="31929667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en-US" dirty="0">
                <a:latin typeface="Arial" pitchFamily="34" charset="0"/>
                <a:ea typeface="ＭＳ Ｐゴシック" pitchFamily="34" charset="-128"/>
              </a:rPr>
              <a:t>The second learning objective is to explain </a:t>
            </a:r>
            <a:r>
              <a:rPr lang="en-US" altLang="en-US" dirty="0">
                <a:ea typeface="ＭＳ Ｐゴシック" pitchFamily="34" charset="-128"/>
              </a:rPr>
              <a:t>how to account for depreciation</a:t>
            </a:r>
            <a:r>
              <a:rPr lang="en-US" altLang="en-US" baseline="0" dirty="0">
                <a:ea typeface="ＭＳ Ｐゴシック" pitchFamily="34" charset="-128"/>
              </a:rPr>
              <a:t> on</a:t>
            </a:r>
            <a:r>
              <a:rPr lang="en-US" altLang="en-US" dirty="0">
                <a:ea typeface="ＭＳ Ｐゴシック" pitchFamily="34" charset="-128"/>
              </a:rPr>
              <a:t> property, plant, and equipment</a:t>
            </a:r>
            <a:r>
              <a:rPr lang="en-US" altLang="en-US" dirty="0">
                <a:latin typeface="Arial" pitchFamily="34" charset="0"/>
                <a:ea typeface="ＭＳ Ｐゴシック" pitchFamily="34" charset="-128"/>
              </a:rPr>
              <a: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PPE assets wear out, grow obsolete, and lose value over time. To account for this process, we allocate a PPE asset’s cost to expense over its life—a process called depreciation. The depreciation process matches the asset’s expense against revenue to measure income, as the matching principle directs. Recall that depreciation expense (not accumulated depreciation) is reported on the income statement. Land is the only PPE asset that has an unlimited life and is not depreciated for accounting purpose. For most PPE assets, depreciation is caused by:</a:t>
            </a:r>
          </a:p>
          <a:p>
            <a:r>
              <a:rPr lang="en-US" altLang="en-US" dirty="0">
                <a:latin typeface="Arial" pitchFamily="34" charset="0"/>
                <a:ea typeface="ＭＳ Ｐゴシック" pitchFamily="34" charset="-128"/>
              </a:rPr>
              <a:t>■ Physical wear and tear. For example, physical deterioration takes its toll on the usefulness of furniture, equipment, delivery trucks, and buildings.</a:t>
            </a:r>
          </a:p>
          <a:p>
            <a:r>
              <a:rPr lang="en-US" altLang="en-US" dirty="0">
                <a:latin typeface="Arial" pitchFamily="34" charset="0"/>
                <a:ea typeface="ＭＳ Ｐゴシック" pitchFamily="34" charset="-128"/>
              </a:rPr>
              <a:t>■ Obsolescence. Computers and other electronic equipment may become obsolete before they deteriorate. An asset is obsolete when another asset can do the job more efficiently. An asset’s useful life may be shorter than its physical life. Companies may depreciate their computers over a short period of time—perhaps four years—even though the computers will remain in working condition much longer.</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val="6960364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altLang="en-US" dirty="0">
                <a:latin typeface="Arial" pitchFamily="34" charset="0"/>
                <a:ea typeface="ＭＳ Ｐゴシック" pitchFamily="34" charset="-128"/>
              </a:rPr>
              <a:t>Depreciation is not a process of valuation. Businesses do not record depreciation based on changes in the fair value of their plant assets. Instead, businesses allocate the asset’s cost to the period of its useful life.</a:t>
            </a:r>
          </a:p>
          <a:p>
            <a:endParaRPr lang="en-US" altLang="en-US" dirty="0">
              <a:latin typeface="Arial" pitchFamily="34" charset="0"/>
              <a:ea typeface="ＭＳ Ｐゴシック" pitchFamily="34" charset="-128"/>
            </a:endParaRPr>
          </a:p>
          <a:p>
            <a:r>
              <a:rPr lang="en-US" altLang="en-US" dirty="0">
                <a:latin typeface="Arial" pitchFamily="34" charset="0"/>
                <a:ea typeface="ＭＳ Ｐゴシック" pitchFamily="34" charset="-128"/>
              </a:rPr>
              <a:t>2. Depreciation does not mean setting aside cash to replace assets as they wear out. Any cash fund is entirely separate from depreciation.</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val="18951630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To measure depreciation for a PPE asset, we must know three things about the asset:</a:t>
            </a:r>
          </a:p>
          <a:p>
            <a:pPr>
              <a:buFont typeface="Calibri" pitchFamily="34" charset="0"/>
              <a:buAutoNum type="arabicPeriod"/>
            </a:pPr>
            <a:r>
              <a:rPr lang="en-US" altLang="en-US" dirty="0">
                <a:latin typeface="Arial" pitchFamily="34" charset="0"/>
                <a:ea typeface="ＭＳ Ｐゴシック" pitchFamily="34" charset="-128"/>
              </a:rPr>
              <a:t> Cost </a:t>
            </a:r>
          </a:p>
          <a:p>
            <a:pPr>
              <a:buFont typeface="Calibri" pitchFamily="34" charset="0"/>
              <a:buAutoNum type="arabicPeriod"/>
            </a:pPr>
            <a:r>
              <a:rPr lang="en-US" altLang="en-US" dirty="0">
                <a:latin typeface="Arial" pitchFamily="34" charset="0"/>
                <a:ea typeface="ＭＳ Ｐゴシック" pitchFamily="34" charset="-128"/>
              </a:rPr>
              <a:t> Estimated useful life </a:t>
            </a:r>
          </a:p>
          <a:p>
            <a:pPr>
              <a:buFont typeface="Calibri" pitchFamily="34" charset="0"/>
              <a:buAutoNum type="arabicPeriod"/>
            </a:pPr>
            <a:r>
              <a:rPr lang="en-US" altLang="en-US" dirty="0">
                <a:latin typeface="Arial" pitchFamily="34" charset="0"/>
                <a:ea typeface="ＭＳ Ｐゴシック" pitchFamily="34" charset="-128"/>
              </a:rPr>
              <a:t> Estimated residual value</a:t>
            </a:r>
          </a:p>
          <a:p>
            <a:endParaRPr lang="en-US" altLang="en-US" dirty="0">
              <a:latin typeface="Arial" pitchFamily="34" charset="0"/>
              <a:ea typeface="ＭＳ Ｐゴシック" pitchFamily="34" charset="-128"/>
            </a:endParaRPr>
          </a:p>
          <a:p>
            <a:r>
              <a:rPr lang="en-US" altLang="en-US" dirty="0">
                <a:latin typeface="Arial" pitchFamily="34" charset="0"/>
                <a:ea typeface="ＭＳ Ｐゴシック" pitchFamily="34" charset="-128"/>
              </a:rPr>
              <a:t>We have discussed cost, which is a known amount. The other two factors must be estimated. Estimated useful life is the length of service expected from using the asset. Useful life may be expressed in years, units of output, </a:t>
            </a:r>
            <a:r>
              <a:rPr lang="en-US" altLang="en-US" dirty="0" err="1">
                <a:latin typeface="Arial" pitchFamily="34" charset="0"/>
                <a:ea typeface="ＭＳ Ｐゴシック" pitchFamily="34" charset="-128"/>
              </a:rPr>
              <a:t>kilometres</a:t>
            </a:r>
            <a:r>
              <a:rPr lang="en-US" altLang="en-US" dirty="0">
                <a:latin typeface="Arial" pitchFamily="34" charset="0"/>
                <a:ea typeface="ＭＳ Ｐゴシック" pitchFamily="34" charset="-128"/>
              </a:rPr>
              <a:t>, or some other measure. For example, the useful life of a building is stated in years. The useful life of a delivery truck may be expressed as the number of </a:t>
            </a:r>
            <a:r>
              <a:rPr lang="en-US" altLang="en-US" dirty="0" err="1">
                <a:latin typeface="Arial" pitchFamily="34" charset="0"/>
                <a:ea typeface="ＭＳ Ｐゴシック" pitchFamily="34" charset="-128"/>
              </a:rPr>
              <a:t>kilometres</a:t>
            </a:r>
            <a:r>
              <a:rPr lang="en-US" altLang="en-US" dirty="0">
                <a:latin typeface="Arial" pitchFamily="34" charset="0"/>
                <a:ea typeface="ＭＳ Ｐゴシック" pitchFamily="34" charset="-128"/>
              </a:rPr>
              <a:t> the vehicle is expected to travel. Companies base estimates on their experience and trade publications.</a:t>
            </a:r>
            <a:endParaRPr lang="en-US" altLang="en-US" dirty="0">
              <a:solidFill>
                <a:srgbClr val="FF0000"/>
              </a:solidFill>
              <a:latin typeface="Arial" pitchFamily="34" charset="0"/>
              <a:ea typeface="ＭＳ Ｐゴシック" pitchFamily="34" charset="-128"/>
            </a:endParaRPr>
          </a:p>
          <a:p>
            <a:endParaRPr lang="en-US" altLang="en-US" dirty="0">
              <a:latin typeface="Arial" pitchFamily="34" charset="0"/>
              <a:ea typeface="ＭＳ Ｐゴシック" pitchFamily="34" charset="-128"/>
            </a:endParaRPr>
          </a:p>
          <a:p>
            <a:r>
              <a:rPr lang="en-US" altLang="en-US" dirty="0">
                <a:latin typeface="Arial" pitchFamily="34" charset="0"/>
                <a:ea typeface="ＭＳ Ｐゴシック" pitchFamily="34" charset="-128"/>
              </a:rPr>
              <a:t>Estimated residual value—also called scrap value or salvage value—is the expected cash value of an asset at the end of its useful life. For example, a company may believe that a </a:t>
            </a:r>
            <a:r>
              <a:rPr lang="en-US" altLang="en-US" dirty="0">
                <a:solidFill>
                  <a:srgbClr val="000000"/>
                </a:solidFill>
                <a:latin typeface="Arial" pitchFamily="34" charset="0"/>
                <a:ea typeface="ＭＳ Ｐゴシック" pitchFamily="34" charset="-128"/>
              </a:rPr>
              <a:t>machine will be useful for seven years. The amount the company believes it can get for the machine at the end of 7 years is </a:t>
            </a:r>
            <a:r>
              <a:rPr lang="en-US" altLang="en-US" dirty="0">
                <a:latin typeface="Arial" pitchFamily="34" charset="0"/>
                <a:ea typeface="ＭＳ Ｐゴシック" pitchFamily="34" charset="-128"/>
              </a:rPr>
              <a:t>the estimated residual value. In computing depreciation, the estimated residual value is not depreciated because the company expects to receive this amount from selling the asset. If there</a:t>
            </a:r>
            <a:r>
              <a:rPr lang="ja-JP" altLang="en-US" dirty="0">
                <a:latin typeface="Arial" pitchFamily="34" charset="0"/>
                <a:ea typeface="ＭＳ Ｐゴシック" pitchFamily="34" charset="-128"/>
              </a:rPr>
              <a:t>’</a:t>
            </a:r>
            <a:r>
              <a:rPr lang="en-US" altLang="ja-JP" dirty="0">
                <a:latin typeface="Arial" pitchFamily="34" charset="0"/>
                <a:ea typeface="ＭＳ Ｐゴシック" pitchFamily="34" charset="-128"/>
              </a:rPr>
              <a:t>s no expected residual value, the full cost of the asset is depreciated.</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val="18951630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There are three main depreciation methods:</a:t>
            </a:r>
          </a:p>
          <a:p>
            <a:pPr>
              <a:buFontTx/>
              <a:buChar char="•"/>
            </a:pPr>
            <a:r>
              <a:rPr lang="en-US" altLang="en-US" dirty="0">
                <a:latin typeface="Arial" pitchFamily="34" charset="0"/>
                <a:ea typeface="ＭＳ Ｐゴシック" pitchFamily="34" charset="-128"/>
              </a:rPr>
              <a:t>Straight-line </a:t>
            </a:r>
          </a:p>
          <a:p>
            <a:pPr>
              <a:buFontTx/>
              <a:buChar char="•"/>
            </a:pPr>
            <a:r>
              <a:rPr lang="en-US" altLang="en-US" dirty="0">
                <a:latin typeface="Arial" pitchFamily="34" charset="0"/>
                <a:ea typeface="ＭＳ Ｐゴシック" pitchFamily="34" charset="-128"/>
              </a:rPr>
              <a:t>Units-of-production </a:t>
            </a:r>
          </a:p>
          <a:p>
            <a:pPr>
              <a:buFontTx/>
              <a:buChar char="•"/>
            </a:pPr>
            <a:r>
              <a:rPr lang="en-US" altLang="en-US" dirty="0">
                <a:latin typeface="Arial" pitchFamily="34" charset="0"/>
                <a:ea typeface="ＭＳ Ｐゴシック" pitchFamily="34" charset="-128"/>
              </a:rPr>
              <a:t>Diminishing-balance—an accelerated depreciation method</a:t>
            </a:r>
          </a:p>
          <a:p>
            <a:endParaRPr lang="en-US" altLang="en-US" dirty="0">
              <a:latin typeface="Arial" pitchFamily="34" charset="0"/>
              <a:ea typeface="ＭＳ Ｐゴシック" pitchFamily="34" charset="-128"/>
            </a:endParaRPr>
          </a:p>
          <a:p>
            <a:r>
              <a:rPr lang="en-US" altLang="en-US" dirty="0">
                <a:latin typeface="Arial" pitchFamily="34" charset="0"/>
                <a:ea typeface="ＭＳ Ｐゴシック" pitchFamily="34" charset="-128"/>
              </a:rPr>
              <a:t>These methods allocate different amounts of depreciation to each period. However, they all result in the same total amount of </a:t>
            </a:r>
            <a:r>
              <a:rPr lang="en-US" altLang="en-US" dirty="0">
                <a:solidFill>
                  <a:srgbClr val="000000"/>
                </a:solidFill>
                <a:latin typeface="Arial" pitchFamily="34" charset="0"/>
                <a:ea typeface="ＭＳ Ｐゴシック" pitchFamily="34" charset="-128"/>
              </a:rPr>
              <a:t>depreciation over the life of the asset, which is the asset</a:t>
            </a:r>
            <a:r>
              <a:rPr lang="ja-JP" altLang="en-US" dirty="0">
                <a:solidFill>
                  <a:srgbClr val="000000"/>
                </a:solidFill>
                <a:latin typeface="Arial" pitchFamily="34" charset="0"/>
                <a:ea typeface="ＭＳ Ｐゴシック" pitchFamily="34" charset="-128"/>
              </a:rPr>
              <a:t>’</a:t>
            </a:r>
            <a:r>
              <a:rPr lang="en-US" altLang="ja-JP" dirty="0">
                <a:solidFill>
                  <a:srgbClr val="000000"/>
                </a:solidFill>
                <a:latin typeface="Arial" pitchFamily="34" charset="0"/>
                <a:ea typeface="ＭＳ Ｐゴシック" pitchFamily="34" charset="-128"/>
              </a:rPr>
              <a:t>s depreciable cost.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extLst>
      <p:ext uri="{BB962C8B-B14F-4D97-AF65-F5344CB8AC3E}">
        <p14:creationId xmlns:p14="http://schemas.microsoft.com/office/powerpoint/2010/main" val="18951630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Berkeley-Book" charset="0"/>
                <a:ea typeface="ＭＳ Ｐゴシック" pitchFamily="34" charset="-128"/>
              </a:rPr>
              <a:t>As an asset is used in operations,</a:t>
            </a:r>
          </a:p>
          <a:p>
            <a:r>
              <a:rPr lang="en-US" altLang="en-US" sz="800" dirty="0">
                <a:latin typeface="ZapfDingbats" charset="2"/>
                <a:ea typeface="ＭＳ Ｐゴシック" pitchFamily="34" charset="-128"/>
              </a:rPr>
              <a:t>■ </a:t>
            </a:r>
            <a:r>
              <a:rPr lang="en-US" altLang="en-US" dirty="0">
                <a:latin typeface="Berkeley-Book" charset="0"/>
                <a:ea typeface="ＭＳ Ｐゴシック" pitchFamily="34" charset="-128"/>
              </a:rPr>
              <a:t>accumulated depreciation increases.</a:t>
            </a:r>
          </a:p>
          <a:p>
            <a:r>
              <a:rPr lang="en-US" altLang="en-US" sz="800" dirty="0">
                <a:latin typeface="ZapfDingbats" charset="2"/>
                <a:ea typeface="ＭＳ Ｐゴシック" pitchFamily="34" charset="-128"/>
              </a:rPr>
              <a:t>■ </a:t>
            </a:r>
            <a:r>
              <a:rPr lang="en-US" altLang="en-US" dirty="0">
                <a:latin typeface="Berkeley-Book" charset="0"/>
                <a:ea typeface="ＭＳ Ｐゴシック" pitchFamily="34" charset="-128"/>
              </a:rPr>
              <a:t>the carrying amount of the asset decreases.</a:t>
            </a:r>
          </a:p>
          <a:p>
            <a:r>
              <a:rPr lang="en-US" altLang="en-US" dirty="0">
                <a:latin typeface="Berkeley-Book" charset="0"/>
                <a:ea typeface="ＭＳ Ｐゴシック" pitchFamily="34" charset="-128"/>
              </a:rPr>
              <a:t>An asset’s final carrying amount is its </a:t>
            </a:r>
            <a:r>
              <a:rPr lang="en-US" altLang="en-US" dirty="0">
                <a:latin typeface="Berkeley-BookItalic" charset="0"/>
                <a:ea typeface="ＭＳ Ｐゴシック" pitchFamily="34" charset="-128"/>
              </a:rPr>
              <a:t>residual value</a:t>
            </a:r>
            <a:r>
              <a:rPr lang="en-US" altLang="en-US" dirty="0">
                <a:latin typeface="Berkeley-Book" charset="0"/>
                <a:ea typeface="ＭＳ Ｐゴシック" pitchFamily="34" charset="-128"/>
              </a:rPr>
              <a:t>. At the end of its useful life, the asset is said to be </a:t>
            </a:r>
            <a:r>
              <a:rPr lang="en-US" altLang="en-US" dirty="0">
                <a:latin typeface="Berkeley-BookItalic" charset="0"/>
                <a:ea typeface="ＭＳ Ｐゴシック" pitchFamily="34" charset="-128"/>
              </a:rPr>
              <a:t>fully depreciated</a:t>
            </a:r>
            <a:r>
              <a:rPr lang="en-US" altLang="en-US" dirty="0">
                <a:latin typeface="Berkeley-Book" charset="0"/>
                <a:ea typeface="ＭＳ Ｐゴシック" pitchFamily="34" charset="-128"/>
              </a:rPr>
              <a: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val="5154875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solidFill>
                  <a:srgbClr val="000000"/>
                </a:solidFill>
                <a:latin typeface="Arial" pitchFamily="34" charset="0"/>
                <a:ea typeface="ＭＳ Ｐゴシック" pitchFamily="34" charset="-128"/>
              </a:rPr>
              <a:t>Using the straight-line </a:t>
            </a:r>
            <a:r>
              <a:rPr lang="en-US" altLang="en-US" dirty="0">
                <a:latin typeface="Arial" pitchFamily="34" charset="0"/>
                <a:ea typeface="ＭＳ Ｐゴシック" pitchFamily="34" charset="-128"/>
              </a:rPr>
              <a:t>(SL) method, an equal amount of depreciation is assigned to each year (or period) of asset use. Depreciable cost is divided by useful life in years to determine the annual depreciation expense.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extLst>
      <p:ext uri="{BB962C8B-B14F-4D97-AF65-F5344CB8AC3E}">
        <p14:creationId xmlns:p14="http://schemas.microsoft.com/office/powerpoint/2010/main" val="40411808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In the units-of-production (UOP) method, a fixed amount of depreciation is assigned to each unit of output, or service, produced by the asset. Depreciable cost is divided by useful life—in units of </a:t>
            </a:r>
            <a:r>
              <a:rPr lang="en-US" altLang="en-US" dirty="0">
                <a:solidFill>
                  <a:srgbClr val="000000"/>
                </a:solidFill>
                <a:latin typeface="Arial" pitchFamily="34" charset="0"/>
                <a:ea typeface="ＭＳ Ｐゴシック" pitchFamily="34" charset="-128"/>
              </a:rPr>
              <a:t>activity or production—to determine this amount. This per-unit depreciation expense is then multiplied by the number of units of activity or units produced each </a:t>
            </a:r>
            <a:r>
              <a:rPr lang="en-US" altLang="en-US" dirty="0">
                <a:latin typeface="Arial" pitchFamily="34" charset="0"/>
                <a:ea typeface="ＭＳ Ｐゴシック" pitchFamily="34" charset="-128"/>
              </a:rPr>
              <a:t>period to compute depreciation. The amount of UOP depreciation varies with the number of units the asset produces.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extLst>
      <p:ext uri="{BB962C8B-B14F-4D97-AF65-F5344CB8AC3E}">
        <p14:creationId xmlns:p14="http://schemas.microsoft.com/office/powerpoint/2010/main" val="14566241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An accelerated depreciation method writes off a larger amount of the asset’s cost near the start of its useful life than the straight-line method does. Double-diminishing-balance is the main accelerated depreciation method. Double-diminishing-balance (DDB) depreciation computes annual depreciation by multiplying the asset’s declining carrying amount by a constant percentage, which is two times the straight-line depreciation rate. DDB amounts are computed as follows:</a:t>
            </a:r>
          </a:p>
          <a:p>
            <a:r>
              <a:rPr lang="en-US" altLang="en-US" dirty="0">
                <a:latin typeface="Arial" pitchFamily="34" charset="0"/>
                <a:ea typeface="ＭＳ Ｐゴシック" pitchFamily="34" charset="-128"/>
              </a:rPr>
              <a:t>■ First, compute the straight-line depreciation rate per year. A 5-year truck has a straight-line depreciation rate of 1/5, or 20% each year. A 10-year asset has a straight-line rate of 1/10, or 10%, and so on.</a:t>
            </a:r>
          </a:p>
          <a:p>
            <a:r>
              <a:rPr lang="en-US" altLang="en-US" dirty="0">
                <a:latin typeface="Arial" pitchFamily="34" charset="0"/>
                <a:ea typeface="ＭＳ Ｐゴシック" pitchFamily="34" charset="-128"/>
              </a:rPr>
              <a:t>■ Second, multiply the straight-line rate by 2 to compute the DDB rate. For a 5-year asset, the DDB rate is 40% (20% × 2). A 10-year asset has a DDB rate of 20% (10% × 2). </a:t>
            </a:r>
            <a:r>
              <a:rPr lang="en-US" altLang="en-US" dirty="0">
                <a:solidFill>
                  <a:srgbClr val="000000"/>
                </a:solidFill>
                <a:latin typeface="Arial" pitchFamily="34" charset="0"/>
                <a:ea typeface="ＭＳ Ｐゴシック" pitchFamily="34" charset="-128"/>
              </a:rPr>
              <a:t>The formula 2/Life in years shown on the slide is a short-cut way of combining these two steps.</a:t>
            </a:r>
          </a:p>
          <a:p>
            <a:r>
              <a:rPr lang="en-US" altLang="en-US" dirty="0">
                <a:solidFill>
                  <a:srgbClr val="000000"/>
                </a:solidFill>
                <a:latin typeface="Arial" pitchFamily="34" charset="0"/>
                <a:ea typeface="ＭＳ Ｐゴシック" pitchFamily="34" charset="-128"/>
              </a:rPr>
              <a:t>■ Third, multiply the DDB rate by the period’s beginning asset carrying amount (cost less accumulated depreciation). In the first year of the asset’s life, the book value is equal to the cost. Under the DDB method, ignore the residual value of the asset in computing depreciation, except during the </a:t>
            </a:r>
            <a:r>
              <a:rPr lang="en-US" altLang="en-US" dirty="0">
                <a:latin typeface="Arial" pitchFamily="34" charset="0"/>
                <a:ea typeface="ＭＳ Ｐゴシック" pitchFamily="34" charset="-128"/>
              </a:rPr>
              <a:t>last year.</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extLst>
      <p:ext uri="{BB962C8B-B14F-4D97-AF65-F5344CB8AC3E}">
        <p14:creationId xmlns:p14="http://schemas.microsoft.com/office/powerpoint/2010/main" val="35997361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Fourth, determine the final year’s depreciation amount—that is, the amount needed to reduce asset book value to its residual value. </a:t>
            </a:r>
          </a:p>
          <a:p>
            <a:r>
              <a:rPr lang="en-US" altLang="en-US" dirty="0">
                <a:latin typeface="Arial" pitchFamily="34" charset="0"/>
                <a:ea typeface="ＭＳ Ｐゴシック" pitchFamily="34" charset="-128"/>
              </a:rPr>
              <a:t>The residual value should not be depreciated but should remain on the books until the asset is disposed of.</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25</a:t>
            </a:fld>
            <a:endParaRPr lang="en-US" dirty="0"/>
          </a:p>
        </p:txBody>
      </p:sp>
    </p:spTree>
    <p:extLst>
      <p:ext uri="{BB962C8B-B14F-4D97-AF65-F5344CB8AC3E}">
        <p14:creationId xmlns:p14="http://schemas.microsoft.com/office/powerpoint/2010/main" val="13351017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The DDB method differs from the other methods in two ways:</a:t>
            </a:r>
          </a:p>
          <a:p>
            <a:r>
              <a:rPr lang="en-US" altLang="en-US" dirty="0">
                <a:latin typeface="Arial" pitchFamily="34" charset="0"/>
                <a:ea typeface="ＭＳ Ｐゴシック" pitchFamily="34" charset="-128"/>
              </a:rPr>
              <a:t>1. Residual value is ignored initially; first-year depreciation is computed on the asset’s full cost.</a:t>
            </a:r>
          </a:p>
          <a:p>
            <a:r>
              <a:rPr lang="en-US" altLang="en-US" dirty="0">
                <a:latin typeface="Arial" pitchFamily="34" charset="0"/>
                <a:ea typeface="ＭＳ Ｐゴシック" pitchFamily="34" charset="-128"/>
              </a:rPr>
              <a:t>2. Depreciation expense in the final year is the “plug” amount needed to reduce the asset’s carrying amount to the residual amount.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extLst>
      <p:ext uri="{BB962C8B-B14F-4D97-AF65-F5344CB8AC3E}">
        <p14:creationId xmlns:p14="http://schemas.microsoft.com/office/powerpoint/2010/main" val="8773757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IFRS directs a business to choose a depreciation method that reflects the pattern in which the asset will be used. For a plant asset that generates revenue evenly over time, the straight-line method best meets the matching principle. The units-of-production method best fits those assets that wear out because of physical use rather than obsolescence. The accelerated method (DDB) applies best to assets that generate more revenue earlier in their useful lives and less in later years.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val="18951630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ltLang="en-US" dirty="0">
                <a:latin typeface="Arial" pitchFamily="34" charset="0"/>
                <a:ea typeface="ＭＳ Ｐゴシック" pitchFamily="34" charset="-128"/>
              </a:rPr>
              <a:t>The information in this slide will be used to demonstrate the three different depreciation methods.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extLst>
      <p:ext uri="{BB962C8B-B14F-4D97-AF65-F5344CB8AC3E}">
        <p14:creationId xmlns:p14="http://schemas.microsoft.com/office/powerpoint/2010/main" val="11148945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ltLang="en-US" dirty="0">
                <a:latin typeface="Arial" pitchFamily="34" charset="0"/>
                <a:ea typeface="ＭＳ Ｐゴシック" pitchFamily="34" charset="-128"/>
              </a:rPr>
              <a:t>The total cost ($41,000) less the estimated residual value ($1,000), or $40,000 is divided by the estimated life of 5 years to give an annual rate of $8,000. Total depreciation over the life of the asset is $40,000.</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29</a:t>
            </a:fld>
            <a:endParaRPr lang="en-US" dirty="0"/>
          </a:p>
        </p:txBody>
      </p:sp>
    </p:spTree>
    <p:extLst>
      <p:ext uri="{BB962C8B-B14F-4D97-AF65-F5344CB8AC3E}">
        <p14:creationId xmlns:p14="http://schemas.microsoft.com/office/powerpoint/2010/main" val="7231819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ltLang="en-US" dirty="0">
                <a:latin typeface="Arial" pitchFamily="34" charset="0"/>
                <a:ea typeface="ＭＳ Ｐゴシック" pitchFamily="34" charset="-128"/>
              </a:rPr>
              <a:t>The total cost ($41,000) less the estimated residual value ($1,000), or $40,000 is divided by the estimated life of 100,000 kms to give a rate of $0.40/km.  That rate is then multiplied by the number of kms driven each year. Total depreciation over the life of the asset is $40,000.</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extLst>
      <p:ext uri="{BB962C8B-B14F-4D97-AF65-F5344CB8AC3E}">
        <p14:creationId xmlns:p14="http://schemas.microsoft.com/office/powerpoint/2010/main" val="12923135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ltLang="en-US" dirty="0">
                <a:latin typeface="Arial" pitchFamily="34" charset="0"/>
                <a:ea typeface="ＭＳ Ｐゴシック" pitchFamily="34" charset="-128"/>
              </a:rPr>
              <a:t>The estimated life of the asset is 5 years. Therefore one year would be 1/5 or 20%. This percentage is then doubled to give the double-diminishing rate of 40%.</a:t>
            </a:r>
          </a:p>
          <a:p>
            <a:endParaRPr lang="en-CA" altLang="en-US" dirty="0">
              <a:latin typeface="Arial" pitchFamily="34" charset="0"/>
              <a:ea typeface="ＭＳ Ｐゴシック" pitchFamily="34" charset="-128"/>
            </a:endParaRPr>
          </a:p>
          <a:p>
            <a:r>
              <a:rPr lang="en-CA" altLang="en-US" dirty="0">
                <a:latin typeface="Arial" pitchFamily="34" charset="0"/>
                <a:ea typeface="ＭＳ Ｐゴシック" pitchFamily="34" charset="-128"/>
              </a:rPr>
              <a:t>The carrying amount of the asset in the first year is the cost of the asset, or $41,000. That amount is multiplied by the 40% to give a depreciation expense of $16,400.</a:t>
            </a:r>
          </a:p>
          <a:p>
            <a:endParaRPr lang="en-CA" altLang="en-US" dirty="0">
              <a:latin typeface="Arial" pitchFamily="34" charset="0"/>
              <a:ea typeface="ＭＳ Ｐゴシック" pitchFamily="34" charset="-128"/>
            </a:endParaRPr>
          </a:p>
          <a:p>
            <a:r>
              <a:rPr lang="en-CA" altLang="en-US" dirty="0">
                <a:latin typeface="Arial" pitchFamily="34" charset="0"/>
                <a:ea typeface="ＭＳ Ｐゴシック" pitchFamily="34" charset="-128"/>
              </a:rPr>
              <a:t>The carrying amount of the asset is reduced by the depreciation expense to give a carrying amount of $24,600. That amount would then be multiplied by 40% to give the depreciation expense for the second year.</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31</a:t>
            </a:fld>
            <a:endParaRPr lang="en-US" dirty="0"/>
          </a:p>
        </p:txBody>
      </p:sp>
    </p:spTree>
    <p:extLst>
      <p:ext uri="{BB962C8B-B14F-4D97-AF65-F5344CB8AC3E}">
        <p14:creationId xmlns:p14="http://schemas.microsoft.com/office/powerpoint/2010/main" val="26535648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ltLang="en-US" dirty="0">
                <a:latin typeface="Arial" pitchFamily="34" charset="0"/>
                <a:ea typeface="ＭＳ Ｐゴシック" pitchFamily="34" charset="-128"/>
              </a:rPr>
              <a:t>The amount of the depreciation expense per year varies depending on the depreciation method used, but the total depreciation expense over the life of the asset is the same for all three methods.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32</a:t>
            </a:fld>
            <a:endParaRPr lang="en-US" dirty="0"/>
          </a:p>
        </p:txBody>
      </p:sp>
    </p:spTree>
    <p:extLst>
      <p:ext uri="{BB962C8B-B14F-4D97-AF65-F5344CB8AC3E}">
        <p14:creationId xmlns:p14="http://schemas.microsoft.com/office/powerpoint/2010/main" val="34896122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This slide shows the amount of depreciation expense recorded by each depreciation method each year. The straight-line method records a consistent amount each year. The units-of-production varies, and the accelerated method records a large amount initially, but quickly declines to a small amount each year.</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33</a:t>
            </a:fld>
            <a:endParaRPr lang="en-US" dirty="0"/>
          </a:p>
        </p:txBody>
      </p:sp>
    </p:spTree>
    <p:extLst>
      <p:ext uri="{BB962C8B-B14F-4D97-AF65-F5344CB8AC3E}">
        <p14:creationId xmlns:p14="http://schemas.microsoft.com/office/powerpoint/2010/main" val="69272408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45734-B46D-4BBD-6BC4-AB15158DE6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D83AE3-EB5F-152B-EC25-BD05C5A184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E5205C-7ACF-1814-D32A-05F51C6111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C86737-AD0D-83A9-22E3-874039657783}"/>
              </a:ext>
            </a:extLst>
          </p:cNvPr>
          <p:cNvSpPr>
            <a:spLocks noGrp="1"/>
          </p:cNvSpPr>
          <p:nvPr>
            <p:ph type="sldNum" sz="quarter" idx="10"/>
          </p:nvPr>
        </p:nvSpPr>
        <p:spPr/>
        <p:txBody>
          <a:bodyPr/>
          <a:lstStyle/>
          <a:p>
            <a:fld id="{A73D6722-9B4D-4E29-B226-C325925A8118}" type="slidenum">
              <a:rPr lang="en-US" smtClean="0"/>
              <a:pPr/>
              <a:t>34</a:t>
            </a:fld>
            <a:endParaRPr lang="en-US" dirty="0"/>
          </a:p>
        </p:txBody>
      </p:sp>
    </p:spTree>
    <p:extLst>
      <p:ext uri="{BB962C8B-B14F-4D97-AF65-F5344CB8AC3E}">
        <p14:creationId xmlns:p14="http://schemas.microsoft.com/office/powerpoint/2010/main" val="335488079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en-US" dirty="0">
                <a:latin typeface="Arial" pitchFamily="34" charset="0"/>
                <a:ea typeface="ＭＳ Ｐゴシック" pitchFamily="34" charset="-128"/>
              </a:rPr>
              <a:t>The third learning objective is to explain</a:t>
            </a:r>
            <a:r>
              <a:rPr lang="en-US" altLang="en-US" b="1" dirty="0">
                <a:latin typeface="Arial" pitchFamily="34" charset="0"/>
                <a:ea typeface="ＭＳ Ｐゴシック" pitchFamily="34" charset="-128"/>
              </a:rPr>
              <a:t> </a:t>
            </a:r>
            <a:r>
              <a:rPr lang="en-US" altLang="en-US" dirty="0">
                <a:latin typeface="Arial" pitchFamily="34" charset="0"/>
                <a:ea typeface="ＭＳ Ｐゴシック" pitchFamily="34" charset="-128"/>
              </a:rPr>
              <a:t>additional topics in accounting for long-lived tangible assets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35</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Companies purchase plant assets whenever they need them, not just at the beginning of the year. Therefore, companies must compute depreciation for partial years. First, compute depreciation for a full year. Second, multiply full-year depreciation by the fraction of the year that the company held the asset.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36</a:t>
            </a:fld>
            <a:endParaRPr lang="en-US" dirty="0"/>
          </a:p>
        </p:txBody>
      </p:sp>
    </p:spTree>
    <p:extLst>
      <p:ext uri="{BB962C8B-B14F-4D97-AF65-F5344CB8AC3E}">
        <p14:creationId xmlns:p14="http://schemas.microsoft.com/office/powerpoint/2010/main" val="23398760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Suppose a calendar-year business purchases a building on April 1 for $500,000 with an estimated life of 20 years and an estimated residual value of $80,000.</a:t>
            </a:r>
          </a:p>
          <a:p>
            <a:endParaRPr lang="en-CA" altLang="en-US" dirty="0">
              <a:latin typeface="Arial" pitchFamily="34" charset="0"/>
              <a:ea typeface="ＭＳ Ｐゴシック" pitchFamily="34" charset="-128"/>
            </a:endParaRPr>
          </a:p>
          <a:p>
            <a:r>
              <a:rPr lang="en-US" altLang="en-US" dirty="0">
                <a:latin typeface="Arial" pitchFamily="34" charset="0"/>
                <a:ea typeface="ＭＳ Ｐゴシック" pitchFamily="34" charset="-128"/>
              </a:rPr>
              <a:t>What is the current year’s depreciation using the straight-line method?</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37</a:t>
            </a:fld>
            <a:endParaRPr lang="en-US" dirty="0"/>
          </a:p>
        </p:txBody>
      </p:sp>
    </p:spTree>
    <p:extLst>
      <p:ext uri="{BB962C8B-B14F-4D97-AF65-F5344CB8AC3E}">
        <p14:creationId xmlns:p14="http://schemas.microsoft.com/office/powerpoint/2010/main" val="32174636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Full-year depreciation:</a:t>
            </a:r>
          </a:p>
          <a:p>
            <a:r>
              <a:rPr lang="en-US" altLang="en-US" dirty="0">
                <a:latin typeface="Arial" pitchFamily="34" charset="0"/>
                <a:ea typeface="ＭＳ Ｐゴシック" pitchFamily="34" charset="-128"/>
              </a:rPr>
              <a:t>($500,000 – $80,000) ÷ 20 = $21,000</a:t>
            </a:r>
          </a:p>
          <a:p>
            <a:endParaRPr lang="en-CA" altLang="en-US" dirty="0">
              <a:latin typeface="Arial" pitchFamily="34" charset="0"/>
              <a:ea typeface="ＭＳ Ｐゴシック" pitchFamily="34" charset="-128"/>
            </a:endParaRPr>
          </a:p>
          <a:p>
            <a:r>
              <a:rPr lang="en-US" altLang="en-US" dirty="0">
                <a:latin typeface="Arial" pitchFamily="34" charset="0"/>
                <a:ea typeface="ＭＳ Ｐゴシック" pitchFamily="34" charset="-128"/>
              </a:rPr>
              <a:t>Partial-year depreciation from April 1 to December 31 (9 months):</a:t>
            </a:r>
          </a:p>
          <a:p>
            <a:r>
              <a:rPr lang="en-US" altLang="en-US" dirty="0">
                <a:latin typeface="Arial" pitchFamily="34" charset="0"/>
                <a:ea typeface="ＭＳ Ｐゴシック" pitchFamily="34" charset="-128"/>
              </a:rPr>
              <a:t>$21,000 </a:t>
            </a:r>
            <a:r>
              <a:rPr lang="en-US" altLang="en-US" b="1" dirty="0">
                <a:latin typeface="Arial" pitchFamily="34" charset="0"/>
                <a:ea typeface="ＭＳ Ｐゴシック" pitchFamily="34" charset="-128"/>
              </a:rPr>
              <a:t>×</a:t>
            </a:r>
            <a:r>
              <a:rPr lang="en-US" altLang="en-US" dirty="0">
                <a:latin typeface="Arial" pitchFamily="34" charset="0"/>
                <a:ea typeface="ＭＳ Ｐゴシック" pitchFamily="34" charset="-128"/>
              </a:rPr>
              <a:t> 9/12 = $15,750</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38</a:t>
            </a:fld>
            <a:endParaRPr lang="en-US" dirty="0"/>
          </a:p>
        </p:txBody>
      </p:sp>
    </p:spTree>
    <p:extLst>
      <p:ext uri="{BB962C8B-B14F-4D97-AF65-F5344CB8AC3E}">
        <p14:creationId xmlns:p14="http://schemas.microsoft.com/office/powerpoint/2010/main" val="392788809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After an asset is in use, managers may change its useful life on the basis of experience and new information. This is called a change in accounting estimate. Depreciation is revised as shown in the formula above.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39</a:t>
            </a:fld>
            <a:endParaRPr lang="en-US" dirty="0"/>
          </a:p>
        </p:txBody>
      </p:sp>
    </p:spTree>
    <p:extLst>
      <p:ext uri="{BB962C8B-B14F-4D97-AF65-F5344CB8AC3E}">
        <p14:creationId xmlns:p14="http://schemas.microsoft.com/office/powerpoint/2010/main" val="218689491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Assume an asset cost of $40,000, an eight-year useful life with no residual value, and the straight-line method.</a:t>
            </a:r>
          </a:p>
          <a:p>
            <a:endParaRPr lang="en-CA" altLang="en-US" dirty="0">
              <a:latin typeface="Arial" pitchFamily="34" charset="0"/>
              <a:ea typeface="ＭＳ Ｐゴシック" pitchFamily="34" charset="-128"/>
            </a:endParaRPr>
          </a:p>
          <a:p>
            <a:r>
              <a:rPr lang="en-CA" altLang="en-US" dirty="0">
                <a:latin typeface="Arial" pitchFamily="34" charset="0"/>
                <a:ea typeface="ＭＳ Ｐゴシック" pitchFamily="34" charset="-128"/>
              </a:rPr>
              <a:t>Depreciation expense is $40,000 / 8-years or $5,000 per year. Therefore after two years accumulated depreciation is 2 X $5,000 or $10,000. Therefore the carrying amount would be $40,000 - $10,000 or $30,000.</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40</a:t>
            </a:fld>
            <a:endParaRPr lang="en-US" dirty="0"/>
          </a:p>
        </p:txBody>
      </p:sp>
    </p:spTree>
    <p:extLst>
      <p:ext uri="{BB962C8B-B14F-4D97-AF65-F5344CB8AC3E}">
        <p14:creationId xmlns:p14="http://schemas.microsoft.com/office/powerpoint/2010/main" val="132433780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ltLang="en-US" dirty="0">
                <a:latin typeface="Arial" pitchFamily="34" charset="0"/>
                <a:ea typeface="ＭＳ Ｐゴシック" pitchFamily="34" charset="-128"/>
              </a:rPr>
              <a:t>If management changes it estimate of useful life after two years, the remaining undepreciated cost should be averaged over the remaining estimated 10-year life of the asset.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41</a:t>
            </a:fld>
            <a:endParaRPr lang="en-US" dirty="0"/>
          </a:p>
        </p:txBody>
      </p:sp>
    </p:spTree>
    <p:extLst>
      <p:ext uri="{BB962C8B-B14F-4D97-AF65-F5344CB8AC3E}">
        <p14:creationId xmlns:p14="http://schemas.microsoft.com/office/powerpoint/2010/main" val="426320983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An asset can be used after it is fully depreciated.</a:t>
            </a:r>
          </a:p>
          <a:p>
            <a:endParaRPr lang="en-CA" altLang="en-US" dirty="0">
              <a:latin typeface="Arial" pitchFamily="34" charset="0"/>
              <a:ea typeface="ＭＳ Ｐゴシック" pitchFamily="34" charset="-128"/>
            </a:endParaRPr>
          </a:p>
          <a:p>
            <a:r>
              <a:rPr lang="en-US" altLang="en-US" dirty="0">
                <a:latin typeface="Arial" pitchFamily="34" charset="0"/>
                <a:ea typeface="ＭＳ Ｐゴシック" pitchFamily="34" charset="-128"/>
              </a:rPr>
              <a:t>The asset and its depreciation account remain in the ledger with no additional depreciation entries.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43</a:t>
            </a:fld>
            <a:endParaRPr lang="en-US" dirty="0"/>
          </a:p>
        </p:txBody>
      </p:sp>
    </p:spTree>
    <p:extLst>
      <p:ext uri="{BB962C8B-B14F-4D97-AF65-F5344CB8AC3E}">
        <p14:creationId xmlns:p14="http://schemas.microsoft.com/office/powerpoint/2010/main" val="243280824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Eventually, a property, plant and equipment asset ceases to serve a company’s needs. The asset may wear out or become obsolete. Before accounting for the disposal of the asset, the business should bring depreciation up to date to:</a:t>
            </a:r>
          </a:p>
          <a:p>
            <a:r>
              <a:rPr lang="en-US" altLang="en-US" dirty="0">
                <a:latin typeface="Arial" pitchFamily="34" charset="0"/>
                <a:ea typeface="ＭＳ Ｐゴシック" pitchFamily="34" charset="-128"/>
              </a:rPr>
              <a:t>■ measure the asset’s final carrying amount and</a:t>
            </a:r>
          </a:p>
          <a:p>
            <a:r>
              <a:rPr lang="en-US" altLang="en-US" dirty="0">
                <a:latin typeface="Arial" pitchFamily="34" charset="0"/>
                <a:ea typeface="ＭＳ Ｐゴシック" pitchFamily="34" charset="-128"/>
              </a:rPr>
              <a:t>■ record the expense up to the date of sale. </a:t>
            </a:r>
          </a:p>
          <a:p>
            <a:r>
              <a:rPr lang="en-US" altLang="en-US" dirty="0">
                <a:latin typeface="Arial" pitchFamily="34" charset="0"/>
                <a:ea typeface="ＭＳ Ｐゴシック" pitchFamily="34" charset="-128"/>
              </a:rPr>
              <a:t>To account for disposal, remove the asset and its related accumulated depreciation from the books.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44</a:t>
            </a:fld>
            <a:endParaRPr lang="en-US" dirty="0"/>
          </a:p>
        </p:txBody>
      </p:sp>
    </p:spTree>
    <p:extLst>
      <p:ext uri="{BB962C8B-B14F-4D97-AF65-F5344CB8AC3E}">
        <p14:creationId xmlns:p14="http://schemas.microsoft.com/office/powerpoint/2010/main" val="188080686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If a PPE asset is fully depreciated and is estimated to have zero residual value, there is no gain or loss on the disposal. The accumulated depreciation account is debited and the PPE asset account is credited. If assets are disposed of for no proceeds before being fully depreciated, the company incurs a loss on the disposal in the amount of the asset’s net carrying amount. The Loss on Disposal of Equipment is reported as Other income (expense) on the income statement. Losses decrease net income exactly as expenses do. Gains increase net income the same as revenues.</a:t>
            </a:r>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45</a:t>
            </a:fld>
            <a:endParaRPr lang="en-US" dirty="0"/>
          </a:p>
        </p:txBody>
      </p:sp>
    </p:spTree>
    <p:extLst>
      <p:ext uri="{BB962C8B-B14F-4D97-AF65-F5344CB8AC3E}">
        <p14:creationId xmlns:p14="http://schemas.microsoft.com/office/powerpoint/2010/main" val="380307673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When PPE assets are sold for cash, a gain or loss can be incurred. If the cash received is greater than the carrying amount of the asset at the time of the sale, a gain is recorded. If the cash received is less than the carrying amount, a loss is recorded.</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46</a:t>
            </a:fld>
            <a:endParaRPr lang="en-US" dirty="0"/>
          </a:p>
        </p:txBody>
      </p:sp>
    </p:spTree>
    <p:extLst>
      <p:ext uri="{BB962C8B-B14F-4D97-AF65-F5344CB8AC3E}">
        <p14:creationId xmlns:p14="http://schemas.microsoft.com/office/powerpoint/2010/main" val="336841393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Assume that on January 1, 20X1, a company purchased fixtures for $10,000 cash, expecting the fixtures to remain in service for ten years.  As of year-end 20X3, depreciation of $3,000 has been recorded as depreciated the fixtures on a straight-line basis, with $7,000 estimated residual value. On September 30, 20X4, the company sold the fixtures for $7,000 cash. </a:t>
            </a:r>
          </a:p>
          <a:p>
            <a:endParaRPr lang="en-US" altLang="en-US" dirty="0">
              <a:latin typeface="Arial" pitchFamily="34" charset="0"/>
              <a:ea typeface="ＭＳ Ｐゴシック" pitchFamily="34" charset="-128"/>
            </a:endParaRPr>
          </a:p>
          <a:p>
            <a:r>
              <a:rPr lang="en-US" altLang="en-US" dirty="0">
                <a:latin typeface="Arial" pitchFamily="34" charset="0"/>
                <a:ea typeface="ＭＳ Ｐゴシック" pitchFamily="34" charset="-128"/>
              </a:rPr>
              <a:t>The accumulated depreciation account needs to be updated to record the depreciation from December 31, 20X3 through to September 30, 20X4. That is an additional $1,000 x 9/12 or $750. The entire accumulated depreciation account is then debited to reduce the balance to zero. The cash of $7,000 received on the sale is also debited. Store fixtures are credited with the amount originally spent when the fixtures were purchased. The gain on disposal, $7,000 - $6,250, is credited.</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47</a:t>
            </a:fld>
            <a:endParaRPr lang="en-US" dirty="0"/>
          </a:p>
        </p:txBody>
      </p:sp>
    </p:spTree>
    <p:extLst>
      <p:ext uri="{BB962C8B-B14F-4D97-AF65-F5344CB8AC3E}">
        <p14:creationId xmlns:p14="http://schemas.microsoft.com/office/powerpoint/2010/main" val="106611527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ltLang="en-US" dirty="0">
                <a:latin typeface="Arial" pitchFamily="34" charset="0"/>
                <a:ea typeface="ＭＳ Ｐゴシック" pitchFamily="34" charset="-128"/>
              </a:rPr>
              <a:t>You can perform similar analyses using T accounts to answer other questions about what the business did during the period.</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48</a:t>
            </a:fld>
            <a:endParaRPr lang="en-US" dirty="0"/>
          </a:p>
        </p:txBody>
      </p:sp>
    </p:spTree>
    <p:extLst>
      <p:ext uri="{BB962C8B-B14F-4D97-AF65-F5344CB8AC3E}">
        <p14:creationId xmlns:p14="http://schemas.microsoft.com/office/powerpoint/2010/main" val="124435549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50</a:t>
            </a:fld>
            <a:endParaRPr lang="en-US" dirty="0"/>
          </a:p>
        </p:txBody>
      </p:sp>
    </p:spTree>
    <p:extLst>
      <p:ext uri="{BB962C8B-B14F-4D97-AF65-F5344CB8AC3E}">
        <p14:creationId xmlns:p14="http://schemas.microsoft.com/office/powerpoint/2010/main" val="241419393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Many businesses use the straight-line method for reporting property, plant and depreciation expense on the income statement.</a:t>
            </a:r>
          </a:p>
          <a:p>
            <a:endParaRPr lang="en-CA" altLang="en-US" dirty="0">
              <a:latin typeface="Arial" pitchFamily="34" charset="0"/>
              <a:ea typeface="ＭＳ Ｐゴシック" pitchFamily="34" charset="-128"/>
            </a:endParaRPr>
          </a:p>
          <a:p>
            <a:r>
              <a:rPr lang="en-US" altLang="en-US" dirty="0">
                <a:latin typeface="Arial" pitchFamily="34" charset="0"/>
                <a:ea typeface="ＭＳ Ｐゴシック" pitchFamily="34" charset="-128"/>
              </a:rPr>
              <a:t>The </a:t>
            </a:r>
            <a:r>
              <a:rPr lang="en-US" altLang="en-US" i="1" dirty="0">
                <a:latin typeface="Arial" pitchFamily="34" charset="0"/>
                <a:ea typeface="ＭＳ Ｐゴシック" pitchFamily="34" charset="-128"/>
              </a:rPr>
              <a:t>Income Tax Act </a:t>
            </a:r>
            <a:r>
              <a:rPr lang="en-US" altLang="en-US" dirty="0">
                <a:latin typeface="Arial" pitchFamily="34" charset="0"/>
                <a:ea typeface="ＭＳ Ｐゴシック" pitchFamily="34" charset="-128"/>
              </a:rPr>
              <a:t>permits taxpayers to use accelerated depreciation (up to specified CCA maximums) for tax purposes.</a:t>
            </a:r>
          </a:p>
          <a:p>
            <a:endParaRPr lang="en-US" altLang="en-US" dirty="0">
              <a:latin typeface="Arial" pitchFamily="34" charset="0"/>
              <a:ea typeface="ＭＳ Ｐゴシック" pitchFamily="34" charset="-128"/>
            </a:endParaRPr>
          </a:p>
          <a:p>
            <a:r>
              <a:rPr lang="en-US" altLang="en-US" dirty="0">
                <a:latin typeface="Arial" pitchFamily="34" charset="0"/>
                <a:ea typeface="ＭＳ Ｐゴシック" pitchFamily="34" charset="-128"/>
              </a:rPr>
              <a:t>In other words, a taxpayer can use one method for accounting purposes and another method for tax purposes.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51</a:t>
            </a:fld>
            <a:endParaRPr lang="en-US" dirty="0"/>
          </a:p>
        </p:txBody>
      </p:sp>
    </p:spTree>
    <p:extLst>
      <p:ext uri="{BB962C8B-B14F-4D97-AF65-F5344CB8AC3E}">
        <p14:creationId xmlns:p14="http://schemas.microsoft.com/office/powerpoint/2010/main" val="163809735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IFRS require that significant components of an item of property, plant, and equipment be depreciated separately. What does this mean? Take, for example, Air Canada or WestJet, which buy aircraft for use in their operations. Air Canada depreciates its aircraft and engines over 20-25 years, while the cabin and interior equipment are depreciated over the lesser of 5 years or the remaining useful life of the aircraft. In the private sector, depreciating separate components is done only when practicable.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52</a:t>
            </a:fld>
            <a:endParaRPr lang="en-US" dirty="0"/>
          </a:p>
        </p:txBody>
      </p:sp>
    </p:spTree>
    <p:extLst>
      <p:ext uri="{BB962C8B-B14F-4D97-AF65-F5344CB8AC3E}">
        <p14:creationId xmlns:p14="http://schemas.microsoft.com/office/powerpoint/2010/main" val="321177569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At each reporting date, a company should review its property, plant, and equipment to see if an asset is impaired. Impairment occurs when the carrying amount exceeds its recoverable amount. Recoverable amount is determined to be the higher of an asset’s fair value (less costs to sell) and its value in use. Value in use is the present value of estimated future cash flows expected to be earned from the continuing use of an asset and from its disposal at the end of its useful life.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53</a:t>
            </a:fld>
            <a:endParaRPr lang="en-US" dirty="0"/>
          </a:p>
        </p:txBody>
      </p:sp>
    </p:spTree>
    <p:extLst>
      <p:ext uri="{BB962C8B-B14F-4D97-AF65-F5344CB8AC3E}">
        <p14:creationId xmlns:p14="http://schemas.microsoft.com/office/powerpoint/2010/main" val="309763022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fourth learning objective is to explain</a:t>
            </a:r>
            <a:r>
              <a:rPr lang="en-US" altLang="en-US" b="1" dirty="0">
                <a:ea typeface="ＭＳ Ｐゴシック" pitchFamily="34" charset="-128"/>
              </a:rPr>
              <a:t> </a:t>
            </a:r>
            <a:r>
              <a:rPr lang="en-US" altLang="en-US" dirty="0">
                <a:ea typeface="ＭＳ Ｐゴシック" pitchFamily="34" charset="-128"/>
              </a:rPr>
              <a:t>how to account for intangible assets and goodwill.</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54</a:t>
            </a:fld>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Intangible assets are long-lived assets with no physical form. Intangibles are valuable because they carry special rights from patents, copyrights, trademarks, franchises, leaseholds, and goodwill. Like buildings and equipment, an intangible asset is recorded at its acquisition cost. Intangibles are the most valuable assets of high-tech companies and those that depend on research and development. The residual value of most intangibles is zero.</a:t>
            </a:r>
          </a:p>
          <a:p>
            <a:r>
              <a:rPr lang="en-US" altLang="en-US" dirty="0">
                <a:latin typeface="Arial" pitchFamily="34" charset="0"/>
                <a:ea typeface="ＭＳ Ｐゴシック" pitchFamily="34" charset="-128"/>
              </a:rPr>
              <a:t>Intangible assets fall into two categories:</a:t>
            </a:r>
          </a:p>
          <a:p>
            <a:r>
              <a:rPr lang="en-US" altLang="en-US" dirty="0">
                <a:latin typeface="Arial" pitchFamily="34" charset="0"/>
                <a:ea typeface="ＭＳ Ｐゴシック" pitchFamily="34" charset="-128"/>
              </a:rPr>
              <a:t>■ Intangibles with finite lives that can be measured. We record amortization for these intangibles. Amortization expense is the title of the expense associated with intangibles. Amortization works like depreciation and is usually computed on a straight-line basis. </a:t>
            </a:r>
          </a:p>
          <a:p>
            <a:r>
              <a:rPr lang="en-US" altLang="en-US" dirty="0">
                <a:latin typeface="Arial" pitchFamily="34" charset="0"/>
                <a:ea typeface="ＭＳ Ｐゴシック" pitchFamily="34" charset="-128"/>
              </a:rPr>
              <a:t>■ Intangibles with indefinite lives. Record no amortization for these intangibles. Instead, check them annually for any loss in value (impairment), and record a loss when it occurs. Goodwill is the most prominent example of an intangible asset with an indefinite life. It results when a company purchases the net assets of another company for more than their fair market value.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55</a:t>
            </a:fld>
            <a:endParaRPr lang="en-US" dirty="0"/>
          </a:p>
        </p:txBody>
      </p:sp>
    </p:spTree>
    <p:extLst>
      <p:ext uri="{BB962C8B-B14F-4D97-AF65-F5344CB8AC3E}">
        <p14:creationId xmlns:p14="http://schemas.microsoft.com/office/powerpoint/2010/main" val="76704915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altLang="en-US" dirty="0">
                <a:latin typeface="Arial" pitchFamily="34" charset="0"/>
                <a:ea typeface="ＭＳ Ｐゴシック" pitchFamily="34" charset="-128"/>
              </a:rPr>
              <a:t>Let’s look at five intangible assets in more detail: patents, copyrights, trademarks and trade names, franchises and </a:t>
            </a:r>
            <a:r>
              <a:rPr lang="en-US" altLang="en-US" dirty="0" err="1">
                <a:latin typeface="Arial" pitchFamily="34" charset="0"/>
                <a:ea typeface="ＭＳ Ｐゴシック" pitchFamily="34" charset="-128"/>
              </a:rPr>
              <a:t>licences</a:t>
            </a:r>
            <a:r>
              <a:rPr lang="en-US" altLang="en-US" dirty="0">
                <a:latin typeface="Arial" pitchFamily="34" charset="0"/>
                <a:ea typeface="ＭＳ Ｐゴシック" pitchFamily="34" charset="-128"/>
              </a:rPr>
              <a:t>, and goodwill.</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56</a:t>
            </a:fld>
            <a:endParaRPr lang="en-US" dirty="0"/>
          </a:p>
        </p:txBody>
      </p:sp>
    </p:spTree>
    <p:extLst>
      <p:ext uri="{BB962C8B-B14F-4D97-AF65-F5344CB8AC3E}">
        <p14:creationId xmlns:p14="http://schemas.microsoft.com/office/powerpoint/2010/main" val="299939854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Patents are federal government grants that give the holder the exclusive right for 20 years to produce and sell an invention. The invention may be a product or a process—for example, IMAX’s projection process. Like any other asset, a patent may be purchased.</a:t>
            </a:r>
          </a:p>
          <a:p>
            <a:endParaRPr lang="en-US" altLang="en-US" dirty="0">
              <a:latin typeface="Arial" pitchFamily="34" charset="0"/>
              <a:ea typeface="ＭＳ Ｐゴシック"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altLang="en-US" dirty="0">
                <a:latin typeface="Arial" pitchFamily="34" charset="0"/>
                <a:ea typeface="ＭＳ Ｐゴシック" pitchFamily="34" charset="-128"/>
              </a:rPr>
              <a:t>This slide shows the journal entries that are required to record the purchase of a patent on January 1, and the amortization expense on December 31. You can calculate that the owners anticipate that the patent will have a useful life of $170,000 / $34,000 or 5 years. By law the patent is good for 20 years, but its useful life is expected to last only five years.</a:t>
            </a: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57</a:t>
            </a:fld>
            <a:endParaRPr lang="en-US" dirty="0"/>
          </a:p>
        </p:txBody>
      </p:sp>
    </p:spTree>
    <p:extLst>
      <p:ext uri="{BB962C8B-B14F-4D97-AF65-F5344CB8AC3E}">
        <p14:creationId xmlns:p14="http://schemas.microsoft.com/office/powerpoint/2010/main" val="242077936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Copyrights are exclusive rights to reproduce and sell a book, musical composition, film, or other work of art. Copyrights also protect computer software programs. Issued by the federal government, copyrights extend 50 years beyond the author’s (composer’s, artist’s, or programmer’s) life. The cost of obtaining a copyright from the government is low, but a company may pay a large sum to purchase an existing copyright from the owner. For example, a publisher may pay the author of a popular novel $1 million or more for the book copyright. Because the useful life of a copyright is usually no longer than two or three years, each period’s amortization amount is a high proportion of the copyright cost. Owners of a copyright must use judgment in determining a reasonable life over which to amortize the asset.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58</a:t>
            </a:fld>
            <a:endParaRPr lang="en-US" dirty="0"/>
          </a:p>
        </p:txBody>
      </p:sp>
    </p:spTree>
    <p:extLst>
      <p:ext uri="{BB962C8B-B14F-4D97-AF65-F5344CB8AC3E}">
        <p14:creationId xmlns:p14="http://schemas.microsoft.com/office/powerpoint/2010/main" val="278753732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Trademarks and trade names (or brand names) are distinctive identification of a product or service. You are probably familiar with McDonald’s golden arches or Apple Inc.’s famous apple. Tim Hortons and Roots are names we all recognize. Advertising slogans, such as “Red Bull gives you wings,” are also protected. </a:t>
            </a:r>
          </a:p>
          <a:p>
            <a:r>
              <a:rPr lang="en-US" altLang="en-US" dirty="0">
                <a:latin typeface="Arial" pitchFamily="34" charset="0"/>
                <a:ea typeface="ＭＳ Ｐゴシック" pitchFamily="34" charset="-128"/>
              </a:rPr>
              <a:t>These are distinctive identifications of products or services, marked with the symbol ™ or ®. Some trademarks may have a definite useful life set by contract. We should amortize this trademark’s cost over its useful life. But a trademark or a trade name may have an indefinite life and not be amortized.</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59</a:t>
            </a:fld>
            <a:endParaRPr lang="en-US" dirty="0"/>
          </a:p>
        </p:txBody>
      </p:sp>
    </p:spTree>
    <p:extLst>
      <p:ext uri="{BB962C8B-B14F-4D97-AF65-F5344CB8AC3E}">
        <p14:creationId xmlns:p14="http://schemas.microsoft.com/office/powerpoint/2010/main" val="33921077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Franchises and licenses are privileges granted by a private business or a government to sell a product or service in accordance with specified conditions. The Edmonton Oilers hockey organization is a franchise granted to its owner by the National Hockey League. Swiss Chalet restaurants and Canadian Tire are popular franchises. Businesses purchase the rights to sell particular goods or services and in turn agree to operate under the standards and limitations imposed by the franchising corporation. The useful lives of many franchises and licenses are indefinite and, therefore, are not amortized.</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60</a:t>
            </a:fld>
            <a:endParaRPr lang="en-US" dirty="0"/>
          </a:p>
        </p:txBody>
      </p:sp>
    </p:spTree>
    <p:extLst>
      <p:ext uri="{BB962C8B-B14F-4D97-AF65-F5344CB8AC3E}">
        <p14:creationId xmlns:p14="http://schemas.microsoft.com/office/powerpoint/2010/main" val="190853849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In accounting, goodwill has a very specific meaning. Goodwill is defined as the excess of the cost of purchasing another company over the sum of the market values of the acquired </a:t>
            </a:r>
            <a:r>
              <a:rPr lang="fr-FR" altLang="en-US" dirty="0">
                <a:latin typeface="Arial" pitchFamily="34" charset="0"/>
                <a:ea typeface="ＭＳ Ｐゴシック" pitchFamily="34" charset="-128"/>
              </a:rPr>
              <a:t>company’s net assets (assets minus liabilities). </a:t>
            </a:r>
            <a:r>
              <a:rPr lang="en-US" altLang="en-US" dirty="0">
                <a:latin typeface="Arial" pitchFamily="34" charset="0"/>
                <a:ea typeface="ＭＳ Ｐゴシック" pitchFamily="34" charset="-128"/>
              </a:rPr>
              <a:t>A purchaser is willing to pay for goodwill when the purchaser buys another company that has exceptional earning power. </a:t>
            </a:r>
          </a:p>
          <a:p>
            <a:endParaRPr lang="en-US" altLang="en-US" dirty="0">
              <a:latin typeface="Arial" pitchFamily="34" charset="0"/>
              <a:ea typeface="ＭＳ Ｐゴシック" pitchFamily="34" charset="-128"/>
            </a:endParaRPr>
          </a:p>
          <a:p>
            <a:r>
              <a:rPr lang="en-US" altLang="en-US" dirty="0">
                <a:latin typeface="Arial" pitchFamily="34" charset="0"/>
                <a:ea typeface="ＭＳ Ｐゴシック" pitchFamily="34" charset="-128"/>
              </a:rPr>
              <a:t>Goodwill in accounting has special features, as follows:</a:t>
            </a:r>
          </a:p>
          <a:p>
            <a:pPr>
              <a:buFont typeface="Calibri" pitchFamily="34" charset="0"/>
              <a:buAutoNum type="arabicPeriod"/>
            </a:pPr>
            <a:r>
              <a:rPr lang="en-US" altLang="en-US" dirty="0">
                <a:latin typeface="Arial" pitchFamily="34" charset="0"/>
                <a:ea typeface="ＭＳ Ｐゴシック" pitchFamily="34" charset="-128"/>
              </a:rPr>
              <a:t>Goodwill is recorded only when it is purchased in the acquisition of another company. A purchase transaction provides objective evidence of the value of goodwill. Companies never record goodwill that they create for their own business.</a:t>
            </a:r>
          </a:p>
          <a:p>
            <a:pPr>
              <a:buFont typeface="Calibri" pitchFamily="34" charset="0"/>
              <a:buAutoNum type="arabicPeriod"/>
            </a:pPr>
            <a:r>
              <a:rPr lang="en-US" altLang="en-US" dirty="0">
                <a:latin typeface="Arial" pitchFamily="34" charset="0"/>
                <a:ea typeface="ＭＳ Ｐゴシック" pitchFamily="34" charset="-128"/>
              </a:rPr>
              <a:t>According to generally accepted accounting principles (GAAP), goodwill is not amortized because the goodwill of many entities increases in value. However, </a:t>
            </a:r>
            <a:r>
              <a:rPr lang="en-US" sz="1800" b="0" i="0" u="none" strike="noStrike" baseline="0" dirty="0">
                <a:latin typeface="BerkeleyPro-Book"/>
              </a:rPr>
              <a:t>if the value of goodwill is impaired, it must be written down.</a:t>
            </a:r>
          </a:p>
          <a:p>
            <a:pPr>
              <a:buFont typeface="Calibri" pitchFamily="34" charset="0"/>
              <a:buAutoNum type="arabicPeriod"/>
            </a:pPr>
            <a:r>
              <a:rPr lang="en-US" sz="1800" b="0" i="0" u="none" strike="noStrike" baseline="0" dirty="0">
                <a:latin typeface="BerkeleyPro-Book"/>
              </a:rPr>
              <a:t>Goodwill impairment losses cannot be reversed in future years.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61</a:t>
            </a:fld>
            <a:endParaRPr lang="en-US" dirty="0"/>
          </a:p>
        </p:txBody>
      </p:sp>
    </p:spTree>
    <p:extLst>
      <p:ext uri="{BB962C8B-B14F-4D97-AF65-F5344CB8AC3E}">
        <p14:creationId xmlns:p14="http://schemas.microsoft.com/office/powerpoint/2010/main" val="245593168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ltLang="en-US" dirty="0">
                <a:latin typeface="Arial" pitchFamily="34" charset="0"/>
                <a:ea typeface="ＭＳ Ｐゴシック" pitchFamily="34" charset="-128"/>
              </a:rPr>
              <a:t>Canadian Tire paid $178.0 million for the purchase of Party City (PC) in 2019. At that time, the fair market value of all of PC’s assets was $204.5 million. PC owed $74.9 million, however, meaning its net assets were only $129.6 million. Therefore Canadian Tire paid $48.4 million more for the assets than they were valued at. That extra was classified as goodwill.</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62</a:t>
            </a:fld>
            <a:endParaRPr lang="en-US" dirty="0"/>
          </a:p>
        </p:txBody>
      </p:sp>
    </p:spTree>
    <p:extLst>
      <p:ext uri="{BB962C8B-B14F-4D97-AF65-F5344CB8AC3E}">
        <p14:creationId xmlns:p14="http://schemas.microsoft.com/office/powerpoint/2010/main" val="317530629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Generally accepted accounting principles require that management of companies test both tangible and intangible long-term assets for impairment yearly. Impairment occurs when the expected future cash flows (which approximate the expected future benefits) from a long-term asset fall below the asset’s carrying amount (cost minus accumulated depreciation or amortization). If an asset is impaired, the company is required to adjust the carrying amount downward from its carrying amount to its fair value. In this case, fair value is based not on the expected future cash flows, but on the asset’s estimated market value at the date of the impairment test.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63</a:t>
            </a:fld>
            <a:endParaRPr lang="en-US" dirty="0"/>
          </a:p>
        </p:txBody>
      </p:sp>
    </p:spTree>
    <p:extLst>
      <p:ext uri="{BB962C8B-B14F-4D97-AF65-F5344CB8AC3E}">
        <p14:creationId xmlns:p14="http://schemas.microsoft.com/office/powerpoint/2010/main" val="265141459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en-US" dirty="0">
                <a:latin typeface="Arial" pitchFamily="34" charset="0"/>
                <a:ea typeface="ＭＳ Ｐゴシック" pitchFamily="34" charset="-128"/>
              </a:rPr>
              <a:t>The fifth learning objective is to analyze a company’s return on assets.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65</a:t>
            </a:fld>
            <a:endParaRPr 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Evaluating company performance is a key goal of financial statement analysis. Shareholders entrust managers with the responsibility of developing a business strategy that utilizes company assets in a manner that both effectively and efficiently generates a profit. The most basic framework for this purpose is return on assets (ROA),</a:t>
            </a:r>
            <a:r>
              <a:rPr lang="en-US" altLang="en-US" b="1" dirty="0">
                <a:latin typeface="Arial" pitchFamily="34" charset="0"/>
                <a:ea typeface="ＭＳ Ｐゴシック" pitchFamily="34" charset="-128"/>
              </a:rPr>
              <a:t> </a:t>
            </a:r>
            <a:r>
              <a:rPr lang="en-US" altLang="en-US" dirty="0">
                <a:latin typeface="Arial" pitchFamily="34" charset="0"/>
                <a:ea typeface="ＭＳ Ｐゴシック" pitchFamily="34" charset="-128"/>
              </a:rPr>
              <a:t>which measures how profitably management has used the assets that shareholders and creditors have provided the company. The basic formula for the ROA ratio is shown in this slide. ROA measures how much the entity earned for each dollar of assets invested by both shareholders and creditors. Companies with high ROA have both selected assets and managed them more successfully than companies with low ROA.</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66</a:t>
            </a:fld>
            <a:endParaRPr lang="en-US" dirty="0"/>
          </a:p>
        </p:txBody>
      </p:sp>
    </p:spTree>
    <p:extLst>
      <p:ext uri="{BB962C8B-B14F-4D97-AF65-F5344CB8AC3E}">
        <p14:creationId xmlns:p14="http://schemas.microsoft.com/office/powerpoint/2010/main" val="210542192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en-US" dirty="0">
                <a:latin typeface="Arial" pitchFamily="34" charset="0"/>
                <a:ea typeface="ＭＳ Ｐゴシック" pitchFamily="34" charset="-128"/>
              </a:rPr>
              <a:t>The sixth learning objective is to analyze the cash flow impact of long-lived asset transactions.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67</a:t>
            </a:fld>
            <a:endParaRPr 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itchFamily="34" charset="0"/>
                <a:ea typeface="ＭＳ Ｐゴシック" pitchFamily="34" charset="-128"/>
              </a:rPr>
              <a:t>Three main types of long-lived asset transactions appear on the statement of cash flows:</a:t>
            </a:r>
          </a:p>
          <a:p>
            <a:r>
              <a:rPr lang="en-US" altLang="en-US" dirty="0">
                <a:latin typeface="Arial" pitchFamily="34" charset="0"/>
                <a:ea typeface="ＭＳ Ｐゴシック" pitchFamily="34" charset="-128"/>
              </a:rPr>
              <a:t>■ acquisitions</a:t>
            </a:r>
          </a:p>
          <a:p>
            <a:r>
              <a:rPr lang="en-US" altLang="en-US" dirty="0">
                <a:latin typeface="Arial" pitchFamily="34" charset="0"/>
                <a:ea typeface="ＭＳ Ｐゴシック" pitchFamily="34" charset="-128"/>
              </a:rPr>
              <a:t>■ sales</a:t>
            </a:r>
          </a:p>
          <a:p>
            <a:r>
              <a:rPr lang="en-US" altLang="en-US" dirty="0">
                <a:latin typeface="Arial" pitchFamily="34" charset="0"/>
                <a:ea typeface="ＭＳ Ｐゴシック" pitchFamily="34" charset="-128"/>
              </a:rPr>
              <a:t>■ depreciation (including amortization)</a:t>
            </a:r>
          </a:p>
          <a:p>
            <a:r>
              <a:rPr lang="en-US" altLang="en-US" dirty="0">
                <a:latin typeface="Arial" pitchFamily="34" charset="0"/>
                <a:ea typeface="ＭＳ Ｐゴシック" pitchFamily="34" charset="-128"/>
              </a:rPr>
              <a:t>Acquisitions and sales of long-term assets are investing activities. The payments for equipment and buildings are investing activities that appear on the statement of cash flows. The sale of long-lived assets results in a cash receipt. Also, “Depreciation and amortization” are listed as positive items under Adjustments to reconcile net income to cash provided by operating activities.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68</a:t>
            </a:fld>
            <a:endParaRPr lang="en-US" dirty="0"/>
          </a:p>
        </p:txBody>
      </p:sp>
    </p:spTree>
    <p:extLst>
      <p:ext uri="{BB962C8B-B14F-4D97-AF65-F5344CB8AC3E}">
        <p14:creationId xmlns:p14="http://schemas.microsoft.com/office/powerpoint/2010/main" val="10792269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The seventh learning objective is to </a:t>
            </a:r>
            <a:r>
              <a:rPr lang="en-US" altLang="en-US" b="0" dirty="0">
                <a:latin typeface="+mn-lt"/>
                <a:ea typeface="ＭＳ Ｐゴシック" pitchFamily="34" charset="-128"/>
              </a:rPr>
              <a:t>c</a:t>
            </a:r>
            <a:r>
              <a:rPr lang="en-US" altLang="en-US" b="0" dirty="0">
                <a:ea typeface="ＭＳ Ｐゴシック" pitchFamily="34" charset="-128"/>
              </a:rPr>
              <a:t>alculate </a:t>
            </a:r>
            <a:r>
              <a:rPr lang="en-US" altLang="en-US" dirty="0">
                <a:ea typeface="ＭＳ Ｐゴシック" pitchFamily="34" charset="-128"/>
              </a:rPr>
              <a:t>depreciation expense using Excel functions</a:t>
            </a:r>
            <a:r>
              <a:rPr lang="en-US" altLang="en-US" dirty="0">
                <a:latin typeface="Arial" pitchFamily="34" charset="0"/>
                <a:ea typeface="ＭＳ Ｐゴシック" pitchFamily="34" charset="-128"/>
              </a:rPr>
              <a:t>.</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69</a:t>
            </a:fld>
            <a:endParaRPr lang="en-US" dirty="0"/>
          </a:p>
        </p:txBody>
      </p:sp>
    </p:spTree>
    <p:extLst>
      <p:ext uri="{BB962C8B-B14F-4D97-AF65-F5344CB8AC3E}">
        <p14:creationId xmlns:p14="http://schemas.microsoft.com/office/powerpoint/2010/main" val="218717446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BerkeleyPro-Book"/>
              </a:rPr>
              <a:t>The manager can use an Excel function to make quick depreciation calculations.</a:t>
            </a:r>
          </a:p>
          <a:p>
            <a:pPr algn="l"/>
            <a:r>
              <a:rPr lang="en-US" sz="1800" b="0" i="0" u="none" strike="noStrike" baseline="0" dirty="0">
                <a:latin typeface="BerkeleyPro-Book"/>
              </a:rPr>
              <a:t>Excel has two functions that calculate depreciation expense. The SLN function calculates straight-line depreciation expense, while the DDB function calculates double-declining-</a:t>
            </a:r>
            <a:r>
              <a:rPr lang="en-CA" sz="1800" b="0" i="0" u="none" strike="noStrike" baseline="0" dirty="0">
                <a:latin typeface="BerkeleyPro-Book"/>
              </a:rPr>
              <a:t>balance depreciation expense. </a:t>
            </a:r>
            <a:r>
              <a:rPr lang="en-US" sz="1800" b="0" i="0" u="none" strike="noStrike" baseline="0" dirty="0">
                <a:latin typeface="BerkeleyPro-Book"/>
              </a:rPr>
              <a:t>To use either of the two Excel depreciation functions, the manager needs the asset’s cost, its estimated useful life, and its estimated residual value.</a:t>
            </a:r>
            <a:endParaRPr lang="en-CA"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70</a:t>
            </a:fld>
            <a:endParaRPr lang="en-US" dirty="0"/>
          </a:p>
        </p:txBody>
      </p:sp>
    </p:spTree>
    <p:extLst>
      <p:ext uri="{BB962C8B-B14F-4D97-AF65-F5344CB8AC3E}">
        <p14:creationId xmlns:p14="http://schemas.microsoft.com/office/powerpoint/2010/main" val="214586250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BerkeleyPro-Book"/>
              </a:rPr>
              <a:t>While companies are more likely to use specialized software systems to calculate and maintain their property, plant, and equipment acquisition, depreciation, and disposal records, the Excel SLN and DDB functions can be useful for quick analyses.</a:t>
            </a:r>
            <a:endParaRPr lang="en-CA" dirty="0"/>
          </a:p>
        </p:txBody>
      </p:sp>
      <p:sp>
        <p:nvSpPr>
          <p:cNvPr id="4" name="Slide Number Placeholder 3"/>
          <p:cNvSpPr>
            <a:spLocks noGrp="1"/>
          </p:cNvSpPr>
          <p:nvPr>
            <p:ph type="sldNum" sz="quarter" idx="5"/>
          </p:nvPr>
        </p:nvSpPr>
        <p:spPr/>
        <p:txBody>
          <a:bodyPr/>
          <a:lstStyle/>
          <a:p>
            <a:fld id="{A73D6722-9B4D-4E29-B226-C325925A8118}" type="slidenum">
              <a:rPr lang="en-US" smtClean="0"/>
              <a:pPr/>
              <a:t>71</a:t>
            </a:fld>
            <a:endParaRPr lang="en-US" dirty="0"/>
          </a:p>
        </p:txBody>
      </p:sp>
    </p:spTree>
    <p:extLst>
      <p:ext uri="{BB962C8B-B14F-4D97-AF65-F5344CB8AC3E}">
        <p14:creationId xmlns:p14="http://schemas.microsoft.com/office/powerpoint/2010/main" val="90070173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itchFamily="34" charset="0"/>
                <a:ea typeface="ＭＳ Ｐゴシック" pitchFamily="34" charset="-128"/>
              </a:rPr>
              <a:t>This concludes Chapter Six.</a:t>
            </a: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72</a:t>
            </a:fld>
            <a:endParaRPr 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CEF7D1-689C-4BC1-B59B-4A4CE078ECDF}" type="slidenum">
              <a:rPr lang="en-US" smtClean="0"/>
              <a:t>73</a:t>
            </a:fld>
            <a:endParaRPr lang="en-US"/>
          </a:p>
        </p:txBody>
      </p:sp>
    </p:spTree>
    <p:extLst>
      <p:ext uri="{BB962C8B-B14F-4D97-AF65-F5344CB8AC3E}">
        <p14:creationId xmlns:p14="http://schemas.microsoft.com/office/powerpoint/2010/main" val="11621264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39557" y="1028943"/>
            <a:ext cx="6519149" cy="1474115"/>
          </a:xfrm>
        </p:spPr>
        <p:txBody>
          <a:bodyPr lIns="0" anchor="b">
            <a:noAutofit/>
          </a:bodyPr>
          <a:lstStyle>
            <a:lvl1pPr algn="l">
              <a:defRPr sz="5400">
                <a:solidFill>
                  <a:schemeClr val="tx1"/>
                </a:solidFill>
                <a:latin typeface="+mj-lt"/>
              </a:defRPr>
            </a:lvl1pPr>
          </a:lstStyle>
          <a:p>
            <a:r>
              <a:rPr lang="en-US" dirty="0"/>
              <a:t>CLICK TO EDIT MASTER TITLE SLIDE</a:t>
            </a:r>
          </a:p>
        </p:txBody>
      </p:sp>
      <p:sp>
        <p:nvSpPr>
          <p:cNvPr id="3" name="Subtitle 2"/>
          <p:cNvSpPr>
            <a:spLocks noGrp="1"/>
          </p:cNvSpPr>
          <p:nvPr>
            <p:ph type="subTitle" idx="1"/>
          </p:nvPr>
        </p:nvSpPr>
        <p:spPr>
          <a:xfrm>
            <a:off x="339555" y="4266824"/>
            <a:ext cx="5112661" cy="666549"/>
          </a:xfrm>
        </p:spPr>
        <p:txBody>
          <a:bodyPr lIns="0" anchor="t">
            <a:normAutofit/>
          </a:bodyPr>
          <a:lstStyle>
            <a:lvl1pPr marL="0" indent="0" algn="l">
              <a:buNone/>
              <a:defRPr sz="2000" b="0">
                <a:solidFill>
                  <a:schemeClr val="tx1">
                    <a:lumMod val="50000"/>
                    <a:lumOff val="50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6" y="2642329"/>
            <a:ext cx="1155958"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10/1/24</a:t>
            </a:fld>
            <a:endParaRPr lang="en-US" dirty="0"/>
          </a:p>
        </p:txBody>
      </p:sp>
      <p:grpSp>
        <p:nvGrpSpPr>
          <p:cNvPr id="16" name="Group 15"/>
          <p:cNvGrpSpPr/>
          <p:nvPr userDrawn="1"/>
        </p:nvGrpSpPr>
        <p:grpSpPr>
          <a:xfrm>
            <a:off x="0" y="0"/>
            <a:ext cx="9144000" cy="397164"/>
            <a:chOff x="421830" y="1342659"/>
            <a:chExt cx="10018760" cy="290558"/>
          </a:xfrm>
        </p:grpSpPr>
        <p:sp>
          <p:nvSpPr>
            <p:cNvPr id="18" name="Rectangle 1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Rectangle 22"/>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5" name="Picture 14">
            <a:extLst>
              <a:ext uri="{FF2B5EF4-FFF2-40B4-BE49-F238E27FC236}">
                <a16:creationId xmlns:a16="http://schemas.microsoft.com/office/drawing/2014/main" id="{643069D2-FAC5-B540-938A-D5C004FC4DF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66" t="25800" r="8375" b="26600"/>
          <a:stretch/>
        </p:blipFill>
        <p:spPr>
          <a:xfrm>
            <a:off x="457200" y="5791200"/>
            <a:ext cx="5432996" cy="722376"/>
          </a:xfrm>
          <a:prstGeom prst="rect">
            <a:avLst/>
          </a:prstGeom>
        </p:spPr>
      </p:pic>
    </p:spTree>
    <p:extLst>
      <p:ext uri="{BB962C8B-B14F-4D97-AF65-F5344CB8AC3E}">
        <p14:creationId xmlns:p14="http://schemas.microsoft.com/office/powerpoint/2010/main" val="3515592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spTree>
      <p:nvGrpSpPr>
        <p:cNvPr id="1" name=""/>
        <p:cNvGrpSpPr/>
        <p:nvPr/>
      </p:nvGrpSpPr>
      <p:grpSpPr>
        <a:xfrm>
          <a:off x="0" y="0"/>
          <a:ext cx="0" cy="0"/>
          <a:chOff x="0" y="0"/>
          <a:chExt cx="0" cy="0"/>
        </a:xfrm>
      </p:grpSpPr>
      <p:sp>
        <p:nvSpPr>
          <p:cNvPr id="6" name="Picture Placeholder 5"/>
          <p:cNvSpPr>
            <a:spLocks noGrp="1"/>
          </p:cNvSpPr>
          <p:nvPr>
            <p:ph type="pic" sz="quarter" idx="13"/>
          </p:nvPr>
        </p:nvSpPr>
        <p:spPr>
          <a:xfrm>
            <a:off x="4570594" y="397164"/>
            <a:ext cx="4573407" cy="6460836"/>
          </a:xfrm>
        </p:spPr>
        <p:txBody>
          <a:bodyPr/>
          <a:lstStyle/>
          <a:p>
            <a:r>
              <a:rPr lang="en-US"/>
              <a:t>Click icon to add picture</a:t>
            </a:r>
          </a:p>
        </p:txBody>
      </p:sp>
      <p:sp>
        <p:nvSpPr>
          <p:cNvPr id="2" name="Title 1"/>
          <p:cNvSpPr>
            <a:spLocks noGrp="1"/>
          </p:cNvSpPr>
          <p:nvPr>
            <p:ph type="ctrTitle" hasCustomPrompt="1"/>
          </p:nvPr>
        </p:nvSpPr>
        <p:spPr>
          <a:xfrm>
            <a:off x="339556" y="595747"/>
            <a:ext cx="4114682" cy="1907312"/>
          </a:xfrm>
        </p:spPr>
        <p:txBody>
          <a:bodyPr lIns="0" anchor="b">
            <a:noAutofit/>
          </a:bodyPr>
          <a:lstStyle>
            <a:lvl1pPr algn="l">
              <a:defRPr sz="4400">
                <a:solidFill>
                  <a:schemeClr val="tx1"/>
                </a:solidFill>
                <a:latin typeface="+mj-lt"/>
              </a:defRPr>
            </a:lvl1pPr>
          </a:lstStyle>
          <a:p>
            <a:r>
              <a:rPr lang="en-US" dirty="0"/>
              <a:t>CLICK TO EDIT MASTER TITLE SLIDE</a:t>
            </a:r>
          </a:p>
        </p:txBody>
      </p:sp>
      <p:sp>
        <p:nvSpPr>
          <p:cNvPr id="3" name="Subtitle 2"/>
          <p:cNvSpPr>
            <a:spLocks noGrp="1"/>
          </p:cNvSpPr>
          <p:nvPr>
            <p:ph type="subTitle" idx="1"/>
          </p:nvPr>
        </p:nvSpPr>
        <p:spPr>
          <a:xfrm>
            <a:off x="339556" y="4266824"/>
            <a:ext cx="4114682" cy="666549"/>
          </a:xfrm>
        </p:spPr>
        <p:txBody>
          <a:bodyPr lIns="0" anchor="t">
            <a:normAutofit/>
          </a:bodyPr>
          <a:lstStyle>
            <a:lvl1pPr marL="0" indent="0" algn="l">
              <a:buNone/>
              <a:defRPr sz="2000" b="0">
                <a:solidFill>
                  <a:schemeClr val="tx1">
                    <a:lumMod val="50000"/>
                    <a:lumOff val="50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6" y="2642329"/>
            <a:ext cx="1152144"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10/1/24</a:t>
            </a:fld>
            <a:endParaRPr lang="en-US" dirty="0"/>
          </a:p>
        </p:txBody>
      </p:sp>
      <p:grpSp>
        <p:nvGrpSpPr>
          <p:cNvPr id="16" name="Group 15"/>
          <p:cNvGrpSpPr/>
          <p:nvPr userDrawn="1"/>
        </p:nvGrpSpPr>
        <p:grpSpPr>
          <a:xfrm>
            <a:off x="0" y="0"/>
            <a:ext cx="9144000" cy="397164"/>
            <a:chOff x="421830" y="1342659"/>
            <a:chExt cx="10018760" cy="290558"/>
          </a:xfrm>
        </p:grpSpPr>
        <p:sp>
          <p:nvSpPr>
            <p:cNvPr id="18" name="Rectangle 17"/>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Rectangle 22"/>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24" name="Picture 23">
            <a:extLst>
              <a:ext uri="{FF2B5EF4-FFF2-40B4-BE49-F238E27FC236}">
                <a16:creationId xmlns:a16="http://schemas.microsoft.com/office/drawing/2014/main" id="{61D60701-02B4-D540-911A-B01AC4D2CAEF}"/>
              </a:ext>
            </a:extLst>
          </p:cNvPr>
          <p:cNvPicPr>
            <a:picLocks noChangeAspect="1"/>
          </p:cNvPicPr>
          <p:nvPr userDrawn="1"/>
        </p:nvPicPr>
        <p:blipFill>
          <a:blip r:embed="rId2"/>
          <a:stretch>
            <a:fillRect/>
          </a:stretch>
        </p:blipFill>
        <p:spPr>
          <a:xfrm>
            <a:off x="6827793" y="6147742"/>
            <a:ext cx="2060466" cy="527423"/>
          </a:xfrm>
          <a:prstGeom prst="rect">
            <a:avLst/>
          </a:prstGeom>
        </p:spPr>
      </p:pic>
      <p:pic>
        <p:nvPicPr>
          <p:cNvPr id="25" name="Picture 24">
            <a:extLst>
              <a:ext uri="{FF2B5EF4-FFF2-40B4-BE49-F238E27FC236}">
                <a16:creationId xmlns:a16="http://schemas.microsoft.com/office/drawing/2014/main" id="{91D4C5F0-5180-6746-A503-097869B289A8}"/>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0114" t="18434" r="9658" b="19398"/>
          <a:stretch/>
        </p:blipFill>
        <p:spPr>
          <a:xfrm>
            <a:off x="228600" y="6175248"/>
            <a:ext cx="1447162" cy="530352"/>
          </a:xfrm>
          <a:prstGeom prst="rect">
            <a:avLst/>
          </a:prstGeom>
        </p:spPr>
      </p:pic>
    </p:spTree>
    <p:extLst>
      <p:ext uri="{BB962C8B-B14F-4D97-AF65-F5344CB8AC3E}">
        <p14:creationId xmlns:p14="http://schemas.microsoft.com/office/powerpoint/2010/main" val="1031835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Black">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39557" y="1028943"/>
            <a:ext cx="6519149" cy="1474115"/>
          </a:xfrm>
        </p:spPr>
        <p:txBody>
          <a:bodyPr lIns="0" anchor="b">
            <a:noAutofit/>
          </a:bodyPr>
          <a:lstStyle>
            <a:lvl1pPr algn="l">
              <a:defRPr sz="5400">
                <a:solidFill>
                  <a:schemeClr val="bg1"/>
                </a:solidFill>
                <a:latin typeface="+mj-lt"/>
              </a:defRPr>
            </a:lvl1pPr>
          </a:lstStyle>
          <a:p>
            <a:r>
              <a:rPr lang="en-US" dirty="0"/>
              <a:t>CLICK TO EDIT MASTER TITLE SLIDE</a:t>
            </a:r>
          </a:p>
        </p:txBody>
      </p:sp>
      <p:sp>
        <p:nvSpPr>
          <p:cNvPr id="3" name="Subtitle 2"/>
          <p:cNvSpPr>
            <a:spLocks noGrp="1"/>
          </p:cNvSpPr>
          <p:nvPr>
            <p:ph type="subTitle" idx="1"/>
          </p:nvPr>
        </p:nvSpPr>
        <p:spPr>
          <a:xfrm>
            <a:off x="339556" y="4266824"/>
            <a:ext cx="4114682" cy="666549"/>
          </a:xfrm>
        </p:spPr>
        <p:txBody>
          <a:bodyPr lIns="0" anchor="t">
            <a:normAutofit/>
          </a:bodyPr>
          <a:lstStyle>
            <a:lvl1pPr marL="0" indent="0" algn="l">
              <a:buNone/>
              <a:defRPr sz="2000" b="0">
                <a:solidFill>
                  <a:schemeClr val="bg1">
                    <a:lumMod val="8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5" y="2642329"/>
            <a:ext cx="1152144"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10/1/24</a:t>
            </a:fld>
            <a:endParaRPr lang="en-US" dirty="0"/>
          </a:p>
        </p:txBody>
      </p:sp>
      <p:grpSp>
        <p:nvGrpSpPr>
          <p:cNvPr id="17" name="Group 16"/>
          <p:cNvGrpSpPr/>
          <p:nvPr userDrawn="1"/>
        </p:nvGrpSpPr>
        <p:grpSpPr>
          <a:xfrm>
            <a:off x="0" y="0"/>
            <a:ext cx="9144000" cy="397164"/>
            <a:chOff x="421830" y="1342659"/>
            <a:chExt cx="10018760" cy="290558"/>
          </a:xfrm>
        </p:grpSpPr>
        <p:sp>
          <p:nvSpPr>
            <p:cNvPr id="5" name="Rectangle 4"/>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ectangle 18"/>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20" name="Picture 19">
            <a:extLst>
              <a:ext uri="{FF2B5EF4-FFF2-40B4-BE49-F238E27FC236}">
                <a16:creationId xmlns:a16="http://schemas.microsoft.com/office/drawing/2014/main" id="{E043A7D3-71BA-0D4D-8606-264CCB5C2EA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188" t="23400" r="7817" b="25400"/>
          <a:stretch/>
        </p:blipFill>
        <p:spPr>
          <a:xfrm>
            <a:off x="345440" y="5907024"/>
            <a:ext cx="5101781" cy="722376"/>
          </a:xfrm>
          <a:prstGeom prst="rect">
            <a:avLst/>
          </a:prstGeom>
        </p:spPr>
      </p:pic>
    </p:spTree>
    <p:extLst>
      <p:ext uri="{BB962C8B-B14F-4D97-AF65-F5344CB8AC3E}">
        <p14:creationId xmlns:p14="http://schemas.microsoft.com/office/powerpoint/2010/main" val="2528952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Black with Image">
    <p:bg>
      <p:bgPr>
        <a:solidFill>
          <a:schemeClr val="tx1"/>
        </a:solidFill>
        <a:effectLst/>
      </p:bgPr>
    </p:bg>
    <p:spTree>
      <p:nvGrpSpPr>
        <p:cNvPr id="1" name=""/>
        <p:cNvGrpSpPr/>
        <p:nvPr/>
      </p:nvGrpSpPr>
      <p:grpSpPr>
        <a:xfrm>
          <a:off x="0" y="0"/>
          <a:ext cx="0" cy="0"/>
          <a:chOff x="0" y="0"/>
          <a:chExt cx="0" cy="0"/>
        </a:xfrm>
      </p:grpSpPr>
      <p:sp>
        <p:nvSpPr>
          <p:cNvPr id="18" name="Picture Placeholder 5"/>
          <p:cNvSpPr>
            <a:spLocks noGrp="1"/>
          </p:cNvSpPr>
          <p:nvPr>
            <p:ph type="pic" sz="quarter" idx="13"/>
          </p:nvPr>
        </p:nvSpPr>
        <p:spPr>
          <a:xfrm>
            <a:off x="4570594" y="397164"/>
            <a:ext cx="4573407" cy="6460836"/>
          </a:xfrm>
        </p:spPr>
        <p:txBody>
          <a:bodyPr/>
          <a:lstStyle/>
          <a:p>
            <a:r>
              <a:rPr lang="en-US"/>
              <a:t>Click icon to add picture</a:t>
            </a:r>
          </a:p>
        </p:txBody>
      </p:sp>
      <p:sp>
        <p:nvSpPr>
          <p:cNvPr id="2" name="Title 1"/>
          <p:cNvSpPr>
            <a:spLocks noGrp="1"/>
          </p:cNvSpPr>
          <p:nvPr>
            <p:ph type="ctrTitle" hasCustomPrompt="1"/>
          </p:nvPr>
        </p:nvSpPr>
        <p:spPr>
          <a:xfrm>
            <a:off x="339556" y="595747"/>
            <a:ext cx="4114682" cy="1907312"/>
          </a:xfrm>
        </p:spPr>
        <p:txBody>
          <a:bodyPr lIns="0" anchor="b">
            <a:noAutofit/>
          </a:bodyPr>
          <a:lstStyle>
            <a:lvl1pPr algn="l">
              <a:defRPr sz="4400">
                <a:solidFill>
                  <a:schemeClr val="bg1"/>
                </a:solidFill>
                <a:latin typeface="+mj-lt"/>
              </a:defRPr>
            </a:lvl1pPr>
          </a:lstStyle>
          <a:p>
            <a:r>
              <a:rPr lang="en-US" dirty="0"/>
              <a:t>CLICK TO EDIT MASTER TITLE SLIDE</a:t>
            </a:r>
          </a:p>
        </p:txBody>
      </p:sp>
      <p:sp>
        <p:nvSpPr>
          <p:cNvPr id="3" name="Subtitle 2"/>
          <p:cNvSpPr>
            <a:spLocks noGrp="1"/>
          </p:cNvSpPr>
          <p:nvPr>
            <p:ph type="subTitle" idx="1"/>
          </p:nvPr>
        </p:nvSpPr>
        <p:spPr>
          <a:xfrm>
            <a:off x="339556" y="4266824"/>
            <a:ext cx="4114682" cy="666549"/>
          </a:xfrm>
        </p:spPr>
        <p:txBody>
          <a:bodyPr lIns="0" anchor="t">
            <a:normAutofit/>
          </a:bodyPr>
          <a:lstStyle>
            <a:lvl1pPr marL="0" indent="0" algn="l">
              <a:buNone/>
              <a:defRPr sz="2000" b="0">
                <a:solidFill>
                  <a:schemeClr val="bg1">
                    <a:lumMod val="8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a:xfrm>
            <a:off x="339555" y="2642329"/>
            <a:ext cx="1152144" cy="377962"/>
          </a:xfrm>
          <a:prstGeom prst="rect">
            <a:avLst/>
          </a:prstGeom>
          <a:solidFill>
            <a:schemeClr val="accent1"/>
          </a:solidFill>
        </p:spPr>
        <p:txBody>
          <a:bodyPr/>
          <a:lstStyle>
            <a:lvl1pPr>
              <a:defRPr sz="110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A318C6E2-4AA5-436E-9815-715E9B2235FA}" type="datetime1">
              <a:rPr lang="en-US" smtClean="0"/>
              <a:t>10/1/24</a:t>
            </a:fld>
            <a:endParaRPr lang="en-US" dirty="0"/>
          </a:p>
        </p:txBody>
      </p:sp>
      <p:grpSp>
        <p:nvGrpSpPr>
          <p:cNvPr id="15" name="Group 14"/>
          <p:cNvGrpSpPr/>
          <p:nvPr userDrawn="1"/>
        </p:nvGrpSpPr>
        <p:grpSpPr>
          <a:xfrm>
            <a:off x="0" y="0"/>
            <a:ext cx="9144000" cy="397164"/>
            <a:chOff x="421830" y="1342659"/>
            <a:chExt cx="10018760" cy="290558"/>
          </a:xfrm>
        </p:grpSpPr>
        <p:sp>
          <p:nvSpPr>
            <p:cNvPr id="20" name="Rectangle 19"/>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Rectangle 22"/>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4" name="Rectangle 23"/>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25" name="Picture 24">
            <a:extLst>
              <a:ext uri="{FF2B5EF4-FFF2-40B4-BE49-F238E27FC236}">
                <a16:creationId xmlns:a16="http://schemas.microsoft.com/office/drawing/2014/main" id="{CA074264-89A3-EE45-B1CD-741D4DBB62E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188" t="23400" r="7817" b="25400"/>
          <a:stretch/>
        </p:blipFill>
        <p:spPr>
          <a:xfrm>
            <a:off x="375921" y="5907024"/>
            <a:ext cx="4145280" cy="586942"/>
          </a:xfrm>
          <a:prstGeom prst="rect">
            <a:avLst/>
          </a:prstGeom>
        </p:spPr>
      </p:pic>
    </p:spTree>
    <p:extLst>
      <p:ext uri="{BB962C8B-B14F-4D97-AF65-F5344CB8AC3E}">
        <p14:creationId xmlns:p14="http://schemas.microsoft.com/office/powerpoint/2010/main" val="350106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66323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_Menu">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p:cNvSpPr>
            <a:spLocks noGrp="1"/>
          </p:cNvSpPr>
          <p:nvPr>
            <p:ph type="body" sz="quarter" idx="13" hasCustomPrompt="1"/>
          </p:nvPr>
        </p:nvSpPr>
        <p:spPr>
          <a:xfrm>
            <a:off x="5555773" y="685060"/>
            <a:ext cx="1065644" cy="286052"/>
          </a:xfrm>
        </p:spPr>
        <p:txBody>
          <a:bodyPr anchor="ctr">
            <a:noAutofit/>
          </a:bodyPr>
          <a:lstStyle>
            <a:lvl1pPr marL="0" indent="0" algn="ctr">
              <a:buNone/>
              <a:defRPr sz="100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1</a:t>
            </a:r>
          </a:p>
        </p:txBody>
      </p:sp>
      <p:sp>
        <p:nvSpPr>
          <p:cNvPr id="9" name="Text Placeholder 7"/>
          <p:cNvSpPr>
            <a:spLocks noGrp="1"/>
          </p:cNvSpPr>
          <p:nvPr>
            <p:ph type="body" sz="quarter" idx="14" hasCustomPrompt="1"/>
          </p:nvPr>
        </p:nvSpPr>
        <p:spPr>
          <a:xfrm>
            <a:off x="6681169" y="685060"/>
            <a:ext cx="1065644" cy="286052"/>
          </a:xfrm>
        </p:spPr>
        <p:txBody>
          <a:bodyPr anchor="ctr">
            <a:noAutofit/>
          </a:bodyPr>
          <a:lstStyle>
            <a:lvl1pPr marL="0" indent="0" algn="ctr">
              <a:buNone/>
              <a:defRPr sz="1000" b="0" baseline="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2</a:t>
            </a:r>
          </a:p>
        </p:txBody>
      </p:sp>
      <p:sp>
        <p:nvSpPr>
          <p:cNvPr id="10" name="Text Placeholder 7"/>
          <p:cNvSpPr>
            <a:spLocks noGrp="1"/>
          </p:cNvSpPr>
          <p:nvPr>
            <p:ph type="body" sz="quarter" idx="15" hasCustomPrompt="1"/>
          </p:nvPr>
        </p:nvSpPr>
        <p:spPr>
          <a:xfrm>
            <a:off x="7806565" y="685060"/>
            <a:ext cx="1065644" cy="286052"/>
          </a:xfrm>
        </p:spPr>
        <p:txBody>
          <a:bodyPr anchor="ctr">
            <a:noAutofit/>
          </a:bodyPr>
          <a:lstStyle>
            <a:lvl1pPr marL="0" indent="0" algn="ctr">
              <a:buNone/>
              <a:defRPr sz="1000" b="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MENU ITEM 3</a:t>
            </a:r>
          </a:p>
        </p:txBody>
      </p:sp>
      <p:sp>
        <p:nvSpPr>
          <p:cNvPr id="4" name="Title 3"/>
          <p:cNvSpPr>
            <a:spLocks noGrp="1"/>
          </p:cNvSpPr>
          <p:nvPr>
            <p:ph type="title"/>
          </p:nvPr>
        </p:nvSpPr>
        <p:spPr>
          <a:xfrm>
            <a:off x="194914" y="434111"/>
            <a:ext cx="5284561" cy="895927"/>
          </a:xfrm>
        </p:spPr>
        <p:txBody>
          <a:bodyPr tIns="182880"/>
          <a:lstStyle>
            <a:lvl1pPr>
              <a:defRPr cap="all" baseline="0"/>
            </a:lvl1pPr>
          </a:lstStyle>
          <a:p>
            <a:r>
              <a:rPr lang="en-US"/>
              <a:t>Click to edit Master title style</a:t>
            </a:r>
            <a:endParaRPr lang="en-US" dirty="0"/>
          </a:p>
        </p:txBody>
      </p:sp>
    </p:spTree>
    <p:extLst>
      <p:ext uri="{BB962C8B-B14F-4D97-AF65-F5344CB8AC3E}">
        <p14:creationId xmlns:p14="http://schemas.microsoft.com/office/powerpoint/2010/main" val="1267036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94913" y="1709741"/>
            <a:ext cx="7049630" cy="2852737"/>
          </a:xfrm>
        </p:spPr>
        <p:txBody>
          <a:bodyPr anchor="b">
            <a:normAutofit/>
          </a:bodyPr>
          <a:lstStyle>
            <a:lvl1pPr algn="l">
              <a:defRPr sz="4000" baseline="0">
                <a:solidFill>
                  <a:schemeClr val="tx1"/>
                </a:solidFill>
              </a:defRPr>
            </a:lvl1pPr>
          </a:lstStyle>
          <a:p>
            <a:r>
              <a:rPr lang="en-US" dirty="0"/>
              <a:t>CLICK TO EDIT MASTER</a:t>
            </a:r>
            <a:br>
              <a:rPr lang="en-US" dirty="0"/>
            </a:br>
            <a:r>
              <a:rPr lang="en-US" dirty="0"/>
              <a:t>SECTION TITLE SLIDE</a:t>
            </a:r>
          </a:p>
        </p:txBody>
      </p:sp>
      <p:sp>
        <p:nvSpPr>
          <p:cNvPr id="3" name="Text Placeholder 2"/>
          <p:cNvSpPr>
            <a:spLocks noGrp="1"/>
          </p:cNvSpPr>
          <p:nvPr>
            <p:ph type="body" idx="1"/>
          </p:nvPr>
        </p:nvSpPr>
        <p:spPr>
          <a:xfrm>
            <a:off x="194913" y="4589466"/>
            <a:ext cx="7049630" cy="1500187"/>
          </a:xfrm>
        </p:spPr>
        <p:txBody>
          <a:bodyPr>
            <a:normAutofit/>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969021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Section Header_AL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20392" y="3727927"/>
            <a:ext cx="6577965" cy="1212056"/>
          </a:xfrm>
        </p:spPr>
        <p:txBody>
          <a:bodyPr anchor="b">
            <a:noAutofit/>
          </a:bodyPr>
          <a:lstStyle>
            <a:lvl1pPr algn="l">
              <a:defRPr sz="4000" baseline="0">
                <a:solidFill>
                  <a:schemeClr val="tx1"/>
                </a:solidFill>
                <a:latin typeface="+mj-lt"/>
              </a:defRPr>
            </a:lvl1pPr>
          </a:lstStyle>
          <a:p>
            <a:r>
              <a:rPr lang="en-US" dirty="0"/>
              <a:t>CLICK TO EDIT MASTER</a:t>
            </a:r>
            <a:br>
              <a:rPr lang="en-US" dirty="0"/>
            </a:br>
            <a:r>
              <a:rPr lang="en-US" dirty="0"/>
              <a:t>SECTION TITLE SLIDE OPTION 2</a:t>
            </a:r>
          </a:p>
        </p:txBody>
      </p:sp>
      <p:sp>
        <p:nvSpPr>
          <p:cNvPr id="3" name="Subtitle 2"/>
          <p:cNvSpPr>
            <a:spLocks noGrp="1"/>
          </p:cNvSpPr>
          <p:nvPr>
            <p:ph type="subTitle" idx="1"/>
          </p:nvPr>
        </p:nvSpPr>
        <p:spPr bwMode="gray">
          <a:xfrm>
            <a:off x="720392" y="4947816"/>
            <a:ext cx="6577965" cy="666549"/>
          </a:xfrm>
        </p:spPr>
        <p:txBody>
          <a:bodyPr anchor="t">
            <a:normAutofit/>
          </a:bodyPr>
          <a:lstStyle>
            <a:lvl1pPr marL="0" indent="0" algn="l">
              <a:buNone/>
              <a:defRPr sz="2400">
                <a:solidFill>
                  <a:schemeClr val="tx1">
                    <a:lumMod val="50000"/>
                    <a:lumOff val="50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grpSp>
        <p:nvGrpSpPr>
          <p:cNvPr id="16" name="Group 15"/>
          <p:cNvGrpSpPr/>
          <p:nvPr userDrawn="1"/>
        </p:nvGrpSpPr>
        <p:grpSpPr>
          <a:xfrm>
            <a:off x="0" y="0"/>
            <a:ext cx="9144000" cy="397164"/>
            <a:chOff x="421830" y="1342659"/>
            <a:chExt cx="10018760" cy="290558"/>
          </a:xfrm>
        </p:grpSpPr>
        <p:sp>
          <p:nvSpPr>
            <p:cNvPr id="17" name="Rectangle 16"/>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Rectangle 17"/>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ectangle 18"/>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5" name="Picture 14">
            <a:extLst>
              <a:ext uri="{FF2B5EF4-FFF2-40B4-BE49-F238E27FC236}">
                <a16:creationId xmlns:a16="http://schemas.microsoft.com/office/drawing/2014/main" id="{F031D293-784B-194D-B017-C76342FBDC7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466" t="25800" r="8375" b="26600"/>
          <a:stretch/>
        </p:blipFill>
        <p:spPr>
          <a:xfrm>
            <a:off x="619761" y="1925320"/>
            <a:ext cx="8280400" cy="1100969"/>
          </a:xfrm>
          <a:prstGeom prst="rect">
            <a:avLst/>
          </a:prstGeom>
        </p:spPr>
      </p:pic>
    </p:spTree>
    <p:extLst>
      <p:ext uri="{BB962C8B-B14F-4D97-AF65-F5344CB8AC3E}">
        <p14:creationId xmlns:p14="http://schemas.microsoft.com/office/powerpoint/2010/main" val="3642748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94914" y="434111"/>
            <a:ext cx="8677297" cy="895927"/>
          </a:xfrm>
        </p:spPr>
        <p:txBody>
          <a:bodyPr/>
          <a:lstStyle/>
          <a:p>
            <a:r>
              <a:rPr lang="en-US" dirty="0"/>
              <a:t>CLICK TO EDIT MASTER TITLE STYLE</a:t>
            </a:r>
          </a:p>
        </p:txBody>
      </p:sp>
      <p:sp>
        <p:nvSpPr>
          <p:cNvPr id="3" name="Content Placeholder 2"/>
          <p:cNvSpPr>
            <a:spLocks noGrp="1"/>
          </p:cNvSpPr>
          <p:nvPr>
            <p:ph sz="half" idx="1"/>
          </p:nvPr>
        </p:nvSpPr>
        <p:spPr>
          <a:xfrm>
            <a:off x="194913" y="1413164"/>
            <a:ext cx="4190141" cy="4590472"/>
          </a:xfrm>
        </p:spPr>
        <p:txBody>
          <a:bodyPr/>
          <a:lstStyle>
            <a:lvl1pPr marL="288918" indent="-288918">
              <a:spcBef>
                <a:spcPts val="800"/>
              </a:spcBef>
              <a:spcAft>
                <a:spcPts val="800"/>
              </a:spcAft>
              <a:buFont typeface="Wingdings" charset="2"/>
              <a:buChar char="§"/>
              <a:defRPr/>
            </a:lvl1pPr>
            <a:lvl2pPr marL="685783" indent="-228594">
              <a:spcBef>
                <a:spcPts val="800"/>
              </a:spcBef>
              <a:spcAft>
                <a:spcPts val="800"/>
              </a:spcAft>
              <a:buFont typeface="Wingdings" charset="2"/>
              <a:buChar char="§"/>
              <a:defRPr/>
            </a:lvl2pPr>
            <a:lvl3pPr marL="1142971" indent="-228594">
              <a:spcBef>
                <a:spcPts val="800"/>
              </a:spcBef>
              <a:spcAft>
                <a:spcPts val="800"/>
              </a:spcAft>
              <a:buFont typeface="Wingdings" charset="2"/>
              <a:buChar char="§"/>
              <a:defRPr/>
            </a:lvl3pPr>
            <a:lvl4pPr marL="1600160" indent="-228594">
              <a:spcBef>
                <a:spcPts val="800"/>
              </a:spcBef>
              <a:spcAft>
                <a:spcPts val="800"/>
              </a:spcAft>
              <a:buFont typeface="Wingdings" charset="2"/>
              <a:buChar char="§"/>
              <a:defRPr/>
            </a:lvl4pPr>
            <a:lvl5pPr marL="2057349" indent="-228594">
              <a:spcBef>
                <a:spcPts val="800"/>
              </a:spcBef>
              <a:spcAft>
                <a:spcPts val="800"/>
              </a:spcAft>
              <a:buFont typeface="Wingdings"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8245" y="1413164"/>
            <a:ext cx="4243965" cy="4590472"/>
          </a:xfrm>
        </p:spPr>
        <p:txBody>
          <a:bodyPr/>
          <a:lstStyle>
            <a:lvl1pPr marL="288918" indent="-288918">
              <a:spcBef>
                <a:spcPts val="800"/>
              </a:spcBef>
              <a:spcAft>
                <a:spcPts val="800"/>
              </a:spcAft>
              <a:buFont typeface="Wingdings" charset="2"/>
              <a:buChar char="§"/>
              <a:defRPr/>
            </a:lvl1pPr>
            <a:lvl2pPr marL="685783" indent="-228594">
              <a:spcBef>
                <a:spcPts val="800"/>
              </a:spcBef>
              <a:spcAft>
                <a:spcPts val="800"/>
              </a:spcAft>
              <a:buFont typeface="Wingdings" charset="2"/>
              <a:buChar char="§"/>
              <a:defRPr/>
            </a:lvl2pPr>
            <a:lvl3pPr marL="1142971" indent="-228594">
              <a:spcBef>
                <a:spcPts val="800"/>
              </a:spcBef>
              <a:spcAft>
                <a:spcPts val="800"/>
              </a:spcAft>
              <a:buFont typeface="Wingdings" charset="2"/>
              <a:buChar char="§"/>
              <a:defRPr/>
            </a:lvl3pPr>
            <a:lvl4pPr marL="1600160" indent="-228594">
              <a:spcBef>
                <a:spcPts val="800"/>
              </a:spcBef>
              <a:spcAft>
                <a:spcPts val="800"/>
              </a:spcAft>
              <a:buFont typeface="Wingdings" charset="2"/>
              <a:buChar char="§"/>
              <a:defRPr/>
            </a:lvl4pPr>
            <a:lvl5pPr marL="2057349" indent="-228594">
              <a:spcBef>
                <a:spcPts val="800"/>
              </a:spcBef>
              <a:spcAft>
                <a:spcPts val="800"/>
              </a:spcAft>
              <a:buFont typeface="Wingdings"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38516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94912" y="1396192"/>
            <a:ext cx="4214718" cy="670270"/>
          </a:xfrm>
        </p:spPr>
        <p:txBody>
          <a:bodyPr anchor="b">
            <a:noAutofit/>
          </a:bodyPr>
          <a:lstStyle>
            <a:lvl1pPr marL="0" indent="0">
              <a:buNone/>
              <a:defRPr sz="2800" b="1" baseline="0">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194912" y="2184402"/>
            <a:ext cx="4214718" cy="3846945"/>
          </a:xfrm>
        </p:spPr>
        <p:txBody>
          <a:bodyPr>
            <a:normAutofit/>
          </a:bodyPr>
          <a:lstStyle>
            <a:lvl1pPr marL="288918" indent="-288918">
              <a:spcBef>
                <a:spcPts val="800"/>
              </a:spcBef>
              <a:spcAft>
                <a:spcPts val="800"/>
              </a:spcAft>
              <a:buFont typeface="Wingdings" charset="2"/>
              <a:buChar char="§"/>
              <a:defRPr sz="2000"/>
            </a:lvl1pPr>
            <a:lvl2pPr marL="685783" indent="-228594">
              <a:spcBef>
                <a:spcPts val="800"/>
              </a:spcBef>
              <a:spcAft>
                <a:spcPts val="800"/>
              </a:spcAft>
              <a:buFont typeface="Wingdings" charset="2"/>
              <a:buChar char="§"/>
              <a:defRPr sz="1800"/>
            </a:lvl2pPr>
            <a:lvl3pPr marL="1142971" indent="-228594">
              <a:spcBef>
                <a:spcPts val="800"/>
              </a:spcBef>
              <a:spcAft>
                <a:spcPts val="800"/>
              </a:spcAft>
              <a:buFont typeface="Wingdings" charset="2"/>
              <a:buChar char="§"/>
              <a:defRPr sz="1600"/>
            </a:lvl3pPr>
            <a:lvl4pPr marL="1600160" indent="-228594">
              <a:spcBef>
                <a:spcPts val="800"/>
              </a:spcBef>
              <a:spcAft>
                <a:spcPts val="800"/>
              </a:spcAft>
              <a:buFont typeface="Wingdings" charset="2"/>
              <a:buChar char="§"/>
              <a:defRPr sz="1400"/>
            </a:lvl4pPr>
            <a:lvl5pPr marL="2057349" indent="-228594">
              <a:spcBef>
                <a:spcPts val="800"/>
              </a:spcBef>
              <a:spcAft>
                <a:spcPts val="800"/>
              </a:spcAft>
              <a:buFont typeface="Wingdings" charset="2"/>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77115" y="1396192"/>
            <a:ext cx="4195094" cy="670270"/>
          </a:xfrm>
        </p:spPr>
        <p:txBody>
          <a:bodyPr anchor="b">
            <a:normAutofit/>
          </a:bodyPr>
          <a:lstStyle>
            <a:lvl1pPr marL="0" indent="0">
              <a:buNone/>
              <a:defRPr sz="2800" b="1">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77115" y="2184402"/>
            <a:ext cx="4195094" cy="3846945"/>
          </a:xfrm>
        </p:spPr>
        <p:txBody>
          <a:bodyPr>
            <a:normAutofit/>
          </a:bodyPr>
          <a:lstStyle>
            <a:lvl1pPr marL="288918" indent="-288918">
              <a:spcBef>
                <a:spcPts val="800"/>
              </a:spcBef>
              <a:spcAft>
                <a:spcPts val="800"/>
              </a:spcAft>
              <a:buFont typeface="Wingdings" charset="2"/>
              <a:buChar char="§"/>
              <a:defRPr sz="2000"/>
            </a:lvl1pPr>
            <a:lvl2pPr marL="685783" indent="-228594">
              <a:spcBef>
                <a:spcPts val="800"/>
              </a:spcBef>
              <a:spcAft>
                <a:spcPts val="800"/>
              </a:spcAft>
              <a:buFont typeface="Wingdings" charset="2"/>
              <a:buChar char="§"/>
              <a:defRPr sz="1800"/>
            </a:lvl2pPr>
            <a:lvl3pPr marL="1142971" indent="-228594">
              <a:spcBef>
                <a:spcPts val="800"/>
              </a:spcBef>
              <a:spcAft>
                <a:spcPts val="800"/>
              </a:spcAft>
              <a:buFont typeface="Wingdings" charset="2"/>
              <a:buChar char="§"/>
              <a:defRPr sz="1600"/>
            </a:lvl3pPr>
            <a:lvl4pPr marL="1600160" indent="-228594">
              <a:spcBef>
                <a:spcPts val="800"/>
              </a:spcBef>
              <a:spcAft>
                <a:spcPts val="800"/>
              </a:spcAft>
              <a:buFont typeface="Wingdings" charset="2"/>
              <a:buChar char="§"/>
              <a:defRPr sz="1400"/>
            </a:lvl4pPr>
            <a:lvl5pPr marL="2057349" indent="-228594">
              <a:spcBef>
                <a:spcPts val="800"/>
              </a:spcBef>
              <a:spcAft>
                <a:spcPts val="800"/>
              </a:spcAft>
              <a:buFont typeface="Wingdings" charset="2"/>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itle 9"/>
          <p:cNvSpPr>
            <a:spLocks noGrp="1"/>
          </p:cNvSpPr>
          <p:nvPr>
            <p:ph type="title" hasCustomPrompt="1"/>
          </p:nvPr>
        </p:nvSpPr>
        <p:spPr>
          <a:xfrm>
            <a:off x="194914" y="434111"/>
            <a:ext cx="8677297" cy="895927"/>
          </a:xfrm>
        </p:spPr>
        <p:txBody>
          <a:bodyPr/>
          <a:lstStyle/>
          <a:p>
            <a:r>
              <a:rPr lang="en-US" dirty="0"/>
              <a:t>CLICK TO EDIT MASTER TITLE STYLE</a:t>
            </a:r>
          </a:p>
        </p:txBody>
      </p:sp>
    </p:spTree>
    <p:extLst>
      <p:ext uri="{BB962C8B-B14F-4D97-AF65-F5344CB8AC3E}">
        <p14:creationId xmlns:p14="http://schemas.microsoft.com/office/powerpoint/2010/main" val="519598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Tree>
    <p:extLst>
      <p:ext uri="{BB962C8B-B14F-4D97-AF65-F5344CB8AC3E}">
        <p14:creationId xmlns:p14="http://schemas.microsoft.com/office/powerpoint/2010/main" val="2708487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43165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blank" preserve="1">
  <p:cSld name="Blank_NoBkgr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spTree>
    <p:extLst>
      <p:ext uri="{BB962C8B-B14F-4D97-AF65-F5344CB8AC3E}">
        <p14:creationId xmlns:p14="http://schemas.microsoft.com/office/powerpoint/2010/main" val="1087678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xt or Quot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947555" y="1237675"/>
            <a:ext cx="3248891" cy="910202"/>
          </a:xfrm>
        </p:spPr>
        <p:txBody>
          <a:bodyPr anchor="b">
            <a:normAutofit/>
          </a:bodyPr>
          <a:lstStyle>
            <a:lvl1pPr algn="ctr">
              <a:defRPr sz="2800" cap="all" baseline="0"/>
            </a:lvl1pPr>
          </a:lstStyle>
          <a:p>
            <a:r>
              <a:rPr lang="en-US" dirty="0"/>
              <a:t>CONTEXT or THEME</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cxnSp>
        <p:nvCxnSpPr>
          <p:cNvPr id="12" name="Straight Connector 11"/>
          <p:cNvCxnSpPr/>
          <p:nvPr userDrawn="1"/>
        </p:nvCxnSpPr>
        <p:spPr>
          <a:xfrm>
            <a:off x="2947556" y="2244437"/>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a:off x="2947556" y="4668983"/>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 Placeholder 14"/>
          <p:cNvSpPr>
            <a:spLocks noGrp="1"/>
          </p:cNvSpPr>
          <p:nvPr>
            <p:ph type="body" sz="quarter" idx="13"/>
          </p:nvPr>
        </p:nvSpPr>
        <p:spPr>
          <a:xfrm>
            <a:off x="495300" y="2420360"/>
            <a:ext cx="8153400" cy="2114550"/>
          </a:xfrm>
        </p:spPr>
        <p:txBody>
          <a:bodyPr anchor="ctr">
            <a:normAutofit/>
          </a:bodyPr>
          <a:lstStyle>
            <a:lvl1pPr marL="0" indent="0" algn="ctr">
              <a:lnSpc>
                <a:spcPct val="100000"/>
              </a:lnSpc>
              <a:buNone/>
              <a:defRPr sz="2800"/>
            </a:lvl1pPr>
            <a:lvl2pPr algn="ctr">
              <a:defRPr/>
            </a:lvl2pPr>
            <a:lvl3pPr algn="ctr">
              <a:defRPr/>
            </a:lvl3pPr>
            <a:lvl4pPr algn="ctr">
              <a:defRPr/>
            </a:lvl4pPr>
            <a:lvl5pPr algn="ctr">
              <a:defRPr/>
            </a:lvl5pPr>
          </a:lstStyle>
          <a:p>
            <a:pPr lvl="0"/>
            <a:r>
              <a:rPr lang="en-US"/>
              <a:t>Click to edit Master text styles</a:t>
            </a:r>
          </a:p>
        </p:txBody>
      </p:sp>
      <p:sp>
        <p:nvSpPr>
          <p:cNvPr id="17" name="Text Placeholder 16"/>
          <p:cNvSpPr>
            <a:spLocks noGrp="1"/>
          </p:cNvSpPr>
          <p:nvPr>
            <p:ph type="body" sz="quarter" idx="14"/>
          </p:nvPr>
        </p:nvSpPr>
        <p:spPr>
          <a:xfrm>
            <a:off x="2947556" y="4784728"/>
            <a:ext cx="3248891" cy="27622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200" b="1"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a:t>Click to edit Master text styles</a:t>
            </a:r>
          </a:p>
        </p:txBody>
      </p:sp>
    </p:spTree>
    <p:extLst>
      <p:ext uri="{BB962C8B-B14F-4D97-AF65-F5344CB8AC3E}">
        <p14:creationId xmlns:p14="http://schemas.microsoft.com/office/powerpoint/2010/main" val="1064198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xt or Quote with Photo">
    <p:bg>
      <p:bgPr>
        <a:solidFill>
          <a:schemeClr val="bg2"/>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15"/>
          </p:nvPr>
        </p:nvSpPr>
        <p:spPr>
          <a:xfrm>
            <a:off x="4762714" y="495661"/>
            <a:ext cx="4080486" cy="5757360"/>
          </a:xfrm>
        </p:spPr>
        <p:txBody>
          <a:bodyPr/>
          <a:lstStyle/>
          <a:p>
            <a:r>
              <a:rPr lang="en-US"/>
              <a:t>Click icon to add picture</a:t>
            </a:r>
          </a:p>
        </p:txBody>
      </p:sp>
      <p:sp>
        <p:nvSpPr>
          <p:cNvPr id="2" name="Title 1"/>
          <p:cNvSpPr>
            <a:spLocks noGrp="1"/>
          </p:cNvSpPr>
          <p:nvPr>
            <p:ph type="title" hasCustomPrompt="1"/>
          </p:nvPr>
        </p:nvSpPr>
        <p:spPr>
          <a:xfrm>
            <a:off x="640773" y="1237675"/>
            <a:ext cx="3248891" cy="910202"/>
          </a:xfrm>
        </p:spPr>
        <p:txBody>
          <a:bodyPr anchor="b">
            <a:normAutofit/>
          </a:bodyPr>
          <a:lstStyle>
            <a:lvl1pPr algn="ctr">
              <a:defRPr sz="2800" cap="all" baseline="0"/>
            </a:lvl1pPr>
          </a:lstStyle>
          <a:p>
            <a:r>
              <a:rPr lang="en-US" dirty="0"/>
              <a:t>CONTEXT or THEME</a:t>
            </a:r>
          </a:p>
        </p:txBody>
      </p:sp>
      <p:sp>
        <p:nvSpPr>
          <p:cNvPr id="4" name="Footer Placeholder 3"/>
          <p:cNvSpPr>
            <a:spLocks noGrp="1"/>
          </p:cNvSpPr>
          <p:nvPr>
            <p:ph type="ftr" sz="quarter" idx="11"/>
          </p:nvPr>
        </p:nvSpPr>
        <p:spPr>
          <a:xfrm>
            <a:off x="194913" y="6335312"/>
            <a:ext cx="2915434" cy="250337"/>
          </a:xfrm>
          <a:prstGeom prst="rect">
            <a:avLst/>
          </a:prstGeom>
        </p:spPr>
        <p:txBody>
          <a:bodyPr/>
          <a:lstStyle/>
          <a:p>
            <a:r>
              <a:rPr lang="en-US"/>
              <a:t>PRESENTATION TITLE</a:t>
            </a:r>
            <a:endParaRPr lang="en-US" dirty="0"/>
          </a:p>
        </p:txBody>
      </p:sp>
      <p:sp>
        <p:nvSpPr>
          <p:cNvPr id="15" name="Text Placeholder 14"/>
          <p:cNvSpPr>
            <a:spLocks noGrp="1"/>
          </p:cNvSpPr>
          <p:nvPr>
            <p:ph type="body" sz="quarter" idx="13"/>
          </p:nvPr>
        </p:nvSpPr>
        <p:spPr>
          <a:xfrm>
            <a:off x="408708" y="2409026"/>
            <a:ext cx="3713021" cy="2114550"/>
          </a:xfrm>
        </p:spPr>
        <p:txBody>
          <a:bodyPr anchor="ctr">
            <a:normAutofit/>
          </a:bodyPr>
          <a:lstStyle>
            <a:lvl1pPr marL="0" indent="0" algn="ctr">
              <a:lnSpc>
                <a:spcPct val="100000"/>
              </a:lnSpc>
              <a:buNone/>
              <a:defRPr sz="2200"/>
            </a:lvl1pPr>
            <a:lvl2pPr algn="ctr">
              <a:defRPr/>
            </a:lvl2pPr>
            <a:lvl3pPr algn="ctr">
              <a:defRPr/>
            </a:lvl3pPr>
            <a:lvl4pPr algn="ctr">
              <a:defRPr/>
            </a:lvl4pPr>
            <a:lvl5pPr algn="ctr">
              <a:defRPr/>
            </a:lvl5pPr>
          </a:lstStyle>
          <a:p>
            <a:pPr lvl="0"/>
            <a:r>
              <a:rPr lang="en-US"/>
              <a:t>Click to edit Master text styles</a:t>
            </a:r>
          </a:p>
        </p:txBody>
      </p:sp>
      <p:sp>
        <p:nvSpPr>
          <p:cNvPr id="17" name="Text Placeholder 16"/>
          <p:cNvSpPr>
            <a:spLocks noGrp="1"/>
          </p:cNvSpPr>
          <p:nvPr>
            <p:ph type="body" sz="quarter" idx="14"/>
          </p:nvPr>
        </p:nvSpPr>
        <p:spPr>
          <a:xfrm>
            <a:off x="640773" y="4784728"/>
            <a:ext cx="3248891" cy="276225"/>
          </a:xfr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200" b="1" dirty="0" smtClean="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stStyle>
          <a:p>
            <a:pPr marL="0" lvl="0" algn="ctr"/>
            <a:r>
              <a:rPr lang="en-US"/>
              <a:t>Click to edit Master text styles</a:t>
            </a:r>
          </a:p>
        </p:txBody>
      </p:sp>
      <p:cxnSp>
        <p:nvCxnSpPr>
          <p:cNvPr id="10" name="Straight Connector 9"/>
          <p:cNvCxnSpPr/>
          <p:nvPr userDrawn="1"/>
        </p:nvCxnSpPr>
        <p:spPr>
          <a:xfrm>
            <a:off x="640774" y="2244437"/>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a:off x="640774" y="4668983"/>
            <a:ext cx="3248891" cy="0"/>
          </a:xfrm>
          <a:prstGeom prst="line">
            <a:avLst/>
          </a:prstGeom>
          <a:ln w="15875" cap="rnd">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317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Divider 1">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163243" y="3461559"/>
            <a:ext cx="6803231" cy="598488"/>
          </a:xfrm>
        </p:spPr>
        <p:txBody>
          <a:bodyPr>
            <a:normAutofit/>
          </a:bodyPr>
          <a:lstStyle>
            <a:lvl1pPr marL="0" indent="0" algn="ctr">
              <a:buNone/>
              <a:defRPr sz="3200"/>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15695" y="2382984"/>
            <a:ext cx="8677297" cy="1046019"/>
          </a:xfrm>
        </p:spPr>
        <p:txBody>
          <a:bodyPr anchor="b">
            <a:normAutofit/>
          </a:bodyPr>
          <a:lstStyle>
            <a:lvl1pPr algn="ctr">
              <a:defRPr sz="6000" cap="all" baseline="0"/>
            </a:lvl1pPr>
          </a:lstStyle>
          <a:p>
            <a:r>
              <a:rPr lang="en-US" dirty="0"/>
              <a:t>SECTION DIVIDER</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spTree>
    <p:extLst>
      <p:ext uri="{BB962C8B-B14F-4D97-AF65-F5344CB8AC3E}">
        <p14:creationId xmlns:p14="http://schemas.microsoft.com/office/powerpoint/2010/main" val="1467728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Divider 2">
    <p:bg>
      <p:bgPr>
        <a:solidFill>
          <a:schemeClr val="accent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163243" y="3461559"/>
            <a:ext cx="6803231" cy="598488"/>
          </a:xfrm>
        </p:spPr>
        <p:txBody>
          <a:bodyPr>
            <a:normAutofit/>
          </a:bodyPr>
          <a:lstStyle>
            <a:lvl1pPr marL="0" indent="0" algn="ctr">
              <a:buNone/>
              <a:defRPr sz="3200"/>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15695" y="2382984"/>
            <a:ext cx="8677297" cy="1046019"/>
          </a:xfrm>
        </p:spPr>
        <p:txBody>
          <a:bodyPr anchor="b">
            <a:normAutofit/>
          </a:bodyPr>
          <a:lstStyle>
            <a:lvl1pPr algn="ctr">
              <a:defRPr sz="6000" cap="all" baseline="0"/>
            </a:lvl1pPr>
          </a:lstStyle>
          <a:p>
            <a:r>
              <a:rPr lang="en-US" dirty="0"/>
              <a:t>SECTION DIVIDER</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spTree>
    <p:extLst>
      <p:ext uri="{BB962C8B-B14F-4D97-AF65-F5344CB8AC3E}">
        <p14:creationId xmlns:p14="http://schemas.microsoft.com/office/powerpoint/2010/main" val="3666828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ction Divider 3">
    <p:bg>
      <p:bgPr>
        <a:solidFill>
          <a:schemeClr val="tx1"/>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1163243" y="3461559"/>
            <a:ext cx="6803231" cy="598488"/>
          </a:xfrm>
        </p:spPr>
        <p:txBody>
          <a:bodyPr>
            <a:normAutofit/>
          </a:bodyPr>
          <a:lstStyle>
            <a:lvl1pPr marL="0" indent="0" algn="ctr">
              <a:buNone/>
              <a:defRPr sz="3200">
                <a:solidFill>
                  <a:schemeClr val="bg1"/>
                </a:solidFill>
              </a:defRPr>
            </a:lvl1pPr>
            <a:lvl2pPr marL="457189" indent="0" algn="ctr">
              <a:buNone/>
              <a:defRPr/>
            </a:lvl2pPr>
            <a:lvl3pPr marL="914377" indent="0" algn="ctr">
              <a:buNone/>
              <a:defRPr/>
            </a:lvl3pPr>
            <a:lvl4pPr marL="1371566" indent="0" algn="ctr">
              <a:buNone/>
              <a:defRPr/>
            </a:lvl4pPr>
            <a:lvl5pPr marL="1828754" indent="0" algn="ctr">
              <a:buNone/>
              <a:defRPr/>
            </a:lvl5pPr>
          </a:lstStyle>
          <a:p>
            <a:pPr lvl="0"/>
            <a:r>
              <a:rPr lang="en-US" dirty="0" err="1"/>
              <a:t>Subheader</a:t>
            </a:r>
            <a:endParaRPr lang="en-US" dirty="0"/>
          </a:p>
        </p:txBody>
      </p:sp>
      <p:sp>
        <p:nvSpPr>
          <p:cNvPr id="2" name="Title 1"/>
          <p:cNvSpPr>
            <a:spLocks noGrp="1"/>
          </p:cNvSpPr>
          <p:nvPr>
            <p:ph type="title" hasCustomPrompt="1"/>
          </p:nvPr>
        </p:nvSpPr>
        <p:spPr>
          <a:xfrm>
            <a:off x="215695" y="2382984"/>
            <a:ext cx="8677297" cy="1046019"/>
          </a:xfrm>
        </p:spPr>
        <p:txBody>
          <a:bodyPr anchor="b">
            <a:normAutofit/>
          </a:bodyPr>
          <a:lstStyle>
            <a:lvl1pPr algn="ctr">
              <a:defRPr sz="6000" cap="all" baseline="0">
                <a:solidFill>
                  <a:schemeClr val="bg1"/>
                </a:solidFill>
              </a:defRPr>
            </a:lvl1pPr>
          </a:lstStyle>
          <a:p>
            <a:r>
              <a:rPr lang="en-US" dirty="0"/>
              <a:t>SECTION DIVIDER</a:t>
            </a:r>
          </a:p>
        </p:txBody>
      </p:sp>
      <p:sp>
        <p:nvSpPr>
          <p:cNvPr id="4" name="Footer Placeholder 3"/>
          <p:cNvSpPr>
            <a:spLocks noGrp="1"/>
          </p:cNvSpPr>
          <p:nvPr>
            <p:ph type="ftr" sz="quarter" idx="11"/>
          </p:nvPr>
        </p:nvSpPr>
        <p:spPr>
          <a:xfrm>
            <a:off x="194913" y="6335312"/>
            <a:ext cx="3919888" cy="250337"/>
          </a:xfrm>
          <a:prstGeom prst="rect">
            <a:avLst/>
          </a:prstGeom>
        </p:spPr>
        <p:txBody>
          <a:bodyPr/>
          <a:lstStyle>
            <a:lvl1pPr>
              <a:defRPr>
                <a:solidFill>
                  <a:schemeClr val="bg1"/>
                </a:solidFill>
              </a:defRPr>
            </a:lvl1pPr>
          </a:lstStyle>
          <a:p>
            <a:r>
              <a:rPr lang="en-US"/>
              <a:t>PRESENTATION TITLE</a:t>
            </a:r>
            <a:endParaRPr lang="en-US" dirty="0"/>
          </a:p>
        </p:txBody>
      </p:sp>
    </p:spTree>
    <p:extLst>
      <p:ext uri="{BB962C8B-B14F-4D97-AF65-F5344CB8AC3E}">
        <p14:creationId xmlns:p14="http://schemas.microsoft.com/office/powerpoint/2010/main" val="303502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92920" y="4581239"/>
            <a:ext cx="8158163" cy="1597891"/>
          </a:xfrm>
          <a:noFill/>
        </p:spPr>
        <p:txBody>
          <a:bodyPr wrap="square" rtlCol="0" anchor="ctr" anchorCtr="1">
            <a:noAutofit/>
          </a:bodyPr>
          <a:lstStyle>
            <a:lvl1pPr algn="ctr">
              <a:defRPr lang="en-US" sz="1800" b="0" cap="all" baseline="0">
                <a:solidFill>
                  <a:schemeClr val="tx1"/>
                </a:solidFill>
                <a:latin typeface="Verdana" charset="0"/>
                <a:ea typeface="Verdana" charset="0"/>
                <a:cs typeface="Verdana" charset="0"/>
              </a:defRPr>
            </a:lvl1pPr>
          </a:lstStyle>
          <a:p>
            <a:pPr marL="0" lvl="0" algn="ctr">
              <a:lnSpc>
                <a:spcPct val="75000"/>
              </a:lnSpc>
            </a:pPr>
            <a:r>
              <a:rPr lang="en-US" dirty="0"/>
              <a:t>click to edit master closing slide</a:t>
            </a:r>
          </a:p>
        </p:txBody>
      </p:sp>
      <p:sp>
        <p:nvSpPr>
          <p:cNvPr id="10" name="Footer Placeholder 9"/>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grpSp>
        <p:nvGrpSpPr>
          <p:cNvPr id="8" name="Group 7"/>
          <p:cNvGrpSpPr/>
          <p:nvPr userDrawn="1"/>
        </p:nvGrpSpPr>
        <p:grpSpPr>
          <a:xfrm>
            <a:off x="0" y="0"/>
            <a:ext cx="9144000" cy="397164"/>
            <a:chOff x="421830" y="1342659"/>
            <a:chExt cx="10018760" cy="290558"/>
          </a:xfrm>
        </p:grpSpPr>
        <p:sp>
          <p:nvSpPr>
            <p:cNvPr id="12" name="Rectangle 11"/>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14"/>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15"/>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7" name="Picture 16">
            <a:extLst>
              <a:ext uri="{FF2B5EF4-FFF2-40B4-BE49-F238E27FC236}">
                <a16:creationId xmlns:a16="http://schemas.microsoft.com/office/drawing/2014/main" id="{8EF7CDFE-4AD1-C042-9B69-C29262BF44C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32857" y="411480"/>
            <a:ext cx="5683943" cy="4160520"/>
          </a:xfrm>
          <a:prstGeom prst="rect">
            <a:avLst/>
          </a:prstGeom>
        </p:spPr>
      </p:pic>
    </p:spTree>
    <p:extLst>
      <p:ext uri="{BB962C8B-B14F-4D97-AF65-F5344CB8AC3E}">
        <p14:creationId xmlns:p14="http://schemas.microsoft.com/office/powerpoint/2010/main" val="3269677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losing Slide_ALT">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hqprint">
            <a:extLst>
              <a:ext uri="{28A0092B-C50C-407E-A947-70E740481C1C}">
                <a14:useLocalDpi xmlns:a14="http://schemas.microsoft.com/office/drawing/2010/main" val="0"/>
              </a:ext>
            </a:extLst>
          </a:blip>
          <a:srcRect/>
          <a:stretch/>
        </p:blipFill>
        <p:spPr>
          <a:xfrm>
            <a:off x="0" y="0"/>
            <a:ext cx="9144000" cy="6858000"/>
          </a:xfrm>
          <a:prstGeom prst="rect">
            <a:avLst/>
          </a:prstGeom>
        </p:spPr>
      </p:pic>
      <p:sp>
        <p:nvSpPr>
          <p:cNvPr id="7" name="Footer Placeholder 6"/>
          <p:cNvSpPr>
            <a:spLocks noGrp="1"/>
          </p:cNvSpPr>
          <p:nvPr>
            <p:ph type="ftr" sz="quarter" idx="11"/>
          </p:nvPr>
        </p:nvSpPr>
        <p:spPr>
          <a:xfrm>
            <a:off x="194913" y="6335312"/>
            <a:ext cx="3919888" cy="250337"/>
          </a:xfrm>
          <a:prstGeom prst="rect">
            <a:avLst/>
          </a:prstGeom>
        </p:spPr>
        <p:txBody>
          <a:bodyPr/>
          <a:lstStyle/>
          <a:p>
            <a:r>
              <a:rPr lang="en-US"/>
              <a:t>PRESENTATION TITLE</a:t>
            </a:r>
            <a:endParaRPr lang="en-US" dirty="0"/>
          </a:p>
        </p:txBody>
      </p:sp>
      <p:grpSp>
        <p:nvGrpSpPr>
          <p:cNvPr id="10" name="Group 9"/>
          <p:cNvGrpSpPr/>
          <p:nvPr userDrawn="1"/>
        </p:nvGrpSpPr>
        <p:grpSpPr>
          <a:xfrm>
            <a:off x="0" y="0"/>
            <a:ext cx="9144000" cy="397164"/>
            <a:chOff x="421830" y="1342659"/>
            <a:chExt cx="10018760" cy="290558"/>
          </a:xfrm>
        </p:grpSpPr>
        <p:sp>
          <p:nvSpPr>
            <p:cNvPr id="12" name="Rectangle 11"/>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14"/>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15"/>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17" name="Title 1"/>
          <p:cNvSpPr>
            <a:spLocks noGrp="1"/>
          </p:cNvSpPr>
          <p:nvPr>
            <p:ph type="title" hasCustomPrompt="1"/>
          </p:nvPr>
        </p:nvSpPr>
        <p:spPr>
          <a:xfrm>
            <a:off x="492920" y="4581239"/>
            <a:ext cx="8158163" cy="1597891"/>
          </a:xfrm>
          <a:noFill/>
        </p:spPr>
        <p:txBody>
          <a:bodyPr wrap="square" rtlCol="0" anchor="ctr" anchorCtr="1">
            <a:noAutofit/>
          </a:bodyPr>
          <a:lstStyle>
            <a:lvl1pPr algn="ctr">
              <a:defRPr lang="en-US" sz="1800" b="0" cap="all" baseline="0">
                <a:solidFill>
                  <a:schemeClr val="bg1"/>
                </a:solidFill>
                <a:latin typeface="Verdana" charset="0"/>
                <a:ea typeface="Verdana" charset="0"/>
                <a:cs typeface="Verdana" charset="0"/>
              </a:defRPr>
            </a:lvl1pPr>
          </a:lstStyle>
          <a:p>
            <a:pPr marL="0" lvl="0" algn="ctr">
              <a:lnSpc>
                <a:spcPct val="75000"/>
              </a:lnSpc>
            </a:pPr>
            <a:r>
              <a:rPr lang="en-US" dirty="0"/>
              <a:t>click to edit master closing slide</a:t>
            </a:r>
          </a:p>
        </p:txBody>
      </p:sp>
      <p:pic>
        <p:nvPicPr>
          <p:cNvPr id="18" name="Picture 17">
            <a:extLst>
              <a:ext uri="{FF2B5EF4-FFF2-40B4-BE49-F238E27FC236}">
                <a16:creationId xmlns:a16="http://schemas.microsoft.com/office/drawing/2014/main" id="{710C154A-5454-7D48-9F68-2CA0B874964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722120" y="355600"/>
            <a:ext cx="5683943" cy="4160520"/>
          </a:xfrm>
          <a:prstGeom prst="rect">
            <a:avLst/>
          </a:prstGeom>
        </p:spPr>
      </p:pic>
    </p:spTree>
    <p:extLst>
      <p:ext uri="{BB962C8B-B14F-4D97-AF65-F5344CB8AC3E}">
        <p14:creationId xmlns:p14="http://schemas.microsoft.com/office/powerpoint/2010/main" val="3722082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1_Chapter Opener">
    <p:spTree>
      <p:nvGrpSpPr>
        <p:cNvPr id="1" name=""/>
        <p:cNvGrpSpPr/>
        <p:nvPr/>
      </p:nvGrpSpPr>
      <p:grpSpPr>
        <a:xfrm>
          <a:off x="0" y="0"/>
          <a:ext cx="0" cy="0"/>
          <a:chOff x="0" y="0"/>
          <a:chExt cx="0" cy="0"/>
        </a:xfrm>
      </p:grpSpPr>
      <p:sp>
        <p:nvSpPr>
          <p:cNvPr id="14" name="Title 13"/>
          <p:cNvSpPr>
            <a:spLocks noGrp="1"/>
          </p:cNvSpPr>
          <p:nvPr>
            <p:ph type="title"/>
          </p:nvPr>
        </p:nvSpPr>
        <p:spPr>
          <a:xfrm>
            <a:off x="457200" y="215372"/>
            <a:ext cx="8229600" cy="621792"/>
          </a:xfrm>
        </p:spPr>
        <p:txBody>
          <a:bodyPr anchor="t" anchorCtr="0"/>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5" name="Date Placeholder 14"/>
          <p:cNvSpPr>
            <a:spLocks noGrp="1"/>
          </p:cNvSpPr>
          <p:nvPr>
            <p:ph type="dt" sz="half" idx="16"/>
          </p:nvPr>
        </p:nvSpPr>
        <p:spPr>
          <a:xfrm>
            <a:off x="6335713" y="113072"/>
            <a:ext cx="2133600" cy="182880"/>
          </a:xfrm>
          <a:prstGeom prst="rect">
            <a:avLst/>
          </a:prstGeom>
        </p:spPr>
        <p:txBody>
          <a:bodyPr/>
          <a:lstStyle/>
          <a:p>
            <a:fld id="{A9DF6EFB-3F44-496C-A842-1E0B3D3B975A}" type="datetimeFigureOut">
              <a:rPr lang="en-US" smtClean="0"/>
              <a:pPr/>
              <a:t>10/1/24</a:t>
            </a:fld>
            <a:endParaRPr lang="en-US" dirty="0"/>
          </a:p>
        </p:txBody>
      </p:sp>
      <p:sp>
        <p:nvSpPr>
          <p:cNvPr id="17" name="Slide Number Placeholder 16"/>
          <p:cNvSpPr>
            <a:spLocks noGrp="1"/>
          </p:cNvSpPr>
          <p:nvPr>
            <p:ph type="sldNum" sz="quarter" idx="17"/>
          </p:nvPr>
        </p:nvSpPr>
        <p:spPr/>
        <p:txBody>
          <a:bodyPr/>
          <a:lstStyle>
            <a:lvl1pPr>
              <a:defRPr sz="900"/>
            </a:lvl1pPr>
          </a:lstStyle>
          <a:p>
            <a:fld id="{200B2350-5261-4F5C-9DF5-EF0D264FC8D2}" type="slidenum">
              <a:rPr lang="en-US" smtClean="0"/>
              <a:pPr/>
              <a:t>‹#›</a:t>
            </a:fld>
            <a:endParaRPr lang="en-US" dirty="0"/>
          </a:p>
        </p:txBody>
      </p:sp>
      <p:sp>
        <p:nvSpPr>
          <p:cNvPr id="18" name="Footer Placeholder 17"/>
          <p:cNvSpPr>
            <a:spLocks noGrp="1"/>
          </p:cNvSpPr>
          <p:nvPr>
            <p:ph type="ftr" sz="quarter" idx="18"/>
          </p:nvPr>
        </p:nvSpPr>
        <p:spPr/>
        <p:txBody>
          <a:bodyPr/>
          <a:lstStyle/>
          <a:p>
            <a:endParaRPr lang="en-US" dirty="0"/>
          </a:p>
        </p:txBody>
      </p:sp>
      <p:sp>
        <p:nvSpPr>
          <p:cNvPr id="27" name="Text Placeholder 25"/>
          <p:cNvSpPr>
            <a:spLocks noGrp="1"/>
          </p:cNvSpPr>
          <p:nvPr>
            <p:ph type="body" sz="quarter" idx="19" hasCustomPrompt="1"/>
          </p:nvPr>
        </p:nvSpPr>
        <p:spPr>
          <a:xfrm>
            <a:off x="5007428" y="6428232"/>
            <a:ext cx="3657600" cy="201168"/>
          </a:xfrm>
        </p:spPr>
        <p:txBody>
          <a:bodyPr anchor="ctr" anchorCtr="0"/>
          <a:lstStyle>
            <a:lvl1pPr marL="0" marR="0" indent="0" algn="r" defTabSz="914400" rtl="0" eaLnBrk="1" fontAlgn="auto" latinLnBrk="0" hangingPunct="1">
              <a:lnSpc>
                <a:spcPct val="100000"/>
              </a:lnSpc>
              <a:spcBef>
                <a:spcPts val="0"/>
              </a:spcBef>
              <a:spcAft>
                <a:spcPts val="0"/>
              </a:spcAft>
              <a:buClrTx/>
              <a:buSzTx/>
              <a:buFontTx/>
              <a:buNone/>
              <a:tabLst/>
              <a:defRPr kumimoji="0" lang="en-US" altLang="en-US" sz="800" b="1" i="0" u="none" strike="noStrike" kern="120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Pearson Canada Inc.</a:t>
            </a:r>
            <a:endParaRPr kumimoji="0" lang="en-US" altLang="en-US" sz="1000" b="0" i="0" u="none" strike="noStrike" kern="1200" cap="none" spc="0" normalizeH="0" baseline="0" noProof="0" dirty="0">
              <a:ln>
                <a:noFill/>
              </a:ln>
              <a:solidFill>
                <a:schemeClr val="tx1"/>
              </a:solidFill>
              <a:effectLst/>
              <a:uLnTx/>
              <a:uFillTx/>
              <a:latin typeface="+mn-lt"/>
              <a:ea typeface="Verdana" panose="020B0604030504040204" pitchFamily="34" charset="0"/>
              <a:cs typeface="Verdana" panose="020B0604030504040204" pitchFamily="34" charset="0"/>
            </a:endParaRPr>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41007659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16" name="Text Placeholder 15"/>
          <p:cNvSpPr>
            <a:spLocks noGrp="1"/>
          </p:cNvSpPr>
          <p:nvPr>
            <p:ph type="body" sz="quarter" idx="18"/>
          </p:nvPr>
        </p:nvSpPr>
        <p:spPr>
          <a:xfrm>
            <a:off x="457200" y="1457450"/>
            <a:ext cx="82296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p:cNvSpPr>
            <a:spLocks noGrp="1"/>
          </p:cNvSpPr>
          <p:nvPr>
            <p:ph type="body" idx="1" hasCustomPrompt="1"/>
          </p:nvPr>
        </p:nvSpPr>
        <p:spPr>
          <a:xfrm>
            <a:off x="45720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4" name="Content Placeholder 3"/>
          <p:cNvSpPr>
            <a:spLocks noGrp="1"/>
          </p:cNvSpPr>
          <p:nvPr>
            <p:ph sz="half" idx="2" hasCustomPrompt="1"/>
          </p:nvPr>
        </p:nvSpPr>
        <p:spPr>
          <a:xfrm>
            <a:off x="3291114" y="160194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5" name="Text Placeholder 4"/>
          <p:cNvSpPr>
            <a:spLocks noGrp="1"/>
          </p:cNvSpPr>
          <p:nvPr>
            <p:ph type="body" sz="quarter" idx="3" hasCustomPrompt="1"/>
          </p:nvPr>
        </p:nvSpPr>
        <p:spPr>
          <a:xfrm>
            <a:off x="6126480" y="1599180"/>
            <a:ext cx="2560320" cy="1463040"/>
          </a:xfrm>
          <a:solidFill>
            <a:srgbClr val="C5F3FF"/>
          </a:solidFill>
          <a:ln>
            <a:solidFill>
              <a:srgbClr val="007FA3"/>
            </a:solidFill>
          </a:ln>
        </p:spPr>
        <p:txBody>
          <a:bodyPr lIns="91440" tIns="91440" rIns="91440" bIns="91440" anchor="ctr" anchorCtr="0"/>
          <a:lstStyle>
            <a:lvl1pPr marL="0" indent="0" algn="ctr">
              <a:buFont typeface="Arial" pitchFamily="34" charse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Text</a:t>
            </a:r>
          </a:p>
        </p:txBody>
      </p:sp>
      <p:sp>
        <p:nvSpPr>
          <p:cNvPr id="6" name="Content Placeholder 5"/>
          <p:cNvSpPr>
            <a:spLocks noGrp="1"/>
          </p:cNvSpPr>
          <p:nvPr>
            <p:ph sz="quarter" idx="4" hasCustomPrompt="1"/>
          </p:nvPr>
        </p:nvSpPr>
        <p:spPr>
          <a:xfrm>
            <a:off x="457200"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0" name="Content Placeholder 3"/>
          <p:cNvSpPr>
            <a:spLocks noGrp="1"/>
          </p:cNvSpPr>
          <p:nvPr>
            <p:ph sz="half" idx="13" hasCustomPrompt="1"/>
          </p:nvPr>
        </p:nvSpPr>
        <p:spPr>
          <a:xfrm>
            <a:off x="3300984" y="3175650"/>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1" name="Content Placeholder 5"/>
          <p:cNvSpPr>
            <a:spLocks noGrp="1"/>
          </p:cNvSpPr>
          <p:nvPr>
            <p:ph sz="quarter" idx="14" hasCustomPrompt="1"/>
          </p:nvPr>
        </p:nvSpPr>
        <p:spPr>
          <a:xfrm>
            <a:off x="6128658" y="3171876"/>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2" name="Content Placeholder 5"/>
          <p:cNvSpPr>
            <a:spLocks noGrp="1"/>
          </p:cNvSpPr>
          <p:nvPr>
            <p:ph sz="quarter" idx="15" hasCustomPrompt="1"/>
          </p:nvPr>
        </p:nvSpPr>
        <p:spPr>
          <a:xfrm>
            <a:off x="457200"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3" name="Content Placeholder 5"/>
          <p:cNvSpPr>
            <a:spLocks noGrp="1"/>
          </p:cNvSpPr>
          <p:nvPr>
            <p:ph sz="quarter" idx="16" hasCustomPrompt="1"/>
          </p:nvPr>
        </p:nvSpPr>
        <p:spPr>
          <a:xfrm>
            <a:off x="3299388" y="4761264"/>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14" name="Content Placeholder 5"/>
          <p:cNvSpPr>
            <a:spLocks noGrp="1"/>
          </p:cNvSpPr>
          <p:nvPr>
            <p:ph sz="quarter" idx="17" hasCustomPrompt="1"/>
          </p:nvPr>
        </p:nvSpPr>
        <p:spPr>
          <a:xfrm>
            <a:off x="6128658" y="4764312"/>
            <a:ext cx="2560320" cy="1463040"/>
          </a:xfrm>
          <a:solidFill>
            <a:srgbClr val="C5F3FF"/>
          </a:solidFill>
          <a:ln>
            <a:solidFill>
              <a:srgbClr val="007FA3"/>
            </a:solidFill>
          </a:ln>
        </p:spPr>
        <p:txBody>
          <a:bodyPr lIns="91440" tIns="91440" rIns="91440" bIns="91440" anchor="ctr" anchorCtr="0"/>
          <a:lstStyle>
            <a:lvl1pPr algn="ctr">
              <a:buNone/>
              <a:defRPr sz="2200"/>
            </a:lvl1pPr>
            <a:lvl2pPr>
              <a:buNone/>
              <a:defRPr/>
            </a:lvl2pPr>
            <a:lvl3pPr>
              <a:buNone/>
              <a:defRPr/>
            </a:lvl3pPr>
            <a:lvl4pPr>
              <a:buNone/>
              <a:defRPr/>
            </a:lvl4pPr>
            <a:lvl5pPr>
              <a:buNone/>
              <a:defRPr/>
            </a:lvl5pPr>
          </a:lstStyle>
          <a:p>
            <a:pPr lvl="0"/>
            <a:r>
              <a:rPr lang="en-US" dirty="0"/>
              <a:t>Text</a:t>
            </a:r>
          </a:p>
        </p:txBody>
      </p:sp>
      <p:sp>
        <p:nvSpPr>
          <p:cNvPr id="8" name="Footer Placeholder 7"/>
          <p:cNvSpPr>
            <a:spLocks noGrp="1"/>
          </p:cNvSpPr>
          <p:nvPr>
            <p:ph type="ftr" sz="quarter" idx="11"/>
          </p:nvPr>
        </p:nvSpPr>
        <p:spPr/>
        <p:txBody>
          <a:bodyPr/>
          <a:lstStyle>
            <a:lvl1pPr>
              <a:buFont typeface="Arial" pitchFamily="34" charset="0"/>
              <a:buNone/>
              <a:defRPr/>
            </a:lvl1pPr>
          </a:lstStyle>
          <a:p>
            <a:endParaRPr lang="en-US"/>
          </a:p>
        </p:txBody>
      </p:sp>
      <p:sp>
        <p:nvSpPr>
          <p:cNvPr id="7" name="Date Placeholder 6"/>
          <p:cNvSpPr>
            <a:spLocks noGrp="1"/>
          </p:cNvSpPr>
          <p:nvPr>
            <p:ph type="dt" sz="half" idx="10"/>
          </p:nvPr>
        </p:nvSpPr>
        <p:spPr/>
        <p:txBody>
          <a:bodyPr/>
          <a:lstStyle/>
          <a:p>
            <a:fld id="{E0DBC1D4-5704-45BB-BA8B-9B7E98161C8B}" type="datetimeFigureOut">
              <a:rPr lang="en-US" smtClean="0"/>
              <a:pPr/>
              <a:t>10/1/24</a:t>
            </a:fld>
            <a:endParaRPr lang="en-US"/>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a:p>
        </p:txBody>
      </p:sp>
    </p:spTree>
    <p:extLst>
      <p:ext uri="{BB962C8B-B14F-4D97-AF65-F5344CB8AC3E}">
        <p14:creationId xmlns:p14="http://schemas.microsoft.com/office/powerpoint/2010/main" val="75186353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9456"/>
            <a:ext cx="8229600" cy="1097280"/>
          </a:xfrm>
        </p:spPr>
        <p:txBody>
          <a:bodyPr/>
          <a:lstStyle/>
          <a:p>
            <a:r>
              <a:rPr lang="en-US" dirty="0"/>
              <a:t>Click to edit Master title style</a:t>
            </a:r>
          </a:p>
        </p:txBody>
      </p:sp>
      <p:sp>
        <p:nvSpPr>
          <p:cNvPr id="3" name="Text Placeholder 2"/>
          <p:cNvSpPr>
            <a:spLocks noGrp="1"/>
          </p:cNvSpPr>
          <p:nvPr>
            <p:ph type="body" idx="1"/>
          </p:nvPr>
        </p:nvSpPr>
        <p:spPr>
          <a:xfrm>
            <a:off x="457200" y="1338942"/>
            <a:ext cx="4040982" cy="82391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457200" y="2162854"/>
            <a:ext cx="4040982" cy="160972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29150" y="1338942"/>
            <a:ext cx="4057650" cy="82391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4629150" y="2162854"/>
            <a:ext cx="4057650" cy="160972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0DBC1D4-5704-45BB-BA8B-9B7E98161C8B}" type="datetimeFigureOut">
              <a:rPr lang="en-US" smtClean="0"/>
              <a:pPr/>
              <a:t>10/1/24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404A2B-EE51-41D7-B879-F8E5E9C51050}" type="slidenum">
              <a:rPr lang="en-US" smtClean="0"/>
              <a:pPr/>
              <a:t>‹#›</a:t>
            </a:fld>
            <a:endParaRPr lang="en-US"/>
          </a:p>
        </p:txBody>
      </p:sp>
      <p:sp>
        <p:nvSpPr>
          <p:cNvPr id="10" name="Content Placeholder 3"/>
          <p:cNvSpPr>
            <a:spLocks noGrp="1"/>
          </p:cNvSpPr>
          <p:nvPr>
            <p:ph sz="half" idx="13"/>
          </p:nvPr>
        </p:nvSpPr>
        <p:spPr>
          <a:xfrm>
            <a:off x="457200" y="3935863"/>
            <a:ext cx="4042512" cy="18557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5"/>
          <p:cNvSpPr>
            <a:spLocks noGrp="1"/>
          </p:cNvSpPr>
          <p:nvPr>
            <p:ph sz="quarter" idx="14"/>
          </p:nvPr>
        </p:nvSpPr>
        <p:spPr>
          <a:xfrm>
            <a:off x="4637312" y="3946751"/>
            <a:ext cx="4049488" cy="18557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123184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Title and Content+Figures+Tabl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7" name="Content Placeholder 6"/>
          <p:cNvSpPr>
            <a:spLocks noGrp="1"/>
          </p:cNvSpPr>
          <p:nvPr>
            <p:ph sz="quarter" idx="14"/>
          </p:nvPr>
        </p:nvSpPr>
        <p:spPr>
          <a:xfrm>
            <a:off x="457200" y="5410200"/>
            <a:ext cx="8229600" cy="758952"/>
          </a:xfrm>
        </p:spPr>
        <p:txBody>
          <a:bodyPr/>
          <a:lstStyle>
            <a:lvl1pPr marL="0" indent="0">
              <a:buNone/>
              <a:defRPr/>
            </a:lvl1pPr>
          </a:lstStyle>
          <a:p>
            <a:pPr lvl="0"/>
            <a:endParaRPr lang="en-US" dirty="0"/>
          </a:p>
        </p:txBody>
      </p:sp>
      <p:sp>
        <p:nvSpPr>
          <p:cNvPr id="4" name="Content Placeholder 3"/>
          <p:cNvSpPr>
            <a:spLocks noGrp="1"/>
          </p:cNvSpPr>
          <p:nvPr>
            <p:ph sz="quarter" idx="13"/>
          </p:nvPr>
        </p:nvSpPr>
        <p:spPr>
          <a:xfrm>
            <a:off x="457200" y="4495800"/>
            <a:ext cx="8229600" cy="762000"/>
          </a:xfrm>
        </p:spPr>
        <p:txBody>
          <a:bodyPr/>
          <a:lstStyle>
            <a:lvl1pPr marL="0" indent="0">
              <a:buNone/>
              <a:defRPr/>
            </a:lvl1pPr>
          </a:lstStyle>
          <a:p>
            <a:pPr lvl="0"/>
            <a:endParaRPr lang="en-US" dirty="0"/>
          </a:p>
        </p:txBody>
      </p:sp>
      <p:sp>
        <p:nvSpPr>
          <p:cNvPr id="3" name="Content Placeholder 2"/>
          <p:cNvSpPr>
            <a:spLocks noGrp="1"/>
          </p:cNvSpPr>
          <p:nvPr>
            <p:ph idx="1"/>
          </p:nvPr>
        </p:nvSpPr>
        <p:spPr>
          <a:xfrm>
            <a:off x="457200" y="1600201"/>
            <a:ext cx="8229600" cy="762000"/>
          </a:xfrm>
        </p:spPr>
        <p:txBody>
          <a:bodyPr/>
          <a:lstStyle>
            <a:lvl1pPr marL="0" indent="0">
              <a:buClr>
                <a:srgbClr val="007FA3"/>
              </a:buClr>
              <a:buSzPct val="100000"/>
              <a:buNone/>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endParaRPr lang="en-US" dirty="0"/>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a:prstGeom prst="rect">
            <a:avLst/>
          </a:prstGeom>
        </p:spPr>
        <p:txBody>
          <a:bodyPr/>
          <a:lstStyle/>
          <a:p>
            <a:fld id="{A9DF6EFB-3F44-496C-A842-1E0B3D3B975A}" type="datetimeFigureOut">
              <a:rPr lang="en-US" smtClean="0"/>
              <a:pPr/>
              <a:t>10/1/24</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3219411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buNone/>
              <a:defRPr lang="en-US" sz="2000" kern="1200" dirty="0">
                <a:solidFill>
                  <a:schemeClr val="tx1"/>
                </a:solidFill>
                <a:latin typeface="+mn-lt"/>
                <a:ea typeface="+mn-ea"/>
                <a:cs typeface="+mn-cs"/>
              </a:defRPr>
            </a:lvl1pPr>
            <a:lvl2pPr marL="569913" indent="-285750">
              <a:buClr>
                <a:srgbClr val="007FA3"/>
              </a:buClr>
              <a:buNone/>
              <a:defRPr lang="en-US" sz="2000" kern="1200" dirty="0">
                <a:solidFill>
                  <a:schemeClr val="tx1"/>
                </a:solidFill>
                <a:latin typeface="+mn-lt"/>
                <a:ea typeface="+mn-ea"/>
                <a:cs typeface="+mn-cs"/>
              </a:defRPr>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marL="256032" lvl="0" indent="-256032" algn="l" defTabSz="914400" rtl="0" eaLnBrk="1" latinLnBrk="0" hangingPunct="1">
              <a:spcBef>
                <a:spcPts val="1500"/>
              </a:spcBef>
              <a:buClr>
                <a:srgbClr val="007FA3"/>
              </a:buClr>
              <a:buSzPct val="100000"/>
              <a:buFont typeface="Arial" panose="020B0604020202020204" pitchFamily="34" charset="0"/>
              <a:buChar char="•"/>
            </a:pPr>
            <a:r>
              <a:rPr lang="en-US" dirty="0"/>
              <a:t>Click to edit Master text styles</a:t>
            </a:r>
          </a:p>
          <a:p>
            <a:pPr marL="742950" lvl="1" indent="-285750" algn="l" defTabSz="914400" rtl="0" eaLnBrk="1" latinLnBrk="0" hangingPunct="1">
              <a:spcBef>
                <a:spcPts val="600"/>
              </a:spcBef>
              <a:buClr>
                <a:srgbClr val="007FA3"/>
              </a:buClr>
              <a:buFont typeface="Arial" panose="020B0604020202020204" pitchFamily="34" charset="0"/>
              <a:buChar char="–"/>
            </a:pPr>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10/1/24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9968629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2000"/>
            </a:lvl1pPr>
            <a:lvl2pPr>
              <a:defRPr sz="2000"/>
            </a:lvl2pPr>
            <a:lvl3pPr>
              <a:defRPr sz="2000"/>
            </a:lvl3pPr>
            <a:lvl4pPr>
              <a:defRPr sz="2000"/>
            </a:lvl4pPr>
            <a:lvl5pPr>
              <a:defRPr sz="20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10/1/24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0582392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10/1/24</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13" name="Slide Number Placeholder 4">
            <a:extLst>
              <a:ext uri="{FF2B5EF4-FFF2-40B4-BE49-F238E27FC236}">
                <a16:creationId xmlns:a16="http://schemas.microsoft.com/office/drawing/2014/main" id="{95845BF3-E4DD-448C-9362-7A5831AFEFF9}"/>
              </a:ext>
            </a:extLst>
          </p:cNvPr>
          <p:cNvSpPr txBox="1">
            <a:spLocks/>
          </p:cNvSpPr>
          <p:nvPr userDrawn="1"/>
        </p:nvSpPr>
        <p:spPr>
          <a:xfrm>
            <a:off x="7881256" y="6428232"/>
            <a:ext cx="914400" cy="201168"/>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lang="de-DE" altLang="en-US" sz="1200" b="0" kern="1200" noProof="0" dirty="0">
                <a:solidFill>
                  <a:schemeClr val="tx1"/>
                </a:solidFill>
                <a:latin typeface="Verdana" pitchFamily="34" charset="0"/>
                <a:ea typeface="Verdana" pitchFamily="34" charset="0"/>
                <a:cs typeface="Verdana" pitchFamily="34" charset="0"/>
              </a:rPr>
              <a:t>6 - </a:t>
            </a:r>
            <a:fld id="{876BFF75-7A20-4B22-803D-E5D1449082FD}" type="slidenum">
              <a:rPr lang="en-US" altLang="en-US" sz="1200" b="0" kern="1200" noProof="0" smtClean="0">
                <a:solidFill>
                  <a:schemeClr val="tx1"/>
                </a:solidFill>
                <a:latin typeface="Verdana" pitchFamily="34" charset="0"/>
                <a:ea typeface="Verdana" pitchFamily="34" charset="0"/>
                <a:cs typeface="Verdana"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lang="en-US" altLang="en-US" sz="1200" b="0" kern="1200" noProof="0" dirty="0">
              <a:solidFill>
                <a:schemeClr val="tx1"/>
              </a:solidFill>
              <a:latin typeface="Verdana" pitchFamily="34" charset="0"/>
              <a:ea typeface="Verdana" pitchFamily="34" charset="0"/>
              <a:cs typeface="Verdana" pitchFamily="34" charset="0"/>
            </a:endParaRPr>
          </a:p>
        </p:txBody>
      </p:sp>
      <p:sp>
        <p:nvSpPr>
          <p:cNvPr id="3" name="TextBox 2">
            <a:extLst>
              <a:ext uri="{FF2B5EF4-FFF2-40B4-BE49-F238E27FC236}">
                <a16:creationId xmlns:a16="http://schemas.microsoft.com/office/drawing/2014/main" id="{A362C0A3-BAC1-09D9-9B2B-B0080A55DEB7}"/>
              </a:ext>
            </a:extLst>
          </p:cNvPr>
          <p:cNvSpPr txBox="1"/>
          <p:nvPr userDrawn="1"/>
        </p:nvSpPr>
        <p:spPr>
          <a:xfrm>
            <a:off x="1600200" y="6429345"/>
            <a:ext cx="6553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2024 Pearson Canada Inc</a:t>
            </a:r>
            <a:r>
              <a:rPr lang="en-US" altLang="en-US" sz="700" b="1" dirty="0">
                <a:ea typeface="Verdana" panose="020B0604030504040204" pitchFamily="34" charset="0"/>
                <a:cs typeface="Verdana" panose="020B0604030504040204" pitchFamily="34" charset="0"/>
              </a:rPr>
              <a:t>.</a:t>
            </a:r>
          </a:p>
        </p:txBody>
      </p:sp>
    </p:spTree>
    <p:extLst>
      <p:ext uri="{BB962C8B-B14F-4D97-AF65-F5344CB8AC3E}">
        <p14:creationId xmlns:p14="http://schemas.microsoft.com/office/powerpoint/2010/main" val="565311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6" name="Picture 25"/>
          <p:cNvPicPr>
            <a:picLocks noChangeAspect="1"/>
          </p:cNvPicPr>
          <p:nvPr userDrawn="1"/>
        </p:nvPicPr>
        <p:blipFill>
          <a:blip r:embed="rId29"/>
          <a:stretch>
            <a:fillRect/>
          </a:stretch>
        </p:blipFill>
        <p:spPr>
          <a:xfrm>
            <a:off x="6827793" y="6147742"/>
            <a:ext cx="2060466" cy="527423"/>
          </a:xfrm>
          <a:prstGeom prst="rect">
            <a:avLst/>
          </a:prstGeom>
        </p:spPr>
      </p:pic>
      <p:sp>
        <p:nvSpPr>
          <p:cNvPr id="2" name="Title Placeholder 1"/>
          <p:cNvSpPr>
            <a:spLocks noGrp="1"/>
          </p:cNvSpPr>
          <p:nvPr>
            <p:ph type="title"/>
          </p:nvPr>
        </p:nvSpPr>
        <p:spPr>
          <a:xfrm>
            <a:off x="194914" y="434111"/>
            <a:ext cx="8677297" cy="895927"/>
          </a:xfrm>
          <a:prstGeom prst="rect">
            <a:avLst/>
          </a:prstGeom>
        </p:spPr>
        <p:txBody>
          <a:bodyPr vert="horz" lIns="91440" tIns="9144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94913" y="1413166"/>
            <a:ext cx="8677297" cy="45951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5" name="Group 14"/>
          <p:cNvGrpSpPr/>
          <p:nvPr userDrawn="1"/>
        </p:nvGrpSpPr>
        <p:grpSpPr>
          <a:xfrm>
            <a:off x="0" y="0"/>
            <a:ext cx="9144000" cy="397164"/>
            <a:chOff x="421830" y="1342659"/>
            <a:chExt cx="10018760" cy="290558"/>
          </a:xfrm>
        </p:grpSpPr>
        <p:sp>
          <p:nvSpPr>
            <p:cNvPr id="16" name="Rectangle 15"/>
            <p:cNvSpPr/>
            <p:nvPr userDrawn="1"/>
          </p:nvSpPr>
          <p:spPr>
            <a:xfrm>
              <a:off x="421831" y="1487938"/>
              <a:ext cx="2532791" cy="145279"/>
            </a:xfrm>
            <a:prstGeom prst="rect">
              <a:avLst/>
            </a:prstGeom>
            <a:solidFill>
              <a:srgbClr val="FFFF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7" name="Rectangle 16"/>
            <p:cNvSpPr/>
            <p:nvPr userDrawn="1"/>
          </p:nvSpPr>
          <p:spPr>
            <a:xfrm>
              <a:off x="2928836" y="1487938"/>
              <a:ext cx="2503918" cy="145279"/>
            </a:xfrm>
            <a:prstGeom prst="rect">
              <a:avLst/>
            </a:prstGeom>
            <a:solidFill>
              <a:srgbClr val="FFE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Rectangle 17"/>
            <p:cNvSpPr/>
            <p:nvPr userDrawn="1"/>
          </p:nvSpPr>
          <p:spPr>
            <a:xfrm>
              <a:off x="5432754" y="1487938"/>
              <a:ext cx="2503918" cy="145279"/>
            </a:xfrm>
            <a:prstGeom prst="rect">
              <a:avLst/>
            </a:prstGeom>
            <a:solidFill>
              <a:srgbClr val="FFD5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ectangle 18"/>
            <p:cNvSpPr/>
            <p:nvPr userDrawn="1"/>
          </p:nvSpPr>
          <p:spPr>
            <a:xfrm>
              <a:off x="7936672" y="1487938"/>
              <a:ext cx="2503918" cy="145279"/>
            </a:xfrm>
            <a:prstGeom prst="rect">
              <a:avLst/>
            </a:prstGeom>
            <a:solidFill>
              <a:srgbClr val="E4B4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p:cNvSpPr/>
            <p:nvPr userDrawn="1"/>
          </p:nvSpPr>
          <p:spPr>
            <a:xfrm>
              <a:off x="421830" y="1342659"/>
              <a:ext cx="10018759" cy="145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4" name="Picture 13">
            <a:extLst>
              <a:ext uri="{FF2B5EF4-FFF2-40B4-BE49-F238E27FC236}">
                <a16:creationId xmlns:a16="http://schemas.microsoft.com/office/drawing/2014/main" id="{1DEEB02D-A9CE-7C41-A3A6-27E44A035530}"/>
              </a:ext>
            </a:extLst>
          </p:cNvPr>
          <p:cNvPicPr>
            <a:picLocks noChangeAspect="1"/>
          </p:cNvPicPr>
          <p:nvPr userDrawn="1"/>
        </p:nvPicPr>
        <p:blipFill rotWithShape="1">
          <a:blip r:embed="rId30">
            <a:extLst>
              <a:ext uri="{28A0092B-C50C-407E-A947-70E740481C1C}">
                <a14:useLocalDpi xmlns:a14="http://schemas.microsoft.com/office/drawing/2010/main" val="0"/>
              </a:ext>
            </a:extLst>
          </a:blip>
          <a:srcRect l="10114" t="18434" r="9658" b="19398"/>
          <a:stretch/>
        </p:blipFill>
        <p:spPr>
          <a:xfrm>
            <a:off x="228600" y="6175248"/>
            <a:ext cx="1447162" cy="530352"/>
          </a:xfrm>
          <a:prstGeom prst="rect">
            <a:avLst/>
          </a:prstGeom>
        </p:spPr>
      </p:pic>
    </p:spTree>
    <p:extLst>
      <p:ext uri="{BB962C8B-B14F-4D97-AF65-F5344CB8AC3E}">
        <p14:creationId xmlns:p14="http://schemas.microsoft.com/office/powerpoint/2010/main" val="973700157"/>
      </p:ext>
    </p:extLst>
  </p:cSld>
  <p:clrMap bg1="lt1" tx1="dk1" bg2="lt2" tx2="dk2" accent1="accent1" accent2="accent2" accent3="accent3" accent4="accent4" accent5="accent5" accent6="accent6" hlink="hlink" folHlink="folHlink"/>
  <p:sldLayoutIdLst>
    <p:sldLayoutId id="2147483669" r:id="rId1"/>
    <p:sldLayoutId id="2147483714" r:id="rId2"/>
    <p:sldLayoutId id="2147483715" r:id="rId3"/>
    <p:sldLayoutId id="2147483716" r:id="rId4"/>
    <p:sldLayoutId id="2147483670" r:id="rId5"/>
    <p:sldLayoutId id="2147483693" r:id="rId6"/>
    <p:sldLayoutId id="2147483671" r:id="rId7"/>
    <p:sldLayoutId id="2147483690" r:id="rId8"/>
    <p:sldLayoutId id="2147483672" r:id="rId9"/>
    <p:sldLayoutId id="2147483673" r:id="rId10"/>
    <p:sldLayoutId id="2147483674" r:id="rId11"/>
    <p:sldLayoutId id="2147483675" r:id="rId12"/>
    <p:sldLayoutId id="2147483710" r:id="rId13"/>
    <p:sldLayoutId id="2147483717" r:id="rId14"/>
    <p:sldLayoutId id="2147483718" r:id="rId15"/>
    <p:sldLayoutId id="2147483719" r:id="rId16"/>
    <p:sldLayoutId id="2147483720" r:id="rId17"/>
    <p:sldLayoutId id="2147483721" r:id="rId18"/>
    <p:sldLayoutId id="2147483712" r:id="rId19"/>
    <p:sldLayoutId id="2147483713" r:id="rId20"/>
    <p:sldLayoutId id="2147483722" r:id="rId21"/>
    <p:sldLayoutId id="2147483723" r:id="rId22"/>
    <p:sldLayoutId id="2147483724" r:id="rId23"/>
    <p:sldLayoutId id="2147483725" r:id="rId24"/>
    <p:sldLayoutId id="2147483726" r:id="rId25"/>
    <p:sldLayoutId id="2147483727" r:id="rId26"/>
    <p:sldLayoutId id="2147483728" r:id="rId2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85000"/>
        </a:lnSpc>
        <a:spcBef>
          <a:spcPct val="0"/>
        </a:spcBef>
        <a:buNone/>
        <a:defRPr sz="3600" b="0" kern="1200" spc="51" baseline="0">
          <a:solidFill>
            <a:schemeClr val="tx1"/>
          </a:solidFill>
          <a:latin typeface="+mj-lt"/>
          <a:ea typeface="+mj-ea"/>
          <a:cs typeface="+mj-cs"/>
        </a:defRPr>
      </a:lvl1pPr>
    </p:titleStyle>
    <p:bodyStyle>
      <a:lvl1pPr marL="288918" indent="-288918" algn="l" defTabSz="914377" rtl="0" eaLnBrk="1" latinLnBrk="0" hangingPunct="1">
        <a:lnSpc>
          <a:spcPct val="100000"/>
        </a:lnSpc>
        <a:spcBef>
          <a:spcPts val="800"/>
        </a:spcBef>
        <a:spcAft>
          <a:spcPts val="800"/>
        </a:spcAft>
        <a:buClr>
          <a:schemeClr val="tx1"/>
        </a:buClr>
        <a:buSzPct val="85000"/>
        <a:buFont typeface="Wingdings" charset="2"/>
        <a:buChar char="§"/>
        <a:defRPr sz="2400" kern="1200">
          <a:solidFill>
            <a:schemeClr val="tx1"/>
          </a:solidFill>
          <a:latin typeface="+mn-lt"/>
          <a:ea typeface="+mn-ea"/>
          <a:cs typeface="+mn-cs"/>
        </a:defRPr>
      </a:lvl1pPr>
      <a:lvl2pPr marL="685783" indent="-228594" algn="l" defTabSz="914377" rtl="0" eaLnBrk="1" latinLnBrk="0" hangingPunct="1">
        <a:lnSpc>
          <a:spcPct val="100000"/>
        </a:lnSpc>
        <a:spcBef>
          <a:spcPts val="800"/>
        </a:spcBef>
        <a:spcAft>
          <a:spcPts val="800"/>
        </a:spcAft>
        <a:buClr>
          <a:schemeClr val="tx1"/>
        </a:buClr>
        <a:buSzPct val="85000"/>
        <a:buFont typeface="Wingdings" charset="2"/>
        <a:buChar char="§"/>
        <a:defRPr sz="2000" kern="1200">
          <a:solidFill>
            <a:schemeClr val="tx1"/>
          </a:solidFill>
          <a:latin typeface="+mn-lt"/>
          <a:ea typeface="+mn-ea"/>
          <a:cs typeface="+mn-cs"/>
        </a:defRPr>
      </a:lvl2pPr>
      <a:lvl3pPr marL="1142971" indent="-228594" algn="l" defTabSz="914377" rtl="0" eaLnBrk="1" latinLnBrk="0" hangingPunct="1">
        <a:lnSpc>
          <a:spcPct val="100000"/>
        </a:lnSpc>
        <a:spcBef>
          <a:spcPts val="800"/>
        </a:spcBef>
        <a:spcAft>
          <a:spcPts val="800"/>
        </a:spcAft>
        <a:buClr>
          <a:schemeClr val="tx1"/>
        </a:buClr>
        <a:buSzPct val="85000"/>
        <a:buFont typeface="Wingdings" charset="2"/>
        <a:buChar char="§"/>
        <a:defRPr sz="1800" kern="1200">
          <a:solidFill>
            <a:schemeClr val="tx1"/>
          </a:solidFill>
          <a:latin typeface="+mn-lt"/>
          <a:ea typeface="+mn-ea"/>
          <a:cs typeface="+mn-cs"/>
        </a:defRPr>
      </a:lvl3pPr>
      <a:lvl4pPr marL="1600160" indent="-228594" algn="l" defTabSz="914377"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4pPr>
      <a:lvl5pPr marL="2057349" indent="-228594" algn="l" defTabSz="914377" rtl="0" eaLnBrk="1" latinLnBrk="0" hangingPunct="1">
        <a:lnSpc>
          <a:spcPct val="100000"/>
        </a:lnSpc>
        <a:spcBef>
          <a:spcPts val="800"/>
        </a:spcBef>
        <a:spcAft>
          <a:spcPts val="800"/>
        </a:spcAft>
        <a:buClr>
          <a:schemeClr val="tx1"/>
        </a:buClr>
        <a:buSzPct val="85000"/>
        <a:buFont typeface="Wingdings" charset="2"/>
        <a:buChar char="§"/>
        <a:defRPr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9.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3.xml"/><Relationship Id="rId1" Type="http://schemas.openxmlformats.org/officeDocument/2006/relationships/slideLayout" Target="../slideLayouts/slideLayout5.xml"/><Relationship Id="rId6" Type="http://schemas.openxmlformats.org/officeDocument/2006/relationships/image" Target="../media/image11.wmf"/><Relationship Id="rId5" Type="http://schemas.openxmlformats.org/officeDocument/2006/relationships/oleObject" Target="../embeddings/oleObject3.bin"/><Relationship Id="rId4" Type="http://schemas.openxmlformats.org/officeDocument/2006/relationships/image" Target="../media/image10.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24.xml"/><Relationship Id="rId1" Type="http://schemas.openxmlformats.org/officeDocument/2006/relationships/slideLayout" Target="../slideLayouts/slideLayout5.xml"/><Relationship Id="rId5" Type="http://schemas.openxmlformats.org/officeDocument/2006/relationships/image" Target="../media/image13.png"/><Relationship Id="rId4" Type="http://schemas.openxmlformats.org/officeDocument/2006/relationships/image" Target="../media/image12.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image" Target="../media/image14.w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33.xml"/><Relationship Id="rId1" Type="http://schemas.openxmlformats.org/officeDocument/2006/relationships/slideLayout" Target="../slideLayouts/slideLayout2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36.xml"/><Relationship Id="rId1" Type="http://schemas.openxmlformats.org/officeDocument/2006/relationships/slideLayout" Target="../slideLayouts/slideLayout5.xml"/><Relationship Id="rId6" Type="http://schemas.openxmlformats.org/officeDocument/2006/relationships/image" Target="../media/image17.wmf"/><Relationship Id="rId5" Type="http://schemas.openxmlformats.org/officeDocument/2006/relationships/oleObject" Target="../embeddings/oleObject7.bin"/><Relationship Id="rId4" Type="http://schemas.openxmlformats.org/officeDocument/2006/relationships/image" Target="../media/image16.wmf"/></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0.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9557" y="585927"/>
            <a:ext cx="8262905" cy="1917132"/>
          </a:xfrm>
        </p:spPr>
        <p:txBody>
          <a:bodyPr/>
          <a:lstStyle/>
          <a:p>
            <a:r>
              <a:rPr lang="en-US" sz="4400" dirty="0"/>
              <a:t>Chapter 6</a:t>
            </a:r>
            <a:br>
              <a:rPr lang="en-US" sz="4400" dirty="0"/>
            </a:br>
            <a:r>
              <a:rPr lang="en-US" altLang="en-US" sz="4400" dirty="0">
                <a:solidFill>
                  <a:schemeClr val="accent2"/>
                </a:solidFill>
              </a:rPr>
              <a:t>Property, Plant, and Equipment, and Intangible Assets</a:t>
            </a:r>
            <a:endParaRPr lang="en-US" sz="4400" dirty="0"/>
          </a:p>
        </p:txBody>
      </p:sp>
      <p:sp>
        <p:nvSpPr>
          <p:cNvPr id="5" name="Subtitle 4">
            <a:extLst>
              <a:ext uri="{FF2B5EF4-FFF2-40B4-BE49-F238E27FC236}">
                <a16:creationId xmlns:a16="http://schemas.microsoft.com/office/drawing/2014/main" id="{E1113093-74B1-7B1E-F3AF-B2A9A38FF3E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14863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4" name="Text Placeholder 3"/>
          <p:cNvSpPr>
            <a:spLocks noGrp="1"/>
          </p:cNvSpPr>
          <p:nvPr>
            <p:ph type="body" sz="quarter" idx="4294967295"/>
          </p:nvPr>
        </p:nvSpPr>
        <p:spPr>
          <a:xfrm>
            <a:off x="0" y="1524000"/>
            <a:ext cx="8686800" cy="4648200"/>
          </a:xfrm>
        </p:spPr>
        <p:txBody>
          <a:bodyPr>
            <a:normAutofit fontScale="92500" lnSpcReduction="10000"/>
          </a:bodyPr>
          <a:lstStyle/>
          <a:p>
            <a:pPr marL="457200" indent="-457200">
              <a:buFont typeface="+mj-lt"/>
              <a:buAutoNum type="arabicPeriod"/>
            </a:pPr>
            <a:r>
              <a:rPr lang="en-US" altLang="en-US" b="1" dirty="0">
                <a:ea typeface="ＭＳ Ｐゴシック" pitchFamily="34" charset="-128"/>
              </a:rPr>
              <a:t>Explain </a:t>
            </a:r>
            <a:r>
              <a:rPr lang="en-US" altLang="en-US" dirty="0">
                <a:ea typeface="ＭＳ Ｐゴシック" pitchFamily="34" charset="-128"/>
              </a:rPr>
              <a:t>how to account for the cost of property, plant, and equipment</a:t>
            </a:r>
            <a:endParaRPr lang="en-US" dirty="0"/>
          </a:p>
          <a:p>
            <a:pPr marL="457200" indent="-457200">
              <a:buFont typeface="+mj-lt"/>
              <a:buAutoNum type="arabicPeriod"/>
            </a:pPr>
            <a:r>
              <a:rPr lang="en-US" altLang="en-US" b="1" dirty="0">
                <a:ea typeface="ＭＳ Ｐゴシック" pitchFamily="34" charset="-128"/>
              </a:rPr>
              <a:t>Explain </a:t>
            </a:r>
            <a:r>
              <a:rPr lang="en-US" altLang="en-US" dirty="0">
                <a:ea typeface="ＭＳ Ｐゴシック" pitchFamily="34" charset="-128"/>
              </a:rPr>
              <a:t>how to account depreciation on property, plant, and equipment</a:t>
            </a:r>
            <a:endParaRPr lang="en-US" dirty="0"/>
          </a:p>
          <a:p>
            <a:pPr marL="212732" indent="-457200">
              <a:buFont typeface="+mj-lt"/>
              <a:buAutoNum type="arabicPeriod"/>
            </a:pPr>
            <a:r>
              <a:rPr lang="en-US" altLang="en-US" b="1" dirty="0">
                <a:ea typeface="ＭＳ Ｐゴシック" pitchFamily="34" charset="-128"/>
              </a:rPr>
              <a:t>Explain </a:t>
            </a:r>
            <a:r>
              <a:rPr lang="en-US" altLang="en-US" dirty="0">
                <a:ea typeface="ＭＳ Ｐゴシック" pitchFamily="34" charset="-128"/>
              </a:rPr>
              <a:t>additional topics in accounting for long-lived tangible     assets</a:t>
            </a:r>
          </a:p>
          <a:p>
            <a:pPr marL="457200" indent="-457200">
              <a:buFont typeface="+mj-lt"/>
              <a:buAutoNum type="arabicPeriod"/>
            </a:pPr>
            <a:r>
              <a:rPr lang="en-US" altLang="en-US" b="1" dirty="0">
                <a:ea typeface="ＭＳ Ｐゴシック" pitchFamily="34" charset="-128"/>
              </a:rPr>
              <a:t>Explain </a:t>
            </a:r>
            <a:r>
              <a:rPr lang="en-US" altLang="en-US" dirty="0">
                <a:ea typeface="ＭＳ Ｐゴシック" pitchFamily="34" charset="-128"/>
              </a:rPr>
              <a:t>how to account for intangible assets and goodwill</a:t>
            </a:r>
            <a:endParaRPr lang="en-US" dirty="0"/>
          </a:p>
          <a:p>
            <a:pPr marL="457200" indent="-457200">
              <a:buFont typeface="+mj-lt"/>
              <a:buAutoNum type="arabicPeriod"/>
            </a:pPr>
            <a:r>
              <a:rPr lang="en-US" b="1" dirty="0">
                <a:ea typeface="ＭＳ Ｐゴシック" pitchFamily="34" charset="-128"/>
              </a:rPr>
              <a:t>Analyze</a:t>
            </a:r>
            <a:r>
              <a:rPr lang="en-US" altLang="en-US" b="1" dirty="0">
                <a:ea typeface="ＭＳ Ｐゴシック" pitchFamily="34" charset="-128"/>
              </a:rPr>
              <a:t> </a:t>
            </a:r>
            <a:r>
              <a:rPr lang="en-US" altLang="en-US" dirty="0">
                <a:ea typeface="ＭＳ Ｐゴシック" pitchFamily="34" charset="-128"/>
              </a:rPr>
              <a:t>a company’s return on assets</a:t>
            </a:r>
            <a:endParaRPr lang="en-US" dirty="0"/>
          </a:p>
          <a:p>
            <a:pPr marL="457200" indent="-457200">
              <a:buFont typeface="+mj-lt"/>
              <a:buAutoNum type="arabicPeriod"/>
            </a:pPr>
            <a:r>
              <a:rPr lang="en-US" altLang="en-US" b="1" dirty="0">
                <a:ea typeface="ＭＳ Ｐゴシック" pitchFamily="34" charset="-128"/>
              </a:rPr>
              <a:t>Analyze</a:t>
            </a:r>
            <a:r>
              <a:rPr lang="en-US" altLang="en-US" dirty="0">
                <a:ea typeface="ＭＳ Ｐゴシック" pitchFamily="34" charset="-128"/>
              </a:rPr>
              <a:t> the cash flow impact of long-lived asset transactions</a:t>
            </a:r>
          </a:p>
          <a:p>
            <a:pPr marL="457200" indent="-457200">
              <a:buFont typeface="+mj-lt"/>
              <a:buAutoNum type="arabicPeriod"/>
            </a:pPr>
            <a:r>
              <a:rPr lang="en-US" b="1" dirty="0">
                <a:ea typeface="ＭＳ Ｐゴシック" pitchFamily="34" charset="-128"/>
              </a:rPr>
              <a:t>Calculate </a:t>
            </a:r>
            <a:r>
              <a:rPr lang="en-US" dirty="0">
                <a:ea typeface="ＭＳ Ｐゴシック" pitchFamily="34" charset="-128"/>
              </a:rPr>
              <a:t>depreciation expense using Excel functions</a:t>
            </a:r>
            <a:endParaRPr lang="en-US" b="1" dirty="0"/>
          </a:p>
          <a:p>
            <a:endParaRPr lang="en-US" sz="2400" dirty="0"/>
          </a:p>
        </p:txBody>
      </p:sp>
      <p:sp>
        <p:nvSpPr>
          <p:cNvPr id="6" name="Text Placeholder 5"/>
          <p:cNvSpPr>
            <a:spLocks noGrp="1"/>
          </p:cNvSpPr>
          <p:nvPr>
            <p:ph type="body" sz="quarter" idx="4294967295"/>
          </p:nvPr>
        </p:nvSpPr>
        <p:spPr>
          <a:xfrm>
            <a:off x="5486400" y="6400800"/>
            <a:ext cx="3657600" cy="201613"/>
          </a:xfrm>
        </p:spPr>
        <p:txBody>
          <a:bodyPr/>
          <a:lstStyle/>
          <a:p>
            <a:pPr>
              <a:defRPr/>
            </a:pPr>
            <a:r>
              <a:rPr lang="en-US" altLang="en-US" sz="700" dirty="0"/>
              <a:t>.</a:t>
            </a:r>
          </a:p>
        </p:txBody>
      </p:sp>
      <p:sp>
        <p:nvSpPr>
          <p:cNvPr id="2" name="Rectangle 1"/>
          <p:cNvSpPr/>
          <p:nvPr/>
        </p:nvSpPr>
        <p:spPr>
          <a:xfrm>
            <a:off x="1127788" y="533400"/>
            <a:ext cx="6888425" cy="584775"/>
          </a:xfrm>
          <a:prstGeom prst="rect">
            <a:avLst/>
          </a:prstGeom>
        </p:spPr>
        <p:txBody>
          <a:bodyPr wrap="none">
            <a:spAutoFit/>
          </a:bodyPr>
          <a:lstStyle/>
          <a:p>
            <a:pPr algn="ctr"/>
            <a:r>
              <a:rPr lang="en-CA" sz="3200" b="1" dirty="0">
                <a:solidFill>
                  <a:schemeClr val="accent2"/>
                </a:solidFill>
              </a:rPr>
              <a:t>Chapter 6’s Learning Objectives</a:t>
            </a:r>
          </a:p>
        </p:txBody>
      </p:sp>
    </p:spTree>
    <p:extLst>
      <p:ext uri="{BB962C8B-B14F-4D97-AF65-F5344CB8AC3E}">
        <p14:creationId xmlns:p14="http://schemas.microsoft.com/office/powerpoint/2010/main" val="3990251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One</a:t>
            </a:r>
          </a:p>
        </p:txBody>
      </p:sp>
      <p:sp>
        <p:nvSpPr>
          <p:cNvPr id="3" name="Content Placeholder 2"/>
          <p:cNvSpPr>
            <a:spLocks noGrp="1"/>
          </p:cNvSpPr>
          <p:nvPr>
            <p:ph type="subTitle" idx="1"/>
          </p:nvPr>
        </p:nvSpPr>
        <p:spPr/>
        <p:txBody>
          <a:bodyPr>
            <a:normAutofit lnSpcReduction="10000"/>
          </a:bodyPr>
          <a:lstStyle/>
          <a:p>
            <a:r>
              <a:rPr lang="en-US" altLang="en-US" b="1" dirty="0">
                <a:ea typeface="ＭＳ Ｐゴシック" pitchFamily="34" charset="-128"/>
              </a:rPr>
              <a:t>Explain </a:t>
            </a:r>
            <a:r>
              <a:rPr lang="en-US" altLang="en-US" dirty="0">
                <a:ea typeface="ＭＳ Ｐゴシック" pitchFamily="34" charset="-128"/>
              </a:rPr>
              <a:t>how to account for the cost of property, plant, and equipment</a:t>
            </a:r>
            <a:endParaRPr lang="en-US" dirty="0"/>
          </a:p>
        </p:txBody>
      </p:sp>
    </p:spTree>
    <p:extLst>
      <p:ext uri="{BB962C8B-B14F-4D97-AF65-F5344CB8AC3E}">
        <p14:creationId xmlns:p14="http://schemas.microsoft.com/office/powerpoint/2010/main" val="3206949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CC614-9B33-44C4-9E44-57ACD000E0C4}"/>
              </a:ext>
            </a:extLst>
          </p:cNvPr>
          <p:cNvSpPr>
            <a:spLocks noGrp="1"/>
          </p:cNvSpPr>
          <p:nvPr>
            <p:ph type="title"/>
          </p:nvPr>
        </p:nvSpPr>
        <p:spPr/>
        <p:txBody>
          <a:bodyPr/>
          <a:lstStyle/>
          <a:p>
            <a:r>
              <a:rPr lang="en-US" altLang="en-US" dirty="0">
                <a:ea typeface="ＭＳ Ｐゴシック" pitchFamily="34" charset="-128"/>
              </a:rPr>
              <a:t>Long-Lived Assets </a:t>
            </a:r>
            <a:r>
              <a:rPr lang="en-US" altLang="en-US" sz="2000" b="0" dirty="0">
                <a:ea typeface="ＭＳ Ｐゴシック" pitchFamily="34" charset="-128"/>
              </a:rPr>
              <a:t>(1 of 2)</a:t>
            </a:r>
            <a:endParaRPr lang="en-AU" dirty="0"/>
          </a:p>
        </p:txBody>
      </p:sp>
      <p:graphicFrame>
        <p:nvGraphicFramePr>
          <p:cNvPr id="4" name="Table 4">
            <a:extLst>
              <a:ext uri="{FF2B5EF4-FFF2-40B4-BE49-F238E27FC236}">
                <a16:creationId xmlns:a16="http://schemas.microsoft.com/office/drawing/2014/main" id="{617E25DA-64C0-4FAC-999B-4AD1BF925E13}"/>
              </a:ext>
            </a:extLst>
          </p:cNvPr>
          <p:cNvGraphicFramePr>
            <a:graphicFrameLocks noGrp="1"/>
          </p:cNvGraphicFramePr>
          <p:nvPr>
            <p:ph idx="1"/>
            <p:extLst>
              <p:ext uri="{D42A27DB-BD31-4B8C-83A1-F6EECF244321}">
                <p14:modId xmlns:p14="http://schemas.microsoft.com/office/powerpoint/2010/main" val="1504993354"/>
              </p:ext>
            </p:extLst>
          </p:nvPr>
        </p:nvGraphicFramePr>
        <p:xfrm>
          <a:off x="991518" y="1981200"/>
          <a:ext cx="7161882" cy="3134376"/>
        </p:xfrm>
        <a:graphic>
          <a:graphicData uri="http://schemas.openxmlformats.org/drawingml/2006/table">
            <a:tbl>
              <a:tblPr firstRow="1" bandRow="1">
                <a:tableStyleId>{3B4B98B0-60AC-42C2-AFA5-B58CD77FA1E5}</a:tableStyleId>
              </a:tblPr>
              <a:tblGrid>
                <a:gridCol w="532482">
                  <a:extLst>
                    <a:ext uri="{9D8B030D-6E8A-4147-A177-3AD203B41FA5}">
                      <a16:colId xmlns:a16="http://schemas.microsoft.com/office/drawing/2014/main" val="875107969"/>
                    </a:ext>
                  </a:extLst>
                </a:gridCol>
                <a:gridCol w="2895600">
                  <a:extLst>
                    <a:ext uri="{9D8B030D-6E8A-4147-A177-3AD203B41FA5}">
                      <a16:colId xmlns:a16="http://schemas.microsoft.com/office/drawing/2014/main" val="2859022119"/>
                    </a:ext>
                  </a:extLst>
                </a:gridCol>
                <a:gridCol w="3733800">
                  <a:extLst>
                    <a:ext uri="{9D8B030D-6E8A-4147-A177-3AD203B41FA5}">
                      <a16:colId xmlns:a16="http://schemas.microsoft.com/office/drawing/2014/main" val="3326837280"/>
                    </a:ext>
                  </a:extLst>
                </a:gridCol>
              </a:tblGrid>
              <a:tr h="370840">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u="none" strike="noStrike" cap="none" normalizeH="0" baseline="0" dirty="0">
                          <a:ln>
                            <a:noFill/>
                          </a:ln>
                          <a:effectLst/>
                          <a:latin typeface="+mn-lt"/>
                        </a:rPr>
                        <a:t>Asset Account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u="none" strike="noStrike" cap="none" normalizeH="0" baseline="0" dirty="0">
                          <a:ln>
                            <a:noFill/>
                          </a:ln>
                          <a:effectLst/>
                          <a:latin typeface="+mn-lt"/>
                        </a:rPr>
                        <a:t>(Balance Sheet)</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AU"/>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u="none" strike="noStrike" cap="none" normalizeH="0" baseline="0" dirty="0">
                          <a:ln>
                            <a:noFill/>
                          </a:ln>
                          <a:effectLst/>
                          <a:latin typeface="+mn-lt"/>
                        </a:rPr>
                        <a:t>Related Expense Account</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u="none" strike="noStrike" cap="none" normalizeH="0" baseline="0" dirty="0">
                          <a:ln>
                            <a:noFill/>
                          </a:ln>
                          <a:effectLst/>
                          <a:latin typeface="+mn-lt"/>
                        </a:rPr>
                        <a:t>(Income Statement)</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0710508"/>
                  </a:ext>
                </a:extLst>
              </a:tr>
              <a:tr h="370840">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u="none" strike="noStrike" cap="none" normalizeH="0" baseline="0" dirty="0">
                          <a:ln>
                            <a:noFill/>
                          </a:ln>
                          <a:effectLst/>
                          <a:latin typeface="+mn-lt"/>
                        </a:rPr>
                        <a:t>Tangible assets</a:t>
                      </a:r>
                      <a:endParaRPr kumimoji="0" lang="en-US" altLang="en-US" sz="1800" b="1" i="0" u="none" strike="noStrike" cap="none" normalizeH="0" baseline="0" dirty="0">
                        <a:ln>
                          <a:noFill/>
                        </a:ln>
                        <a:solidFill>
                          <a:schemeClr val="tx1"/>
                        </a:solidFill>
                        <a:effectLst/>
                        <a:latin typeface="+mn-lt"/>
                        <a:ea typeface="ＭＳ Ｐゴシック" pitchFamily="34" charset="-128"/>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AU"/>
                    </a:p>
                  </a:txBody>
                  <a:tcPr/>
                </a:tc>
                <a:tc hMerge="1">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8795098"/>
                  </a:ext>
                </a:extLst>
              </a:tr>
              <a:tr h="370840">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Land</a:t>
                      </a:r>
                      <a:endParaRPr kumimoji="0" lang="en-US" altLang="en-US" sz="1800" b="0" i="0" u="none" strike="noStrike" cap="none" normalizeH="0" baseline="0" dirty="0">
                        <a:ln>
                          <a:noFill/>
                        </a:ln>
                        <a:solidFill>
                          <a:schemeClr val="tx1"/>
                        </a:solidFill>
                        <a:effectLst/>
                        <a:latin typeface="+mn-lt"/>
                        <a:ea typeface="ＭＳ Ｐゴシック" pitchFamily="34" charset="-128"/>
                        <a:cs typeface="Arial" pitchFamily="34" charset="0"/>
                      </a:endParaRPr>
                    </a:p>
                  </a:txBody>
                  <a:tcPr marL="91438" marR="91438"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None</a:t>
                      </a:r>
                      <a:endParaRPr kumimoji="0" lang="en-US" altLang="en-US" sz="1800" b="0" i="0" u="none" strike="noStrike" cap="none" normalizeH="0" baseline="0" dirty="0">
                        <a:ln>
                          <a:noFill/>
                        </a:ln>
                        <a:solidFill>
                          <a:schemeClr val="tx1"/>
                        </a:solidFill>
                        <a:effectLst/>
                        <a:latin typeface="+mn-lt"/>
                        <a:ea typeface="ＭＳ Ｐゴシック" pitchFamily="34" charset="-128"/>
                        <a:cs typeface="Arial" pitchFamily="34" charset="0"/>
                      </a:endParaRPr>
                    </a:p>
                  </a:txBody>
                  <a:tcPr marL="91438" marR="91438"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8098201"/>
                  </a:ext>
                </a:extLst>
              </a:tr>
              <a:tr h="370840">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Buildings, Machinery, and Equipment</a:t>
                      </a:r>
                      <a:endParaRPr kumimoji="0" lang="en-US" altLang="en-US" sz="1800" b="0" i="0" u="none" strike="noStrike" cap="none" normalizeH="0" baseline="0" dirty="0">
                        <a:ln>
                          <a:noFill/>
                        </a:ln>
                        <a:solidFill>
                          <a:schemeClr val="tx1"/>
                        </a:solidFill>
                        <a:effectLst/>
                        <a:latin typeface="+mn-lt"/>
                        <a:ea typeface="ＭＳ Ｐゴシック" pitchFamily="34" charset="-128"/>
                        <a:cs typeface="Arial" pitchFamily="34" charset="0"/>
                      </a:endParaRPr>
                    </a:p>
                  </a:txBody>
                  <a:tcPr marL="91438" marR="91438"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Depreciation</a:t>
                      </a:r>
                      <a:endParaRPr kumimoji="0" lang="en-US" altLang="en-US" sz="1800" b="0" i="0" u="none" strike="noStrike" cap="none" normalizeH="0" baseline="0" dirty="0">
                        <a:ln>
                          <a:noFill/>
                        </a:ln>
                        <a:solidFill>
                          <a:schemeClr val="tx1"/>
                        </a:solidFill>
                        <a:effectLst/>
                        <a:latin typeface="+mn-lt"/>
                        <a:ea typeface="ＭＳ Ｐゴシック" pitchFamily="34" charset="-128"/>
                        <a:cs typeface="Arial" pitchFamily="34" charset="0"/>
                      </a:endParaRPr>
                    </a:p>
                  </a:txBody>
                  <a:tcPr marL="91438" marR="91438"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9371241"/>
                  </a:ext>
                </a:extLst>
              </a:tr>
              <a:tr h="370840">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Furniture and Fixtures</a:t>
                      </a:r>
                      <a:endParaRPr kumimoji="0" lang="en-US" altLang="en-US" sz="1800" b="0" i="0" u="none" strike="noStrike" cap="none" normalizeH="0" baseline="0" dirty="0">
                        <a:ln>
                          <a:noFill/>
                        </a:ln>
                        <a:solidFill>
                          <a:schemeClr val="tx1"/>
                        </a:solidFill>
                        <a:effectLst/>
                        <a:latin typeface="+mn-lt"/>
                        <a:ea typeface="ＭＳ Ｐゴシック" pitchFamily="34" charset="-128"/>
                        <a:cs typeface="Arial" pitchFamily="34" charset="0"/>
                      </a:endParaRPr>
                    </a:p>
                  </a:txBody>
                  <a:tcPr marL="91438" marR="91438"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Depreciation</a:t>
                      </a:r>
                      <a:endParaRPr kumimoji="0" lang="en-US" altLang="en-US" sz="1800" b="0" i="0" u="none" strike="noStrike" cap="none" normalizeH="0" baseline="0" dirty="0">
                        <a:ln>
                          <a:noFill/>
                        </a:ln>
                        <a:solidFill>
                          <a:schemeClr val="tx1"/>
                        </a:solidFill>
                        <a:effectLst/>
                        <a:latin typeface="+mn-lt"/>
                        <a:ea typeface="ＭＳ Ｐゴシック" pitchFamily="34" charset="-128"/>
                        <a:cs typeface="Arial" pitchFamily="34" charset="0"/>
                      </a:endParaRPr>
                    </a:p>
                  </a:txBody>
                  <a:tcPr marL="91438" marR="91438"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5699563"/>
                  </a:ext>
                </a:extLst>
              </a:tr>
              <a:tr h="370840">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Computers</a:t>
                      </a:r>
                      <a:endParaRPr kumimoji="0" lang="en-US" altLang="en-US" sz="1800" b="0" i="0" u="none" strike="noStrike" cap="none" normalizeH="0" baseline="0" dirty="0">
                        <a:ln>
                          <a:noFill/>
                        </a:ln>
                        <a:solidFill>
                          <a:schemeClr val="tx1"/>
                        </a:solidFill>
                        <a:effectLst/>
                        <a:latin typeface="+mn-lt"/>
                        <a:ea typeface="ＭＳ Ｐゴシック" pitchFamily="34" charset="-128"/>
                        <a:cs typeface="Arial" pitchFamily="34" charset="0"/>
                      </a:endParaRPr>
                    </a:p>
                  </a:txBody>
                  <a:tcPr marL="91438" marR="91438"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Depreciation</a:t>
                      </a:r>
                      <a:endParaRPr kumimoji="0" lang="en-US" altLang="en-US" sz="1800" b="0" i="0" u="none" strike="noStrike" cap="none" normalizeH="0" baseline="0" dirty="0">
                        <a:ln>
                          <a:noFill/>
                        </a:ln>
                        <a:solidFill>
                          <a:schemeClr val="tx1"/>
                        </a:solidFill>
                        <a:effectLst/>
                        <a:latin typeface="+mn-lt"/>
                        <a:ea typeface="ＭＳ Ｐゴシック" pitchFamily="34" charset="-128"/>
                        <a:cs typeface="Arial" pitchFamily="34" charset="0"/>
                      </a:endParaRPr>
                    </a:p>
                  </a:txBody>
                  <a:tcPr marL="91438" marR="91438" marT="45728" marB="4572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99157355"/>
                  </a:ext>
                </a:extLst>
              </a:tr>
              <a:tr h="370840">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AU"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AU"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1062098"/>
                  </a:ext>
                </a:extLst>
              </a:tr>
            </a:tbl>
          </a:graphicData>
        </a:graphic>
      </p:graphicFrame>
    </p:spTree>
    <p:extLst>
      <p:ext uri="{BB962C8B-B14F-4D97-AF65-F5344CB8AC3E}">
        <p14:creationId xmlns:p14="http://schemas.microsoft.com/office/powerpoint/2010/main" val="1933992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A9554-1B07-4667-993E-F5051657DEA9}"/>
              </a:ext>
            </a:extLst>
          </p:cNvPr>
          <p:cNvSpPr>
            <a:spLocks noGrp="1"/>
          </p:cNvSpPr>
          <p:nvPr>
            <p:ph type="title"/>
          </p:nvPr>
        </p:nvSpPr>
        <p:spPr/>
        <p:txBody>
          <a:bodyPr/>
          <a:lstStyle/>
          <a:p>
            <a:r>
              <a:rPr lang="en-US" altLang="en-US" dirty="0">
                <a:ea typeface="ＭＳ Ｐゴシック" pitchFamily="34" charset="-128"/>
              </a:rPr>
              <a:t>Long-Lived Assets </a:t>
            </a:r>
            <a:r>
              <a:rPr lang="en-US" altLang="en-US" sz="2000" b="0" dirty="0">
                <a:ea typeface="ＭＳ Ｐゴシック" pitchFamily="34" charset="-128"/>
              </a:rPr>
              <a:t>(2 of 2)</a:t>
            </a:r>
            <a:endParaRPr lang="en-AU" dirty="0"/>
          </a:p>
        </p:txBody>
      </p:sp>
      <p:graphicFrame>
        <p:nvGraphicFramePr>
          <p:cNvPr id="4" name="Table 4">
            <a:extLst>
              <a:ext uri="{FF2B5EF4-FFF2-40B4-BE49-F238E27FC236}">
                <a16:creationId xmlns:a16="http://schemas.microsoft.com/office/drawing/2014/main" id="{CEB93BAD-6CE3-45C3-9CAA-89A58DF454AC}"/>
              </a:ext>
            </a:extLst>
          </p:cNvPr>
          <p:cNvGraphicFramePr>
            <a:graphicFrameLocks noGrp="1"/>
          </p:cNvGraphicFramePr>
          <p:nvPr>
            <p:ph idx="1"/>
            <p:extLst>
              <p:ext uri="{D42A27DB-BD31-4B8C-83A1-F6EECF244321}">
                <p14:modId xmlns:p14="http://schemas.microsoft.com/office/powerpoint/2010/main" val="1305003043"/>
              </p:ext>
            </p:extLst>
          </p:nvPr>
        </p:nvGraphicFramePr>
        <p:xfrm>
          <a:off x="1066800" y="2230120"/>
          <a:ext cx="7010400" cy="2768600"/>
        </p:xfrm>
        <a:graphic>
          <a:graphicData uri="http://schemas.openxmlformats.org/drawingml/2006/table">
            <a:tbl>
              <a:tblPr firstRow="1" bandRow="1">
                <a:tableStyleId>{3B4B98B0-60AC-42C2-AFA5-B58CD77FA1E5}</a:tableStyleId>
              </a:tblPr>
              <a:tblGrid>
                <a:gridCol w="681567">
                  <a:extLst>
                    <a:ext uri="{9D8B030D-6E8A-4147-A177-3AD203B41FA5}">
                      <a16:colId xmlns:a16="http://schemas.microsoft.com/office/drawing/2014/main" val="875107969"/>
                    </a:ext>
                  </a:extLst>
                </a:gridCol>
                <a:gridCol w="3699933">
                  <a:extLst>
                    <a:ext uri="{9D8B030D-6E8A-4147-A177-3AD203B41FA5}">
                      <a16:colId xmlns:a16="http://schemas.microsoft.com/office/drawing/2014/main" val="2859022119"/>
                    </a:ext>
                  </a:extLst>
                </a:gridCol>
                <a:gridCol w="2628900">
                  <a:extLst>
                    <a:ext uri="{9D8B030D-6E8A-4147-A177-3AD203B41FA5}">
                      <a16:colId xmlns:a16="http://schemas.microsoft.com/office/drawing/2014/main" val="3326837280"/>
                    </a:ext>
                  </a:extLst>
                </a:gridCol>
              </a:tblGrid>
              <a:tr h="370840">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u="none" strike="noStrike" cap="none" normalizeH="0" baseline="0" dirty="0">
                          <a:ln>
                            <a:noFill/>
                          </a:ln>
                          <a:effectLst/>
                          <a:latin typeface="+mn-lt"/>
                        </a:rPr>
                        <a:t>Asset Account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u="none" strike="noStrike" cap="none" normalizeH="0" baseline="0" dirty="0">
                          <a:ln>
                            <a:noFill/>
                          </a:ln>
                          <a:effectLst/>
                          <a:latin typeface="+mn-lt"/>
                        </a:rPr>
                        <a:t>(Balance Sheet)</a:t>
                      </a:r>
                      <a:endParaRPr kumimoji="0" lang="en-US" altLang="en-US" sz="1800" b="1" i="0" u="none" strike="noStrike" cap="none" normalizeH="0" baseline="0" dirty="0">
                        <a:ln>
                          <a:noFill/>
                        </a:ln>
                        <a:solidFill>
                          <a:schemeClr val="tx1"/>
                        </a:solidFill>
                        <a:effectLst/>
                        <a:latin typeface="+mn-lt"/>
                        <a:ea typeface="ＭＳ Ｐゴシック" pitchFamily="34" charset="-128"/>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AU"/>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u="none" strike="noStrike" cap="none" normalizeH="0" baseline="0" dirty="0">
                          <a:ln>
                            <a:noFill/>
                          </a:ln>
                          <a:effectLst/>
                          <a:latin typeface="+mn-lt"/>
                        </a:rPr>
                        <a:t>Related Expense Account</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b="1" u="none" strike="noStrike" cap="none" normalizeH="0" baseline="0" dirty="0">
                          <a:ln>
                            <a:noFill/>
                          </a:ln>
                          <a:effectLst/>
                          <a:latin typeface="+mn-lt"/>
                        </a:rPr>
                        <a:t>(Income Statement)</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0710508"/>
                  </a:ext>
                </a:extLst>
              </a:tr>
              <a:tr h="370840">
                <a:tc gridSpan="3">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u="none" strike="noStrike" cap="none" normalizeH="0" baseline="0" dirty="0">
                          <a:ln>
                            <a:noFill/>
                          </a:ln>
                          <a:effectLst/>
                          <a:latin typeface="+mn-lt"/>
                        </a:rPr>
                        <a:t>Intangible assets</a:t>
                      </a:r>
                      <a:endParaRPr kumimoji="0" lang="en-US" altLang="en-US" sz="1800" b="1" i="0" u="none" strike="noStrike" cap="none" normalizeH="0" baseline="0" dirty="0">
                        <a:ln>
                          <a:noFill/>
                        </a:ln>
                        <a:solidFill>
                          <a:schemeClr val="tx1"/>
                        </a:solidFill>
                        <a:effectLst/>
                        <a:latin typeface="+mn-lt"/>
                        <a:ea typeface="ＭＳ Ｐゴシック" pitchFamily="34" charset="-128"/>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AU"/>
                    </a:p>
                  </a:txBody>
                  <a:tcPr/>
                </a:tc>
                <a:tc hMerge="1">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8795098"/>
                  </a:ext>
                </a:extLst>
              </a:tr>
              <a:tr h="370840">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Copyrights</a:t>
                      </a:r>
                      <a:endParaRPr kumimoji="0" lang="en-US" altLang="en-US" sz="1800" b="0" i="0" u="none" strike="noStrike" cap="none" normalizeH="0" baseline="0" dirty="0">
                        <a:ln>
                          <a:noFill/>
                        </a:ln>
                        <a:solidFill>
                          <a:schemeClr val="tx1"/>
                        </a:solidFill>
                        <a:effectLst/>
                        <a:latin typeface="+mn-lt"/>
                        <a:ea typeface="ＭＳ Ｐゴシック" pitchFamily="34" charset="-128"/>
                        <a:cs typeface="Arial" pitchFamily="34" charset="0"/>
                      </a:endParaRPr>
                    </a:p>
                  </a:txBody>
                  <a:tcPr marL="91438" marR="91438"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Amortization</a:t>
                      </a:r>
                      <a:endParaRPr kumimoji="0" lang="en-US" altLang="en-US" sz="1800" b="0" i="0" u="none" strike="noStrike" cap="none" normalizeH="0" baseline="0" dirty="0">
                        <a:ln>
                          <a:noFill/>
                        </a:ln>
                        <a:solidFill>
                          <a:schemeClr val="tx1"/>
                        </a:solidFill>
                        <a:effectLst/>
                        <a:latin typeface="+mn-lt"/>
                        <a:ea typeface="ＭＳ Ｐゴシック" pitchFamily="34" charset="-128"/>
                        <a:cs typeface="Arial" pitchFamily="34" charset="0"/>
                      </a:endParaRPr>
                    </a:p>
                  </a:txBody>
                  <a:tcPr marL="91438" marR="91438"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8098201"/>
                  </a:ext>
                </a:extLst>
              </a:tr>
              <a:tr h="370840">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Patents</a:t>
                      </a:r>
                      <a:endParaRPr kumimoji="0" lang="en-US" altLang="en-US" sz="1800" b="0" i="0" u="none" strike="noStrike" cap="none" normalizeH="0" baseline="0" dirty="0">
                        <a:ln>
                          <a:noFill/>
                        </a:ln>
                        <a:solidFill>
                          <a:schemeClr val="tx1"/>
                        </a:solidFill>
                        <a:effectLst/>
                        <a:latin typeface="+mn-lt"/>
                        <a:ea typeface="ＭＳ Ｐゴシック" pitchFamily="34" charset="-128"/>
                        <a:cs typeface="Arial" pitchFamily="34" charset="0"/>
                      </a:endParaRPr>
                    </a:p>
                  </a:txBody>
                  <a:tcPr marL="91438" marR="91438"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Amortization</a:t>
                      </a:r>
                      <a:endParaRPr kumimoji="0" lang="en-US" altLang="en-US" sz="1800" b="0" i="0" u="none" strike="noStrike" cap="none" normalizeH="0" baseline="0" dirty="0">
                        <a:ln>
                          <a:noFill/>
                        </a:ln>
                        <a:solidFill>
                          <a:schemeClr val="tx1"/>
                        </a:solidFill>
                        <a:effectLst/>
                        <a:latin typeface="+mn-lt"/>
                        <a:ea typeface="ＭＳ Ｐゴシック" pitchFamily="34" charset="-128"/>
                        <a:cs typeface="Arial" pitchFamily="34" charset="0"/>
                      </a:endParaRPr>
                    </a:p>
                  </a:txBody>
                  <a:tcPr marL="91438" marR="91438"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9371241"/>
                  </a:ext>
                </a:extLst>
              </a:tr>
              <a:tr h="370840">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Goodwill</a:t>
                      </a:r>
                      <a:endParaRPr kumimoji="0" lang="en-US" altLang="en-US" sz="1800" b="0" i="0" u="none" strike="noStrike" cap="none" normalizeH="0" baseline="0" dirty="0">
                        <a:ln>
                          <a:noFill/>
                        </a:ln>
                        <a:solidFill>
                          <a:schemeClr val="tx1"/>
                        </a:solidFill>
                        <a:effectLst/>
                        <a:latin typeface="+mn-lt"/>
                        <a:ea typeface="ＭＳ Ｐゴシック" pitchFamily="34" charset="-128"/>
                        <a:cs typeface="Arial" pitchFamily="34" charset="0"/>
                      </a:endParaRPr>
                    </a:p>
                  </a:txBody>
                  <a:tcPr marL="91438" marR="91438"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Impairment losses</a:t>
                      </a:r>
                      <a:endParaRPr kumimoji="0" lang="en-US" altLang="en-US" sz="1800" b="0" i="0" u="none" strike="noStrike" cap="none" normalizeH="0" baseline="0" dirty="0">
                        <a:ln>
                          <a:noFill/>
                        </a:ln>
                        <a:solidFill>
                          <a:schemeClr val="tx1"/>
                        </a:solidFill>
                        <a:effectLst/>
                        <a:latin typeface="+mn-lt"/>
                        <a:ea typeface="ＭＳ Ｐゴシック" pitchFamily="34" charset="-128"/>
                        <a:cs typeface="Arial" pitchFamily="34" charset="0"/>
                      </a:endParaRPr>
                    </a:p>
                  </a:txBody>
                  <a:tcPr marL="91438" marR="91438" marT="45718" marB="457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5699563"/>
                  </a:ext>
                </a:extLst>
              </a:tr>
              <a:tr h="370840">
                <a:tc>
                  <a:txBody>
                    <a:bodyPr/>
                    <a:lstStyle/>
                    <a:p>
                      <a:endParaRPr lang="en-AU"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AU"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AU"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1062098"/>
                  </a:ext>
                </a:extLst>
              </a:tr>
            </a:tbl>
          </a:graphicData>
        </a:graphic>
      </p:graphicFrame>
    </p:spTree>
    <p:extLst>
      <p:ext uri="{BB962C8B-B14F-4D97-AF65-F5344CB8AC3E}">
        <p14:creationId xmlns:p14="http://schemas.microsoft.com/office/powerpoint/2010/main" val="1842054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Measuring the Cost of a PPE Asset</a:t>
            </a:r>
            <a:endParaRPr lang="en-US" dirty="0"/>
          </a:p>
        </p:txBody>
      </p:sp>
      <p:sp>
        <p:nvSpPr>
          <p:cNvPr id="4" name="Text Placeholder 3"/>
          <p:cNvSpPr>
            <a:spLocks noGrp="1"/>
          </p:cNvSpPr>
          <p:nvPr>
            <p:ph type="body" idx="1"/>
          </p:nvPr>
        </p:nvSpPr>
        <p:spPr>
          <a:xfrm>
            <a:off x="2171700" y="2133600"/>
            <a:ext cx="4800600" cy="2590800"/>
          </a:xfrm>
        </p:spPr>
        <p:txBody>
          <a:bodyPr/>
          <a:lstStyle/>
          <a:p>
            <a:r>
              <a:rPr lang="en-US" sz="2400" dirty="0"/>
              <a:t>Sum of all the costs incurred to bring the asset to its location and intended use</a:t>
            </a:r>
          </a:p>
        </p:txBody>
      </p:sp>
    </p:spTree>
    <p:extLst>
      <p:ext uri="{BB962C8B-B14F-4D97-AF65-F5344CB8AC3E}">
        <p14:creationId xmlns:p14="http://schemas.microsoft.com/office/powerpoint/2010/main" val="24642795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Land </a:t>
            </a:r>
            <a:r>
              <a:rPr lang="en-US" altLang="en-US" sz="2000" b="0" dirty="0">
                <a:ea typeface="ＭＳ Ｐゴシック" pitchFamily="34" charset="-128"/>
              </a:rPr>
              <a:t>(1 of 3)</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Purchase price</a:t>
            </a:r>
          </a:p>
          <a:p>
            <a:r>
              <a:rPr lang="en-US" altLang="en-US" dirty="0">
                <a:ea typeface="ＭＳ Ｐゴシック" pitchFamily="34" charset="-128"/>
              </a:rPr>
              <a:t>Commissions</a:t>
            </a:r>
          </a:p>
          <a:p>
            <a:r>
              <a:rPr lang="en-US" altLang="en-US" dirty="0">
                <a:ea typeface="ＭＳ Ｐゴシック" pitchFamily="34" charset="-128"/>
              </a:rPr>
              <a:t>Survey and legal fees</a:t>
            </a:r>
          </a:p>
          <a:p>
            <a:r>
              <a:rPr lang="en-US" altLang="en-US" dirty="0">
                <a:ea typeface="ＭＳ Ｐゴシック" pitchFamily="34" charset="-128"/>
              </a:rPr>
              <a:t>Back property taxes paid</a:t>
            </a:r>
          </a:p>
          <a:p>
            <a:r>
              <a:rPr lang="en-US" altLang="en-US" dirty="0">
                <a:ea typeface="ＭＳ Ｐゴシック" pitchFamily="34" charset="-128"/>
              </a:rPr>
              <a:t>Grading and removing unwanted buildings</a:t>
            </a:r>
            <a:endParaRPr lang="en-US" dirty="0"/>
          </a:p>
        </p:txBody>
      </p:sp>
    </p:spTree>
    <p:extLst>
      <p:ext uri="{BB962C8B-B14F-4D97-AF65-F5344CB8AC3E}">
        <p14:creationId xmlns:p14="http://schemas.microsoft.com/office/powerpoint/2010/main" val="3825004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Land </a:t>
            </a:r>
            <a:r>
              <a:rPr lang="en-US" altLang="en-US" sz="2000" b="0" dirty="0">
                <a:ea typeface="ＭＳ Ｐゴシック" pitchFamily="34" charset="-128"/>
              </a:rPr>
              <a:t>(2 of 3)</a:t>
            </a:r>
            <a:endParaRPr lang="en-US" dirty="0"/>
          </a:p>
        </p:txBody>
      </p:sp>
      <p:sp>
        <p:nvSpPr>
          <p:cNvPr id="3" name="Content Placeholder 2"/>
          <p:cNvSpPr>
            <a:spLocks noGrp="1"/>
          </p:cNvSpPr>
          <p:nvPr>
            <p:ph idx="1"/>
          </p:nvPr>
        </p:nvSpPr>
        <p:spPr>
          <a:ln w="12700">
            <a:noFill/>
          </a:ln>
        </p:spPr>
        <p:txBody>
          <a:bodyPr/>
          <a:lstStyle/>
          <a:p>
            <a:pPr marL="0" indent="0">
              <a:buNone/>
            </a:pPr>
            <a:r>
              <a:rPr lang="en-US" altLang="en-US" dirty="0">
                <a:cs typeface="Arial" pitchFamily="34" charset="0"/>
              </a:rPr>
              <a:t>A business signs a $300,000 note payable to purchase land for a new production facility.</a:t>
            </a:r>
          </a:p>
          <a:p>
            <a:pPr marL="0" indent="0">
              <a:buNone/>
            </a:pPr>
            <a:r>
              <a:rPr lang="en-US" dirty="0">
                <a:cs typeface="Arial" panose="020B0604020202020204" pitchFamily="34" charset="0"/>
              </a:rPr>
              <a:t>It pays $10,000 in real estate commission, $8,000 in back property tax, $5,000 for removal of an old building, a $1,000 survey fee, and $260,000 to pave the parking lot.</a:t>
            </a:r>
            <a:endParaRPr lang="en-US" altLang="en-US" dirty="0">
              <a:cs typeface="Arial" pitchFamily="34" charset="0"/>
            </a:endParaRPr>
          </a:p>
          <a:p>
            <a:pPr marL="0" indent="0">
              <a:buNone/>
            </a:pPr>
            <a:r>
              <a:rPr lang="en-US" dirty="0">
                <a:cs typeface="Arial" panose="020B0604020202020204" pitchFamily="34" charset="0"/>
              </a:rPr>
              <a:t>What is the cost of the land?</a:t>
            </a:r>
            <a:endParaRPr lang="en-US" altLang="en-US" dirty="0">
              <a:cs typeface="Arial" pitchFamily="34" charset="0"/>
            </a:endParaRPr>
          </a:p>
        </p:txBody>
      </p:sp>
    </p:spTree>
    <p:extLst>
      <p:ext uri="{BB962C8B-B14F-4D97-AF65-F5344CB8AC3E}">
        <p14:creationId xmlns:p14="http://schemas.microsoft.com/office/powerpoint/2010/main" val="628085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Land </a:t>
            </a:r>
            <a:r>
              <a:rPr lang="en-US" altLang="en-US" sz="2000" b="0" dirty="0">
                <a:ea typeface="ＭＳ Ｐゴシック" pitchFamily="34" charset="-128"/>
              </a:rPr>
              <a:t>(3 of 3)</a:t>
            </a:r>
            <a:endParaRPr lang="en-US" dirty="0"/>
          </a:p>
        </p:txBody>
      </p:sp>
      <p:graphicFrame>
        <p:nvGraphicFramePr>
          <p:cNvPr id="4" name="Table 3"/>
          <p:cNvGraphicFramePr>
            <a:graphicFrameLocks noGrp="1"/>
          </p:cNvGraphicFramePr>
          <p:nvPr/>
        </p:nvGraphicFramePr>
        <p:xfrm>
          <a:off x="609600" y="1828800"/>
          <a:ext cx="7924800" cy="2560320"/>
        </p:xfrm>
        <a:graphic>
          <a:graphicData uri="http://schemas.openxmlformats.org/drawingml/2006/table">
            <a:tbl>
              <a:tblPr firstRow="1" bandRow="1">
                <a:tableStyleId>{2D5ABB26-0587-4C30-8999-92F81FD0307C}</a:tableStyleId>
              </a:tblPr>
              <a:tblGrid>
                <a:gridCol w="35814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2895600">
                  <a:extLst>
                    <a:ext uri="{9D8B030D-6E8A-4147-A177-3AD203B41FA5}">
                      <a16:colId xmlns:a16="http://schemas.microsoft.com/office/drawing/2014/main" val="20002"/>
                    </a:ext>
                  </a:extLst>
                </a:gridCol>
              </a:tblGrid>
              <a:tr h="280851">
                <a:tc>
                  <a:txBody>
                    <a:bodyPr/>
                    <a:lstStyle/>
                    <a:p>
                      <a:pPr marL="0" indent="0">
                        <a:buFont typeface="Arial" panose="020B0604020202020204" pitchFamily="34" charset="0"/>
                        <a:buNone/>
                      </a:pPr>
                      <a:r>
                        <a:rPr lang="en-US" altLang="en-US" dirty="0"/>
                        <a:t>Purchase price of land</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dirty="0">
                          <a:ea typeface="ＭＳ Ｐゴシック" pitchFamily="34" charset="-128"/>
                        </a:rPr>
                        <a:t>$300,000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80851">
                <a:tc>
                  <a:txBody>
                    <a:bodyPr/>
                    <a:lstStyle/>
                    <a:p>
                      <a:pPr marL="285750" indent="-285750">
                        <a:buFont typeface="Arial" panose="020B0604020202020204" pitchFamily="34" charset="0"/>
                        <a:buChar char="•"/>
                      </a:pPr>
                      <a:r>
                        <a:rPr lang="en-US" altLang="en-US" dirty="0"/>
                        <a:t>Add related costs:</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80851">
                <a:tc>
                  <a:txBody>
                    <a:bodyPr/>
                    <a:lstStyle/>
                    <a:p>
                      <a:pPr marL="274320" indent="-457200">
                        <a:buFont typeface="Arial" panose="020B0604020202020204" pitchFamily="34" charset="0"/>
                        <a:buChar char="•"/>
                      </a:pPr>
                      <a:r>
                        <a:rPr lang="en-US" altLang="en-US" dirty="0">
                          <a:ea typeface="ＭＳ Ｐゴシック" pitchFamily="34" charset="-128"/>
                        </a:rPr>
                        <a:t>Real estate commission</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dirty="0">
                          <a:ea typeface="ＭＳ Ｐゴシック" pitchFamily="34" charset="-128"/>
                        </a:rPr>
                        <a:t>$10,000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80851">
                <a:tc>
                  <a:txBody>
                    <a:bodyPr/>
                    <a:lstStyle/>
                    <a:p>
                      <a:pPr marL="274320" indent="-457200">
                        <a:buFont typeface="Arial" panose="020B0604020202020204" pitchFamily="34" charset="0"/>
                        <a:buChar char="•"/>
                      </a:pPr>
                      <a:r>
                        <a:rPr lang="en-US" altLang="en-US" dirty="0">
                          <a:ea typeface="ＭＳ Ｐゴシック" pitchFamily="34" charset="-128"/>
                        </a:rPr>
                        <a:t>Back property tax</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dirty="0">
                          <a:ea typeface="ＭＳ Ｐゴシック" pitchFamily="34" charset="-128"/>
                        </a:rPr>
                        <a:t>8,000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80851">
                <a:tc>
                  <a:txBody>
                    <a:bodyPr/>
                    <a:lstStyle/>
                    <a:p>
                      <a:pPr marL="274320" indent="-457200">
                        <a:buFont typeface="Arial" panose="020B0604020202020204" pitchFamily="34" charset="0"/>
                        <a:buChar char="•"/>
                      </a:pPr>
                      <a:r>
                        <a:rPr lang="en-US" altLang="en-US" dirty="0">
                          <a:ea typeface="ＭＳ Ｐゴシック" pitchFamily="34" charset="-128"/>
                        </a:rPr>
                        <a:t>Removal of buildings</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dirty="0">
                          <a:ea typeface="ＭＳ Ｐゴシック" pitchFamily="34" charset="-128"/>
                        </a:rPr>
                        <a:t>5,000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80851">
                <a:tc>
                  <a:txBody>
                    <a:bodyPr/>
                    <a:lstStyle/>
                    <a:p>
                      <a:pPr marL="274320" indent="-457200">
                        <a:buFont typeface="Arial" panose="020B0604020202020204" pitchFamily="34" charset="0"/>
                        <a:buChar char="•"/>
                      </a:pPr>
                      <a:r>
                        <a:rPr lang="en-US" altLang="en-US" dirty="0">
                          <a:ea typeface="ＭＳ Ｐゴシック" pitchFamily="34" charset="-128"/>
                        </a:rPr>
                        <a:t>Survey fees</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u="sng" dirty="0">
                          <a:ea typeface="ＭＳ Ｐゴシック" pitchFamily="34" charset="-128"/>
                        </a:rPr>
                        <a:t>  </a:t>
                      </a:r>
                      <a:r>
                        <a:rPr lang="en-US" altLang="en-US" u="sng" baseline="0" dirty="0">
                          <a:ea typeface="ＭＳ Ｐゴシック" pitchFamily="34" charset="-128"/>
                        </a:rPr>
                        <a:t>  </a:t>
                      </a:r>
                      <a:r>
                        <a:rPr lang="en-US" altLang="en-US" u="sng" dirty="0">
                          <a:ea typeface="ＭＳ Ｐゴシック" pitchFamily="34" charset="-128"/>
                        </a:rPr>
                        <a:t>1,000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u="sng" dirty="0">
                          <a:ea typeface="ＭＳ Ｐゴシック" pitchFamily="34" charset="-128"/>
                        </a:rPr>
                        <a:t>    24,000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80851">
                <a:tc>
                  <a:txBody>
                    <a:bodyPr/>
                    <a:lstStyle/>
                    <a:p>
                      <a:pPr marL="285750" indent="-285750">
                        <a:buFont typeface="Arial" panose="020B0604020202020204" pitchFamily="34" charset="0"/>
                        <a:buChar char="•"/>
                      </a:pPr>
                      <a:r>
                        <a:rPr lang="en-US" altLang="en-US" dirty="0">
                          <a:ea typeface="ＭＳ Ｐゴシック" pitchFamily="34" charset="-128"/>
                        </a:rPr>
                        <a:t>Total cost of land</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dirty="0">
                          <a:ea typeface="ＭＳ Ｐゴシック" pitchFamily="34" charset="-128"/>
                        </a:rPr>
                        <a:t>$324,000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117376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Buildings</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Constructed</a:t>
            </a:r>
          </a:p>
          <a:p>
            <a:pPr lvl="1"/>
            <a:r>
              <a:rPr lang="en-US" altLang="en-US" dirty="0">
                <a:ea typeface="ＭＳ Ｐゴシック" pitchFamily="34" charset="-128"/>
              </a:rPr>
              <a:t>Architectural fees, building permits, and contractors’ charges</a:t>
            </a:r>
          </a:p>
          <a:p>
            <a:pPr lvl="1"/>
            <a:r>
              <a:rPr lang="en-US" altLang="en-US" dirty="0">
                <a:ea typeface="ＭＳ Ｐゴシック" pitchFamily="34" charset="-128"/>
              </a:rPr>
              <a:t>Materials, labour, and overhead</a:t>
            </a:r>
          </a:p>
          <a:p>
            <a:pPr lvl="1"/>
            <a:r>
              <a:rPr lang="en-US" altLang="en-US" dirty="0">
                <a:ea typeface="ＭＳ Ｐゴシック" pitchFamily="34" charset="-128"/>
              </a:rPr>
              <a:t>Interest on funds borrowed</a:t>
            </a:r>
          </a:p>
          <a:p>
            <a:r>
              <a:rPr lang="en-US" altLang="en-US" dirty="0">
                <a:ea typeface="ＭＳ Ｐゴシック" pitchFamily="34" charset="-128"/>
              </a:rPr>
              <a:t>Purchased</a:t>
            </a:r>
          </a:p>
          <a:p>
            <a:pPr lvl="1"/>
            <a:r>
              <a:rPr lang="en-US" altLang="en-US" dirty="0">
                <a:ea typeface="ＭＳ Ｐゴシック" pitchFamily="34" charset="-128"/>
              </a:rPr>
              <a:t>Purchase price</a:t>
            </a:r>
          </a:p>
          <a:p>
            <a:pPr lvl="1"/>
            <a:r>
              <a:rPr lang="en-US" altLang="en-US" dirty="0">
                <a:ea typeface="ＭＳ Ｐゴシック" pitchFamily="34" charset="-128"/>
              </a:rPr>
              <a:t>Broker’s commission</a:t>
            </a:r>
          </a:p>
          <a:p>
            <a:pPr lvl="1"/>
            <a:r>
              <a:rPr lang="en-US" altLang="en-US" dirty="0">
                <a:ea typeface="ＭＳ Ｐゴシック" pitchFamily="34" charset="-128"/>
              </a:rPr>
              <a:t>Taxes paid</a:t>
            </a:r>
          </a:p>
          <a:p>
            <a:pPr lvl="1"/>
            <a:r>
              <a:rPr lang="en-US" altLang="en-US" dirty="0">
                <a:ea typeface="ＭＳ Ｐゴシック" pitchFamily="34" charset="-128"/>
              </a:rPr>
              <a:t>Costs to repair and renovate</a:t>
            </a:r>
            <a:endParaRPr lang="en-US" dirty="0"/>
          </a:p>
        </p:txBody>
      </p:sp>
    </p:spTree>
    <p:extLst>
      <p:ext uri="{BB962C8B-B14F-4D97-AF65-F5344CB8AC3E}">
        <p14:creationId xmlns:p14="http://schemas.microsoft.com/office/powerpoint/2010/main" val="1844850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Equipment</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Purchase price (after discounts)</a:t>
            </a:r>
          </a:p>
          <a:p>
            <a:r>
              <a:rPr lang="en-US" altLang="en-US" dirty="0">
                <a:ea typeface="ＭＳ Ｐゴシック" pitchFamily="34" charset="-128"/>
              </a:rPr>
              <a:t>Transportation</a:t>
            </a:r>
          </a:p>
          <a:p>
            <a:r>
              <a:rPr lang="en-US" altLang="en-US" dirty="0">
                <a:ea typeface="ＭＳ Ｐゴシック" pitchFamily="34" charset="-128"/>
              </a:rPr>
              <a:t>Insurance in transit</a:t>
            </a:r>
          </a:p>
          <a:p>
            <a:r>
              <a:rPr lang="en-US" altLang="en-US" dirty="0">
                <a:ea typeface="ＭＳ Ｐゴシック" pitchFamily="34" charset="-128"/>
              </a:rPr>
              <a:t>Sales and other taxes</a:t>
            </a:r>
          </a:p>
          <a:p>
            <a:r>
              <a:rPr lang="en-US" altLang="en-US" dirty="0">
                <a:ea typeface="ＭＳ Ｐゴシック" pitchFamily="34" charset="-128"/>
              </a:rPr>
              <a:t>Purchase commission</a:t>
            </a:r>
          </a:p>
          <a:p>
            <a:r>
              <a:rPr lang="en-US" altLang="en-US" dirty="0">
                <a:ea typeface="ＭＳ Ｐゴシック" pitchFamily="34" charset="-128"/>
              </a:rPr>
              <a:t>Installation and testing</a:t>
            </a:r>
            <a:endParaRPr lang="en-US" dirty="0"/>
          </a:p>
        </p:txBody>
      </p:sp>
    </p:spTree>
    <p:extLst>
      <p:ext uri="{BB962C8B-B14F-4D97-AF65-F5344CB8AC3E}">
        <p14:creationId xmlns:p14="http://schemas.microsoft.com/office/powerpoint/2010/main" val="298978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200" y="215372"/>
            <a:ext cx="8229600" cy="1097280"/>
          </a:xfrm>
        </p:spPr>
        <p:txBody>
          <a:bodyPr/>
          <a:lstStyle/>
          <a:p>
            <a:r>
              <a:rPr lang="en-US" dirty="0">
                <a:ea typeface="ＭＳ Ｐゴシック" pitchFamily="34" charset="-128"/>
              </a:rPr>
              <a:t>Land and Leasehold Improvements</a:t>
            </a:r>
            <a:endParaRPr lang="en-US" dirty="0"/>
          </a:p>
        </p:txBody>
      </p:sp>
      <p:sp>
        <p:nvSpPr>
          <p:cNvPr id="3" name="Text Placeholder 2"/>
          <p:cNvSpPr>
            <a:spLocks noGrp="1"/>
          </p:cNvSpPr>
          <p:nvPr>
            <p:ph type="body" idx="1"/>
          </p:nvPr>
        </p:nvSpPr>
        <p:spPr>
          <a:xfrm>
            <a:off x="457200" y="1671575"/>
            <a:ext cx="4040982" cy="457200"/>
          </a:xfrm>
          <a:solidFill>
            <a:srgbClr val="C5F3FF"/>
          </a:solidFill>
          <a:ln>
            <a:solidFill>
              <a:srgbClr val="007FA3"/>
            </a:solidFill>
          </a:ln>
        </p:spPr>
        <p:txBody>
          <a:bodyPr anchor="ctr"/>
          <a:lstStyle/>
          <a:p>
            <a:pPr algn="ctr">
              <a:defRPr/>
            </a:pPr>
            <a:r>
              <a:rPr lang="en-US" sz="2000" b="1" dirty="0"/>
              <a:t>Land Improvements</a:t>
            </a:r>
          </a:p>
        </p:txBody>
      </p:sp>
      <p:sp>
        <p:nvSpPr>
          <p:cNvPr id="4" name="Content Placeholder 3"/>
          <p:cNvSpPr>
            <a:spLocks noGrp="1"/>
          </p:cNvSpPr>
          <p:nvPr>
            <p:ph sz="half" idx="2"/>
          </p:nvPr>
        </p:nvSpPr>
        <p:spPr>
          <a:xfrm>
            <a:off x="457200" y="2182812"/>
            <a:ext cx="4040982" cy="3684588"/>
          </a:xfrm>
        </p:spPr>
        <p:txBody>
          <a:bodyPr/>
          <a:lstStyle/>
          <a:p>
            <a:r>
              <a:rPr lang="en-US" altLang="en-US" dirty="0">
                <a:ea typeface="ＭＳ Ｐゴシック" pitchFamily="34" charset="-128"/>
              </a:rPr>
              <a:t>Parking lots</a:t>
            </a:r>
          </a:p>
          <a:p>
            <a:r>
              <a:rPr lang="en-US" altLang="en-US" dirty="0">
                <a:ea typeface="ＭＳ Ｐゴシック" pitchFamily="34" charset="-128"/>
              </a:rPr>
              <a:t>Driveways</a:t>
            </a:r>
          </a:p>
          <a:p>
            <a:r>
              <a:rPr lang="en-US" altLang="en-US" dirty="0">
                <a:ea typeface="ＭＳ Ｐゴシック" pitchFamily="34" charset="-128"/>
              </a:rPr>
              <a:t>Signs</a:t>
            </a:r>
          </a:p>
          <a:p>
            <a:r>
              <a:rPr lang="en-US" altLang="en-US" dirty="0">
                <a:ea typeface="ＭＳ Ｐゴシック" pitchFamily="34" charset="-128"/>
              </a:rPr>
              <a:t>Fences</a:t>
            </a:r>
          </a:p>
          <a:p>
            <a:r>
              <a:rPr lang="en-US" altLang="en-US" dirty="0">
                <a:ea typeface="ＭＳ Ｐゴシック" pitchFamily="34" charset="-128"/>
              </a:rPr>
              <a:t>Sprinkler systems</a:t>
            </a:r>
            <a:endParaRPr lang="en-US" dirty="0"/>
          </a:p>
        </p:txBody>
      </p:sp>
      <p:sp>
        <p:nvSpPr>
          <p:cNvPr id="5" name="Text Placeholder 4"/>
          <p:cNvSpPr>
            <a:spLocks noGrp="1"/>
          </p:cNvSpPr>
          <p:nvPr>
            <p:ph type="body" sz="quarter" idx="3"/>
          </p:nvPr>
        </p:nvSpPr>
        <p:spPr>
          <a:xfrm>
            <a:off x="4629150" y="1671575"/>
            <a:ext cx="4057650" cy="457200"/>
          </a:xfrm>
          <a:solidFill>
            <a:srgbClr val="C5F3FF"/>
          </a:solidFill>
          <a:ln>
            <a:solidFill>
              <a:srgbClr val="007FA3"/>
            </a:solidFill>
          </a:ln>
        </p:spPr>
        <p:txBody>
          <a:bodyPr anchor="ctr"/>
          <a:lstStyle/>
          <a:p>
            <a:pPr algn="ctr">
              <a:defRPr/>
            </a:pPr>
            <a:r>
              <a:rPr lang="en-US" sz="2000" b="1" dirty="0"/>
              <a:t>Leasehold Improvements</a:t>
            </a:r>
          </a:p>
        </p:txBody>
      </p:sp>
      <p:sp>
        <p:nvSpPr>
          <p:cNvPr id="6" name="Content Placeholder 5"/>
          <p:cNvSpPr>
            <a:spLocks noGrp="1"/>
          </p:cNvSpPr>
          <p:nvPr>
            <p:ph sz="quarter" idx="4"/>
          </p:nvPr>
        </p:nvSpPr>
        <p:spPr>
          <a:xfrm>
            <a:off x="4629150" y="2182812"/>
            <a:ext cx="4057650" cy="3684588"/>
          </a:xfrm>
        </p:spPr>
        <p:txBody>
          <a:bodyPr/>
          <a:lstStyle/>
          <a:p>
            <a:r>
              <a:rPr lang="en-US" altLang="en-US" dirty="0">
                <a:ea typeface="ＭＳ Ｐゴシック" pitchFamily="34" charset="-128"/>
              </a:rPr>
              <a:t>Improvements to leased property</a:t>
            </a:r>
          </a:p>
          <a:p>
            <a:r>
              <a:rPr lang="en-US" altLang="en-US" dirty="0">
                <a:ea typeface="ＭＳ Ｐゴシック" pitchFamily="34" charset="-128"/>
              </a:rPr>
              <a:t>Depreciated or amortized over lease term</a:t>
            </a:r>
            <a:endParaRPr lang="en-US" dirty="0"/>
          </a:p>
        </p:txBody>
      </p:sp>
    </p:spTree>
    <p:extLst>
      <p:ext uri="{BB962C8B-B14F-4D97-AF65-F5344CB8AC3E}">
        <p14:creationId xmlns:p14="http://schemas.microsoft.com/office/powerpoint/2010/main" val="1880656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Lump-Sum (Basket) Purchases</a:t>
            </a:r>
            <a:endParaRPr lang="en-US" dirty="0"/>
          </a:p>
        </p:txBody>
      </p:sp>
      <p:sp>
        <p:nvSpPr>
          <p:cNvPr id="3" name="Content Placeholder 2"/>
          <p:cNvSpPr>
            <a:spLocks noGrp="1"/>
          </p:cNvSpPr>
          <p:nvPr>
            <p:ph idx="1"/>
          </p:nvPr>
        </p:nvSpPr>
        <p:spPr>
          <a:xfrm>
            <a:off x="457200" y="1600201"/>
            <a:ext cx="8229600" cy="990600"/>
          </a:xfrm>
        </p:spPr>
        <p:txBody>
          <a:bodyPr>
            <a:normAutofit lnSpcReduction="10000"/>
          </a:bodyPr>
          <a:lstStyle/>
          <a:p>
            <a:r>
              <a:rPr lang="en-US" altLang="en-US" dirty="0">
                <a:ea typeface="ＭＳ Ｐゴシック" pitchFamily="34" charset="-128"/>
              </a:rPr>
              <a:t>Several assets purchased in a group at one price</a:t>
            </a:r>
          </a:p>
          <a:p>
            <a:r>
              <a:rPr lang="en-US" altLang="en-US" dirty="0">
                <a:ea typeface="ＭＳ Ｐゴシック" pitchFamily="34" charset="-128"/>
              </a:rPr>
              <a:t>Total cost is allocated based on their market values</a:t>
            </a:r>
            <a:endParaRPr lang="en-US" dirty="0"/>
          </a:p>
        </p:txBody>
      </p:sp>
      <p:graphicFrame>
        <p:nvGraphicFramePr>
          <p:cNvPr id="5" name="Table 4">
            <a:extLst>
              <a:ext uri="{FF2B5EF4-FFF2-40B4-BE49-F238E27FC236}">
                <a16:creationId xmlns:a16="http://schemas.microsoft.com/office/drawing/2014/main" id="{737067B9-3E2D-4781-A024-84353516F624}"/>
              </a:ext>
            </a:extLst>
          </p:cNvPr>
          <p:cNvGraphicFramePr>
            <a:graphicFrameLocks/>
          </p:cNvGraphicFramePr>
          <p:nvPr>
            <p:extLst>
              <p:ext uri="{D42A27DB-BD31-4B8C-83A1-F6EECF244321}">
                <p14:modId xmlns:p14="http://schemas.microsoft.com/office/powerpoint/2010/main" val="1021198248"/>
              </p:ext>
            </p:extLst>
          </p:nvPr>
        </p:nvGraphicFramePr>
        <p:xfrm>
          <a:off x="457200" y="2743200"/>
          <a:ext cx="8229600" cy="1935480"/>
        </p:xfrm>
        <a:graphic>
          <a:graphicData uri="http://schemas.openxmlformats.org/drawingml/2006/table">
            <a:tbl>
              <a:tblPr firstRow="1" bandRow="1">
                <a:tableStyleId>{3B4B98B0-60AC-42C2-AFA5-B58CD77FA1E5}</a:tableStyleId>
              </a:tblPr>
              <a:tblGrid>
                <a:gridCol w="1219200">
                  <a:extLst>
                    <a:ext uri="{9D8B030D-6E8A-4147-A177-3AD203B41FA5}">
                      <a16:colId xmlns:a16="http://schemas.microsoft.com/office/drawing/2014/main" val="775341756"/>
                    </a:ext>
                  </a:extLst>
                </a:gridCol>
                <a:gridCol w="1676400">
                  <a:extLst>
                    <a:ext uri="{9D8B030D-6E8A-4147-A177-3AD203B41FA5}">
                      <a16:colId xmlns:a16="http://schemas.microsoft.com/office/drawing/2014/main" val="1433480102"/>
                    </a:ext>
                  </a:extLst>
                </a:gridCol>
                <a:gridCol w="1219200">
                  <a:extLst>
                    <a:ext uri="{9D8B030D-6E8A-4147-A177-3AD203B41FA5}">
                      <a16:colId xmlns:a16="http://schemas.microsoft.com/office/drawing/2014/main" val="1956360475"/>
                    </a:ext>
                  </a:extLst>
                </a:gridCol>
                <a:gridCol w="1295400">
                  <a:extLst>
                    <a:ext uri="{9D8B030D-6E8A-4147-A177-3AD203B41FA5}">
                      <a16:colId xmlns:a16="http://schemas.microsoft.com/office/drawing/2014/main" val="3397795000"/>
                    </a:ext>
                  </a:extLst>
                </a:gridCol>
                <a:gridCol w="1524000">
                  <a:extLst>
                    <a:ext uri="{9D8B030D-6E8A-4147-A177-3AD203B41FA5}">
                      <a16:colId xmlns:a16="http://schemas.microsoft.com/office/drawing/2014/main" val="1385290617"/>
                    </a:ext>
                  </a:extLst>
                </a:gridCol>
                <a:gridCol w="1295400">
                  <a:extLst>
                    <a:ext uri="{9D8B030D-6E8A-4147-A177-3AD203B41FA5}">
                      <a16:colId xmlns:a16="http://schemas.microsoft.com/office/drawing/2014/main" val="934571166"/>
                    </a:ext>
                  </a:extLst>
                </a:gridCol>
              </a:tblGrid>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u="none" strike="noStrike" cap="none" normalizeH="0" baseline="0" dirty="0">
                          <a:ln>
                            <a:noFill/>
                          </a:ln>
                          <a:effectLst/>
                          <a:latin typeface="+mn-lt"/>
                        </a:rPr>
                        <a:t>Asset</a:t>
                      </a:r>
                      <a:endParaRPr kumimoji="0" lang="en-US" altLang="en-US" sz="1600" b="1" i="0" u="none" strike="noStrike" cap="none" normalizeH="0" baseline="0" dirty="0">
                        <a:ln>
                          <a:noFill/>
                        </a:ln>
                        <a:solidFill>
                          <a:srgbClr val="FFFFFF"/>
                        </a:solidFill>
                        <a:effectLst/>
                        <a:latin typeface="+mn-lt"/>
                        <a:ea typeface="ＭＳ Ｐゴシック" pitchFamily="34" charset="-128"/>
                        <a:cs typeface="Arial" pitchFamily="34" charset="0"/>
                      </a:endParaRPr>
                    </a:p>
                  </a:txBody>
                  <a:tcPr anchor="b" horzOverflow="overflow">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u="none" strike="noStrike" cap="none" normalizeH="0" baseline="0" dirty="0">
                          <a:ln>
                            <a:noFill/>
                          </a:ln>
                          <a:effectLst/>
                          <a:latin typeface="+mn-lt"/>
                        </a:rPr>
                        <a:t>Market value</a:t>
                      </a:r>
                      <a:endParaRPr kumimoji="0" lang="en-US" altLang="en-US" sz="1600" b="1" i="0" u="none" strike="noStrike" cap="none" normalizeH="0" baseline="0" dirty="0">
                        <a:ln>
                          <a:noFill/>
                        </a:ln>
                        <a:solidFill>
                          <a:srgbClr val="FFFFFF"/>
                        </a:solidFill>
                        <a:effectLst/>
                        <a:latin typeface="+mn-lt"/>
                        <a:ea typeface="ＭＳ Ｐゴシック" pitchFamily="34" charset="-128"/>
                        <a:cs typeface="Arial" pitchFamily="34" charset="0"/>
                      </a:endParaRPr>
                    </a:p>
                  </a:txBody>
                  <a:tcPr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u="none" strike="noStrike" cap="none" normalizeH="0" baseline="0" dirty="0">
                          <a:ln>
                            <a:noFill/>
                          </a:ln>
                          <a:effectLst/>
                          <a:latin typeface="+mn-lt"/>
                        </a:rPr>
                        <a:t>Total market value</a:t>
                      </a:r>
                      <a:endParaRPr kumimoji="0" lang="en-US" altLang="en-US" sz="1600" b="1" i="0" u="none" strike="noStrike" cap="none" normalizeH="0" baseline="0" dirty="0">
                        <a:ln>
                          <a:noFill/>
                        </a:ln>
                        <a:solidFill>
                          <a:srgbClr val="FFFFFF"/>
                        </a:solidFill>
                        <a:effectLst/>
                        <a:latin typeface="+mn-lt"/>
                        <a:ea typeface="ＭＳ Ｐゴシック" pitchFamily="34" charset="-128"/>
                        <a:cs typeface="Arial" pitchFamily="34" charset="0"/>
                      </a:endParaRPr>
                    </a:p>
                  </a:txBody>
                  <a:tcPr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u="none" strike="noStrike" cap="none" normalizeH="0" baseline="0" dirty="0">
                          <a:ln>
                            <a:noFill/>
                          </a:ln>
                          <a:effectLst/>
                          <a:latin typeface="+mn-lt"/>
                        </a:rPr>
                        <a:t>% of total market value</a:t>
                      </a:r>
                      <a:endParaRPr kumimoji="0" lang="en-US" altLang="en-US" sz="1600" b="1" i="0" u="none" strike="noStrike" cap="none" normalizeH="0" baseline="0" dirty="0">
                        <a:ln>
                          <a:noFill/>
                        </a:ln>
                        <a:solidFill>
                          <a:srgbClr val="FFFFFF"/>
                        </a:solidFill>
                        <a:effectLst/>
                        <a:latin typeface="+mn-lt"/>
                        <a:ea typeface="ＭＳ Ｐゴシック" pitchFamily="34" charset="-128"/>
                        <a:cs typeface="Arial" pitchFamily="34" charset="0"/>
                      </a:endParaRPr>
                    </a:p>
                  </a:txBody>
                  <a:tcPr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u="none" strike="noStrike" cap="none" normalizeH="0" baseline="0" dirty="0">
                          <a:ln>
                            <a:noFill/>
                          </a:ln>
                          <a:effectLst/>
                          <a:latin typeface="+mn-lt"/>
                        </a:rPr>
                        <a:t>Total cost</a:t>
                      </a:r>
                      <a:endParaRPr kumimoji="0" lang="en-US" altLang="en-US" sz="1600" b="1" i="0" u="none" strike="noStrike" cap="none" normalizeH="0" baseline="0" dirty="0">
                        <a:ln>
                          <a:noFill/>
                        </a:ln>
                        <a:solidFill>
                          <a:srgbClr val="FFFFFF"/>
                        </a:solidFill>
                        <a:effectLst/>
                        <a:latin typeface="+mn-lt"/>
                        <a:ea typeface="ＭＳ Ｐゴシック" pitchFamily="34" charset="-128"/>
                        <a:cs typeface="Arial" pitchFamily="34" charset="0"/>
                      </a:endParaRPr>
                    </a:p>
                  </a:txBody>
                  <a:tcPr anchor="b"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600" b="1" u="none" strike="noStrike" cap="none" normalizeH="0" baseline="0" dirty="0">
                          <a:ln>
                            <a:noFill/>
                          </a:ln>
                          <a:effectLst/>
                          <a:latin typeface="+mn-lt"/>
                        </a:rPr>
                        <a:t>Cost of each asset</a:t>
                      </a:r>
                      <a:endParaRPr kumimoji="0" lang="en-US" altLang="en-US" sz="1600" b="1" i="0" u="none" strike="noStrike" cap="none" normalizeH="0" baseline="0" dirty="0">
                        <a:ln>
                          <a:noFill/>
                        </a:ln>
                        <a:solidFill>
                          <a:srgbClr val="FFFFFF"/>
                        </a:solidFill>
                        <a:effectLst/>
                        <a:latin typeface="+mn-lt"/>
                        <a:ea typeface="ＭＳ Ｐゴシック" pitchFamily="34" charset="-128"/>
                        <a:cs typeface="Arial" pitchFamily="34" charset="0"/>
                      </a:endParaRPr>
                    </a:p>
                  </a:txBody>
                  <a:tcPr anchor="b"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28005692"/>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600" u="none" strike="noStrike" cap="none" normalizeH="0" baseline="0" dirty="0">
                          <a:ln>
                            <a:noFill/>
                          </a:ln>
                          <a:effectLst/>
                          <a:latin typeface="+mn-lt"/>
                        </a:rPr>
                        <a:t>Land</a:t>
                      </a:r>
                      <a:endParaRPr kumimoji="0" lang="en-US" altLang="en-US" sz="1600" b="0" i="0" u="none" strike="noStrike" cap="none" normalizeH="0" baseline="0" dirty="0">
                        <a:ln>
                          <a:noFill/>
                        </a:ln>
                        <a:solidFill>
                          <a:srgbClr val="000000"/>
                        </a:solidFill>
                        <a:effectLst/>
                        <a:latin typeface="+mn-lt"/>
                        <a:ea typeface="ＭＳ Ｐゴシック" pitchFamily="34" charset="-128"/>
                        <a:cs typeface="Arial" pitchFamily="34" charset="0"/>
                      </a:endParaRPr>
                    </a:p>
                  </a:txBody>
                  <a:tcPr horzOverflow="overflow">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400" u="none" strike="noStrike" cap="none" normalizeH="0" baseline="0" dirty="0">
                          <a:ln>
                            <a:noFill/>
                          </a:ln>
                          <a:effectLst/>
                          <a:latin typeface="+mn-lt"/>
                        </a:rPr>
                        <a:t>$300,000</a:t>
                      </a:r>
                      <a:r>
                        <a:rPr kumimoji="0" lang="en-US" altLang="en-US" sz="1400" u="none" strike="noStrike" kern="1200" cap="none" normalizeH="0" baseline="0" dirty="0">
                          <a:ln>
                            <a:noFill/>
                          </a:ln>
                          <a:solidFill>
                            <a:schemeClr val="tx1"/>
                          </a:solidFill>
                          <a:effectLst/>
                          <a:latin typeface="+mn-lt"/>
                          <a:ea typeface="ＭＳ Ｐゴシック" pitchFamily="34" charset="-128"/>
                          <a:cs typeface="+mn-cs"/>
                        </a:rPr>
                        <a:t>    </a:t>
                      </a:r>
                      <a:r>
                        <a:rPr kumimoji="0" lang="en-US" altLang="en-US" sz="1400" u="none" strike="noStrike" kern="1200" cap="none" normalizeH="0" baseline="0" dirty="0">
                          <a:ln>
                            <a:noFill/>
                          </a:ln>
                          <a:solidFill>
                            <a:schemeClr val="tx1"/>
                          </a:solidFill>
                          <a:effectLst/>
                          <a:latin typeface="+mn-lt"/>
                          <a:ea typeface="ＭＳ Ｐゴシック" pitchFamily="34" charset="-128"/>
                          <a:cs typeface="Arial"/>
                        </a:rPr>
                        <a:t>÷</a:t>
                      </a:r>
                      <a:endParaRPr kumimoji="0" lang="en-US" altLang="en-US" sz="1400" b="0" i="0" u="none" strike="noStrike" cap="none" normalizeH="0" baseline="0" dirty="0">
                        <a:ln>
                          <a:noFill/>
                        </a:ln>
                        <a:solidFill>
                          <a:srgbClr val="000000"/>
                        </a:solidFill>
                        <a:effectLst/>
                        <a:latin typeface="+mn-lt"/>
                        <a:ea typeface="ＭＳ Ｐゴシック" pitchFamily="34" charset="-128"/>
                        <a:cs typeface="Arial" pitchFamily="34" charset="0"/>
                      </a:endParaRP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400" u="none" strike="noStrike" cap="none" normalizeH="0" baseline="0" dirty="0">
                          <a:ln>
                            <a:noFill/>
                          </a:ln>
                          <a:effectLst/>
                          <a:latin typeface="+mn-lt"/>
                        </a:rPr>
                        <a:t>$3,000,000</a:t>
                      </a:r>
                      <a:endParaRPr kumimoji="0" lang="en-US" altLang="en-US" sz="1400" b="0" i="0" u="none" strike="noStrike" cap="none" normalizeH="0" baseline="0" dirty="0">
                        <a:ln>
                          <a:noFill/>
                        </a:ln>
                        <a:solidFill>
                          <a:srgbClr val="000000"/>
                        </a:solidFill>
                        <a:effectLst/>
                        <a:latin typeface="+mn-lt"/>
                        <a:ea typeface="ＭＳ Ｐゴシック" pitchFamily="34" charset="-128"/>
                        <a:cs typeface="Arial" pitchFamily="34" charset="0"/>
                      </a:endParaRP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u="none" strike="noStrike" cap="none" normalizeH="0" baseline="0" dirty="0">
                          <a:ln>
                            <a:noFill/>
                          </a:ln>
                          <a:effectLst/>
                          <a:latin typeface="+mn-lt"/>
                        </a:rPr>
                        <a:t>= 20% </a:t>
                      </a:r>
                      <a:r>
                        <a:rPr kumimoji="0" lang="en-US" altLang="en-US" sz="1400" u="none" strike="noStrike" cap="none" normalizeH="0" baseline="0" dirty="0">
                          <a:ln>
                            <a:noFill/>
                          </a:ln>
                          <a:effectLst/>
                          <a:latin typeface="+mn-lt"/>
                          <a:cs typeface="Arial"/>
                        </a:rPr>
                        <a:t>×</a:t>
                      </a:r>
                      <a:endParaRPr kumimoji="0" lang="en-US" altLang="en-US" sz="1400" b="0" i="0" u="none" strike="noStrike" cap="none" normalizeH="0" baseline="0" dirty="0">
                        <a:ln>
                          <a:noFill/>
                        </a:ln>
                        <a:solidFill>
                          <a:srgbClr val="000000"/>
                        </a:solidFill>
                        <a:effectLst/>
                        <a:latin typeface="+mn-lt"/>
                        <a:ea typeface="ＭＳ Ｐゴシック" pitchFamily="34" charset="-128"/>
                        <a:cs typeface="Arial" pitchFamily="34" charset="0"/>
                      </a:endParaRP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u="none" strike="noStrike" cap="none" normalizeH="0" baseline="0" dirty="0">
                          <a:ln>
                            <a:noFill/>
                          </a:ln>
                          <a:effectLst/>
                          <a:latin typeface="+mn-lt"/>
                        </a:rPr>
                        <a:t>$2,800,000</a:t>
                      </a:r>
                      <a:endParaRPr kumimoji="0" lang="en-US" altLang="en-US" sz="1400" b="0" i="0" u="none" strike="noStrike" cap="none" normalizeH="0" baseline="0" dirty="0">
                        <a:ln>
                          <a:noFill/>
                        </a:ln>
                        <a:solidFill>
                          <a:srgbClr val="000000"/>
                        </a:solidFill>
                        <a:effectLst/>
                        <a:latin typeface="+mn-lt"/>
                        <a:ea typeface="ＭＳ Ｐゴシック" pitchFamily="34" charset="-128"/>
                        <a:cs typeface="Arial" pitchFamily="34" charset="0"/>
                      </a:endParaRP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en-US" sz="1400" u="none" strike="noStrike" cap="none" normalizeH="0" baseline="0" dirty="0">
                          <a:ln>
                            <a:noFill/>
                          </a:ln>
                          <a:effectLst/>
                          <a:latin typeface="+mn-lt"/>
                        </a:rPr>
                        <a:t>$280,000</a:t>
                      </a:r>
                      <a:endParaRPr kumimoji="0" lang="en-US" altLang="en-US" sz="1400" b="0" i="0" u="none" strike="noStrike" cap="none" normalizeH="0" baseline="0" dirty="0">
                        <a:ln>
                          <a:noFill/>
                        </a:ln>
                        <a:solidFill>
                          <a:srgbClr val="000000"/>
                        </a:solidFill>
                        <a:effectLst/>
                        <a:latin typeface="+mn-lt"/>
                        <a:ea typeface="ＭＳ Ｐゴシック" pitchFamily="34" charset="-128"/>
                        <a:cs typeface="Arial" pitchFamily="34" charset="0"/>
                      </a:endParaRPr>
                    </a:p>
                  </a:txBody>
                  <a:tcP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90430462"/>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600" u="none" strike="noStrike" cap="none" normalizeH="0" baseline="0" dirty="0">
                          <a:ln>
                            <a:noFill/>
                          </a:ln>
                          <a:effectLst/>
                          <a:latin typeface="+mn-lt"/>
                        </a:rPr>
                        <a:t>Building</a:t>
                      </a:r>
                      <a:endParaRPr kumimoji="0" lang="en-US" altLang="en-US" sz="1600" b="0" i="0" u="none" strike="noStrike" cap="none" normalizeH="0" baseline="0" dirty="0">
                        <a:ln>
                          <a:noFill/>
                        </a:ln>
                        <a:solidFill>
                          <a:srgbClr val="000000"/>
                        </a:solidFill>
                        <a:effectLst/>
                        <a:latin typeface="+mn-lt"/>
                        <a:ea typeface="ＭＳ Ｐゴシック" pitchFamily="34" charset="-128"/>
                        <a:cs typeface="Arial" pitchFamily="34" charset="0"/>
                      </a:endParaRPr>
                    </a:p>
                  </a:txBody>
                  <a:tcPr horzOverflow="overflow">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400" u="none" strike="noStrike" cap="none" normalizeH="0" baseline="0" dirty="0">
                          <a:ln>
                            <a:noFill/>
                          </a:ln>
                          <a:effectLst/>
                          <a:latin typeface="+mn-lt"/>
                        </a:rPr>
                        <a:t>$2,700,000</a:t>
                      </a:r>
                      <a:r>
                        <a:rPr kumimoji="0" lang="en-US" altLang="en-US" sz="1400" u="none" strike="noStrike" kern="1200" cap="none" normalizeH="0" baseline="0" dirty="0">
                          <a:ln>
                            <a:noFill/>
                          </a:ln>
                          <a:solidFill>
                            <a:schemeClr val="tx1"/>
                          </a:solidFill>
                          <a:effectLst/>
                          <a:latin typeface="+mn-lt"/>
                          <a:ea typeface="ＭＳ Ｐゴシック" pitchFamily="34" charset="-128"/>
                          <a:cs typeface="+mn-cs"/>
                        </a:rPr>
                        <a:t> </a:t>
                      </a:r>
                      <a:r>
                        <a:rPr kumimoji="0" lang="en-US" altLang="en-US" sz="1400" u="none" strike="noStrike" kern="1200" cap="none" normalizeH="0" baseline="0" dirty="0">
                          <a:ln>
                            <a:noFill/>
                          </a:ln>
                          <a:solidFill>
                            <a:schemeClr val="tx1"/>
                          </a:solidFill>
                          <a:effectLst/>
                          <a:latin typeface="+mn-lt"/>
                          <a:ea typeface="ＭＳ Ｐゴシック" pitchFamily="34" charset="-128"/>
                          <a:cs typeface="Arial"/>
                        </a:rPr>
                        <a:t>÷</a:t>
                      </a:r>
                      <a:endParaRPr kumimoji="0" lang="en-US" altLang="en-US" sz="1400" b="0" i="0" u="none" strike="noStrike" cap="none" normalizeH="0" baseline="0" dirty="0">
                        <a:ln>
                          <a:noFill/>
                        </a:ln>
                        <a:solidFill>
                          <a:srgbClr val="000000"/>
                        </a:solidFill>
                        <a:effectLst/>
                        <a:latin typeface="+mn-lt"/>
                        <a:ea typeface="ＭＳ Ｐゴシック" pitchFamily="34" charset="-128"/>
                        <a:cs typeface="Arial" pitchFamily="34" charset="0"/>
                      </a:endParaRP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400" u="none" strike="noStrike" cap="none" normalizeH="0" baseline="0" dirty="0">
                          <a:ln>
                            <a:noFill/>
                          </a:ln>
                          <a:effectLst/>
                          <a:latin typeface="+mn-lt"/>
                        </a:rPr>
                        <a:t>$3,000,000</a:t>
                      </a:r>
                      <a:endParaRPr kumimoji="0" lang="en-US" altLang="en-US" sz="1400" b="0" i="0" u="none" strike="noStrike" cap="none" normalizeH="0" baseline="0" dirty="0">
                        <a:ln>
                          <a:noFill/>
                        </a:ln>
                        <a:solidFill>
                          <a:srgbClr val="000000"/>
                        </a:solidFill>
                        <a:effectLst/>
                        <a:latin typeface="+mn-lt"/>
                        <a:ea typeface="ＭＳ Ｐゴシック" pitchFamily="34" charset="-128"/>
                        <a:cs typeface="Arial" pitchFamily="34" charset="0"/>
                      </a:endParaRP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u="none" strike="noStrike" kern="1200" cap="none" normalizeH="0" baseline="0" dirty="0">
                          <a:ln>
                            <a:noFill/>
                          </a:ln>
                          <a:solidFill>
                            <a:schemeClr val="tx1"/>
                          </a:solidFill>
                          <a:effectLst/>
                          <a:latin typeface="+mn-lt"/>
                          <a:ea typeface="ＭＳ Ｐゴシック" pitchFamily="34" charset="-128"/>
                          <a:cs typeface="+mn-cs"/>
                        </a:rPr>
                        <a:t>= </a:t>
                      </a:r>
                      <a:r>
                        <a:rPr kumimoji="0" lang="en-US" altLang="en-US" sz="1400" u="none" strike="noStrike" cap="none" normalizeH="0" baseline="0" dirty="0">
                          <a:ln>
                            <a:noFill/>
                          </a:ln>
                          <a:effectLst/>
                          <a:latin typeface="+mn-lt"/>
                        </a:rPr>
                        <a:t>80%</a:t>
                      </a:r>
                      <a:r>
                        <a:rPr kumimoji="0" lang="en-US" altLang="en-US" sz="1400" u="none" strike="noStrike" kern="1200" cap="none" normalizeH="0" baseline="0" dirty="0">
                          <a:ln>
                            <a:noFill/>
                          </a:ln>
                          <a:solidFill>
                            <a:schemeClr val="tx1"/>
                          </a:solidFill>
                          <a:effectLst/>
                          <a:latin typeface="+mn-lt"/>
                          <a:ea typeface="ＭＳ Ｐゴシック" pitchFamily="34" charset="-128"/>
                          <a:cs typeface="+mn-cs"/>
                        </a:rPr>
                        <a:t> </a:t>
                      </a:r>
                      <a:r>
                        <a:rPr kumimoji="0" lang="en-US" altLang="en-US" sz="1400" u="none" strike="noStrike" kern="1200" cap="none" normalizeH="0" baseline="0" dirty="0">
                          <a:ln>
                            <a:noFill/>
                          </a:ln>
                          <a:solidFill>
                            <a:schemeClr val="tx1"/>
                          </a:solidFill>
                          <a:effectLst/>
                          <a:latin typeface="+mn-lt"/>
                          <a:ea typeface="ＭＳ Ｐゴシック" pitchFamily="34" charset="-128"/>
                          <a:cs typeface="Arial"/>
                        </a:rPr>
                        <a:t>×</a:t>
                      </a:r>
                      <a:endParaRPr kumimoji="0" lang="en-US" altLang="en-US" sz="1400" b="0" i="0" u="none" strike="noStrike" cap="none" normalizeH="0" baseline="0" dirty="0">
                        <a:ln>
                          <a:noFill/>
                        </a:ln>
                        <a:solidFill>
                          <a:srgbClr val="000000"/>
                        </a:solidFill>
                        <a:effectLst/>
                        <a:latin typeface="+mn-lt"/>
                        <a:ea typeface="ＭＳ Ｐゴシック" pitchFamily="34" charset="-128"/>
                        <a:cs typeface="Arial" pitchFamily="34" charset="0"/>
                      </a:endParaRP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u="none" strike="noStrike" cap="none" normalizeH="0" baseline="0" dirty="0">
                          <a:ln>
                            <a:noFill/>
                          </a:ln>
                          <a:effectLst/>
                          <a:latin typeface="+mn-lt"/>
                        </a:rPr>
                        <a:t>$2,800,000</a:t>
                      </a:r>
                      <a:endParaRPr kumimoji="0" lang="en-US" altLang="en-US" sz="1400" b="0" i="0" u="none" strike="noStrike" cap="none" normalizeH="0" baseline="0" dirty="0">
                        <a:ln>
                          <a:noFill/>
                        </a:ln>
                        <a:solidFill>
                          <a:srgbClr val="000000"/>
                        </a:solidFill>
                        <a:effectLst/>
                        <a:latin typeface="+mn-lt"/>
                        <a:ea typeface="ＭＳ Ｐゴシック" pitchFamily="34" charset="-128"/>
                        <a:cs typeface="Arial" pitchFamily="34" charset="0"/>
                      </a:endParaRP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en-US" sz="1400" u="none" strike="noStrike" cap="none" normalizeH="0" baseline="0" dirty="0">
                          <a:ln>
                            <a:noFill/>
                          </a:ln>
                          <a:effectLst/>
                          <a:latin typeface="+mn-lt"/>
                        </a:rPr>
                        <a:t>$2,520,000</a:t>
                      </a:r>
                      <a:endParaRPr kumimoji="0" lang="en-US" altLang="en-US" sz="1400" b="0" i="0" u="none" strike="noStrike" cap="none" normalizeH="0" baseline="0" dirty="0">
                        <a:ln>
                          <a:noFill/>
                        </a:ln>
                        <a:solidFill>
                          <a:srgbClr val="000000"/>
                        </a:solidFill>
                        <a:effectLst/>
                        <a:latin typeface="+mn-lt"/>
                        <a:ea typeface="ＭＳ Ｐゴシック" pitchFamily="34" charset="-128"/>
                        <a:cs typeface="Arial" pitchFamily="34" charset="0"/>
                      </a:endParaRPr>
                    </a:p>
                  </a:txBody>
                  <a:tcP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0384984"/>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000000"/>
                        </a:solidFill>
                        <a:effectLst/>
                        <a:latin typeface="+mn-lt"/>
                        <a:ea typeface="ＭＳ Ｐゴシック" pitchFamily="34" charset="-128"/>
                        <a:cs typeface="Arial" pitchFamily="34" charset="0"/>
                      </a:endParaRPr>
                    </a:p>
                  </a:txBody>
                  <a:tcPr horzOverflow="overflow">
                    <a:lnL w="1270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400" u="none" strike="noStrike" cap="none" normalizeH="0" baseline="0" dirty="0">
                          <a:ln>
                            <a:noFill/>
                          </a:ln>
                          <a:effectLst/>
                          <a:latin typeface="+mn-lt"/>
                        </a:rPr>
                        <a:t>$3,000,000</a:t>
                      </a:r>
                      <a:endParaRPr kumimoji="0" lang="en-US" altLang="en-US" sz="1400" b="0" i="0" u="none" strike="noStrike" cap="none" normalizeH="0" baseline="0" dirty="0">
                        <a:ln>
                          <a:noFill/>
                        </a:ln>
                        <a:solidFill>
                          <a:srgbClr val="000000"/>
                        </a:solidFill>
                        <a:effectLst/>
                        <a:latin typeface="+mn-lt"/>
                        <a:ea typeface="ＭＳ Ｐゴシック" pitchFamily="34" charset="-128"/>
                        <a:cs typeface="Arial" pitchFamily="34" charset="0"/>
                      </a:endParaRP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rgbClr val="000000"/>
                        </a:solidFill>
                        <a:effectLst/>
                        <a:latin typeface="+mn-lt"/>
                        <a:ea typeface="ＭＳ Ｐゴシック" pitchFamily="34" charset="-128"/>
                        <a:cs typeface="Arial" pitchFamily="34" charset="0"/>
                      </a:endParaRP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400" u="none" strike="noStrike" cap="none" normalizeH="0" baseline="0" dirty="0">
                          <a:ln>
                            <a:noFill/>
                          </a:ln>
                          <a:effectLst/>
                          <a:latin typeface="+mn-lt"/>
                        </a:rPr>
                        <a:t>100%</a:t>
                      </a:r>
                      <a:endParaRPr kumimoji="0" lang="en-US" altLang="en-US" sz="1400" b="0" i="0" u="none" strike="noStrike" cap="none" normalizeH="0" baseline="0" dirty="0">
                        <a:ln>
                          <a:noFill/>
                        </a:ln>
                        <a:solidFill>
                          <a:srgbClr val="000000"/>
                        </a:solidFill>
                        <a:effectLst/>
                        <a:latin typeface="+mn-lt"/>
                        <a:ea typeface="ＭＳ Ｐゴシック" pitchFamily="34" charset="-128"/>
                        <a:cs typeface="Arial" pitchFamily="34" charset="0"/>
                      </a:endParaRP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rgbClr val="000000"/>
                        </a:solidFill>
                        <a:effectLst/>
                        <a:latin typeface="+mn-lt"/>
                        <a:ea typeface="ＭＳ Ｐゴシック" pitchFamily="34" charset="-128"/>
                        <a:cs typeface="Arial" pitchFamily="34" charset="0"/>
                      </a:endParaRP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en-US" sz="1400" u="none" strike="noStrike" cap="none" normalizeH="0" baseline="0" dirty="0">
                          <a:ln>
                            <a:noFill/>
                          </a:ln>
                          <a:effectLst/>
                          <a:latin typeface="+mn-lt"/>
                        </a:rPr>
                        <a:t>$2,800,000</a:t>
                      </a:r>
                      <a:endParaRPr kumimoji="0" lang="en-US" altLang="en-US" sz="1400" b="0" i="0" u="none" strike="noStrike" cap="none" normalizeH="0" baseline="0" dirty="0">
                        <a:ln>
                          <a:noFill/>
                        </a:ln>
                        <a:solidFill>
                          <a:srgbClr val="000000"/>
                        </a:solidFill>
                        <a:effectLst/>
                        <a:latin typeface="+mn-lt"/>
                        <a:ea typeface="ＭＳ Ｐゴシック" pitchFamily="34" charset="-128"/>
                        <a:cs typeface="Arial" pitchFamily="34" charset="0"/>
                      </a:endParaRPr>
                    </a:p>
                  </a:txBody>
                  <a:tcPr horzOverflow="overflow">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625189"/>
                  </a:ext>
                </a:extLst>
              </a:tr>
            </a:tbl>
          </a:graphicData>
        </a:graphic>
      </p:graphicFrame>
    </p:spTree>
    <p:extLst>
      <p:ext uri="{BB962C8B-B14F-4D97-AF65-F5344CB8AC3E}">
        <p14:creationId xmlns:p14="http://schemas.microsoft.com/office/powerpoint/2010/main" val="1565394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title"/>
          </p:nvPr>
        </p:nvSpPr>
        <p:spPr>
          <a:xfrm>
            <a:off x="457200" y="215372"/>
            <a:ext cx="8229600" cy="1097280"/>
          </a:xfrm>
        </p:spPr>
        <p:txBody>
          <a:bodyPr/>
          <a:lstStyle/>
          <a:p>
            <a:r>
              <a:rPr lang="en-US" altLang="en-US" dirty="0">
                <a:ea typeface="ＭＳ Ｐゴシック" pitchFamily="34" charset="-128"/>
              </a:rPr>
              <a:t>Capital Expenditures versus Expenses</a:t>
            </a:r>
            <a:endParaRPr lang="en-US" dirty="0"/>
          </a:p>
        </p:txBody>
      </p:sp>
      <p:sp>
        <p:nvSpPr>
          <p:cNvPr id="5" name="Text Placeholder 4"/>
          <p:cNvSpPr>
            <a:spLocks noGrp="1"/>
          </p:cNvSpPr>
          <p:nvPr>
            <p:ph type="body" idx="1"/>
          </p:nvPr>
        </p:nvSpPr>
        <p:spPr>
          <a:xfrm>
            <a:off x="457200" y="1673352"/>
            <a:ext cx="4040982" cy="457200"/>
          </a:xfrm>
          <a:solidFill>
            <a:srgbClr val="C5F3FF"/>
          </a:solidFill>
          <a:ln>
            <a:solidFill>
              <a:srgbClr val="007FA3"/>
            </a:solidFill>
          </a:ln>
        </p:spPr>
        <p:txBody>
          <a:bodyPr>
            <a:normAutofit fontScale="92500"/>
          </a:bodyPr>
          <a:lstStyle/>
          <a:p>
            <a:pPr algn="ctr"/>
            <a:r>
              <a:rPr lang="en-US" b="1" dirty="0"/>
              <a:t>CAPITAL EXPENDITURES</a:t>
            </a:r>
          </a:p>
        </p:txBody>
      </p:sp>
      <p:sp>
        <p:nvSpPr>
          <p:cNvPr id="6" name="Content Placeholder 5"/>
          <p:cNvSpPr>
            <a:spLocks noGrp="1"/>
          </p:cNvSpPr>
          <p:nvPr>
            <p:ph sz="half" idx="2"/>
          </p:nvPr>
        </p:nvSpPr>
        <p:spPr>
          <a:xfrm>
            <a:off x="457200" y="2210178"/>
            <a:ext cx="4040982" cy="2666622"/>
          </a:xfrm>
        </p:spPr>
        <p:txBody>
          <a:bodyPr/>
          <a:lstStyle/>
          <a:p>
            <a:r>
              <a:rPr lang="en-US" altLang="en-US" dirty="0">
                <a:ea typeface="ＭＳ Ｐゴシック" pitchFamily="34" charset="-128"/>
              </a:rPr>
              <a:t>Increase capacity or extend useful life</a:t>
            </a:r>
          </a:p>
          <a:p>
            <a:r>
              <a:rPr lang="en-US" altLang="en-US" dirty="0">
                <a:ea typeface="ＭＳ Ｐゴシック" pitchFamily="34" charset="-128"/>
              </a:rPr>
              <a:t>Cost is added to an asset account</a:t>
            </a:r>
            <a:endParaRPr lang="en-US" dirty="0"/>
          </a:p>
        </p:txBody>
      </p:sp>
      <p:sp>
        <p:nvSpPr>
          <p:cNvPr id="7" name="Text Placeholder 6"/>
          <p:cNvSpPr>
            <a:spLocks noGrp="1"/>
          </p:cNvSpPr>
          <p:nvPr>
            <p:ph type="body" sz="quarter" idx="3"/>
          </p:nvPr>
        </p:nvSpPr>
        <p:spPr>
          <a:xfrm>
            <a:off x="4629150" y="1676400"/>
            <a:ext cx="4041648" cy="457200"/>
          </a:xfrm>
          <a:solidFill>
            <a:srgbClr val="C5F3FF"/>
          </a:solidFill>
          <a:ln>
            <a:solidFill>
              <a:srgbClr val="007FA3"/>
            </a:solidFill>
          </a:ln>
        </p:spPr>
        <p:txBody>
          <a:bodyPr/>
          <a:lstStyle/>
          <a:p>
            <a:pPr algn="ctr"/>
            <a:r>
              <a:rPr lang="en-US" b="1" dirty="0"/>
              <a:t>EXPENSES</a:t>
            </a:r>
          </a:p>
        </p:txBody>
      </p:sp>
      <p:sp>
        <p:nvSpPr>
          <p:cNvPr id="8" name="Content Placeholder 7"/>
          <p:cNvSpPr>
            <a:spLocks noGrp="1"/>
          </p:cNvSpPr>
          <p:nvPr>
            <p:ph sz="quarter" idx="4"/>
          </p:nvPr>
        </p:nvSpPr>
        <p:spPr>
          <a:xfrm>
            <a:off x="4629150" y="2219803"/>
            <a:ext cx="4041648" cy="2656997"/>
          </a:xfrm>
        </p:spPr>
        <p:txBody>
          <a:bodyPr>
            <a:normAutofit lnSpcReduction="10000"/>
          </a:bodyPr>
          <a:lstStyle/>
          <a:p>
            <a:r>
              <a:rPr lang="en-US" altLang="en-US" dirty="0">
                <a:ea typeface="ＭＳ Ｐゴシック" pitchFamily="34" charset="-128"/>
              </a:rPr>
              <a:t>Do not extend capacity or useful life</a:t>
            </a:r>
          </a:p>
          <a:p>
            <a:r>
              <a:rPr lang="en-US" altLang="en-US" dirty="0">
                <a:ea typeface="ＭＳ Ｐゴシック" pitchFamily="34" charset="-128"/>
              </a:rPr>
              <a:t>Maintain or restore working order</a:t>
            </a:r>
          </a:p>
          <a:p>
            <a:r>
              <a:rPr lang="en-US" altLang="en-US" dirty="0">
                <a:ea typeface="ＭＳ Ｐゴシック" pitchFamily="34" charset="-128"/>
              </a:rPr>
              <a:t>Cost is recorded as an expense</a:t>
            </a:r>
            <a:endParaRPr lang="en-US" dirty="0"/>
          </a:p>
        </p:txBody>
      </p:sp>
      <p:sp>
        <p:nvSpPr>
          <p:cNvPr id="9" name="Content Placeholder 8"/>
          <p:cNvSpPr>
            <a:spLocks noGrp="1"/>
          </p:cNvSpPr>
          <p:nvPr>
            <p:ph sz="half" idx="13"/>
          </p:nvPr>
        </p:nvSpPr>
        <p:spPr>
          <a:xfrm>
            <a:off x="533400" y="5105400"/>
            <a:ext cx="8137398" cy="761999"/>
          </a:xfrm>
          <a:solidFill>
            <a:srgbClr val="C5F3FF"/>
          </a:solidFill>
          <a:ln>
            <a:solidFill>
              <a:schemeClr val="bg2"/>
            </a:solidFill>
          </a:ln>
        </p:spPr>
        <p:txBody>
          <a:bodyPr anchor="ctr">
            <a:normAutofit lnSpcReduction="10000"/>
          </a:bodyPr>
          <a:lstStyle/>
          <a:p>
            <a:pPr marL="0" indent="0" algn="ctr">
              <a:buNone/>
            </a:pPr>
            <a:r>
              <a:rPr lang="en-US" dirty="0"/>
              <a:t>Distinction between the two requires professional judgment</a:t>
            </a:r>
          </a:p>
        </p:txBody>
      </p:sp>
    </p:spTree>
    <p:extLst>
      <p:ext uri="{BB962C8B-B14F-4D97-AF65-F5344CB8AC3E}">
        <p14:creationId xmlns:p14="http://schemas.microsoft.com/office/powerpoint/2010/main" val="24448152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Leased Assets</a:t>
            </a:r>
            <a:endParaRPr lang="en-US" dirty="0"/>
          </a:p>
        </p:txBody>
      </p:sp>
      <p:sp>
        <p:nvSpPr>
          <p:cNvPr id="3" name="Content Placeholder 2"/>
          <p:cNvSpPr>
            <a:spLocks noGrp="1"/>
          </p:cNvSpPr>
          <p:nvPr>
            <p:ph idx="1"/>
          </p:nvPr>
        </p:nvSpPr>
        <p:spPr>
          <a:xfrm>
            <a:off x="457200" y="1600200"/>
            <a:ext cx="8229600" cy="3200399"/>
          </a:xfrm>
        </p:spPr>
        <p:txBody>
          <a:bodyPr/>
          <a:lstStyle/>
          <a:p>
            <a:r>
              <a:rPr lang="en-US" altLang="en-US" dirty="0">
                <a:ea typeface="ＭＳ Ｐゴシック" pitchFamily="34" charset="-128"/>
              </a:rPr>
              <a:t>Should leases be </a:t>
            </a:r>
            <a:r>
              <a:rPr lang="en-CA" b="0" i="0" u="none" strike="noStrike" baseline="0" dirty="0"/>
              <a:t>capitalized as fixed assets or should lease payments be expensed?</a:t>
            </a:r>
            <a:endParaRPr lang="en-US" altLang="en-US" dirty="0">
              <a:ea typeface="ＭＳ Ｐゴシック" pitchFamily="34" charset="-128"/>
            </a:endParaRPr>
          </a:p>
          <a:p>
            <a:pPr algn="l"/>
            <a:r>
              <a:rPr lang="en-US" altLang="en-US" dirty="0">
                <a:ea typeface="ＭＳ Ｐゴシック" pitchFamily="34" charset="-128"/>
              </a:rPr>
              <a:t>Typically, </a:t>
            </a:r>
            <a:r>
              <a:rPr lang="en-CA" b="0" i="0" u="none" strike="noStrike" baseline="0" dirty="0"/>
              <a:t>lease agreements for fixed </a:t>
            </a:r>
            <a:r>
              <a:rPr lang="en-US" b="0" i="0" u="none" strike="noStrike" baseline="0" dirty="0"/>
              <a:t>assets usually result in both the “right-to-use asset” and the obligation (liability) for the future lease payments being recorded on the balance sheet</a:t>
            </a:r>
            <a:endParaRPr lang="en-US" dirty="0"/>
          </a:p>
        </p:txBody>
      </p:sp>
    </p:spTree>
    <p:extLst>
      <p:ext uri="{BB962C8B-B14F-4D97-AF65-F5344CB8AC3E}">
        <p14:creationId xmlns:p14="http://schemas.microsoft.com/office/powerpoint/2010/main" val="2705966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Two</a:t>
            </a:r>
          </a:p>
        </p:txBody>
      </p:sp>
      <p:sp>
        <p:nvSpPr>
          <p:cNvPr id="3" name="Content Placeholder 2"/>
          <p:cNvSpPr>
            <a:spLocks noGrp="1"/>
          </p:cNvSpPr>
          <p:nvPr>
            <p:ph type="subTitle" idx="1"/>
          </p:nvPr>
        </p:nvSpPr>
        <p:spPr/>
        <p:txBody>
          <a:bodyPr>
            <a:normAutofit lnSpcReduction="10000"/>
          </a:bodyPr>
          <a:lstStyle/>
          <a:p>
            <a:r>
              <a:rPr lang="en-US" altLang="en-US" b="1" dirty="0">
                <a:ea typeface="ＭＳ Ｐゴシック" pitchFamily="34" charset="-128"/>
              </a:rPr>
              <a:t>Explain </a:t>
            </a:r>
            <a:r>
              <a:rPr lang="en-US" altLang="en-US" dirty="0">
                <a:ea typeface="ＭＳ Ｐゴシック" pitchFamily="34" charset="-128"/>
              </a:rPr>
              <a:t>how to account for depreciation on property, plant, and equipment</a:t>
            </a:r>
            <a:endParaRPr lang="en-US" dirty="0"/>
          </a:p>
        </p:txBody>
      </p:sp>
    </p:spTree>
    <p:extLst>
      <p:ext uri="{BB962C8B-B14F-4D97-AF65-F5344CB8AC3E}">
        <p14:creationId xmlns:p14="http://schemas.microsoft.com/office/powerpoint/2010/main" val="716283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Depreciation</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Allocation of property, plant, and equipment (PPE) asset’s cost to expense over its life</a:t>
            </a:r>
          </a:p>
          <a:p>
            <a:r>
              <a:rPr lang="en-US" altLang="en-US" dirty="0">
                <a:ea typeface="ＭＳ Ｐゴシック" pitchFamily="34" charset="-128"/>
              </a:rPr>
              <a:t>Follows expense recognition principle</a:t>
            </a:r>
          </a:p>
          <a:p>
            <a:r>
              <a:rPr lang="en-US" altLang="en-US" dirty="0">
                <a:ea typeface="ＭＳ Ｐゴシック" pitchFamily="34" charset="-128"/>
              </a:rPr>
              <a:t>Causes:</a:t>
            </a:r>
          </a:p>
          <a:p>
            <a:pPr lvl="1"/>
            <a:r>
              <a:rPr lang="en-US" altLang="en-US" dirty="0">
                <a:ea typeface="ＭＳ Ｐゴシック" pitchFamily="34" charset="-128"/>
              </a:rPr>
              <a:t>Physical wear and tear</a:t>
            </a:r>
          </a:p>
          <a:p>
            <a:pPr lvl="1"/>
            <a:r>
              <a:rPr lang="en-US" altLang="en-US" dirty="0">
                <a:ea typeface="ＭＳ Ｐゴシック" pitchFamily="34" charset="-128"/>
              </a:rPr>
              <a:t>Obsolescence</a:t>
            </a:r>
          </a:p>
          <a:p>
            <a:r>
              <a:rPr lang="en-US" altLang="en-US" dirty="0">
                <a:ea typeface="ＭＳ Ｐゴシック" pitchFamily="34" charset="-128"/>
              </a:rPr>
              <a:t>Land is NOT depreciated</a:t>
            </a:r>
          </a:p>
          <a:p>
            <a:pPr lvl="1"/>
            <a:r>
              <a:rPr lang="en-US" altLang="en-US" dirty="0">
                <a:ea typeface="ＭＳ Ｐゴシック" pitchFamily="34" charset="-128"/>
              </a:rPr>
              <a:t>Unlimited useful life</a:t>
            </a:r>
            <a:endParaRPr lang="en-US" dirty="0"/>
          </a:p>
        </p:txBody>
      </p:sp>
    </p:spTree>
    <p:extLst>
      <p:ext uri="{BB962C8B-B14F-4D97-AF65-F5344CB8AC3E}">
        <p14:creationId xmlns:p14="http://schemas.microsoft.com/office/powerpoint/2010/main" val="2064478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Depreciation is NOT:</a:t>
            </a:r>
            <a:endParaRPr lang="en-US" dirty="0"/>
          </a:p>
        </p:txBody>
      </p:sp>
      <p:sp>
        <p:nvSpPr>
          <p:cNvPr id="4" name="Text Placeholder 3"/>
          <p:cNvSpPr>
            <a:spLocks noGrp="1"/>
          </p:cNvSpPr>
          <p:nvPr>
            <p:ph type="body" idx="1"/>
          </p:nvPr>
        </p:nvSpPr>
        <p:spPr>
          <a:xfrm>
            <a:off x="1600200" y="1912225"/>
            <a:ext cx="2743200" cy="1828800"/>
          </a:xfrm>
        </p:spPr>
        <p:txBody>
          <a:bodyPr/>
          <a:lstStyle/>
          <a:p>
            <a:r>
              <a:rPr lang="en-US" sz="2800" dirty="0"/>
              <a:t>Valuation process</a:t>
            </a:r>
          </a:p>
        </p:txBody>
      </p:sp>
      <p:sp>
        <p:nvSpPr>
          <p:cNvPr id="5" name="Content Placeholder 4"/>
          <p:cNvSpPr>
            <a:spLocks noGrp="1"/>
          </p:cNvSpPr>
          <p:nvPr>
            <p:ph sz="half" idx="2"/>
          </p:nvPr>
        </p:nvSpPr>
        <p:spPr>
          <a:xfrm>
            <a:off x="4876800" y="1912225"/>
            <a:ext cx="2743200" cy="1828800"/>
          </a:xfrm>
        </p:spPr>
        <p:txBody>
          <a:bodyPr/>
          <a:lstStyle/>
          <a:p>
            <a:pPr marL="0" indent="0"/>
            <a:r>
              <a:rPr lang="en-US" sz="2800" dirty="0"/>
              <a:t>A fund to replace assets</a:t>
            </a:r>
          </a:p>
        </p:txBody>
      </p:sp>
    </p:spTree>
    <p:extLst>
      <p:ext uri="{BB962C8B-B14F-4D97-AF65-F5344CB8AC3E}">
        <p14:creationId xmlns:p14="http://schemas.microsoft.com/office/powerpoint/2010/main" val="27958948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Amounts Needed for Depreciation</a:t>
            </a:r>
            <a:endParaRPr lang="en-US" dirty="0"/>
          </a:p>
        </p:txBody>
      </p:sp>
      <p:sp>
        <p:nvSpPr>
          <p:cNvPr id="4" name="Text Placeholder 3"/>
          <p:cNvSpPr>
            <a:spLocks noGrp="1"/>
          </p:cNvSpPr>
          <p:nvPr>
            <p:ph type="body" idx="1"/>
          </p:nvPr>
        </p:nvSpPr>
        <p:spPr>
          <a:xfrm>
            <a:off x="1600200" y="1924050"/>
            <a:ext cx="2743200" cy="1828800"/>
          </a:xfrm>
        </p:spPr>
        <p:txBody>
          <a:bodyPr/>
          <a:lstStyle/>
          <a:p>
            <a:pPr lvl="0"/>
            <a:r>
              <a:rPr lang="en-US" sz="2800" dirty="0"/>
              <a:t>Cost</a:t>
            </a:r>
          </a:p>
        </p:txBody>
      </p:sp>
      <p:sp>
        <p:nvSpPr>
          <p:cNvPr id="5" name="Content Placeholder 4"/>
          <p:cNvSpPr>
            <a:spLocks noGrp="1"/>
          </p:cNvSpPr>
          <p:nvPr>
            <p:ph sz="half" idx="2"/>
          </p:nvPr>
        </p:nvSpPr>
        <p:spPr>
          <a:xfrm>
            <a:off x="4831080" y="1924050"/>
            <a:ext cx="2743200" cy="1828800"/>
          </a:xfrm>
        </p:spPr>
        <p:txBody>
          <a:bodyPr/>
          <a:lstStyle/>
          <a:p>
            <a:pPr marL="0" lvl="0" indent="0"/>
            <a:r>
              <a:rPr lang="en-US" sz="2800" dirty="0"/>
              <a:t>Useful life</a:t>
            </a:r>
          </a:p>
        </p:txBody>
      </p:sp>
      <p:sp>
        <p:nvSpPr>
          <p:cNvPr id="6" name="Text Placeholder 5"/>
          <p:cNvSpPr>
            <a:spLocks noGrp="1"/>
          </p:cNvSpPr>
          <p:nvPr>
            <p:ph type="body" sz="quarter" idx="3"/>
          </p:nvPr>
        </p:nvSpPr>
        <p:spPr>
          <a:xfrm>
            <a:off x="3200400" y="4057650"/>
            <a:ext cx="2743200" cy="1828800"/>
          </a:xfrm>
        </p:spPr>
        <p:txBody>
          <a:bodyPr/>
          <a:lstStyle/>
          <a:p>
            <a:pPr lvl="0"/>
            <a:r>
              <a:rPr lang="en-US" sz="2800" dirty="0"/>
              <a:t>Residual value</a:t>
            </a:r>
          </a:p>
        </p:txBody>
      </p:sp>
    </p:spTree>
    <p:extLst>
      <p:ext uri="{BB962C8B-B14F-4D97-AF65-F5344CB8AC3E}">
        <p14:creationId xmlns:p14="http://schemas.microsoft.com/office/powerpoint/2010/main" val="4245090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Depreciation Methods</a:t>
            </a:r>
            <a:r>
              <a:rPr lang="en-US" altLang="en-US" sz="2000" b="0" dirty="0">
                <a:ea typeface="ＭＳ Ｐゴシック" pitchFamily="34" charset="-128"/>
              </a:rPr>
              <a:t> (1 of 2)</a:t>
            </a:r>
            <a:endParaRPr lang="en-US" sz="2000" dirty="0"/>
          </a:p>
        </p:txBody>
      </p:sp>
      <p:sp>
        <p:nvSpPr>
          <p:cNvPr id="4" name="Text Placeholder 3"/>
          <p:cNvSpPr>
            <a:spLocks noGrp="1"/>
          </p:cNvSpPr>
          <p:nvPr>
            <p:ph type="body" idx="1"/>
          </p:nvPr>
        </p:nvSpPr>
        <p:spPr>
          <a:xfrm>
            <a:off x="2209800" y="1752600"/>
            <a:ext cx="4800600" cy="990600"/>
          </a:xfrm>
        </p:spPr>
        <p:txBody>
          <a:bodyPr/>
          <a:lstStyle/>
          <a:p>
            <a:r>
              <a:rPr lang="en-US" sz="2800" dirty="0"/>
              <a:t>Straight-line</a:t>
            </a:r>
          </a:p>
        </p:txBody>
      </p:sp>
      <p:sp>
        <p:nvSpPr>
          <p:cNvPr id="5" name="Content Placeholder 4"/>
          <p:cNvSpPr>
            <a:spLocks noGrp="1"/>
          </p:cNvSpPr>
          <p:nvPr>
            <p:ph sz="half" idx="2"/>
          </p:nvPr>
        </p:nvSpPr>
        <p:spPr>
          <a:xfrm>
            <a:off x="2209800" y="3124200"/>
            <a:ext cx="4800600" cy="990600"/>
          </a:xfrm>
        </p:spPr>
        <p:txBody>
          <a:bodyPr/>
          <a:lstStyle/>
          <a:p>
            <a:pPr marL="0" indent="0"/>
            <a:r>
              <a:rPr lang="en-US" sz="2800" dirty="0"/>
              <a:t>Units-of-production</a:t>
            </a:r>
          </a:p>
        </p:txBody>
      </p:sp>
      <p:sp>
        <p:nvSpPr>
          <p:cNvPr id="6" name="Text Placeholder 5"/>
          <p:cNvSpPr>
            <a:spLocks noGrp="1"/>
          </p:cNvSpPr>
          <p:nvPr>
            <p:ph type="body" sz="quarter" idx="3"/>
          </p:nvPr>
        </p:nvSpPr>
        <p:spPr>
          <a:xfrm>
            <a:off x="2209800" y="4419600"/>
            <a:ext cx="4800600" cy="914400"/>
          </a:xfrm>
        </p:spPr>
        <p:txBody>
          <a:bodyPr/>
          <a:lstStyle/>
          <a:p>
            <a:r>
              <a:rPr lang="en-US" sz="2800" dirty="0"/>
              <a:t>Diminishing-balance</a:t>
            </a:r>
          </a:p>
        </p:txBody>
      </p:sp>
    </p:spTree>
    <p:extLst>
      <p:ext uri="{BB962C8B-B14F-4D97-AF65-F5344CB8AC3E}">
        <p14:creationId xmlns:p14="http://schemas.microsoft.com/office/powerpoint/2010/main" val="36081916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200" y="219456"/>
            <a:ext cx="8229600" cy="1097280"/>
          </a:xfrm>
        </p:spPr>
        <p:txBody>
          <a:bodyPr/>
          <a:lstStyle/>
          <a:p>
            <a:r>
              <a:rPr lang="en-US" altLang="en-US" dirty="0">
                <a:ea typeface="ＭＳ Ｐゴシック" pitchFamily="34" charset="-128"/>
              </a:rPr>
              <a:t>With Depreciation:</a:t>
            </a:r>
            <a:endParaRPr lang="en-US" dirty="0"/>
          </a:p>
        </p:txBody>
      </p:sp>
      <p:sp>
        <p:nvSpPr>
          <p:cNvPr id="12" name="Up Arrow 11"/>
          <p:cNvSpPr/>
          <p:nvPr/>
        </p:nvSpPr>
        <p:spPr>
          <a:xfrm>
            <a:off x="1620019" y="1752600"/>
            <a:ext cx="1656581" cy="1580527"/>
          </a:xfrm>
          <a:prstGeom prst="upArrow">
            <a:avLst/>
          </a:prstGeom>
          <a:solidFill>
            <a:srgbClr val="007FA3"/>
          </a:solidFill>
          <a:ln>
            <a:solidFill>
              <a:srgbClr val="007FA3"/>
            </a:solidFill>
          </a:ln>
          <a:effectLst/>
          <a:scene3d>
            <a:camera prst="orthographicFront" fov="0">
              <a:rot lat="0" lon="0" rev="0"/>
            </a:camera>
            <a:lightRig rig="flat" dir="t">
              <a:rot lat="0" lon="0" rev="20040000"/>
            </a:lightRig>
          </a:scene3d>
          <a:sp3d contourW="12700" prstMaterial="dkEdge">
            <a:contourClr>
              <a:scrgbClr r="0" g="0" b="0">
                <a:satMod val="115000"/>
              </a:scrgbClr>
            </a:contourClr>
          </a:sp3d>
        </p:spPr>
        <p:style>
          <a:lnRef idx="0">
            <a:scrgbClr r="0" g="0" b="0"/>
          </a:lnRef>
          <a:fillRef idx="3">
            <a:scrgbClr r="0" g="0" b="0"/>
          </a:fillRef>
          <a:effectRef idx="3">
            <a:scrgbClr r="0" g="0" b="0"/>
          </a:effectRef>
          <a:fontRef idx="minor">
            <a:schemeClr val="lt1"/>
          </a:fontRef>
        </p:style>
        <p:txBody>
          <a:bodyPr/>
          <a:lstStyle/>
          <a:p>
            <a:endParaRPr lang="en-IN" dirty="0"/>
          </a:p>
        </p:txBody>
      </p:sp>
      <p:sp>
        <p:nvSpPr>
          <p:cNvPr id="9" name="Content Placeholder 8"/>
          <p:cNvSpPr>
            <a:spLocks noGrp="1"/>
          </p:cNvSpPr>
          <p:nvPr>
            <p:ph idx="1"/>
          </p:nvPr>
        </p:nvSpPr>
        <p:spPr>
          <a:xfrm>
            <a:off x="3505200" y="1752599"/>
            <a:ext cx="2362202" cy="1524001"/>
          </a:xfrm>
        </p:spPr>
        <p:txBody>
          <a:bodyPr>
            <a:normAutofit fontScale="92500"/>
          </a:bodyPr>
          <a:lstStyle/>
          <a:p>
            <a:pPr lvl="0" algn="ctr"/>
            <a:r>
              <a:rPr lang="en-US" sz="3000" dirty="0"/>
              <a:t>Accumulated depreciation increases</a:t>
            </a:r>
          </a:p>
        </p:txBody>
      </p:sp>
      <p:sp>
        <p:nvSpPr>
          <p:cNvPr id="13" name="Down Arrow 12"/>
          <p:cNvSpPr/>
          <p:nvPr/>
        </p:nvSpPr>
        <p:spPr>
          <a:xfrm>
            <a:off x="2246021" y="3581400"/>
            <a:ext cx="1640179" cy="1580527"/>
          </a:xfrm>
          <a:prstGeom prst="downArrow">
            <a:avLst/>
          </a:prstGeom>
          <a:solidFill>
            <a:srgbClr val="007FA3"/>
          </a:solidFill>
          <a:ln>
            <a:solidFill>
              <a:srgbClr val="007FA3"/>
            </a:solidFill>
          </a:ln>
          <a:effectLst/>
          <a:scene3d>
            <a:camera prst="orthographicFront" fov="0">
              <a:rot lat="0" lon="0" rev="0"/>
            </a:camera>
            <a:lightRig rig="flat" dir="t">
              <a:rot lat="0" lon="0" rev="20040000"/>
            </a:lightRig>
          </a:scene3d>
          <a:sp3d contourW="12700" prstMaterial="dkEdge">
            <a:contourClr>
              <a:scrgbClr r="0" g="0" b="0">
                <a:satMod val="115000"/>
              </a:scrgbClr>
            </a:contourClr>
          </a:sp3d>
        </p:spPr>
        <p:style>
          <a:lnRef idx="0">
            <a:scrgbClr r="0" g="0" b="0"/>
          </a:lnRef>
          <a:fillRef idx="3">
            <a:scrgbClr r="0" g="0" b="0"/>
          </a:fillRef>
          <a:effectRef idx="3">
            <a:scrgbClr r="0" g="0" b="0"/>
          </a:effectRef>
          <a:fontRef idx="minor">
            <a:schemeClr val="lt1"/>
          </a:fontRef>
        </p:style>
        <p:txBody>
          <a:bodyPr/>
          <a:lstStyle/>
          <a:p>
            <a:endParaRPr lang="en-IN" dirty="0"/>
          </a:p>
        </p:txBody>
      </p:sp>
      <p:sp>
        <p:nvSpPr>
          <p:cNvPr id="10" name="Content Placeholder 9"/>
          <p:cNvSpPr>
            <a:spLocks noGrp="1"/>
          </p:cNvSpPr>
          <p:nvPr>
            <p:ph sz="quarter" idx="13"/>
          </p:nvPr>
        </p:nvSpPr>
        <p:spPr>
          <a:xfrm>
            <a:off x="4419600" y="3505200"/>
            <a:ext cx="2057400" cy="1447800"/>
          </a:xfrm>
        </p:spPr>
        <p:txBody>
          <a:bodyPr>
            <a:normAutofit lnSpcReduction="10000"/>
          </a:bodyPr>
          <a:lstStyle/>
          <a:p>
            <a:pPr lvl="0" algn="ctr"/>
            <a:r>
              <a:rPr lang="en-US" sz="3000" dirty="0"/>
              <a:t>Carrying Amount decreases</a:t>
            </a:r>
          </a:p>
        </p:txBody>
      </p:sp>
      <p:sp>
        <p:nvSpPr>
          <p:cNvPr id="11" name="Content Placeholder 10"/>
          <p:cNvSpPr>
            <a:spLocks noGrp="1"/>
          </p:cNvSpPr>
          <p:nvPr>
            <p:ph sz="quarter" idx="14"/>
          </p:nvPr>
        </p:nvSpPr>
        <p:spPr>
          <a:xfrm>
            <a:off x="1116955" y="5271200"/>
            <a:ext cx="6986291" cy="520000"/>
          </a:xfrm>
          <a:solidFill>
            <a:srgbClr val="C5F3FF"/>
          </a:solidFill>
          <a:ln>
            <a:solidFill>
              <a:schemeClr val="bg2"/>
            </a:solidFill>
          </a:ln>
        </p:spPr>
        <p:txBody>
          <a:bodyPr/>
          <a:lstStyle/>
          <a:p>
            <a:pPr algn="ctr"/>
            <a:r>
              <a:rPr lang="en-US" altLang="en-US" sz="2400" dirty="0"/>
              <a:t>Asset</a:t>
            </a:r>
            <a:r>
              <a:rPr lang="ja-JP" altLang="en-US" sz="2400" dirty="0"/>
              <a:t>’</a:t>
            </a:r>
            <a:r>
              <a:rPr lang="en-US" altLang="ja-JP" sz="2400" dirty="0"/>
              <a:t>s final carrying amount = Residual value</a:t>
            </a:r>
            <a:endParaRPr lang="en-US" altLang="en-US" sz="2400" dirty="0"/>
          </a:p>
        </p:txBody>
      </p:sp>
    </p:spTree>
    <p:extLst>
      <p:ext uri="{BB962C8B-B14F-4D97-AF65-F5344CB8AC3E}">
        <p14:creationId xmlns:p14="http://schemas.microsoft.com/office/powerpoint/2010/main" val="4834860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Straight-Line (SL)</a:t>
            </a:r>
            <a:endParaRPr lang="en-US" dirty="0"/>
          </a:p>
        </p:txBody>
      </p:sp>
      <p:graphicFrame>
        <p:nvGraphicFramePr>
          <p:cNvPr id="5" name="Object 4" descr="Cost Residual value over useful life, in years = Annual depreciation expense">
            <a:extLst>
              <a:ext uri="{FF2B5EF4-FFF2-40B4-BE49-F238E27FC236}">
                <a16:creationId xmlns:a16="http://schemas.microsoft.com/office/drawing/2014/main" id="{CBDC99DD-0A4D-4D3E-9970-46C470E93E2A}"/>
              </a:ext>
            </a:extLst>
          </p:cNvPr>
          <p:cNvGraphicFramePr>
            <a:graphicFrameLocks noChangeAspect="1"/>
          </p:cNvGraphicFramePr>
          <p:nvPr/>
        </p:nvGraphicFramePr>
        <p:xfrm>
          <a:off x="838200" y="2624137"/>
          <a:ext cx="7339013" cy="804863"/>
        </p:xfrm>
        <a:graphic>
          <a:graphicData uri="http://schemas.openxmlformats.org/presentationml/2006/ole">
            <mc:AlternateContent xmlns:mc="http://schemas.openxmlformats.org/markup-compatibility/2006">
              <mc:Choice xmlns:v="urn:schemas-microsoft-com:vml" Requires="v">
                <p:oleObj name="Equation" r:id="rId3" imgW="6134040" imgH="672840" progId="Equation.DSMT4">
                  <p:embed/>
                </p:oleObj>
              </mc:Choice>
              <mc:Fallback>
                <p:oleObj name="Equation" r:id="rId3" imgW="6134040" imgH="672840" progId="Equation.DSMT4">
                  <p:embed/>
                  <p:pic>
                    <p:nvPicPr>
                      <p:cNvPr id="5" name="Object 4" descr="Cost Residual value over useful life, in years = Annual depreciation expense">
                        <a:extLst>
                          <a:ext uri="{FF2B5EF4-FFF2-40B4-BE49-F238E27FC236}">
                            <a16:creationId xmlns:a16="http://schemas.microsoft.com/office/drawing/2014/main" id="{CBDC99DD-0A4D-4D3E-9970-46C470E93E2A}"/>
                          </a:ext>
                        </a:extLst>
                      </p:cNvPr>
                      <p:cNvPicPr/>
                      <p:nvPr/>
                    </p:nvPicPr>
                    <p:blipFill>
                      <a:blip r:embed="rId4"/>
                      <a:stretch>
                        <a:fillRect/>
                      </a:stretch>
                    </p:blipFill>
                    <p:spPr>
                      <a:xfrm>
                        <a:off x="838200" y="2624137"/>
                        <a:ext cx="7339013" cy="804863"/>
                      </a:xfrm>
                      <a:prstGeom prst="rect">
                        <a:avLst/>
                      </a:prstGeom>
                      <a:noFill/>
                    </p:spPr>
                  </p:pic>
                </p:oleObj>
              </mc:Fallback>
            </mc:AlternateContent>
          </a:graphicData>
        </a:graphic>
      </p:graphicFrame>
    </p:spTree>
    <p:extLst>
      <p:ext uri="{BB962C8B-B14F-4D97-AF65-F5344CB8AC3E}">
        <p14:creationId xmlns:p14="http://schemas.microsoft.com/office/powerpoint/2010/main" val="2377395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Units-of-Production (UOP)</a:t>
            </a:r>
            <a:endParaRPr lang="en-US" dirty="0"/>
          </a:p>
        </p:txBody>
      </p:sp>
      <p:graphicFrame>
        <p:nvGraphicFramePr>
          <p:cNvPr id="9" name="Object 8" descr="Cost Residual value over useful life, in units of production = depreciation per unit">
            <a:extLst>
              <a:ext uri="{FF2B5EF4-FFF2-40B4-BE49-F238E27FC236}">
                <a16:creationId xmlns:a16="http://schemas.microsoft.com/office/drawing/2014/main" id="{C7150B3C-01BD-4922-9A69-8DA2BBE36877}"/>
              </a:ext>
            </a:extLst>
          </p:cNvPr>
          <p:cNvGraphicFramePr>
            <a:graphicFrameLocks noChangeAspect="1"/>
          </p:cNvGraphicFramePr>
          <p:nvPr/>
        </p:nvGraphicFramePr>
        <p:xfrm>
          <a:off x="498475" y="1905000"/>
          <a:ext cx="7475538" cy="804863"/>
        </p:xfrm>
        <a:graphic>
          <a:graphicData uri="http://schemas.openxmlformats.org/presentationml/2006/ole">
            <mc:AlternateContent xmlns:mc="http://schemas.openxmlformats.org/markup-compatibility/2006">
              <mc:Choice xmlns:v="urn:schemas-microsoft-com:vml" Requires="v">
                <p:oleObj name="Equation" r:id="rId3" imgW="6248160" imgH="672840" progId="Equation.DSMT4">
                  <p:embed/>
                </p:oleObj>
              </mc:Choice>
              <mc:Fallback>
                <p:oleObj name="Equation" r:id="rId3" imgW="6248160" imgH="672840" progId="Equation.DSMT4">
                  <p:embed/>
                  <p:pic>
                    <p:nvPicPr>
                      <p:cNvPr id="9" name="Object 8" descr="Cost Residual value over useful life, in units of production = depreciation per unit">
                        <a:extLst>
                          <a:ext uri="{FF2B5EF4-FFF2-40B4-BE49-F238E27FC236}">
                            <a16:creationId xmlns:a16="http://schemas.microsoft.com/office/drawing/2014/main" id="{C7150B3C-01BD-4922-9A69-8DA2BBE36877}"/>
                          </a:ext>
                        </a:extLst>
                      </p:cNvPr>
                      <p:cNvPicPr/>
                      <p:nvPr/>
                    </p:nvPicPr>
                    <p:blipFill>
                      <a:blip r:embed="rId4"/>
                      <a:stretch>
                        <a:fillRect/>
                      </a:stretch>
                    </p:blipFill>
                    <p:spPr>
                      <a:xfrm>
                        <a:off x="498475" y="1905000"/>
                        <a:ext cx="7475538" cy="804863"/>
                      </a:xfrm>
                      <a:prstGeom prst="rect">
                        <a:avLst/>
                      </a:prstGeom>
                      <a:noFill/>
                    </p:spPr>
                  </p:pic>
                </p:oleObj>
              </mc:Fallback>
            </mc:AlternateContent>
          </a:graphicData>
        </a:graphic>
      </p:graphicFrame>
      <p:graphicFrame>
        <p:nvGraphicFramePr>
          <p:cNvPr id="10" name="Object 9" descr="Depreciation per unit times activity for period (units) = Depreciation expense">
            <a:extLst>
              <a:ext uri="{FF2B5EF4-FFF2-40B4-BE49-F238E27FC236}">
                <a16:creationId xmlns:a16="http://schemas.microsoft.com/office/drawing/2014/main" id="{21875229-18DD-4128-A028-E86CC94C8B96}"/>
              </a:ext>
            </a:extLst>
          </p:cNvPr>
          <p:cNvGraphicFramePr>
            <a:graphicFrameLocks noChangeAspect="1"/>
          </p:cNvGraphicFramePr>
          <p:nvPr/>
        </p:nvGraphicFramePr>
        <p:xfrm>
          <a:off x="726281" y="3448050"/>
          <a:ext cx="7019925" cy="881063"/>
        </p:xfrm>
        <a:graphic>
          <a:graphicData uri="http://schemas.openxmlformats.org/presentationml/2006/ole">
            <mc:AlternateContent xmlns:mc="http://schemas.openxmlformats.org/markup-compatibility/2006">
              <mc:Choice xmlns:v="urn:schemas-microsoft-com:vml" Requires="v">
                <p:oleObj name="Equation" r:id="rId5" imgW="5867280" imgH="736560" progId="Equation.DSMT4">
                  <p:embed/>
                </p:oleObj>
              </mc:Choice>
              <mc:Fallback>
                <p:oleObj name="Equation" r:id="rId5" imgW="5867280" imgH="736560" progId="Equation.DSMT4">
                  <p:embed/>
                  <p:pic>
                    <p:nvPicPr>
                      <p:cNvPr id="10" name="Object 9" descr="Depreciation per unit times activity for period (units) = Depreciation expense">
                        <a:extLst>
                          <a:ext uri="{FF2B5EF4-FFF2-40B4-BE49-F238E27FC236}">
                            <a16:creationId xmlns:a16="http://schemas.microsoft.com/office/drawing/2014/main" id="{21875229-18DD-4128-A028-E86CC94C8B96}"/>
                          </a:ext>
                        </a:extLst>
                      </p:cNvPr>
                      <p:cNvPicPr/>
                      <p:nvPr/>
                    </p:nvPicPr>
                    <p:blipFill>
                      <a:blip r:embed="rId6"/>
                      <a:stretch>
                        <a:fillRect/>
                      </a:stretch>
                    </p:blipFill>
                    <p:spPr>
                      <a:xfrm>
                        <a:off x="726281" y="3448050"/>
                        <a:ext cx="7019925" cy="881063"/>
                      </a:xfrm>
                      <a:prstGeom prst="rect">
                        <a:avLst/>
                      </a:prstGeom>
                      <a:noFill/>
                    </p:spPr>
                  </p:pic>
                </p:oleObj>
              </mc:Fallback>
            </mc:AlternateContent>
          </a:graphicData>
        </a:graphic>
      </p:graphicFrame>
    </p:spTree>
    <p:extLst>
      <p:ext uri="{BB962C8B-B14F-4D97-AF65-F5344CB8AC3E}">
        <p14:creationId xmlns:p14="http://schemas.microsoft.com/office/powerpoint/2010/main" val="1189335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Double-Diminishing-Balance (DDB)</a:t>
            </a:r>
            <a:endParaRPr lang="en-US" dirty="0"/>
          </a:p>
        </p:txBody>
      </p:sp>
      <p:graphicFrame>
        <p:nvGraphicFramePr>
          <p:cNvPr id="4" name="Object 3" descr="D D B rate times carrying amount"/>
          <p:cNvGraphicFramePr>
            <a:graphicFrameLocks noChangeAspect="1"/>
          </p:cNvGraphicFramePr>
          <p:nvPr/>
        </p:nvGraphicFramePr>
        <p:xfrm>
          <a:off x="2270367" y="1993900"/>
          <a:ext cx="4604854" cy="1263650"/>
        </p:xfrm>
        <a:graphic>
          <a:graphicData uri="http://schemas.openxmlformats.org/presentationml/2006/ole">
            <mc:AlternateContent xmlns:mc="http://schemas.openxmlformats.org/markup-compatibility/2006">
              <mc:Choice xmlns:v="urn:schemas-microsoft-com:vml" Requires="v">
                <p:oleObj name="Equation" r:id="rId3" imgW="2958840" imgH="812520" progId="Equation.DSMT4">
                  <p:embed/>
                </p:oleObj>
              </mc:Choice>
              <mc:Fallback>
                <p:oleObj name="Equation" r:id="rId3" imgW="2958840" imgH="812520" progId="Equation.DSMT4">
                  <p:embed/>
                  <p:pic>
                    <p:nvPicPr>
                      <p:cNvPr id="4" name="Object 3" descr="D D B rate times carrying amount"/>
                      <p:cNvPicPr/>
                      <p:nvPr/>
                    </p:nvPicPr>
                    <p:blipFill>
                      <a:blip r:embed="rId4"/>
                      <a:stretch>
                        <a:fillRect/>
                      </a:stretch>
                    </p:blipFill>
                    <p:spPr>
                      <a:xfrm>
                        <a:off x="2270367" y="1993900"/>
                        <a:ext cx="4604854" cy="1263650"/>
                      </a:xfrm>
                      <a:prstGeom prst="rect">
                        <a:avLst/>
                      </a:prstGeom>
                    </p:spPr>
                  </p:pic>
                </p:oleObj>
              </mc:Fallback>
            </mc:AlternateContent>
          </a:graphicData>
        </a:graphic>
      </p:graphicFrame>
      <p:cxnSp>
        <p:nvCxnSpPr>
          <p:cNvPr id="5" name="Straight Arrow Connector 4"/>
          <p:cNvCxnSpPr>
            <a:cxnSpLocks noChangeShapeType="1"/>
          </p:cNvCxnSpPr>
          <p:nvPr/>
        </p:nvCxnSpPr>
        <p:spPr bwMode="auto">
          <a:xfrm rot="5400000">
            <a:off x="2362200" y="3657600"/>
            <a:ext cx="760412" cy="1588"/>
          </a:xfrm>
          <a:prstGeom prst="straightConnector1">
            <a:avLst/>
          </a:prstGeom>
          <a:noFill/>
          <a:ln w="31750">
            <a:solidFill>
              <a:schemeClr val="tx1"/>
            </a:solidFill>
            <a:round/>
            <a:headEnd/>
            <a:tailEnd type="arrow" w="med" len="med"/>
          </a:ln>
          <a:effectLst>
            <a:outerShdw blurRad="50800" dist="25400" dir="5400000" rotWithShape="0">
              <a:srgbClr val="808080">
                <a:alpha val="45000"/>
              </a:srgbClr>
            </a:outerShdw>
          </a:effectLst>
          <a:extLst>
            <a:ext uri="{909E8E84-426E-40DD-AFC4-6F175D3DCCD1}">
              <a14:hiddenFill xmlns:a14="http://schemas.microsoft.com/office/drawing/2010/main">
                <a:noFill/>
              </a14:hiddenFill>
            </a:ext>
          </a:extLst>
        </p:spPr>
      </p:cxnSp>
      <p:cxnSp>
        <p:nvCxnSpPr>
          <p:cNvPr id="6" name="Straight Arrow Connector 5"/>
          <p:cNvCxnSpPr>
            <a:cxnSpLocks noChangeShapeType="1"/>
          </p:cNvCxnSpPr>
          <p:nvPr/>
        </p:nvCxnSpPr>
        <p:spPr bwMode="auto">
          <a:xfrm rot="5400000">
            <a:off x="5715000" y="3656012"/>
            <a:ext cx="760412" cy="1588"/>
          </a:xfrm>
          <a:prstGeom prst="straightConnector1">
            <a:avLst/>
          </a:prstGeom>
          <a:noFill/>
          <a:ln w="31750">
            <a:solidFill>
              <a:schemeClr val="tx1"/>
            </a:solidFill>
            <a:round/>
            <a:headEnd/>
            <a:tailEnd type="arrow" w="med" len="med"/>
          </a:ln>
          <a:effectLst>
            <a:outerShdw blurRad="50800" dist="25400" dir="5400000" rotWithShape="0">
              <a:srgbClr val="808080">
                <a:alpha val="45000"/>
              </a:srgbClr>
            </a:outerShdw>
          </a:effectLst>
          <a:extLst>
            <a:ext uri="{909E8E84-426E-40DD-AFC4-6F175D3DCCD1}">
              <a14:hiddenFill xmlns:a14="http://schemas.microsoft.com/office/drawing/2010/main">
                <a:noFill/>
              </a14:hiddenFill>
            </a:ext>
          </a:extLst>
        </p:spPr>
      </p:cxnSp>
      <p:pic>
        <p:nvPicPr>
          <p:cNvPr id="3" name="Picture 2" descr="D D B rate is straight line rate times 2 (or 2 over life in years) and carrying amount is cost minus accumulated depreciation">
            <a:extLst>
              <a:ext uri="{FF2B5EF4-FFF2-40B4-BE49-F238E27FC236}">
                <a16:creationId xmlns:a16="http://schemas.microsoft.com/office/drawing/2014/main" id="{2DD210B0-AB6D-4BBD-820E-69D56932DE58}"/>
              </a:ext>
            </a:extLst>
          </p:cNvPr>
          <p:cNvPicPr>
            <a:picLocks noChangeAspect="1"/>
          </p:cNvPicPr>
          <p:nvPr/>
        </p:nvPicPr>
        <p:blipFill>
          <a:blip r:embed="rId5"/>
          <a:stretch>
            <a:fillRect/>
          </a:stretch>
        </p:blipFill>
        <p:spPr>
          <a:xfrm>
            <a:off x="1066496" y="4187813"/>
            <a:ext cx="7011008" cy="1603387"/>
          </a:xfrm>
          <a:prstGeom prst="rect">
            <a:avLst/>
          </a:prstGeom>
        </p:spPr>
      </p:pic>
    </p:spTree>
    <p:extLst>
      <p:ext uri="{BB962C8B-B14F-4D97-AF65-F5344CB8AC3E}">
        <p14:creationId xmlns:p14="http://schemas.microsoft.com/office/powerpoint/2010/main" val="2942293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Residual Value: DDB</a:t>
            </a:r>
            <a:endParaRPr lang="en-US" dirty="0"/>
          </a:p>
        </p:txBody>
      </p:sp>
      <p:graphicFrame>
        <p:nvGraphicFramePr>
          <p:cNvPr id="4" name="Object 3" descr="Ignored until final year"/>
          <p:cNvGraphicFramePr>
            <a:graphicFrameLocks noChangeAspect="1"/>
          </p:cNvGraphicFramePr>
          <p:nvPr/>
        </p:nvGraphicFramePr>
        <p:xfrm>
          <a:off x="2362200" y="1752600"/>
          <a:ext cx="4172201" cy="685007"/>
        </p:xfrm>
        <a:graphic>
          <a:graphicData uri="http://schemas.openxmlformats.org/presentationml/2006/ole">
            <mc:AlternateContent xmlns:mc="http://schemas.openxmlformats.org/markup-compatibility/2006">
              <mc:Choice xmlns:v="urn:schemas-microsoft-com:vml" Requires="v">
                <p:oleObj name="Equation" r:id="rId3" imgW="2628720" imgH="431640" progId="Equation.DSMT4">
                  <p:embed/>
                </p:oleObj>
              </mc:Choice>
              <mc:Fallback>
                <p:oleObj name="Equation" r:id="rId3" imgW="2628720" imgH="431640" progId="Equation.DSMT4">
                  <p:embed/>
                  <p:pic>
                    <p:nvPicPr>
                      <p:cNvPr id="4" name="Object 3" descr="Ignored until final year"/>
                      <p:cNvPicPr/>
                      <p:nvPr/>
                    </p:nvPicPr>
                    <p:blipFill>
                      <a:blip r:embed="rId4"/>
                      <a:stretch>
                        <a:fillRect/>
                      </a:stretch>
                    </p:blipFill>
                    <p:spPr>
                      <a:xfrm>
                        <a:off x="2362200" y="1752600"/>
                        <a:ext cx="4172201" cy="685007"/>
                      </a:xfrm>
                      <a:prstGeom prst="rect">
                        <a:avLst/>
                      </a:prstGeom>
                    </p:spPr>
                  </p:pic>
                </p:oleObj>
              </mc:Fallback>
            </mc:AlternateContent>
          </a:graphicData>
        </a:graphic>
      </p:graphicFrame>
      <p:graphicFrame>
        <p:nvGraphicFramePr>
          <p:cNvPr id="3" name="Table 6">
            <a:extLst>
              <a:ext uri="{FF2B5EF4-FFF2-40B4-BE49-F238E27FC236}">
                <a16:creationId xmlns:a16="http://schemas.microsoft.com/office/drawing/2014/main" id="{8C73548B-381C-40AE-A7C3-226040DC626C}"/>
              </a:ext>
            </a:extLst>
          </p:cNvPr>
          <p:cNvGraphicFramePr>
            <a:graphicFrameLocks noGrp="1"/>
          </p:cNvGraphicFramePr>
          <p:nvPr/>
        </p:nvGraphicFramePr>
        <p:xfrm>
          <a:off x="685800" y="3429000"/>
          <a:ext cx="8001000" cy="640080"/>
        </p:xfrm>
        <a:graphic>
          <a:graphicData uri="http://schemas.openxmlformats.org/drawingml/2006/table">
            <a:tbl>
              <a:tblPr firstRow="1" bandRow="1">
                <a:tableStyleId>{3B4B98B0-60AC-42C2-AFA5-B58CD77FA1E5}</a:tableStyleId>
              </a:tblPr>
              <a:tblGrid>
                <a:gridCol w="1752600">
                  <a:extLst>
                    <a:ext uri="{9D8B030D-6E8A-4147-A177-3AD203B41FA5}">
                      <a16:colId xmlns:a16="http://schemas.microsoft.com/office/drawing/2014/main" val="1764670175"/>
                    </a:ext>
                  </a:extLst>
                </a:gridCol>
                <a:gridCol w="609600">
                  <a:extLst>
                    <a:ext uri="{9D8B030D-6E8A-4147-A177-3AD203B41FA5}">
                      <a16:colId xmlns:a16="http://schemas.microsoft.com/office/drawing/2014/main" val="177746434"/>
                    </a:ext>
                  </a:extLst>
                </a:gridCol>
                <a:gridCol w="2895600">
                  <a:extLst>
                    <a:ext uri="{9D8B030D-6E8A-4147-A177-3AD203B41FA5}">
                      <a16:colId xmlns:a16="http://schemas.microsoft.com/office/drawing/2014/main" val="308720916"/>
                    </a:ext>
                  </a:extLst>
                </a:gridCol>
                <a:gridCol w="685800">
                  <a:extLst>
                    <a:ext uri="{9D8B030D-6E8A-4147-A177-3AD203B41FA5}">
                      <a16:colId xmlns:a16="http://schemas.microsoft.com/office/drawing/2014/main" val="3712936038"/>
                    </a:ext>
                  </a:extLst>
                </a:gridCol>
                <a:gridCol w="2057400">
                  <a:extLst>
                    <a:ext uri="{9D8B030D-6E8A-4147-A177-3AD203B41FA5}">
                      <a16:colId xmlns:a16="http://schemas.microsoft.com/office/drawing/2014/main" val="320088913"/>
                    </a:ext>
                  </a:extLst>
                </a:gridCol>
              </a:tblGrid>
              <a:tr h="370840">
                <a:tc>
                  <a:txBody>
                    <a:bodyPr/>
                    <a:lstStyle/>
                    <a:p>
                      <a:r>
                        <a:rPr lang="en-US" altLang="en-US" sz="1800" b="0" kern="1200" dirty="0">
                          <a:solidFill>
                            <a:schemeClr val="tx1"/>
                          </a:solidFill>
                          <a:latin typeface="+mn-lt"/>
                          <a:ea typeface="ＭＳ Ｐゴシック" pitchFamily="34" charset="-128"/>
                          <a:cs typeface="+mn-cs"/>
                        </a:rPr>
                        <a:t>Final year</a:t>
                      </a:r>
                    </a:p>
                    <a:p>
                      <a:r>
                        <a:rPr lang="en-US" sz="1800" b="0" kern="1200" dirty="0">
                          <a:solidFill>
                            <a:schemeClr val="tx1"/>
                          </a:solidFill>
                          <a:latin typeface="+mn-lt"/>
                          <a:ea typeface="ＭＳ Ｐゴシック" pitchFamily="34" charset="-128"/>
                          <a:cs typeface="+mn-cs"/>
                        </a:rPr>
                        <a:t>depreciation</a:t>
                      </a:r>
                      <a:endParaRPr lang="en-AU" dirty="0"/>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en-US" sz="1800" b="0" kern="1200" dirty="0">
                          <a:solidFill>
                            <a:schemeClr val="tx1"/>
                          </a:solidFill>
                          <a:latin typeface="+mn-lt"/>
                          <a:ea typeface="ＭＳ Ｐゴシック" pitchFamily="34" charset="-128"/>
                          <a:cs typeface="+mn-cs"/>
                        </a:rPr>
                        <a:t>=</a:t>
                      </a:r>
                      <a:endParaRPr lang="en-AU" dirty="0"/>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en-US" sz="1800" b="0" kern="1200" dirty="0">
                          <a:solidFill>
                            <a:schemeClr val="tx1"/>
                          </a:solidFill>
                          <a:latin typeface="+mn-lt"/>
                          <a:ea typeface="ＭＳ Ｐゴシック" pitchFamily="34" charset="-128"/>
                          <a:cs typeface="+mn-cs"/>
                        </a:rPr>
                        <a:t>Carrying amount at </a:t>
                      </a:r>
                      <a:r>
                        <a:rPr lang="en-US" sz="1800" b="0" kern="1200" dirty="0">
                          <a:solidFill>
                            <a:schemeClr val="tx1"/>
                          </a:solidFill>
                          <a:latin typeface="+mn-lt"/>
                          <a:ea typeface="ＭＳ Ｐゴシック" pitchFamily="34" charset="-128"/>
                          <a:cs typeface="+mn-cs"/>
                        </a:rPr>
                        <a:t>the beginning of the final year</a:t>
                      </a:r>
                      <a:endParaRPr lang="en-AU" dirty="0"/>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800" dirty="0">
                          <a:solidFill>
                            <a:schemeClr val="tx1"/>
                          </a:solidFill>
                        </a:rPr>
                        <a:t>−</a:t>
                      </a:r>
                      <a:endParaRPr lang="en-AU" dirty="0"/>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en-US" sz="1800" b="0" kern="1200" dirty="0">
                          <a:solidFill>
                            <a:schemeClr val="tx1"/>
                          </a:solidFill>
                          <a:latin typeface="+mn-lt"/>
                          <a:ea typeface="ＭＳ Ｐゴシック" pitchFamily="34" charset="-128"/>
                          <a:cs typeface="+mn-cs"/>
                        </a:rPr>
                        <a:t>Residual </a:t>
                      </a:r>
                      <a:r>
                        <a:rPr lang="en-US" sz="1800" b="0" kern="1200" dirty="0">
                          <a:solidFill>
                            <a:schemeClr val="tx1"/>
                          </a:solidFill>
                          <a:latin typeface="+mn-lt"/>
                          <a:ea typeface="ＭＳ Ｐゴシック" pitchFamily="34" charset="-128"/>
                          <a:cs typeface="+mn-cs"/>
                        </a:rPr>
                        <a:t>value</a:t>
                      </a:r>
                      <a:endParaRPr lang="en-AU" dirty="0"/>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09133040"/>
                  </a:ext>
                </a:extLst>
              </a:tr>
            </a:tbl>
          </a:graphicData>
        </a:graphic>
      </p:graphicFrame>
    </p:spTree>
    <p:extLst>
      <p:ext uri="{BB962C8B-B14F-4D97-AF65-F5344CB8AC3E}">
        <p14:creationId xmlns:p14="http://schemas.microsoft.com/office/powerpoint/2010/main" val="1651768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DDB differences from other methods</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First-year depreciation is based on asset’s full cost</a:t>
            </a:r>
          </a:p>
          <a:p>
            <a:r>
              <a:rPr lang="en-US" altLang="en-US" dirty="0">
                <a:ea typeface="ＭＳ Ｐゴシック" pitchFamily="34" charset="-128"/>
              </a:rPr>
              <a:t>Final year depreciation is a “plug” amount needed to reduce carrying amount to residual value</a:t>
            </a:r>
            <a:endParaRPr lang="en-US" dirty="0"/>
          </a:p>
        </p:txBody>
      </p:sp>
    </p:spTree>
    <p:extLst>
      <p:ext uri="{BB962C8B-B14F-4D97-AF65-F5344CB8AC3E}">
        <p14:creationId xmlns:p14="http://schemas.microsoft.com/office/powerpoint/2010/main" val="524502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Comparing Depreciation Methods</a:t>
            </a:r>
            <a:r>
              <a:rPr lang="en-US" altLang="en-US" sz="2000" b="0" dirty="0">
                <a:ea typeface="ＭＳ Ｐゴシック" pitchFamily="34" charset="-128"/>
              </a:rPr>
              <a:t> (1 of 2)</a:t>
            </a:r>
            <a:endParaRPr lang="en-US" sz="2000" b="0" dirty="0"/>
          </a:p>
        </p:txBody>
      </p:sp>
      <p:sp>
        <p:nvSpPr>
          <p:cNvPr id="4" name="Text Placeholder 3"/>
          <p:cNvSpPr>
            <a:spLocks noGrp="1"/>
          </p:cNvSpPr>
          <p:nvPr>
            <p:ph type="body" idx="1"/>
          </p:nvPr>
        </p:nvSpPr>
        <p:spPr>
          <a:xfrm>
            <a:off x="316375" y="2130552"/>
            <a:ext cx="2743200" cy="3200400"/>
          </a:xfrm>
        </p:spPr>
        <p:txBody>
          <a:bodyPr anchor="ctr"/>
          <a:lstStyle/>
          <a:p>
            <a:pPr lvl="0" algn="l"/>
            <a:r>
              <a:rPr lang="en-US" sz="2800" dirty="0"/>
              <a:t>Straight-line</a:t>
            </a:r>
          </a:p>
          <a:p>
            <a:pPr marL="256032" lvl="1" indent="-256032">
              <a:buFont typeface="Arial" panose="020B0604020202020204" pitchFamily="34" charset="0"/>
              <a:buChar char="•"/>
            </a:pPr>
            <a:r>
              <a:rPr lang="en-US" b="0" dirty="0"/>
              <a:t>Best for assets that generate revenue evenly</a:t>
            </a:r>
          </a:p>
        </p:txBody>
      </p:sp>
      <p:sp>
        <p:nvSpPr>
          <p:cNvPr id="5" name="Content Placeholder 4"/>
          <p:cNvSpPr>
            <a:spLocks noGrp="1"/>
          </p:cNvSpPr>
          <p:nvPr>
            <p:ph sz="half" idx="2"/>
          </p:nvPr>
        </p:nvSpPr>
        <p:spPr>
          <a:xfrm>
            <a:off x="3211975" y="2130552"/>
            <a:ext cx="2743200" cy="3200400"/>
          </a:xfrm>
        </p:spPr>
        <p:txBody>
          <a:bodyPr anchor="ctr"/>
          <a:lstStyle/>
          <a:p>
            <a:pPr marL="0" lvl="0" indent="0" algn="l"/>
            <a:r>
              <a:rPr lang="en-US" sz="2800" dirty="0"/>
              <a:t>Units-of-production</a:t>
            </a:r>
          </a:p>
          <a:p>
            <a:pPr marL="256032" lvl="1" indent="-256032">
              <a:buFont typeface="Arial" panose="020B0604020202020204" pitchFamily="34" charset="0"/>
              <a:buChar char="•"/>
            </a:pPr>
            <a:r>
              <a:rPr lang="en-US" dirty="0"/>
              <a:t>Best for assets that wear out because of use</a:t>
            </a:r>
          </a:p>
        </p:txBody>
      </p:sp>
      <p:sp>
        <p:nvSpPr>
          <p:cNvPr id="6" name="Text Placeholder 5"/>
          <p:cNvSpPr>
            <a:spLocks noGrp="1"/>
          </p:cNvSpPr>
          <p:nvPr>
            <p:ph type="body" sz="quarter" idx="3"/>
          </p:nvPr>
        </p:nvSpPr>
        <p:spPr>
          <a:xfrm>
            <a:off x="6116250" y="2130552"/>
            <a:ext cx="2743200" cy="3200400"/>
          </a:xfrm>
        </p:spPr>
        <p:txBody>
          <a:bodyPr anchor="ctr"/>
          <a:lstStyle/>
          <a:p>
            <a:pPr lvl="0" algn="l"/>
            <a:r>
              <a:rPr lang="en-US" sz="2800" dirty="0"/>
              <a:t>Double-diminishing-balance</a:t>
            </a:r>
          </a:p>
          <a:p>
            <a:pPr marL="256032" lvl="1" indent="-256032">
              <a:buFont typeface="Arial" panose="020B0604020202020204" pitchFamily="34" charset="0"/>
              <a:buChar char="•"/>
            </a:pPr>
            <a:r>
              <a:rPr lang="en-US" b="0" dirty="0"/>
              <a:t>Best for assets that generate revenue early in useful life</a:t>
            </a:r>
          </a:p>
        </p:txBody>
      </p:sp>
    </p:spTree>
    <p:extLst>
      <p:ext uri="{BB962C8B-B14F-4D97-AF65-F5344CB8AC3E}">
        <p14:creationId xmlns:p14="http://schemas.microsoft.com/office/powerpoint/2010/main" val="16542864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Depreciation Methods</a:t>
            </a:r>
            <a:r>
              <a:rPr lang="en-US" altLang="en-US" sz="2000" b="0" dirty="0">
                <a:ea typeface="ＭＳ Ｐゴシック" pitchFamily="34" charset="-128"/>
              </a:rPr>
              <a:t> (2 of 2)</a:t>
            </a:r>
            <a:endParaRPr lang="en-US" sz="2000" b="0" dirty="0"/>
          </a:p>
        </p:txBody>
      </p:sp>
      <p:graphicFrame>
        <p:nvGraphicFramePr>
          <p:cNvPr id="4" name="Table 3"/>
          <p:cNvGraphicFramePr>
            <a:graphicFrameLocks noGrp="1"/>
          </p:cNvGraphicFramePr>
          <p:nvPr/>
        </p:nvGraphicFramePr>
        <p:xfrm>
          <a:off x="1389698" y="1828800"/>
          <a:ext cx="6393180" cy="2225040"/>
        </p:xfrm>
        <a:graphic>
          <a:graphicData uri="http://schemas.openxmlformats.org/drawingml/2006/table">
            <a:tbl>
              <a:tblPr firstRow="1" bandRow="1">
                <a:tableStyleId>{2D5ABB26-0587-4C30-8999-92F81FD0307C}</a:tableStyleId>
              </a:tblPr>
              <a:tblGrid>
                <a:gridCol w="334518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r>
                        <a:rPr lang="en-US" sz="1800" i="1" dirty="0"/>
                        <a:t>Data Items</a:t>
                      </a:r>
                      <a:endParaRPr lang="en-US" b="0"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b="1" i="1" dirty="0"/>
                        <a:t>Amount</a:t>
                      </a:r>
                      <a:endParaRPr lang="en-US" b="1" i="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altLang="en-US" dirty="0"/>
                        <a:t>Cost of van</a:t>
                      </a:r>
                      <a:endParaRPr lang="en-US" b="1"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dirty="0"/>
                        <a:t>$41,000</a:t>
                      </a:r>
                      <a:endParaRPr lang="en-US" b="1"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altLang="en-US" dirty="0"/>
                        <a:t>Less: Estimated residual value</a:t>
                      </a:r>
                      <a:endParaRPr lang="en-US" b="1"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u="sng" dirty="0"/>
                        <a:t>− 1,000</a:t>
                      </a:r>
                      <a:endParaRPr lang="en-US" b="1"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altLang="en-US" dirty="0"/>
                        <a:t>Depreciable cost</a:t>
                      </a:r>
                      <a:endParaRPr lang="en-US" b="1"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dirty="0"/>
                        <a:t>$40,000</a:t>
                      </a:r>
                      <a:endParaRPr lang="en-US" b="1"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altLang="en-US" dirty="0"/>
                        <a:t>Estimated useful life</a:t>
                      </a:r>
                      <a:endParaRPr lang="en-US" b="1"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dirty="0"/>
                        <a:t>5 years</a:t>
                      </a:r>
                      <a:endParaRPr lang="en-US" b="1"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r>
                        <a:rPr lang="en-US" altLang="en-US" dirty="0"/>
                        <a:t>Units of production</a:t>
                      </a:r>
                      <a:endParaRPr lang="en-US" b="1"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dirty="0"/>
                        <a:t>100,000 units (</a:t>
                      </a:r>
                      <a:r>
                        <a:rPr lang="en-US" altLang="en-US" dirty="0" err="1"/>
                        <a:t>kilometres</a:t>
                      </a:r>
                      <a:r>
                        <a:rPr lang="en-US" altLang="en-US" dirty="0"/>
                        <a:t>)</a:t>
                      </a:r>
                      <a:endParaRPr lang="en-US" b="1"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827558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Straight-Line Method</a:t>
            </a:r>
            <a:endParaRPr lang="en-US" dirty="0"/>
          </a:p>
        </p:txBody>
      </p:sp>
      <p:sp>
        <p:nvSpPr>
          <p:cNvPr id="3" name="Content Placeholder 2"/>
          <p:cNvSpPr>
            <a:spLocks noGrp="1"/>
          </p:cNvSpPr>
          <p:nvPr>
            <p:ph idx="1"/>
          </p:nvPr>
        </p:nvSpPr>
        <p:spPr>
          <a:xfrm>
            <a:off x="457200" y="1600201"/>
            <a:ext cx="8229600" cy="914400"/>
          </a:xfrm>
        </p:spPr>
        <p:txBody>
          <a:bodyPr>
            <a:normAutofit fontScale="92500" lnSpcReduction="10000"/>
          </a:bodyPr>
          <a:lstStyle/>
          <a:p>
            <a:pPr marL="0" indent="0">
              <a:buNone/>
            </a:pPr>
            <a:r>
              <a:rPr lang="en-US" altLang="en-US" dirty="0"/>
              <a:t>(Cost – Residual value) ÷ Years of useful life </a:t>
            </a:r>
          </a:p>
          <a:p>
            <a:pPr marL="0" indent="0">
              <a:buNone/>
            </a:pPr>
            <a:r>
              <a:rPr lang="en-US" altLang="en-US" dirty="0"/>
              <a:t>($41,000 − $1,000)  ÷ 5 = $8,000</a:t>
            </a:r>
            <a:endParaRPr lang="en-US" dirty="0"/>
          </a:p>
        </p:txBody>
      </p:sp>
      <p:graphicFrame>
        <p:nvGraphicFramePr>
          <p:cNvPr id="4" name="Table 3"/>
          <p:cNvGraphicFramePr>
            <a:graphicFrameLocks noGrp="1"/>
          </p:cNvGraphicFramePr>
          <p:nvPr/>
        </p:nvGraphicFramePr>
        <p:xfrm>
          <a:off x="1912938" y="2971800"/>
          <a:ext cx="5402262" cy="2514600"/>
        </p:xfrm>
        <a:graphic>
          <a:graphicData uri="http://schemas.openxmlformats.org/drawingml/2006/table">
            <a:tbl>
              <a:tblPr firstRow="1" bandRow="1">
                <a:tableStyleId>{2D5ABB26-0587-4C30-8999-92F81FD0307C}</a:tableStyleId>
              </a:tblPr>
              <a:tblGrid>
                <a:gridCol w="3939619">
                  <a:extLst>
                    <a:ext uri="{9D8B030D-6E8A-4147-A177-3AD203B41FA5}">
                      <a16:colId xmlns:a16="http://schemas.microsoft.com/office/drawing/2014/main" val="20000"/>
                    </a:ext>
                  </a:extLst>
                </a:gridCol>
                <a:gridCol w="1462643">
                  <a:extLst>
                    <a:ext uri="{9D8B030D-6E8A-4147-A177-3AD203B41FA5}">
                      <a16:colId xmlns:a16="http://schemas.microsoft.com/office/drawing/2014/main" val="20001"/>
                    </a:ext>
                  </a:extLst>
                </a:gridCol>
              </a:tblGrid>
              <a:tr h="419100">
                <a:tc>
                  <a:txBody>
                    <a:bodyPr/>
                    <a:lstStyle/>
                    <a:p>
                      <a:r>
                        <a:rPr lang="en-US" sz="1800" dirty="0">
                          <a:latin typeface="+mn-lt"/>
                          <a:ea typeface="+mn-ea"/>
                          <a:cs typeface="Arial" panose="020B0604020202020204" pitchFamily="34" charset="0"/>
                        </a:rPr>
                        <a:t>Year 1 depreciation:</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latin typeface="+mn-lt"/>
                          <a:ea typeface="+mn-ea"/>
                          <a:cs typeface="Arial" panose="020B0604020202020204" pitchFamily="34" charset="0"/>
                        </a:rPr>
                        <a:t>$  8,000</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19100">
                <a:tc>
                  <a:txBody>
                    <a:bodyPr/>
                    <a:lstStyle/>
                    <a:p>
                      <a:r>
                        <a:rPr lang="en-US" sz="1800" dirty="0">
                          <a:latin typeface="+mn-lt"/>
                          <a:ea typeface="+mn-ea"/>
                          <a:cs typeface="Arial" panose="020B0604020202020204" pitchFamily="34" charset="0"/>
                        </a:rPr>
                        <a:t>Year 2 depreciation:</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latin typeface="+mn-lt"/>
                          <a:ea typeface="+mn-ea"/>
                          <a:cs typeface="Arial" panose="020B0604020202020204" pitchFamily="34" charset="0"/>
                        </a:rPr>
                        <a:t>8,000</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19100">
                <a:tc>
                  <a:txBody>
                    <a:bodyPr/>
                    <a:lstStyle/>
                    <a:p>
                      <a:r>
                        <a:rPr lang="en-US" sz="1800" dirty="0">
                          <a:latin typeface="+mn-lt"/>
                          <a:ea typeface="+mn-ea"/>
                          <a:cs typeface="Arial" panose="020B0604020202020204" pitchFamily="34" charset="0"/>
                        </a:rPr>
                        <a:t>Year 3 depreciation:</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latin typeface="+mn-lt"/>
                          <a:ea typeface="+mn-ea"/>
                          <a:cs typeface="Arial" panose="020B0604020202020204" pitchFamily="34" charset="0"/>
                        </a:rPr>
                        <a:t>8,000</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19100">
                <a:tc>
                  <a:txBody>
                    <a:bodyPr/>
                    <a:lstStyle/>
                    <a:p>
                      <a:r>
                        <a:rPr lang="en-US" sz="1800" dirty="0">
                          <a:latin typeface="+mn-lt"/>
                          <a:ea typeface="+mn-ea"/>
                          <a:cs typeface="Arial" panose="020B0604020202020204" pitchFamily="34" charset="0"/>
                        </a:rPr>
                        <a:t>Year 4 depreciation:</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latin typeface="+mn-lt"/>
                          <a:ea typeface="+mn-ea"/>
                          <a:cs typeface="Arial" panose="020B0604020202020204" pitchFamily="34" charset="0"/>
                        </a:rPr>
                        <a:t>8,000</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19100">
                <a:tc>
                  <a:txBody>
                    <a:bodyPr/>
                    <a:lstStyle/>
                    <a:p>
                      <a:r>
                        <a:rPr lang="en-US" sz="1800" dirty="0">
                          <a:latin typeface="+mn-lt"/>
                          <a:ea typeface="+mn-ea"/>
                          <a:cs typeface="Arial" panose="020B0604020202020204" pitchFamily="34" charset="0"/>
                        </a:rPr>
                        <a:t>Year 5 depreciation:</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u="sng" dirty="0">
                          <a:latin typeface="+mn-lt"/>
                          <a:ea typeface="+mn-ea"/>
                          <a:cs typeface="Arial" panose="020B0604020202020204" pitchFamily="34" charset="0"/>
                        </a:rPr>
                        <a:t> 8,000</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19100">
                <a:tc>
                  <a:txBody>
                    <a:bodyPr/>
                    <a:lstStyle/>
                    <a:p>
                      <a:r>
                        <a:rPr lang="en-US" sz="1800" dirty="0">
                          <a:latin typeface="+mn-lt"/>
                          <a:ea typeface="+mn-ea"/>
                          <a:cs typeface="Arial" panose="020B0604020202020204" pitchFamily="34" charset="0"/>
                        </a:rPr>
                        <a:t>Total depreciation:</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u="dbl" baseline="0" dirty="0">
                          <a:latin typeface="+mn-lt"/>
                          <a:ea typeface="+mn-ea"/>
                          <a:cs typeface="Arial" panose="020B0604020202020204" pitchFamily="34" charset="0"/>
                        </a:rPr>
                        <a:t>$40,000</a:t>
                      </a:r>
                      <a:endParaRPr lang="en-US" u="dbl" baseline="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442960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Units-of-Production Method</a:t>
            </a:r>
            <a:endParaRPr lang="en-US" dirty="0"/>
          </a:p>
        </p:txBody>
      </p:sp>
      <p:sp>
        <p:nvSpPr>
          <p:cNvPr id="3" name="Content Placeholder 2"/>
          <p:cNvSpPr>
            <a:spLocks noGrp="1"/>
          </p:cNvSpPr>
          <p:nvPr>
            <p:ph idx="1"/>
          </p:nvPr>
        </p:nvSpPr>
        <p:spPr>
          <a:xfrm>
            <a:off x="457200" y="1600201"/>
            <a:ext cx="8229600" cy="533400"/>
          </a:xfrm>
        </p:spPr>
        <p:txBody>
          <a:bodyPr/>
          <a:lstStyle/>
          <a:p>
            <a:pPr marL="0" indent="0">
              <a:buNone/>
            </a:pPr>
            <a:r>
              <a:rPr lang="en-US" altLang="en-US" dirty="0"/>
              <a:t>($41,000 − $1,000) ÷ 100,000 km = $0.40/km</a:t>
            </a:r>
            <a:endParaRPr lang="en-US" dirty="0"/>
          </a:p>
        </p:txBody>
      </p:sp>
      <p:graphicFrame>
        <p:nvGraphicFramePr>
          <p:cNvPr id="4" name="Table 3"/>
          <p:cNvGraphicFramePr>
            <a:graphicFrameLocks noGrp="1"/>
          </p:cNvGraphicFramePr>
          <p:nvPr/>
        </p:nvGraphicFramePr>
        <p:xfrm>
          <a:off x="1638300" y="2346960"/>
          <a:ext cx="5867400" cy="2225040"/>
        </p:xfrm>
        <a:graphic>
          <a:graphicData uri="http://schemas.openxmlformats.org/drawingml/2006/table">
            <a:tbl>
              <a:tblPr firstRow="1" bandRow="1">
                <a:tableStyleId>{2D5ABB26-0587-4C30-8999-92F81FD0307C}</a:tableStyleId>
              </a:tblPr>
              <a:tblGrid>
                <a:gridCol w="4648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tblGrid>
              <a:tr h="370840">
                <a:tc>
                  <a:txBody>
                    <a:bodyPr/>
                    <a:lstStyle/>
                    <a:p>
                      <a:r>
                        <a:rPr lang="en-US" altLang="en-US" dirty="0">
                          <a:latin typeface="+mn-lt"/>
                        </a:rPr>
                        <a:t>Year 1: 20,000 km </a:t>
                      </a:r>
                      <a:r>
                        <a:rPr lang="en-US" altLang="en-US" b="1" dirty="0">
                          <a:latin typeface="+mn-lt"/>
                        </a:rPr>
                        <a:t>×</a:t>
                      </a:r>
                      <a:r>
                        <a:rPr lang="en-US" altLang="en-US" dirty="0">
                          <a:latin typeface="+mn-lt"/>
                        </a:rPr>
                        <a:t> $0.40 =</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dirty="0">
                          <a:latin typeface="+mn-lt"/>
                        </a:rPr>
                        <a:t>$ 8,000</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r>
                        <a:rPr lang="en-US" altLang="en-US" dirty="0">
                          <a:latin typeface="+mn-lt"/>
                        </a:rPr>
                        <a:t>Year 2: 30,000 km </a:t>
                      </a:r>
                      <a:r>
                        <a:rPr lang="en-US" altLang="en-US" b="1" dirty="0">
                          <a:latin typeface="+mn-lt"/>
                        </a:rPr>
                        <a:t>× </a:t>
                      </a:r>
                      <a:r>
                        <a:rPr lang="en-US" altLang="en-US" dirty="0">
                          <a:latin typeface="+mn-lt"/>
                        </a:rPr>
                        <a:t>$0.40 =</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dirty="0">
                          <a:latin typeface="+mn-lt"/>
                        </a:rPr>
                        <a:t>12,000</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altLang="en-US" dirty="0">
                          <a:latin typeface="+mn-lt"/>
                        </a:rPr>
                        <a:t>Year 3: 25,000 km </a:t>
                      </a:r>
                      <a:r>
                        <a:rPr lang="en-US" altLang="en-US" b="1" dirty="0">
                          <a:latin typeface="+mn-lt"/>
                        </a:rPr>
                        <a:t>×</a:t>
                      </a:r>
                      <a:r>
                        <a:rPr lang="en-US" altLang="en-US" dirty="0">
                          <a:latin typeface="+mn-lt"/>
                        </a:rPr>
                        <a:t> $0.40 =</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dirty="0">
                          <a:latin typeface="+mn-lt"/>
                        </a:rPr>
                        <a:t>10,000</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altLang="en-US" dirty="0">
                          <a:latin typeface="+mn-lt"/>
                        </a:rPr>
                        <a:t>Year 4: 15,000 km </a:t>
                      </a:r>
                      <a:r>
                        <a:rPr lang="en-US" altLang="en-US" b="1" dirty="0">
                          <a:latin typeface="+mn-lt"/>
                        </a:rPr>
                        <a:t>×</a:t>
                      </a:r>
                      <a:r>
                        <a:rPr lang="en-US" altLang="en-US" dirty="0">
                          <a:latin typeface="+mn-lt"/>
                        </a:rPr>
                        <a:t> $0.40 =</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dirty="0">
                          <a:latin typeface="+mn-lt"/>
                        </a:rPr>
                        <a:t>6,000</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altLang="en-US" dirty="0">
                          <a:latin typeface="+mn-lt"/>
                        </a:rPr>
                        <a:t>Year 5: 10,000 km </a:t>
                      </a:r>
                      <a:r>
                        <a:rPr lang="en-US" altLang="en-US" b="1" dirty="0">
                          <a:latin typeface="+mn-lt"/>
                        </a:rPr>
                        <a:t>×</a:t>
                      </a:r>
                      <a:r>
                        <a:rPr lang="en-US" altLang="en-US" dirty="0">
                          <a:latin typeface="+mn-lt"/>
                        </a:rPr>
                        <a:t> $0.40 =</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u="sng" dirty="0">
                          <a:latin typeface="+mn-lt"/>
                        </a:rPr>
                        <a:t> 4,000</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r>
                        <a:rPr lang="en-US" altLang="en-US" dirty="0">
                          <a:latin typeface="+mn-lt"/>
                        </a:rPr>
                        <a:t>Total depreciation:</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u="dbl" baseline="0" dirty="0">
                          <a:latin typeface="+mn-lt"/>
                        </a:rPr>
                        <a:t>$40,000</a:t>
                      </a:r>
                      <a:endParaRPr lang="en-US" u="dbl" baseline="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215904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Diminishing-Balance Method</a:t>
            </a:r>
            <a:endParaRPr lang="en-US" dirty="0"/>
          </a:p>
        </p:txBody>
      </p:sp>
      <p:sp>
        <p:nvSpPr>
          <p:cNvPr id="3" name="Content Placeholder 2"/>
          <p:cNvSpPr>
            <a:spLocks noGrp="1"/>
          </p:cNvSpPr>
          <p:nvPr>
            <p:ph idx="1"/>
          </p:nvPr>
        </p:nvSpPr>
        <p:spPr>
          <a:ln w="12700">
            <a:noFill/>
          </a:ln>
        </p:spPr>
        <p:txBody>
          <a:bodyPr/>
          <a:lstStyle/>
          <a:p>
            <a:pPr marL="0" indent="0" defTabSz="460375">
              <a:buNone/>
              <a:defRPr/>
            </a:pPr>
            <a:r>
              <a:rPr lang="en-US" altLang="en-US" dirty="0"/>
              <a:t>Straight-line rate per year: 100% ÷ 5 = 20%</a:t>
            </a:r>
          </a:p>
          <a:p>
            <a:pPr marL="0" indent="0">
              <a:buNone/>
              <a:defRPr/>
            </a:pPr>
            <a:r>
              <a:rPr lang="en-US" dirty="0">
                <a:cs typeface="Arial" panose="020B0604020202020204" pitchFamily="34" charset="0"/>
              </a:rPr>
              <a:t>Double-declining balance:</a:t>
            </a:r>
          </a:p>
          <a:p>
            <a:pPr marL="0" indent="0">
              <a:buNone/>
              <a:defRPr/>
            </a:pPr>
            <a:r>
              <a:rPr lang="en-US" dirty="0">
                <a:cs typeface="Arial" panose="020B0604020202020204" pitchFamily="34" charset="0"/>
              </a:rPr>
              <a:t>2 times the straight-line rate = 40%</a:t>
            </a:r>
          </a:p>
          <a:p>
            <a:pPr marL="0" indent="0">
              <a:buNone/>
            </a:pPr>
            <a:r>
              <a:rPr lang="en-US" altLang="en-US" dirty="0"/>
              <a:t>Carrying amount of truck at end of first year:</a:t>
            </a:r>
          </a:p>
          <a:p>
            <a:pPr marL="0" indent="0">
              <a:buNone/>
            </a:pPr>
            <a:r>
              <a:rPr lang="en-US" altLang="en-US" dirty="0"/>
              <a:t>$41,000 </a:t>
            </a:r>
            <a:r>
              <a:rPr lang="en-US" altLang="en-US" b="1" dirty="0"/>
              <a:t>×</a:t>
            </a:r>
            <a:r>
              <a:rPr lang="en-US" altLang="en-US" dirty="0"/>
              <a:t> 40% = $16,400</a:t>
            </a:r>
          </a:p>
          <a:p>
            <a:pPr marL="0" indent="0">
              <a:buNone/>
            </a:pPr>
            <a:r>
              <a:rPr lang="en-US" altLang="en-US" dirty="0"/>
              <a:t>$41,000 − $16,400 = $24,600</a:t>
            </a:r>
            <a:endParaRPr lang="en-US" dirty="0"/>
          </a:p>
        </p:txBody>
      </p:sp>
    </p:spTree>
    <p:extLst>
      <p:ext uri="{BB962C8B-B14F-4D97-AF65-F5344CB8AC3E}">
        <p14:creationId xmlns:p14="http://schemas.microsoft.com/office/powerpoint/2010/main" val="3939630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Comparing Depreciation Methods</a:t>
            </a:r>
            <a:r>
              <a:rPr lang="en-US" altLang="en-US" sz="2000" b="0" dirty="0">
                <a:ea typeface="ＭＳ Ｐゴシック" pitchFamily="34" charset="-128"/>
              </a:rPr>
              <a:t> (2 of 2)</a:t>
            </a:r>
            <a:r>
              <a:rPr lang="en-US" altLang="en-US" sz="2000" dirty="0">
                <a:ea typeface="ＭＳ Ｐゴシック" pitchFamily="34" charset="-128"/>
              </a:rPr>
              <a:t> </a:t>
            </a:r>
            <a:endParaRPr lang="en-US" sz="2000" b="0" dirty="0"/>
          </a:p>
        </p:txBody>
      </p:sp>
      <p:sp>
        <p:nvSpPr>
          <p:cNvPr id="3" name="Content Placeholder 2"/>
          <p:cNvSpPr>
            <a:spLocks noGrp="1"/>
          </p:cNvSpPr>
          <p:nvPr>
            <p:ph idx="1"/>
          </p:nvPr>
        </p:nvSpPr>
        <p:spPr>
          <a:xfrm>
            <a:off x="1524000" y="1828800"/>
            <a:ext cx="6096000" cy="457200"/>
          </a:xfrm>
          <a:ln>
            <a:solidFill>
              <a:schemeClr val="tx1"/>
            </a:solidFill>
          </a:ln>
        </p:spPr>
        <p:txBody>
          <a:bodyPr anchor="ctr"/>
          <a:lstStyle/>
          <a:p>
            <a:pPr marL="0" indent="0" algn="ctr">
              <a:buNone/>
            </a:pPr>
            <a:r>
              <a:rPr lang="en-US" b="1" i="1" dirty="0">
                <a:cs typeface="Arial" panose="020B0604020202020204" pitchFamily="34" charset="0"/>
              </a:rPr>
              <a:t>Amount of Depreciation per Year</a:t>
            </a:r>
            <a:endParaRPr lang="en-US" dirty="0"/>
          </a:p>
        </p:txBody>
      </p:sp>
      <p:graphicFrame>
        <p:nvGraphicFramePr>
          <p:cNvPr id="4" name="Table 3"/>
          <p:cNvGraphicFramePr>
            <a:graphicFrameLocks noGrp="1"/>
          </p:cNvGraphicFramePr>
          <p:nvPr/>
        </p:nvGraphicFramePr>
        <p:xfrm>
          <a:off x="1524000" y="2357120"/>
          <a:ext cx="6096000" cy="2595880"/>
        </p:xfrm>
        <a:graphic>
          <a:graphicData uri="http://schemas.openxmlformats.org/drawingml/2006/table">
            <a:tbl>
              <a:tblPr firstRow="1" bandRow="1">
                <a:tableStyleId>{2D5ABB26-0587-4C30-8999-92F81FD0307C}</a:tableStyleId>
              </a:tblPr>
              <a:tblGrid>
                <a:gridCol w="13716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t>Year</a:t>
                      </a:r>
                      <a:endParaRPr lang="en-US" sz="1800" b="0" dirty="0">
                        <a:latin typeface="+mn-lt"/>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SL</a:t>
                      </a:r>
                      <a:endParaRPr lang="en-US" b="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UOP</a:t>
                      </a:r>
                      <a:endParaRPr lang="en-US" b="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t>DDB</a:t>
                      </a:r>
                      <a:endParaRPr lang="en-US" b="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l"/>
                      <a:r>
                        <a:rPr lang="en-US" dirty="0"/>
                        <a:t>1</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lnSpc>
                          <a:spcPct val="115000"/>
                        </a:lnSpc>
                        <a:spcAft>
                          <a:spcPts val="0"/>
                        </a:spcAft>
                      </a:pPr>
                      <a:r>
                        <a:rPr lang="en-US" sz="1800" kern="1200" dirty="0">
                          <a:effectLst/>
                        </a:rPr>
                        <a:t> $ 8,000</a:t>
                      </a:r>
                      <a:endParaRPr lang="en-US" sz="1800" dirty="0">
                        <a:effectLst/>
                        <a:latin typeface="+mn-lt"/>
                        <a:ea typeface="PMingLiU"/>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lnSpc>
                          <a:spcPct val="115000"/>
                        </a:lnSpc>
                        <a:spcAft>
                          <a:spcPts val="0"/>
                        </a:spcAft>
                      </a:pPr>
                      <a:r>
                        <a:rPr lang="en-US" sz="1800" kern="1200" dirty="0">
                          <a:effectLst/>
                        </a:rPr>
                        <a:t> $ 8,000</a:t>
                      </a:r>
                      <a:endParaRPr lang="en-US" sz="1800" dirty="0">
                        <a:effectLst/>
                        <a:latin typeface="+mn-lt"/>
                        <a:ea typeface="PMingLiU"/>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lnSpc>
                          <a:spcPct val="115000"/>
                        </a:lnSpc>
                        <a:spcAft>
                          <a:spcPts val="0"/>
                        </a:spcAft>
                      </a:pPr>
                      <a:r>
                        <a:rPr lang="en-US" sz="1800" kern="1200" dirty="0">
                          <a:effectLst/>
                        </a:rPr>
                        <a:t>$16,400</a:t>
                      </a:r>
                      <a:endParaRPr lang="en-US" sz="1800" dirty="0">
                        <a:effectLst/>
                        <a:latin typeface="+mn-lt"/>
                        <a:ea typeface="PMingLiU"/>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l"/>
                      <a:r>
                        <a:rPr lang="en-US" dirty="0"/>
                        <a:t>2</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lnSpc>
                          <a:spcPct val="115000"/>
                        </a:lnSpc>
                        <a:spcAft>
                          <a:spcPts val="0"/>
                        </a:spcAft>
                      </a:pPr>
                      <a:r>
                        <a:rPr lang="en-US" sz="1800" kern="1200" dirty="0">
                          <a:effectLst/>
                        </a:rPr>
                        <a:t>    8,000</a:t>
                      </a:r>
                      <a:endParaRPr lang="en-US" sz="1800" dirty="0">
                        <a:effectLst/>
                        <a:latin typeface="+mn-lt"/>
                        <a:ea typeface="PMingLiU"/>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lnSpc>
                          <a:spcPct val="115000"/>
                        </a:lnSpc>
                        <a:spcAft>
                          <a:spcPts val="0"/>
                        </a:spcAft>
                      </a:pPr>
                      <a:r>
                        <a:rPr lang="en-US" sz="1800" kern="1200" dirty="0">
                          <a:effectLst/>
                        </a:rPr>
                        <a:t>   12,000</a:t>
                      </a:r>
                      <a:endParaRPr lang="en-US" sz="1800" dirty="0">
                        <a:effectLst/>
                        <a:latin typeface="+mn-lt"/>
                        <a:ea typeface="PMingLiU"/>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lnSpc>
                          <a:spcPct val="115000"/>
                        </a:lnSpc>
                        <a:spcAft>
                          <a:spcPts val="0"/>
                        </a:spcAft>
                      </a:pPr>
                      <a:r>
                        <a:rPr lang="en-US" sz="1800" kern="1200" dirty="0">
                          <a:effectLst/>
                        </a:rPr>
                        <a:t>    9,840</a:t>
                      </a:r>
                      <a:endParaRPr lang="en-US" sz="1800" dirty="0">
                        <a:effectLst/>
                        <a:latin typeface="+mn-lt"/>
                        <a:ea typeface="PMingLiU"/>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l"/>
                      <a:r>
                        <a:rPr lang="en-US" dirty="0"/>
                        <a:t>3</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lnSpc>
                          <a:spcPct val="115000"/>
                        </a:lnSpc>
                        <a:spcAft>
                          <a:spcPts val="0"/>
                        </a:spcAft>
                      </a:pPr>
                      <a:r>
                        <a:rPr lang="en-US" sz="1800" kern="1200" dirty="0">
                          <a:effectLst/>
                        </a:rPr>
                        <a:t>    8,000</a:t>
                      </a:r>
                      <a:endParaRPr lang="en-US" sz="1800" dirty="0">
                        <a:effectLst/>
                        <a:latin typeface="+mn-lt"/>
                        <a:ea typeface="PMingLiU"/>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lnSpc>
                          <a:spcPct val="115000"/>
                        </a:lnSpc>
                        <a:spcAft>
                          <a:spcPts val="0"/>
                        </a:spcAft>
                      </a:pPr>
                      <a:r>
                        <a:rPr lang="en-US" sz="1800" kern="1200" dirty="0">
                          <a:effectLst/>
                        </a:rPr>
                        <a:t>   10,000</a:t>
                      </a:r>
                      <a:endParaRPr lang="en-US" sz="1800" dirty="0">
                        <a:effectLst/>
                        <a:latin typeface="+mn-lt"/>
                        <a:ea typeface="PMingLiU"/>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lnSpc>
                          <a:spcPct val="115000"/>
                        </a:lnSpc>
                        <a:spcAft>
                          <a:spcPts val="0"/>
                        </a:spcAft>
                      </a:pPr>
                      <a:r>
                        <a:rPr lang="en-US" sz="1800" kern="1200" dirty="0">
                          <a:effectLst/>
                        </a:rPr>
                        <a:t>    5,904</a:t>
                      </a:r>
                      <a:endParaRPr lang="en-US" sz="1800" dirty="0">
                        <a:effectLst/>
                        <a:latin typeface="+mn-lt"/>
                        <a:ea typeface="PMingLiU"/>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l"/>
                      <a:r>
                        <a:rPr lang="en-US" dirty="0"/>
                        <a:t>4</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lnSpc>
                          <a:spcPct val="115000"/>
                        </a:lnSpc>
                        <a:spcAft>
                          <a:spcPts val="0"/>
                        </a:spcAft>
                      </a:pPr>
                      <a:r>
                        <a:rPr lang="en-US" sz="1800" kern="1200" dirty="0">
                          <a:effectLst/>
                        </a:rPr>
                        <a:t>    8,000</a:t>
                      </a:r>
                      <a:endParaRPr lang="en-US" sz="1800" dirty="0">
                        <a:effectLst/>
                        <a:latin typeface="+mn-lt"/>
                        <a:ea typeface="PMingLiU"/>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lnSpc>
                          <a:spcPct val="115000"/>
                        </a:lnSpc>
                        <a:spcAft>
                          <a:spcPts val="0"/>
                        </a:spcAft>
                      </a:pPr>
                      <a:r>
                        <a:rPr lang="en-US" sz="1800" kern="1200" dirty="0">
                          <a:effectLst/>
                        </a:rPr>
                        <a:t>     6,000</a:t>
                      </a:r>
                      <a:endParaRPr lang="en-US" sz="1800" dirty="0">
                        <a:effectLst/>
                        <a:latin typeface="+mn-lt"/>
                        <a:ea typeface="PMingLiU"/>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lnSpc>
                          <a:spcPct val="115000"/>
                        </a:lnSpc>
                        <a:spcAft>
                          <a:spcPts val="0"/>
                        </a:spcAft>
                      </a:pPr>
                      <a:r>
                        <a:rPr lang="en-US" sz="1800" kern="1200" dirty="0">
                          <a:effectLst/>
                        </a:rPr>
                        <a:t>    3,542</a:t>
                      </a:r>
                      <a:endParaRPr lang="en-US" sz="1800" dirty="0">
                        <a:effectLst/>
                        <a:latin typeface="+mn-lt"/>
                        <a:ea typeface="PMingLiU"/>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l"/>
                      <a:r>
                        <a:rPr lang="en-US" dirty="0"/>
                        <a:t>5</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lnSpc>
                          <a:spcPct val="115000"/>
                        </a:lnSpc>
                        <a:spcAft>
                          <a:spcPts val="0"/>
                        </a:spcAft>
                      </a:pPr>
                      <a:r>
                        <a:rPr lang="en-US" sz="1800" u="none" kern="1200" dirty="0">
                          <a:effectLst/>
                        </a:rPr>
                        <a:t> </a:t>
                      </a:r>
                      <a:r>
                        <a:rPr lang="en-US" sz="1800" u="sng" kern="1200" dirty="0">
                          <a:effectLst/>
                        </a:rPr>
                        <a:t>    8,000</a:t>
                      </a:r>
                      <a:endParaRPr lang="en-US" sz="1800" dirty="0">
                        <a:effectLst/>
                        <a:latin typeface="+mn-lt"/>
                        <a:ea typeface="PMingLiU"/>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lnSpc>
                          <a:spcPct val="115000"/>
                        </a:lnSpc>
                        <a:spcAft>
                          <a:spcPts val="0"/>
                        </a:spcAft>
                      </a:pPr>
                      <a:r>
                        <a:rPr lang="en-US" sz="1800" u="sng" kern="1200" dirty="0">
                          <a:effectLst/>
                        </a:rPr>
                        <a:t>     4,000</a:t>
                      </a:r>
                      <a:endParaRPr lang="en-US" sz="1800" dirty="0">
                        <a:effectLst/>
                        <a:latin typeface="+mn-lt"/>
                        <a:ea typeface="PMingLiU"/>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ase">
                        <a:lnSpc>
                          <a:spcPct val="115000"/>
                        </a:lnSpc>
                        <a:spcAft>
                          <a:spcPts val="0"/>
                        </a:spcAft>
                      </a:pPr>
                      <a:r>
                        <a:rPr lang="en-US" sz="1800" u="sng" kern="1200" dirty="0">
                          <a:effectLst/>
                        </a:rPr>
                        <a:t>    4,314</a:t>
                      </a:r>
                      <a:endParaRPr lang="en-US" sz="1800" dirty="0">
                        <a:effectLst/>
                        <a:latin typeface="+mn-lt"/>
                        <a:ea typeface="PMingLiU"/>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70840">
                <a:tc>
                  <a:txBody>
                    <a:bodyPr/>
                    <a:lstStyle/>
                    <a:p>
                      <a:pPr algn="l"/>
                      <a:r>
                        <a:rPr lang="en-US" sz="1800" dirty="0"/>
                        <a:t>Total</a:t>
                      </a:r>
                      <a:endParaRPr lang="en-US"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800" kern="1200" dirty="0">
                          <a:effectLst/>
                        </a:rPr>
                        <a:t> </a:t>
                      </a:r>
                      <a:r>
                        <a:rPr lang="en-US" sz="1800" u="dbl" kern="1200" baseline="0" dirty="0">
                          <a:effectLst/>
                        </a:rPr>
                        <a:t>$40,000</a:t>
                      </a:r>
                      <a:endParaRPr lang="en-US" sz="1800" u="dbl" baseline="0" dirty="0">
                        <a:effectLst/>
                        <a:latin typeface="+mn-lt"/>
                        <a:ea typeface="PMingLiU"/>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800" u="dbl" kern="1200" baseline="0" dirty="0">
                          <a:effectLst/>
                        </a:rPr>
                        <a:t>$40,000</a:t>
                      </a:r>
                      <a:endParaRPr lang="en-US" sz="1800" u="dbl" baseline="0" dirty="0">
                        <a:effectLst/>
                        <a:latin typeface="+mn-lt"/>
                        <a:ea typeface="PMingLiU"/>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US" sz="1800" u="dbl" kern="1200" baseline="0" dirty="0">
                          <a:effectLst/>
                        </a:rPr>
                        <a:t>$40,000</a:t>
                      </a:r>
                      <a:endParaRPr lang="en-US" sz="1800" u="dbl" baseline="0" dirty="0">
                        <a:effectLst/>
                        <a:latin typeface="+mn-lt"/>
                        <a:ea typeface="PMingLiU"/>
                        <a:cs typeface="Times New Roman"/>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905553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en-US" dirty="0">
                <a:ea typeface="ＭＳ Ｐゴシック" pitchFamily="34" charset="-128"/>
              </a:rPr>
              <a:t>Depreciation Patterns</a:t>
            </a:r>
            <a:endParaRPr lang="en-US" dirty="0"/>
          </a:p>
        </p:txBody>
      </p:sp>
      <p:pic>
        <p:nvPicPr>
          <p:cNvPr id="9" name="Picture 8" descr="Straight line, units of production, and accelerated D D B depreciation patterns.">
            <a:extLst>
              <a:ext uri="{FF2B5EF4-FFF2-40B4-BE49-F238E27FC236}">
                <a16:creationId xmlns:a16="http://schemas.microsoft.com/office/drawing/2014/main" id="{26DEB69B-2A50-0A36-678D-35F5F5EC4101}"/>
              </a:ext>
            </a:extLst>
          </p:cNvPr>
          <p:cNvPicPr>
            <a:picLocks noChangeAspect="1"/>
          </p:cNvPicPr>
          <p:nvPr/>
        </p:nvPicPr>
        <p:blipFill rotWithShape="1">
          <a:blip r:embed="rId3">
            <a:extLst>
              <a:ext uri="{28A0092B-C50C-407E-A947-70E740481C1C}">
                <a14:useLocalDpi xmlns:a14="http://schemas.microsoft.com/office/drawing/2010/main" val="0"/>
              </a:ext>
            </a:extLst>
          </a:blip>
          <a:srcRect l="20000"/>
          <a:stretch/>
        </p:blipFill>
        <p:spPr>
          <a:xfrm>
            <a:off x="719157" y="1989000"/>
            <a:ext cx="7705686" cy="2880000"/>
          </a:xfrm>
          <a:prstGeom prst="rect">
            <a:avLst/>
          </a:prstGeom>
        </p:spPr>
      </p:pic>
    </p:spTree>
    <p:extLst>
      <p:ext uri="{BB962C8B-B14F-4D97-AF65-F5344CB8AC3E}">
        <p14:creationId xmlns:p14="http://schemas.microsoft.com/office/powerpoint/2010/main" val="37434697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CE99E-CFE0-1C32-4FEA-3FE1FE88CE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B68446-41E1-4FB4-30B0-7EAFEE60401E}"/>
              </a:ext>
            </a:extLst>
          </p:cNvPr>
          <p:cNvSpPr>
            <a:spLocks noGrp="1"/>
          </p:cNvSpPr>
          <p:nvPr>
            <p:ph type="title"/>
          </p:nvPr>
        </p:nvSpPr>
        <p:spPr>
          <a:xfrm>
            <a:off x="194914" y="434111"/>
            <a:ext cx="8677297" cy="895927"/>
          </a:xfrm>
        </p:spPr>
        <p:txBody>
          <a:bodyPr anchor="ctr">
            <a:normAutofit/>
          </a:bodyPr>
          <a:lstStyle/>
          <a:p>
            <a:r>
              <a:rPr lang="en-US" altLang="en-US" dirty="0"/>
              <a:t>Chapter 6 Example</a:t>
            </a:r>
            <a:endParaRPr lang="en-US" dirty="0"/>
          </a:p>
        </p:txBody>
      </p:sp>
      <p:sp>
        <p:nvSpPr>
          <p:cNvPr id="3" name="Content Placeholder 2">
            <a:extLst>
              <a:ext uri="{FF2B5EF4-FFF2-40B4-BE49-F238E27FC236}">
                <a16:creationId xmlns:a16="http://schemas.microsoft.com/office/drawing/2014/main" id="{99FDDFFA-9C8C-293A-7C6B-48CE3AAB81C0}"/>
              </a:ext>
            </a:extLst>
          </p:cNvPr>
          <p:cNvSpPr>
            <a:spLocks noGrp="1"/>
          </p:cNvSpPr>
          <p:nvPr>
            <p:ph idx="13"/>
          </p:nvPr>
        </p:nvSpPr>
        <p:spPr>
          <a:xfrm>
            <a:off x="457200" y="1190689"/>
            <a:ext cx="8229600" cy="2306781"/>
          </a:xfrm>
        </p:spPr>
        <p:txBody>
          <a:bodyPr>
            <a:normAutofit/>
          </a:bodyPr>
          <a:lstStyle/>
          <a:p>
            <a:pPr marL="0" indent="0" defTabSz="460375">
              <a:buNone/>
              <a:defRPr/>
            </a:pPr>
            <a:r>
              <a:rPr lang="en-US" sz="2400" dirty="0"/>
              <a:t>A</a:t>
            </a:r>
            <a:r>
              <a:rPr lang="en-US" sz="2400" dirty="0">
                <a:effectLst/>
              </a:rPr>
              <a:t> company purchases a truck for $15,000 and expect to drive it for 120,000 Kilometers in 5 years. The expect millage is as follows:</a:t>
            </a:r>
          </a:p>
          <a:p>
            <a:pPr marL="0" indent="0" defTabSz="460375">
              <a:buNone/>
              <a:defRPr/>
            </a:pPr>
            <a:endParaRPr lang="en-US" dirty="0"/>
          </a:p>
          <a:p>
            <a:pPr marL="0" indent="0" defTabSz="460375">
              <a:buNone/>
              <a:defRPr/>
            </a:pPr>
            <a:endParaRPr lang="en-US" dirty="0">
              <a:effectLst/>
            </a:endParaRPr>
          </a:p>
          <a:p>
            <a:pPr marL="0" indent="0" defTabSz="460375">
              <a:buNone/>
              <a:defRPr/>
            </a:pPr>
            <a:endParaRPr lang="en-US" dirty="0"/>
          </a:p>
          <a:p>
            <a:pPr marL="0" indent="0" defTabSz="460375">
              <a:buNone/>
              <a:defRPr/>
            </a:pPr>
            <a:endParaRPr lang="en-US" dirty="0">
              <a:effectLst/>
            </a:endParaRPr>
          </a:p>
          <a:p>
            <a:pPr marL="0" indent="0" defTabSz="460375">
              <a:buNone/>
              <a:defRPr/>
            </a:pPr>
            <a:endParaRPr lang="en-US" dirty="0"/>
          </a:p>
          <a:p>
            <a:pPr marL="0" indent="0" defTabSz="460375">
              <a:buNone/>
              <a:defRPr/>
            </a:pPr>
            <a:endParaRPr lang="en-US" dirty="0">
              <a:effectLst/>
            </a:endParaRPr>
          </a:p>
          <a:p>
            <a:pPr marL="0" indent="0" defTabSz="460375">
              <a:buNone/>
              <a:defRPr/>
            </a:pPr>
            <a:endParaRPr lang="en-US" dirty="0">
              <a:effectLst/>
            </a:endParaRPr>
          </a:p>
          <a:p>
            <a:pPr marL="0" indent="0" defTabSz="460375">
              <a:buNone/>
              <a:defRPr/>
            </a:pPr>
            <a:endParaRPr lang="en-US" dirty="0"/>
          </a:p>
          <a:p>
            <a:pPr marL="0" indent="0" defTabSz="460375">
              <a:buNone/>
              <a:defRPr/>
            </a:pPr>
            <a:endParaRPr lang="en-US" dirty="0">
              <a:effectLst/>
            </a:endParaRPr>
          </a:p>
          <a:p>
            <a:pPr marL="0" indent="0" defTabSz="460375">
              <a:buNone/>
              <a:defRPr/>
            </a:pPr>
            <a:endParaRPr lang="en-US" dirty="0"/>
          </a:p>
          <a:p>
            <a:pPr marL="0" indent="0" defTabSz="460375">
              <a:buNone/>
              <a:defRPr/>
            </a:pPr>
            <a:endParaRPr lang="en-US" dirty="0">
              <a:effectLst/>
            </a:endParaRPr>
          </a:p>
          <a:p>
            <a:pPr marL="0" indent="0" defTabSz="460375">
              <a:buNone/>
              <a:defRPr/>
            </a:pPr>
            <a:endParaRPr lang="en-US" dirty="0"/>
          </a:p>
        </p:txBody>
      </p:sp>
      <p:sp>
        <p:nvSpPr>
          <p:cNvPr id="13" name="Footer Placeholder 4">
            <a:extLst>
              <a:ext uri="{FF2B5EF4-FFF2-40B4-BE49-F238E27FC236}">
                <a16:creationId xmlns:a16="http://schemas.microsoft.com/office/drawing/2014/main" id="{E8EE13FE-F4A4-829F-0BC6-1BE50CDA624C}"/>
              </a:ext>
            </a:extLst>
          </p:cNvPr>
          <p:cNvSpPr>
            <a:spLocks noGrp="1"/>
          </p:cNvSpPr>
          <p:nvPr>
            <p:ph type="ftr" sz="quarter" idx="11"/>
          </p:nvPr>
        </p:nvSpPr>
        <p:spPr>
          <a:xfrm>
            <a:off x="93969" y="6172200"/>
            <a:ext cx="8595360" cy="235463"/>
          </a:xfrm>
        </p:spPr>
        <p:txBody>
          <a:bodyPr/>
          <a:lstStyle/>
          <a:p>
            <a:endParaRPr lang="en-US" dirty="0"/>
          </a:p>
        </p:txBody>
      </p:sp>
      <p:graphicFrame>
        <p:nvGraphicFramePr>
          <p:cNvPr id="6" name="Table 5">
            <a:extLst>
              <a:ext uri="{FF2B5EF4-FFF2-40B4-BE49-F238E27FC236}">
                <a16:creationId xmlns:a16="http://schemas.microsoft.com/office/drawing/2014/main" id="{ECCD2009-4D67-9793-5F9A-9F78650B63F1}"/>
              </a:ext>
            </a:extLst>
          </p:cNvPr>
          <p:cNvGraphicFramePr>
            <a:graphicFrameLocks noGrp="1"/>
          </p:cNvGraphicFramePr>
          <p:nvPr>
            <p:extLst>
              <p:ext uri="{D42A27DB-BD31-4B8C-83A1-F6EECF244321}">
                <p14:modId xmlns:p14="http://schemas.microsoft.com/office/powerpoint/2010/main" val="2284542450"/>
              </p:ext>
            </p:extLst>
          </p:nvPr>
        </p:nvGraphicFramePr>
        <p:xfrm>
          <a:off x="4719565" y="2149761"/>
          <a:ext cx="3329927" cy="2163768"/>
        </p:xfrm>
        <a:graphic>
          <a:graphicData uri="http://schemas.openxmlformats.org/drawingml/2006/table">
            <a:tbl>
              <a:tblPr firstRow="1" firstCol="1" bandRow="1">
                <a:noFill/>
                <a:tableStyleId>{5C22544A-7EE6-4342-B048-85BDC9FD1C3A}</a:tableStyleId>
              </a:tblPr>
              <a:tblGrid>
                <a:gridCol w="1024310">
                  <a:extLst>
                    <a:ext uri="{9D8B030D-6E8A-4147-A177-3AD203B41FA5}">
                      <a16:colId xmlns:a16="http://schemas.microsoft.com/office/drawing/2014/main" val="1690851671"/>
                    </a:ext>
                  </a:extLst>
                </a:gridCol>
                <a:gridCol w="2305617">
                  <a:extLst>
                    <a:ext uri="{9D8B030D-6E8A-4147-A177-3AD203B41FA5}">
                      <a16:colId xmlns:a16="http://schemas.microsoft.com/office/drawing/2014/main" val="1323475005"/>
                    </a:ext>
                  </a:extLst>
                </a:gridCol>
              </a:tblGrid>
              <a:tr h="360628">
                <a:tc>
                  <a:txBody>
                    <a:bodyPr/>
                    <a:lstStyle/>
                    <a:p>
                      <a:r>
                        <a:rPr lang="en-US" sz="1600" b="0" cap="none" spc="0">
                          <a:solidFill>
                            <a:schemeClr val="tx1"/>
                          </a:solidFill>
                          <a:effectLst/>
                        </a:rPr>
                        <a:t> </a:t>
                      </a:r>
                      <a:endParaRPr lang="en-CA" sz="1600" b="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339" marR="44339" marT="0" marB="88679" anchor="b">
                    <a:lnL w="12700" cmpd="sng">
                      <a:noFill/>
                    </a:lnL>
                    <a:lnR w="12700" cmpd="sng">
                      <a:noFill/>
                    </a:lnR>
                    <a:lnT w="9525" cap="flat" cmpd="sng" algn="ctr">
                      <a:noFill/>
                      <a:prstDash val="solid"/>
                    </a:lnT>
                    <a:lnB w="38100" cmpd="sng">
                      <a:noFill/>
                    </a:lnB>
                    <a:noFill/>
                  </a:tcPr>
                </a:tc>
                <a:tc>
                  <a:txBody>
                    <a:bodyPr/>
                    <a:lstStyle/>
                    <a:p>
                      <a:r>
                        <a:rPr lang="en-US" sz="1600" b="0" cap="none" spc="0">
                          <a:solidFill>
                            <a:schemeClr val="tx1"/>
                          </a:solidFill>
                          <a:effectLst/>
                        </a:rPr>
                        <a:t>Mileage (KM)</a:t>
                      </a:r>
                      <a:endParaRPr lang="en-CA" sz="1600" b="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339" marR="44339" marT="0" marB="88679" anchor="b">
                    <a:lnL w="12700" cmpd="sng">
                      <a:noFill/>
                    </a:lnL>
                    <a:lnR w="12700" cmpd="sng">
                      <a:noFill/>
                    </a:lnR>
                    <a:lnT w="9525" cap="flat" cmpd="sng" algn="ctr">
                      <a:noFill/>
                      <a:prstDash val="solid"/>
                    </a:lnT>
                    <a:lnB w="38100" cmpd="sng">
                      <a:noFill/>
                    </a:lnB>
                    <a:noFill/>
                  </a:tcPr>
                </a:tc>
                <a:extLst>
                  <a:ext uri="{0D108BD9-81ED-4DB2-BD59-A6C34878D82A}">
                    <a16:rowId xmlns:a16="http://schemas.microsoft.com/office/drawing/2014/main" val="2412665958"/>
                  </a:ext>
                </a:extLst>
              </a:tr>
              <a:tr h="360628">
                <a:tc>
                  <a:txBody>
                    <a:bodyPr/>
                    <a:lstStyle/>
                    <a:p>
                      <a:r>
                        <a:rPr lang="en-US" sz="1600" b="0" cap="none" spc="0">
                          <a:solidFill>
                            <a:schemeClr val="tx1"/>
                          </a:solidFill>
                          <a:effectLst/>
                        </a:rPr>
                        <a:t>Year 1</a:t>
                      </a:r>
                      <a:endParaRPr lang="en-CA" sz="1600" b="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339" marR="44339" marT="0" marB="88679">
                    <a:lnL w="12700" cmpd="sng">
                      <a:noFill/>
                      <a:prstDash val="solid"/>
                    </a:lnL>
                    <a:lnR w="12700" cmpd="sng">
                      <a:noFill/>
                      <a:prstDash val="solid"/>
                    </a:lnR>
                    <a:lnT w="38100" cmpd="sng">
                      <a:noFill/>
                    </a:lnT>
                    <a:lnB w="12700" cap="flat" cmpd="sng" algn="ctr">
                      <a:solidFill>
                        <a:schemeClr val="accent1"/>
                      </a:solidFill>
                      <a:prstDash val="solid"/>
                    </a:lnB>
                    <a:noFill/>
                  </a:tcPr>
                </a:tc>
                <a:tc>
                  <a:txBody>
                    <a:bodyPr/>
                    <a:lstStyle/>
                    <a:p>
                      <a:r>
                        <a:rPr lang="en-US" sz="1200" cap="none" spc="0">
                          <a:solidFill>
                            <a:schemeClr val="tx1"/>
                          </a:solidFill>
                          <a:effectLst/>
                        </a:rPr>
                        <a:t>10,000</a:t>
                      </a:r>
                      <a:endParaRPr lang="en-CA" sz="12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339" marR="44339" marT="0" marB="88679">
                    <a:lnL w="12700" cmpd="sng">
                      <a:noFill/>
                      <a:prstDash val="solid"/>
                    </a:lnL>
                    <a:lnR w="12700" cmpd="sng">
                      <a:noFill/>
                      <a:prstDash val="solid"/>
                    </a:lnR>
                    <a:lnT w="38100" cmpd="sng">
                      <a:noFill/>
                    </a:lnT>
                    <a:lnB w="12700" cap="flat" cmpd="sng" algn="ctr">
                      <a:solidFill>
                        <a:schemeClr val="accent1"/>
                      </a:solidFill>
                      <a:prstDash val="solid"/>
                    </a:lnB>
                    <a:noFill/>
                  </a:tcPr>
                </a:tc>
                <a:extLst>
                  <a:ext uri="{0D108BD9-81ED-4DB2-BD59-A6C34878D82A}">
                    <a16:rowId xmlns:a16="http://schemas.microsoft.com/office/drawing/2014/main" val="2234536333"/>
                  </a:ext>
                </a:extLst>
              </a:tr>
              <a:tr h="360628">
                <a:tc>
                  <a:txBody>
                    <a:bodyPr/>
                    <a:lstStyle/>
                    <a:p>
                      <a:r>
                        <a:rPr lang="en-US" sz="1600" b="0" cap="none" spc="0">
                          <a:solidFill>
                            <a:schemeClr val="tx1"/>
                          </a:solidFill>
                          <a:effectLst/>
                        </a:rPr>
                        <a:t>Year 2</a:t>
                      </a:r>
                      <a:endParaRPr lang="en-CA" sz="1600" b="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339" marR="44339" marT="0" marB="88679">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r>
                        <a:rPr lang="en-US" sz="1200" cap="none" spc="0" dirty="0">
                          <a:solidFill>
                            <a:schemeClr val="tx1"/>
                          </a:solidFill>
                          <a:effectLst/>
                        </a:rPr>
                        <a:t>30,000</a:t>
                      </a:r>
                      <a:endParaRPr lang="en-CA" sz="120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339" marR="44339" marT="0" marB="88679">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653123585"/>
                  </a:ext>
                </a:extLst>
              </a:tr>
              <a:tr h="360628">
                <a:tc>
                  <a:txBody>
                    <a:bodyPr/>
                    <a:lstStyle/>
                    <a:p>
                      <a:r>
                        <a:rPr lang="en-US" sz="1600" b="0" cap="none" spc="0">
                          <a:solidFill>
                            <a:schemeClr val="tx1"/>
                          </a:solidFill>
                          <a:effectLst/>
                        </a:rPr>
                        <a:t>Year 3</a:t>
                      </a:r>
                      <a:endParaRPr lang="en-CA" sz="1600" b="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339" marR="44339" marT="0" marB="88679">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r>
                        <a:rPr lang="en-US" sz="1200" cap="none" spc="0">
                          <a:solidFill>
                            <a:schemeClr val="tx1"/>
                          </a:solidFill>
                          <a:effectLst/>
                        </a:rPr>
                        <a:t>40,000</a:t>
                      </a:r>
                      <a:endParaRPr lang="en-CA" sz="12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339" marR="44339" marT="0" marB="88679">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extLst>
                  <a:ext uri="{0D108BD9-81ED-4DB2-BD59-A6C34878D82A}">
                    <a16:rowId xmlns:a16="http://schemas.microsoft.com/office/drawing/2014/main" val="3491023455"/>
                  </a:ext>
                </a:extLst>
              </a:tr>
              <a:tr h="360628">
                <a:tc>
                  <a:txBody>
                    <a:bodyPr/>
                    <a:lstStyle/>
                    <a:p>
                      <a:r>
                        <a:rPr lang="en-US" sz="1600" b="0" cap="none" spc="0">
                          <a:solidFill>
                            <a:schemeClr val="tx1"/>
                          </a:solidFill>
                          <a:effectLst/>
                        </a:rPr>
                        <a:t>Year 4</a:t>
                      </a:r>
                      <a:endParaRPr lang="en-CA" sz="1600" b="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339" marR="44339" marT="0" marB="88679">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r>
                        <a:rPr lang="en-US" sz="1200" cap="none" spc="0" dirty="0">
                          <a:solidFill>
                            <a:schemeClr val="tx1"/>
                          </a:solidFill>
                          <a:effectLst/>
                        </a:rPr>
                        <a:t>20,000</a:t>
                      </a:r>
                      <a:endParaRPr lang="en-CA" sz="120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339" marR="44339" marT="0" marB="88679">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413784783"/>
                  </a:ext>
                </a:extLst>
              </a:tr>
              <a:tr h="360628">
                <a:tc>
                  <a:txBody>
                    <a:bodyPr/>
                    <a:lstStyle/>
                    <a:p>
                      <a:r>
                        <a:rPr lang="en-US" sz="1600" b="0" cap="none" spc="0">
                          <a:solidFill>
                            <a:schemeClr val="tx1"/>
                          </a:solidFill>
                          <a:effectLst/>
                        </a:rPr>
                        <a:t>Year 5</a:t>
                      </a:r>
                      <a:endParaRPr lang="en-CA" sz="1600" b="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339" marR="44339" marT="0" marB="88679">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200" cap="none" spc="0" dirty="0">
                          <a:solidFill>
                            <a:schemeClr val="tx1"/>
                          </a:solidFill>
                          <a:effectLst/>
                        </a:rPr>
                        <a:t>20,000</a:t>
                      </a:r>
                      <a:endParaRPr lang="en-CA" sz="120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339" marR="44339" marT="0" marB="88679">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648449266"/>
                  </a:ext>
                </a:extLst>
              </a:tr>
            </a:tbl>
          </a:graphicData>
        </a:graphic>
      </p:graphicFrame>
      <p:sp>
        <p:nvSpPr>
          <p:cNvPr id="7" name="TextBox 6">
            <a:extLst>
              <a:ext uri="{FF2B5EF4-FFF2-40B4-BE49-F238E27FC236}">
                <a16:creationId xmlns:a16="http://schemas.microsoft.com/office/drawing/2014/main" id="{D9ED2F18-2F1B-D1A2-0C4C-0E59DBC55D4E}"/>
              </a:ext>
            </a:extLst>
          </p:cNvPr>
          <p:cNvSpPr txBox="1"/>
          <p:nvPr/>
        </p:nvSpPr>
        <p:spPr>
          <a:xfrm>
            <a:off x="457200" y="4317193"/>
            <a:ext cx="8273693" cy="1569660"/>
          </a:xfrm>
          <a:prstGeom prst="rect">
            <a:avLst/>
          </a:prstGeom>
          <a:noFill/>
        </p:spPr>
        <p:txBody>
          <a:bodyPr wrap="square" rtlCol="0">
            <a:spAutoFit/>
          </a:bodyPr>
          <a:lstStyle/>
          <a:p>
            <a:pPr lvl="0">
              <a:tabLst>
                <a:tab pos="457200" algn="l"/>
              </a:tabLst>
            </a:pPr>
            <a:r>
              <a:rPr lang="en-US" sz="2400" dirty="0">
                <a:effectLst/>
                <a:ea typeface="Calibri" panose="020F0502020204030204" pitchFamily="34" charset="0"/>
                <a:cs typeface="Times New Roman" panose="02020603050405020304" pitchFamily="18" charset="0"/>
              </a:rPr>
              <a:t>The residual value of a 5-year-used-truck is $3000. </a:t>
            </a:r>
            <a:endParaRPr lang="en-CA" sz="2400" dirty="0">
              <a:effectLst/>
              <a:ea typeface="Calibri" panose="020F0502020204030204" pitchFamily="34" charset="0"/>
              <a:cs typeface="Times New Roman" panose="02020603050405020304" pitchFamily="18" charset="0"/>
            </a:endParaRPr>
          </a:p>
          <a:p>
            <a:r>
              <a:rPr lang="en-US" sz="2400" dirty="0">
                <a:effectLst/>
                <a:ea typeface="Calibri" panose="020F0502020204030204" pitchFamily="34" charset="0"/>
                <a:cs typeface="Times New Roman" panose="02020603050405020304" pitchFamily="18" charset="0"/>
              </a:rPr>
              <a:t>What is the annual depreciation cost if the company uses:</a:t>
            </a:r>
          </a:p>
          <a:p>
            <a:r>
              <a:rPr lang="en-US" sz="2400" dirty="0">
                <a:cs typeface="Times New Roman" panose="02020603050405020304" pitchFamily="18" charset="0"/>
              </a:rPr>
              <a:t>a) Straight-line</a:t>
            </a:r>
            <a:r>
              <a:rPr lang="en-CA" sz="2400" dirty="0">
                <a:cs typeface="Times New Roman" panose="02020603050405020304" pitchFamily="18" charset="0"/>
              </a:rPr>
              <a:t> method, b) Double-declining method, c) Units of Production method</a:t>
            </a:r>
            <a:endParaRPr lang="en-US" sz="2400" dirty="0"/>
          </a:p>
        </p:txBody>
      </p:sp>
    </p:spTree>
    <p:extLst>
      <p:ext uri="{BB962C8B-B14F-4D97-AF65-F5344CB8AC3E}">
        <p14:creationId xmlns:p14="http://schemas.microsoft.com/office/powerpoint/2010/main" val="2295001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Three</a:t>
            </a:r>
          </a:p>
        </p:txBody>
      </p:sp>
      <p:sp>
        <p:nvSpPr>
          <p:cNvPr id="3" name="Content Placeholder 2"/>
          <p:cNvSpPr>
            <a:spLocks noGrp="1"/>
          </p:cNvSpPr>
          <p:nvPr>
            <p:ph type="subTitle" idx="1"/>
          </p:nvPr>
        </p:nvSpPr>
        <p:spPr/>
        <p:txBody>
          <a:bodyPr>
            <a:normAutofit lnSpcReduction="10000"/>
          </a:bodyPr>
          <a:lstStyle/>
          <a:p>
            <a:r>
              <a:rPr lang="en-US" altLang="en-US" b="1" dirty="0">
                <a:ea typeface="ＭＳ Ｐゴシック" pitchFamily="34" charset="-128"/>
              </a:rPr>
              <a:t>Explain </a:t>
            </a:r>
            <a:r>
              <a:rPr lang="en-US" altLang="en-US" dirty="0">
                <a:ea typeface="ＭＳ Ｐゴシック" pitchFamily="34" charset="-128"/>
              </a:rPr>
              <a:t>additional topics in accounting for long-lived tangible assets</a:t>
            </a:r>
            <a:endParaRPr lang="en-US" dirty="0"/>
          </a:p>
        </p:txBody>
      </p:sp>
    </p:spTree>
    <p:extLst>
      <p:ext uri="{BB962C8B-B14F-4D97-AF65-F5344CB8AC3E}">
        <p14:creationId xmlns:p14="http://schemas.microsoft.com/office/powerpoint/2010/main" val="3087637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en-US" dirty="0">
                <a:ea typeface="ＭＳ Ｐゴシック" pitchFamily="34" charset="-128"/>
              </a:rPr>
              <a:t>Depreciation for Partial Years </a:t>
            </a:r>
            <a:r>
              <a:rPr lang="en-US" altLang="en-US" sz="2000" b="0" dirty="0">
                <a:ea typeface="ＭＳ Ｐゴシック" pitchFamily="34" charset="-128"/>
              </a:rPr>
              <a:t>(1 of 3)</a:t>
            </a:r>
            <a:endParaRPr lang="en-US" dirty="0"/>
          </a:p>
        </p:txBody>
      </p:sp>
      <p:graphicFrame>
        <p:nvGraphicFramePr>
          <p:cNvPr id="5" name="Object 4" descr="Annual depreciation times months from date of purchase to end of year 12">
            <a:extLst>
              <a:ext uri="{FF2B5EF4-FFF2-40B4-BE49-F238E27FC236}">
                <a16:creationId xmlns:a16="http://schemas.microsoft.com/office/drawing/2014/main" id="{B12D0A2C-8B1A-46E7-BAEA-AEF21D6F27CF}"/>
              </a:ext>
            </a:extLst>
          </p:cNvPr>
          <p:cNvGraphicFramePr>
            <a:graphicFrameLocks noChangeAspect="1"/>
          </p:cNvGraphicFramePr>
          <p:nvPr/>
        </p:nvGraphicFramePr>
        <p:xfrm>
          <a:off x="751681" y="2307206"/>
          <a:ext cx="7640637" cy="1198562"/>
        </p:xfrm>
        <a:graphic>
          <a:graphicData uri="http://schemas.openxmlformats.org/presentationml/2006/ole">
            <mc:AlternateContent xmlns:mc="http://schemas.openxmlformats.org/markup-compatibility/2006">
              <mc:Choice xmlns:v="urn:schemas-microsoft-com:vml" Requires="v">
                <p:oleObj name="Equation" r:id="rId3" imgW="6387840" imgH="1002960" progId="Equation.DSMT4">
                  <p:embed/>
                </p:oleObj>
              </mc:Choice>
              <mc:Fallback>
                <p:oleObj name="Equation" r:id="rId3" imgW="6387840" imgH="1002960" progId="Equation.DSMT4">
                  <p:embed/>
                  <p:pic>
                    <p:nvPicPr>
                      <p:cNvPr id="5" name="Object 4" descr="Annual depreciation times months from date of purchase to end of year 12">
                        <a:extLst>
                          <a:ext uri="{FF2B5EF4-FFF2-40B4-BE49-F238E27FC236}">
                            <a16:creationId xmlns:a16="http://schemas.microsoft.com/office/drawing/2014/main" id="{B12D0A2C-8B1A-46E7-BAEA-AEF21D6F27CF}"/>
                          </a:ext>
                        </a:extLst>
                      </p:cNvPr>
                      <p:cNvPicPr/>
                      <p:nvPr/>
                    </p:nvPicPr>
                    <p:blipFill>
                      <a:blip r:embed="rId4"/>
                      <a:stretch>
                        <a:fillRect/>
                      </a:stretch>
                    </p:blipFill>
                    <p:spPr>
                      <a:xfrm>
                        <a:off x="751681" y="2307206"/>
                        <a:ext cx="7640637" cy="1198562"/>
                      </a:xfrm>
                      <a:prstGeom prst="rect">
                        <a:avLst/>
                      </a:prstGeom>
                      <a:noFill/>
                    </p:spPr>
                  </p:pic>
                </p:oleObj>
              </mc:Fallback>
            </mc:AlternateContent>
          </a:graphicData>
        </a:graphic>
      </p:graphicFrame>
      <p:graphicFrame>
        <p:nvGraphicFramePr>
          <p:cNvPr id="4" name="Object 3" descr="Cost Residual value over useful life, in units of production = depreciation per unit">
            <a:extLst>
              <a:ext uri="{FF2B5EF4-FFF2-40B4-BE49-F238E27FC236}">
                <a16:creationId xmlns:a16="http://schemas.microsoft.com/office/drawing/2014/main" id="{74282DBD-1B79-4D80-BD1C-A92CEBCAF5EA}"/>
              </a:ext>
            </a:extLst>
          </p:cNvPr>
          <p:cNvGraphicFramePr>
            <a:graphicFrameLocks noChangeAspect="1"/>
          </p:cNvGraphicFramePr>
          <p:nvPr/>
        </p:nvGraphicFramePr>
        <p:xfrm>
          <a:off x="834230" y="4191000"/>
          <a:ext cx="7475538" cy="804863"/>
        </p:xfrm>
        <a:graphic>
          <a:graphicData uri="http://schemas.openxmlformats.org/presentationml/2006/ole">
            <mc:AlternateContent xmlns:mc="http://schemas.openxmlformats.org/markup-compatibility/2006">
              <mc:Choice xmlns:v="urn:schemas-microsoft-com:vml" Requires="v">
                <p:oleObj name="Equation" r:id="rId5" imgW="6248160" imgH="672840" progId="Equation.DSMT4">
                  <p:embed/>
                </p:oleObj>
              </mc:Choice>
              <mc:Fallback>
                <p:oleObj name="Equation" r:id="rId5" imgW="6248160" imgH="672840" progId="Equation.DSMT4">
                  <p:embed/>
                  <p:pic>
                    <p:nvPicPr>
                      <p:cNvPr id="4" name="Object 3" descr="Cost Residual value over useful life, in units of production = depreciation per unit">
                        <a:extLst>
                          <a:ext uri="{FF2B5EF4-FFF2-40B4-BE49-F238E27FC236}">
                            <a16:creationId xmlns:a16="http://schemas.microsoft.com/office/drawing/2014/main" id="{74282DBD-1B79-4D80-BD1C-A92CEBCAF5EA}"/>
                          </a:ext>
                        </a:extLst>
                      </p:cNvPr>
                      <p:cNvPicPr/>
                      <p:nvPr/>
                    </p:nvPicPr>
                    <p:blipFill>
                      <a:blip r:embed="rId6"/>
                      <a:stretch>
                        <a:fillRect/>
                      </a:stretch>
                    </p:blipFill>
                    <p:spPr>
                      <a:xfrm>
                        <a:off x="834230" y="4191000"/>
                        <a:ext cx="7475538" cy="804863"/>
                      </a:xfrm>
                      <a:prstGeom prst="rect">
                        <a:avLst/>
                      </a:prstGeom>
                      <a:noFill/>
                    </p:spPr>
                  </p:pic>
                </p:oleObj>
              </mc:Fallback>
            </mc:AlternateContent>
          </a:graphicData>
        </a:graphic>
      </p:graphicFrame>
    </p:spTree>
    <p:extLst>
      <p:ext uri="{BB962C8B-B14F-4D97-AF65-F5344CB8AC3E}">
        <p14:creationId xmlns:p14="http://schemas.microsoft.com/office/powerpoint/2010/main" val="509167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en-US" dirty="0">
                <a:ea typeface="ＭＳ Ｐゴシック" pitchFamily="34" charset="-128"/>
              </a:rPr>
              <a:t>Depreciation for Partial Years </a:t>
            </a:r>
            <a:r>
              <a:rPr lang="en-US" altLang="en-US" sz="2000" b="0" dirty="0">
                <a:ea typeface="ＭＳ Ｐゴシック" pitchFamily="34" charset="-128"/>
              </a:rPr>
              <a:t>(2 of 3)</a:t>
            </a:r>
            <a:endParaRPr lang="en-US" dirty="0"/>
          </a:p>
        </p:txBody>
      </p:sp>
      <p:sp>
        <p:nvSpPr>
          <p:cNvPr id="4" name="Content Placeholder 3"/>
          <p:cNvSpPr>
            <a:spLocks noGrp="1"/>
          </p:cNvSpPr>
          <p:nvPr>
            <p:ph idx="1"/>
          </p:nvPr>
        </p:nvSpPr>
        <p:spPr/>
        <p:txBody>
          <a:bodyPr/>
          <a:lstStyle/>
          <a:p>
            <a:pPr marL="0" indent="0">
              <a:spcAft>
                <a:spcPts val="1500"/>
              </a:spcAft>
              <a:buNone/>
              <a:defRPr/>
            </a:pPr>
            <a:r>
              <a:rPr lang="en-US" dirty="0">
                <a:cs typeface="Arial" panose="020B0604020202020204" pitchFamily="34" charset="0"/>
              </a:rPr>
              <a:t>Suppose a calendar-year business purchases a building on April 1 for $500,000 with an estimated life of 20 years and an estimated residual value of $80,000.</a:t>
            </a:r>
          </a:p>
          <a:p>
            <a:pPr marL="0" indent="0">
              <a:spcAft>
                <a:spcPts val="1500"/>
              </a:spcAft>
              <a:buNone/>
              <a:defRPr/>
            </a:pPr>
            <a:r>
              <a:rPr lang="en-US" altLang="en-US" dirty="0">
                <a:latin typeface="+mn-ea"/>
              </a:rPr>
              <a:t>What is the current year</a:t>
            </a:r>
            <a:r>
              <a:rPr lang="ja-JP" altLang="en-US" dirty="0">
                <a:latin typeface="+mn-ea"/>
              </a:rPr>
              <a:t>’</a:t>
            </a:r>
            <a:r>
              <a:rPr lang="en-US" altLang="ja-JP" dirty="0">
                <a:latin typeface="+mn-ea"/>
              </a:rPr>
              <a:t>s depreciation </a:t>
            </a:r>
            <a:r>
              <a:rPr lang="en-US" altLang="en-US" dirty="0">
                <a:latin typeface="+mn-ea"/>
              </a:rPr>
              <a:t>using the straight-line method?</a:t>
            </a:r>
            <a:endParaRPr lang="en-US" dirty="0">
              <a:cs typeface="Arial" panose="020B0604020202020204" pitchFamily="34" charset="0"/>
            </a:endParaRPr>
          </a:p>
        </p:txBody>
      </p:sp>
    </p:spTree>
    <p:extLst>
      <p:ext uri="{BB962C8B-B14F-4D97-AF65-F5344CB8AC3E}">
        <p14:creationId xmlns:p14="http://schemas.microsoft.com/office/powerpoint/2010/main" val="512283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Depreciation for Partial Years </a:t>
            </a:r>
            <a:r>
              <a:rPr lang="en-US" altLang="en-US" sz="2000" b="0" dirty="0">
                <a:ea typeface="ＭＳ Ｐゴシック" pitchFamily="34" charset="-128"/>
              </a:rPr>
              <a:t>(3 of 3)</a:t>
            </a:r>
            <a:endParaRPr lang="en-US" dirty="0"/>
          </a:p>
        </p:txBody>
      </p:sp>
      <p:sp>
        <p:nvSpPr>
          <p:cNvPr id="5" name="Content Placeholder 4"/>
          <p:cNvSpPr>
            <a:spLocks noGrp="1"/>
          </p:cNvSpPr>
          <p:nvPr>
            <p:ph idx="1"/>
          </p:nvPr>
        </p:nvSpPr>
        <p:spPr/>
        <p:txBody>
          <a:bodyPr/>
          <a:lstStyle/>
          <a:p>
            <a:pPr marL="0" indent="0">
              <a:buNone/>
            </a:pPr>
            <a:r>
              <a:rPr lang="en-US" altLang="en-US" dirty="0"/>
              <a:t>Full-year depreciation:</a:t>
            </a:r>
          </a:p>
          <a:p>
            <a:pPr marL="0" indent="0">
              <a:spcAft>
                <a:spcPts val="1500"/>
              </a:spcAft>
              <a:buNone/>
            </a:pPr>
            <a:r>
              <a:rPr lang="en-US" altLang="en-US" dirty="0"/>
              <a:t>($500,000 − $80,000) ÷ 20 = $21,000</a:t>
            </a:r>
          </a:p>
          <a:p>
            <a:pPr marL="0" indent="0">
              <a:buNone/>
            </a:pPr>
            <a:r>
              <a:rPr lang="en-US" altLang="en-US" dirty="0"/>
              <a:t>Partial-year depreciation:</a:t>
            </a:r>
          </a:p>
          <a:p>
            <a:pPr marL="0" indent="0">
              <a:buNone/>
            </a:pPr>
            <a:r>
              <a:rPr lang="en-US" altLang="en-US" dirty="0"/>
              <a:t>$21,000 </a:t>
            </a:r>
            <a:r>
              <a:rPr lang="en-US" altLang="en-US" b="1" dirty="0"/>
              <a:t>×</a:t>
            </a:r>
            <a:r>
              <a:rPr lang="en-US" altLang="en-US" dirty="0"/>
              <a:t> 9/12 = $15,750</a:t>
            </a:r>
            <a:endParaRPr lang="en-US" dirty="0"/>
          </a:p>
        </p:txBody>
      </p:sp>
    </p:spTree>
    <p:extLst>
      <p:ext uri="{BB962C8B-B14F-4D97-AF65-F5344CB8AC3E}">
        <p14:creationId xmlns:p14="http://schemas.microsoft.com/office/powerpoint/2010/main" val="3998041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en-US" dirty="0">
                <a:ea typeface="ＭＳ Ｐゴシック" pitchFamily="34" charset="-128"/>
              </a:rPr>
              <a:t>Changing Useful Life</a:t>
            </a:r>
            <a:endParaRPr lang="en-US" dirty="0"/>
          </a:p>
        </p:txBody>
      </p:sp>
      <p:pic>
        <p:nvPicPr>
          <p:cNvPr id="5" name="Picture 4" descr="Remaining depreciable carrying amount over (New) Estimated remaining useful life = (New) annual depreciation">
            <a:extLst>
              <a:ext uri="{FF2B5EF4-FFF2-40B4-BE49-F238E27FC236}">
                <a16:creationId xmlns:a16="http://schemas.microsoft.com/office/drawing/2014/main" id="{FB51CDB8-1953-4A9C-89A8-D0E42870FF02}"/>
              </a:ext>
            </a:extLst>
          </p:cNvPr>
          <p:cNvPicPr>
            <a:picLocks noChangeAspect="1"/>
          </p:cNvPicPr>
          <p:nvPr/>
        </p:nvPicPr>
        <p:blipFill>
          <a:blip r:embed="rId3"/>
          <a:stretch>
            <a:fillRect/>
          </a:stretch>
        </p:blipFill>
        <p:spPr>
          <a:xfrm>
            <a:off x="972000" y="2438400"/>
            <a:ext cx="7200000" cy="1743607"/>
          </a:xfrm>
          <a:prstGeom prst="rect">
            <a:avLst/>
          </a:prstGeom>
        </p:spPr>
      </p:pic>
    </p:spTree>
    <p:extLst>
      <p:ext uri="{BB962C8B-B14F-4D97-AF65-F5344CB8AC3E}">
        <p14:creationId xmlns:p14="http://schemas.microsoft.com/office/powerpoint/2010/main" val="782115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altLang="en-US" dirty="0">
                <a:ea typeface="ＭＳ Ｐゴシック" pitchFamily="34" charset="-128"/>
              </a:rPr>
              <a:t>Changing the Useful Life of a Depreciable Asset </a:t>
            </a:r>
            <a:r>
              <a:rPr lang="en-US" altLang="en-US" sz="2000" b="0" dirty="0">
                <a:ea typeface="ＭＳ Ｐゴシック" pitchFamily="34" charset="-128"/>
              </a:rPr>
              <a:t>(1 of 2)</a:t>
            </a:r>
            <a:endParaRPr lang="en-US" dirty="0"/>
          </a:p>
        </p:txBody>
      </p:sp>
      <p:sp>
        <p:nvSpPr>
          <p:cNvPr id="4" name="Content Placeholder 3"/>
          <p:cNvSpPr>
            <a:spLocks noGrp="1"/>
          </p:cNvSpPr>
          <p:nvPr>
            <p:ph idx="1"/>
          </p:nvPr>
        </p:nvSpPr>
        <p:spPr/>
        <p:txBody>
          <a:bodyPr/>
          <a:lstStyle/>
          <a:p>
            <a:pPr marL="0" indent="0">
              <a:spcAft>
                <a:spcPts val="1500"/>
              </a:spcAft>
              <a:buNone/>
              <a:defRPr/>
            </a:pPr>
            <a:r>
              <a:rPr lang="en-US" dirty="0">
                <a:cs typeface="Arial" panose="020B0604020202020204" pitchFamily="34" charset="0"/>
              </a:rPr>
              <a:t>Assume an asset cost of $40,000, an eight-year useful life with no residual value, and the straight-line method.</a:t>
            </a:r>
          </a:p>
          <a:p>
            <a:pPr marL="0" indent="0">
              <a:spcAft>
                <a:spcPts val="1500"/>
              </a:spcAft>
              <a:buNone/>
              <a:defRPr/>
            </a:pPr>
            <a:r>
              <a:rPr lang="en-US" altLang="en-US" dirty="0"/>
              <a:t>$40,000 ÷ 8 = $5,000 depreciation per year</a:t>
            </a:r>
          </a:p>
          <a:p>
            <a:pPr marL="0" indent="0">
              <a:spcAft>
                <a:spcPts val="1500"/>
              </a:spcAft>
              <a:buNone/>
              <a:defRPr/>
            </a:pPr>
            <a:r>
              <a:rPr lang="en-US" dirty="0">
                <a:cs typeface="Arial" panose="020B0604020202020204" pitchFamily="34" charset="0"/>
              </a:rPr>
              <a:t>What is the carrying amount after two years?</a:t>
            </a:r>
          </a:p>
          <a:p>
            <a:pPr marL="0" indent="0">
              <a:spcAft>
                <a:spcPts val="1500"/>
              </a:spcAft>
              <a:buNone/>
              <a:defRPr/>
            </a:pPr>
            <a:r>
              <a:rPr lang="en-US" altLang="en-US" dirty="0"/>
              <a:t>$40,000 − (2 </a:t>
            </a:r>
            <a:r>
              <a:rPr lang="en-US" altLang="en-US" b="1" dirty="0"/>
              <a:t>× </a:t>
            </a:r>
            <a:r>
              <a:rPr lang="en-US" altLang="en-US" dirty="0"/>
              <a:t>$5,000) = $40,000 − $10,000 = $30,000</a:t>
            </a:r>
            <a:endParaRPr lang="en-US" dirty="0"/>
          </a:p>
        </p:txBody>
      </p:sp>
    </p:spTree>
    <p:extLst>
      <p:ext uri="{BB962C8B-B14F-4D97-AF65-F5344CB8AC3E}">
        <p14:creationId xmlns:p14="http://schemas.microsoft.com/office/powerpoint/2010/main" val="3750389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a:ea typeface="ＭＳ Ｐゴシック" pitchFamily="34" charset="-128"/>
              </a:rPr>
              <a:t>Changing the Useful Life of a Depreciable Asset </a:t>
            </a:r>
            <a:r>
              <a:rPr lang="en-US" altLang="en-US" sz="2000" b="0" dirty="0">
                <a:ea typeface="ＭＳ Ｐゴシック" pitchFamily="34" charset="-128"/>
              </a:rPr>
              <a:t>(2 of 2)</a:t>
            </a:r>
            <a:endParaRPr lang="en-US" dirty="0"/>
          </a:p>
        </p:txBody>
      </p:sp>
      <p:sp>
        <p:nvSpPr>
          <p:cNvPr id="5" name="Content Placeholder 4"/>
          <p:cNvSpPr>
            <a:spLocks noGrp="1"/>
          </p:cNvSpPr>
          <p:nvPr>
            <p:ph idx="1"/>
          </p:nvPr>
        </p:nvSpPr>
        <p:spPr/>
        <p:txBody>
          <a:bodyPr/>
          <a:lstStyle/>
          <a:p>
            <a:pPr marL="0" indent="0">
              <a:spcAft>
                <a:spcPts val="1500"/>
              </a:spcAft>
              <a:buNone/>
              <a:defRPr/>
            </a:pPr>
            <a:r>
              <a:rPr lang="en-US" dirty="0">
                <a:cs typeface="Arial" panose="020B0604020202020204" pitchFamily="34" charset="0"/>
              </a:rPr>
              <a:t>Management believes the asset will remain useful for an additional ten years.</a:t>
            </a:r>
          </a:p>
          <a:p>
            <a:pPr marL="0" indent="0">
              <a:buNone/>
              <a:defRPr/>
            </a:pPr>
            <a:r>
              <a:rPr lang="en-US" altLang="en-US" dirty="0"/>
              <a:t>$30,000 ÷ 10 = $3,000</a:t>
            </a:r>
            <a:br>
              <a:rPr lang="en-US" altLang="en-US" dirty="0"/>
            </a:br>
            <a:r>
              <a:rPr lang="en-US" altLang="en-US" dirty="0"/>
              <a:t>(new depreciation per year)</a:t>
            </a:r>
            <a:endParaRPr lang="en-US" dirty="0"/>
          </a:p>
        </p:txBody>
      </p:sp>
    </p:spTree>
    <p:extLst>
      <p:ext uri="{BB962C8B-B14F-4D97-AF65-F5344CB8AC3E}">
        <p14:creationId xmlns:p14="http://schemas.microsoft.com/office/powerpoint/2010/main" val="4194333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18854-0E61-BBD5-1F12-2A8D9971EC09}"/>
              </a:ext>
            </a:extLst>
          </p:cNvPr>
          <p:cNvSpPr>
            <a:spLocks noGrp="1"/>
          </p:cNvSpPr>
          <p:nvPr>
            <p:ph type="title"/>
          </p:nvPr>
        </p:nvSpPr>
        <p:spPr/>
        <p:txBody>
          <a:bodyPr/>
          <a:lstStyle/>
          <a:p>
            <a:r>
              <a:rPr lang="en-US" dirty="0"/>
              <a:t>S6-8</a:t>
            </a:r>
          </a:p>
        </p:txBody>
      </p:sp>
      <p:sp>
        <p:nvSpPr>
          <p:cNvPr id="3" name="Content Placeholder 2">
            <a:extLst>
              <a:ext uri="{FF2B5EF4-FFF2-40B4-BE49-F238E27FC236}">
                <a16:creationId xmlns:a16="http://schemas.microsoft.com/office/drawing/2014/main" id="{FB7BFED3-3CF7-94C8-F53D-9F9718C2F42D}"/>
              </a:ext>
            </a:extLst>
          </p:cNvPr>
          <p:cNvSpPr>
            <a:spLocks noGrp="1"/>
          </p:cNvSpPr>
          <p:nvPr>
            <p:ph idx="1"/>
          </p:nvPr>
        </p:nvSpPr>
        <p:spPr/>
        <p:txBody>
          <a:bodyPr/>
          <a:lstStyle/>
          <a:p>
            <a:pPr marL="0" indent="0">
              <a:buNone/>
            </a:pPr>
            <a:r>
              <a:rPr lang="en-US" dirty="0"/>
              <a:t>Canada’s Wonderland paid $60,000 for a concession stand. </a:t>
            </a:r>
          </a:p>
          <a:p>
            <a:pPr marL="0" indent="0">
              <a:buNone/>
            </a:pPr>
            <a:r>
              <a:rPr lang="en-US" dirty="0"/>
              <a:t>Depreciation was recorded with the straight-line method over 10 years with no residual value. </a:t>
            </a:r>
          </a:p>
          <a:p>
            <a:pPr marL="0" indent="0">
              <a:buNone/>
            </a:pPr>
            <a:r>
              <a:rPr lang="en-US" dirty="0"/>
              <a:t>Assume that after using the concession stand for 4 years the asset will remain useful for only 3 more years. </a:t>
            </a:r>
          </a:p>
          <a:p>
            <a:pPr marL="0" indent="0">
              <a:buNone/>
            </a:pPr>
            <a:r>
              <a:rPr lang="en-US" dirty="0"/>
              <a:t>How will this affect depreciation on the concession stand for year 5?</a:t>
            </a:r>
          </a:p>
        </p:txBody>
      </p:sp>
    </p:spTree>
    <p:extLst>
      <p:ext uri="{BB962C8B-B14F-4D97-AF65-F5344CB8AC3E}">
        <p14:creationId xmlns:p14="http://schemas.microsoft.com/office/powerpoint/2010/main" val="3999807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en-US" dirty="0">
                <a:ea typeface="ＭＳ Ｐゴシック" pitchFamily="34" charset="-128"/>
              </a:rPr>
              <a:t>Fully Depreciated Assets</a:t>
            </a:r>
            <a:endParaRPr lang="en-US" dirty="0"/>
          </a:p>
        </p:txBody>
      </p:sp>
      <p:sp>
        <p:nvSpPr>
          <p:cNvPr id="4" name="Content Placeholder 3"/>
          <p:cNvSpPr>
            <a:spLocks noGrp="1"/>
          </p:cNvSpPr>
          <p:nvPr>
            <p:ph idx="1"/>
          </p:nvPr>
        </p:nvSpPr>
        <p:spPr/>
        <p:txBody>
          <a:bodyPr/>
          <a:lstStyle/>
          <a:p>
            <a:pPr marL="0" indent="0">
              <a:buNone/>
            </a:pPr>
            <a:r>
              <a:rPr lang="en-US" dirty="0">
                <a:cs typeface="Arial" panose="020B0604020202020204" pitchFamily="34" charset="0"/>
              </a:rPr>
              <a:t>An asset can be used after it is fully depreciated.</a:t>
            </a:r>
          </a:p>
          <a:p>
            <a:pPr marL="0" indent="0">
              <a:buNone/>
              <a:defRPr/>
            </a:pPr>
            <a:r>
              <a:rPr lang="en-US" dirty="0">
                <a:cs typeface="Arial" panose="020B0604020202020204" pitchFamily="34" charset="0"/>
              </a:rPr>
              <a:t>The asset and its depreciation account remain in the ledger with no additional depreciation entries.</a:t>
            </a:r>
          </a:p>
        </p:txBody>
      </p:sp>
    </p:spTree>
    <p:extLst>
      <p:ext uri="{BB962C8B-B14F-4D97-AF65-F5344CB8AC3E}">
        <p14:creationId xmlns:p14="http://schemas.microsoft.com/office/powerpoint/2010/main" val="3499074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en-US" dirty="0">
                <a:ea typeface="ＭＳ Ｐゴシック" pitchFamily="34" charset="-128"/>
              </a:rPr>
              <a:t>Derecognition of PPE</a:t>
            </a:r>
            <a:endParaRPr lang="en-US" dirty="0"/>
          </a:p>
        </p:txBody>
      </p:sp>
      <p:sp>
        <p:nvSpPr>
          <p:cNvPr id="4" name="Content Placeholder 3"/>
          <p:cNvSpPr>
            <a:spLocks noGrp="1"/>
          </p:cNvSpPr>
          <p:nvPr>
            <p:ph idx="1"/>
          </p:nvPr>
        </p:nvSpPr>
        <p:spPr/>
        <p:txBody>
          <a:bodyPr/>
          <a:lstStyle/>
          <a:p>
            <a:r>
              <a:rPr lang="en-US" altLang="en-US" dirty="0">
                <a:ea typeface="ＭＳ Ｐゴシック" pitchFamily="34" charset="-128"/>
              </a:rPr>
              <a:t>Derecognition is an IFRS term for PPE that is no longer useful or has been sold.</a:t>
            </a:r>
          </a:p>
          <a:p>
            <a:r>
              <a:rPr lang="en-US" altLang="en-US" dirty="0">
                <a:ea typeface="ＭＳ Ｐゴシック" pitchFamily="34" charset="-128"/>
              </a:rPr>
              <a:t>Bring depreciation up to date to:</a:t>
            </a:r>
          </a:p>
          <a:p>
            <a:pPr lvl="1"/>
            <a:r>
              <a:rPr lang="en-US" altLang="en-US" dirty="0">
                <a:ea typeface="ＭＳ Ｐゴシック" pitchFamily="34" charset="-128"/>
              </a:rPr>
              <a:t>Measure asset’s final carrying amount</a:t>
            </a:r>
          </a:p>
          <a:p>
            <a:pPr lvl="1"/>
            <a:r>
              <a:rPr lang="en-US" altLang="en-US" dirty="0">
                <a:ea typeface="ＭＳ Ｐゴシック" pitchFamily="34" charset="-128"/>
              </a:rPr>
              <a:t>Record expense up to date of sale</a:t>
            </a:r>
          </a:p>
          <a:p>
            <a:r>
              <a:rPr lang="en-US" altLang="en-US" dirty="0">
                <a:ea typeface="ＭＳ Ｐゴシック" pitchFamily="34" charset="-128"/>
              </a:rPr>
              <a:t>Remove asset and related accumulated depreciation account from the books</a:t>
            </a:r>
            <a:endParaRPr lang="en-US" dirty="0"/>
          </a:p>
        </p:txBody>
      </p:sp>
    </p:spTree>
    <p:extLst>
      <p:ext uri="{BB962C8B-B14F-4D97-AF65-F5344CB8AC3E}">
        <p14:creationId xmlns:p14="http://schemas.microsoft.com/office/powerpoint/2010/main" val="3265460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60AD4-B38D-48F4-A5B1-331F39BB6FB2}"/>
              </a:ext>
            </a:extLst>
          </p:cNvPr>
          <p:cNvSpPr>
            <a:spLocks noGrp="1"/>
          </p:cNvSpPr>
          <p:nvPr>
            <p:ph type="title"/>
          </p:nvPr>
        </p:nvSpPr>
        <p:spPr/>
        <p:txBody>
          <a:bodyPr/>
          <a:lstStyle/>
          <a:p>
            <a:r>
              <a:rPr lang="en-US" altLang="en-US" dirty="0">
                <a:ea typeface="ＭＳ Ｐゴシック" pitchFamily="34" charset="-128"/>
              </a:rPr>
              <a:t>Disposing of Asset for No Proceeds</a:t>
            </a:r>
            <a:endParaRPr lang="en-AU" dirty="0"/>
          </a:p>
        </p:txBody>
      </p:sp>
      <p:graphicFrame>
        <p:nvGraphicFramePr>
          <p:cNvPr id="4" name="Table 4">
            <a:extLst>
              <a:ext uri="{FF2B5EF4-FFF2-40B4-BE49-F238E27FC236}">
                <a16:creationId xmlns:a16="http://schemas.microsoft.com/office/drawing/2014/main" id="{C0EEF82D-0C1B-4887-B385-E6692FE65CAA}"/>
              </a:ext>
            </a:extLst>
          </p:cNvPr>
          <p:cNvGraphicFramePr>
            <a:graphicFrameLocks noGrp="1"/>
          </p:cNvGraphicFramePr>
          <p:nvPr>
            <p:ph idx="1"/>
          </p:nvPr>
        </p:nvGraphicFramePr>
        <p:xfrm>
          <a:off x="457200" y="2042160"/>
          <a:ext cx="8229600" cy="2225040"/>
        </p:xfrm>
        <a:graphic>
          <a:graphicData uri="http://schemas.openxmlformats.org/drawingml/2006/table">
            <a:tbl>
              <a:tblPr firstRow="1" bandRow="1">
                <a:tableStyleId>{3B4B98B0-60AC-42C2-AFA5-B58CD77FA1E5}</a:tableStyleId>
              </a:tblPr>
              <a:tblGrid>
                <a:gridCol w="990600">
                  <a:extLst>
                    <a:ext uri="{9D8B030D-6E8A-4147-A177-3AD203B41FA5}">
                      <a16:colId xmlns:a16="http://schemas.microsoft.com/office/drawing/2014/main" val="3672712401"/>
                    </a:ext>
                  </a:extLst>
                </a:gridCol>
                <a:gridCol w="4495800">
                  <a:extLst>
                    <a:ext uri="{9D8B030D-6E8A-4147-A177-3AD203B41FA5}">
                      <a16:colId xmlns:a16="http://schemas.microsoft.com/office/drawing/2014/main" val="2689463294"/>
                    </a:ext>
                  </a:extLst>
                </a:gridCol>
                <a:gridCol w="1295400">
                  <a:extLst>
                    <a:ext uri="{9D8B030D-6E8A-4147-A177-3AD203B41FA5}">
                      <a16:colId xmlns:a16="http://schemas.microsoft.com/office/drawing/2014/main" val="2536871516"/>
                    </a:ext>
                  </a:extLst>
                </a:gridCol>
                <a:gridCol w="1447800">
                  <a:extLst>
                    <a:ext uri="{9D8B030D-6E8A-4147-A177-3AD203B41FA5}">
                      <a16:colId xmlns:a16="http://schemas.microsoft.com/office/drawing/2014/main" val="357760340"/>
                    </a:ext>
                  </a:extLst>
                </a:gridCol>
              </a:tblGrid>
              <a:tr h="370840">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800" b="1" u="none" strike="noStrike" cap="none" normalizeH="0" baseline="0" dirty="0">
                          <a:ln>
                            <a:noFill/>
                          </a:ln>
                          <a:effectLst/>
                          <a:latin typeface="+mn-lt"/>
                        </a:rPr>
                        <a:t>JOURNAL</a:t>
                      </a:r>
                      <a:endParaRPr kumimoji="0" lang="en-US" altLang="en-US" sz="1800" b="1" i="0" u="none" strike="noStrike" cap="none" normalizeH="0" baseline="0" dirty="0">
                        <a:ln>
                          <a:noFill/>
                        </a:ln>
                        <a:solidFill>
                          <a:schemeClr val="tx1"/>
                        </a:solidFill>
                        <a:effectLst/>
                        <a:latin typeface="+mn-lt"/>
                        <a:ea typeface="ＭＳ Ｐゴシック"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AU"/>
                    </a:p>
                  </a:txBody>
                  <a:tcPr/>
                </a:tc>
                <a:tc hMerge="1">
                  <a:txBody>
                    <a:bodyPr/>
                    <a:lstStyle/>
                    <a:p>
                      <a:endParaRPr lang="en-AU"/>
                    </a:p>
                  </a:txBody>
                  <a:tcPr/>
                </a:tc>
                <a:tc hMerge="1">
                  <a:txBody>
                    <a:bodyPr/>
                    <a:lstStyle/>
                    <a:p>
                      <a:endParaRPr lang="en-AU"/>
                    </a:p>
                  </a:txBody>
                  <a:tcPr/>
                </a:tc>
                <a:extLst>
                  <a:ext uri="{0D108BD9-81ED-4DB2-BD59-A6C34878D82A}">
                    <a16:rowId xmlns:a16="http://schemas.microsoft.com/office/drawing/2014/main" val="3522338867"/>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Date</a:t>
                      </a: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Accounts and explanation</a:t>
                      </a: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Debit</a:t>
                      </a: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Credit</a:t>
                      </a: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3065933"/>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effectLst/>
                          <a:latin typeface="+mn-lt"/>
                        </a:rPr>
                        <a:t>Accumulated Depreciation</a:t>
                      </a: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36345343"/>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274320" marR="0" lvl="0" indent="0" algn="l" defTabSz="914400" rtl="0" eaLnBrk="1" fontAlgn="base" latinLnBrk="0" hangingPunct="1">
                        <a:lnSpc>
                          <a:spcPct val="100000"/>
                        </a:lnSpc>
                        <a:spcBef>
                          <a:spcPts val="0"/>
                        </a:spcBef>
                        <a:spcAft>
                          <a:spcPct val="0"/>
                        </a:spcAft>
                        <a:buClrTx/>
                        <a:buSzTx/>
                        <a:buFontTx/>
                        <a:buNone/>
                        <a:tabLst/>
                      </a:pPr>
                      <a:r>
                        <a:rPr kumimoji="0" lang="en-US" altLang="en-US" sz="1800" u="none" strike="noStrike" cap="none" normalizeH="0" baseline="0" dirty="0">
                          <a:ln>
                            <a:noFill/>
                          </a:ln>
                          <a:effectLst/>
                          <a:latin typeface="+mn-lt"/>
                        </a:rPr>
                        <a:t>Equipment</a:t>
                      </a: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62358255"/>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i="1" u="none" strike="noStrike" cap="none" normalizeH="0" baseline="0" dirty="0">
                          <a:ln>
                            <a:noFill/>
                          </a:ln>
                          <a:effectLst/>
                          <a:latin typeface="+mn-lt"/>
                        </a:rPr>
                        <a:t>Disposed of fully depreciated asset</a:t>
                      </a:r>
                      <a:endParaRPr kumimoji="0" lang="en-US" altLang="en-US" sz="1800" b="0" i="1" u="none" strike="noStrike" cap="none" normalizeH="0" baseline="0" dirty="0">
                        <a:ln>
                          <a:noFill/>
                        </a:ln>
                        <a:solidFill>
                          <a:schemeClr val="tx1"/>
                        </a:solidFill>
                        <a:effectLst/>
                        <a:latin typeface="+mn-lt"/>
                        <a:ea typeface="ＭＳ Ｐゴシック" pitchFamily="34" charset="-128"/>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79911215"/>
                  </a:ext>
                </a:extLst>
              </a:tr>
              <a:tr h="370840">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a:spcBef>
                          <a:spcPts val="300"/>
                        </a:spcBef>
                        <a:buClr>
                          <a:srgbClr val="A04DA3"/>
                        </a:buClr>
                        <a:buFont typeface="Georgia" pitchFamily="18" charset="0"/>
                        <a:defRPr sz="2400">
                          <a:solidFill>
                            <a:schemeClr val="tx1"/>
                          </a:solidFill>
                          <a:latin typeface="Georgia" pitchFamily="18" charset="0"/>
                          <a:ea typeface="ＭＳ Ｐゴシック" pitchFamily="34" charset="-128"/>
                        </a:defRPr>
                      </a:lvl1pPr>
                      <a:lvl2pPr marL="742950" indent="-285750">
                        <a:spcBef>
                          <a:spcPts val="300"/>
                        </a:spcBef>
                        <a:buClr>
                          <a:schemeClr val="accent2"/>
                        </a:buClr>
                        <a:buFont typeface="Georgia" pitchFamily="18" charset="0"/>
                        <a:defRPr sz="2200">
                          <a:solidFill>
                            <a:schemeClr val="accent2"/>
                          </a:solidFill>
                          <a:latin typeface="Georgia" pitchFamily="18" charset="0"/>
                          <a:ea typeface="ＭＳ Ｐゴシック" pitchFamily="34" charset="-128"/>
                        </a:defRPr>
                      </a:lvl2pPr>
                      <a:lvl3pPr marL="11430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3pPr>
                      <a:lvl4pPr marL="1600200" indent="-228600">
                        <a:spcBef>
                          <a:spcPts val="300"/>
                        </a:spcBef>
                        <a:buClr>
                          <a:schemeClr val="accent1"/>
                        </a:buClr>
                        <a:buFont typeface="Wingdings 2" pitchFamily="18" charset="2"/>
                        <a:defRPr sz="2000">
                          <a:solidFill>
                            <a:schemeClr val="accent1"/>
                          </a:solidFill>
                          <a:latin typeface="Georgia" pitchFamily="18" charset="0"/>
                          <a:ea typeface="ＭＳ Ｐゴシック" pitchFamily="34" charset="-128"/>
                        </a:defRPr>
                      </a:lvl4pPr>
                      <a:lvl5pPr marL="2057400" indent="-228600">
                        <a:spcBef>
                          <a:spcPts val="300"/>
                        </a:spcBef>
                        <a:buClr>
                          <a:srgbClr val="A04DA3"/>
                        </a:buClr>
                        <a:buFont typeface="Georgia" pitchFamily="18" charset="0"/>
                        <a:defRPr>
                          <a:solidFill>
                            <a:srgbClr val="A04DA3"/>
                          </a:solidFill>
                          <a:latin typeface="Georgia" pitchFamily="18" charset="0"/>
                          <a:ea typeface="ＭＳ Ｐゴシック" pitchFamily="34" charset="-128"/>
                        </a:defRPr>
                      </a:lvl5pPr>
                      <a:lvl6pPr marL="25146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6pPr>
                      <a:lvl7pPr marL="29718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7pPr>
                      <a:lvl8pPr marL="34290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8pPr>
                      <a:lvl9pPr marL="3886200" indent="-228600" eaLnBrk="0" fontAlgn="base" hangingPunct="0">
                        <a:spcBef>
                          <a:spcPts val="300"/>
                        </a:spcBef>
                        <a:spcAft>
                          <a:spcPct val="0"/>
                        </a:spcAft>
                        <a:buClr>
                          <a:srgbClr val="A04DA3"/>
                        </a:buClr>
                        <a:buFont typeface="Georgia" pitchFamily="18" charset="0"/>
                        <a:defRPr>
                          <a:solidFill>
                            <a:srgbClr val="A04DA3"/>
                          </a:solidFill>
                          <a:latin typeface="Georgia" pitchFamily="18" charset="0"/>
                          <a:ea typeface="ＭＳ Ｐゴシック"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n-lt"/>
                        <a:ea typeface="ＭＳ Ｐゴシック" pitchFamily="34" charset="-128"/>
                      </a:endParaRPr>
                    </a:p>
                  </a:txBody>
                  <a:tcPr marT="45733" marB="4573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69658598"/>
                  </a:ext>
                </a:extLst>
              </a:tr>
            </a:tbl>
          </a:graphicData>
        </a:graphic>
      </p:graphicFrame>
    </p:spTree>
    <p:extLst>
      <p:ext uri="{BB962C8B-B14F-4D97-AF65-F5344CB8AC3E}">
        <p14:creationId xmlns:p14="http://schemas.microsoft.com/office/powerpoint/2010/main" val="813234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en-US" dirty="0">
                <a:ea typeface="ＭＳ Ｐゴシック" pitchFamily="34" charset="-128"/>
              </a:rPr>
              <a:t>Selling PPE</a:t>
            </a:r>
            <a:endParaRPr lang="en-US" dirty="0"/>
          </a:p>
        </p:txBody>
      </p:sp>
      <p:sp>
        <p:nvSpPr>
          <p:cNvPr id="2" name="Text Placeholder 1"/>
          <p:cNvSpPr>
            <a:spLocks noGrp="1"/>
          </p:cNvSpPr>
          <p:nvPr>
            <p:ph type="body" idx="1"/>
          </p:nvPr>
        </p:nvSpPr>
        <p:spPr>
          <a:xfrm>
            <a:off x="853044" y="1715862"/>
            <a:ext cx="2943022" cy="1991676"/>
          </a:xfrm>
        </p:spPr>
        <p:txBody>
          <a:bodyPr/>
          <a:lstStyle/>
          <a:p>
            <a:r>
              <a:rPr lang="en-US" sz="2400" dirty="0"/>
              <a:t>If cash received is </a:t>
            </a:r>
            <a:r>
              <a:rPr lang="en-US" sz="2400" b="1" dirty="0">
                <a:solidFill>
                  <a:srgbClr val="C00000"/>
                </a:solidFill>
              </a:rPr>
              <a:t>greater</a:t>
            </a:r>
            <a:r>
              <a:rPr lang="en-US" sz="2400" dirty="0">
                <a:solidFill>
                  <a:schemeClr val="accent4">
                    <a:lumMod val="60000"/>
                    <a:lumOff val="40000"/>
                  </a:schemeClr>
                </a:solidFill>
              </a:rPr>
              <a:t> </a:t>
            </a:r>
            <a:r>
              <a:rPr lang="en-US" sz="2400" dirty="0"/>
              <a:t>than carrying amount</a:t>
            </a:r>
          </a:p>
        </p:txBody>
      </p:sp>
      <p:sp>
        <p:nvSpPr>
          <p:cNvPr id="14" name="Right Arrow 13"/>
          <p:cNvSpPr/>
          <p:nvPr/>
        </p:nvSpPr>
        <p:spPr>
          <a:xfrm>
            <a:off x="4016195" y="2514600"/>
            <a:ext cx="1143000" cy="381000"/>
          </a:xfrm>
          <a:prstGeom prst="rightArrow">
            <a:avLst/>
          </a:prstGeom>
          <a:solidFill>
            <a:srgbClr val="007F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5" name="Content Placeholder 4"/>
          <p:cNvSpPr>
            <a:spLocks noGrp="1"/>
          </p:cNvSpPr>
          <p:nvPr>
            <p:ph sz="half" idx="2"/>
          </p:nvPr>
        </p:nvSpPr>
        <p:spPr>
          <a:xfrm>
            <a:off x="5592359" y="2004454"/>
            <a:ext cx="2485021" cy="1420012"/>
          </a:xfrm>
        </p:spPr>
        <p:txBody>
          <a:bodyPr/>
          <a:lstStyle/>
          <a:p>
            <a:r>
              <a:rPr lang="en-US" sz="2400" dirty="0"/>
              <a:t>GAIN</a:t>
            </a:r>
            <a:endParaRPr lang="en-US" dirty="0"/>
          </a:p>
        </p:txBody>
      </p:sp>
      <p:sp>
        <p:nvSpPr>
          <p:cNvPr id="6" name="Text Placeholder 5"/>
          <p:cNvSpPr>
            <a:spLocks noGrp="1"/>
          </p:cNvSpPr>
          <p:nvPr>
            <p:ph type="body" sz="quarter" idx="3"/>
          </p:nvPr>
        </p:nvSpPr>
        <p:spPr>
          <a:xfrm>
            <a:off x="853044" y="4140042"/>
            <a:ext cx="2943022" cy="1991676"/>
          </a:xfrm>
        </p:spPr>
        <p:txBody>
          <a:bodyPr/>
          <a:lstStyle/>
          <a:p>
            <a:r>
              <a:rPr lang="en-US" sz="2400" dirty="0"/>
              <a:t>If cash received is </a:t>
            </a:r>
            <a:r>
              <a:rPr lang="en-US" sz="2400" b="1" dirty="0">
                <a:solidFill>
                  <a:srgbClr val="C00000"/>
                </a:solidFill>
              </a:rPr>
              <a:t>less</a:t>
            </a:r>
            <a:r>
              <a:rPr lang="en-US" sz="2400" b="1" dirty="0">
                <a:solidFill>
                  <a:schemeClr val="accent4">
                    <a:lumMod val="60000"/>
                    <a:lumOff val="40000"/>
                  </a:schemeClr>
                </a:solidFill>
              </a:rPr>
              <a:t> </a:t>
            </a:r>
            <a:r>
              <a:rPr lang="en-US" sz="2400" dirty="0"/>
              <a:t>than carrying amount</a:t>
            </a:r>
          </a:p>
        </p:txBody>
      </p:sp>
      <p:sp>
        <p:nvSpPr>
          <p:cNvPr id="15" name="Right Arrow 14"/>
          <p:cNvSpPr/>
          <p:nvPr/>
        </p:nvSpPr>
        <p:spPr>
          <a:xfrm>
            <a:off x="4016195" y="4953000"/>
            <a:ext cx="1143000" cy="381000"/>
          </a:xfrm>
          <a:prstGeom prst="rightArrow">
            <a:avLst/>
          </a:prstGeom>
          <a:solidFill>
            <a:srgbClr val="007F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7" name="Content Placeholder 6"/>
          <p:cNvSpPr>
            <a:spLocks noGrp="1"/>
          </p:cNvSpPr>
          <p:nvPr>
            <p:ph sz="quarter" idx="4"/>
          </p:nvPr>
        </p:nvSpPr>
        <p:spPr>
          <a:xfrm>
            <a:off x="5608325" y="4425874"/>
            <a:ext cx="2485021" cy="1420012"/>
          </a:xfrm>
        </p:spPr>
        <p:txBody>
          <a:bodyPr/>
          <a:lstStyle/>
          <a:p>
            <a:r>
              <a:rPr lang="en-US" sz="2400" dirty="0"/>
              <a:t>LOSS</a:t>
            </a:r>
            <a:endParaRPr lang="en-US" dirty="0"/>
          </a:p>
        </p:txBody>
      </p:sp>
    </p:spTree>
    <p:extLst>
      <p:ext uri="{BB962C8B-B14F-4D97-AF65-F5344CB8AC3E}">
        <p14:creationId xmlns:p14="http://schemas.microsoft.com/office/powerpoint/2010/main" val="37811586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15372"/>
            <a:ext cx="8229600" cy="1097280"/>
          </a:xfrm>
        </p:spPr>
        <p:txBody>
          <a:bodyPr/>
          <a:lstStyle/>
          <a:p>
            <a:r>
              <a:rPr lang="en-US" altLang="en-US" dirty="0">
                <a:ea typeface="ＭＳ Ｐゴシック" pitchFamily="34" charset="-128"/>
              </a:rPr>
              <a:t>Accounting for Disposal of Property, Plant and Equipment: Example</a:t>
            </a:r>
            <a:endParaRPr lang="en-US" dirty="0"/>
          </a:p>
        </p:txBody>
      </p:sp>
      <p:graphicFrame>
        <p:nvGraphicFramePr>
          <p:cNvPr id="4" name="Table 3"/>
          <p:cNvGraphicFramePr>
            <a:graphicFrameLocks noGrp="1"/>
          </p:cNvGraphicFramePr>
          <p:nvPr/>
        </p:nvGraphicFramePr>
        <p:xfrm>
          <a:off x="533400" y="1981201"/>
          <a:ext cx="6781800" cy="3566160"/>
        </p:xfrm>
        <a:graphic>
          <a:graphicData uri="http://schemas.openxmlformats.org/drawingml/2006/table">
            <a:tbl>
              <a:tblPr firstRow="1" bandRow="1">
                <a:tableStyleId>{2D5ABB26-0587-4C30-8999-92F81FD0307C}</a:tableStyleId>
              </a:tblPr>
              <a:tblGrid>
                <a:gridCol w="50292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tblGrid>
              <a:tr h="350129">
                <a:tc>
                  <a:txBody>
                    <a:bodyPr/>
                    <a:lstStyle/>
                    <a:p>
                      <a:r>
                        <a:rPr lang="en-US" sz="1800" dirty="0">
                          <a:latin typeface="+mn-lt"/>
                          <a:ea typeface="+mn-ea"/>
                          <a:cs typeface="Arial" panose="020B0604020202020204" pitchFamily="34" charset="0"/>
                        </a:rPr>
                        <a:t>Fixtures cost:</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latin typeface="+mn-lt"/>
                          <a:ea typeface="+mn-ea"/>
                          <a:cs typeface="Arial" panose="020B0604020202020204" pitchFamily="34" charset="0"/>
                        </a:rPr>
                        <a:t>$10,000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50129">
                <a:tc>
                  <a:txBody>
                    <a:bodyPr/>
                    <a:lstStyle/>
                    <a:p>
                      <a:r>
                        <a:rPr lang="en-US" sz="1800" dirty="0">
                          <a:latin typeface="+mn-lt"/>
                          <a:ea typeface="+mn-ea"/>
                          <a:cs typeface="Arial" panose="020B0604020202020204" pitchFamily="34" charset="0"/>
                        </a:rPr>
                        <a:t>Accumulated depreciation:</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dirty="0">
                          <a:latin typeface="+mn-lt"/>
                          <a:ea typeface="+mn-ea"/>
                          <a:cs typeface="Arial" panose="020B0604020202020204" pitchFamily="34" charset="0"/>
                        </a:rPr>
                        <a:t>$  3,750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50129">
                <a:tc>
                  <a:txBody>
                    <a:bodyPr/>
                    <a:lstStyle/>
                    <a:p>
                      <a:r>
                        <a:rPr lang="en-US" sz="1800" dirty="0">
                          <a:latin typeface="+mn-lt"/>
                          <a:ea typeface="+mn-ea"/>
                          <a:cs typeface="Arial" panose="020B0604020202020204" pitchFamily="34" charset="0"/>
                        </a:rPr>
                        <a:t>Carrying amount:</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latin typeface="+mn-lt"/>
                          <a:ea typeface="+mn-ea"/>
                          <a:cs typeface="Arial" panose="020B0604020202020204" pitchFamily="34" charset="0"/>
                        </a:rPr>
                        <a:t>$  6,250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12726">
                <a:tc>
                  <a:txBody>
                    <a:bodyPr/>
                    <a:lstStyle/>
                    <a:p>
                      <a:pPr marL="457200" eaLnBrk="1" hangingPunct="1">
                        <a:defRPr/>
                      </a:pPr>
                      <a:r>
                        <a:rPr lang="en-US" dirty="0">
                          <a:latin typeface="+mn-lt"/>
                          <a:ea typeface="+mn-ea"/>
                          <a:cs typeface="Arial" panose="020B0604020202020204" pitchFamily="34" charset="0"/>
                        </a:rPr>
                        <a:t>Proceeds of sale &gt; carrying amount, resulting in a gain on disposal.</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50129">
                <a:tc>
                  <a:txBody>
                    <a:bodyPr/>
                    <a:lstStyle/>
                    <a:p>
                      <a:r>
                        <a:rPr lang="en-US" sz="1800" dirty="0">
                          <a:latin typeface="+mn-lt"/>
                          <a:ea typeface="+mn-ea"/>
                          <a:cs typeface="Arial" panose="020B0604020202020204" pitchFamily="34" charset="0"/>
                        </a:rPr>
                        <a:t>Cash</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mn-lt"/>
                          <a:ea typeface="+mn-ea"/>
                          <a:cs typeface="Arial" panose="020B0604020202020204" pitchFamily="34" charset="0"/>
                        </a:rPr>
                        <a:t>7,000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50129">
                <a:tc>
                  <a:txBody>
                    <a:bodyPr/>
                    <a:lstStyle/>
                    <a:p>
                      <a:r>
                        <a:rPr lang="en-US" sz="1800" dirty="0">
                          <a:latin typeface="+mn-lt"/>
                          <a:ea typeface="+mn-ea"/>
                          <a:cs typeface="Arial" panose="020B0604020202020204" pitchFamily="34" charset="0"/>
                        </a:rPr>
                        <a:t>Accumulated Depreciation</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latin typeface="+mn-lt"/>
                          <a:ea typeface="+mn-ea"/>
                          <a:cs typeface="Arial" panose="020B0604020202020204" pitchFamily="34" charset="0"/>
                        </a:rPr>
                        <a:t>3,750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50129">
                <a:tc>
                  <a:txBody>
                    <a:bodyPr/>
                    <a:lstStyle/>
                    <a:p>
                      <a:pPr marL="274320"/>
                      <a:r>
                        <a:rPr lang="en-US" sz="1800" dirty="0">
                          <a:latin typeface="+mn-lt"/>
                          <a:ea typeface="+mn-ea"/>
                          <a:cs typeface="Arial" panose="020B0604020202020204" pitchFamily="34" charset="0"/>
                        </a:rPr>
                        <a:t>Gain on Disposal</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latin typeface="+mn-lt"/>
                          <a:ea typeface="+mn-ea"/>
                          <a:cs typeface="Arial" panose="020B0604020202020204" pitchFamily="34" charset="0"/>
                        </a:rPr>
                        <a:t>750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50129">
                <a:tc>
                  <a:txBody>
                    <a:bodyPr/>
                    <a:lstStyle/>
                    <a:p>
                      <a:pPr marL="274320"/>
                      <a:r>
                        <a:rPr lang="en-US" sz="1800" dirty="0">
                          <a:latin typeface="+mn-lt"/>
                          <a:ea typeface="+mn-ea"/>
                          <a:cs typeface="Arial" panose="020B0604020202020204" pitchFamily="34" charset="0"/>
                        </a:rPr>
                        <a:t>Store Fixtures</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latin typeface="+mn-lt"/>
                          <a:ea typeface="+mn-ea"/>
                          <a:cs typeface="Arial" panose="020B0604020202020204" pitchFamily="34" charset="0"/>
                        </a:rPr>
                        <a:t>10,000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5012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latin typeface="+mn-lt"/>
                          <a:ea typeface="+mn-ea"/>
                          <a:cs typeface="Arial" panose="020B0604020202020204" pitchFamily="34" charset="0"/>
                        </a:rPr>
                        <a:t>To dispose of store fixtures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9" name="Oval 8"/>
          <p:cNvSpPr/>
          <p:nvPr/>
        </p:nvSpPr>
        <p:spPr>
          <a:xfrm>
            <a:off x="6204398" y="2301805"/>
            <a:ext cx="1307204" cy="450391"/>
          </a:xfrm>
          <a:prstGeom prst="ellipse">
            <a:avLst/>
          </a:prstGeom>
          <a:no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10" name="Oval 9"/>
          <p:cNvSpPr/>
          <p:nvPr/>
        </p:nvSpPr>
        <p:spPr>
          <a:xfrm>
            <a:off x="6210870" y="2662059"/>
            <a:ext cx="1294261" cy="428533"/>
          </a:xfrm>
          <a:prstGeom prst="ellipse">
            <a:avLst/>
          </a:prstGeom>
          <a:noFill/>
          <a:ln w="15875">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11" name="Oval 10"/>
          <p:cNvSpPr/>
          <p:nvPr/>
        </p:nvSpPr>
        <p:spPr>
          <a:xfrm>
            <a:off x="5214397" y="3699874"/>
            <a:ext cx="1458407" cy="428533"/>
          </a:xfrm>
          <a:prstGeom prst="ellipse">
            <a:avLst/>
          </a:prstGeom>
          <a:noFill/>
          <a:ln w="15875">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12" name="Oval 11"/>
          <p:cNvSpPr/>
          <p:nvPr/>
        </p:nvSpPr>
        <p:spPr>
          <a:xfrm>
            <a:off x="5207105" y="4024408"/>
            <a:ext cx="1472991" cy="421854"/>
          </a:xfrm>
          <a:prstGeom prst="ellipse">
            <a:avLst/>
          </a:prstGeom>
          <a:no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13" name="Oval 12"/>
          <p:cNvSpPr/>
          <p:nvPr/>
        </p:nvSpPr>
        <p:spPr>
          <a:xfrm>
            <a:off x="6367246" y="4409440"/>
            <a:ext cx="1219252" cy="407735"/>
          </a:xfrm>
          <a:prstGeom prst="ellipse">
            <a:avLst/>
          </a:prstGeom>
          <a:noFill/>
          <a:ln w="15875">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cxnSp>
        <p:nvCxnSpPr>
          <p:cNvPr id="20" name="Straight Connector 19"/>
          <p:cNvCxnSpPr/>
          <p:nvPr/>
        </p:nvCxnSpPr>
        <p:spPr>
          <a:xfrm>
            <a:off x="7514304" y="2527001"/>
            <a:ext cx="499235" cy="0"/>
          </a:xfrm>
          <a:prstGeom prst="line">
            <a:avLst/>
          </a:prstGeom>
          <a:ln w="25400">
            <a:solidFill>
              <a:srgbClr val="007FA3"/>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7999730" y="2520269"/>
            <a:ext cx="0" cy="1715066"/>
          </a:xfrm>
          <a:prstGeom prst="line">
            <a:avLst/>
          </a:prstGeom>
          <a:ln w="25400">
            <a:solidFill>
              <a:srgbClr val="007FA3"/>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6678970" y="4227576"/>
            <a:ext cx="1333420" cy="0"/>
          </a:xfrm>
          <a:prstGeom prst="line">
            <a:avLst/>
          </a:prstGeom>
          <a:ln w="25400">
            <a:solidFill>
              <a:srgbClr val="007FA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5268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ltLang="en-US" dirty="0">
                <a:ea typeface="ＭＳ Ｐゴシック" pitchFamily="34" charset="-128"/>
              </a:rPr>
              <a:t>T-Accounts for Analyzing PPE</a:t>
            </a:r>
            <a:endParaRPr lang="en-US" dirty="0"/>
          </a:p>
        </p:txBody>
      </p:sp>
      <p:sp>
        <p:nvSpPr>
          <p:cNvPr id="3" name="Content Placeholder 2"/>
          <p:cNvSpPr>
            <a:spLocks noGrp="1"/>
          </p:cNvSpPr>
          <p:nvPr>
            <p:ph idx="1"/>
          </p:nvPr>
        </p:nvSpPr>
        <p:spPr>
          <a:xfrm>
            <a:off x="457200" y="1600200"/>
            <a:ext cx="8229600" cy="2209800"/>
          </a:xfrm>
          <a:ln>
            <a:solidFill>
              <a:srgbClr val="007FA3"/>
            </a:solidFill>
          </a:ln>
        </p:spPr>
        <p:txBody>
          <a:bodyPr anchor="ctr"/>
          <a:lstStyle/>
          <a:p>
            <a:pPr marL="91440" indent="0">
              <a:spcBef>
                <a:spcPts val="0"/>
              </a:spcBef>
              <a:buClr>
                <a:srgbClr val="A04DA3"/>
              </a:buClr>
              <a:buFont typeface="Georgia" pitchFamily="18" charset="0"/>
              <a:buNone/>
            </a:pPr>
            <a:r>
              <a:rPr lang="en-CA" altLang="en-US" dirty="0"/>
              <a:t>Example: Suppose you started the year with buildings that cost $100,000. During the year, you bought another building for $150,000 and ended the year with buildings that cost $180,000.</a:t>
            </a:r>
          </a:p>
          <a:p>
            <a:pPr marL="91440" indent="0">
              <a:spcAft>
                <a:spcPts val="1500"/>
              </a:spcAft>
              <a:buClr>
                <a:srgbClr val="A04DA3"/>
              </a:buClr>
              <a:buFont typeface="Georgia" pitchFamily="18" charset="0"/>
              <a:buNone/>
            </a:pPr>
            <a:r>
              <a:rPr lang="en-CA" altLang="en-US" dirty="0"/>
              <a:t>What was the cost of the building you sold?</a:t>
            </a:r>
            <a:endParaRPr lang="en-US" dirty="0"/>
          </a:p>
        </p:txBody>
      </p:sp>
      <p:graphicFrame>
        <p:nvGraphicFramePr>
          <p:cNvPr id="4" name="Table 3"/>
          <p:cNvGraphicFramePr>
            <a:graphicFrameLocks noGrp="1"/>
          </p:cNvGraphicFramePr>
          <p:nvPr/>
        </p:nvGraphicFramePr>
        <p:xfrm>
          <a:off x="1828800" y="3962400"/>
          <a:ext cx="5848350" cy="1828800"/>
        </p:xfrm>
        <a:graphic>
          <a:graphicData uri="http://schemas.openxmlformats.org/drawingml/2006/table">
            <a:tbl>
              <a:tblPr firstRow="1" bandRow="1">
                <a:tableStyleId>{2D5ABB26-0587-4C30-8999-92F81FD0307C}</a:tableStyleId>
              </a:tblPr>
              <a:tblGrid>
                <a:gridCol w="2552700">
                  <a:extLst>
                    <a:ext uri="{9D8B030D-6E8A-4147-A177-3AD203B41FA5}">
                      <a16:colId xmlns:a16="http://schemas.microsoft.com/office/drawing/2014/main" val="20000"/>
                    </a:ext>
                  </a:extLst>
                </a:gridCol>
                <a:gridCol w="3295650">
                  <a:extLst>
                    <a:ext uri="{9D8B030D-6E8A-4147-A177-3AD203B41FA5}">
                      <a16:colId xmlns:a16="http://schemas.microsoft.com/office/drawing/2014/main" val="20001"/>
                    </a:ext>
                  </a:extLst>
                </a:gridCol>
              </a:tblGrid>
              <a:tr h="229772">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latin typeface="+mn-lt"/>
                        </a:rPr>
                        <a:t>Building</a:t>
                      </a:r>
                      <a:endParaRPr lang="en-US" sz="1800" dirty="0">
                        <a:latin typeface="+mn-lt"/>
                      </a:endParaRPr>
                    </a:p>
                  </a:txBody>
                  <a:tcPr>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a:lnL w="3175"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29772">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latin typeface="+mn-lt"/>
                        </a:rPr>
                        <a:t>100,000</a:t>
                      </a:r>
                      <a:endParaRPr lang="en-US" sz="1800" dirty="0">
                        <a:latin typeface="+mn-lt"/>
                      </a:endParaRPr>
                    </a:p>
                  </a:txBody>
                  <a:tcP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latin typeface="+mn-lt"/>
                      </a:endParaRPr>
                    </a:p>
                  </a:txBody>
                  <a:tcP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229772">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latin typeface="+mn-lt"/>
                        </a:rPr>
                        <a:t>150,000</a:t>
                      </a:r>
                      <a:endParaRPr lang="en-US" sz="1800" dirty="0">
                        <a:latin typeface="+mn-lt"/>
                      </a:endParaRPr>
                    </a:p>
                  </a:txBody>
                  <a:tcPr>
                    <a:lnR w="28575" cap="flat" cmpd="sng" algn="ctr">
                      <a:solidFill>
                        <a:schemeClr val="tx1"/>
                      </a:solidFill>
                      <a:prstDash val="solid"/>
                      <a:round/>
                      <a:headEnd type="none" w="med" len="med"/>
                      <a:tailEnd type="none" w="med" len="med"/>
                    </a:ln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latin typeface="+mn-lt"/>
                      </a:endParaRPr>
                    </a:p>
                  </a:txBody>
                  <a:tcPr>
                    <a:lnL w="28575"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35052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latin typeface="+mn-lt"/>
                      </a:endParaRPr>
                    </a:p>
                  </a:txBody>
                  <a:tcPr>
                    <a:lnR w="28575"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altLang="en-US" sz="1800" dirty="0">
                          <a:latin typeface="+mn-lt"/>
                        </a:rPr>
                        <a:t>Cost of assets sold ?</a:t>
                      </a:r>
                      <a:r>
                        <a:rPr lang="en-CA" altLang="en-US" sz="1800" baseline="0" dirty="0">
                          <a:latin typeface="+mn-lt"/>
                        </a:rPr>
                        <a:t>   </a:t>
                      </a:r>
                      <a:r>
                        <a:rPr lang="en-CA" altLang="en-US" sz="1800" dirty="0">
                          <a:latin typeface="+mn-lt"/>
                        </a:rPr>
                        <a:t>70,000</a:t>
                      </a:r>
                      <a:endParaRPr lang="en-US" sz="1800" dirty="0">
                        <a:latin typeface="+mn-lt"/>
                      </a:endParaRPr>
                    </a:p>
                  </a:txBody>
                  <a:tcPr>
                    <a:lnL w="28575"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29772">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800" dirty="0">
                          <a:latin typeface="+mn-lt"/>
                        </a:rPr>
                        <a:t>180,000</a:t>
                      </a:r>
                      <a:endParaRPr lang="en-US" sz="1800" dirty="0">
                        <a:latin typeface="+mn-lt"/>
                      </a:endParaRPr>
                    </a:p>
                  </a:txBody>
                  <a:tcPr>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latin typeface="+mn-lt"/>
                      </a:endParaRPr>
                    </a:p>
                  </a:txBody>
                  <a:tcPr>
                    <a:lnL w="285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040345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A80C9-BBCD-25F8-032A-570C116EF310}"/>
              </a:ext>
            </a:extLst>
          </p:cNvPr>
          <p:cNvSpPr>
            <a:spLocks noGrp="1"/>
          </p:cNvSpPr>
          <p:nvPr>
            <p:ph type="title"/>
          </p:nvPr>
        </p:nvSpPr>
        <p:spPr/>
        <p:txBody>
          <a:bodyPr/>
          <a:lstStyle/>
          <a:p>
            <a:r>
              <a:rPr lang="en-US" dirty="0"/>
              <a:t>S6-9</a:t>
            </a:r>
          </a:p>
        </p:txBody>
      </p:sp>
      <p:sp>
        <p:nvSpPr>
          <p:cNvPr id="3" name="Content Placeholder 2">
            <a:extLst>
              <a:ext uri="{FF2B5EF4-FFF2-40B4-BE49-F238E27FC236}">
                <a16:creationId xmlns:a16="http://schemas.microsoft.com/office/drawing/2014/main" id="{C28B8080-61EB-4F15-A2C4-E36CEBC069D1}"/>
              </a:ext>
            </a:extLst>
          </p:cNvPr>
          <p:cNvSpPr>
            <a:spLocks noGrp="1"/>
          </p:cNvSpPr>
          <p:nvPr>
            <p:ph idx="1"/>
          </p:nvPr>
        </p:nvSpPr>
        <p:spPr/>
        <p:txBody>
          <a:bodyPr/>
          <a:lstStyle/>
          <a:p>
            <a:pPr marL="0" indent="0">
              <a:buNone/>
            </a:pPr>
            <a:r>
              <a:rPr lang="en-US" dirty="0"/>
              <a:t>On Jan. 1, 2021, Big Rock Brewery bought a van for $45,000. </a:t>
            </a:r>
          </a:p>
          <a:p>
            <a:pPr marL="0" indent="0">
              <a:buNone/>
            </a:pPr>
            <a:r>
              <a:rPr lang="en-US" dirty="0"/>
              <a:t>Big Rock uses straight-line depreciation, they expect the van to have a useful life of 5 years and a residual value of $5,000.</a:t>
            </a:r>
          </a:p>
          <a:p>
            <a:pPr marL="0" indent="0">
              <a:buNone/>
            </a:pPr>
            <a:r>
              <a:rPr lang="en-US" dirty="0"/>
              <a:t>On December 31, 2024, the van was sold for $15,000 cash.</a:t>
            </a:r>
          </a:p>
          <a:p>
            <a:pPr marL="0" indent="0">
              <a:buNone/>
            </a:pPr>
            <a:r>
              <a:rPr lang="en-US" sz="2000" dirty="0"/>
              <a:t>Required:</a:t>
            </a:r>
          </a:p>
          <a:p>
            <a:pPr marL="854065" lvl="1" indent="-457200">
              <a:buFont typeface="+mj-lt"/>
              <a:buAutoNum type="arabicPeriod"/>
            </a:pPr>
            <a:r>
              <a:rPr lang="en-US" dirty="0"/>
              <a:t>What was the carrying amount of the van on the date of sale?</a:t>
            </a:r>
          </a:p>
          <a:p>
            <a:pPr marL="854065" lvl="1" indent="-457200">
              <a:buFont typeface="+mj-lt"/>
              <a:buAutoNum type="arabicPeriod"/>
            </a:pPr>
            <a:r>
              <a:rPr lang="en-US" dirty="0"/>
              <a:t>Record the journal entry for the sale of the van on December 31, 2024.</a:t>
            </a:r>
          </a:p>
        </p:txBody>
      </p:sp>
    </p:spTree>
    <p:extLst>
      <p:ext uri="{BB962C8B-B14F-4D97-AF65-F5344CB8AC3E}">
        <p14:creationId xmlns:p14="http://schemas.microsoft.com/office/powerpoint/2010/main" val="270396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CA" altLang="en-US" dirty="0">
                <a:ea typeface="ＭＳ Ｐゴシック" pitchFamily="34" charset="-128"/>
              </a:rPr>
              <a:t>Special Issues in Accounting for Property,  Plant, and Equipment</a:t>
            </a:r>
            <a:endParaRPr lang="en-US" dirty="0"/>
          </a:p>
        </p:txBody>
      </p:sp>
      <p:sp>
        <p:nvSpPr>
          <p:cNvPr id="5" name="Content Placeholder 4"/>
          <p:cNvSpPr>
            <a:spLocks noGrp="1"/>
          </p:cNvSpPr>
          <p:nvPr>
            <p:ph idx="1"/>
          </p:nvPr>
        </p:nvSpPr>
        <p:spPr/>
        <p:txBody>
          <a:bodyPr/>
          <a:lstStyle/>
          <a:p>
            <a:pPr marL="0" indent="0">
              <a:buNone/>
            </a:pPr>
            <a:r>
              <a:rPr lang="en-CA" altLang="en-US" dirty="0"/>
              <a:t>Long-lived assets are complex because:</a:t>
            </a:r>
          </a:p>
          <a:p>
            <a:pPr>
              <a:spcAft>
                <a:spcPts val="600"/>
              </a:spcAft>
            </a:pPr>
            <a:r>
              <a:rPr lang="en-CA" altLang="en-US" dirty="0"/>
              <a:t>Depreciation affects income taxes</a:t>
            </a:r>
          </a:p>
          <a:p>
            <a:pPr>
              <a:spcAft>
                <a:spcPts val="600"/>
              </a:spcAft>
            </a:pPr>
            <a:r>
              <a:rPr lang="en-CA" altLang="en-US" dirty="0"/>
              <a:t>Significant components of PPE should be depreciated separately</a:t>
            </a:r>
          </a:p>
          <a:p>
            <a:pPr>
              <a:spcAft>
                <a:spcPts val="600"/>
              </a:spcAft>
            </a:pPr>
            <a:r>
              <a:rPr lang="en-CA" altLang="en-US" dirty="0"/>
              <a:t>Assets should be tested regularly for impairment</a:t>
            </a:r>
          </a:p>
          <a:p>
            <a:pPr>
              <a:spcAft>
                <a:spcPts val="600"/>
              </a:spcAft>
            </a:pPr>
            <a:r>
              <a:rPr lang="en-CA" altLang="en-US" dirty="0"/>
              <a:t>Revaluation method could be used to measure PPE</a:t>
            </a:r>
          </a:p>
        </p:txBody>
      </p:sp>
    </p:spTree>
    <p:extLst>
      <p:ext uri="{BB962C8B-B14F-4D97-AF65-F5344CB8AC3E}">
        <p14:creationId xmlns:p14="http://schemas.microsoft.com/office/powerpoint/2010/main" val="1499835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ea typeface="ＭＳ Ｐゴシック" pitchFamily="34" charset="-128"/>
              </a:rPr>
              <a:t>Depreciation for Tax Purposes</a:t>
            </a:r>
            <a:endParaRPr lang="en-US" dirty="0"/>
          </a:p>
        </p:txBody>
      </p:sp>
      <p:sp>
        <p:nvSpPr>
          <p:cNvPr id="2" name="Content Placeholder 1"/>
          <p:cNvSpPr>
            <a:spLocks noGrp="1"/>
          </p:cNvSpPr>
          <p:nvPr>
            <p:ph idx="1"/>
          </p:nvPr>
        </p:nvSpPr>
        <p:spPr>
          <a:xfrm>
            <a:off x="457200" y="1752600"/>
            <a:ext cx="8229600" cy="1097279"/>
          </a:xfrm>
        </p:spPr>
        <p:txBody>
          <a:bodyPr>
            <a:normAutofit lnSpcReduction="10000"/>
          </a:bodyPr>
          <a:lstStyle/>
          <a:p>
            <a:pPr marL="0" indent="0">
              <a:buNone/>
              <a:defRPr/>
            </a:pPr>
            <a:r>
              <a:rPr lang="en-US" sz="2400" dirty="0">
                <a:cs typeface="Arial" panose="020B0604020202020204" pitchFamily="34" charset="0"/>
              </a:rPr>
              <a:t>Many businesses use the straight-line method for reporting property, plant and depreciation expense on the income statement.</a:t>
            </a:r>
            <a:endParaRPr lang="en-US" sz="2400" dirty="0"/>
          </a:p>
        </p:txBody>
      </p:sp>
      <p:sp>
        <p:nvSpPr>
          <p:cNvPr id="3" name="Content Placeholder 2"/>
          <p:cNvSpPr>
            <a:spLocks noGrp="1"/>
          </p:cNvSpPr>
          <p:nvPr>
            <p:ph idx="13"/>
          </p:nvPr>
        </p:nvSpPr>
        <p:spPr>
          <a:xfrm>
            <a:off x="381000" y="3289827"/>
            <a:ext cx="8229600" cy="1935163"/>
          </a:xfrm>
        </p:spPr>
        <p:txBody>
          <a:bodyPr/>
          <a:lstStyle/>
          <a:p>
            <a:pPr marL="0" indent="0">
              <a:buNone/>
              <a:defRPr/>
            </a:pPr>
            <a:r>
              <a:rPr lang="en-US" sz="2400" dirty="0">
                <a:cs typeface="Arial" panose="020B0604020202020204" pitchFamily="34" charset="0"/>
              </a:rPr>
              <a:t>The </a:t>
            </a:r>
            <a:r>
              <a:rPr lang="en-US" sz="2400" i="1" dirty="0">
                <a:cs typeface="Arial" panose="020B0604020202020204" pitchFamily="34" charset="0"/>
              </a:rPr>
              <a:t>Income Tax Act </a:t>
            </a:r>
            <a:r>
              <a:rPr lang="en-US" sz="2400" dirty="0">
                <a:cs typeface="Arial" panose="020B0604020202020204" pitchFamily="34" charset="0"/>
              </a:rPr>
              <a:t>permits taxpayers to use accelerated depreciation (up to specified CCA maximums) for tax purposes.</a:t>
            </a:r>
            <a:endParaRPr lang="en-US" sz="2400" dirty="0"/>
          </a:p>
        </p:txBody>
      </p:sp>
    </p:spTree>
    <p:extLst>
      <p:ext uri="{BB962C8B-B14F-4D97-AF65-F5344CB8AC3E}">
        <p14:creationId xmlns:p14="http://schemas.microsoft.com/office/powerpoint/2010/main" val="27637931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ea typeface="ＭＳ Ｐゴシック" pitchFamily="34" charset="-128"/>
              </a:rPr>
              <a:t>Depreciating Significant Components</a:t>
            </a:r>
            <a:endParaRPr lang="en-US" dirty="0"/>
          </a:p>
        </p:txBody>
      </p:sp>
      <p:sp>
        <p:nvSpPr>
          <p:cNvPr id="5" name="Content Placeholder 4"/>
          <p:cNvSpPr>
            <a:spLocks noGrp="1"/>
          </p:cNvSpPr>
          <p:nvPr>
            <p:ph idx="1"/>
          </p:nvPr>
        </p:nvSpPr>
        <p:spPr/>
        <p:txBody>
          <a:bodyPr/>
          <a:lstStyle/>
          <a:p>
            <a:pPr marL="0" indent="0">
              <a:buNone/>
              <a:defRPr/>
            </a:pPr>
            <a:r>
              <a:rPr lang="en-US" b="1" dirty="0">
                <a:solidFill>
                  <a:schemeClr val="tx2"/>
                </a:solidFill>
                <a:cs typeface="Arial" panose="020B0604020202020204" pitchFamily="34" charset="0"/>
              </a:rPr>
              <a:t>IFRS</a:t>
            </a:r>
            <a:r>
              <a:rPr lang="en-US" dirty="0">
                <a:cs typeface="Arial" panose="020B0604020202020204" pitchFamily="34" charset="0"/>
              </a:rPr>
              <a:t> require that significant components of an item of property, plant, and equipment be depreciated separately.</a:t>
            </a:r>
            <a:endParaRPr lang="en-US" dirty="0"/>
          </a:p>
        </p:txBody>
      </p:sp>
    </p:spTree>
    <p:extLst>
      <p:ext uri="{BB962C8B-B14F-4D97-AF65-F5344CB8AC3E}">
        <p14:creationId xmlns:p14="http://schemas.microsoft.com/office/powerpoint/2010/main" val="1904399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Impairment</a:t>
            </a:r>
            <a:endParaRPr lang="en-US" dirty="0"/>
          </a:p>
        </p:txBody>
      </p:sp>
      <p:sp>
        <p:nvSpPr>
          <p:cNvPr id="3" name="Content Placeholder 2"/>
          <p:cNvSpPr>
            <a:spLocks noGrp="1"/>
          </p:cNvSpPr>
          <p:nvPr>
            <p:ph idx="1"/>
          </p:nvPr>
        </p:nvSpPr>
        <p:spPr>
          <a:xfrm>
            <a:off x="194913" y="1413166"/>
            <a:ext cx="8677297" cy="3616033"/>
          </a:xfrm>
          <a:ln w="12700">
            <a:noFill/>
          </a:ln>
        </p:spPr>
        <p:txBody>
          <a:bodyPr>
            <a:normAutofit lnSpcReduction="10000"/>
          </a:bodyPr>
          <a:lstStyle/>
          <a:p>
            <a:pPr marL="0" indent="0">
              <a:spcAft>
                <a:spcPts val="1500"/>
              </a:spcAft>
              <a:buNone/>
              <a:defRPr/>
            </a:pPr>
            <a:r>
              <a:rPr lang="en-US" dirty="0">
                <a:cs typeface="Arial" panose="020B0604020202020204" pitchFamily="34" charset="0"/>
              </a:rPr>
              <a:t>At each reporting date, a company should review its property, plant, and equipment to see if an asset is impaired.</a:t>
            </a:r>
          </a:p>
          <a:p>
            <a:pPr marL="0" indent="0">
              <a:spcAft>
                <a:spcPts val="1500"/>
              </a:spcAft>
              <a:buNone/>
              <a:defRPr/>
            </a:pPr>
            <a:r>
              <a:rPr lang="en-US" dirty="0">
                <a:cs typeface="Arial" panose="020B0604020202020204" pitchFamily="34" charset="0"/>
              </a:rPr>
              <a:t>Impairment occurs when the carrying amount exceeds its recoverable amount.</a:t>
            </a:r>
            <a:endParaRPr lang="en-US" dirty="0"/>
          </a:p>
          <a:p>
            <a:pPr marL="0" indent="0">
              <a:spcAft>
                <a:spcPts val="1500"/>
              </a:spcAft>
              <a:buNone/>
              <a:defRPr/>
            </a:pPr>
            <a:r>
              <a:rPr lang="en-US" dirty="0">
                <a:cs typeface="Arial" panose="020B0604020202020204" pitchFamily="34" charset="0"/>
              </a:rPr>
              <a:t>Impairment may be caused by many factors including obsolescence, physical damage, and loss in market value.</a:t>
            </a:r>
          </a:p>
          <a:p>
            <a:pPr marL="0" indent="0">
              <a:spcAft>
                <a:spcPts val="1500"/>
              </a:spcAft>
              <a:buNone/>
              <a:defRPr/>
            </a:pPr>
            <a:r>
              <a:rPr lang="en-US" dirty="0">
                <a:cs typeface="Arial" panose="020B0604020202020204" pitchFamily="34" charset="0"/>
              </a:rPr>
              <a:t>The journal entry to record impairment is:</a:t>
            </a:r>
          </a:p>
          <a:p>
            <a:pPr marL="0" indent="0">
              <a:spcAft>
                <a:spcPts val="1500"/>
              </a:spcAft>
              <a:buNone/>
              <a:defRPr/>
            </a:pPr>
            <a:endParaRPr lang="en-US" dirty="0"/>
          </a:p>
        </p:txBody>
      </p:sp>
      <p:pic>
        <p:nvPicPr>
          <p:cNvPr id="4" name="Picture 3">
            <a:extLst>
              <a:ext uri="{FF2B5EF4-FFF2-40B4-BE49-F238E27FC236}">
                <a16:creationId xmlns:a16="http://schemas.microsoft.com/office/drawing/2014/main" id="{C3FD0F23-16FF-D2A0-5FE1-EB21094AFDD4}"/>
              </a:ext>
            </a:extLst>
          </p:cNvPr>
          <p:cNvPicPr>
            <a:picLocks noChangeAspect="1"/>
          </p:cNvPicPr>
          <p:nvPr/>
        </p:nvPicPr>
        <p:blipFill>
          <a:blip r:embed="rId3"/>
          <a:stretch>
            <a:fillRect/>
          </a:stretch>
        </p:blipFill>
        <p:spPr>
          <a:xfrm>
            <a:off x="1574461" y="5255491"/>
            <a:ext cx="5613400" cy="863600"/>
          </a:xfrm>
          <a:prstGeom prst="rect">
            <a:avLst/>
          </a:prstGeom>
        </p:spPr>
      </p:pic>
    </p:spTree>
    <p:extLst>
      <p:ext uri="{BB962C8B-B14F-4D97-AF65-F5344CB8AC3E}">
        <p14:creationId xmlns:p14="http://schemas.microsoft.com/office/powerpoint/2010/main" val="1905439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Four</a:t>
            </a:r>
          </a:p>
        </p:txBody>
      </p:sp>
      <p:sp>
        <p:nvSpPr>
          <p:cNvPr id="3" name="Content Placeholder 2"/>
          <p:cNvSpPr>
            <a:spLocks noGrp="1"/>
          </p:cNvSpPr>
          <p:nvPr>
            <p:ph type="subTitle" idx="1"/>
          </p:nvPr>
        </p:nvSpPr>
        <p:spPr/>
        <p:txBody>
          <a:bodyPr>
            <a:normAutofit lnSpcReduction="10000"/>
          </a:bodyPr>
          <a:lstStyle/>
          <a:p>
            <a:r>
              <a:rPr lang="en-US" altLang="en-US" b="1" dirty="0">
                <a:ea typeface="ＭＳ Ｐゴシック" pitchFamily="34" charset="-128"/>
              </a:rPr>
              <a:t>Explain </a:t>
            </a:r>
            <a:r>
              <a:rPr lang="en-US" altLang="en-US" dirty="0">
                <a:ea typeface="ＭＳ Ｐゴシック" pitchFamily="34" charset="-128"/>
              </a:rPr>
              <a:t>how to account for intangible assets and goodwill</a:t>
            </a:r>
            <a:endParaRPr lang="en-US" dirty="0"/>
          </a:p>
        </p:txBody>
      </p:sp>
    </p:spTree>
    <p:extLst>
      <p:ext uri="{BB962C8B-B14F-4D97-AF65-F5344CB8AC3E}">
        <p14:creationId xmlns:p14="http://schemas.microsoft.com/office/powerpoint/2010/main" val="1437056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ea typeface="ＭＳ Ｐゴシック" pitchFamily="34" charset="-128"/>
              </a:rPr>
              <a:t>Intangible Assets</a:t>
            </a:r>
            <a:endParaRPr lang="en-US" dirty="0"/>
          </a:p>
        </p:txBody>
      </p:sp>
      <p:sp>
        <p:nvSpPr>
          <p:cNvPr id="5" name="Content Placeholder 4"/>
          <p:cNvSpPr>
            <a:spLocks noGrp="1"/>
          </p:cNvSpPr>
          <p:nvPr>
            <p:ph idx="1"/>
          </p:nvPr>
        </p:nvSpPr>
        <p:spPr/>
        <p:txBody>
          <a:bodyPr>
            <a:normAutofit fontScale="92500" lnSpcReduction="10000"/>
          </a:bodyPr>
          <a:lstStyle/>
          <a:p>
            <a:r>
              <a:rPr lang="en-US" altLang="en-US" dirty="0">
                <a:ea typeface="ＭＳ Ｐゴシック" pitchFamily="34" charset="-128"/>
              </a:rPr>
              <a:t>No physical form</a:t>
            </a:r>
          </a:p>
          <a:p>
            <a:pPr lvl="1"/>
            <a:r>
              <a:rPr lang="en-US" altLang="en-US" dirty="0">
                <a:ea typeface="ＭＳ Ｐゴシック" pitchFamily="34" charset="-128"/>
              </a:rPr>
              <a:t>Carry special rights</a:t>
            </a:r>
          </a:p>
          <a:p>
            <a:pPr lvl="1"/>
            <a:r>
              <a:rPr lang="en-US" altLang="en-US" dirty="0">
                <a:ea typeface="ＭＳ Ｐゴシック" pitchFamily="34" charset="-128"/>
              </a:rPr>
              <a:t>Include patents, copyrights, and franchises</a:t>
            </a:r>
          </a:p>
          <a:p>
            <a:r>
              <a:rPr lang="en-US" altLang="en-US" dirty="0">
                <a:ea typeface="ＭＳ Ｐゴシック" pitchFamily="34" charset="-128"/>
              </a:rPr>
              <a:t>Two categories</a:t>
            </a:r>
          </a:p>
          <a:p>
            <a:pPr lvl="1"/>
            <a:r>
              <a:rPr lang="en-US" altLang="en-US" dirty="0">
                <a:ea typeface="ＭＳ Ｐゴシック" pitchFamily="34" charset="-128"/>
              </a:rPr>
              <a:t>Finite lives</a:t>
            </a:r>
          </a:p>
          <a:p>
            <a:pPr lvl="2"/>
            <a:r>
              <a:rPr lang="en-US" altLang="en-US" dirty="0">
                <a:ea typeface="ＭＳ Ｐゴシック" pitchFamily="34" charset="-128"/>
              </a:rPr>
              <a:t>Amortization recorded</a:t>
            </a:r>
          </a:p>
          <a:p>
            <a:pPr lvl="3"/>
            <a:r>
              <a:rPr lang="en-US" altLang="en-US" dirty="0">
                <a:ea typeface="ＭＳ Ｐゴシック" pitchFamily="34" charset="-128"/>
              </a:rPr>
              <a:t>Straight-line method usually used, but…</a:t>
            </a:r>
          </a:p>
          <a:p>
            <a:pPr lvl="3"/>
            <a:r>
              <a:rPr lang="en-US" altLang="en-US" dirty="0">
                <a:ea typeface="ＭＳ Ｐゴシック" pitchFamily="34" charset="-128"/>
              </a:rPr>
              <a:t>Other amortization methods are allowed</a:t>
            </a:r>
          </a:p>
          <a:p>
            <a:pPr lvl="1"/>
            <a:r>
              <a:rPr lang="en-US" altLang="en-US" dirty="0">
                <a:ea typeface="ＭＳ Ｐゴシック" pitchFamily="34" charset="-128"/>
              </a:rPr>
              <a:t>Indefinite lives</a:t>
            </a:r>
          </a:p>
          <a:p>
            <a:pPr lvl="2"/>
            <a:r>
              <a:rPr lang="en-US" altLang="en-US" dirty="0">
                <a:ea typeface="ＭＳ Ｐゴシック" pitchFamily="34" charset="-128"/>
              </a:rPr>
              <a:t>Tested for loss in value (impairment)</a:t>
            </a:r>
            <a:endParaRPr lang="en-US" dirty="0"/>
          </a:p>
        </p:txBody>
      </p:sp>
    </p:spTree>
    <p:extLst>
      <p:ext uri="{BB962C8B-B14F-4D97-AF65-F5344CB8AC3E}">
        <p14:creationId xmlns:p14="http://schemas.microsoft.com/office/powerpoint/2010/main" val="3713032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Accounting for Specific Intangibles</a:t>
            </a:r>
            <a:endParaRPr lang="en-US" dirty="0"/>
          </a:p>
        </p:txBody>
      </p:sp>
      <p:sp>
        <p:nvSpPr>
          <p:cNvPr id="4" name="Text Placeholder 3"/>
          <p:cNvSpPr>
            <a:spLocks noGrp="1"/>
          </p:cNvSpPr>
          <p:nvPr>
            <p:ph type="body" idx="1"/>
          </p:nvPr>
        </p:nvSpPr>
        <p:spPr>
          <a:xfrm>
            <a:off x="272000" y="2130552"/>
            <a:ext cx="2743200" cy="1828800"/>
          </a:xfrm>
        </p:spPr>
        <p:txBody>
          <a:bodyPr/>
          <a:lstStyle/>
          <a:p>
            <a:r>
              <a:rPr lang="en-US" sz="2800" dirty="0"/>
              <a:t>Patents</a:t>
            </a:r>
          </a:p>
        </p:txBody>
      </p:sp>
      <p:sp>
        <p:nvSpPr>
          <p:cNvPr id="5" name="Content Placeholder 4"/>
          <p:cNvSpPr>
            <a:spLocks noGrp="1"/>
          </p:cNvSpPr>
          <p:nvPr>
            <p:ph sz="half" idx="2"/>
          </p:nvPr>
        </p:nvSpPr>
        <p:spPr>
          <a:xfrm>
            <a:off x="3186939" y="2130552"/>
            <a:ext cx="2743200" cy="1828800"/>
          </a:xfrm>
        </p:spPr>
        <p:txBody>
          <a:bodyPr/>
          <a:lstStyle/>
          <a:p>
            <a:pPr marL="0" lvl="0" indent="0"/>
            <a:r>
              <a:rPr lang="en-US" sz="2800" dirty="0"/>
              <a:t>Copyrights</a:t>
            </a:r>
          </a:p>
        </p:txBody>
      </p:sp>
      <p:sp>
        <p:nvSpPr>
          <p:cNvPr id="6" name="Text Placeholder 5"/>
          <p:cNvSpPr>
            <a:spLocks noGrp="1"/>
          </p:cNvSpPr>
          <p:nvPr>
            <p:ph type="body" sz="quarter" idx="3"/>
          </p:nvPr>
        </p:nvSpPr>
        <p:spPr>
          <a:xfrm>
            <a:off x="6114905" y="2130552"/>
            <a:ext cx="2743200" cy="1828800"/>
          </a:xfrm>
        </p:spPr>
        <p:txBody>
          <a:bodyPr/>
          <a:lstStyle/>
          <a:p>
            <a:pPr lvl="0"/>
            <a:r>
              <a:rPr lang="en-US" sz="2800" dirty="0"/>
              <a:t>Trademarks and trade names</a:t>
            </a:r>
          </a:p>
        </p:txBody>
      </p:sp>
      <p:sp>
        <p:nvSpPr>
          <p:cNvPr id="7" name="Content Placeholder 6"/>
          <p:cNvSpPr>
            <a:spLocks noGrp="1"/>
          </p:cNvSpPr>
          <p:nvPr>
            <p:ph sz="quarter" idx="4"/>
          </p:nvPr>
        </p:nvSpPr>
        <p:spPr>
          <a:xfrm>
            <a:off x="1730721" y="4150870"/>
            <a:ext cx="2743200" cy="1828800"/>
          </a:xfrm>
        </p:spPr>
        <p:txBody>
          <a:bodyPr/>
          <a:lstStyle/>
          <a:p>
            <a:pPr marL="0" lvl="0" indent="0"/>
            <a:r>
              <a:rPr lang="en-US" sz="2800" dirty="0"/>
              <a:t>Franchises and </a:t>
            </a:r>
            <a:r>
              <a:rPr lang="en-US" sz="2800" dirty="0" err="1"/>
              <a:t>licences</a:t>
            </a:r>
            <a:endParaRPr lang="en-US" sz="2800" dirty="0"/>
          </a:p>
        </p:txBody>
      </p:sp>
      <p:sp>
        <p:nvSpPr>
          <p:cNvPr id="8" name="Content Placeholder 7"/>
          <p:cNvSpPr>
            <a:spLocks noGrp="1"/>
          </p:cNvSpPr>
          <p:nvPr>
            <p:ph sz="half" idx="13"/>
          </p:nvPr>
        </p:nvSpPr>
        <p:spPr>
          <a:xfrm>
            <a:off x="4655530" y="4150870"/>
            <a:ext cx="2743200" cy="1828800"/>
          </a:xfrm>
        </p:spPr>
        <p:txBody>
          <a:bodyPr/>
          <a:lstStyle/>
          <a:p>
            <a:pPr marL="0" lvl="0" indent="0"/>
            <a:r>
              <a:rPr lang="en-US" sz="2800" dirty="0"/>
              <a:t>Goodwill</a:t>
            </a:r>
          </a:p>
        </p:txBody>
      </p:sp>
    </p:spTree>
    <p:extLst>
      <p:ext uri="{BB962C8B-B14F-4D97-AF65-F5344CB8AC3E}">
        <p14:creationId xmlns:p14="http://schemas.microsoft.com/office/powerpoint/2010/main" val="74893816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ea typeface="ＭＳ Ｐゴシック" pitchFamily="34" charset="-128"/>
              </a:rPr>
              <a:t>Patents</a:t>
            </a:r>
            <a:endParaRPr lang="en-US" sz="2000" b="0" dirty="0"/>
          </a:p>
        </p:txBody>
      </p:sp>
      <p:sp>
        <p:nvSpPr>
          <p:cNvPr id="5" name="Content Placeholder 4"/>
          <p:cNvSpPr>
            <a:spLocks noGrp="1"/>
          </p:cNvSpPr>
          <p:nvPr>
            <p:ph idx="1"/>
          </p:nvPr>
        </p:nvSpPr>
        <p:spPr>
          <a:xfrm>
            <a:off x="194913" y="1413167"/>
            <a:ext cx="8677297" cy="1427016"/>
          </a:xfrm>
        </p:spPr>
        <p:txBody>
          <a:bodyPr/>
          <a:lstStyle/>
          <a:p>
            <a:r>
              <a:rPr lang="en-US" altLang="en-US" dirty="0">
                <a:ea typeface="ＭＳ Ｐゴシック" pitchFamily="34" charset="-128"/>
              </a:rPr>
              <a:t>Granted by federal government and give holder exclusive right to produce and sell an invention</a:t>
            </a:r>
          </a:p>
          <a:p>
            <a:r>
              <a:rPr lang="en-US" altLang="en-US" dirty="0">
                <a:ea typeface="ＭＳ Ｐゴシック" pitchFamily="34" charset="-128"/>
              </a:rPr>
              <a:t>Last for 20 years</a:t>
            </a:r>
            <a:endParaRPr lang="en-US" dirty="0"/>
          </a:p>
        </p:txBody>
      </p:sp>
      <p:graphicFrame>
        <p:nvGraphicFramePr>
          <p:cNvPr id="2" name="Table 1">
            <a:extLst>
              <a:ext uri="{FF2B5EF4-FFF2-40B4-BE49-F238E27FC236}">
                <a16:creationId xmlns:a16="http://schemas.microsoft.com/office/drawing/2014/main" id="{84CE9A66-CBBF-0EC6-2205-D00690DD60B0}"/>
              </a:ext>
            </a:extLst>
          </p:cNvPr>
          <p:cNvGraphicFramePr>
            <a:graphicFrameLocks noGrp="1"/>
          </p:cNvGraphicFramePr>
          <p:nvPr>
            <p:extLst>
              <p:ext uri="{D42A27DB-BD31-4B8C-83A1-F6EECF244321}">
                <p14:modId xmlns:p14="http://schemas.microsoft.com/office/powerpoint/2010/main" val="571734153"/>
              </p:ext>
            </p:extLst>
          </p:nvPr>
        </p:nvGraphicFramePr>
        <p:xfrm>
          <a:off x="1171020" y="2923312"/>
          <a:ext cx="6468135" cy="3291840"/>
        </p:xfrm>
        <a:graphic>
          <a:graphicData uri="http://schemas.openxmlformats.org/drawingml/2006/table">
            <a:tbl>
              <a:tblPr firstRow="1" bandRow="1">
                <a:tableStyleId>{2D5ABB26-0587-4C30-8999-92F81FD0307C}</a:tableStyleId>
              </a:tblPr>
              <a:tblGrid>
                <a:gridCol w="3457397">
                  <a:extLst>
                    <a:ext uri="{9D8B030D-6E8A-4147-A177-3AD203B41FA5}">
                      <a16:colId xmlns:a16="http://schemas.microsoft.com/office/drawing/2014/main" val="20000"/>
                    </a:ext>
                  </a:extLst>
                </a:gridCol>
                <a:gridCol w="1505369">
                  <a:extLst>
                    <a:ext uri="{9D8B030D-6E8A-4147-A177-3AD203B41FA5}">
                      <a16:colId xmlns:a16="http://schemas.microsoft.com/office/drawing/2014/main" val="20001"/>
                    </a:ext>
                  </a:extLst>
                </a:gridCol>
                <a:gridCol w="1505369">
                  <a:extLst>
                    <a:ext uri="{9D8B030D-6E8A-4147-A177-3AD203B41FA5}">
                      <a16:colId xmlns:a16="http://schemas.microsoft.com/office/drawing/2014/main" val="20002"/>
                    </a:ext>
                  </a:extLst>
                </a:gridCol>
              </a:tblGrid>
              <a:tr h="339590">
                <a:tc>
                  <a:txBody>
                    <a:bodyPr/>
                    <a:lstStyle/>
                    <a:p>
                      <a:r>
                        <a:rPr lang="en-US" sz="1800" kern="1200" dirty="0">
                          <a:effectLst/>
                        </a:rPr>
                        <a:t>January 1</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39590">
                <a:tc>
                  <a:txBody>
                    <a:bodyPr/>
                    <a:lstStyle/>
                    <a:p>
                      <a:r>
                        <a:rPr lang="en-US" sz="1800" kern="1200" dirty="0">
                          <a:effectLst/>
                        </a:rPr>
                        <a:t>Patents</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dirty="0">
                          <a:latin typeface="+mn-lt"/>
                          <a:ea typeface="+mn-ea"/>
                          <a:cs typeface="Arial" panose="020B0604020202020204" pitchFamily="34" charset="0"/>
                        </a:rPr>
                        <a:t>170,000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800" dirty="0">
                        <a:latin typeface="+mn-lt"/>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39590">
                <a:tc>
                  <a:txBody>
                    <a:bodyPr/>
                    <a:lstStyle/>
                    <a:p>
                      <a:pPr marL="274320"/>
                      <a:r>
                        <a:rPr lang="en-US" sz="1800" dirty="0">
                          <a:latin typeface="+mn-lt"/>
                          <a:ea typeface="+mn-ea"/>
                          <a:cs typeface="Arial" panose="020B0604020202020204" pitchFamily="34" charset="0"/>
                        </a:rPr>
                        <a:t>Cash</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sz="1800" dirty="0">
                          <a:latin typeface="+mn-lt"/>
                          <a:ea typeface="+mn-ea"/>
                          <a:cs typeface="Arial" panose="020B0604020202020204" pitchFamily="34" charset="0"/>
                        </a:rPr>
                        <a:t>170,000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3959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i="1" dirty="0">
                          <a:latin typeface="+mn-lt"/>
                          <a:ea typeface="+mn-ea"/>
                          <a:cs typeface="Arial" panose="020B0604020202020204" pitchFamily="34" charset="0"/>
                        </a:rPr>
                        <a:t>To acquire a patent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3959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800" dirty="0">
                        <a:latin typeface="+mn-lt"/>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7407986"/>
                  </a:ext>
                </a:extLst>
              </a:tr>
              <a:tr h="33959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latin typeface="+mn-lt"/>
                          <a:ea typeface="+mn-ea"/>
                          <a:cs typeface="Arial" panose="020B0604020202020204" pitchFamily="34" charset="0"/>
                        </a:rPr>
                        <a:t>December 31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339590">
                <a:tc>
                  <a:txBody>
                    <a:bodyPr/>
                    <a:lstStyle/>
                    <a:p>
                      <a:r>
                        <a:rPr lang="en-US" sz="1800" dirty="0">
                          <a:latin typeface="+mn-lt"/>
                          <a:ea typeface="+mn-ea"/>
                          <a:cs typeface="Arial" panose="020B0604020202020204" pitchFamily="34" charset="0"/>
                        </a:rPr>
                        <a:t>Amortization Expense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dirty="0">
                          <a:latin typeface="+mn-lt"/>
                          <a:ea typeface="+mn-ea"/>
                          <a:cs typeface="Arial" panose="020B0604020202020204" pitchFamily="34" charset="0"/>
                        </a:rPr>
                        <a:t>34,000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800" dirty="0">
                        <a:latin typeface="+mn-lt"/>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39590">
                <a:tc>
                  <a:txBody>
                    <a:bodyPr/>
                    <a:lstStyle/>
                    <a:p>
                      <a:pPr marL="274320"/>
                      <a:r>
                        <a:rPr lang="en-US" sz="1800" dirty="0">
                          <a:latin typeface="+mn-lt"/>
                          <a:ea typeface="+mn-ea"/>
                          <a:cs typeface="Arial" panose="020B0604020202020204" pitchFamily="34" charset="0"/>
                        </a:rPr>
                        <a:t>Accumulated Amortization</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800" dirty="0">
                          <a:latin typeface="+mn-lt"/>
                          <a:ea typeface="+mn-ea"/>
                          <a:cs typeface="Arial" panose="020B0604020202020204" pitchFamily="34" charset="0"/>
                        </a:rPr>
                        <a:t>34,000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33959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i="1" dirty="0">
                          <a:latin typeface="+mn-lt"/>
                          <a:ea typeface="+mn-ea"/>
                          <a:cs typeface="Arial" panose="020B0604020202020204" pitchFamily="34" charset="0"/>
                        </a:rPr>
                        <a:t>To amortize the cost of a patent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132742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Copyrights</a:t>
            </a:r>
            <a:r>
              <a:rPr lang="en-US" altLang="en-US" baseline="30000" dirty="0">
                <a:ea typeface="ＭＳ Ｐゴシック" pitchFamily="34" charset="-128"/>
                <a:sym typeface="Symbol" panose="05050102010706020507" pitchFamily="18" charset="2"/>
              </a:rPr>
              <a:t></a:t>
            </a:r>
            <a:endParaRPr lang="en-US" baseline="30000" dirty="0"/>
          </a:p>
        </p:txBody>
      </p:sp>
      <p:sp>
        <p:nvSpPr>
          <p:cNvPr id="3" name="Content Placeholder 2"/>
          <p:cNvSpPr>
            <a:spLocks noGrp="1"/>
          </p:cNvSpPr>
          <p:nvPr>
            <p:ph idx="1"/>
          </p:nvPr>
        </p:nvSpPr>
        <p:spPr>
          <a:xfrm>
            <a:off x="457200" y="1600200"/>
            <a:ext cx="8229600" cy="4495800"/>
          </a:xfrm>
        </p:spPr>
        <p:txBody>
          <a:bodyPr/>
          <a:lstStyle/>
          <a:p>
            <a:r>
              <a:rPr lang="en-US" altLang="en-US" sz="2400" dirty="0">
                <a:ea typeface="ＭＳ Ｐゴシック" pitchFamily="34" charset="-128"/>
              </a:rPr>
              <a:t>Granted by the federal government</a:t>
            </a:r>
          </a:p>
          <a:p>
            <a:r>
              <a:rPr lang="en-US" altLang="en-US" sz="2400" dirty="0">
                <a:ea typeface="ＭＳ Ｐゴシック" pitchFamily="34" charset="-128"/>
              </a:rPr>
              <a:t>Give holder exclusive rights to reproduce and sell a book, musical composition, film, or other work of art</a:t>
            </a:r>
          </a:p>
          <a:p>
            <a:r>
              <a:rPr lang="en-US" altLang="en-US" sz="2400" dirty="0">
                <a:ea typeface="ＭＳ Ｐゴシック" pitchFamily="34" charset="-128"/>
              </a:rPr>
              <a:t>Extend 50 years after creator’s life</a:t>
            </a:r>
          </a:p>
          <a:p>
            <a:pPr lvl="1"/>
            <a:r>
              <a:rPr lang="en-US" altLang="en-US" sz="2400" dirty="0">
                <a:ea typeface="ＭＳ Ｐゴシック" pitchFamily="34" charset="-128"/>
              </a:rPr>
              <a:t>Useful life is usually very short</a:t>
            </a:r>
            <a:endParaRPr lang="en-US" sz="2400" dirty="0"/>
          </a:p>
        </p:txBody>
      </p:sp>
    </p:spTree>
    <p:extLst>
      <p:ext uri="{BB962C8B-B14F-4D97-AF65-F5344CB8AC3E}">
        <p14:creationId xmlns:p14="http://schemas.microsoft.com/office/powerpoint/2010/main" val="36098711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spcBef>
                <a:spcPts val="1500"/>
              </a:spcBef>
              <a:buClr>
                <a:srgbClr val="007FA3"/>
              </a:buClr>
              <a:buSzPct val="100000"/>
            </a:pPr>
            <a:r>
              <a:rPr lang="en-US" altLang="en-US" dirty="0">
                <a:ea typeface="ＭＳ Ｐゴシック" pitchFamily="34" charset="-128"/>
              </a:rPr>
              <a:t>Trademarks and Trade Names </a:t>
            </a:r>
            <a:r>
              <a:rPr lang="en-US" altLang="en-US" sz="2000" baseline="30000" dirty="0">
                <a:latin typeface="+mj-lt"/>
                <a:ea typeface="ＭＳ Ｐゴシック" pitchFamily="34" charset="-128"/>
                <a:cs typeface="+mn-cs"/>
              </a:rPr>
              <a:t>TM or ®</a:t>
            </a:r>
            <a:endParaRPr lang="en-US" sz="2000" baseline="30000" dirty="0">
              <a:latin typeface="+mj-lt"/>
              <a:ea typeface="ＭＳ Ｐゴシック" pitchFamily="34" charset="-128"/>
              <a:cs typeface="+mn-cs"/>
            </a:endParaRPr>
          </a:p>
        </p:txBody>
      </p:sp>
      <p:sp>
        <p:nvSpPr>
          <p:cNvPr id="3" name="Content Placeholder 2"/>
          <p:cNvSpPr>
            <a:spLocks noGrp="1"/>
          </p:cNvSpPr>
          <p:nvPr>
            <p:ph idx="1"/>
          </p:nvPr>
        </p:nvSpPr>
        <p:spPr/>
        <p:txBody>
          <a:bodyPr/>
          <a:lstStyle/>
          <a:p>
            <a:r>
              <a:rPr lang="en-US" altLang="en-US" dirty="0">
                <a:ea typeface="ＭＳ Ｐゴシック" pitchFamily="34" charset="-128"/>
              </a:rPr>
              <a:t>Distinctive identification of a product or service</a:t>
            </a:r>
          </a:p>
          <a:p>
            <a:pPr lvl="1"/>
            <a:r>
              <a:rPr lang="en-US" altLang="en-US" dirty="0">
                <a:ea typeface="ＭＳ Ｐゴシック" pitchFamily="34" charset="-128"/>
              </a:rPr>
              <a:t>Also include advertising slogans</a:t>
            </a:r>
          </a:p>
          <a:p>
            <a:r>
              <a:rPr lang="en-US" altLang="en-US" dirty="0">
                <a:ea typeface="ＭＳ Ｐゴシック" pitchFamily="34" charset="-128"/>
              </a:rPr>
              <a:t>Useful life may be set by contract</a:t>
            </a:r>
          </a:p>
          <a:p>
            <a:pPr lvl="1"/>
            <a:r>
              <a:rPr lang="en-US" altLang="en-US" dirty="0">
                <a:ea typeface="ＭＳ Ｐゴシック" pitchFamily="34" charset="-128"/>
              </a:rPr>
              <a:t>Or indefinite life</a:t>
            </a:r>
          </a:p>
        </p:txBody>
      </p:sp>
    </p:spTree>
    <p:extLst>
      <p:ext uri="{BB962C8B-B14F-4D97-AF65-F5344CB8AC3E}">
        <p14:creationId xmlns:p14="http://schemas.microsoft.com/office/powerpoint/2010/main" val="1741291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Franchises and </a:t>
            </a:r>
            <a:r>
              <a:rPr lang="en-US" altLang="en-US" dirty="0" err="1">
                <a:ea typeface="ＭＳ Ｐゴシック" pitchFamily="34" charset="-128"/>
              </a:rPr>
              <a:t>Licences</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Granted by private business or government</a:t>
            </a:r>
          </a:p>
          <a:p>
            <a:r>
              <a:rPr lang="en-US" altLang="en-US" dirty="0">
                <a:ea typeface="ＭＳ Ｐゴシック" pitchFamily="34" charset="-128"/>
              </a:rPr>
              <a:t>Give purchaser the right to sell a product or service with specified conditions</a:t>
            </a:r>
          </a:p>
          <a:p>
            <a:r>
              <a:rPr lang="en-US" altLang="en-US" dirty="0">
                <a:ea typeface="ＭＳ Ｐゴシック" pitchFamily="34" charset="-128"/>
              </a:rPr>
              <a:t>Include restaurant chains and sports organizations</a:t>
            </a:r>
          </a:p>
          <a:p>
            <a:r>
              <a:rPr lang="en-US" altLang="en-US" dirty="0">
                <a:ea typeface="ＭＳ Ｐゴシック" pitchFamily="34" charset="-128"/>
              </a:rPr>
              <a:t>Have indefinite life</a:t>
            </a:r>
            <a:endParaRPr lang="en-US" dirty="0"/>
          </a:p>
        </p:txBody>
      </p:sp>
    </p:spTree>
    <p:extLst>
      <p:ext uri="{BB962C8B-B14F-4D97-AF65-F5344CB8AC3E}">
        <p14:creationId xmlns:p14="http://schemas.microsoft.com/office/powerpoint/2010/main" val="848547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Goodwill</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Only recorded when an entire company is purchased</a:t>
            </a:r>
          </a:p>
          <a:p>
            <a:r>
              <a:rPr lang="en-US" altLang="en-US" dirty="0">
                <a:ea typeface="ＭＳ Ｐゴシック" pitchFamily="34" charset="-128"/>
              </a:rPr>
              <a:t>Defined as the excess of the purchase price of the company over the market value of its net assets</a:t>
            </a:r>
          </a:p>
          <a:p>
            <a:r>
              <a:rPr lang="en-US" altLang="en-US" dirty="0">
                <a:ea typeface="ＭＳ Ｐゴシック" pitchFamily="34" charset="-128"/>
              </a:rPr>
              <a:t>Represents earning power of company purchased</a:t>
            </a:r>
          </a:p>
          <a:p>
            <a:r>
              <a:rPr lang="en-US" altLang="en-US" dirty="0">
                <a:ea typeface="ＭＳ Ｐゴシック" pitchFamily="34" charset="-128"/>
              </a:rPr>
              <a:t>Not amortized</a:t>
            </a:r>
            <a:endParaRPr lang="en-US" dirty="0"/>
          </a:p>
        </p:txBody>
      </p:sp>
    </p:spTree>
    <p:extLst>
      <p:ext uri="{BB962C8B-B14F-4D97-AF65-F5344CB8AC3E}">
        <p14:creationId xmlns:p14="http://schemas.microsoft.com/office/powerpoint/2010/main" val="981429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Intangible Assets: Goodwill Example</a:t>
            </a:r>
            <a:endParaRPr lang="en-US" dirty="0"/>
          </a:p>
        </p:txBody>
      </p:sp>
      <p:graphicFrame>
        <p:nvGraphicFramePr>
          <p:cNvPr id="4" name="Table 3"/>
          <p:cNvGraphicFramePr>
            <a:graphicFrameLocks noGrp="1"/>
          </p:cNvGraphicFramePr>
          <p:nvPr/>
        </p:nvGraphicFramePr>
        <p:xfrm>
          <a:off x="914400" y="1828800"/>
          <a:ext cx="7543800" cy="2926080"/>
        </p:xfrm>
        <a:graphic>
          <a:graphicData uri="http://schemas.openxmlformats.org/drawingml/2006/table">
            <a:tbl>
              <a:tblPr firstRow="1" bandRow="1">
                <a:tableStyleId>{2D5ABB26-0587-4C30-8999-92F81FD0307C}</a:tableStyleId>
              </a:tblPr>
              <a:tblGrid>
                <a:gridCol w="5960536">
                  <a:extLst>
                    <a:ext uri="{9D8B030D-6E8A-4147-A177-3AD203B41FA5}">
                      <a16:colId xmlns:a16="http://schemas.microsoft.com/office/drawing/2014/main" val="20000"/>
                    </a:ext>
                  </a:extLst>
                </a:gridCol>
                <a:gridCol w="1583264">
                  <a:extLst>
                    <a:ext uri="{9D8B030D-6E8A-4147-A177-3AD203B41FA5}">
                      <a16:colId xmlns:a16="http://schemas.microsoft.com/office/drawing/2014/main" val="20001"/>
                    </a:ext>
                  </a:extLst>
                </a:gridCol>
              </a:tblGrid>
              <a:tr h="2286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mn-ea"/>
                          <a:ea typeface="+mn-ea"/>
                        </a:rPr>
                        <a:t>Canadian Tire</a:t>
                      </a:r>
                      <a:r>
                        <a:rPr lang="ja-JP" altLang="en-US" dirty="0">
                          <a:latin typeface="+mn-ea"/>
                          <a:ea typeface="+mn-ea"/>
                        </a:rPr>
                        <a:t>’</a:t>
                      </a:r>
                      <a:r>
                        <a:rPr lang="en-US" altLang="ja-JP" dirty="0">
                          <a:latin typeface="+mn-ea"/>
                          <a:ea typeface="+mn-ea"/>
                        </a:rPr>
                        <a:t>s Purchase of Party City (PC)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286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mn-ea"/>
                          <a:ea typeface="+mn-ea"/>
                        </a:rPr>
                        <a:t>All in million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28600">
                <a:tc>
                  <a:txBody>
                    <a:bodyPr/>
                    <a:lstStyle/>
                    <a:p>
                      <a:r>
                        <a:rPr lang="en-US" altLang="en-US" dirty="0">
                          <a:latin typeface="+mn-ea"/>
                          <a:ea typeface="+mn-ea"/>
                        </a:rPr>
                        <a:t>PC</a:t>
                      </a:r>
                      <a:r>
                        <a:rPr lang="ja-JP" altLang="en-US" dirty="0">
                          <a:latin typeface="+mn-ea"/>
                          <a:ea typeface="+mn-ea"/>
                        </a:rPr>
                        <a:t>’</a:t>
                      </a:r>
                      <a:r>
                        <a:rPr lang="en-US" altLang="ja-JP" dirty="0">
                          <a:latin typeface="+mn-ea"/>
                          <a:ea typeface="+mn-ea"/>
                        </a:rPr>
                        <a:t>s assets at market value</a:t>
                      </a:r>
                      <a:endParaRPr lang="en-US"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ja-JP" dirty="0">
                          <a:latin typeface="+mn-ea"/>
                          <a:ea typeface="+mn-ea"/>
                        </a:rPr>
                        <a:t>$</a:t>
                      </a:r>
                      <a:r>
                        <a:rPr lang="en-US" altLang="ja-JP" baseline="0" dirty="0">
                          <a:latin typeface="+mn-ea"/>
                          <a:ea typeface="+mn-ea"/>
                        </a:rPr>
                        <a:t> 204</a:t>
                      </a:r>
                      <a:r>
                        <a:rPr lang="en-US" altLang="ja-JP" dirty="0">
                          <a:latin typeface="+mn-ea"/>
                          <a:ea typeface="+mn-ea"/>
                        </a:rPr>
                        <a:t>.5</a:t>
                      </a:r>
                      <a:endParaRPr lang="en-US"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8600">
                <a:tc>
                  <a:txBody>
                    <a:bodyPr/>
                    <a:lstStyle/>
                    <a:p>
                      <a:r>
                        <a:rPr lang="en-US" altLang="en-US" dirty="0">
                          <a:latin typeface="+mn-ea"/>
                          <a:ea typeface="+mn-ea"/>
                        </a:rPr>
                        <a:t>Less: PC</a:t>
                      </a:r>
                      <a:r>
                        <a:rPr lang="ja-JP" altLang="en-US" dirty="0">
                          <a:latin typeface="+mn-ea"/>
                          <a:ea typeface="+mn-ea"/>
                        </a:rPr>
                        <a:t>’</a:t>
                      </a:r>
                      <a:r>
                        <a:rPr lang="en-US" altLang="ja-JP" dirty="0">
                          <a:latin typeface="+mn-ea"/>
                          <a:ea typeface="+mn-ea"/>
                        </a:rPr>
                        <a:t>s liabilities</a:t>
                      </a:r>
                      <a:endParaRPr lang="en-US"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ja-JP" u="sng" dirty="0">
                          <a:latin typeface="+mn-ea"/>
                          <a:ea typeface="+mn-ea"/>
                        </a:rPr>
                        <a:t>     74.9</a:t>
                      </a:r>
                      <a:endParaRPr lang="en-US"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28600">
                <a:tc>
                  <a:txBody>
                    <a:bodyPr/>
                    <a:lstStyle/>
                    <a:p>
                      <a:r>
                        <a:rPr lang="en-US" altLang="en-US" dirty="0">
                          <a:latin typeface="+mn-ea"/>
                          <a:ea typeface="+mn-ea"/>
                        </a:rPr>
                        <a:t>Market value of PCs net assets</a:t>
                      </a:r>
                      <a:endParaRPr lang="en-US"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u="dbl" baseline="0" dirty="0">
                          <a:latin typeface="+mn-ea"/>
                          <a:ea typeface="+mn-ea"/>
                        </a:rPr>
                        <a:t> $ 129.6</a:t>
                      </a:r>
                      <a:endParaRPr lang="en-US" u="dbl" baseline="0"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28600">
                <a:tc>
                  <a:txBody>
                    <a:bodyPr/>
                    <a:lstStyle/>
                    <a:p>
                      <a:r>
                        <a:rPr lang="en-US" altLang="en-US" dirty="0">
                          <a:latin typeface="+mn-ea"/>
                          <a:ea typeface="+mn-ea"/>
                        </a:rPr>
                        <a:t>Purchase price paid for PC</a:t>
                      </a:r>
                      <a:endParaRPr lang="en-US"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r>
                        <a:rPr lang="en-US" altLang="en-US" dirty="0">
                          <a:latin typeface="+mn-ea"/>
                          <a:ea typeface="+mn-ea"/>
                        </a:rPr>
                        <a:t>$ 178.0</a:t>
                      </a:r>
                      <a:endParaRPr lang="en-US"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28600">
                <a:tc>
                  <a:txBody>
                    <a:bodyPr/>
                    <a:lstStyle/>
                    <a:p>
                      <a:endParaRPr lang="en-US"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endParaRPr lang="en-US"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28600">
                <a:tc>
                  <a:txBody>
                    <a:bodyPr/>
                    <a:lstStyle/>
                    <a:p>
                      <a:r>
                        <a:rPr lang="en-US" altLang="en-US" dirty="0">
                          <a:latin typeface="+mn-ea"/>
                          <a:ea typeface="+mn-ea"/>
                        </a:rPr>
                        <a:t>Goodwill	 ($178.0 </a:t>
                      </a:r>
                      <a:r>
                        <a:rPr lang="en-US" altLang="en-US" dirty="0">
                          <a:latin typeface="+mn-ea"/>
                          <a:ea typeface="+mn-ea"/>
                          <a:cs typeface="Arial"/>
                        </a:rPr>
                        <a:t>−</a:t>
                      </a:r>
                      <a:r>
                        <a:rPr lang="en-US" altLang="en-US" dirty="0">
                          <a:latin typeface="+mn-ea"/>
                          <a:ea typeface="+mn-ea"/>
                        </a:rPr>
                        <a:t> $129.6)</a:t>
                      </a:r>
                      <a:endParaRPr lang="en-US" dirty="0">
                        <a:latin typeface="+mn-ea"/>
                        <a:ea typeface="+mn-ea"/>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dirty="0">
                          <a:latin typeface="+mn-ea"/>
                          <a:ea typeface="+mn-ea"/>
                        </a:rPr>
                        <a:t>$  48.4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119746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Asset Impairment</a:t>
            </a:r>
            <a:endParaRPr lang="en-US" dirty="0"/>
          </a:p>
        </p:txBody>
      </p:sp>
      <p:sp>
        <p:nvSpPr>
          <p:cNvPr id="3" name="Content Placeholder 2"/>
          <p:cNvSpPr>
            <a:spLocks noGrp="1"/>
          </p:cNvSpPr>
          <p:nvPr>
            <p:ph idx="1"/>
          </p:nvPr>
        </p:nvSpPr>
        <p:spPr/>
        <p:txBody>
          <a:bodyPr/>
          <a:lstStyle/>
          <a:p>
            <a:r>
              <a:rPr lang="en-US" altLang="en-US" dirty="0">
                <a:ea typeface="ＭＳ Ｐゴシック" pitchFamily="34" charset="-128"/>
              </a:rPr>
              <a:t>Both tangible and intangible assets must be tested yearly for impairment</a:t>
            </a:r>
          </a:p>
          <a:p>
            <a:r>
              <a:rPr lang="en-US" altLang="en-US" dirty="0">
                <a:ea typeface="ＭＳ Ｐゴシック" pitchFamily="34" charset="-128"/>
              </a:rPr>
              <a:t>Occurs when expected future cash flows are less than asset’s carrying amount</a:t>
            </a:r>
          </a:p>
          <a:p>
            <a:r>
              <a:rPr lang="en-US" altLang="en-US" dirty="0">
                <a:ea typeface="ＭＳ Ｐゴシック" pitchFamily="34" charset="-128"/>
              </a:rPr>
              <a:t>Carrying value adjusted to fair value</a:t>
            </a:r>
            <a:endParaRPr lang="en-US" dirty="0"/>
          </a:p>
        </p:txBody>
      </p:sp>
    </p:spTree>
    <p:extLst>
      <p:ext uri="{BB962C8B-B14F-4D97-AF65-F5344CB8AC3E}">
        <p14:creationId xmlns:p14="http://schemas.microsoft.com/office/powerpoint/2010/main" val="2265203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E1F18-C820-677E-5BA2-EC70D99464C8}"/>
              </a:ext>
            </a:extLst>
          </p:cNvPr>
          <p:cNvSpPr>
            <a:spLocks noGrp="1"/>
          </p:cNvSpPr>
          <p:nvPr>
            <p:ph type="title"/>
          </p:nvPr>
        </p:nvSpPr>
        <p:spPr/>
        <p:txBody>
          <a:bodyPr/>
          <a:lstStyle/>
          <a:p>
            <a:r>
              <a:rPr lang="en-US" dirty="0"/>
              <a:t>S6-11</a:t>
            </a:r>
          </a:p>
        </p:txBody>
      </p:sp>
      <p:sp>
        <p:nvSpPr>
          <p:cNvPr id="3" name="Content Placeholder 2">
            <a:extLst>
              <a:ext uri="{FF2B5EF4-FFF2-40B4-BE49-F238E27FC236}">
                <a16:creationId xmlns:a16="http://schemas.microsoft.com/office/drawing/2014/main" id="{0FECA17A-5031-92E2-ECBE-40C08C04036F}"/>
              </a:ext>
            </a:extLst>
          </p:cNvPr>
          <p:cNvSpPr>
            <a:spLocks noGrp="1"/>
          </p:cNvSpPr>
          <p:nvPr>
            <p:ph idx="1"/>
          </p:nvPr>
        </p:nvSpPr>
        <p:spPr/>
        <p:txBody>
          <a:bodyPr/>
          <a:lstStyle/>
          <a:p>
            <a:pPr marL="0" indent="0">
              <a:buNone/>
            </a:pPr>
            <a:r>
              <a:rPr lang="en-US" dirty="0"/>
              <a:t>Consider the purchase of a supplier by Canadian Tire.</a:t>
            </a:r>
          </a:p>
          <a:p>
            <a:pPr marL="0" indent="0">
              <a:buNone/>
            </a:pPr>
            <a:r>
              <a:rPr lang="en-US" dirty="0"/>
              <a:t>Suppose the fair value of the net assets on Feb 1, 2021 was $180.3 million </a:t>
            </a:r>
          </a:p>
          <a:p>
            <a:pPr marL="0" indent="0">
              <a:buNone/>
            </a:pPr>
            <a:r>
              <a:rPr lang="en-US" sz="2000" dirty="0"/>
              <a:t>Required:</a:t>
            </a:r>
          </a:p>
          <a:p>
            <a:pPr marL="457200" indent="-457200">
              <a:buFont typeface="+mj-lt"/>
              <a:buAutoNum type="arabicPeriod"/>
            </a:pPr>
            <a:r>
              <a:rPr lang="en-US" sz="2000" dirty="0"/>
              <a:t>What would the goodwill have been if Canadian Tire had paid $200 million?</a:t>
            </a:r>
          </a:p>
          <a:p>
            <a:pPr marL="457200" indent="-457200">
              <a:buFont typeface="+mj-lt"/>
              <a:buAutoNum type="arabicPeriod"/>
            </a:pPr>
            <a:r>
              <a:rPr lang="en-US" sz="2000" dirty="0"/>
              <a:t>Explain how Canadian Tire will have been </a:t>
            </a:r>
            <a:r>
              <a:rPr lang="en-US" sz="2000" dirty="0" err="1"/>
              <a:t>accouting</a:t>
            </a:r>
            <a:r>
              <a:rPr lang="en-US" sz="2000" dirty="0"/>
              <a:t> for this goodwill up to Feb 1, 2023.</a:t>
            </a:r>
          </a:p>
        </p:txBody>
      </p:sp>
    </p:spTree>
    <p:extLst>
      <p:ext uri="{BB962C8B-B14F-4D97-AF65-F5344CB8AC3E}">
        <p14:creationId xmlns:p14="http://schemas.microsoft.com/office/powerpoint/2010/main" val="1992395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Five</a:t>
            </a:r>
          </a:p>
        </p:txBody>
      </p:sp>
      <p:sp>
        <p:nvSpPr>
          <p:cNvPr id="3" name="Content Placeholder 2"/>
          <p:cNvSpPr>
            <a:spLocks noGrp="1"/>
          </p:cNvSpPr>
          <p:nvPr>
            <p:ph type="subTitle" idx="1"/>
          </p:nvPr>
        </p:nvSpPr>
        <p:spPr/>
        <p:txBody>
          <a:bodyPr/>
          <a:lstStyle/>
          <a:p>
            <a:r>
              <a:rPr lang="en-US" altLang="en-US" b="1" dirty="0">
                <a:ea typeface="ＭＳ Ｐゴシック" pitchFamily="34" charset="-128"/>
              </a:rPr>
              <a:t>Analyze </a:t>
            </a:r>
            <a:r>
              <a:rPr lang="en-US" altLang="en-US" dirty="0">
                <a:ea typeface="ＭＳ Ｐゴシック" pitchFamily="34" charset="-128"/>
              </a:rPr>
              <a:t>a company’s return on assets</a:t>
            </a:r>
            <a:endParaRPr lang="en-US" dirty="0"/>
          </a:p>
        </p:txBody>
      </p:sp>
    </p:spTree>
    <p:extLst>
      <p:ext uri="{BB962C8B-B14F-4D97-AF65-F5344CB8AC3E}">
        <p14:creationId xmlns:p14="http://schemas.microsoft.com/office/powerpoint/2010/main" val="2007458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ea typeface="ＭＳ Ｐゴシック" pitchFamily="34" charset="-128"/>
              </a:rPr>
              <a:t>Return on Assets (ROA)     </a:t>
            </a:r>
            <a:endParaRPr lang="en-US" sz="2000" dirty="0"/>
          </a:p>
        </p:txBody>
      </p:sp>
      <p:sp>
        <p:nvSpPr>
          <p:cNvPr id="8" name="Content Placeholder 2">
            <a:extLst>
              <a:ext uri="{FF2B5EF4-FFF2-40B4-BE49-F238E27FC236}">
                <a16:creationId xmlns:a16="http://schemas.microsoft.com/office/drawing/2014/main" id="{3D75728D-60B4-303A-2649-86634CC30908}"/>
              </a:ext>
            </a:extLst>
          </p:cNvPr>
          <p:cNvSpPr txBox="1">
            <a:spLocks/>
          </p:cNvSpPr>
          <p:nvPr/>
        </p:nvSpPr>
        <p:spPr>
          <a:xfrm>
            <a:off x="1066800" y="1786096"/>
            <a:ext cx="7086600" cy="1237305"/>
          </a:xfrm>
          <a:prstGeom prst="rect">
            <a:avLst/>
          </a:prstGeom>
          <a:ln>
            <a:noFill/>
          </a:ln>
        </p:spPr>
        <p:txBody>
          <a:bodyPr vert="horz" lIns="0" tIns="0" rIns="0" bIns="0" rtlCol="0" anchor="ctr">
            <a:noAutofit/>
          </a:bodyPr>
          <a:lstStyle>
            <a:lvl1pPr marL="256032" indent="-256032" algn="l" defTabSz="914400" rtl="0" eaLnBrk="1" latinLnBrk="0" hangingPunct="1">
              <a:spcBef>
                <a:spcPts val="1500"/>
              </a:spcBef>
              <a:buClr>
                <a:srgbClr val="007FA3"/>
              </a:buClr>
              <a:buSzPct val="100000"/>
              <a:buFont typeface="Arial" panose="020B0604020202020204" pitchFamily="34" charset="0"/>
              <a:buChar char="•"/>
              <a:defRPr sz="24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lgn="ctr">
              <a:buFont typeface="Arial" panose="020B0604020202020204" pitchFamily="34" charset="0"/>
              <a:buNone/>
            </a:pPr>
            <a:r>
              <a:rPr lang="en-US" sz="3200" dirty="0">
                <a:solidFill>
                  <a:schemeClr val="dk1"/>
                </a:solidFill>
              </a:rPr>
              <a:t>Net income </a:t>
            </a:r>
            <a:r>
              <a:rPr lang="en-US" sz="3200" baseline="30000" dirty="0">
                <a:solidFill>
                  <a:schemeClr val="dk1"/>
                </a:solidFill>
              </a:rPr>
              <a:t>1</a:t>
            </a:r>
          </a:p>
          <a:p>
            <a:pPr marL="0" indent="0" algn="ctr">
              <a:buFont typeface="Arial" panose="020B0604020202020204" pitchFamily="34" charset="0"/>
              <a:buNone/>
            </a:pPr>
            <a:r>
              <a:rPr lang="en-US" sz="3200" dirty="0">
                <a:solidFill>
                  <a:schemeClr val="dk1"/>
                </a:solidFill>
              </a:rPr>
              <a:t>Average total assets</a:t>
            </a:r>
            <a:endParaRPr lang="en-US" sz="3200" dirty="0"/>
          </a:p>
        </p:txBody>
      </p:sp>
      <p:cxnSp>
        <p:nvCxnSpPr>
          <p:cNvPr id="10" name="Straight Connector 9">
            <a:extLst>
              <a:ext uri="{FF2B5EF4-FFF2-40B4-BE49-F238E27FC236}">
                <a16:creationId xmlns:a16="http://schemas.microsoft.com/office/drawing/2014/main" id="{93D86EA5-5CFD-EB13-671B-3CE0FA0F9910}"/>
              </a:ext>
            </a:extLst>
          </p:cNvPr>
          <p:cNvCxnSpPr/>
          <p:nvPr/>
        </p:nvCxnSpPr>
        <p:spPr>
          <a:xfrm>
            <a:off x="2438400" y="2404748"/>
            <a:ext cx="41148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457200" y="1600200"/>
            <a:ext cx="8229600" cy="4724400"/>
          </a:xfrm>
          <a:ln>
            <a:noFill/>
          </a:ln>
        </p:spPr>
        <p:txBody>
          <a:bodyPr anchor="ctr"/>
          <a:lstStyle/>
          <a:p>
            <a:pPr marL="0" indent="0" algn="ctr">
              <a:buNone/>
            </a:pPr>
            <a:r>
              <a:rPr lang="en-US" b="1" dirty="0">
                <a:solidFill>
                  <a:schemeClr val="dk1"/>
                </a:solidFill>
              </a:rPr>
              <a:t>(Beginning total assets + Ending total assets)/2</a:t>
            </a:r>
            <a:endParaRPr lang="en-US" dirty="0"/>
          </a:p>
        </p:txBody>
      </p:sp>
      <p:cxnSp>
        <p:nvCxnSpPr>
          <p:cNvPr id="6" name="Straight Arrow Connector 5"/>
          <p:cNvCxnSpPr>
            <a:cxnSpLocks/>
          </p:cNvCxnSpPr>
          <p:nvPr/>
        </p:nvCxnSpPr>
        <p:spPr>
          <a:xfrm>
            <a:off x="4572000" y="3009900"/>
            <a:ext cx="0" cy="838200"/>
          </a:xfrm>
          <a:prstGeom prst="straightConnector1">
            <a:avLst/>
          </a:prstGeom>
          <a:ln w="412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457200" y="5338184"/>
            <a:ext cx="8610600" cy="800219"/>
          </a:xfrm>
          <a:prstGeom prst="rect">
            <a:avLst/>
          </a:prstGeom>
          <a:noFill/>
        </p:spPr>
        <p:txBody>
          <a:bodyPr wrap="square" rtlCol="0">
            <a:spAutoFit/>
          </a:bodyPr>
          <a:lstStyle/>
          <a:p>
            <a:endParaRPr lang="en-US" sz="1400" dirty="0"/>
          </a:p>
          <a:p>
            <a:r>
              <a:rPr lang="en-CA" sz="1600" baseline="30000" dirty="0"/>
              <a:t>1  </a:t>
            </a:r>
            <a:r>
              <a:rPr lang="en-CA" sz="1600" dirty="0"/>
              <a:t>For companies with a significant amount of debt, some analysts may add interest expense to net income</a:t>
            </a:r>
            <a:endParaRPr lang="en-US" sz="1600" dirty="0"/>
          </a:p>
        </p:txBody>
      </p:sp>
    </p:spTree>
    <p:extLst>
      <p:ext uri="{BB962C8B-B14F-4D97-AF65-F5344CB8AC3E}">
        <p14:creationId xmlns:p14="http://schemas.microsoft.com/office/powerpoint/2010/main" val="3691126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Six</a:t>
            </a:r>
          </a:p>
        </p:txBody>
      </p:sp>
      <p:sp>
        <p:nvSpPr>
          <p:cNvPr id="3" name="Content Placeholder 2"/>
          <p:cNvSpPr>
            <a:spLocks noGrp="1"/>
          </p:cNvSpPr>
          <p:nvPr>
            <p:ph type="subTitle" idx="1"/>
          </p:nvPr>
        </p:nvSpPr>
        <p:spPr/>
        <p:txBody>
          <a:bodyPr>
            <a:normAutofit lnSpcReduction="10000"/>
          </a:bodyPr>
          <a:lstStyle/>
          <a:p>
            <a:r>
              <a:rPr lang="en-US" altLang="en-US" b="1" dirty="0">
                <a:ea typeface="ＭＳ Ｐゴシック" pitchFamily="34" charset="-128"/>
              </a:rPr>
              <a:t>Analyze</a:t>
            </a:r>
            <a:r>
              <a:rPr lang="en-US" altLang="en-US" dirty="0">
                <a:ea typeface="ＭＳ Ｐゴシック" pitchFamily="34" charset="-128"/>
              </a:rPr>
              <a:t> the cash flow impact of long-lived asset transactions</a:t>
            </a:r>
            <a:endParaRPr lang="en-US" dirty="0"/>
          </a:p>
        </p:txBody>
      </p:sp>
    </p:spTree>
    <p:extLst>
      <p:ext uri="{BB962C8B-B14F-4D97-AF65-F5344CB8AC3E}">
        <p14:creationId xmlns:p14="http://schemas.microsoft.com/office/powerpoint/2010/main" val="1067682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a:ea typeface="ＭＳ Ｐゴシック" pitchFamily="34" charset="-128"/>
              </a:rPr>
              <a:t>Long-Lived Asset Transactions on the Cash Flow Statement</a:t>
            </a:r>
            <a:endParaRPr lang="en-US" dirty="0"/>
          </a:p>
        </p:txBody>
      </p:sp>
      <p:graphicFrame>
        <p:nvGraphicFramePr>
          <p:cNvPr id="4" name="Table 3"/>
          <p:cNvGraphicFramePr>
            <a:graphicFrameLocks noGrp="1"/>
          </p:cNvGraphicFramePr>
          <p:nvPr/>
        </p:nvGraphicFramePr>
        <p:xfrm>
          <a:off x="513257" y="2042637"/>
          <a:ext cx="8117487" cy="2224563"/>
        </p:xfrm>
        <a:graphic>
          <a:graphicData uri="http://schemas.openxmlformats.org/drawingml/2006/table">
            <a:tbl>
              <a:tblPr firstRow="1" bandRow="1">
                <a:tableStyleId>{2D5ABB26-0587-4C30-8999-92F81FD0307C}</a:tableStyleId>
              </a:tblPr>
              <a:tblGrid>
                <a:gridCol w="3370580">
                  <a:extLst>
                    <a:ext uri="{9D8B030D-6E8A-4147-A177-3AD203B41FA5}">
                      <a16:colId xmlns:a16="http://schemas.microsoft.com/office/drawing/2014/main" val="20000"/>
                    </a:ext>
                  </a:extLst>
                </a:gridCol>
                <a:gridCol w="1700389">
                  <a:extLst>
                    <a:ext uri="{9D8B030D-6E8A-4147-A177-3AD203B41FA5}">
                      <a16:colId xmlns:a16="http://schemas.microsoft.com/office/drawing/2014/main" val="20001"/>
                    </a:ext>
                  </a:extLst>
                </a:gridCol>
                <a:gridCol w="3046518">
                  <a:extLst>
                    <a:ext uri="{9D8B030D-6E8A-4147-A177-3AD203B41FA5}">
                      <a16:colId xmlns:a16="http://schemas.microsoft.com/office/drawing/2014/main" val="20002"/>
                    </a:ext>
                  </a:extLst>
                </a:gridCol>
              </a:tblGrid>
              <a:tr h="279835">
                <a:tc>
                  <a:txBody>
                    <a:bodyPr/>
                    <a:lstStyle/>
                    <a:p>
                      <a:r>
                        <a:rPr lang="en-US" sz="1800" b="1" dirty="0"/>
                        <a:t>Item</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1" dirty="0"/>
                        <a:t>Section</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1" dirty="0"/>
                        <a:t>Description</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98554">
                <a:tc>
                  <a:txBody>
                    <a:bodyPr/>
                    <a:lstStyle/>
                    <a:p>
                      <a:r>
                        <a:rPr lang="en-US" sz="1800" dirty="0"/>
                        <a:t>Depreciation</a:t>
                      </a:r>
                      <a:r>
                        <a:rPr lang="en-US" sz="1800" baseline="0" dirty="0"/>
                        <a:t> and </a:t>
                      </a:r>
                      <a:r>
                        <a:rPr lang="en-US" sz="1800" dirty="0"/>
                        <a:t>amortization</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Operating</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Added to</a:t>
                      </a:r>
                      <a:r>
                        <a:rPr lang="en-US" sz="1800" baseline="0" dirty="0"/>
                        <a:t> net income as a reconciling item</a:t>
                      </a:r>
                      <a:endParaRPr lang="en-US" sz="1800" dirty="0"/>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720133">
                <a:tc>
                  <a:txBody>
                    <a:bodyPr/>
                    <a:lstStyle/>
                    <a:p>
                      <a:r>
                        <a:rPr lang="en-US" sz="1800" dirty="0"/>
                        <a:t>Sales of</a:t>
                      </a:r>
                      <a:r>
                        <a:rPr lang="en-US" sz="1800" baseline="0" dirty="0"/>
                        <a:t> long-lived assets</a:t>
                      </a:r>
                      <a:endParaRPr lang="en-US" sz="1800" dirty="0"/>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Investing</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Cash proceeds from sales</a:t>
                      </a:r>
                      <a:r>
                        <a:rPr lang="en-US" sz="1800" baseline="0" dirty="0"/>
                        <a:t> of long-lived assets (inflow)</a:t>
                      </a:r>
                      <a:endParaRPr lang="en-US" sz="1800" dirty="0"/>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98554">
                <a:tc>
                  <a:txBody>
                    <a:bodyPr/>
                    <a:lstStyle/>
                    <a:p>
                      <a:r>
                        <a:rPr lang="en-US" sz="1800" dirty="0"/>
                        <a:t>Acquisition of long-lived assets</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Investing</a:t>
                      </a: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Cash purchases (</a:t>
                      </a:r>
                      <a:r>
                        <a:rPr lang="en-US" sz="1800" baseline="0" dirty="0"/>
                        <a:t>outflow)</a:t>
                      </a:r>
                      <a:endParaRPr lang="en-US" sz="1800" dirty="0"/>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5541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 Seven</a:t>
            </a:r>
          </a:p>
        </p:txBody>
      </p:sp>
      <p:sp>
        <p:nvSpPr>
          <p:cNvPr id="3" name="Content Placeholder 2"/>
          <p:cNvSpPr>
            <a:spLocks noGrp="1"/>
          </p:cNvSpPr>
          <p:nvPr>
            <p:ph type="subTitle" idx="1"/>
          </p:nvPr>
        </p:nvSpPr>
        <p:spPr/>
        <p:txBody>
          <a:bodyPr>
            <a:normAutofit lnSpcReduction="10000"/>
          </a:bodyPr>
          <a:lstStyle/>
          <a:p>
            <a:r>
              <a:rPr lang="en-US" altLang="en-US" b="1" dirty="0">
                <a:ea typeface="ＭＳ Ｐゴシック" pitchFamily="34" charset="-128"/>
              </a:rPr>
              <a:t>Calculate</a:t>
            </a:r>
            <a:r>
              <a:rPr lang="en-US" altLang="en-US" dirty="0">
                <a:ea typeface="ＭＳ Ｐゴシック" pitchFamily="34" charset="-128"/>
              </a:rPr>
              <a:t> depreciation expense using Excel functions</a:t>
            </a:r>
            <a:endParaRPr lang="en-US" dirty="0"/>
          </a:p>
        </p:txBody>
      </p:sp>
    </p:spTree>
    <p:extLst>
      <p:ext uri="{BB962C8B-B14F-4D97-AF65-F5344CB8AC3E}">
        <p14:creationId xmlns:p14="http://schemas.microsoft.com/office/powerpoint/2010/main" val="1442023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077200" cy="1097280"/>
          </a:xfrm>
        </p:spPr>
        <p:txBody>
          <a:bodyPr/>
          <a:lstStyle/>
          <a:p>
            <a:r>
              <a:rPr lang="en-CA" dirty="0"/>
              <a:t>Depreciation Expense Using Excel Functions </a:t>
            </a:r>
            <a:r>
              <a:rPr lang="en-US" altLang="en-US" sz="2000" b="0" dirty="0">
                <a:ea typeface="ＭＳ Ｐゴシック" pitchFamily="34" charset="-128"/>
              </a:rPr>
              <a:t>(1 of 2)</a:t>
            </a:r>
            <a:endParaRPr lang="en-CA" sz="2000" dirty="0"/>
          </a:p>
        </p:txBody>
      </p:sp>
      <p:sp>
        <p:nvSpPr>
          <p:cNvPr id="3" name="Content Placeholder 2"/>
          <p:cNvSpPr>
            <a:spLocks noGrp="1"/>
          </p:cNvSpPr>
          <p:nvPr>
            <p:ph idx="1"/>
          </p:nvPr>
        </p:nvSpPr>
        <p:spPr>
          <a:xfrm>
            <a:off x="457200" y="1600201"/>
            <a:ext cx="8229600" cy="1371599"/>
          </a:xfrm>
        </p:spPr>
        <p:txBody>
          <a:bodyPr/>
          <a:lstStyle/>
          <a:p>
            <a:pPr marL="0" indent="0">
              <a:buNone/>
            </a:pPr>
            <a:r>
              <a:rPr lang="en-CA" dirty="0"/>
              <a:t>A manger can use the SLN function in Excel to calculate straight-line depreciation expense for any or all of the years of an asset’s estimated life.</a:t>
            </a:r>
          </a:p>
        </p:txBody>
      </p:sp>
      <p:pic>
        <p:nvPicPr>
          <p:cNvPr id="9" name="Picture 8" descr="A depreciation schedule of a company using S L N function.">
            <a:extLst>
              <a:ext uri="{FF2B5EF4-FFF2-40B4-BE49-F238E27FC236}">
                <a16:creationId xmlns:a16="http://schemas.microsoft.com/office/drawing/2014/main" id="{AFE5842E-7F98-0F57-EDFA-F0A4604F4DE1}"/>
              </a:ext>
            </a:extLst>
          </p:cNvPr>
          <p:cNvPicPr>
            <a:picLocks noChangeAspect="1"/>
          </p:cNvPicPr>
          <p:nvPr/>
        </p:nvPicPr>
        <p:blipFill>
          <a:blip r:embed="rId3"/>
          <a:stretch>
            <a:fillRect/>
          </a:stretch>
        </p:blipFill>
        <p:spPr>
          <a:xfrm>
            <a:off x="2637988" y="3000375"/>
            <a:ext cx="3868023" cy="3129499"/>
          </a:xfrm>
          <a:prstGeom prst="rect">
            <a:avLst/>
          </a:prstGeom>
        </p:spPr>
      </p:pic>
    </p:spTree>
    <p:extLst>
      <p:ext uri="{BB962C8B-B14F-4D97-AF65-F5344CB8AC3E}">
        <p14:creationId xmlns:p14="http://schemas.microsoft.com/office/powerpoint/2010/main" val="2605682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077200" cy="1097280"/>
          </a:xfrm>
        </p:spPr>
        <p:txBody>
          <a:bodyPr/>
          <a:lstStyle/>
          <a:p>
            <a:r>
              <a:rPr lang="en-CA" dirty="0"/>
              <a:t>Depreciation Expense Using Excel Functions </a:t>
            </a:r>
            <a:r>
              <a:rPr lang="en-US" altLang="en-US" sz="2000" b="0" dirty="0">
                <a:ea typeface="ＭＳ Ｐゴシック" pitchFamily="34" charset="-128"/>
              </a:rPr>
              <a:t>(2 of 2)</a:t>
            </a:r>
            <a:endParaRPr lang="en-CA" sz="2000" dirty="0"/>
          </a:p>
        </p:txBody>
      </p:sp>
      <p:sp>
        <p:nvSpPr>
          <p:cNvPr id="3" name="Content Placeholder 2"/>
          <p:cNvSpPr>
            <a:spLocks noGrp="1"/>
          </p:cNvSpPr>
          <p:nvPr>
            <p:ph idx="1"/>
          </p:nvPr>
        </p:nvSpPr>
        <p:spPr>
          <a:xfrm>
            <a:off x="457200" y="1600201"/>
            <a:ext cx="8229600" cy="1600199"/>
          </a:xfrm>
        </p:spPr>
        <p:txBody>
          <a:bodyPr/>
          <a:lstStyle/>
          <a:p>
            <a:pPr marL="0" indent="0">
              <a:buNone/>
            </a:pPr>
            <a:r>
              <a:rPr lang="en-CA" dirty="0"/>
              <a:t>If the company uses the double-diminishing-balance method,  the manger would use the DDB function to calculate depreciation expense for any or all of the years of an asset’s estimated life.</a:t>
            </a:r>
            <a:endParaRPr lang="en-CA" sz="2000" dirty="0"/>
          </a:p>
        </p:txBody>
      </p:sp>
      <p:pic>
        <p:nvPicPr>
          <p:cNvPr id="8" name="Picture 7" descr="A depreciation schedule of a company using D D B function.">
            <a:extLst>
              <a:ext uri="{FF2B5EF4-FFF2-40B4-BE49-F238E27FC236}">
                <a16:creationId xmlns:a16="http://schemas.microsoft.com/office/drawing/2014/main" id="{20C75889-142B-6168-01B8-498D270A2A00}"/>
              </a:ext>
            </a:extLst>
          </p:cNvPr>
          <p:cNvPicPr>
            <a:picLocks noChangeAspect="1"/>
          </p:cNvPicPr>
          <p:nvPr/>
        </p:nvPicPr>
        <p:blipFill>
          <a:blip r:embed="rId3"/>
          <a:stretch>
            <a:fillRect/>
          </a:stretch>
        </p:blipFill>
        <p:spPr>
          <a:xfrm>
            <a:off x="2848299" y="3409949"/>
            <a:ext cx="3447402" cy="2639541"/>
          </a:xfrm>
          <a:prstGeom prst="rect">
            <a:avLst/>
          </a:prstGeom>
        </p:spPr>
      </p:pic>
    </p:spTree>
    <p:extLst>
      <p:ext uri="{BB962C8B-B14F-4D97-AF65-F5344CB8AC3E}">
        <p14:creationId xmlns:p14="http://schemas.microsoft.com/office/powerpoint/2010/main" val="4169002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a:t>End of Chapter Six</a:t>
            </a:r>
          </a:p>
        </p:txBody>
      </p:sp>
    </p:spTree>
    <p:extLst>
      <p:ext uri="{BB962C8B-B14F-4D97-AF65-F5344CB8AC3E}">
        <p14:creationId xmlns:p14="http://schemas.microsoft.com/office/powerpoint/2010/main" val="1861318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44ED5-82BA-440D-AA9D-94862EE8C8D5}"/>
              </a:ext>
            </a:extLst>
          </p:cNvPr>
          <p:cNvSpPr>
            <a:spLocks noGrp="1"/>
          </p:cNvSpPr>
          <p:nvPr>
            <p:ph type="title"/>
          </p:nvPr>
        </p:nvSpPr>
        <p:spPr>
          <a:xfrm>
            <a:off x="194915" y="434111"/>
            <a:ext cx="8400446" cy="564695"/>
          </a:xfrm>
        </p:spPr>
        <p:txBody>
          <a:bodyPr anchor="ctr">
            <a:normAutofit fontScale="90000"/>
          </a:bodyPr>
          <a:lstStyle/>
          <a:p>
            <a:r>
              <a:rPr lang="en-US" altLang="zh-CN" dirty="0"/>
              <a:t>Classroom Problem S6-1</a:t>
            </a:r>
            <a:endParaRPr lang="en-US" dirty="0"/>
          </a:p>
        </p:txBody>
      </p:sp>
      <p:pic>
        <p:nvPicPr>
          <p:cNvPr id="5" name="Content Placeholder 4">
            <a:extLst>
              <a:ext uri="{FF2B5EF4-FFF2-40B4-BE49-F238E27FC236}">
                <a16:creationId xmlns:a16="http://schemas.microsoft.com/office/drawing/2014/main" id="{C76430CD-B6C9-2809-F3B5-69EE54EFE34B}"/>
              </a:ext>
            </a:extLst>
          </p:cNvPr>
          <p:cNvPicPr>
            <a:picLocks noGrp="1" noChangeAspect="1"/>
          </p:cNvPicPr>
          <p:nvPr>
            <p:ph sz="half" idx="1"/>
          </p:nvPr>
        </p:nvPicPr>
        <p:blipFill>
          <a:blip r:embed="rId3"/>
          <a:stretch>
            <a:fillRect/>
          </a:stretch>
        </p:blipFill>
        <p:spPr>
          <a:xfrm>
            <a:off x="194915" y="942535"/>
            <a:ext cx="5541695" cy="5181484"/>
          </a:xfrm>
          <a:noFill/>
        </p:spPr>
      </p:pic>
      <p:sp>
        <p:nvSpPr>
          <p:cNvPr id="10" name="Content Placeholder 3">
            <a:extLst>
              <a:ext uri="{FF2B5EF4-FFF2-40B4-BE49-F238E27FC236}">
                <a16:creationId xmlns:a16="http://schemas.microsoft.com/office/drawing/2014/main" id="{65A46181-FDC9-6C91-C2E5-C9097B3DA620}"/>
              </a:ext>
            </a:extLst>
          </p:cNvPr>
          <p:cNvSpPr>
            <a:spLocks noGrp="1"/>
          </p:cNvSpPr>
          <p:nvPr>
            <p:ph sz="half" idx="2"/>
          </p:nvPr>
        </p:nvSpPr>
        <p:spPr>
          <a:xfrm>
            <a:off x="5788358" y="1092201"/>
            <a:ext cx="3160727" cy="5031818"/>
          </a:xfrm>
        </p:spPr>
        <p:txBody>
          <a:bodyPr>
            <a:normAutofit/>
          </a:bodyPr>
          <a:lstStyle/>
          <a:p>
            <a:pPr marL="0" indent="0">
              <a:buNone/>
            </a:pPr>
            <a:r>
              <a:rPr lang="en-US" sz="1800" dirty="0"/>
              <a:t>1. What is Riverside's largest category of assets? </a:t>
            </a:r>
          </a:p>
          <a:p>
            <a:pPr marL="0" indent="0">
              <a:buNone/>
            </a:pPr>
            <a:r>
              <a:rPr lang="en-US" sz="1800" dirty="0"/>
              <a:t>List all 2020 assets in the largest category and their amounts as reported by Riverside.</a:t>
            </a:r>
          </a:p>
          <a:p>
            <a:pPr marL="0" indent="0">
              <a:buNone/>
            </a:pPr>
            <a:r>
              <a:rPr lang="en-US" sz="1800" dirty="0"/>
              <a:t>2. What was Riverside's cost of property and equipment on May 31, 2020? </a:t>
            </a:r>
          </a:p>
          <a:p>
            <a:pPr marL="0" indent="0">
              <a:buNone/>
            </a:pPr>
            <a:r>
              <a:rPr lang="en-US" sz="1800" dirty="0"/>
              <a:t>What was the carrying amount of property and equipment on this date? </a:t>
            </a:r>
          </a:p>
          <a:p>
            <a:pPr marL="0" indent="0">
              <a:buNone/>
            </a:pPr>
            <a:r>
              <a:rPr lang="en-US" sz="1800" dirty="0"/>
              <a:t>Why is carrying amount less than cost?</a:t>
            </a:r>
          </a:p>
        </p:txBody>
      </p:sp>
    </p:spTree>
    <p:extLst>
      <p:ext uri="{BB962C8B-B14F-4D97-AF65-F5344CB8AC3E}">
        <p14:creationId xmlns:p14="http://schemas.microsoft.com/office/powerpoint/2010/main" val="3254239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ofWaterloo_WhiteBkgrd">
  <a:themeElements>
    <a:clrScheme name="Waterloo2016">
      <a:dk1>
        <a:sysClr val="windowText" lastClr="000000"/>
      </a:dk1>
      <a:lt1>
        <a:sysClr val="window" lastClr="FFFFFF"/>
      </a:lt1>
      <a:dk2>
        <a:srgbClr val="757575"/>
      </a:dk2>
      <a:lt2>
        <a:srgbClr val="D6D6D6"/>
      </a:lt2>
      <a:accent1>
        <a:srgbClr val="FFD54F"/>
      </a:accent1>
      <a:accent2>
        <a:srgbClr val="0C0C0C"/>
      </a:accent2>
      <a:accent3>
        <a:srgbClr val="AEAEAE"/>
      </a:accent3>
      <a:accent4>
        <a:srgbClr val="B71233"/>
      </a:accent4>
      <a:accent5>
        <a:srgbClr val="7F7F7F"/>
      </a:accent5>
      <a:accent6>
        <a:srgbClr val="0073CE"/>
      </a:accent6>
      <a:hlink>
        <a:srgbClr val="353535"/>
      </a:hlink>
      <a:folHlink>
        <a:srgbClr val="595959"/>
      </a:folHlink>
    </a:clrScheme>
    <a:fontScheme name="Impact + Georgia">
      <a:majorFont>
        <a:latin typeface="Impact"/>
        <a:ea typeface=""/>
        <a:cs typeface=""/>
      </a:majorFont>
      <a:minorFont>
        <a:latin typeface="Georg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AF Branded PP template" id="{79A68145-D4B9-4631-BEF4-7B0E61A80215}" vid="{A743BFCA-C575-4814-BD09-89D271A30E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3AE4299700E724EB4A3A9F30476384C" ma:contentTypeVersion="12" ma:contentTypeDescription="Create a new document." ma:contentTypeScope="" ma:versionID="65e170e0dbbae92946b14002ab1c17d9">
  <xsd:schema xmlns:xsd="http://www.w3.org/2001/XMLSchema" xmlns:xs="http://www.w3.org/2001/XMLSchema" xmlns:p="http://schemas.microsoft.com/office/2006/metadata/properties" xmlns:ns2="9a5288b5-dab3-4678-90e6-28176b4bed68" xmlns:ns3="baf01252-53fa-40dd-aec5-420f8d6c2b25" targetNamespace="http://schemas.microsoft.com/office/2006/metadata/properties" ma:root="true" ma:fieldsID="b84896b0ee1e3d4f230a2605d71c901a" ns2:_="" ns3:_="">
    <xsd:import namespace="9a5288b5-dab3-4678-90e6-28176b4bed68"/>
    <xsd:import namespace="baf01252-53fa-40dd-aec5-420f8d6c2b2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a5288b5-dab3-4678-90e6-28176b4bed6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af01252-53fa-40dd-aec5-420f8d6c2b2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C53BC54-77E2-46DB-97BE-8E2381514324}">
  <ds:schemaRefs>
    <ds:schemaRef ds:uri="http://schemas.microsoft.com/sharepoint/v3/contenttype/forms"/>
  </ds:schemaRefs>
</ds:datastoreItem>
</file>

<file path=customXml/itemProps2.xml><?xml version="1.0" encoding="utf-8"?>
<ds:datastoreItem xmlns:ds="http://schemas.openxmlformats.org/officeDocument/2006/customXml" ds:itemID="{347C08A3-8C0C-4780-AE19-8EFD012A61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a5288b5-dab3-4678-90e6-28176b4bed68"/>
    <ds:schemaRef ds:uri="baf01252-53fa-40dd-aec5-420f8d6c2b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4D800B5-A7C7-4A38-A875-53B18BAC9D5C}">
  <ds:schemaRefs>
    <ds:schemaRef ds:uri="http://schemas.microsoft.com/office/2006/documentManagement/types"/>
    <ds:schemaRef ds:uri="9a5288b5-dab3-4678-90e6-28176b4bed68"/>
    <ds:schemaRef ds:uri="http://purl.org/dc/dcmitype/"/>
    <ds:schemaRef ds:uri="http://schemas.microsoft.com/office/2006/metadata/properties"/>
    <ds:schemaRef ds:uri="http://www.w3.org/XML/1998/namespace"/>
    <ds:schemaRef ds:uri="http://purl.org/dc/elements/1.1/"/>
    <ds:schemaRef ds:uri="http://purl.org/dc/terms/"/>
    <ds:schemaRef ds:uri="http://schemas.microsoft.com/office/infopath/2007/PartnerControls"/>
    <ds:schemaRef ds:uri="http://schemas.openxmlformats.org/package/2006/metadata/core-properties"/>
    <ds:schemaRef ds:uri="baf01252-53fa-40dd-aec5-420f8d6c2b25"/>
  </ds:schemaRefs>
</ds:datastoreItem>
</file>

<file path=docMetadata/LabelInfo.xml><?xml version="1.0" encoding="utf-8"?>
<clbl:labelList xmlns:clbl="http://schemas.microsoft.com/office/2020/mipLabelMetadata">
  <clbl:label id="{723a5a87-f39a-4a22-9247-3fc240c01396}" enabled="0" method="" siteId="{723a5a87-f39a-4a22-9247-3fc240c01396}" removed="1"/>
</clbl:labelList>
</file>

<file path=docProps/app.xml><?xml version="1.0" encoding="utf-8"?>
<Properties xmlns="http://schemas.openxmlformats.org/officeDocument/2006/extended-properties" xmlns:vt="http://schemas.openxmlformats.org/officeDocument/2006/docPropsVTypes">
  <Template>SAF Branded PP template</Template>
  <TotalTime>768</TotalTime>
  <Words>7976</Words>
  <Application>Microsoft Macintosh PowerPoint</Application>
  <PresentationFormat>On-screen Show (4:3)</PresentationFormat>
  <Paragraphs>705</Paragraphs>
  <Slides>73</Slides>
  <Notes>70</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73</vt:i4>
      </vt:variant>
    </vt:vector>
  </HeadingPairs>
  <TitlesOfParts>
    <vt:vector size="87" baseType="lpstr">
      <vt:lpstr>ＭＳ Ｐゴシック</vt:lpstr>
      <vt:lpstr>Arial</vt:lpstr>
      <vt:lpstr>Berkeley-Book</vt:lpstr>
      <vt:lpstr>Berkeley-BookItalic</vt:lpstr>
      <vt:lpstr>BerkeleyPro-Book</vt:lpstr>
      <vt:lpstr>Calibri</vt:lpstr>
      <vt:lpstr>Georgia</vt:lpstr>
      <vt:lpstr>Impact</vt:lpstr>
      <vt:lpstr>Times New Roman</vt:lpstr>
      <vt:lpstr>Verdana</vt:lpstr>
      <vt:lpstr>Wingdings</vt:lpstr>
      <vt:lpstr>ZapfDingbats</vt:lpstr>
      <vt:lpstr>UofWaterloo_WhiteBkgrd</vt:lpstr>
      <vt:lpstr>Equation</vt:lpstr>
      <vt:lpstr>Chapter 6 Property, Plant, and Equipment, and Intangible Assets</vt:lpstr>
      <vt:lpstr>PowerPoint Presentation</vt:lpstr>
      <vt:lpstr>Learning Objective One</vt:lpstr>
      <vt:lpstr>Long-Lived Assets (1 of 2)</vt:lpstr>
      <vt:lpstr>Long-Lived Assets (2 of 2)</vt:lpstr>
      <vt:lpstr>Measuring the Cost of a PPE Asset</vt:lpstr>
      <vt:lpstr>Land (1 of 3)</vt:lpstr>
      <vt:lpstr>Land (2 of 3)</vt:lpstr>
      <vt:lpstr>Land (3 of 3)</vt:lpstr>
      <vt:lpstr>Buildings</vt:lpstr>
      <vt:lpstr>Equipment</vt:lpstr>
      <vt:lpstr>Land and Leasehold Improvements</vt:lpstr>
      <vt:lpstr>Lump-Sum (Basket) Purchases</vt:lpstr>
      <vt:lpstr>Capital Expenditures versus Expenses</vt:lpstr>
      <vt:lpstr>Leased Assets</vt:lpstr>
      <vt:lpstr>Learning Objective Two</vt:lpstr>
      <vt:lpstr>Depreciation</vt:lpstr>
      <vt:lpstr>Depreciation is NOT:</vt:lpstr>
      <vt:lpstr>Amounts Needed for Depreciation</vt:lpstr>
      <vt:lpstr>Depreciation Methods (1 of 2)</vt:lpstr>
      <vt:lpstr>With Depreciation:</vt:lpstr>
      <vt:lpstr>Straight-Line (SL)</vt:lpstr>
      <vt:lpstr>Units-of-Production (UOP)</vt:lpstr>
      <vt:lpstr>Double-Diminishing-Balance (DDB)</vt:lpstr>
      <vt:lpstr>Residual Value: DDB</vt:lpstr>
      <vt:lpstr>DDB differences from other methods</vt:lpstr>
      <vt:lpstr>Comparing Depreciation Methods (1 of 2)</vt:lpstr>
      <vt:lpstr>Depreciation Methods (2 of 2)</vt:lpstr>
      <vt:lpstr>Straight-Line Method</vt:lpstr>
      <vt:lpstr>Units-of-Production Method</vt:lpstr>
      <vt:lpstr>Diminishing-Balance Method</vt:lpstr>
      <vt:lpstr>Comparing Depreciation Methods (2 of 2) </vt:lpstr>
      <vt:lpstr>Depreciation Patterns</vt:lpstr>
      <vt:lpstr>Chapter 6 Example</vt:lpstr>
      <vt:lpstr>Learning Objective Three</vt:lpstr>
      <vt:lpstr>Depreciation for Partial Years (1 of 3)</vt:lpstr>
      <vt:lpstr>Depreciation for Partial Years (2 of 3)</vt:lpstr>
      <vt:lpstr>Depreciation for Partial Years (3 of 3)</vt:lpstr>
      <vt:lpstr>Changing Useful Life</vt:lpstr>
      <vt:lpstr>Changing the Useful Life of a Depreciable Asset (1 of 2)</vt:lpstr>
      <vt:lpstr>Changing the Useful Life of a Depreciable Asset (2 of 2)</vt:lpstr>
      <vt:lpstr>S6-8</vt:lpstr>
      <vt:lpstr>Fully Depreciated Assets</vt:lpstr>
      <vt:lpstr>Derecognition of PPE</vt:lpstr>
      <vt:lpstr>Disposing of Asset for No Proceeds</vt:lpstr>
      <vt:lpstr>Selling PPE</vt:lpstr>
      <vt:lpstr>Accounting for Disposal of Property, Plant and Equipment: Example</vt:lpstr>
      <vt:lpstr>T-Accounts for Analyzing PPE</vt:lpstr>
      <vt:lpstr>S6-9</vt:lpstr>
      <vt:lpstr>Special Issues in Accounting for Property,  Plant, and Equipment</vt:lpstr>
      <vt:lpstr>Depreciation for Tax Purposes</vt:lpstr>
      <vt:lpstr>Depreciating Significant Components</vt:lpstr>
      <vt:lpstr>Impairment</vt:lpstr>
      <vt:lpstr>Learning Objective Four</vt:lpstr>
      <vt:lpstr>Intangible Assets</vt:lpstr>
      <vt:lpstr>Accounting for Specific Intangibles</vt:lpstr>
      <vt:lpstr>Patents</vt:lpstr>
      <vt:lpstr>Copyrights</vt:lpstr>
      <vt:lpstr>Trademarks and Trade Names TM or ®</vt:lpstr>
      <vt:lpstr>Franchises and Licences</vt:lpstr>
      <vt:lpstr>Goodwill</vt:lpstr>
      <vt:lpstr>Intangible Assets: Goodwill Example</vt:lpstr>
      <vt:lpstr>Asset Impairment</vt:lpstr>
      <vt:lpstr>S6-11</vt:lpstr>
      <vt:lpstr>Learning Objective Five</vt:lpstr>
      <vt:lpstr>Return on Assets (ROA)     </vt:lpstr>
      <vt:lpstr>Learning Objective Six</vt:lpstr>
      <vt:lpstr>Long-Lived Asset Transactions on the Cash Flow Statement</vt:lpstr>
      <vt:lpstr>Learning Objective Seven</vt:lpstr>
      <vt:lpstr>Depreciation Expense Using Excel Functions (1 of 2)</vt:lpstr>
      <vt:lpstr>Depreciation Expense Using Excel Functions (2 of 2)</vt:lpstr>
      <vt:lpstr>End of Chapter Six</vt:lpstr>
      <vt:lpstr>Classroom Problem S6-1</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AFM 111 – Professional Pathways and Problem Solving</dc:title>
  <dc:creator>Tracy Hilpert</dc:creator>
  <cp:lastModifiedBy>Lynn Carty</cp:lastModifiedBy>
  <cp:revision>95</cp:revision>
  <cp:lastPrinted>2022-10-19T22:00:34Z</cp:lastPrinted>
  <dcterms:created xsi:type="dcterms:W3CDTF">2020-07-10T19:47:04Z</dcterms:created>
  <dcterms:modified xsi:type="dcterms:W3CDTF">2024-10-02T00:21:54Z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0x010100F3AE4299700E724EB4A3A9F30476384C</vt:lpwstr>
  </property>
</Properties>
</file>