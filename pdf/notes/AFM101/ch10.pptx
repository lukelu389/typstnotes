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1"/>
  </p:notesMasterIdLst>
  <p:sldIdLst>
    <p:sldId id="256" r:id="rId5"/>
    <p:sldId id="384" r:id="rId6"/>
    <p:sldId id="334" r:id="rId7"/>
    <p:sldId id="335" r:id="rId8"/>
    <p:sldId id="336" r:id="rId9"/>
    <p:sldId id="272" r:id="rId10"/>
    <p:sldId id="271" r:id="rId11"/>
    <p:sldId id="320" r:id="rId12"/>
    <p:sldId id="273" r:id="rId13"/>
    <p:sldId id="332" r:id="rId14"/>
    <p:sldId id="274" r:id="rId15"/>
    <p:sldId id="275" r:id="rId16"/>
    <p:sldId id="276" r:id="rId17"/>
    <p:sldId id="277" r:id="rId18"/>
    <p:sldId id="278" r:id="rId19"/>
    <p:sldId id="279" r:id="rId20"/>
    <p:sldId id="281" r:id="rId21"/>
    <p:sldId id="282" r:id="rId22"/>
    <p:sldId id="322" r:id="rId23"/>
    <p:sldId id="283" r:id="rId24"/>
    <p:sldId id="284" r:id="rId25"/>
    <p:sldId id="285" r:id="rId26"/>
    <p:sldId id="286" r:id="rId27"/>
    <p:sldId id="287" r:id="rId28"/>
    <p:sldId id="323" r:id="rId29"/>
    <p:sldId id="288" r:id="rId30"/>
    <p:sldId id="325" r:id="rId31"/>
    <p:sldId id="289" r:id="rId32"/>
    <p:sldId id="294" r:id="rId33"/>
    <p:sldId id="290" r:id="rId34"/>
    <p:sldId id="333" r:id="rId35"/>
    <p:sldId id="295" r:id="rId36"/>
    <p:sldId id="292" r:id="rId37"/>
    <p:sldId id="293" r:id="rId38"/>
    <p:sldId id="326" r:id="rId39"/>
    <p:sldId id="296" r:id="rId40"/>
    <p:sldId id="298" r:id="rId41"/>
    <p:sldId id="385" r:id="rId42"/>
    <p:sldId id="387" r:id="rId43"/>
    <p:sldId id="388" r:id="rId44"/>
    <p:sldId id="299" r:id="rId45"/>
    <p:sldId id="300" r:id="rId46"/>
    <p:sldId id="301" r:id="rId47"/>
    <p:sldId id="327" r:id="rId48"/>
    <p:sldId id="328" r:id="rId49"/>
    <p:sldId id="329" r:id="rId50"/>
    <p:sldId id="302" r:id="rId51"/>
    <p:sldId id="303" r:id="rId52"/>
    <p:sldId id="389" r:id="rId53"/>
    <p:sldId id="330" r:id="rId54"/>
    <p:sldId id="304" r:id="rId55"/>
    <p:sldId id="331" r:id="rId56"/>
    <p:sldId id="305" r:id="rId57"/>
    <p:sldId id="390" r:id="rId58"/>
    <p:sldId id="306" r:id="rId59"/>
    <p:sldId id="307"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C283E2-4748-AF88-9054-FDCE9A72D13F}" name="Yifei Kuang" initials="YK" userId="S::y5kuang@uwaterloo.ca::66e76ab5-c4d7-4e7a-b0a5-a162e65365c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AA"/>
    <a:srgbClr val="FFFFFF"/>
    <a:srgbClr val="E4B429"/>
    <a:srgbClr val="FFD54F"/>
    <a:srgbClr val="FFEA3D"/>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5309EF-5A30-6E4B-866F-D86F55A678FE}" v="22" dt="2024-11-18T22:41:29.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007" autoAdjust="0"/>
    <p:restoredTop sz="96081"/>
  </p:normalViewPr>
  <p:slideViewPr>
    <p:cSldViewPr snapToGrid="0">
      <p:cViewPr>
        <p:scale>
          <a:sx n="148" d="100"/>
          <a:sy n="148" d="100"/>
        </p:scale>
        <p:origin x="160" y="-920"/>
      </p:cViewPr>
      <p:guideLst>
        <p:guide orient="horz" pos="2160"/>
        <p:guide pos="2880"/>
      </p:guideLst>
    </p:cSldViewPr>
  </p:slideViewPr>
  <p:notesTextViewPr>
    <p:cViewPr>
      <p:scale>
        <a:sx n="1" d="1"/>
        <a:sy n="1" d="1"/>
      </p:scale>
      <p:origin x="0" y="0"/>
    </p:cViewPr>
  </p:notesTextViewPr>
  <p:sorterViewPr>
    <p:cViewPr>
      <p:scale>
        <a:sx n="105" d="100"/>
        <a:sy n="105"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E55309EF-5A30-6E4B-866F-D86F55A678FE}"/>
    <pc:docChg chg="undo custSel addSld delSld modSld sldOrd">
      <pc:chgData name="Lynn Carty" userId="22830c01-2f55-4e06-b79c-b355947cb1ea" providerId="ADAL" clId="{E55309EF-5A30-6E4B-866F-D86F55A678FE}" dt="2024-11-18T22:44:22.549" v="1319" actId="20578"/>
      <pc:docMkLst>
        <pc:docMk/>
      </pc:docMkLst>
      <pc:sldChg chg="modSp mod">
        <pc:chgData name="Lynn Carty" userId="22830c01-2f55-4e06-b79c-b355947cb1ea" providerId="ADAL" clId="{E55309EF-5A30-6E4B-866F-D86F55A678FE}" dt="2024-11-18T22:17:56.620" v="449" actId="122"/>
        <pc:sldMkLst>
          <pc:docMk/>
          <pc:sldMk cId="2929948063" sldId="279"/>
        </pc:sldMkLst>
        <pc:spChg chg="mod">
          <ac:chgData name="Lynn Carty" userId="22830c01-2f55-4e06-b79c-b355947cb1ea" providerId="ADAL" clId="{E55309EF-5A30-6E4B-866F-D86F55A678FE}" dt="2024-11-18T22:17:56.620" v="449" actId="122"/>
          <ac:spMkLst>
            <pc:docMk/>
            <pc:sldMk cId="2929948063" sldId="279"/>
            <ac:spMk id="3" creationId="{00000000-0000-0000-0000-000000000000}"/>
          </ac:spMkLst>
        </pc:spChg>
      </pc:sldChg>
      <pc:sldChg chg="addSp delSp modSp mod">
        <pc:chgData name="Lynn Carty" userId="22830c01-2f55-4e06-b79c-b355947cb1ea" providerId="ADAL" clId="{E55309EF-5A30-6E4B-866F-D86F55A678FE}" dt="2024-11-14T23:36:34.247" v="12" actId="14100"/>
        <pc:sldMkLst>
          <pc:docMk/>
          <pc:sldMk cId="2755364335" sldId="285"/>
        </pc:sldMkLst>
        <pc:spChg chg="mod">
          <ac:chgData name="Lynn Carty" userId="22830c01-2f55-4e06-b79c-b355947cb1ea" providerId="ADAL" clId="{E55309EF-5A30-6E4B-866F-D86F55A678FE}" dt="2024-11-14T23:35:57.202" v="8" actId="1076"/>
          <ac:spMkLst>
            <pc:docMk/>
            <pc:sldMk cId="2755364335" sldId="285"/>
            <ac:spMk id="3" creationId="{00000000-0000-0000-0000-000000000000}"/>
          </ac:spMkLst>
        </pc:spChg>
        <pc:spChg chg="mod">
          <ac:chgData name="Lynn Carty" userId="22830c01-2f55-4e06-b79c-b355947cb1ea" providerId="ADAL" clId="{E55309EF-5A30-6E4B-866F-D86F55A678FE}" dt="2024-11-14T23:35:49.440" v="7" actId="20577"/>
          <ac:spMkLst>
            <pc:docMk/>
            <pc:sldMk cId="2755364335" sldId="285"/>
            <ac:spMk id="4" creationId="{00000000-0000-0000-0000-000000000000}"/>
          </ac:spMkLst>
        </pc:spChg>
        <pc:graphicFrameChg chg="mod modGraphic">
          <ac:chgData name="Lynn Carty" userId="22830c01-2f55-4e06-b79c-b355947cb1ea" providerId="ADAL" clId="{E55309EF-5A30-6E4B-866F-D86F55A678FE}" dt="2024-11-14T23:36:34.247" v="12" actId="14100"/>
          <ac:graphicFrameMkLst>
            <pc:docMk/>
            <pc:sldMk cId="2755364335" sldId="285"/>
            <ac:graphicFrameMk id="5" creationId="{00000000-0000-0000-0000-000000000000}"/>
          </ac:graphicFrameMkLst>
        </pc:graphicFrameChg>
      </pc:sldChg>
      <pc:sldChg chg="addSp modSp">
        <pc:chgData name="Lynn Carty" userId="22830c01-2f55-4e06-b79c-b355947cb1ea" providerId="ADAL" clId="{E55309EF-5A30-6E4B-866F-D86F55A678FE}" dt="2024-11-18T22:39:14.042" v="1057"/>
        <pc:sldMkLst>
          <pc:docMk/>
          <pc:sldMk cId="461749141" sldId="307"/>
        </pc:sldMkLst>
        <pc:spChg chg="add mod">
          <ac:chgData name="Lynn Carty" userId="22830c01-2f55-4e06-b79c-b355947cb1ea" providerId="ADAL" clId="{E55309EF-5A30-6E4B-866F-D86F55A678FE}" dt="2024-11-18T22:39:14.042" v="1057"/>
          <ac:spMkLst>
            <pc:docMk/>
            <pc:sldMk cId="461749141" sldId="307"/>
            <ac:spMk id="2" creationId="{6B7D9657-4773-36CC-DCBC-1C69D2BFA8CB}"/>
          </ac:spMkLst>
        </pc:spChg>
      </pc:sldChg>
      <pc:sldChg chg="del">
        <pc:chgData name="Lynn Carty" userId="22830c01-2f55-4e06-b79c-b355947cb1ea" providerId="ADAL" clId="{E55309EF-5A30-6E4B-866F-D86F55A678FE}" dt="2024-11-17T18:40:12.973" v="13" actId="2696"/>
        <pc:sldMkLst>
          <pc:docMk/>
          <pc:sldMk cId="576673374" sldId="381"/>
        </pc:sldMkLst>
      </pc:sldChg>
      <pc:sldChg chg="addSp delSp modSp new mod">
        <pc:chgData name="Lynn Carty" userId="22830c01-2f55-4e06-b79c-b355947cb1ea" providerId="ADAL" clId="{E55309EF-5A30-6E4B-866F-D86F55A678FE}" dt="2024-11-17T19:55:12.269" v="259" actId="12"/>
        <pc:sldMkLst>
          <pc:docMk/>
          <pc:sldMk cId="2314835727" sldId="385"/>
        </pc:sldMkLst>
        <pc:spChg chg="mod">
          <ac:chgData name="Lynn Carty" userId="22830c01-2f55-4e06-b79c-b355947cb1ea" providerId="ADAL" clId="{E55309EF-5A30-6E4B-866F-D86F55A678FE}" dt="2024-11-17T19:48:19.144" v="33" actId="20577"/>
          <ac:spMkLst>
            <pc:docMk/>
            <pc:sldMk cId="2314835727" sldId="385"/>
            <ac:spMk id="2" creationId="{F9F86489-5B5B-BC00-68CD-44CC448824F3}"/>
          </ac:spMkLst>
        </pc:spChg>
        <pc:spChg chg="del">
          <ac:chgData name="Lynn Carty" userId="22830c01-2f55-4e06-b79c-b355947cb1ea" providerId="ADAL" clId="{E55309EF-5A30-6E4B-866F-D86F55A678FE}" dt="2024-11-17T19:49:18.969" v="34"/>
          <ac:spMkLst>
            <pc:docMk/>
            <pc:sldMk cId="2314835727" sldId="385"/>
            <ac:spMk id="3" creationId="{BDC91E0D-C0C0-C8C7-B477-29BB82A111C3}"/>
          </ac:spMkLst>
        </pc:spChg>
        <pc:spChg chg="add mod">
          <ac:chgData name="Lynn Carty" userId="22830c01-2f55-4e06-b79c-b355947cb1ea" providerId="ADAL" clId="{E55309EF-5A30-6E4B-866F-D86F55A678FE}" dt="2024-11-17T19:55:12.269" v="259" actId="12"/>
          <ac:spMkLst>
            <pc:docMk/>
            <pc:sldMk cId="2314835727" sldId="385"/>
            <ac:spMk id="6" creationId="{50F20F2F-84A0-5BBC-AC6D-58A1E3DDE19C}"/>
          </ac:spMkLst>
        </pc:spChg>
        <pc:picChg chg="add mod">
          <ac:chgData name="Lynn Carty" userId="22830c01-2f55-4e06-b79c-b355947cb1ea" providerId="ADAL" clId="{E55309EF-5A30-6E4B-866F-D86F55A678FE}" dt="2024-11-17T19:49:29.696" v="39" actId="1076"/>
          <ac:picMkLst>
            <pc:docMk/>
            <pc:sldMk cId="2314835727" sldId="385"/>
            <ac:picMk id="5" creationId="{36E257D4-EA34-159B-98F4-43F7AA095618}"/>
          </ac:picMkLst>
        </pc:picChg>
      </pc:sldChg>
      <pc:sldChg chg="new del">
        <pc:chgData name="Lynn Carty" userId="22830c01-2f55-4e06-b79c-b355947cb1ea" providerId="ADAL" clId="{E55309EF-5A30-6E4B-866F-D86F55A678FE}" dt="2024-11-18T22:19:33.609" v="452" actId="2696"/>
        <pc:sldMkLst>
          <pc:docMk/>
          <pc:sldMk cId="485748228" sldId="386"/>
        </pc:sldMkLst>
      </pc:sldChg>
      <pc:sldChg chg="addSp delSp modSp add mod modClrScheme chgLayout">
        <pc:chgData name="Lynn Carty" userId="22830c01-2f55-4e06-b79c-b355947cb1ea" providerId="ADAL" clId="{E55309EF-5A30-6E4B-866F-D86F55A678FE}" dt="2024-11-18T22:27:04.048" v="504" actId="1076"/>
        <pc:sldMkLst>
          <pc:docMk/>
          <pc:sldMk cId="1498491621" sldId="387"/>
        </pc:sldMkLst>
        <pc:spChg chg="mod">
          <ac:chgData name="Lynn Carty" userId="22830c01-2f55-4e06-b79c-b355947cb1ea" providerId="ADAL" clId="{E55309EF-5A30-6E4B-866F-D86F55A678FE}" dt="2024-11-18T22:22:14.407" v="477" actId="26606"/>
          <ac:spMkLst>
            <pc:docMk/>
            <pc:sldMk cId="1498491621" sldId="387"/>
            <ac:spMk id="2" creationId="{5DB6EA66-38A6-6FF3-BEF6-5DF4186E9728}"/>
          </ac:spMkLst>
        </pc:spChg>
        <pc:spChg chg="add del mod">
          <ac:chgData name="Lynn Carty" userId="22830c01-2f55-4e06-b79c-b355947cb1ea" providerId="ADAL" clId="{E55309EF-5A30-6E4B-866F-D86F55A678FE}" dt="2024-11-18T22:21:44.816" v="470" actId="34307"/>
          <ac:spMkLst>
            <pc:docMk/>
            <pc:sldMk cId="1498491621" sldId="387"/>
            <ac:spMk id="4" creationId="{584C62B0-5463-33A4-3B2C-DE1D1B50D698}"/>
          </ac:spMkLst>
        </pc:spChg>
        <pc:spChg chg="del mod">
          <ac:chgData name="Lynn Carty" userId="22830c01-2f55-4e06-b79c-b355947cb1ea" providerId="ADAL" clId="{E55309EF-5A30-6E4B-866F-D86F55A678FE}" dt="2024-11-18T22:23:09.147" v="479" actId="478"/>
          <ac:spMkLst>
            <pc:docMk/>
            <pc:sldMk cId="1498491621" sldId="387"/>
            <ac:spMk id="6" creationId="{1C353BAF-07E1-B70E-DEB3-AD0007C8D35C}"/>
          </ac:spMkLst>
        </pc:spChg>
        <pc:spChg chg="add del mod">
          <ac:chgData name="Lynn Carty" userId="22830c01-2f55-4e06-b79c-b355947cb1ea" providerId="ADAL" clId="{E55309EF-5A30-6E4B-866F-D86F55A678FE}" dt="2024-11-18T22:22:06.796" v="474"/>
          <ac:spMkLst>
            <pc:docMk/>
            <pc:sldMk cId="1498491621" sldId="387"/>
            <ac:spMk id="11" creationId="{F301F297-D1C8-D922-B6D0-1594FA0E9E23}"/>
          </ac:spMkLst>
        </pc:spChg>
        <pc:spChg chg="add del mod">
          <ac:chgData name="Lynn Carty" userId="22830c01-2f55-4e06-b79c-b355947cb1ea" providerId="ADAL" clId="{E55309EF-5A30-6E4B-866F-D86F55A678FE}" dt="2024-11-18T22:23:28.535" v="483" actId="478"/>
          <ac:spMkLst>
            <pc:docMk/>
            <pc:sldMk cId="1498491621" sldId="387"/>
            <ac:spMk id="15" creationId="{D8A80AC3-3463-707A-9E67-1474BB77ADCA}"/>
          </ac:spMkLst>
        </pc:spChg>
        <pc:spChg chg="add del mod">
          <ac:chgData name="Lynn Carty" userId="22830c01-2f55-4e06-b79c-b355947cb1ea" providerId="ADAL" clId="{E55309EF-5A30-6E4B-866F-D86F55A678FE}" dt="2024-11-18T22:26:08.162" v="493"/>
          <ac:spMkLst>
            <pc:docMk/>
            <pc:sldMk cId="1498491621" sldId="387"/>
            <ac:spMk id="16" creationId="{95F0B5E6-AE54-F2BF-546B-C6D0EE9D9A42}"/>
          </ac:spMkLst>
        </pc:spChg>
        <pc:picChg chg="del">
          <ac:chgData name="Lynn Carty" userId="22830c01-2f55-4e06-b79c-b355947cb1ea" providerId="ADAL" clId="{E55309EF-5A30-6E4B-866F-D86F55A678FE}" dt="2024-11-18T22:19:53.996" v="460" actId="478"/>
          <ac:picMkLst>
            <pc:docMk/>
            <pc:sldMk cId="1498491621" sldId="387"/>
            <ac:picMk id="5" creationId="{E0A3A9A3-3F9D-F0C2-63AF-9F34356117C0}"/>
          </ac:picMkLst>
        </pc:picChg>
        <pc:picChg chg="add mod">
          <ac:chgData name="Lynn Carty" userId="22830c01-2f55-4e06-b79c-b355947cb1ea" providerId="ADAL" clId="{E55309EF-5A30-6E4B-866F-D86F55A678FE}" dt="2024-11-18T22:21:43.342" v="469"/>
          <ac:picMkLst>
            <pc:docMk/>
            <pc:sldMk cId="1498491621" sldId="387"/>
            <ac:picMk id="8" creationId="{D34059D7-E485-3854-0F5C-00B9F754E8CE}"/>
          </ac:picMkLst>
        </pc:picChg>
        <pc:picChg chg="add del mod ord">
          <ac:chgData name="Lynn Carty" userId="22830c01-2f55-4e06-b79c-b355947cb1ea" providerId="ADAL" clId="{E55309EF-5A30-6E4B-866F-D86F55A678FE}" dt="2024-11-18T22:21:50.190" v="471" actId="478"/>
          <ac:picMkLst>
            <pc:docMk/>
            <pc:sldMk cId="1498491621" sldId="387"/>
            <ac:picMk id="9" creationId="{6B935E04-2A33-C8D8-FC08-154791F9D3AB}"/>
          </ac:picMkLst>
        </pc:picChg>
        <pc:picChg chg="add del mod">
          <ac:chgData name="Lynn Carty" userId="22830c01-2f55-4e06-b79c-b355947cb1ea" providerId="ADAL" clId="{E55309EF-5A30-6E4B-866F-D86F55A678FE}" dt="2024-11-18T22:23:25.660" v="482" actId="478"/>
          <ac:picMkLst>
            <pc:docMk/>
            <pc:sldMk cId="1498491621" sldId="387"/>
            <ac:picMk id="13" creationId="{0A030AB0-A6CE-30D1-20B8-E6DC2E67C697}"/>
          </ac:picMkLst>
        </pc:picChg>
        <pc:picChg chg="add del mod">
          <ac:chgData name="Lynn Carty" userId="22830c01-2f55-4e06-b79c-b355947cb1ea" providerId="ADAL" clId="{E55309EF-5A30-6E4B-866F-D86F55A678FE}" dt="2024-11-18T22:26:07.913" v="491" actId="478"/>
          <ac:picMkLst>
            <pc:docMk/>
            <pc:sldMk cId="1498491621" sldId="387"/>
            <ac:picMk id="18" creationId="{26B11A50-A6F9-DC43-4E89-A88B242FC367}"/>
          </ac:picMkLst>
        </pc:picChg>
        <pc:picChg chg="add del mod">
          <ac:chgData name="Lynn Carty" userId="22830c01-2f55-4e06-b79c-b355947cb1ea" providerId="ADAL" clId="{E55309EF-5A30-6E4B-866F-D86F55A678FE}" dt="2024-11-18T22:26:35.532" v="497" actId="478"/>
          <ac:picMkLst>
            <pc:docMk/>
            <pc:sldMk cId="1498491621" sldId="387"/>
            <ac:picMk id="20" creationId="{C27D9CDB-4D04-0ADC-5B0A-BB3CF93FA150}"/>
          </ac:picMkLst>
        </pc:picChg>
        <pc:picChg chg="add mod">
          <ac:chgData name="Lynn Carty" userId="22830c01-2f55-4e06-b79c-b355947cb1ea" providerId="ADAL" clId="{E55309EF-5A30-6E4B-866F-D86F55A678FE}" dt="2024-11-18T22:27:04.048" v="504" actId="1076"/>
          <ac:picMkLst>
            <pc:docMk/>
            <pc:sldMk cId="1498491621" sldId="387"/>
            <ac:picMk id="22" creationId="{924C20E4-F6F8-EFDA-E3EE-DE06A908640E}"/>
          </ac:picMkLst>
        </pc:picChg>
      </pc:sldChg>
      <pc:sldChg chg="add del">
        <pc:chgData name="Lynn Carty" userId="22830c01-2f55-4e06-b79c-b355947cb1ea" providerId="ADAL" clId="{E55309EF-5A30-6E4B-866F-D86F55A678FE}" dt="2024-11-18T22:22:00.441" v="473"/>
        <pc:sldMkLst>
          <pc:docMk/>
          <pc:sldMk cId="972374363" sldId="388"/>
        </pc:sldMkLst>
      </pc:sldChg>
      <pc:sldChg chg="addSp modSp add mod">
        <pc:chgData name="Lynn Carty" userId="22830c01-2f55-4e06-b79c-b355947cb1ea" providerId="ADAL" clId="{E55309EF-5A30-6E4B-866F-D86F55A678FE}" dt="2024-11-18T22:30:56.337" v="720" actId="255"/>
        <pc:sldMkLst>
          <pc:docMk/>
          <pc:sldMk cId="3950174317" sldId="388"/>
        </pc:sldMkLst>
        <pc:spChg chg="add mod">
          <ac:chgData name="Lynn Carty" userId="22830c01-2f55-4e06-b79c-b355947cb1ea" providerId="ADAL" clId="{E55309EF-5A30-6E4B-866F-D86F55A678FE}" dt="2024-11-18T22:30:56.337" v="720" actId="255"/>
          <ac:spMkLst>
            <pc:docMk/>
            <pc:sldMk cId="3950174317" sldId="388"/>
            <ac:spMk id="5" creationId="{6AA3F2CA-2C28-70F7-55A5-8AFF62435306}"/>
          </ac:spMkLst>
        </pc:spChg>
        <pc:picChg chg="add mod">
          <ac:chgData name="Lynn Carty" userId="22830c01-2f55-4e06-b79c-b355947cb1ea" providerId="ADAL" clId="{E55309EF-5A30-6E4B-866F-D86F55A678FE}" dt="2024-11-18T22:30:25.581" v="699" actId="1076"/>
          <ac:picMkLst>
            <pc:docMk/>
            <pc:sldMk cId="3950174317" sldId="388"/>
            <ac:picMk id="4" creationId="{0E79094E-0F1D-70FD-59BF-7E5E1ECB1F8D}"/>
          </ac:picMkLst>
        </pc:picChg>
        <pc:picChg chg="mod">
          <ac:chgData name="Lynn Carty" userId="22830c01-2f55-4e06-b79c-b355947cb1ea" providerId="ADAL" clId="{E55309EF-5A30-6E4B-866F-D86F55A678FE}" dt="2024-11-18T22:27:38.915" v="511" actId="14100"/>
          <ac:picMkLst>
            <pc:docMk/>
            <pc:sldMk cId="3950174317" sldId="388"/>
            <ac:picMk id="13" creationId="{D5BA252E-5995-84A6-811D-8D1323C5D200}"/>
          </ac:picMkLst>
        </pc:picChg>
      </pc:sldChg>
      <pc:sldChg chg="addSp delSp modSp add mod">
        <pc:chgData name="Lynn Carty" userId="22830c01-2f55-4e06-b79c-b355947cb1ea" providerId="ADAL" clId="{E55309EF-5A30-6E4B-866F-D86F55A678FE}" dt="2024-11-18T22:37:39.348" v="1056" actId="1076"/>
        <pc:sldMkLst>
          <pc:docMk/>
          <pc:sldMk cId="4103138179" sldId="389"/>
        </pc:sldMkLst>
        <pc:spChg chg="mod">
          <ac:chgData name="Lynn Carty" userId="22830c01-2f55-4e06-b79c-b355947cb1ea" providerId="ADAL" clId="{E55309EF-5A30-6E4B-866F-D86F55A678FE}" dt="2024-11-18T22:32:29.764" v="725" actId="20577"/>
          <ac:spMkLst>
            <pc:docMk/>
            <pc:sldMk cId="4103138179" sldId="389"/>
            <ac:spMk id="2" creationId="{D900DB19-E008-ED08-78A0-1C5C0587B6E5}"/>
          </ac:spMkLst>
        </pc:spChg>
        <pc:spChg chg="add del mod">
          <ac:chgData name="Lynn Carty" userId="22830c01-2f55-4e06-b79c-b355947cb1ea" providerId="ADAL" clId="{E55309EF-5A30-6E4B-866F-D86F55A678FE}" dt="2024-11-18T22:33:22.064" v="729" actId="478"/>
          <ac:spMkLst>
            <pc:docMk/>
            <pc:sldMk cId="4103138179" sldId="389"/>
            <ac:spMk id="4" creationId="{D8502D97-6E81-4F81-EC5B-9FA09EE22180}"/>
          </ac:spMkLst>
        </pc:spChg>
        <pc:spChg chg="mod">
          <ac:chgData name="Lynn Carty" userId="22830c01-2f55-4e06-b79c-b355947cb1ea" providerId="ADAL" clId="{E55309EF-5A30-6E4B-866F-D86F55A678FE}" dt="2024-11-18T22:37:39.348" v="1056" actId="1076"/>
          <ac:spMkLst>
            <pc:docMk/>
            <pc:sldMk cId="4103138179" sldId="389"/>
            <ac:spMk id="6" creationId="{EEC1D6D5-D05E-0DA4-4734-C05ECCCD9970}"/>
          </ac:spMkLst>
        </pc:spChg>
        <pc:picChg chg="del">
          <ac:chgData name="Lynn Carty" userId="22830c01-2f55-4e06-b79c-b355947cb1ea" providerId="ADAL" clId="{E55309EF-5A30-6E4B-866F-D86F55A678FE}" dt="2024-11-18T22:32:31.667" v="726" actId="478"/>
          <ac:picMkLst>
            <pc:docMk/>
            <pc:sldMk cId="4103138179" sldId="389"/>
            <ac:picMk id="5" creationId="{31A87FF4-8D3C-8264-9A72-96F28E72C215}"/>
          </ac:picMkLst>
        </pc:picChg>
        <pc:picChg chg="add del mod">
          <ac:chgData name="Lynn Carty" userId="22830c01-2f55-4e06-b79c-b355947cb1ea" providerId="ADAL" clId="{E55309EF-5A30-6E4B-866F-D86F55A678FE}" dt="2024-11-18T22:33:32.390" v="733" actId="478"/>
          <ac:picMkLst>
            <pc:docMk/>
            <pc:sldMk cId="4103138179" sldId="389"/>
            <ac:picMk id="8" creationId="{2A7EDAFE-F83A-7FC9-40AD-B8998F61C0CC}"/>
          </ac:picMkLst>
        </pc:picChg>
        <pc:picChg chg="add del mod">
          <ac:chgData name="Lynn Carty" userId="22830c01-2f55-4e06-b79c-b355947cb1ea" providerId="ADAL" clId="{E55309EF-5A30-6E4B-866F-D86F55A678FE}" dt="2024-11-18T22:33:38.712" v="735" actId="478"/>
          <ac:picMkLst>
            <pc:docMk/>
            <pc:sldMk cId="4103138179" sldId="389"/>
            <ac:picMk id="10" creationId="{203734B3-90A4-FA0E-F6B5-2C802B418486}"/>
          </ac:picMkLst>
        </pc:picChg>
        <pc:picChg chg="add mod">
          <ac:chgData name="Lynn Carty" userId="22830c01-2f55-4e06-b79c-b355947cb1ea" providerId="ADAL" clId="{E55309EF-5A30-6E4B-866F-D86F55A678FE}" dt="2024-11-18T22:37:33.215" v="1055" actId="1076"/>
          <ac:picMkLst>
            <pc:docMk/>
            <pc:sldMk cId="4103138179" sldId="389"/>
            <ac:picMk id="12" creationId="{5649372B-3D40-62C5-ACE4-2E896816B077}"/>
          </ac:picMkLst>
        </pc:picChg>
      </pc:sldChg>
      <pc:sldChg chg="addSp delSp modSp add mod ord">
        <pc:chgData name="Lynn Carty" userId="22830c01-2f55-4e06-b79c-b355947cb1ea" providerId="ADAL" clId="{E55309EF-5A30-6E4B-866F-D86F55A678FE}" dt="2024-11-18T22:44:22.549" v="1319" actId="20578"/>
        <pc:sldMkLst>
          <pc:docMk/>
          <pc:sldMk cId="3258047445" sldId="390"/>
        </pc:sldMkLst>
        <pc:spChg chg="mod">
          <ac:chgData name="Lynn Carty" userId="22830c01-2f55-4e06-b79c-b355947cb1ea" providerId="ADAL" clId="{E55309EF-5A30-6E4B-866F-D86F55A678FE}" dt="2024-11-18T22:40:55.727" v="1064" actId="20577"/>
          <ac:spMkLst>
            <pc:docMk/>
            <pc:sldMk cId="3258047445" sldId="390"/>
            <ac:spMk id="2" creationId="{DC154326-577C-EE0F-33EA-E3C0677777E9}"/>
          </ac:spMkLst>
        </pc:spChg>
        <pc:spChg chg="mod">
          <ac:chgData name="Lynn Carty" userId="22830c01-2f55-4e06-b79c-b355947cb1ea" providerId="ADAL" clId="{E55309EF-5A30-6E4B-866F-D86F55A678FE}" dt="2024-11-18T22:43:48.345" v="1318" actId="1076"/>
          <ac:spMkLst>
            <pc:docMk/>
            <pc:sldMk cId="3258047445" sldId="390"/>
            <ac:spMk id="6" creationId="{E42109E4-118F-C902-8055-F62BAAA957D5}"/>
          </ac:spMkLst>
        </pc:spChg>
        <pc:picChg chg="add mod">
          <ac:chgData name="Lynn Carty" userId="22830c01-2f55-4e06-b79c-b355947cb1ea" providerId="ADAL" clId="{E55309EF-5A30-6E4B-866F-D86F55A678FE}" dt="2024-11-18T22:43:21.013" v="1310" actId="1076"/>
          <ac:picMkLst>
            <pc:docMk/>
            <pc:sldMk cId="3258047445" sldId="390"/>
            <ac:picMk id="4" creationId="{9CA5581E-B448-07A5-A71F-E3CBAA244CBD}"/>
          </ac:picMkLst>
        </pc:picChg>
        <pc:picChg chg="del">
          <ac:chgData name="Lynn Carty" userId="22830c01-2f55-4e06-b79c-b355947cb1ea" providerId="ADAL" clId="{E55309EF-5A30-6E4B-866F-D86F55A678FE}" dt="2024-11-18T22:40:59.593" v="1065" actId="478"/>
          <ac:picMkLst>
            <pc:docMk/>
            <pc:sldMk cId="3258047445" sldId="390"/>
            <ac:picMk id="12" creationId="{0B9E91C1-BE78-382F-5E11-3A2800BCD6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11/25/25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1815579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first learning objective is to perform an industry and company analysis.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2563406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Given the sales and net earnings data for Empire Company Ltd., how would you predict Empire’s sales and net earnings for 2022 and beyond? Based on the recent past, you would probably extend the sales</a:t>
            </a:r>
            <a:r>
              <a:rPr lang="en-CA" baseline="0" dirty="0"/>
              <a:t> and the net earnings lines upward.</a:t>
            </a:r>
            <a:endParaRPr lang="en-CA"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626779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Given the sales and net earnings data for Empire Company Ltd., how would you predict Empire’s sales and net earnings for 2022 and beyond? Based on the recent past, you would probably extend the sales</a:t>
            </a:r>
            <a:r>
              <a:rPr lang="en-CA" baseline="0" dirty="0"/>
              <a:t> and the net earnings lines upward.</a:t>
            </a:r>
            <a:endParaRPr lang="en-CA" dirty="0"/>
          </a:p>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186273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second learning objective is to perform a horizontal analysis.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197478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Investors and creditors cannot evaluate a company by examining only one year’s data. This is why most financial statements are comparative, that is, they cover at least two periods. Many decisions hinge on the trend of revenues, expenses, income from operations, and so on. Have revenues increased from last year? By how much? Suppose net sales have increased by $50,000. Considered alone, this fact is not very helpful, but knowing the long-term percentage change in net sales helps a lot. It’s better to know that net sales have increased by 20% than to know that the increase is $50,000. It’s even better to know that percentage increases in net sales for the past several years have been rising year over year.</a:t>
            </a:r>
          </a:p>
          <a:p>
            <a:r>
              <a:rPr lang="en-US" altLang="en-US" dirty="0">
                <a:ea typeface="ＭＳ Ｐゴシック" pitchFamily="34" charset="-128"/>
              </a:rPr>
              <a:t>The study of percentage changes from year to year is called horizontal analysis. Computing a percentage change takes two steps:</a:t>
            </a:r>
          </a:p>
          <a:p>
            <a:r>
              <a:rPr lang="en-US" altLang="en-US" dirty="0">
                <a:ea typeface="ＭＳ Ｐゴシック" pitchFamily="34" charset="-128"/>
              </a:rPr>
              <a:t>1. Compute the dollar amount of the change from one period (the base period) to the next.</a:t>
            </a:r>
          </a:p>
          <a:p>
            <a:r>
              <a:rPr lang="en-US" altLang="en-US" dirty="0">
                <a:ea typeface="ＭＳ Ｐゴシック" pitchFamily="34" charset="-128"/>
              </a:rPr>
              <a:t>2. Divide the dollar amount of change by the base-period amount.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127416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study of percentage changes from year to year is called horizontal analysis. Computing a percentage change requires two steps: 1. Compute the dollar amount of the change from one period (the base period) to the next. 2. Divide the dollar amount of change by the base-period amount.</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065206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093800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Trend percentages are a form of horizontal analysis. Trends indicate the direction a business is taking. How have revenues changed over a five-year period? What trend does net income show? These questions can be answered by trend percentages over a representative period, such as the most recent five years. Trend percentages are computed by selecting a base year whose amounts are set equal to 100%. The amount for each following year is stated as a percentage of the base amount. To compute a trend percentage, divide an item for a later year by the base-year amount. You can perform a trend analysis on any item you consider important.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2367635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ea typeface="ＭＳ Ｐゴシック" pitchFamily="34" charset="-128"/>
              </a:rPr>
              <a:t>In this example, 2019 is the base year. The sales from that year, $25,142 is divided by $25,142 to give one, or 100%. For 2020, the sales of $26,588 is divided by $25,142 to give 1.06 or 106%. The same is done for 2021 to give 1.12 or 112%.</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821451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third learning objective is to perform a vertical analysis.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145566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Vertical analysis shows the relationship of a financial-statement item to its base, which is the 100% figure. All items on the particular financial statement are reported as a percentage of the base. For the income statement, total revenue (sales) is usually the base. For the balance sheet, total assets is the base.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864823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fourth learning objective is to prepare common-size financial statements.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95281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Financial statements can be modified to report only vertical analysis percentages (no dollar amounts). Such financial statements are called common-size statements. In order to perform vertical analysis, you must first convert the financial statements to common-size format. On a common-size income statement, each item is expressed as a percentage of the revenue amount. Total revenue is therefore the common size. In the balance sheet, the common size is total assets. A common-size financial statement aids the comparison of different companies because all amounts are stated in percentages, thus expressing the financial results of each comparative company in terms of a common denominator.  Comparing the dollar amounts of companies of different size will always result in </a:t>
            </a:r>
            <a:r>
              <a:rPr lang="en-US" altLang="en-US" dirty="0" err="1">
                <a:ea typeface="ＭＳ Ｐゴシック" pitchFamily="34" charset="-128"/>
              </a:rPr>
              <a:t>favouring</a:t>
            </a:r>
            <a:r>
              <a:rPr lang="en-US" altLang="en-US" dirty="0">
                <a:ea typeface="ＭＳ Ｐゴシック" pitchFamily="34" charset="-128"/>
              </a:rPr>
              <a:t> the larger company, but comparing the same companies using percentages can equalize the companies to determine operating efficiency with their respective resources.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2242708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Benchmarking compares a company to some standard set by others. The goal of benchmarking is improvement.  Besides a key competitor, companies also often compare themselves to their industry as a whole to see their position among all the companies doing the same type of business</a:t>
            </a:r>
            <a:r>
              <a:rPr lang="en-US" altLang="en-US" dirty="0">
                <a:solidFill>
                  <a:srgbClr val="FF0000"/>
                </a:solidFill>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783838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The fifth learning objective is to use ratios to make business decisions.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432574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mn-ea"/>
              </a:rPr>
              <a:t>Ratios are a major tool of financial analysis. A ratio expresses the relationship </a:t>
            </a:r>
            <a:r>
              <a:rPr lang="en-IN" dirty="0">
                <a:ea typeface="+mn-ea"/>
              </a:rPr>
              <a:t>between various types of financial information</a:t>
            </a:r>
            <a:r>
              <a:rPr lang="en-US" dirty="0">
                <a:ea typeface="+mn-ea"/>
              </a:rPr>
              <a:t>. Many companies include ratios in a special section of their annual reports. The ratios we discuss in this chapter are classified as follows:</a:t>
            </a:r>
          </a:p>
          <a:p>
            <a:pPr marL="228600" indent="-228600">
              <a:buFontTx/>
              <a:buAutoNum type="arabicPeriod"/>
              <a:defRPr/>
            </a:pPr>
            <a:r>
              <a:rPr lang="en-IN" dirty="0">
                <a:ea typeface="+mn-ea"/>
              </a:rPr>
              <a:t>Measuring ability to pay current liabilities</a:t>
            </a:r>
          </a:p>
          <a:p>
            <a:pPr marL="228600" indent="-228600">
              <a:buFontTx/>
              <a:buAutoNum type="arabicPeriod"/>
              <a:defRPr/>
            </a:pPr>
            <a:r>
              <a:rPr lang="en-US" dirty="0">
                <a:ea typeface="+mn-ea"/>
              </a:rPr>
              <a:t>Measuring turnover and cash conversion</a:t>
            </a:r>
          </a:p>
          <a:p>
            <a:pPr marL="228600" indent="-228600">
              <a:buFontTx/>
              <a:buAutoNum type="arabicPeriod"/>
              <a:defRPr/>
            </a:pPr>
            <a:r>
              <a:rPr lang="en-IN" dirty="0">
                <a:ea typeface="+mn-ea"/>
              </a:rPr>
              <a:t>Measuring leverage: overall ability to pay debts</a:t>
            </a:r>
          </a:p>
          <a:p>
            <a:pPr marL="228600" indent="-228600">
              <a:buFontTx/>
              <a:buAutoNum type="arabicPeriod"/>
              <a:defRPr/>
            </a:pPr>
            <a:r>
              <a:rPr lang="en-IN" dirty="0">
                <a:ea typeface="+mn-ea"/>
              </a:rPr>
              <a:t>Measuring profitability</a:t>
            </a:r>
          </a:p>
          <a:p>
            <a:pPr marL="228600" indent="-228600">
              <a:buFontTx/>
              <a:buAutoNum type="arabicPeriod"/>
              <a:defRPr/>
            </a:pPr>
            <a:r>
              <a:rPr lang="en-US" dirty="0">
                <a:ea typeface="+mn-ea"/>
              </a:rPr>
              <a:t>Analyzing</a:t>
            </a:r>
            <a:r>
              <a:rPr lang="en-IN" dirty="0">
                <a:ea typeface="+mn-ea"/>
              </a:rPr>
              <a:t> shares as an investment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052559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en-US" dirty="0">
                <a:ea typeface="ＭＳ Ｐゴシック" pitchFamily="34" charset="-128"/>
              </a:rPr>
              <a:t>Three figures help determine a company’s ability  to pay current liabilities</a:t>
            </a:r>
            <a:r>
              <a:rPr lang="en-US" altLang="en-US" dirty="0">
                <a:ea typeface="ＭＳ Ｐゴシック" pitchFamily="34" charset="-128"/>
                <a:cs typeface="Arial" charset="0"/>
              </a:rPr>
              <a:t>—</a:t>
            </a:r>
            <a:r>
              <a:rPr lang="en-US" altLang="en-US" dirty="0">
                <a:ea typeface="ＭＳ Ｐゴシック" pitchFamily="34" charset="-128"/>
              </a:rPr>
              <a:t>working capital, current ratio, and acid-test ratio.</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Working capital measures the ability to pay current liabilities with current assets. In general, the larger the working capital, the better the ability to pay debts. Recall that capital is total assets minus total liabilities. Working capital is like a “current” version of total capital.</a:t>
            </a:r>
          </a:p>
          <a:p>
            <a:r>
              <a:rPr lang="en-US" altLang="en-US" dirty="0">
                <a:ea typeface="ＭＳ Ｐゴシック" pitchFamily="34" charset="-128"/>
              </a:rPr>
              <a:t>The most common ratio evaluating current assets and current liabilities is the current ratio, which is current assets divided by current liabilities. The current ratio measures the ability to pay current liabilities with current assets. In general, a higher current ratio indicates a stronger financial position. What is an acceptable current ratio? The answer depends on the industry. The norm for companies in most industries is around 1.50, as reported by the Risk Management Association.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389121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acid-test (or quick) ratio tells us whether the entity could pass the acid test of paying all its current liabilities if they came due immediately. The acid-test ratio uses a narrower base to measure liquidity than the current ratio does. To compute the acid-test ratio, we add cash, short-term investments, and net current receivables (accounts and notes receivable, net of allowances) and divide by current liabilities. Inventory and prepaid expenses are excluded because they are less liquid. A business may be unable to convert inventory to cash immediately.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272857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Use Apple Inc.’s balance sheet to calculate working capital, the current ratio and the quick ratio.</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108268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2784456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a:t>Apple’s working capital as of September 26, 2020 (the end of its 2020 fiscal year), was $38,321 million. This compares with $57,101 million at the end of its 2019 fiscal year. Why the dramatic change in working capital? The company’s reduction in working capital reflects its strategic decision to return cash to its shareholders in 2020.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48302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Apple’s current ratio decreased during 2020, from 1.54 to 1.36, for the same reason that its working capital decreased: use of excess cash to pay dividends and repurchase shares from shareholders.</a:t>
            </a:r>
            <a:endParaRPr lang="en-US" alt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48302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ea typeface="ＭＳ Ｐゴシック" pitchFamily="34" charset="-128"/>
              </a:rPr>
              <a:t>Like the current ratio, the company’s quick ratio declined during 2020. However, because of Apple’s ability to generate cash quickly, a low quick ratio doesn’t spell liquidity problems.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023424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en-US" dirty="0">
                <a:ea typeface="ＭＳ Ｐゴシック" pitchFamily="34" charset="-128"/>
              </a:rPr>
              <a:t>The ability to sell inventory and collect receivables, as well as pay accounts payable, is the lifeblood of any retail, wholesale, or manufacturing concern. In this section, we discuss three ratios that  measure this ability—inventory turnover, accounts receivable turnover, and accounts payable turnover— as well as the relationship between them, called the cash conversion cycle </a:t>
            </a:r>
            <a:r>
              <a:rPr lang="en-US" altLang="en-US" i="1" dirty="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Companies generally strive to sell their inventory as quickly as possible. The faster inventory sells, the sooner cash comes in. Inventory turnover, measures the number of times a company sells its average level of inventory during a year. A fast turnover indicates ease in selling inventory; a low turnover indicates difficulty. A value of 6 means that  the company’s average level of inventory has been sold 6 times during the year, and that’s usually better than a turnover of 3 times. A low inventory turnover can indicate either slow sales or too much inventory on hand.  But too high a value can mean that the business is not keeping enough inventory on hand, which can lead to lost sales if the company can’t fill orders. Therefore, a business strives for the most profitable rate of turnover, not necessarily the highest rate.</a:t>
            </a:r>
          </a:p>
          <a:p>
            <a:r>
              <a:rPr lang="en-US" altLang="en-US" dirty="0">
                <a:ea typeface="ＭＳ Ｐゴシック" pitchFamily="34" charset="-128"/>
              </a:rPr>
              <a:t>To compute inventory turnover, divide cost of goods sold by the average inventory for the period. We use the cost of goods sold—not sales—in the computation because both cost of goods sold and inventory are stated at cost.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467380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A fast turnover indicates ease in selling inventory; a low turnover indicates difficulty. A value of 6 means that the company’s average level of inventory has been sold six times during the year, and that’s usually better than a turnover of three times. But too high a value can mean that the business is not keeping enough inventory on hand, which can lead to lost sales if the company can’t fill orders. Therefore, a business strives for the most profitable rate of turnover, not necessarily the highest rate. </a:t>
            </a:r>
          </a:p>
          <a:p>
            <a:endParaRPr lang="en-US" dirty="0">
              <a:ea typeface="ＭＳ Ｐゴシック" pitchFamily="34" charset="-128"/>
            </a:endParaRPr>
          </a:p>
          <a:p>
            <a:r>
              <a:rPr lang="en-CA" dirty="0"/>
              <a:t>Apple’s inventory turned over 41.5 times in 2020. On a daily basis (days’ inventory outstanding), that means once every 8.8 or 9 days (365/41.5)!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604052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Accounts receivable turnover measures the ability to collect cash from customers. In general, the higher the ratio, the better. A low ratio could indicate credit policies that are too loose, extending credit to customers who don’t have the ability to pay, or could also indicate lax collection practices, not following up on outstanding receivables to promote collection.  However, a receivable turnover that is too high may indicate that credit is too tight, and that may cause you to lose sales to good customers. To compute accounts receivable turnover, divide net sales by average net accounts receivable. The ratio tells how many times during the year average receivables were turned into cash. To convert accounts receivable turnover to days’ sales outstanding (DSO), divide 365 by accounts receivable turnover.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0040266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Net sales comes from the Income Statement. Average net accounts receivable is figured by adding beginning and ending receivables then dividing by 2. If accounts receivable vary widely during the year, compute the average by using the 12 monthly balances. </a:t>
            </a:r>
            <a:r>
              <a:rPr lang="en-CA" dirty="0"/>
              <a:t> Apple collected its average accounts receivable 14.1 times during 2020. It’s competitor’s accounts receivable turnover was 6.5. Apple owns and operates a large number of retail stores, and much of its sales are for cash, which makes the receivables balance very low relative to the sales balance. </a:t>
            </a:r>
            <a:endParaRPr lang="en-US" dirty="0"/>
          </a:p>
          <a:p>
            <a:endParaRPr lang="en-US" alt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82125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Businesses must convert accounts receivable to cash. All else being equal, the lower the receivable balance, the better the cash flow.</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pitchFamily="34" charset="-128"/>
            </a:endParaRPr>
          </a:p>
          <a:p>
            <a:pPr>
              <a:defRPr/>
            </a:pPr>
            <a:r>
              <a:rPr lang="en-CA" dirty="0"/>
              <a:t>The days’ sales outstanding (DSO) or days’ sales in receivables ratio, shows how many days’ sales remain in accounts receivable. First, if you have already calculated receivables turnover, simply divide the turnover into 365. For Apple, days’ sales in receivables works out to 26 days (365/14.1).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8597403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Accounts payable turnover measures the number of times per year that the entity pays off its accounts payable. To compute accounts payable turnover, divide cost of goods sold by average accounts payable. To convert accounts payable turnover to days’ payable outstanding (DPO), divide 365 by payables turnover.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254426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By expressing the three turnover ratios in days, we can compute a company’s cash conversion cycle as shown.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5515162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en-US" dirty="0">
                <a:ea typeface="ＭＳ Ｐゴシック" pitchFamily="34" charset="-128"/>
              </a:rPr>
              <a:t>These two ratios can measure a company’s ability to pay debts.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debt ratio tells us the proportion of assets financed with debt. A debt ratio of 1 reveals that debt has financed all the assets. A debt ratio of 0.50 means that debt finances half the assets. The higher the debt ratio, the greater the pressure to pay interest and principal. The lower the ratio, the lower the risk</a:t>
            </a:r>
            <a:r>
              <a:rPr lang="en-US" altLang="en-US" dirty="0">
                <a:solidFill>
                  <a:srgbClr val="FF0000"/>
                </a:solidFill>
                <a:ea typeface="ＭＳ Ｐゴシック" pitchFamily="34" charset="-128"/>
              </a:rPr>
              <a:t> </a:t>
            </a:r>
            <a:r>
              <a:rPr lang="en-US" altLang="en-US" dirty="0">
                <a:ea typeface="ＭＳ Ｐゴシック" pitchFamily="34" charset="-128"/>
              </a:rPr>
              <a:t>to shareholders.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11961479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Analysts use a second ratio—the times-interest-earned ratio —to relate income to interest expense. To compute the times-interest-earned ratio, divide income from operations (operating income) by interest expense. This ratio measures the number of times operating income can cover interest expense and is also called the interest-coverage ratio. A high ratio indicates ease in paying interest; a low value suggests difficulty.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42634654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39</a:t>
            </a:fld>
            <a:endParaRPr lang="en-US"/>
          </a:p>
        </p:txBody>
      </p:sp>
    </p:spTree>
    <p:extLst>
      <p:ext uri="{BB962C8B-B14F-4D97-AF65-F5344CB8AC3E}">
        <p14:creationId xmlns:p14="http://schemas.microsoft.com/office/powerpoint/2010/main" val="31865615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fundamental goal of business is to earn a profit, and so the ratios that measure profitability are reported widely and listed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022192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Gross profit is net sales minus cost of goods sold. That is, gross profit is the amount of profit that the entity makes from merely selling a product before other operating costs are subtracted. Operating income (profit) percentage is net income from operations as a percentage of net sales. It is an important statistic, because it measures the percentage of profit earned from each sales dollar in a company’s core business operations. The first component of high operating earnings is a high gross profit percentage. After that, maximizing operating income depends on keeping operating costs as low as possible, given the level of desired product quality and customer service.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16178479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In</a:t>
            </a:r>
            <a:r>
              <a:rPr lang="en-US" altLang="en-US" dirty="0">
                <a:solidFill>
                  <a:srgbClr val="FF0000"/>
                </a:solidFill>
                <a:ea typeface="ＭＳ Ｐゴシック" pitchFamily="34" charset="-128"/>
              </a:rPr>
              <a:t> </a:t>
            </a:r>
            <a:r>
              <a:rPr lang="en-US" altLang="en-US" dirty="0">
                <a:ea typeface="ＭＳ Ｐゴシック" pitchFamily="34" charset="-128"/>
              </a:rPr>
              <a:t>business, return refers to profitability. Consider the rate of return on net sales, or simply return on sales (ROS). (The word net is usually omitted for convenience.) This ratio shows the percentage of each sales dollar earned as net income. Companies strive for a high rate of return on sales. The higher the percentage, the more profit is being generated by sales dollars.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13404647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Asset turnover measures the amount of net sales generated for each dollar invested in assets. As such, it is a measure of how efficiently management is operating the company. Companies with high asset turnover tend to be more productive than companies with low asset turnover.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13404647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CA" dirty="0"/>
              <a:t>Return on assets (ROA) measures how much the entity earned for each dollar of assets invested by both shareholders and creditors. Companies with high ROA have both selected assets and managed them more successfully than companies with low ROA.</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13404647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Leverage measures the impact of debt financing on profitability.  It can be advantageous to use borrowed capital to finance a business. Earlier, we expressed the debt ratio as the ratio of total liabilities to total assets. The leverage ratio, or equity multiplier, measures the proportion of each dollar of assets financed with shareholders’ equity. Since total assets – shareholders’ equity = total liabilities, the leverage ratio is a way of inversely expressing the debt ratio—it merely looks at financing from the other side of the fundamental accounting equation.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1340464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ea typeface="ＭＳ Ｐゴシック" pitchFamily="34" charset="-128"/>
              </a:rPr>
              <a:t>A popular measure of profitability is rate of return on common shareholders’ equity, often shortened to return on equity (ROE). This ratio shows the relationship between net income and common shareholders’ investment in the company—how much income is earned for every $1 invested.</a:t>
            </a:r>
          </a:p>
          <a:p>
            <a:r>
              <a:rPr lang="en-US" altLang="en-US" dirty="0">
                <a:ea typeface="ＭＳ Ｐゴシック" pitchFamily="34" charset="-128"/>
              </a:rPr>
              <a:t>To compute this ratio, first subtract preferred dividends from net income to measure income available to the common shareholders. Then divide income available to common shareholders by average common equity during the year. Common equity is total equity minus preferred equity.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811864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Earnings per common share, or simply earnings per share (EPS), is the amount of net income earned for each common share outstanding. EPS is the most widely quoted of all financial statistics. It’s the only ratio that appears on the income statement. Earnings per share is computed by dividing net income available to common shareholders by the average number of common shares outstanding during the year. Preferred dividends are subtracted from net income because the preferred shareholders have a prior claim to their dividends.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7063280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spcBef>
                <a:spcPct val="0"/>
              </a:spcBef>
            </a:pPr>
            <a:r>
              <a:rPr lang="en-US" altLang="en-US" dirty="0">
                <a:ea typeface="ＭＳ Ｐゴシック" pitchFamily="34" charset="-128"/>
              </a:rPr>
              <a:t>Investors buy shares to earn a return on their investment. This return consists </a:t>
            </a:r>
          </a:p>
          <a:p>
            <a:pPr marL="228600" indent="-228600">
              <a:spcBef>
                <a:spcPct val="0"/>
              </a:spcBef>
            </a:pPr>
            <a:r>
              <a:rPr lang="en-US" altLang="en-US" dirty="0">
                <a:ea typeface="ＭＳ Ｐゴシック" pitchFamily="34" charset="-128"/>
              </a:rPr>
              <a:t>of two parts: </a:t>
            </a:r>
          </a:p>
          <a:p>
            <a:pPr marL="228600" indent="-228600">
              <a:buFontTx/>
              <a:buAutoNum type="arabicParenBoth"/>
            </a:pPr>
            <a:r>
              <a:rPr lang="en-US" altLang="en-US" dirty="0">
                <a:ea typeface="ＭＳ Ｐゴシック" pitchFamily="34" charset="-128"/>
              </a:rPr>
              <a:t>gains (or losses) from selling the shares.</a:t>
            </a:r>
          </a:p>
          <a:p>
            <a:pPr marL="228600" indent="-228600">
              <a:buFontTx/>
              <a:buAutoNum type="arabicParenBoth"/>
            </a:pPr>
            <a:r>
              <a:rPr lang="en-US" altLang="en-US" dirty="0">
                <a:ea typeface="ＭＳ Ｐゴシック" pitchFamily="34" charset="-128"/>
              </a:rPr>
              <a:t>dividends.</a:t>
            </a:r>
          </a:p>
          <a:p>
            <a:pPr marL="228600" indent="-228600"/>
            <a:endParaRPr lang="en-US" altLang="en-US" dirty="0">
              <a:ea typeface="ＭＳ Ｐゴシック" pitchFamily="34" charset="-128"/>
            </a:endParaRPr>
          </a:p>
          <a:p>
            <a:pPr marL="228600" indent="-228600"/>
            <a:r>
              <a:rPr lang="en-US" altLang="en-US" dirty="0">
                <a:ea typeface="ＭＳ Ｐゴシック" pitchFamily="34" charset="-128"/>
              </a:rPr>
              <a:t>These three ratios can help analyze their investments.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The price/earnings ratio is the ratio of common share price to earnings per share. This ratio, abbreviated P/E, shows the market price of $1 of earnings.  The P/E Ratio shows how much above earnings that a share of stock is currently selling.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extLst>
      <p:ext uri="{BB962C8B-B14F-4D97-AF65-F5344CB8AC3E}">
        <p14:creationId xmlns:p14="http://schemas.microsoft.com/office/powerpoint/2010/main" val="8432212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Dividend yield is the ratio of dividends per share to the share’s market price. This ratio measures the percentage of a share’s market value returned annually to the shareholders as dividends. Preferred shareholders pay special attention to this ratio because they invest primarily to receive dividends.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8432212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CA" altLang="en-US" dirty="0">
                <a:ea typeface="ＭＳ Ｐゴシック" pitchFamily="34" charset="-128"/>
              </a:rPr>
              <a:t>Book value per common share is simply common shareholders’ equity divided by the number of common shares outstanding. Common equity equals total equity less preferred equity.</a:t>
            </a:r>
          </a:p>
          <a:p>
            <a:pPr>
              <a:defRPr/>
            </a:pPr>
            <a:endParaRPr lang="en-CA" altLang="en-US" dirty="0">
              <a:ea typeface="ＭＳ Ｐゴシック" pitchFamily="34" charset="-128"/>
            </a:endParaRPr>
          </a:p>
          <a:p>
            <a:pPr>
              <a:defRPr/>
            </a:pPr>
            <a:r>
              <a:rPr lang="en-US" altLang="en-US" dirty="0">
                <a:ea typeface="ＭＳ Ｐゴシック" pitchFamily="34" charset="-128"/>
              </a:rPr>
              <a:t>Book value per share indicates the recorded accounting amount for each share outstanding. Many experts believe book value is not useful for investment analysis because it bears no relationship to market value and provides little information beyond what’s reported on the balance sheet. But some investors base their investment decisions on book value. For example, some investors rank common shares by the ratio of market price per share to book value per share. The lower the ratio, the more attractive the common</a:t>
            </a:r>
            <a:r>
              <a:rPr lang="en-US" altLang="en-US" baseline="0" dirty="0">
                <a:ea typeface="ＭＳ Ｐゴシック" pitchFamily="34" charset="-128"/>
              </a:rPr>
              <a:t> share</a:t>
            </a:r>
            <a:r>
              <a:rPr lang="en-US" altLang="en-US" dirty="0">
                <a:ea typeface="ＭＳ Ｐゴシック" pitchFamily="34" charset="-128"/>
              </a:rPr>
              <a:t>. These investors are called “value” investors, as contrasted with “growth” investors, who focus more on trends in net income.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20419178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ea typeface="ＭＳ Ｐゴシック" pitchFamily="34" charset="-128"/>
              </a:rPr>
              <a:t>Recent accounting scandals have highlighted the importance of red flags in financial analysis. The following conditions may mean a company is very risky.</a:t>
            </a:r>
          </a:p>
          <a:p>
            <a:r>
              <a:rPr lang="en-US" altLang="en-US" sz="1200" dirty="0">
                <a:ea typeface="ＭＳ Ｐゴシック" pitchFamily="34" charset="-128"/>
              </a:rPr>
              <a:t>■ Earnings Problems. Have income from continuing operations and net income decreased for several years in a row? Has income turned into a loss? This maybe okay for a company in a cyclical industry, such as an airline or a home builder, but some companies may be unable to survive consecutive loss years.</a:t>
            </a:r>
          </a:p>
          <a:p>
            <a:r>
              <a:rPr lang="en-US" altLang="en-US" sz="1200" dirty="0">
                <a:ea typeface="ＭＳ Ｐゴシック" pitchFamily="34" charset="-128"/>
              </a:rPr>
              <a:t>■ Decreased Cash Flow. Cash flow validates earnings. Is cash flow from operations consistently lower than net income? Are the sales of plant assets a major source of cash? If so, the company may be facing a cash shortage.</a:t>
            </a:r>
          </a:p>
          <a:p>
            <a:r>
              <a:rPr lang="en-US" altLang="en-US" sz="1200" dirty="0">
                <a:ea typeface="ＭＳ Ｐゴシック" pitchFamily="34" charset="-128"/>
              </a:rPr>
              <a:t>■ Too Much Debt. How does the company’s debt ratio compare to that of major competitors and to the industry average? If the debt ratio is much higher than average, the company may be unable to pay debts during tough times.</a:t>
            </a:r>
          </a:p>
          <a:p>
            <a:r>
              <a:rPr lang="en-US" altLang="en-US" sz="1200" dirty="0">
                <a:ea typeface="ＭＳ Ｐゴシック" pitchFamily="34" charset="-128"/>
              </a:rPr>
              <a:t>■ Inability to Collect Receivables. Are days’ sales in receivables growing faster than for other companies in the industry? A cash shortage may be looming.</a:t>
            </a:r>
          </a:p>
          <a:p>
            <a:r>
              <a:rPr lang="en-US" altLang="en-US" sz="1200" dirty="0">
                <a:ea typeface="ＭＳ Ｐゴシック" pitchFamily="34" charset="-128"/>
              </a:rPr>
              <a:t>■ Buildup of Inventories. Is inventory turnover slowing down? If so, the company may be unable to move products, or it may be overstating inventory as reported on the balance sheet. Recall from the cost-of-goods-sold model that one of the easiest ways to overstate net income is to overstate ending inventory.</a:t>
            </a:r>
          </a:p>
          <a:p>
            <a:pPr>
              <a:buFont typeface="Wingdings" pitchFamily="2" charset="2"/>
              <a:buNone/>
            </a:pPr>
            <a:r>
              <a:rPr lang="en-US" altLang="en-US" sz="1200" dirty="0">
                <a:ea typeface="ＭＳ Ｐゴシック" pitchFamily="34" charset="-128"/>
              </a:rPr>
              <a:t>■ Trends of Sales, Inventory, and Receivables.</a:t>
            </a:r>
            <a:r>
              <a:rPr lang="en-US" altLang="en-US" sz="1200" i="1" dirty="0">
                <a:ea typeface="ＭＳ Ｐゴシック" pitchFamily="34" charset="-128"/>
              </a:rPr>
              <a:t> </a:t>
            </a:r>
            <a:r>
              <a:rPr lang="en-US" altLang="en-US" sz="1200" dirty="0">
                <a:ea typeface="ＭＳ Ｐゴシック" pitchFamily="34" charset="-128"/>
              </a:rPr>
              <a:t>Sales, receivables, and inventory generally move together. Increased sales lead to higher receivables and require more inventory in order to meet demand. Strange movements among these items may spell trouble.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19832741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This concludes Chapter Ten.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2929950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11/25/25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11/25/25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11/25/25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11/25/25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4" name="Title 13"/>
          <p:cNvSpPr>
            <a:spLocks noGrp="1"/>
          </p:cNvSpPr>
          <p:nvPr>
            <p:ph type="title"/>
          </p:nvPr>
        </p:nvSpPr>
        <p:spPr>
          <a:xfrm>
            <a:off x="457200" y="215372"/>
            <a:ext cx="8229600" cy="621792"/>
          </a:xfrm>
        </p:spPr>
        <p:txBody>
          <a:bodyPr anchor="t" anchorCtr="0"/>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5" name="Date Placeholder 14"/>
          <p:cNvSpPr>
            <a:spLocks noGrp="1"/>
          </p:cNvSpPr>
          <p:nvPr>
            <p:ph type="dt" sz="half" idx="16"/>
          </p:nvPr>
        </p:nvSpPr>
        <p:spPr>
          <a:xfrm>
            <a:off x="6335713" y="113072"/>
            <a:ext cx="2133600" cy="182880"/>
          </a:xfrm>
          <a:prstGeom prst="rect">
            <a:avLst/>
          </a:prstGeom>
        </p:spPr>
        <p:txBody>
          <a:bodyPr/>
          <a:lstStyle/>
          <a:p>
            <a:fld id="{A9DF6EFB-3F44-496C-A842-1E0B3D3B975A}" type="datetimeFigureOut">
              <a:rPr lang="en-US" smtClean="0"/>
              <a:pPr/>
              <a:t>11/25/25</a:t>
            </a:fld>
            <a:endParaRPr lang="en-US" dirty="0"/>
          </a:p>
        </p:txBody>
      </p:sp>
      <p:sp>
        <p:nvSpPr>
          <p:cNvPr id="17" name="Slide Number Placeholder 16"/>
          <p:cNvSpPr>
            <a:spLocks noGrp="1"/>
          </p:cNvSpPr>
          <p:nvPr>
            <p:ph type="sldNum" sz="quarter" idx="17"/>
          </p:nvPr>
        </p:nvSpPr>
        <p:spPr/>
        <p:txBody>
          <a:bodyPr/>
          <a:lstStyle>
            <a:lvl1pPr>
              <a:defRPr sz="900"/>
            </a:lvl1pPr>
          </a:lstStyle>
          <a:p>
            <a:fld id="{200B2350-5261-4F5C-9DF5-EF0D264FC8D2}" type="slidenum">
              <a:rPr lang="en-US" smtClean="0"/>
              <a:pPr/>
              <a:t>‹#›</a:t>
            </a:fld>
            <a:endParaRPr lang="en-US" dirty="0"/>
          </a:p>
        </p:txBody>
      </p:sp>
      <p:sp>
        <p:nvSpPr>
          <p:cNvPr id="18" name="Footer Placeholder 17"/>
          <p:cNvSpPr>
            <a:spLocks noGrp="1"/>
          </p:cNvSpPr>
          <p:nvPr>
            <p:ph type="ftr" sz="quarter" idx="18"/>
          </p:nvPr>
        </p:nvSpPr>
        <p:spPr/>
        <p:txBody>
          <a:bodyPr/>
          <a:lstStyle/>
          <a:p>
            <a:endParaRPr lang="en-US" dirty="0"/>
          </a:p>
        </p:txBody>
      </p:sp>
      <p:sp>
        <p:nvSpPr>
          <p:cNvPr id="27" name="Text Placeholder 25"/>
          <p:cNvSpPr>
            <a:spLocks noGrp="1"/>
          </p:cNvSpPr>
          <p:nvPr>
            <p:ph type="body" sz="quarter" idx="19" hasCustomPrompt="1"/>
          </p:nvPr>
        </p:nvSpPr>
        <p:spPr>
          <a:xfrm>
            <a:off x="5007428" y="6428232"/>
            <a:ext cx="3657600" cy="201168"/>
          </a:xfr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kumimoji="0" lang="en-US" altLang="en-US" sz="800" b="1" i="0" u="none" strike="noStrike" kern="120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Pearson Canada Inc.</a:t>
            </a:r>
            <a:endParaRPr kumimoji="0" lang="en-US" altLang="en-US" sz="1000" b="0" i="0" u="none" strike="noStrike" kern="1200" cap="none" spc="0" normalizeH="0" baseline="0" noProof="0" dirty="0">
              <a:ln>
                <a:noFill/>
              </a:ln>
              <a:solidFill>
                <a:schemeClr val="tx1"/>
              </a:solidFill>
              <a:effectLst/>
              <a:uLnTx/>
              <a:uFillTx/>
              <a:latin typeface="+mn-lt"/>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37049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11/25/25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Slide Number Placeholder 4">
            <a:extLst>
              <a:ext uri="{FF2B5EF4-FFF2-40B4-BE49-F238E27FC236}">
                <a16:creationId xmlns:a16="http://schemas.microsoft.com/office/drawing/2014/main" id="{53B99FD9-0ED2-4988-BABF-AE8E8E58C8A3}"/>
              </a:ext>
            </a:extLst>
          </p:cNvPr>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10 -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3" name="TextBox 2">
            <a:extLst>
              <a:ext uri="{FF2B5EF4-FFF2-40B4-BE49-F238E27FC236}">
                <a16:creationId xmlns:a16="http://schemas.microsoft.com/office/drawing/2014/main" id="{57A63000-3402-2851-39CA-7CC6AC4BEAB9}"/>
              </a:ext>
            </a:extLst>
          </p:cNvPr>
          <p:cNvSpPr txBox="1"/>
          <p:nvPr userDrawn="1"/>
        </p:nvSpPr>
        <p:spPr>
          <a:xfrm>
            <a:off x="1600200" y="6429345"/>
            <a:ext cx="6553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Canada Inc</a:t>
            </a:r>
            <a:r>
              <a:rPr lang="en-US" altLang="en-US" sz="700" b="1"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698658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11/25/25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434703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dirty="0"/>
          </a:p>
        </p:txBody>
      </p:sp>
      <p:sp>
        <p:nvSpPr>
          <p:cNvPr id="7" name="Date Placeholder 6"/>
          <p:cNvSpPr>
            <a:spLocks noGrp="1"/>
          </p:cNvSpPr>
          <p:nvPr>
            <p:ph type="dt" sz="half" idx="10"/>
          </p:nvPr>
        </p:nvSpPr>
        <p:spPr/>
        <p:txBody>
          <a:bodyPr/>
          <a:lstStyle/>
          <a:p>
            <a:fld id="{E0DBC1D4-5704-45BB-BA8B-9B7E98161C8B}" type="datetimeFigureOut">
              <a:rPr lang="en-US" smtClean="0"/>
              <a:pPr/>
              <a:t>11/25/25</a:t>
            </a:fld>
            <a:endParaRPr lang="en-US" dirty="0"/>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dirty="0"/>
          </a:p>
        </p:txBody>
      </p:sp>
    </p:spTree>
    <p:extLst>
      <p:ext uri="{BB962C8B-B14F-4D97-AF65-F5344CB8AC3E}">
        <p14:creationId xmlns:p14="http://schemas.microsoft.com/office/powerpoint/2010/main" val="4173420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6"/>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4" r:id="rId22"/>
    <p:sldLayoutId id="2147483725" r:id="rId23"/>
    <p:sldLayoutId id="2147483726"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2.jpe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3.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31.jpeg"/></Relationships>
</file>

<file path=ppt/slides/_rels/slide4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10</a:t>
            </a:r>
            <a:br>
              <a:rPr lang="en-US" sz="4400" dirty="0"/>
            </a:br>
            <a:r>
              <a:rPr lang="en-US" sz="4400" dirty="0"/>
              <a:t>Financial Statement Analysis</a:t>
            </a:r>
          </a:p>
        </p:txBody>
      </p:sp>
      <p:sp>
        <p:nvSpPr>
          <p:cNvPr id="5" name="Subtitle 4">
            <a:extLst>
              <a:ext uri="{FF2B5EF4-FFF2-40B4-BE49-F238E27FC236}">
                <a16:creationId xmlns:a16="http://schemas.microsoft.com/office/drawing/2014/main" id="{E93E444A-9EFF-73DF-B4EC-BC5B131CE10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CAF4-1210-BDA6-0753-717F286CDD97}"/>
              </a:ext>
            </a:extLst>
          </p:cNvPr>
          <p:cNvSpPr>
            <a:spLocks noGrp="1"/>
          </p:cNvSpPr>
          <p:nvPr>
            <p:ph type="title"/>
          </p:nvPr>
        </p:nvSpPr>
        <p:spPr/>
        <p:txBody>
          <a:bodyPr/>
          <a:lstStyle/>
          <a:p>
            <a:r>
              <a:rPr lang="en-US"/>
              <a:t>Learning Objectives</a:t>
            </a:r>
          </a:p>
        </p:txBody>
      </p:sp>
      <p:sp>
        <p:nvSpPr>
          <p:cNvPr id="3" name="Content Placeholder 2">
            <a:extLst>
              <a:ext uri="{FF2B5EF4-FFF2-40B4-BE49-F238E27FC236}">
                <a16:creationId xmlns:a16="http://schemas.microsoft.com/office/drawing/2014/main" id="{42F02B29-6C32-80FC-5274-12D1DCD5E5BF}"/>
              </a:ext>
            </a:extLst>
          </p:cNvPr>
          <p:cNvSpPr>
            <a:spLocks noGrp="1"/>
          </p:cNvSpPr>
          <p:nvPr>
            <p:ph idx="1"/>
          </p:nvPr>
        </p:nvSpPr>
        <p:spPr/>
        <p:txBody>
          <a:bodyPr>
            <a:normAutofit/>
          </a:bodyPr>
          <a:lstStyle/>
          <a:p>
            <a:pPr marL="0" indent="0">
              <a:buNone/>
            </a:pPr>
            <a:r>
              <a:rPr lang="en-US" dirty="0"/>
              <a:t>LO1</a:t>
            </a:r>
            <a:r>
              <a:rPr lang="en-US" b="1" dirty="0"/>
              <a:t> Perform</a:t>
            </a:r>
            <a:r>
              <a:rPr lang="en-US" dirty="0"/>
              <a:t> an industry and company analysis.</a:t>
            </a:r>
          </a:p>
          <a:p>
            <a:pPr marL="0" indent="0">
              <a:buNone/>
            </a:pPr>
            <a:r>
              <a:rPr lang="en-US" altLang="en-US" sz="2400" dirty="0">
                <a:solidFill>
                  <a:schemeClr val="accent2"/>
                </a:solidFill>
                <a:ea typeface="ＭＳ Ｐゴシック" pitchFamily="34" charset="-128"/>
              </a:rPr>
              <a:t>LO2</a:t>
            </a:r>
            <a:r>
              <a:rPr lang="en-US" altLang="en-US" sz="2400" b="1" dirty="0">
                <a:solidFill>
                  <a:schemeClr val="accent2"/>
                </a:solidFill>
                <a:ea typeface="ＭＳ Ｐゴシック" pitchFamily="34" charset="-128"/>
              </a:rPr>
              <a:t> </a:t>
            </a:r>
            <a:r>
              <a:rPr lang="en-US" b="1" dirty="0"/>
              <a:t>Perform </a:t>
            </a:r>
            <a:r>
              <a:rPr lang="en-US" altLang="en-US" dirty="0">
                <a:solidFill>
                  <a:schemeClr val="accent2"/>
                </a:solidFill>
                <a:ea typeface="ＭＳ Ｐゴシック" pitchFamily="34" charset="-128"/>
              </a:rPr>
              <a:t>a horizontal analysis</a:t>
            </a:r>
            <a:r>
              <a:rPr lang="en-US" altLang="en-US" sz="2400" dirty="0">
                <a:solidFill>
                  <a:schemeClr val="accent2"/>
                </a:solidFill>
                <a:ea typeface="ＭＳ Ｐゴシック" pitchFamily="34" charset="-128"/>
              </a:rPr>
              <a:t>.</a:t>
            </a:r>
          </a:p>
          <a:p>
            <a:pPr marL="0" indent="0">
              <a:buNone/>
            </a:pPr>
            <a:r>
              <a:rPr lang="en-US" altLang="en-US" sz="2400" dirty="0">
                <a:solidFill>
                  <a:schemeClr val="accent2"/>
                </a:solidFill>
                <a:ea typeface="ＭＳ Ｐゴシック" pitchFamily="34" charset="-128"/>
              </a:rPr>
              <a:t>LO3</a:t>
            </a:r>
            <a:r>
              <a:rPr lang="en-US" altLang="en-US" sz="2400" b="1" dirty="0">
                <a:solidFill>
                  <a:schemeClr val="accent2"/>
                </a:solidFill>
                <a:ea typeface="ＭＳ Ｐゴシック" pitchFamily="34" charset="-128"/>
              </a:rPr>
              <a:t> </a:t>
            </a:r>
            <a:r>
              <a:rPr lang="en-US" b="1" dirty="0"/>
              <a:t>Perform </a:t>
            </a:r>
            <a:r>
              <a:rPr lang="en-US" altLang="en-US" dirty="0">
                <a:solidFill>
                  <a:schemeClr val="accent2"/>
                </a:solidFill>
                <a:ea typeface="ＭＳ Ｐゴシック" pitchFamily="34" charset="-128"/>
              </a:rPr>
              <a:t>a vertical analysis</a:t>
            </a:r>
            <a:r>
              <a:rPr lang="en-US" altLang="en-US" sz="2400" dirty="0">
                <a:solidFill>
                  <a:schemeClr val="accent2"/>
                </a:solidFill>
                <a:ea typeface="ＭＳ Ｐゴシック" pitchFamily="34" charset="-128"/>
              </a:rPr>
              <a:t>.</a:t>
            </a:r>
          </a:p>
          <a:p>
            <a:pPr marL="0" indent="0">
              <a:buNone/>
            </a:pPr>
            <a:r>
              <a:rPr lang="en-US" altLang="en-US" sz="2400" dirty="0">
                <a:solidFill>
                  <a:schemeClr val="accent2"/>
                </a:solidFill>
                <a:ea typeface="ＭＳ Ｐゴシック" pitchFamily="34" charset="-128"/>
              </a:rPr>
              <a:t>LO4</a:t>
            </a:r>
            <a:r>
              <a:rPr lang="en-US" altLang="en-US" sz="2400" b="1" dirty="0">
                <a:solidFill>
                  <a:schemeClr val="accent2"/>
                </a:solidFill>
                <a:ea typeface="ＭＳ Ｐゴシック" pitchFamily="34" charset="-128"/>
              </a:rPr>
              <a:t> Prepare </a:t>
            </a:r>
            <a:r>
              <a:rPr lang="en-US" altLang="en-US" dirty="0">
                <a:solidFill>
                  <a:schemeClr val="accent2"/>
                </a:solidFill>
                <a:ea typeface="ＭＳ Ｐゴシック" pitchFamily="34" charset="-128"/>
              </a:rPr>
              <a:t>common size financial statements</a:t>
            </a:r>
            <a:endParaRPr lang="en-US" altLang="en-US" sz="2400" b="1" dirty="0">
              <a:solidFill>
                <a:schemeClr val="accent2"/>
              </a:solidFill>
              <a:ea typeface="ＭＳ Ｐゴシック" pitchFamily="34" charset="-128"/>
            </a:endParaRPr>
          </a:p>
          <a:p>
            <a:pPr marL="0" indent="0">
              <a:buNone/>
            </a:pPr>
            <a:r>
              <a:rPr lang="en-US" altLang="en-US" sz="2400" dirty="0">
                <a:solidFill>
                  <a:schemeClr val="accent2"/>
                </a:solidFill>
                <a:ea typeface="ＭＳ Ｐゴシック" pitchFamily="34" charset="-128"/>
              </a:rPr>
              <a:t>LO5</a:t>
            </a:r>
            <a:r>
              <a:rPr lang="en-US" altLang="en-US" sz="2400" b="1" dirty="0">
                <a:solidFill>
                  <a:schemeClr val="accent2"/>
                </a:solidFill>
                <a:ea typeface="ＭＳ Ｐゴシック" pitchFamily="34" charset="-128"/>
              </a:rPr>
              <a:t> Use </a:t>
            </a:r>
            <a:r>
              <a:rPr lang="en-US" altLang="en-US" sz="2400" dirty="0">
                <a:solidFill>
                  <a:schemeClr val="accent2"/>
                </a:solidFill>
                <a:ea typeface="ＭＳ Ｐゴシック" pitchFamily="34" charset="-128"/>
              </a:rPr>
              <a:t>ratios to make business decisions.</a:t>
            </a:r>
          </a:p>
          <a:p>
            <a:pPr marL="0" indent="0">
              <a:buNone/>
            </a:pPr>
            <a:endParaRPr lang="en-US" sz="2400" dirty="0">
              <a:solidFill>
                <a:schemeClr val="accent2"/>
              </a:solidFill>
            </a:endParaRPr>
          </a:p>
          <a:p>
            <a:endParaRPr lang="en-US" sz="2400" dirty="0">
              <a:solidFill>
                <a:schemeClr val="accent2"/>
              </a:solidFill>
            </a:endParaRPr>
          </a:p>
          <a:p>
            <a:endParaRPr lang="en-US" altLang="en-US" sz="2400" dirty="0">
              <a:solidFill>
                <a:schemeClr val="accent2"/>
              </a:solidFill>
              <a:ea typeface="ＭＳ Ｐゴシック" pitchFamily="34" charset="-128"/>
            </a:endParaRPr>
          </a:p>
          <a:p>
            <a:endParaRPr lang="en-US" sz="2400" dirty="0">
              <a:solidFill>
                <a:schemeClr val="accent2"/>
              </a:solidFill>
            </a:endParaRPr>
          </a:p>
          <a:p>
            <a:endParaRPr lang="en-US" dirty="0"/>
          </a:p>
          <a:p>
            <a:endParaRPr lang="en-US" dirty="0"/>
          </a:p>
        </p:txBody>
      </p:sp>
    </p:spTree>
    <p:extLst>
      <p:ext uri="{BB962C8B-B14F-4D97-AF65-F5344CB8AC3E}">
        <p14:creationId xmlns:p14="http://schemas.microsoft.com/office/powerpoint/2010/main" val="625433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Subtitle 2"/>
          <p:cNvSpPr>
            <a:spLocks noGrp="1"/>
          </p:cNvSpPr>
          <p:nvPr>
            <p:ph type="subTitle" idx="1"/>
          </p:nvPr>
        </p:nvSpPr>
        <p:spPr/>
        <p:txBody>
          <a:bodyPr/>
          <a:lstStyle/>
          <a:p>
            <a:r>
              <a:rPr lang="en-US" altLang="en-US" b="1" dirty="0">
                <a:ea typeface="ＭＳ Ｐゴシック" pitchFamily="34" charset="-128"/>
              </a:rPr>
              <a:t>Perform </a:t>
            </a:r>
            <a:r>
              <a:rPr lang="en-US" altLang="en-US" dirty="0">
                <a:ea typeface="ＭＳ Ｐゴシック" pitchFamily="34" charset="-128"/>
              </a:rPr>
              <a:t>an industry and company analysis</a:t>
            </a:r>
            <a:endParaRPr lang="en-US" dirty="0"/>
          </a:p>
        </p:txBody>
      </p:sp>
    </p:spTree>
    <p:extLst>
      <p:ext uri="{BB962C8B-B14F-4D97-AF65-F5344CB8AC3E}">
        <p14:creationId xmlns:p14="http://schemas.microsoft.com/office/powerpoint/2010/main" val="3885233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Industry and Company Analysis</a:t>
            </a:r>
            <a:r>
              <a:rPr lang="en-CA" sz="2000" b="0" dirty="0"/>
              <a:t> (1 of 2)</a:t>
            </a:r>
          </a:p>
        </p:txBody>
      </p:sp>
      <p:sp>
        <p:nvSpPr>
          <p:cNvPr id="3" name="Content Placeholder 2"/>
          <p:cNvSpPr>
            <a:spLocks noGrp="1"/>
          </p:cNvSpPr>
          <p:nvPr>
            <p:ph idx="1"/>
          </p:nvPr>
        </p:nvSpPr>
        <p:spPr>
          <a:xfrm>
            <a:off x="457200" y="1600201"/>
            <a:ext cx="8229600" cy="3809999"/>
          </a:xfrm>
        </p:spPr>
        <p:txBody>
          <a:bodyPr/>
          <a:lstStyle/>
          <a:p>
            <a:r>
              <a:rPr lang="en-CA" dirty="0"/>
              <a:t>When evaluating a company, it is important to understand the business and consider the industry the company is in</a:t>
            </a:r>
          </a:p>
          <a:p>
            <a:pPr marL="0" indent="0">
              <a:buNone/>
            </a:pPr>
            <a:r>
              <a:rPr lang="en-CA" dirty="0"/>
              <a:t>How would you predict Empire’s sales and net earnings for 2022 and beyond?</a:t>
            </a:r>
          </a:p>
          <a:p>
            <a:r>
              <a:rPr lang="en-CA" dirty="0"/>
              <a:t>This chapter examines some of the tools of financial analysis</a:t>
            </a:r>
          </a:p>
        </p:txBody>
      </p:sp>
    </p:spTree>
    <p:extLst>
      <p:ext uri="{BB962C8B-B14F-4D97-AF65-F5344CB8AC3E}">
        <p14:creationId xmlns:p14="http://schemas.microsoft.com/office/powerpoint/2010/main" val="1013650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B858EF-2BF3-1D0B-5E5A-54ABCCBDF6F7}"/>
              </a:ext>
            </a:extLst>
          </p:cNvPr>
          <p:cNvSpPr>
            <a:spLocks noGrp="1"/>
          </p:cNvSpPr>
          <p:nvPr>
            <p:ph type="title"/>
          </p:nvPr>
        </p:nvSpPr>
        <p:spPr/>
        <p:txBody>
          <a:bodyPr/>
          <a:lstStyle/>
          <a:p>
            <a:r>
              <a:rPr lang="en-CA" dirty="0"/>
              <a:t>Industry and Company Analysis</a:t>
            </a:r>
            <a:r>
              <a:rPr lang="en-CA" sz="2000" b="0" dirty="0"/>
              <a:t> (2 of 2)</a:t>
            </a:r>
            <a:endParaRPr lang="en-IN" sz="2000" dirty="0"/>
          </a:p>
        </p:txBody>
      </p:sp>
      <p:pic>
        <p:nvPicPr>
          <p:cNvPr id="6" name="Picture 5" descr="Two bar graphs compare the sales and net earnings over the course of 3 years.">
            <a:extLst>
              <a:ext uri="{FF2B5EF4-FFF2-40B4-BE49-F238E27FC236}">
                <a16:creationId xmlns:a16="http://schemas.microsoft.com/office/drawing/2014/main" id="{456F8FFA-F39B-D580-611C-BE0A5B4BE9B4}"/>
              </a:ext>
            </a:extLst>
          </p:cNvPr>
          <p:cNvPicPr>
            <a:picLocks noChangeAspect="1"/>
          </p:cNvPicPr>
          <p:nvPr/>
        </p:nvPicPr>
        <p:blipFill rotWithShape="1">
          <a:blip r:embed="rId3">
            <a:extLst>
              <a:ext uri="{28A0092B-C50C-407E-A947-70E740481C1C}">
                <a14:useLocalDpi xmlns:a14="http://schemas.microsoft.com/office/drawing/2010/main" val="0"/>
              </a:ext>
            </a:extLst>
          </a:blip>
          <a:srcRect t="10476"/>
          <a:stretch/>
        </p:blipFill>
        <p:spPr>
          <a:xfrm>
            <a:off x="934140" y="1614992"/>
            <a:ext cx="7275720" cy="3628016"/>
          </a:xfrm>
          <a:prstGeom prst="rect">
            <a:avLst/>
          </a:prstGeom>
        </p:spPr>
      </p:pic>
    </p:spTree>
    <p:extLst>
      <p:ext uri="{BB962C8B-B14F-4D97-AF65-F5344CB8AC3E}">
        <p14:creationId xmlns:p14="http://schemas.microsoft.com/office/powerpoint/2010/main" val="3722814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Subtitle 2"/>
          <p:cNvSpPr>
            <a:spLocks noGrp="1"/>
          </p:cNvSpPr>
          <p:nvPr>
            <p:ph type="subTitle" idx="1"/>
          </p:nvPr>
        </p:nvSpPr>
        <p:spPr/>
        <p:txBody>
          <a:bodyPr/>
          <a:lstStyle/>
          <a:p>
            <a:r>
              <a:rPr lang="en-US" altLang="en-US" b="1" dirty="0">
                <a:ea typeface="ＭＳ Ｐゴシック" pitchFamily="34" charset="-128"/>
              </a:rPr>
              <a:t>Perform a </a:t>
            </a:r>
            <a:r>
              <a:rPr lang="en-US" altLang="en-US" dirty="0">
                <a:ea typeface="ＭＳ Ｐゴシック" pitchFamily="34" charset="-128"/>
              </a:rPr>
              <a:t>horizontal analysis </a:t>
            </a:r>
            <a:endParaRPr lang="en-US" dirty="0"/>
          </a:p>
        </p:txBody>
      </p:sp>
    </p:spTree>
    <p:extLst>
      <p:ext uri="{BB962C8B-B14F-4D97-AF65-F5344CB8AC3E}">
        <p14:creationId xmlns:p14="http://schemas.microsoft.com/office/powerpoint/2010/main" val="354508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Horizontal Analysis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Study of percentage changes from year-to-year</a:t>
            </a:r>
          </a:p>
          <a:p>
            <a:r>
              <a:rPr lang="en-US" altLang="en-US" dirty="0">
                <a:ea typeface="ＭＳ Ｐゴシック" pitchFamily="34" charset="-128"/>
              </a:rPr>
              <a:t>Two steps to compute a percentage change:</a:t>
            </a:r>
          </a:p>
          <a:p>
            <a:pPr marL="457200" lvl="1" indent="0">
              <a:buNone/>
            </a:pPr>
            <a:r>
              <a:rPr lang="en-US" altLang="en-US" dirty="0">
                <a:solidFill>
                  <a:srgbClr val="007FA3"/>
                </a:solidFill>
                <a:ea typeface="ＭＳ Ｐゴシック" pitchFamily="34" charset="-128"/>
              </a:rPr>
              <a:t>1.</a:t>
            </a:r>
            <a:r>
              <a:rPr lang="en-US" altLang="en-US" dirty="0">
                <a:ea typeface="ＭＳ Ｐゴシック" pitchFamily="34" charset="-128"/>
              </a:rPr>
              <a:t> Compute dollar amount of change</a:t>
            </a:r>
          </a:p>
          <a:p>
            <a:pPr marL="457200" lvl="1" indent="0">
              <a:buNone/>
            </a:pPr>
            <a:r>
              <a:rPr lang="en-US" altLang="en-US" dirty="0">
                <a:solidFill>
                  <a:srgbClr val="007FA3"/>
                </a:solidFill>
                <a:ea typeface="ＭＳ Ｐゴシック" pitchFamily="34" charset="-128"/>
              </a:rPr>
              <a:t>2. </a:t>
            </a:r>
            <a:r>
              <a:rPr lang="en-US" altLang="en-US" dirty="0">
                <a:ea typeface="ＭＳ Ｐゴシック" pitchFamily="34" charset="-128"/>
              </a:rPr>
              <a:t>Divide dollar amount of change by base-period amount</a:t>
            </a:r>
            <a:endParaRPr lang="en-US" dirty="0"/>
          </a:p>
        </p:txBody>
      </p:sp>
    </p:spTree>
    <p:extLst>
      <p:ext uri="{BB962C8B-B14F-4D97-AF65-F5344CB8AC3E}">
        <p14:creationId xmlns:p14="http://schemas.microsoft.com/office/powerpoint/2010/main" val="41635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Horizontal Analysis - Example </a:t>
            </a:r>
            <a:r>
              <a:rPr lang="en-US" altLang="en-US" sz="2000" b="0" dirty="0"/>
              <a:t>(1 of 2)</a:t>
            </a:r>
            <a:endParaRPr lang="en-US" b="0" dirty="0"/>
          </a:p>
        </p:txBody>
      </p:sp>
      <p:sp>
        <p:nvSpPr>
          <p:cNvPr id="4" name="Content Placeholder 3"/>
          <p:cNvSpPr>
            <a:spLocks noGrp="1"/>
          </p:cNvSpPr>
          <p:nvPr>
            <p:ph idx="13"/>
          </p:nvPr>
        </p:nvSpPr>
        <p:spPr/>
        <p:txBody>
          <a:bodyPr/>
          <a:lstStyle/>
          <a:p>
            <a:pPr marL="0" indent="0">
              <a:spcBef>
                <a:spcPts val="600"/>
              </a:spcBef>
              <a:buNone/>
              <a:defRPr/>
            </a:pPr>
            <a:r>
              <a:rPr lang="en-US" dirty="0">
                <a:cs typeface="Arial" charset="0"/>
              </a:rPr>
              <a:t>STEP 1 </a:t>
            </a:r>
          </a:p>
          <a:p>
            <a:pPr marL="0" indent="0">
              <a:spcBef>
                <a:spcPts val="600"/>
              </a:spcBef>
              <a:buNone/>
              <a:defRPr/>
            </a:pPr>
            <a:r>
              <a:rPr lang="en-US" dirty="0">
                <a:cs typeface="Arial" charset="0"/>
              </a:rPr>
              <a:t>Compute the dollar amount of change in sales from 2020 to 2021:</a:t>
            </a:r>
          </a:p>
          <a:p>
            <a:pPr marL="0" indent="1828800">
              <a:buNone/>
              <a:defRPr/>
            </a:pPr>
            <a:r>
              <a:rPr lang="en-US" dirty="0">
                <a:cs typeface="Arial" charset="0"/>
              </a:rPr>
              <a:t>2021 </a:t>
            </a:r>
            <a:r>
              <a:rPr lang="en-US" altLang="en-US" dirty="0"/>
              <a:t>−</a:t>
            </a:r>
            <a:r>
              <a:rPr lang="en-US" dirty="0">
                <a:cs typeface="Arial" charset="0"/>
              </a:rPr>
              <a:t> 2020	     = Increase</a:t>
            </a:r>
          </a:p>
          <a:p>
            <a:pPr marL="0" indent="1828800">
              <a:buNone/>
              <a:defRPr/>
            </a:pPr>
            <a:r>
              <a:rPr lang="en-US" dirty="0">
                <a:cs typeface="Arial" charset="0"/>
              </a:rPr>
              <a:t>$28,268 </a:t>
            </a:r>
            <a:r>
              <a:rPr lang="en-US" altLang="en-US" dirty="0"/>
              <a:t>−</a:t>
            </a:r>
            <a:r>
              <a:rPr lang="en-US" dirty="0">
                <a:cs typeface="Arial" charset="0"/>
              </a:rPr>
              <a:t> $26,588 = $1,680</a:t>
            </a:r>
            <a:endParaRPr lang="en-US" dirty="0"/>
          </a:p>
        </p:txBody>
      </p:sp>
      <p:graphicFrame>
        <p:nvGraphicFramePr>
          <p:cNvPr id="5" name="Table 9">
            <a:extLst>
              <a:ext uri="{FF2B5EF4-FFF2-40B4-BE49-F238E27FC236}">
                <a16:creationId xmlns:a16="http://schemas.microsoft.com/office/drawing/2014/main" id="{FE1A9C7D-7AE3-4307-9E6F-A197DB5D0310}"/>
              </a:ext>
            </a:extLst>
          </p:cNvPr>
          <p:cNvGraphicFramePr>
            <a:graphicFrameLocks/>
          </p:cNvGraphicFramePr>
          <p:nvPr/>
        </p:nvGraphicFramePr>
        <p:xfrm>
          <a:off x="457200" y="1976106"/>
          <a:ext cx="8229600" cy="1681494"/>
        </p:xfrm>
        <a:graphic>
          <a:graphicData uri="http://schemas.openxmlformats.org/drawingml/2006/table">
            <a:tbl>
              <a:tblPr firstRow="1" bandRow="1">
                <a:tableStyleId>{3B4B98B0-60AC-42C2-AFA5-B58CD77FA1E5}</a:tableStyleId>
              </a:tblPr>
              <a:tblGrid>
                <a:gridCol w="1645920">
                  <a:extLst>
                    <a:ext uri="{9D8B030D-6E8A-4147-A177-3AD203B41FA5}">
                      <a16:colId xmlns:a16="http://schemas.microsoft.com/office/drawing/2014/main" val="692892707"/>
                    </a:ext>
                  </a:extLst>
                </a:gridCol>
                <a:gridCol w="1645920">
                  <a:extLst>
                    <a:ext uri="{9D8B030D-6E8A-4147-A177-3AD203B41FA5}">
                      <a16:colId xmlns:a16="http://schemas.microsoft.com/office/drawing/2014/main" val="2502023528"/>
                    </a:ext>
                  </a:extLst>
                </a:gridCol>
                <a:gridCol w="1645920">
                  <a:extLst>
                    <a:ext uri="{9D8B030D-6E8A-4147-A177-3AD203B41FA5}">
                      <a16:colId xmlns:a16="http://schemas.microsoft.com/office/drawing/2014/main" val="1831436309"/>
                    </a:ext>
                  </a:extLst>
                </a:gridCol>
                <a:gridCol w="1645920">
                  <a:extLst>
                    <a:ext uri="{9D8B030D-6E8A-4147-A177-3AD203B41FA5}">
                      <a16:colId xmlns:a16="http://schemas.microsoft.com/office/drawing/2014/main" val="793733042"/>
                    </a:ext>
                  </a:extLst>
                </a:gridCol>
                <a:gridCol w="1645920">
                  <a:extLst>
                    <a:ext uri="{9D8B030D-6E8A-4147-A177-3AD203B41FA5}">
                      <a16:colId xmlns:a16="http://schemas.microsoft.com/office/drawing/2014/main" val="2277323341"/>
                    </a:ext>
                  </a:extLst>
                </a:gridCol>
              </a:tblGrid>
              <a:tr h="370840">
                <a:tc gridSpan="5">
                  <a:txBody>
                    <a:bodyPr/>
                    <a:lstStyle/>
                    <a:p>
                      <a:pPr marL="0" lvl="0" indent="0" algn="ctr" fontAlgn="base">
                        <a:spcBef>
                          <a:spcPct val="0"/>
                        </a:spcBef>
                        <a:spcAft>
                          <a:spcPct val="0"/>
                        </a:spcAft>
                        <a:buClrTx/>
                        <a:buNone/>
                      </a:pPr>
                      <a:r>
                        <a:rPr lang="en-US" sz="1800" b="1" dirty="0"/>
                        <a:t>Empire Company Limited</a:t>
                      </a:r>
                    </a:p>
                    <a:p>
                      <a:pPr marL="0" lvl="0" indent="0" algn="ctr" fontAlgn="base">
                        <a:spcBef>
                          <a:spcPct val="0"/>
                        </a:spcBef>
                        <a:spcAft>
                          <a:spcPct val="0"/>
                        </a:spcAft>
                        <a:buClrTx/>
                        <a:buNone/>
                      </a:pPr>
                      <a:r>
                        <a:rPr lang="en-US" sz="1800" b="1" dirty="0"/>
                        <a:t>Comparative Income Statements</a:t>
                      </a:r>
                    </a:p>
                    <a:p>
                      <a:pPr marL="0" lvl="0" indent="0" algn="ctr" fontAlgn="base">
                        <a:spcBef>
                          <a:spcPct val="0"/>
                        </a:spcBef>
                        <a:spcAft>
                          <a:spcPct val="0"/>
                        </a:spcAft>
                        <a:buClrTx/>
                        <a:buNone/>
                      </a:pPr>
                      <a:r>
                        <a:rPr lang="en-US" sz="1800" b="1" dirty="0"/>
                        <a:t>For the Years Ended May 1, 2021 and May 2, 2020</a:t>
                      </a:r>
                      <a:endParaRPr lang="en-US" sz="1800" b="1" dirty="0">
                        <a:solidFill>
                          <a:srgbClr val="FFFFFF"/>
                        </a:solidFill>
                        <a:latin typeface="Georgia" pitchFamily="18" charset="0"/>
                        <a:cs typeface="Arial"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91931961"/>
                  </a:ext>
                </a:extLst>
              </a:tr>
              <a:tr h="370840">
                <a:tc>
                  <a:txBody>
                    <a:bodyPr/>
                    <a:lstStyle/>
                    <a:p>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2021</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2020</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 Change</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 Change</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052653"/>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Sales</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$28,268</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$26,588</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$1,680</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6.3%</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041577"/>
                  </a:ext>
                </a:extLst>
              </a:tr>
            </a:tbl>
          </a:graphicData>
        </a:graphic>
      </p:graphicFrame>
    </p:spTree>
    <p:extLst>
      <p:ext uri="{BB962C8B-B14F-4D97-AF65-F5344CB8AC3E}">
        <p14:creationId xmlns:p14="http://schemas.microsoft.com/office/powerpoint/2010/main" val="3564954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Horizontal Analysis - Example </a:t>
            </a:r>
            <a:r>
              <a:rPr lang="en-US" altLang="en-US" sz="2000" b="0" dirty="0"/>
              <a:t>(2 of 2)</a:t>
            </a:r>
            <a:r>
              <a:rPr lang="en-US" altLang="en-US" dirty="0"/>
              <a:t> </a:t>
            </a:r>
            <a:endParaRPr lang="en-US" dirty="0"/>
          </a:p>
        </p:txBody>
      </p:sp>
      <p:graphicFrame>
        <p:nvGraphicFramePr>
          <p:cNvPr id="12" name="Table 9">
            <a:extLst>
              <a:ext uri="{FF2B5EF4-FFF2-40B4-BE49-F238E27FC236}">
                <a16:creationId xmlns:a16="http://schemas.microsoft.com/office/drawing/2014/main" id="{FE1A9C7D-7AE3-4307-9E6F-A197DB5D0310}"/>
              </a:ext>
            </a:extLst>
          </p:cNvPr>
          <p:cNvGraphicFramePr>
            <a:graphicFrameLocks noGrp="1"/>
          </p:cNvGraphicFramePr>
          <p:nvPr>
            <p:ph idx="1"/>
          </p:nvPr>
        </p:nvGraphicFramePr>
        <p:xfrm>
          <a:off x="457200" y="1976106"/>
          <a:ext cx="8229600" cy="1681494"/>
        </p:xfrm>
        <a:graphic>
          <a:graphicData uri="http://schemas.openxmlformats.org/drawingml/2006/table">
            <a:tbl>
              <a:tblPr firstRow="1" bandRow="1">
                <a:tableStyleId>{3B4B98B0-60AC-42C2-AFA5-B58CD77FA1E5}</a:tableStyleId>
              </a:tblPr>
              <a:tblGrid>
                <a:gridCol w="1645920">
                  <a:extLst>
                    <a:ext uri="{9D8B030D-6E8A-4147-A177-3AD203B41FA5}">
                      <a16:colId xmlns:a16="http://schemas.microsoft.com/office/drawing/2014/main" val="692892707"/>
                    </a:ext>
                  </a:extLst>
                </a:gridCol>
                <a:gridCol w="1645920">
                  <a:extLst>
                    <a:ext uri="{9D8B030D-6E8A-4147-A177-3AD203B41FA5}">
                      <a16:colId xmlns:a16="http://schemas.microsoft.com/office/drawing/2014/main" val="2502023528"/>
                    </a:ext>
                  </a:extLst>
                </a:gridCol>
                <a:gridCol w="1645920">
                  <a:extLst>
                    <a:ext uri="{9D8B030D-6E8A-4147-A177-3AD203B41FA5}">
                      <a16:colId xmlns:a16="http://schemas.microsoft.com/office/drawing/2014/main" val="1831436309"/>
                    </a:ext>
                  </a:extLst>
                </a:gridCol>
                <a:gridCol w="1645920">
                  <a:extLst>
                    <a:ext uri="{9D8B030D-6E8A-4147-A177-3AD203B41FA5}">
                      <a16:colId xmlns:a16="http://schemas.microsoft.com/office/drawing/2014/main" val="793733042"/>
                    </a:ext>
                  </a:extLst>
                </a:gridCol>
                <a:gridCol w="1645920">
                  <a:extLst>
                    <a:ext uri="{9D8B030D-6E8A-4147-A177-3AD203B41FA5}">
                      <a16:colId xmlns:a16="http://schemas.microsoft.com/office/drawing/2014/main" val="2277323341"/>
                    </a:ext>
                  </a:extLst>
                </a:gridCol>
              </a:tblGrid>
              <a:tr h="370840">
                <a:tc gridSpan="5">
                  <a:txBody>
                    <a:bodyPr/>
                    <a:lstStyle/>
                    <a:p>
                      <a:pPr marL="0" lvl="0" indent="0" algn="ctr" fontAlgn="base">
                        <a:spcBef>
                          <a:spcPct val="0"/>
                        </a:spcBef>
                        <a:spcAft>
                          <a:spcPct val="0"/>
                        </a:spcAft>
                        <a:buClrTx/>
                        <a:buNone/>
                      </a:pPr>
                      <a:r>
                        <a:rPr lang="en-US" sz="1800" b="1" dirty="0"/>
                        <a:t>Empire Company Limited</a:t>
                      </a:r>
                    </a:p>
                    <a:p>
                      <a:pPr marL="0" lvl="0" indent="0" algn="ctr" fontAlgn="base">
                        <a:spcBef>
                          <a:spcPct val="0"/>
                        </a:spcBef>
                        <a:spcAft>
                          <a:spcPct val="0"/>
                        </a:spcAft>
                        <a:buClrTx/>
                        <a:buNone/>
                      </a:pPr>
                      <a:r>
                        <a:rPr lang="en-US" sz="1800" b="1" dirty="0"/>
                        <a:t>Comparative Income Statements</a:t>
                      </a:r>
                    </a:p>
                    <a:p>
                      <a:pPr marL="0" lvl="0" indent="0" algn="ctr" fontAlgn="base">
                        <a:spcBef>
                          <a:spcPct val="0"/>
                        </a:spcBef>
                        <a:spcAft>
                          <a:spcPct val="0"/>
                        </a:spcAft>
                        <a:buClrTx/>
                        <a:buNone/>
                      </a:pPr>
                      <a:r>
                        <a:rPr lang="en-US" sz="1800" b="1" dirty="0"/>
                        <a:t>For the Years Ended May 1, 2021 and May 2, 2020</a:t>
                      </a:r>
                      <a:endParaRPr lang="en-US" sz="1800" b="1" dirty="0">
                        <a:solidFill>
                          <a:srgbClr val="FFFFFF"/>
                        </a:solidFill>
                        <a:latin typeface="Georgia" pitchFamily="18" charset="0"/>
                        <a:cs typeface="Arial"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91931961"/>
                  </a:ext>
                </a:extLst>
              </a:tr>
              <a:tr h="370840">
                <a:tc>
                  <a:txBody>
                    <a:bodyPr/>
                    <a:lstStyle/>
                    <a:p>
                      <a:endParaRPr lang="en-AU"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2021</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2020</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 Change</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u="none" strike="noStrike" cap="none" normalizeH="0" baseline="0" dirty="0">
                          <a:ln>
                            <a:noFill/>
                          </a:ln>
                          <a:effectLst/>
                        </a:rPr>
                        <a:t>% Change</a:t>
                      </a:r>
                      <a:endParaRPr kumimoji="0" lang="en-US" sz="1800" b="1"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052653"/>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Sales</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$28,268</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$26,588</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$1,680</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6.3%</a:t>
                      </a:r>
                      <a:endParaRPr kumimoji="0" lang="en-US" sz="2000" b="0" i="0" u="none" strike="noStrike" cap="none" normalizeH="0" baseline="0" dirty="0">
                        <a:ln>
                          <a:noFill/>
                        </a:ln>
                        <a:solidFill>
                          <a:srgbClr val="000000"/>
                        </a:solidFill>
                        <a:effectLst/>
                        <a:latin typeface="Georgia" pitchFamily="18" charset="0"/>
                        <a:cs typeface="Arial" pitchFamily="34" charset="0"/>
                      </a:endParaRPr>
                    </a:p>
                  </a:txBody>
                  <a:tcPr marT="45727" marB="4572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1041577"/>
                  </a:ext>
                </a:extLst>
              </a:tr>
            </a:tbl>
          </a:graphicData>
        </a:graphic>
      </p:graphicFrame>
      <p:sp>
        <p:nvSpPr>
          <p:cNvPr id="3" name="Content Placeholder 2"/>
          <p:cNvSpPr>
            <a:spLocks noGrp="1"/>
          </p:cNvSpPr>
          <p:nvPr>
            <p:ph idx="13"/>
          </p:nvPr>
        </p:nvSpPr>
        <p:spPr>
          <a:xfrm>
            <a:off x="457200" y="3962401"/>
            <a:ext cx="8229600" cy="1066800"/>
          </a:xfrm>
        </p:spPr>
        <p:txBody>
          <a:bodyPr>
            <a:normAutofit fontScale="92500" lnSpcReduction="10000"/>
          </a:bodyPr>
          <a:lstStyle/>
          <a:p>
            <a:pPr marL="0" indent="0">
              <a:spcBef>
                <a:spcPts val="600"/>
              </a:spcBef>
              <a:buNone/>
              <a:defRPr/>
            </a:pPr>
            <a:r>
              <a:rPr lang="en-US" dirty="0">
                <a:cs typeface="Arial" charset="0"/>
              </a:rPr>
              <a:t>STEP 2 </a:t>
            </a:r>
          </a:p>
          <a:p>
            <a:pPr marL="0" indent="0">
              <a:spcBef>
                <a:spcPts val="600"/>
              </a:spcBef>
              <a:buNone/>
              <a:defRPr/>
            </a:pPr>
            <a:r>
              <a:rPr lang="en-US" dirty="0">
                <a:cs typeface="Arial" charset="0"/>
              </a:rPr>
              <a:t>Divide the dollar amount of change by the base-period amount. This computes the percentage change for the period:</a:t>
            </a:r>
            <a:endParaRPr lang="en-US" dirty="0"/>
          </a:p>
        </p:txBody>
      </p:sp>
      <p:sp>
        <p:nvSpPr>
          <p:cNvPr id="6" name="Content Placeholder 2"/>
          <p:cNvSpPr txBox="1">
            <a:spLocks/>
          </p:cNvSpPr>
          <p:nvPr/>
        </p:nvSpPr>
        <p:spPr>
          <a:xfrm>
            <a:off x="533400" y="5029201"/>
            <a:ext cx="8229600" cy="10668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spcBef>
                <a:spcPts val="600"/>
              </a:spcBef>
              <a:buFont typeface="Arial" panose="020B0604020202020204" pitchFamily="34" charset="0"/>
              <a:buNone/>
              <a:defRPr/>
            </a:pPr>
            <a:endParaRPr lang="en-US" dirty="0">
              <a:cs typeface="Arial" charset="0"/>
            </a:endParaRPr>
          </a:p>
          <a:p>
            <a:pPr marL="0" indent="0">
              <a:spcBef>
                <a:spcPts val="600"/>
              </a:spcBef>
              <a:buFont typeface="Arial" panose="020B0604020202020204" pitchFamily="34" charset="0"/>
              <a:buNone/>
              <a:defRPr/>
            </a:pPr>
            <a:r>
              <a:rPr lang="en-US" dirty="0">
                <a:cs typeface="Arial" charset="0"/>
              </a:rPr>
              <a:t>Percentage change = </a:t>
            </a:r>
            <a:r>
              <a:rPr lang="en-US" u="sng" dirty="0">
                <a:cs typeface="Arial" charset="0"/>
              </a:rPr>
              <a:t> $ 1,680</a:t>
            </a:r>
            <a:r>
              <a:rPr lang="en-US" dirty="0">
                <a:cs typeface="Arial" charset="0"/>
              </a:rPr>
              <a:t> × 100 = 0.0632 × 100 = 6.3%</a:t>
            </a:r>
          </a:p>
          <a:p>
            <a:pPr marL="0" indent="0">
              <a:spcBef>
                <a:spcPts val="600"/>
              </a:spcBef>
              <a:buFont typeface="Arial" panose="020B0604020202020204" pitchFamily="34" charset="0"/>
              <a:buNone/>
              <a:defRPr/>
            </a:pPr>
            <a:r>
              <a:rPr lang="en-US" dirty="0">
                <a:cs typeface="Arial" charset="0"/>
              </a:rPr>
              <a:t>                                    $26,588</a:t>
            </a:r>
            <a:endParaRPr lang="en-US" dirty="0"/>
          </a:p>
        </p:txBody>
      </p:sp>
    </p:spTree>
    <p:extLst>
      <p:ext uri="{BB962C8B-B14F-4D97-AF65-F5344CB8AC3E}">
        <p14:creationId xmlns:p14="http://schemas.microsoft.com/office/powerpoint/2010/main" val="2401954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Trend Percentages </a:t>
            </a:r>
            <a:r>
              <a:rPr lang="en-US" altLang="en-US" sz="2000" b="0" dirty="0"/>
              <a:t>(1 of 2)</a:t>
            </a:r>
            <a:endParaRPr lang="en-US" b="0" dirty="0"/>
          </a:p>
        </p:txBody>
      </p:sp>
      <p:sp>
        <p:nvSpPr>
          <p:cNvPr id="6" name="Content Placeholder 5"/>
          <p:cNvSpPr>
            <a:spLocks noGrp="1"/>
          </p:cNvSpPr>
          <p:nvPr>
            <p:ph idx="1"/>
          </p:nvPr>
        </p:nvSpPr>
        <p:spPr>
          <a:xfrm>
            <a:off x="457200" y="1600201"/>
            <a:ext cx="8229600" cy="1524000"/>
          </a:xfrm>
        </p:spPr>
        <p:txBody>
          <a:bodyPr>
            <a:normAutofit lnSpcReduction="10000"/>
          </a:bodyPr>
          <a:lstStyle/>
          <a:p>
            <a:r>
              <a:rPr lang="en-US" altLang="en-US" dirty="0">
                <a:ea typeface="ＭＳ Ｐゴシック" pitchFamily="34" charset="-128"/>
              </a:rPr>
              <a:t>Form of horizontal analysis</a:t>
            </a:r>
          </a:p>
          <a:p>
            <a:r>
              <a:rPr lang="en-US" altLang="en-US" dirty="0">
                <a:ea typeface="ＭＳ Ｐゴシック" pitchFamily="34" charset="-128"/>
              </a:rPr>
              <a:t>Base year selected and set equal to 100%</a:t>
            </a:r>
          </a:p>
          <a:p>
            <a:pPr lvl="1"/>
            <a:r>
              <a:rPr lang="en-US" altLang="en-US" dirty="0">
                <a:ea typeface="ＭＳ Ｐゴシック" pitchFamily="34" charset="-128"/>
              </a:rPr>
              <a:t>Amount of each following year stated as a percent of base</a:t>
            </a:r>
            <a:endParaRPr lang="en-US" dirty="0"/>
          </a:p>
        </p:txBody>
      </p:sp>
      <p:graphicFrame>
        <p:nvGraphicFramePr>
          <p:cNvPr id="3" name="Object 2">
            <a:extLst>
              <a:ext uri="{FF2B5EF4-FFF2-40B4-BE49-F238E27FC236}">
                <a16:creationId xmlns:a16="http://schemas.microsoft.com/office/drawing/2014/main" id="{6CE55409-540F-3AB9-A25D-98B0E77E2A6B}"/>
              </a:ext>
            </a:extLst>
          </p:cNvPr>
          <p:cNvGraphicFramePr>
            <a:graphicFrameLocks noChangeAspect="1"/>
          </p:cNvGraphicFramePr>
          <p:nvPr/>
        </p:nvGraphicFramePr>
        <p:xfrm>
          <a:off x="2743200" y="4095610"/>
          <a:ext cx="3276600" cy="839460"/>
        </p:xfrm>
        <a:graphic>
          <a:graphicData uri="http://schemas.openxmlformats.org/presentationml/2006/ole">
            <mc:AlternateContent xmlns:mc="http://schemas.openxmlformats.org/markup-compatibility/2006">
              <mc:Choice xmlns:v="urn:schemas-microsoft-com:vml" Requires="v">
                <p:oleObj name="Equation" r:id="rId3" imgW="3073320" imgH="787320" progId="Equation.DSMT4">
                  <p:embed/>
                </p:oleObj>
              </mc:Choice>
              <mc:Fallback>
                <p:oleObj name="Equation" r:id="rId3" imgW="3073320" imgH="787320" progId="Equation.DSMT4">
                  <p:embed/>
                  <p:pic>
                    <p:nvPicPr>
                      <p:cNvPr id="3" name="Object 2">
                        <a:extLst>
                          <a:ext uri="{FF2B5EF4-FFF2-40B4-BE49-F238E27FC236}">
                            <a16:creationId xmlns:a16="http://schemas.microsoft.com/office/drawing/2014/main" id="{6CE55409-540F-3AB9-A25D-98B0E77E2A6B}"/>
                          </a:ext>
                        </a:extLst>
                      </p:cNvPr>
                      <p:cNvPicPr/>
                      <p:nvPr/>
                    </p:nvPicPr>
                    <p:blipFill>
                      <a:blip r:embed="rId4"/>
                      <a:stretch>
                        <a:fillRect/>
                      </a:stretch>
                    </p:blipFill>
                    <p:spPr>
                      <a:xfrm>
                        <a:off x="2743200" y="4095610"/>
                        <a:ext cx="3276600" cy="839460"/>
                      </a:xfrm>
                      <a:prstGeom prst="rect">
                        <a:avLst/>
                      </a:prstGeom>
                    </p:spPr>
                  </p:pic>
                </p:oleObj>
              </mc:Fallback>
            </mc:AlternateContent>
          </a:graphicData>
        </a:graphic>
      </p:graphicFrame>
    </p:spTree>
    <p:extLst>
      <p:ext uri="{BB962C8B-B14F-4D97-AF65-F5344CB8AC3E}">
        <p14:creationId xmlns:p14="http://schemas.microsoft.com/office/powerpoint/2010/main" val="93677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Trend Percentages </a:t>
            </a:r>
            <a:r>
              <a:rPr lang="en-US" altLang="en-US" sz="2000" b="0" dirty="0"/>
              <a:t>(2 of 2)</a:t>
            </a:r>
            <a:endParaRPr lang="en-US" b="0" dirty="0"/>
          </a:p>
        </p:txBody>
      </p:sp>
      <p:sp>
        <p:nvSpPr>
          <p:cNvPr id="3" name="Content Placeholder 2"/>
          <p:cNvSpPr>
            <a:spLocks noGrp="1"/>
          </p:cNvSpPr>
          <p:nvPr>
            <p:ph idx="1"/>
          </p:nvPr>
        </p:nvSpPr>
        <p:spPr>
          <a:xfrm>
            <a:off x="457200" y="1600201"/>
            <a:ext cx="8229600" cy="1523999"/>
          </a:xfrm>
        </p:spPr>
        <p:txBody>
          <a:bodyPr/>
          <a:lstStyle/>
          <a:p>
            <a:pPr marL="0" indent="0">
              <a:buNone/>
              <a:defRPr/>
            </a:pPr>
            <a:r>
              <a:rPr lang="en-US" dirty="0">
                <a:cs typeface="Arial" charset="0"/>
              </a:rPr>
              <a:t>Trend percentages are computed by selecting a base year whose amount is set equal to 100%.</a:t>
            </a:r>
          </a:p>
          <a:p>
            <a:pPr marL="0" indent="0" algn="ctr">
              <a:buNone/>
              <a:defRPr/>
            </a:pPr>
            <a:r>
              <a:rPr lang="en-US" altLang="en-US" sz="2800" dirty="0">
                <a:cs typeface="Arial" charset="0"/>
              </a:rPr>
              <a:t>Trend % = Any year $ ÷ Base year $</a:t>
            </a:r>
            <a:endParaRPr lang="en-US" sz="2800" dirty="0">
              <a:cs typeface="Arial" charset="0"/>
            </a:endParaRPr>
          </a:p>
        </p:txBody>
      </p:sp>
      <p:graphicFrame>
        <p:nvGraphicFramePr>
          <p:cNvPr id="4" name="Table 3"/>
          <p:cNvGraphicFramePr>
            <a:graphicFrameLocks noGrp="1"/>
          </p:cNvGraphicFramePr>
          <p:nvPr/>
        </p:nvGraphicFramePr>
        <p:xfrm>
          <a:off x="685800" y="3810000"/>
          <a:ext cx="5715000" cy="1752600"/>
        </p:xfrm>
        <a:graphic>
          <a:graphicData uri="http://schemas.openxmlformats.org/drawingml/2006/table">
            <a:tbl>
              <a:tblPr firstRow="1" bandRow="1">
                <a:tableStyleId>{2D5ABB26-0587-4C30-8999-92F81FD0307C}</a:tableStyleId>
              </a:tblPr>
              <a:tblGrid>
                <a:gridCol w="251968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7084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2021</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2020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2019</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latin typeface="+mn-lt"/>
                          <a:ea typeface="+mn-ea"/>
                          <a:cs typeface="Arial" charset="0"/>
                        </a:rPr>
                        <a:t>Sales</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$28,268</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$26,588</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$25,142</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112%</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106%</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charset="0"/>
                        </a:rPr>
                        <a:t>100%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800" dirty="0">
                          <a:solidFill>
                            <a:schemeClr val="tx2"/>
                          </a:solidFill>
                          <a:latin typeface="+mn-lt"/>
                          <a:ea typeface="+mn-ea"/>
                          <a:cs typeface="Arial" charset="0"/>
                        </a:rPr>
                        <a:t>*</a:t>
                      </a:r>
                      <a:r>
                        <a:rPr lang="en-US" sz="1800" dirty="0">
                          <a:latin typeface="+mn-lt"/>
                          <a:ea typeface="+mn-ea"/>
                          <a:cs typeface="Arial" charset="0"/>
                        </a:rPr>
                        <a:t>2019 is the base year</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91055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4" name="Subtitle 3"/>
          <p:cNvSpPr>
            <a:spLocks noGrp="1"/>
          </p:cNvSpPr>
          <p:nvPr>
            <p:ph type="subTitle" idx="1"/>
          </p:nvPr>
        </p:nvSpPr>
        <p:spPr/>
        <p:txBody>
          <a:bodyPr/>
          <a:lstStyle/>
          <a:p>
            <a:r>
              <a:rPr lang="en-US" altLang="en-US" b="1" dirty="0">
                <a:ea typeface="ＭＳ Ｐゴシック" pitchFamily="34" charset="-128"/>
              </a:rPr>
              <a:t>Perform</a:t>
            </a:r>
            <a:r>
              <a:rPr lang="en-US" altLang="en-US" dirty="0">
                <a:ea typeface="ＭＳ Ｐゴシック" pitchFamily="34" charset="-128"/>
              </a:rPr>
              <a:t> a vertical analysis </a:t>
            </a:r>
            <a:endParaRPr lang="en-US" dirty="0"/>
          </a:p>
        </p:txBody>
      </p:sp>
    </p:spTree>
    <p:extLst>
      <p:ext uri="{BB962C8B-B14F-4D97-AF65-F5344CB8AC3E}">
        <p14:creationId xmlns:p14="http://schemas.microsoft.com/office/powerpoint/2010/main" val="3888551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Vertical Analysis</a:t>
            </a:r>
            <a:endParaRPr lang="en-US" dirty="0"/>
          </a:p>
        </p:txBody>
      </p:sp>
      <p:sp>
        <p:nvSpPr>
          <p:cNvPr id="4" name="Content Placeholder 3"/>
          <p:cNvSpPr>
            <a:spLocks noGrp="1"/>
          </p:cNvSpPr>
          <p:nvPr>
            <p:ph idx="1"/>
          </p:nvPr>
        </p:nvSpPr>
        <p:spPr>
          <a:xfrm>
            <a:off x="457200" y="1600201"/>
            <a:ext cx="8229600" cy="914399"/>
          </a:xfrm>
        </p:spPr>
        <p:txBody>
          <a:bodyPr>
            <a:normAutofit fontScale="92500" lnSpcReduction="10000"/>
          </a:bodyPr>
          <a:lstStyle/>
          <a:p>
            <a:r>
              <a:rPr lang="en-US" altLang="en-US" sz="2400" dirty="0">
                <a:ea typeface="ＭＳ Ｐゴシック" pitchFamily="34" charset="-128"/>
              </a:rPr>
              <a:t>Shows relationship of a financial-statement item to its base</a:t>
            </a:r>
          </a:p>
          <a:p>
            <a:pPr lvl="1"/>
            <a:r>
              <a:rPr lang="en-US" altLang="en-US" sz="2200" dirty="0">
                <a:ea typeface="ＭＳ Ｐゴシック" pitchFamily="34" charset="-128"/>
              </a:rPr>
              <a:t>For Income Statement, total revenue is the base</a:t>
            </a:r>
          </a:p>
        </p:txBody>
      </p:sp>
      <p:graphicFrame>
        <p:nvGraphicFramePr>
          <p:cNvPr id="5" name="Object 4">
            <a:extLst>
              <a:ext uri="{FF2B5EF4-FFF2-40B4-BE49-F238E27FC236}">
                <a16:creationId xmlns:a16="http://schemas.microsoft.com/office/drawing/2014/main" id="{FC7C92C0-3E68-9BBD-BA8D-41EDEA519245}"/>
              </a:ext>
            </a:extLst>
          </p:cNvPr>
          <p:cNvGraphicFramePr>
            <a:graphicFrameLocks noChangeAspect="1"/>
          </p:cNvGraphicFramePr>
          <p:nvPr/>
        </p:nvGraphicFramePr>
        <p:xfrm>
          <a:off x="1809750" y="2844800"/>
          <a:ext cx="5524500" cy="812800"/>
        </p:xfrm>
        <a:graphic>
          <a:graphicData uri="http://schemas.openxmlformats.org/presentationml/2006/ole">
            <mc:AlternateContent xmlns:mc="http://schemas.openxmlformats.org/markup-compatibility/2006">
              <mc:Choice xmlns:v="urn:schemas-microsoft-com:vml" Requires="v">
                <p:oleObj name="Equation" r:id="rId3" imgW="5524200" imgH="812520" progId="Equation.DSMT4">
                  <p:embed/>
                </p:oleObj>
              </mc:Choice>
              <mc:Fallback>
                <p:oleObj name="Equation" r:id="rId3" imgW="5524200" imgH="812520" progId="Equation.DSMT4">
                  <p:embed/>
                  <p:pic>
                    <p:nvPicPr>
                      <p:cNvPr id="5" name="Object 4">
                        <a:extLst>
                          <a:ext uri="{FF2B5EF4-FFF2-40B4-BE49-F238E27FC236}">
                            <a16:creationId xmlns:a16="http://schemas.microsoft.com/office/drawing/2014/main" id="{FC7C92C0-3E68-9BBD-BA8D-41EDEA519245}"/>
                          </a:ext>
                        </a:extLst>
                      </p:cNvPr>
                      <p:cNvPicPr/>
                      <p:nvPr/>
                    </p:nvPicPr>
                    <p:blipFill>
                      <a:blip r:embed="rId4"/>
                      <a:stretch>
                        <a:fillRect/>
                      </a:stretch>
                    </p:blipFill>
                    <p:spPr>
                      <a:xfrm>
                        <a:off x="1809750" y="2844800"/>
                        <a:ext cx="5524500" cy="812800"/>
                      </a:xfrm>
                      <a:prstGeom prst="rect">
                        <a:avLst/>
                      </a:prstGeom>
                    </p:spPr>
                  </p:pic>
                </p:oleObj>
              </mc:Fallback>
            </mc:AlternateContent>
          </a:graphicData>
        </a:graphic>
      </p:graphicFrame>
      <p:sp>
        <p:nvSpPr>
          <p:cNvPr id="7" name="Content Placeholder 6"/>
          <p:cNvSpPr>
            <a:spLocks noGrp="1"/>
          </p:cNvSpPr>
          <p:nvPr>
            <p:ph idx="13"/>
          </p:nvPr>
        </p:nvSpPr>
        <p:spPr>
          <a:xfrm>
            <a:off x="457200" y="4800600"/>
            <a:ext cx="8229600" cy="457199"/>
          </a:xfrm>
        </p:spPr>
        <p:txBody>
          <a:bodyPr/>
          <a:lstStyle/>
          <a:p>
            <a:pPr lvl="1"/>
            <a:r>
              <a:rPr lang="en-US" altLang="en-US" dirty="0">
                <a:ea typeface="ＭＳ Ｐゴシック" pitchFamily="34" charset="-128"/>
              </a:rPr>
              <a:t>For Balance Sheet, total assets is the base</a:t>
            </a:r>
            <a:endParaRPr lang="en-US" dirty="0">
              <a:ea typeface="ＭＳ Ｐゴシック" pitchFamily="34" charset="-128"/>
            </a:endParaRPr>
          </a:p>
        </p:txBody>
      </p:sp>
    </p:spTree>
    <p:extLst>
      <p:ext uri="{BB962C8B-B14F-4D97-AF65-F5344CB8AC3E}">
        <p14:creationId xmlns:p14="http://schemas.microsoft.com/office/powerpoint/2010/main" val="634711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Four</a:t>
            </a:r>
          </a:p>
        </p:txBody>
      </p:sp>
      <p:sp>
        <p:nvSpPr>
          <p:cNvPr id="5" name="Subtitle 4"/>
          <p:cNvSpPr>
            <a:spLocks noGrp="1"/>
          </p:cNvSpPr>
          <p:nvPr>
            <p:ph type="subTitle" idx="1"/>
          </p:nvPr>
        </p:nvSpPr>
        <p:spPr/>
        <p:txBody>
          <a:bodyPr/>
          <a:lstStyle/>
          <a:p>
            <a:r>
              <a:rPr lang="en-US" altLang="en-US" b="1" dirty="0">
                <a:ea typeface="ＭＳ Ｐゴシック" pitchFamily="34" charset="-128"/>
              </a:rPr>
              <a:t>Prepare</a:t>
            </a:r>
            <a:r>
              <a:rPr lang="en-US" altLang="en-US" dirty="0">
                <a:ea typeface="ＭＳ Ｐゴシック" pitchFamily="34" charset="-128"/>
              </a:rPr>
              <a:t> common-size financial statements</a:t>
            </a:r>
            <a:endParaRPr lang="en-US" dirty="0"/>
          </a:p>
        </p:txBody>
      </p:sp>
    </p:spTree>
    <p:extLst>
      <p:ext uri="{BB962C8B-B14F-4D97-AF65-F5344CB8AC3E}">
        <p14:creationId xmlns:p14="http://schemas.microsoft.com/office/powerpoint/2010/main" val="166093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Common-Size Statements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Report only vertical analysis percents</a:t>
            </a:r>
          </a:p>
          <a:p>
            <a:pPr lvl="1"/>
            <a:r>
              <a:rPr lang="en-US" altLang="en-US" dirty="0">
                <a:ea typeface="ＭＳ Ｐゴシック" pitchFamily="34" charset="-128"/>
              </a:rPr>
              <a:t>No dollar amounts</a:t>
            </a:r>
          </a:p>
          <a:p>
            <a:r>
              <a:rPr lang="en-US" altLang="en-US" dirty="0">
                <a:ea typeface="ＭＳ Ｐゴシック" pitchFamily="34" charset="-128"/>
              </a:rPr>
              <a:t>Help in the comparison of different companies</a:t>
            </a:r>
          </a:p>
          <a:p>
            <a:pPr lvl="1"/>
            <a:r>
              <a:rPr lang="en-US" altLang="en-US" dirty="0">
                <a:ea typeface="ＭＳ Ｐゴシック" pitchFamily="34" charset="-128"/>
              </a:rPr>
              <a:t>Financial results in terms of a common denominator</a:t>
            </a:r>
            <a:endParaRPr lang="en-US" dirty="0"/>
          </a:p>
        </p:txBody>
      </p:sp>
    </p:spTree>
    <p:extLst>
      <p:ext uri="{BB962C8B-B14F-4D97-AF65-F5344CB8AC3E}">
        <p14:creationId xmlns:p14="http://schemas.microsoft.com/office/powerpoint/2010/main" val="3977173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Benchmarking</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Compares company to a standard set by others</a:t>
            </a:r>
          </a:p>
          <a:p>
            <a:pPr lvl="1"/>
            <a:r>
              <a:rPr lang="en-US" altLang="en-US" dirty="0">
                <a:ea typeface="ＭＳ Ｐゴシック" pitchFamily="34" charset="-128"/>
              </a:rPr>
              <a:t>Often a key competitor</a:t>
            </a:r>
          </a:p>
          <a:p>
            <a:r>
              <a:rPr lang="en-US" altLang="en-US" dirty="0">
                <a:ea typeface="ＭＳ Ｐゴシック" pitchFamily="34" charset="-128"/>
              </a:rPr>
              <a:t>Facilitated by common-size statements</a:t>
            </a:r>
          </a:p>
          <a:p>
            <a:r>
              <a:rPr lang="en-US" altLang="en-US" dirty="0">
                <a:ea typeface="ＭＳ Ｐゴシック" pitchFamily="34" charset="-128"/>
              </a:rPr>
              <a:t>Has goal of improvement</a:t>
            </a:r>
          </a:p>
          <a:p>
            <a:endParaRPr lang="en-US" dirty="0">
              <a:ea typeface="ＭＳ Ｐゴシック" pitchFamily="34" charset="-128"/>
            </a:endParaRPr>
          </a:p>
          <a:p>
            <a:pPr marL="0" indent="0" algn="ctr">
              <a:buNone/>
            </a:pPr>
            <a:r>
              <a:rPr lang="en-US" b="1" i="1" dirty="0">
                <a:ea typeface="ＭＳ Ｐゴシック" pitchFamily="34" charset="-128"/>
              </a:rPr>
              <a:t>Now we will use the file “Chapter 10 </a:t>
            </a:r>
            <a:r>
              <a:rPr lang="en-US" b="1" i="1" dirty="0" err="1">
                <a:ea typeface="ＭＳ Ｐゴシック" pitchFamily="34" charset="-128"/>
              </a:rPr>
              <a:t>Example.xls</a:t>
            </a:r>
            <a:r>
              <a:rPr lang="en-US" b="1" i="1" dirty="0">
                <a:ea typeface="ＭＳ Ｐゴシック" pitchFamily="34" charset="-128"/>
              </a:rPr>
              <a:t>” to practice horizontal and vertical analysis, trend % and common-size statements</a:t>
            </a:r>
            <a:endParaRPr lang="en-US" b="1" i="1" dirty="0"/>
          </a:p>
        </p:txBody>
      </p:sp>
    </p:spTree>
    <p:extLst>
      <p:ext uri="{BB962C8B-B14F-4D97-AF65-F5344CB8AC3E}">
        <p14:creationId xmlns:p14="http://schemas.microsoft.com/office/powerpoint/2010/main" val="2929948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Five</a:t>
            </a:r>
          </a:p>
        </p:txBody>
      </p:sp>
      <p:sp>
        <p:nvSpPr>
          <p:cNvPr id="5" name="Subtitle 4"/>
          <p:cNvSpPr>
            <a:spLocks noGrp="1"/>
          </p:cNvSpPr>
          <p:nvPr>
            <p:ph type="subTitle" idx="1"/>
          </p:nvPr>
        </p:nvSpPr>
        <p:spPr/>
        <p:txBody>
          <a:bodyPr/>
          <a:lstStyle/>
          <a:p>
            <a:r>
              <a:rPr lang="en-US" altLang="en-US" b="1" dirty="0">
                <a:ea typeface="ＭＳ Ｐゴシック" pitchFamily="34" charset="-128"/>
              </a:rPr>
              <a:t>Use</a:t>
            </a:r>
            <a:r>
              <a:rPr lang="en-US" altLang="en-US" dirty="0">
                <a:ea typeface="ＭＳ Ｐゴシック" pitchFamily="34" charset="-128"/>
              </a:rPr>
              <a:t> ratios to make business decisions</a:t>
            </a:r>
            <a:endParaRPr lang="en-US" dirty="0"/>
          </a:p>
        </p:txBody>
      </p:sp>
    </p:spTree>
    <p:extLst>
      <p:ext uri="{BB962C8B-B14F-4D97-AF65-F5344CB8AC3E}">
        <p14:creationId xmlns:p14="http://schemas.microsoft.com/office/powerpoint/2010/main" val="196943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Ratio Categories</a:t>
            </a:r>
            <a:endParaRPr lang="en-US" dirty="0"/>
          </a:p>
        </p:txBody>
      </p:sp>
      <p:sp>
        <p:nvSpPr>
          <p:cNvPr id="3" name="Text Placeholder 2"/>
          <p:cNvSpPr>
            <a:spLocks noGrp="1"/>
          </p:cNvSpPr>
          <p:nvPr>
            <p:ph type="body" idx="1"/>
          </p:nvPr>
        </p:nvSpPr>
        <p:spPr>
          <a:xfrm>
            <a:off x="536488" y="1835318"/>
            <a:ext cx="6207212" cy="494566"/>
          </a:xfrm>
        </p:spPr>
        <p:txBody>
          <a:bodyPr/>
          <a:lstStyle/>
          <a:p>
            <a:pPr lvl="0" algn="l"/>
            <a:r>
              <a:rPr lang="en-US" sz="2000" dirty="0"/>
              <a:t>Measuring ability to pay current liabilities</a:t>
            </a:r>
          </a:p>
        </p:txBody>
      </p:sp>
      <p:sp>
        <p:nvSpPr>
          <p:cNvPr id="4" name="Content Placeholder 3"/>
          <p:cNvSpPr>
            <a:spLocks noGrp="1"/>
          </p:cNvSpPr>
          <p:nvPr>
            <p:ph sz="half" idx="2"/>
          </p:nvPr>
        </p:nvSpPr>
        <p:spPr>
          <a:xfrm>
            <a:off x="536488" y="2619577"/>
            <a:ext cx="6207212" cy="494566"/>
          </a:xfrm>
        </p:spPr>
        <p:txBody>
          <a:bodyPr/>
          <a:lstStyle/>
          <a:p>
            <a:pPr lvl="0" algn="l"/>
            <a:r>
              <a:rPr lang="en-US" sz="2000" dirty="0"/>
              <a:t>Measuring turnover and cash conversion</a:t>
            </a:r>
          </a:p>
        </p:txBody>
      </p:sp>
      <p:sp>
        <p:nvSpPr>
          <p:cNvPr id="5" name="Text Placeholder 4"/>
          <p:cNvSpPr>
            <a:spLocks noGrp="1"/>
          </p:cNvSpPr>
          <p:nvPr>
            <p:ph type="body" sz="quarter" idx="3"/>
          </p:nvPr>
        </p:nvSpPr>
        <p:spPr>
          <a:xfrm>
            <a:off x="536488" y="3385116"/>
            <a:ext cx="6207212" cy="494566"/>
          </a:xfrm>
        </p:spPr>
        <p:txBody>
          <a:bodyPr/>
          <a:lstStyle/>
          <a:p>
            <a:pPr lvl="0" algn="l"/>
            <a:r>
              <a:rPr lang="en-US" sz="2000" dirty="0"/>
              <a:t>Measuring leverage</a:t>
            </a:r>
          </a:p>
        </p:txBody>
      </p:sp>
      <p:sp>
        <p:nvSpPr>
          <p:cNvPr id="7" name="Content Placeholder 6"/>
          <p:cNvSpPr>
            <a:spLocks noGrp="1"/>
          </p:cNvSpPr>
          <p:nvPr>
            <p:ph sz="quarter" idx="4"/>
          </p:nvPr>
        </p:nvSpPr>
        <p:spPr>
          <a:xfrm>
            <a:off x="536488" y="4170137"/>
            <a:ext cx="6207212" cy="494566"/>
          </a:xfrm>
        </p:spPr>
        <p:txBody>
          <a:bodyPr/>
          <a:lstStyle/>
          <a:p>
            <a:pPr lvl="0" algn="l"/>
            <a:r>
              <a:rPr lang="en-US" sz="2000" dirty="0"/>
              <a:t>Measuring profitability</a:t>
            </a:r>
          </a:p>
        </p:txBody>
      </p:sp>
      <p:sp>
        <p:nvSpPr>
          <p:cNvPr id="8" name="Content Placeholder 7"/>
          <p:cNvSpPr>
            <a:spLocks noGrp="1"/>
          </p:cNvSpPr>
          <p:nvPr>
            <p:ph sz="half" idx="13"/>
          </p:nvPr>
        </p:nvSpPr>
        <p:spPr>
          <a:xfrm>
            <a:off x="536488" y="4950591"/>
            <a:ext cx="6207212" cy="494566"/>
          </a:xfrm>
        </p:spPr>
        <p:txBody>
          <a:bodyPr/>
          <a:lstStyle/>
          <a:p>
            <a:pPr lvl="0" algn="l"/>
            <a:r>
              <a:rPr lang="en-US" sz="2000" dirty="0"/>
              <a:t>Analyzing shares as an investment</a:t>
            </a:r>
          </a:p>
        </p:txBody>
      </p:sp>
    </p:spTree>
    <p:extLst>
      <p:ext uri="{BB962C8B-B14F-4D97-AF65-F5344CB8AC3E}">
        <p14:creationId xmlns:p14="http://schemas.microsoft.com/office/powerpoint/2010/main" val="46128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Ability to Pay Current Liabilities</a:t>
            </a:r>
            <a:endParaRPr lang="en-US" dirty="0"/>
          </a:p>
        </p:txBody>
      </p:sp>
      <p:sp>
        <p:nvSpPr>
          <p:cNvPr id="4" name="Text Placeholder 3"/>
          <p:cNvSpPr>
            <a:spLocks noGrp="1"/>
          </p:cNvSpPr>
          <p:nvPr>
            <p:ph type="body" idx="1"/>
          </p:nvPr>
        </p:nvSpPr>
        <p:spPr>
          <a:xfrm>
            <a:off x="1486554" y="2096472"/>
            <a:ext cx="2970492" cy="1903057"/>
          </a:xfrm>
        </p:spPr>
        <p:txBody>
          <a:bodyPr/>
          <a:lstStyle/>
          <a:p>
            <a:pPr lvl="0"/>
            <a:r>
              <a:rPr lang="en-US" sz="2400" dirty="0"/>
              <a:t>Working capital</a:t>
            </a:r>
          </a:p>
        </p:txBody>
      </p:sp>
      <p:sp>
        <p:nvSpPr>
          <p:cNvPr id="5" name="Content Placeholder 4"/>
          <p:cNvSpPr>
            <a:spLocks noGrp="1"/>
          </p:cNvSpPr>
          <p:nvPr>
            <p:ph sz="half" idx="2"/>
          </p:nvPr>
        </p:nvSpPr>
        <p:spPr>
          <a:xfrm>
            <a:off x="4717434" y="2096472"/>
            <a:ext cx="2970492" cy="1903057"/>
          </a:xfrm>
        </p:spPr>
        <p:txBody>
          <a:bodyPr/>
          <a:lstStyle/>
          <a:p>
            <a:pPr marL="0" lvl="0" indent="0"/>
            <a:r>
              <a:rPr lang="en-US" sz="2400" dirty="0"/>
              <a:t>Current ratio</a:t>
            </a:r>
          </a:p>
        </p:txBody>
      </p:sp>
      <p:sp>
        <p:nvSpPr>
          <p:cNvPr id="6" name="Text Placeholder 5"/>
          <p:cNvSpPr>
            <a:spLocks noGrp="1"/>
          </p:cNvSpPr>
          <p:nvPr>
            <p:ph type="body" sz="quarter" idx="3"/>
          </p:nvPr>
        </p:nvSpPr>
        <p:spPr>
          <a:xfrm>
            <a:off x="3105804" y="4230072"/>
            <a:ext cx="2970492" cy="1903057"/>
          </a:xfrm>
        </p:spPr>
        <p:txBody>
          <a:bodyPr/>
          <a:lstStyle/>
          <a:p>
            <a:pPr lvl="0"/>
            <a:r>
              <a:rPr lang="en-US" sz="2400" dirty="0"/>
              <a:t>Quick (Acid-test) ratio</a:t>
            </a:r>
          </a:p>
        </p:txBody>
      </p:sp>
    </p:spTree>
    <p:extLst>
      <p:ext uri="{BB962C8B-B14F-4D97-AF65-F5344CB8AC3E}">
        <p14:creationId xmlns:p14="http://schemas.microsoft.com/office/powerpoint/2010/main" val="2970840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Working Capital and Current Ratio</a:t>
            </a:r>
            <a:endParaRPr lang="en-US" dirty="0"/>
          </a:p>
        </p:txBody>
      </p:sp>
      <p:graphicFrame>
        <p:nvGraphicFramePr>
          <p:cNvPr id="4" name="Object 3" descr="Working capital = current assets minus current liabilities"/>
          <p:cNvGraphicFramePr>
            <a:graphicFrameLocks noChangeAspect="1"/>
          </p:cNvGraphicFramePr>
          <p:nvPr/>
        </p:nvGraphicFramePr>
        <p:xfrm>
          <a:off x="720628" y="2057400"/>
          <a:ext cx="7701157" cy="1348908"/>
        </p:xfrm>
        <a:graphic>
          <a:graphicData uri="http://schemas.openxmlformats.org/presentationml/2006/ole">
            <mc:AlternateContent xmlns:mc="http://schemas.openxmlformats.org/markup-compatibility/2006">
              <mc:Choice xmlns:v="urn:schemas-microsoft-com:vml" Requires="v">
                <p:oleObj name="Equation" r:id="rId3" imgW="4635360" imgH="812520" progId="Equation.DSMT4">
                  <p:embed/>
                </p:oleObj>
              </mc:Choice>
              <mc:Fallback>
                <p:oleObj name="Equation" r:id="rId3" imgW="4635360" imgH="812520" progId="Equation.DSMT4">
                  <p:embed/>
                  <p:pic>
                    <p:nvPicPr>
                      <p:cNvPr id="4" name="Object 3" descr="Working capital = current assets minus current liabilities"/>
                      <p:cNvPicPr>
                        <a:picLocks noChangeAspect="1" noChangeArrowheads="1"/>
                      </p:cNvPicPr>
                      <p:nvPr/>
                    </p:nvPicPr>
                    <p:blipFill>
                      <a:blip r:embed="rId4"/>
                      <a:srcRect/>
                      <a:stretch>
                        <a:fillRect/>
                      </a:stretch>
                    </p:blipFill>
                    <p:spPr bwMode="auto">
                      <a:xfrm>
                        <a:off x="720628" y="2057400"/>
                        <a:ext cx="7701157" cy="134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descr="Current ratio = current assets divided by current liabilities"/>
          <p:cNvGraphicFramePr>
            <a:graphicFrameLocks noChangeAspect="1"/>
          </p:cNvGraphicFramePr>
          <p:nvPr/>
        </p:nvGraphicFramePr>
        <p:xfrm>
          <a:off x="775532" y="4200203"/>
          <a:ext cx="7588174" cy="1362397"/>
        </p:xfrm>
        <a:graphic>
          <a:graphicData uri="http://schemas.openxmlformats.org/presentationml/2006/ole">
            <mc:AlternateContent xmlns:mc="http://schemas.openxmlformats.org/markup-compatibility/2006">
              <mc:Choice xmlns:v="urn:schemas-microsoft-com:vml" Requires="v">
                <p:oleObj name="Equation" r:id="rId5" imgW="4520880" imgH="812520" progId="Equation.DSMT4">
                  <p:embed/>
                </p:oleObj>
              </mc:Choice>
              <mc:Fallback>
                <p:oleObj name="Equation" r:id="rId5" imgW="4520880" imgH="812520" progId="Equation.DSMT4">
                  <p:embed/>
                  <p:pic>
                    <p:nvPicPr>
                      <p:cNvPr id="6" name="Object 5" descr="Current ratio = current assets divided by current liabilities"/>
                      <p:cNvPicPr>
                        <a:picLocks noChangeAspect="1" noChangeArrowheads="1"/>
                      </p:cNvPicPr>
                      <p:nvPr/>
                    </p:nvPicPr>
                    <p:blipFill>
                      <a:blip r:embed="rId6"/>
                      <a:srcRect/>
                      <a:stretch>
                        <a:fillRect/>
                      </a:stretch>
                    </p:blipFill>
                    <p:spPr bwMode="auto">
                      <a:xfrm>
                        <a:off x="775532" y="4200203"/>
                        <a:ext cx="7588174" cy="1362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8774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Quick (Acid-Test) Ratio</a:t>
            </a:r>
            <a:endParaRPr lang="en-US" dirty="0"/>
          </a:p>
        </p:txBody>
      </p:sp>
      <p:pic>
        <p:nvPicPr>
          <p:cNvPr id="3" name="Picture 2" descr="Cash + short term investments + net current receivables over current liabilities">
            <a:extLst>
              <a:ext uri="{FF2B5EF4-FFF2-40B4-BE49-F238E27FC236}">
                <a16:creationId xmlns:a16="http://schemas.microsoft.com/office/drawing/2014/main" id="{5DAFFF6F-43DF-4113-9185-57F29024468A}"/>
              </a:ext>
            </a:extLst>
          </p:cNvPr>
          <p:cNvPicPr>
            <a:picLocks noChangeAspect="1"/>
          </p:cNvPicPr>
          <p:nvPr/>
        </p:nvPicPr>
        <p:blipFill>
          <a:blip r:embed="rId3"/>
          <a:stretch>
            <a:fillRect/>
          </a:stretch>
        </p:blipFill>
        <p:spPr>
          <a:xfrm>
            <a:off x="456843" y="2514600"/>
            <a:ext cx="8230313" cy="1286367"/>
          </a:xfrm>
          <a:prstGeom prst="rect">
            <a:avLst/>
          </a:prstGeom>
        </p:spPr>
      </p:pic>
    </p:spTree>
    <p:extLst>
      <p:ext uri="{BB962C8B-B14F-4D97-AF65-F5344CB8AC3E}">
        <p14:creationId xmlns:p14="http://schemas.microsoft.com/office/powerpoint/2010/main" val="370548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304800"/>
            <a:ext cx="8229600" cy="990600"/>
          </a:xfrm>
        </p:spPr>
        <p:txBody>
          <a:bodyPr>
            <a:normAutofit fontScale="90000"/>
          </a:bodyPr>
          <a:lstStyle/>
          <a:p>
            <a:br>
              <a:rPr lang="en-US" altLang="en-US" dirty="0"/>
            </a:br>
            <a:br>
              <a:rPr lang="en-US" altLang="en-US" dirty="0"/>
            </a:br>
            <a:br>
              <a:rPr lang="en-US" altLang="en-US" dirty="0"/>
            </a:br>
            <a:br>
              <a:rPr lang="en-US" altLang="en-US" dirty="0"/>
            </a:br>
            <a:br>
              <a:rPr lang="en-US" altLang="en-US" dirty="0"/>
            </a:br>
            <a:r>
              <a:rPr lang="en-US" altLang="en-US" dirty="0"/>
              <a:t>Data for Calculations </a:t>
            </a:r>
            <a:r>
              <a:rPr lang="en-US" altLang="en-US" sz="2000" b="0" dirty="0"/>
              <a:t>(1 of 2</a:t>
            </a:r>
            <a:r>
              <a:rPr lang="en-US" altLang="en-US" sz="2000" b="0" dirty="0">
                <a:solidFill>
                  <a:schemeClr val="tx1"/>
                </a:solidFill>
                <a:latin typeface="+mn-lt"/>
              </a:rPr>
              <a:t>)</a:t>
            </a:r>
            <a:br>
              <a:rPr lang="en-US" altLang="en-US" dirty="0"/>
            </a:br>
            <a:br>
              <a:rPr lang="en-US" altLang="en-US" dirty="0"/>
            </a:br>
            <a:br>
              <a:rPr lang="en-US" altLang="en-US" dirty="0"/>
            </a:br>
            <a:br>
              <a:rPr lang="en-US" altLang="en-US" dirty="0"/>
            </a:br>
            <a:br>
              <a:rPr lang="en-US" altLang="en-US" dirty="0"/>
            </a:br>
            <a:br>
              <a:rPr lang="en-US" altLang="en-US" sz="2000" b="0" dirty="0">
                <a:solidFill>
                  <a:schemeClr val="tx1"/>
                </a:solidFill>
                <a:latin typeface="+mn-lt"/>
              </a:rPr>
            </a:br>
            <a:r>
              <a:rPr lang="en-US" altLang="en-US" sz="2000" b="0" dirty="0">
                <a:solidFill>
                  <a:schemeClr val="tx1"/>
                </a:solidFill>
                <a:latin typeface="+mn-lt"/>
              </a:rPr>
              <a:t>                                      </a:t>
            </a:r>
            <a:endParaRPr lang="en-US" sz="2000" b="0" dirty="0">
              <a:latin typeface="+mn-lt"/>
            </a:endParaRPr>
          </a:p>
        </p:txBody>
      </p:sp>
      <p:sp>
        <p:nvSpPr>
          <p:cNvPr id="3" name="Content Placeholder 2"/>
          <p:cNvSpPr>
            <a:spLocks noGrp="1"/>
          </p:cNvSpPr>
          <p:nvPr>
            <p:ph idx="1"/>
          </p:nvPr>
        </p:nvSpPr>
        <p:spPr>
          <a:xfrm>
            <a:off x="312420" y="1066403"/>
            <a:ext cx="8671560" cy="990600"/>
          </a:xfrm>
          <a:ln w="12700">
            <a:solidFill>
              <a:schemeClr val="tx1"/>
            </a:solidFill>
          </a:ln>
        </p:spPr>
        <p:txBody>
          <a:bodyPr>
            <a:normAutofit fontScale="77500" lnSpcReduction="20000"/>
          </a:bodyPr>
          <a:lstStyle/>
          <a:p>
            <a:pPr marL="0" indent="0" algn="ctr">
              <a:spcBef>
                <a:spcPts val="600"/>
              </a:spcBef>
              <a:buNone/>
            </a:pPr>
            <a:r>
              <a:rPr lang="en-US" sz="1800" b="1" dirty="0"/>
              <a:t>Apple Inc. </a:t>
            </a:r>
          </a:p>
          <a:p>
            <a:pPr marL="0" indent="0" algn="ctr">
              <a:spcBef>
                <a:spcPts val="600"/>
              </a:spcBef>
              <a:buNone/>
            </a:pPr>
            <a:r>
              <a:rPr lang="en-US" sz="1800" dirty="0"/>
              <a:t>Consolidated Balance Sheets (USD $)</a:t>
            </a:r>
          </a:p>
          <a:p>
            <a:pPr marL="0" indent="0" algn="ctr">
              <a:spcBef>
                <a:spcPts val="600"/>
              </a:spcBef>
              <a:buNone/>
            </a:pPr>
            <a:r>
              <a:rPr lang="en-US" sz="1800" dirty="0"/>
              <a:t>As at September 26, 2020 and September 28, 2019</a:t>
            </a:r>
          </a:p>
        </p:txBody>
      </p:sp>
      <p:graphicFrame>
        <p:nvGraphicFramePr>
          <p:cNvPr id="5" name="Table 4"/>
          <p:cNvGraphicFramePr>
            <a:graphicFrameLocks noGrp="1"/>
          </p:cNvGraphicFramePr>
          <p:nvPr>
            <p:extLst>
              <p:ext uri="{D42A27DB-BD31-4B8C-83A1-F6EECF244321}">
                <p14:modId xmlns:p14="http://schemas.microsoft.com/office/powerpoint/2010/main" val="3895866047"/>
              </p:ext>
            </p:extLst>
          </p:nvPr>
        </p:nvGraphicFramePr>
        <p:xfrm>
          <a:off x="312420" y="2057004"/>
          <a:ext cx="8374380" cy="4177541"/>
        </p:xfrm>
        <a:graphic>
          <a:graphicData uri="http://schemas.openxmlformats.org/drawingml/2006/table">
            <a:tbl>
              <a:tblPr firstRow="1" bandRow="1">
                <a:tableStyleId>{2D5ABB26-0587-4C30-8999-92F81FD0307C}</a:tableStyleId>
              </a:tblPr>
              <a:tblGrid>
                <a:gridCol w="5436001">
                  <a:extLst>
                    <a:ext uri="{9D8B030D-6E8A-4147-A177-3AD203B41FA5}">
                      <a16:colId xmlns:a16="http://schemas.microsoft.com/office/drawing/2014/main" val="20000"/>
                    </a:ext>
                  </a:extLst>
                </a:gridCol>
                <a:gridCol w="1542649">
                  <a:extLst>
                    <a:ext uri="{9D8B030D-6E8A-4147-A177-3AD203B41FA5}">
                      <a16:colId xmlns:a16="http://schemas.microsoft.com/office/drawing/2014/main" val="20001"/>
                    </a:ext>
                  </a:extLst>
                </a:gridCol>
                <a:gridCol w="1395730">
                  <a:extLst>
                    <a:ext uri="{9D8B030D-6E8A-4147-A177-3AD203B41FA5}">
                      <a16:colId xmlns:a16="http://schemas.microsoft.com/office/drawing/2014/main" val="20002"/>
                    </a:ext>
                  </a:extLst>
                </a:gridCol>
              </a:tblGrid>
              <a:tr h="619553">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(in millions)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Sept. 26, 2020</a:t>
                      </a:r>
                    </a:p>
                  </a:txBody>
                  <a:tcPr marL="4572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Sept. 28, 2019</a:t>
                      </a:r>
                    </a:p>
                  </a:txBody>
                  <a:tcPr marL="4572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6499">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Current assets: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600" b="0" i="0" u="none" strike="noStrike" kern="1200" baseline="0" dirty="0">
                        <a:solidFill>
                          <a:schemeClr val="tx1"/>
                        </a:solidFill>
                        <a:latin typeface="+mn-lt"/>
                        <a:ea typeface="+mn-ea"/>
                        <a:cs typeface="+mn-cs"/>
                      </a:endParaRPr>
                    </a:p>
                  </a:txBody>
                  <a:tcPr marL="4572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600" b="0" i="0" u="none" strike="noStrike" kern="1200" baseline="0" dirty="0">
                        <a:solidFill>
                          <a:schemeClr val="tx1"/>
                        </a:solidFill>
                        <a:latin typeface="+mn-lt"/>
                        <a:ea typeface="+mn-ea"/>
                        <a:cs typeface="+mn-cs"/>
                      </a:endParaRPr>
                    </a:p>
                  </a:txBody>
                  <a:tcPr marL="4572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Cash and cash equivalents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$ 38,016</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$ 48,844</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Short-term marketable securities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52,927</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51,713</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Accounts receivable, net</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600" b="0" i="0" u="none" strike="noStrike" kern="1200" baseline="0" dirty="0">
                          <a:solidFill>
                            <a:schemeClr val="tx1"/>
                          </a:solidFill>
                          <a:latin typeface="+mn-lt"/>
                          <a:ea typeface="+mn-ea"/>
                          <a:cs typeface="+mn-cs"/>
                        </a:rPr>
                        <a:t>16,120</a:t>
                      </a:r>
                      <a:endParaRPr lang="en-US" sz="1600" dirty="0"/>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600" b="0" i="0" u="none" strike="noStrike" kern="1200" baseline="0" dirty="0">
                          <a:solidFill>
                            <a:schemeClr val="tx1"/>
                          </a:solidFill>
                          <a:latin typeface="+mn-lt"/>
                          <a:ea typeface="+mn-ea"/>
                          <a:cs typeface="+mn-cs"/>
                        </a:rPr>
                        <a:t>22,926</a:t>
                      </a:r>
                      <a:endParaRPr lang="en-US" sz="1600" dirty="0"/>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Inventories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4,061</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4,106</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Vendor non-trade receivables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21,325</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22,878</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Other current assets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11,264</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12,352</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Total current assets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143,713</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162,819</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Marketable securities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100,877</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105,341</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Property, plant, and equipment, net</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36,766</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37,378</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96499">
                <a:tc>
                  <a:txBody>
                    <a:bodyPr/>
                    <a:lstStyle/>
                    <a:p>
                      <a:pPr>
                        <a:lnSpc>
                          <a:spcPct val="115000"/>
                        </a:lnSpc>
                        <a:spcAft>
                          <a:spcPts val="0"/>
                        </a:spcAft>
                      </a:pPr>
                      <a:r>
                        <a:rPr lang="en-US" sz="1600" b="0" i="0" u="none" strike="noStrike" kern="1200" baseline="0" dirty="0">
                          <a:solidFill>
                            <a:schemeClr val="tx1"/>
                          </a:solidFill>
                          <a:latin typeface="+mn-lt"/>
                          <a:ea typeface="+mn-ea"/>
                          <a:cs typeface="+mn-cs"/>
                        </a:rPr>
                        <a:t>Other non-current assets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42,522</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32,978</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96499">
                <a:tc>
                  <a:txBody>
                    <a:bodyPr/>
                    <a:lstStyle/>
                    <a:p>
                      <a:pPr>
                        <a:lnSpc>
                          <a:spcPct val="115000"/>
                        </a:lnSpc>
                        <a:spcAft>
                          <a:spcPts val="0"/>
                        </a:spcAft>
                      </a:pPr>
                      <a:r>
                        <a:rPr lang="en-US" sz="1600" b="1" i="0" u="none" strike="noStrike" kern="1200" baseline="0" dirty="0">
                          <a:solidFill>
                            <a:schemeClr val="tx1"/>
                          </a:solidFill>
                          <a:latin typeface="+mn-lt"/>
                          <a:ea typeface="+mn-ea"/>
                          <a:cs typeface="+mn-cs"/>
                        </a:rPr>
                        <a:t>Total assets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323,888</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r">
                        <a:lnSpc>
                          <a:spcPct val="115000"/>
                        </a:lnSpc>
                        <a:spcAft>
                          <a:spcPts val="0"/>
                        </a:spcAft>
                      </a:pPr>
                      <a:r>
                        <a:rPr lang="en-US" sz="1600" b="0" i="0" u="none" strike="noStrike" kern="1200" baseline="0" dirty="0">
                          <a:solidFill>
                            <a:schemeClr val="tx1"/>
                          </a:solidFill>
                          <a:latin typeface="+mn-lt"/>
                          <a:ea typeface="+mn-ea"/>
                          <a:cs typeface="+mn-cs"/>
                        </a:rPr>
                        <a:t>338,516</a:t>
                      </a:r>
                    </a:p>
                  </a:txBody>
                  <a:tcPr marL="4572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75536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152400"/>
            <a:ext cx="8229600" cy="626852"/>
          </a:xfrm>
        </p:spPr>
        <p:txBody>
          <a:bodyPr/>
          <a:lstStyle/>
          <a:p>
            <a:r>
              <a:rPr lang="en-US" altLang="en-US" dirty="0"/>
              <a:t>Data for Calculations </a:t>
            </a:r>
            <a:r>
              <a:rPr lang="en-US" altLang="en-US" sz="2000" b="0" dirty="0"/>
              <a:t>(2 of 2)</a:t>
            </a:r>
            <a:endParaRPr lang="en-US" sz="2000" b="0" dirty="0">
              <a:latin typeface="+mn-lt"/>
            </a:endParaRPr>
          </a:p>
        </p:txBody>
      </p:sp>
      <p:graphicFrame>
        <p:nvGraphicFramePr>
          <p:cNvPr id="4" name="Table 3"/>
          <p:cNvGraphicFramePr>
            <a:graphicFrameLocks noGrp="1"/>
          </p:cNvGraphicFramePr>
          <p:nvPr/>
        </p:nvGraphicFramePr>
        <p:xfrm>
          <a:off x="259557" y="1001440"/>
          <a:ext cx="8686164" cy="5203792"/>
        </p:xfrm>
        <a:graphic>
          <a:graphicData uri="http://schemas.openxmlformats.org/drawingml/2006/table">
            <a:tbl>
              <a:tblPr firstRow="1" bandRow="1">
                <a:tableStyleId>{2D5ABB26-0587-4C30-8999-92F81FD0307C}</a:tableStyleId>
              </a:tblPr>
              <a:tblGrid>
                <a:gridCol w="5715000">
                  <a:extLst>
                    <a:ext uri="{9D8B030D-6E8A-4147-A177-3AD203B41FA5}">
                      <a16:colId xmlns:a16="http://schemas.microsoft.com/office/drawing/2014/main" val="20000"/>
                    </a:ext>
                  </a:extLst>
                </a:gridCol>
                <a:gridCol w="1462087">
                  <a:extLst>
                    <a:ext uri="{9D8B030D-6E8A-4147-A177-3AD203B41FA5}">
                      <a16:colId xmlns:a16="http://schemas.microsoft.com/office/drawing/2014/main" val="20001"/>
                    </a:ext>
                  </a:extLst>
                </a:gridCol>
                <a:gridCol w="1509077">
                  <a:extLst>
                    <a:ext uri="{9D8B030D-6E8A-4147-A177-3AD203B41FA5}">
                      <a16:colId xmlns:a16="http://schemas.microsoft.com/office/drawing/2014/main" val="20002"/>
                    </a:ext>
                  </a:extLst>
                </a:gridCol>
              </a:tblGrid>
              <a:tr h="283040">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600" b="1" i="0" u="none" strike="noStrike" kern="1200" baseline="0" dirty="0">
                          <a:solidFill>
                            <a:schemeClr val="tx1"/>
                          </a:solidFill>
                          <a:latin typeface="+mn-lt"/>
                          <a:ea typeface="+mn-ea"/>
                          <a:cs typeface="+mn-cs"/>
                        </a:rPr>
                        <a:t>Current liabilities: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Accounts payable</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42,296</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46,236</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Other current liabilities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42,684</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37,720</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Deferred revenue</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6,643</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5,522</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7910">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600" b="0" i="0" u="none" strike="noStrike" kern="1200" baseline="0" dirty="0">
                          <a:solidFill>
                            <a:schemeClr val="tx1"/>
                          </a:solidFill>
                          <a:latin typeface="+mn-lt"/>
                          <a:ea typeface="+mn-ea"/>
                          <a:cs typeface="+mn-cs"/>
                        </a:rPr>
                        <a:t>Commercial paper</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4,996</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5,980</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Term debt</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8,773</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10,260</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Total current liabilities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105,392</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105,718</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Term debt</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98,667</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91,807</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Other non-current liabilities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54,490</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50,503</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9791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Total liabilities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258,549</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248,028</a:t>
                      </a:r>
                    </a:p>
                  </a:txBody>
                  <a:tcPr marL="0"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8304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Commitments and contingencies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83040">
                <a:tc>
                  <a:txBody>
                    <a:bodyPr/>
                    <a:lstStyle/>
                    <a:p>
                      <a:pPr marL="0" algn="l" defTabSz="914400" rtl="0" eaLnBrk="1" latinLnBrk="0" hangingPunct="1">
                        <a:lnSpc>
                          <a:spcPct val="115000"/>
                        </a:lnSpc>
                        <a:spcAft>
                          <a:spcPts val="0"/>
                        </a:spcAft>
                      </a:pPr>
                      <a:r>
                        <a:rPr lang="en-US" sz="1600" b="1" i="0" u="none" strike="noStrike" kern="1200" baseline="0" dirty="0">
                          <a:solidFill>
                            <a:schemeClr val="tx1"/>
                          </a:solidFill>
                          <a:latin typeface="+mn-lt"/>
                          <a:ea typeface="+mn-ea"/>
                          <a:cs typeface="+mn-cs"/>
                        </a:rPr>
                        <a:t>Shareholders’ equity:</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nSpc>
                          <a:spcPct val="115000"/>
                        </a:lnSpc>
                        <a:spcAft>
                          <a:spcPts val="0"/>
                        </a:spcAft>
                      </a:pPr>
                      <a:endParaRPr lang="en-US" sz="1600" dirty="0">
                        <a:effectLst/>
                        <a:latin typeface="Calibri"/>
                        <a:ea typeface="Calibri"/>
                        <a:cs typeface="Times New Roman"/>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86580">
                <a:tc>
                  <a:txBody>
                    <a:bodyPr/>
                    <a:lstStyle/>
                    <a:p>
                      <a:pPr marL="274320" indent="-45720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Share capital</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50,779</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45,174</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8304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Retained earnings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14,966</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45,898</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8304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Accumulated other comprehensive income/(loss)</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(406)</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(584)</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83040">
                <a:tc>
                  <a:txBody>
                    <a:bodyPr/>
                    <a:lstStyle/>
                    <a:p>
                      <a:pPr marL="0" algn="l"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Total shareholders’ equity</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65,339</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90,488</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83040">
                <a:tc>
                  <a:txBody>
                    <a:bodyPr/>
                    <a:lstStyle/>
                    <a:p>
                      <a:pPr marL="0" algn="l" defTabSz="914400" rtl="0" eaLnBrk="1" latinLnBrk="0" hangingPunct="1">
                        <a:lnSpc>
                          <a:spcPct val="115000"/>
                        </a:lnSpc>
                        <a:spcAft>
                          <a:spcPts val="0"/>
                        </a:spcAft>
                      </a:pPr>
                      <a:r>
                        <a:rPr lang="en-US" sz="1600" b="1" i="0" u="none" strike="noStrike" kern="1200" baseline="0" dirty="0">
                          <a:solidFill>
                            <a:schemeClr val="tx1"/>
                          </a:solidFill>
                          <a:latin typeface="+mn-lt"/>
                          <a:ea typeface="+mn-ea"/>
                          <a:cs typeface="+mn-cs"/>
                        </a:rPr>
                        <a:t>Total liabilities and shareholders’ equity</a:t>
                      </a:r>
                    </a:p>
                  </a:txBody>
                  <a:tcPr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$ 323,888</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r" defTabSz="914400" rtl="0" eaLnBrk="1" latinLnBrk="0" hangingPunct="1">
                        <a:lnSpc>
                          <a:spcPct val="115000"/>
                        </a:lnSpc>
                        <a:spcAft>
                          <a:spcPts val="0"/>
                        </a:spcAft>
                      </a:pPr>
                      <a:r>
                        <a:rPr lang="en-US" sz="1600" b="0" i="0" u="none" strike="noStrike" kern="1200" baseline="0" dirty="0">
                          <a:solidFill>
                            <a:schemeClr val="tx1"/>
                          </a:solidFill>
                          <a:latin typeface="+mn-lt"/>
                          <a:ea typeface="+mn-ea"/>
                          <a:cs typeface="+mn-cs"/>
                        </a:rPr>
                        <a:t>$ 338,516</a:t>
                      </a:r>
                    </a:p>
                  </a:txBody>
                  <a:tcPr marR="45720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76554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Working Capital</a:t>
            </a:r>
            <a:endParaRPr lang="en-US" dirty="0"/>
          </a:p>
        </p:txBody>
      </p:sp>
      <p:pic>
        <p:nvPicPr>
          <p:cNvPr id="3" name="Picture 2" descr="Working capital = current assets minus current liabilities">
            <a:extLst>
              <a:ext uri="{FF2B5EF4-FFF2-40B4-BE49-F238E27FC236}">
                <a16:creationId xmlns:a16="http://schemas.microsoft.com/office/drawing/2014/main" id="{9A61E073-AED1-4ABC-983B-8EC88C6E5E09}"/>
              </a:ext>
            </a:extLst>
          </p:cNvPr>
          <p:cNvPicPr>
            <a:picLocks noChangeAspect="1"/>
          </p:cNvPicPr>
          <p:nvPr/>
        </p:nvPicPr>
        <p:blipFill>
          <a:blip r:embed="rId3"/>
          <a:stretch>
            <a:fillRect/>
          </a:stretch>
        </p:blipFill>
        <p:spPr>
          <a:xfrm>
            <a:off x="1227717" y="1905000"/>
            <a:ext cx="7230483" cy="1310754"/>
          </a:xfrm>
          <a:prstGeom prst="rect">
            <a:avLst/>
          </a:prstGeom>
        </p:spPr>
      </p:pic>
      <p:sp>
        <p:nvSpPr>
          <p:cNvPr id="7" name="Content Placeholder 6"/>
          <p:cNvSpPr>
            <a:spLocks noGrp="1"/>
          </p:cNvSpPr>
          <p:nvPr>
            <p:ph idx="1"/>
          </p:nvPr>
        </p:nvSpPr>
        <p:spPr>
          <a:xfrm>
            <a:off x="1916574" y="3276600"/>
            <a:ext cx="5627225" cy="1219200"/>
          </a:xfrm>
        </p:spPr>
        <p:txBody>
          <a:bodyPr anchor="ctr"/>
          <a:lstStyle/>
          <a:p>
            <a:pPr marL="91440" indent="0">
              <a:buNone/>
            </a:pPr>
            <a:r>
              <a:rPr lang="en-US" sz="2400" b="1" dirty="0"/>
              <a:t>2020   </a:t>
            </a:r>
            <a:r>
              <a:rPr lang="en-US" sz="2400" dirty="0"/>
              <a:t>$38,321 = $143,713 – $105,392</a:t>
            </a:r>
          </a:p>
        </p:txBody>
      </p:sp>
      <p:sp>
        <p:nvSpPr>
          <p:cNvPr id="8" name="Content Placeholder 7"/>
          <p:cNvSpPr>
            <a:spLocks noGrp="1"/>
          </p:cNvSpPr>
          <p:nvPr>
            <p:ph idx="13"/>
          </p:nvPr>
        </p:nvSpPr>
        <p:spPr>
          <a:xfrm>
            <a:off x="1916574" y="4965700"/>
            <a:ext cx="5779626" cy="762000"/>
          </a:xfrm>
        </p:spPr>
        <p:txBody>
          <a:bodyPr anchor="ctr"/>
          <a:lstStyle/>
          <a:p>
            <a:pPr marL="91440" indent="0">
              <a:buNone/>
            </a:pPr>
            <a:r>
              <a:rPr lang="en-US" sz="2400" b="1" dirty="0"/>
              <a:t>2019   </a:t>
            </a:r>
            <a:r>
              <a:rPr lang="en-US" sz="2400" dirty="0"/>
              <a:t>$57,101 = $162,819 - $105,718</a:t>
            </a:r>
          </a:p>
        </p:txBody>
      </p:sp>
    </p:spTree>
    <p:extLst>
      <p:ext uri="{BB962C8B-B14F-4D97-AF65-F5344CB8AC3E}">
        <p14:creationId xmlns:p14="http://schemas.microsoft.com/office/powerpoint/2010/main" val="4139772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Current Ratio</a:t>
            </a:r>
            <a:endParaRPr lang="en-US" dirty="0"/>
          </a:p>
        </p:txBody>
      </p:sp>
      <p:pic>
        <p:nvPicPr>
          <p:cNvPr id="3" name="Picture 2" descr="Current ratio = current assets divided by current liabilities">
            <a:extLst>
              <a:ext uri="{FF2B5EF4-FFF2-40B4-BE49-F238E27FC236}">
                <a16:creationId xmlns:a16="http://schemas.microsoft.com/office/drawing/2014/main" id="{B0DCE902-8605-4056-BBD8-E74957538B2E}"/>
              </a:ext>
            </a:extLst>
          </p:cNvPr>
          <p:cNvPicPr>
            <a:picLocks noChangeAspect="1"/>
          </p:cNvPicPr>
          <p:nvPr/>
        </p:nvPicPr>
        <p:blipFill>
          <a:blip r:embed="rId3"/>
          <a:stretch>
            <a:fillRect/>
          </a:stretch>
        </p:blipFill>
        <p:spPr>
          <a:xfrm>
            <a:off x="956758" y="1965846"/>
            <a:ext cx="7230483" cy="1310754"/>
          </a:xfrm>
          <a:prstGeom prst="rect">
            <a:avLst/>
          </a:prstGeom>
        </p:spPr>
      </p:pic>
      <p:sp>
        <p:nvSpPr>
          <p:cNvPr id="7" name="Content Placeholder 6"/>
          <p:cNvSpPr>
            <a:spLocks noGrp="1"/>
          </p:cNvSpPr>
          <p:nvPr>
            <p:ph idx="1"/>
          </p:nvPr>
        </p:nvSpPr>
        <p:spPr>
          <a:xfrm>
            <a:off x="1295400" y="3510694"/>
            <a:ext cx="6705600" cy="838200"/>
          </a:xfrm>
        </p:spPr>
        <p:txBody>
          <a:bodyPr anchor="ctr"/>
          <a:lstStyle/>
          <a:p>
            <a:pPr marL="91440" indent="0">
              <a:buNone/>
            </a:pPr>
            <a:r>
              <a:rPr lang="en-US" sz="2400" b="1" dirty="0"/>
              <a:t>2020  </a:t>
            </a:r>
            <a:r>
              <a:rPr lang="en-US" sz="2400" dirty="0"/>
              <a:t>1.36 = $143,713 ÷ $105,392</a:t>
            </a:r>
          </a:p>
        </p:txBody>
      </p:sp>
      <p:sp>
        <p:nvSpPr>
          <p:cNvPr id="8" name="Content Placeholder 7"/>
          <p:cNvSpPr>
            <a:spLocks noGrp="1"/>
          </p:cNvSpPr>
          <p:nvPr>
            <p:ph idx="13"/>
          </p:nvPr>
        </p:nvSpPr>
        <p:spPr>
          <a:xfrm>
            <a:off x="1295400" y="4800600"/>
            <a:ext cx="6324600" cy="685800"/>
          </a:xfrm>
        </p:spPr>
        <p:txBody>
          <a:bodyPr anchor="ctr"/>
          <a:lstStyle/>
          <a:p>
            <a:pPr marL="91440" indent="0">
              <a:buNone/>
            </a:pPr>
            <a:r>
              <a:rPr lang="en-US" sz="2400" b="1" dirty="0"/>
              <a:t>2019  </a:t>
            </a:r>
            <a:r>
              <a:rPr lang="en-US" sz="2400" dirty="0"/>
              <a:t>1.54 = $162,819 ÷ $105,718</a:t>
            </a:r>
            <a:endParaRPr lang="en-US" b="1" dirty="0"/>
          </a:p>
        </p:txBody>
      </p:sp>
    </p:spTree>
    <p:extLst>
      <p:ext uri="{BB962C8B-B14F-4D97-AF65-F5344CB8AC3E}">
        <p14:creationId xmlns:p14="http://schemas.microsoft.com/office/powerpoint/2010/main" val="174819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Quick Ratio</a:t>
            </a:r>
            <a:endParaRPr lang="en-US" dirty="0"/>
          </a:p>
        </p:txBody>
      </p:sp>
      <p:pic>
        <p:nvPicPr>
          <p:cNvPr id="4" name="Picture 3" descr="Cash + short term investments + net current receivables over current liabilities">
            <a:extLst>
              <a:ext uri="{FF2B5EF4-FFF2-40B4-BE49-F238E27FC236}">
                <a16:creationId xmlns:a16="http://schemas.microsoft.com/office/drawing/2014/main" id="{2C9BB5E3-33F4-4AC1-B159-2CB1FCA5BDF5}"/>
              </a:ext>
            </a:extLst>
          </p:cNvPr>
          <p:cNvPicPr>
            <a:picLocks noChangeAspect="1"/>
          </p:cNvPicPr>
          <p:nvPr/>
        </p:nvPicPr>
        <p:blipFill>
          <a:blip r:embed="rId3"/>
          <a:stretch>
            <a:fillRect/>
          </a:stretch>
        </p:blipFill>
        <p:spPr>
          <a:xfrm>
            <a:off x="456843" y="1676400"/>
            <a:ext cx="8230313" cy="1286367"/>
          </a:xfrm>
          <a:prstGeom prst="rect">
            <a:avLst/>
          </a:prstGeom>
        </p:spPr>
      </p:pic>
      <p:sp>
        <p:nvSpPr>
          <p:cNvPr id="6" name="Content Placeholder 6"/>
          <p:cNvSpPr>
            <a:spLocks noGrp="1"/>
          </p:cNvSpPr>
          <p:nvPr>
            <p:ph idx="1"/>
          </p:nvPr>
        </p:nvSpPr>
        <p:spPr>
          <a:xfrm>
            <a:off x="1157557" y="3505200"/>
            <a:ext cx="6995843" cy="685800"/>
          </a:xfrm>
        </p:spPr>
        <p:txBody>
          <a:bodyPr anchor="ctr">
            <a:normAutofit fontScale="25000" lnSpcReduction="20000"/>
          </a:bodyPr>
          <a:lstStyle/>
          <a:p>
            <a:pPr marL="91440" indent="0">
              <a:buNone/>
            </a:pPr>
            <a:endParaRPr lang="en-US" sz="9600" b="1" dirty="0"/>
          </a:p>
          <a:p>
            <a:pPr marL="91440" indent="0">
              <a:buNone/>
            </a:pPr>
            <a:r>
              <a:rPr lang="en-US" sz="9600" b="1" dirty="0"/>
              <a:t>2020  </a:t>
            </a:r>
            <a:r>
              <a:rPr lang="en-US" sz="9600" dirty="0"/>
              <a:t>1.02 = </a:t>
            </a:r>
            <a:r>
              <a:rPr lang="en-US" sz="9600" u="sng" dirty="0"/>
              <a:t>$38,016 + 52,927 + 16,120</a:t>
            </a:r>
            <a:r>
              <a:rPr lang="en-US" sz="9600" dirty="0"/>
              <a:t>                                    			$105,392     </a:t>
            </a:r>
          </a:p>
          <a:p>
            <a:pPr marL="91440" indent="0">
              <a:buNone/>
            </a:pPr>
            <a:r>
              <a:rPr lang="en-US" dirty="0"/>
              <a:t>      </a:t>
            </a:r>
          </a:p>
        </p:txBody>
      </p:sp>
      <p:sp>
        <p:nvSpPr>
          <p:cNvPr id="3" name="Rectangle 2"/>
          <p:cNvSpPr/>
          <p:nvPr/>
        </p:nvSpPr>
        <p:spPr>
          <a:xfrm>
            <a:off x="1066800" y="4572000"/>
            <a:ext cx="6248400" cy="830997"/>
          </a:xfrm>
          <a:prstGeom prst="rect">
            <a:avLst/>
          </a:prstGeom>
        </p:spPr>
        <p:txBody>
          <a:bodyPr wrap="square">
            <a:spAutoFit/>
          </a:bodyPr>
          <a:lstStyle/>
          <a:p>
            <a:pPr marL="91440" indent="0">
              <a:buNone/>
            </a:pPr>
            <a:r>
              <a:rPr lang="en-US" sz="2400" b="1" dirty="0"/>
              <a:t>2019  </a:t>
            </a:r>
            <a:r>
              <a:rPr lang="en-US" sz="2400" dirty="0"/>
              <a:t>1.17 = </a:t>
            </a:r>
            <a:r>
              <a:rPr lang="en-US" sz="2400" u="sng" dirty="0"/>
              <a:t>$48,844 + 51,713 + 22,926</a:t>
            </a:r>
            <a:r>
              <a:rPr lang="en-US" sz="2400" dirty="0"/>
              <a:t>                                    			$105,718           </a:t>
            </a:r>
          </a:p>
        </p:txBody>
      </p:sp>
    </p:spTree>
    <p:extLst>
      <p:ext uri="{BB962C8B-B14F-4D97-AF65-F5344CB8AC3E}">
        <p14:creationId xmlns:p14="http://schemas.microsoft.com/office/powerpoint/2010/main" val="251455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Measuring Turnover and the Cash Conversion Cycle</a:t>
            </a:r>
            <a:endParaRPr lang="en-US" dirty="0"/>
          </a:p>
        </p:txBody>
      </p:sp>
      <p:sp>
        <p:nvSpPr>
          <p:cNvPr id="4" name="Text Placeholder 3"/>
          <p:cNvSpPr>
            <a:spLocks noGrp="1"/>
          </p:cNvSpPr>
          <p:nvPr>
            <p:ph type="body" idx="1"/>
          </p:nvPr>
        </p:nvSpPr>
        <p:spPr>
          <a:xfrm>
            <a:off x="1600200" y="2133600"/>
            <a:ext cx="2743200" cy="1828800"/>
          </a:xfrm>
        </p:spPr>
        <p:txBody>
          <a:bodyPr/>
          <a:lstStyle/>
          <a:p>
            <a:pPr lvl="0"/>
            <a:r>
              <a:rPr lang="en-US" sz="2800" dirty="0"/>
              <a:t>Inventory turnover</a:t>
            </a:r>
          </a:p>
        </p:txBody>
      </p:sp>
      <p:sp>
        <p:nvSpPr>
          <p:cNvPr id="5" name="Content Placeholder 4"/>
          <p:cNvSpPr>
            <a:spLocks noGrp="1"/>
          </p:cNvSpPr>
          <p:nvPr>
            <p:ph sz="half" idx="2"/>
          </p:nvPr>
        </p:nvSpPr>
        <p:spPr>
          <a:xfrm>
            <a:off x="4831080" y="2133600"/>
            <a:ext cx="2743200" cy="1828800"/>
          </a:xfrm>
        </p:spPr>
        <p:txBody>
          <a:bodyPr/>
          <a:lstStyle/>
          <a:p>
            <a:pPr marL="0" indent="0"/>
            <a:r>
              <a:rPr lang="en-US" sz="2800" dirty="0"/>
              <a:t>Accounts receivable turnover</a:t>
            </a:r>
          </a:p>
        </p:txBody>
      </p:sp>
      <p:sp>
        <p:nvSpPr>
          <p:cNvPr id="6" name="Text Placeholder 5"/>
          <p:cNvSpPr>
            <a:spLocks noGrp="1"/>
          </p:cNvSpPr>
          <p:nvPr>
            <p:ph type="body" sz="quarter" idx="3"/>
          </p:nvPr>
        </p:nvSpPr>
        <p:spPr>
          <a:xfrm>
            <a:off x="3200400" y="4267200"/>
            <a:ext cx="2743200" cy="1828800"/>
          </a:xfrm>
        </p:spPr>
        <p:txBody>
          <a:bodyPr/>
          <a:lstStyle/>
          <a:p>
            <a:r>
              <a:rPr lang="en-US" sz="2800" dirty="0"/>
              <a:t>Accounts payable turnover</a:t>
            </a:r>
          </a:p>
        </p:txBody>
      </p:sp>
    </p:spTree>
    <p:extLst>
      <p:ext uri="{BB962C8B-B14F-4D97-AF65-F5344CB8AC3E}">
        <p14:creationId xmlns:p14="http://schemas.microsoft.com/office/powerpoint/2010/main" val="299284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Inventory Turnover</a:t>
            </a:r>
            <a:endParaRPr lang="en-US" dirty="0"/>
          </a:p>
        </p:txBody>
      </p:sp>
      <p:pic>
        <p:nvPicPr>
          <p:cNvPr id="4" name="Picture 3" descr="Cost of goods sold over average inventory">
            <a:extLst>
              <a:ext uri="{FF2B5EF4-FFF2-40B4-BE49-F238E27FC236}">
                <a16:creationId xmlns:a16="http://schemas.microsoft.com/office/drawing/2014/main" id="{09FF2749-F5F3-444F-AB1D-6B321603CC9C}"/>
              </a:ext>
            </a:extLst>
          </p:cNvPr>
          <p:cNvPicPr>
            <a:picLocks noChangeAspect="1"/>
          </p:cNvPicPr>
          <p:nvPr/>
        </p:nvPicPr>
        <p:blipFill>
          <a:blip r:embed="rId3"/>
          <a:stretch>
            <a:fillRect/>
          </a:stretch>
        </p:blipFill>
        <p:spPr>
          <a:xfrm>
            <a:off x="1182509" y="1489304"/>
            <a:ext cx="6931350" cy="1103882"/>
          </a:xfrm>
          <a:prstGeom prst="rect">
            <a:avLst/>
          </a:prstGeom>
        </p:spPr>
      </p:pic>
      <p:cxnSp>
        <p:nvCxnSpPr>
          <p:cNvPr id="6" name="Straight Arrow Connector 5"/>
          <p:cNvCxnSpPr>
            <a:cxnSpLocks noChangeShapeType="1"/>
          </p:cNvCxnSpPr>
          <p:nvPr/>
        </p:nvCxnSpPr>
        <p:spPr bwMode="auto">
          <a:xfrm flipH="1">
            <a:off x="4648184" y="2781517"/>
            <a:ext cx="3207" cy="495083"/>
          </a:xfrm>
          <a:prstGeom prst="straightConnector1">
            <a:avLst/>
          </a:prstGeom>
          <a:noFill/>
          <a:ln w="19050">
            <a:solidFill>
              <a:srgbClr val="007FA3"/>
            </a:solidFill>
            <a:round/>
            <a:headEnd/>
            <a:tailEnd type="arrow" w="med" len="med"/>
          </a:ln>
          <a:effectLst>
            <a:outerShdw blurRad="51500" dist="25400" dir="5400000" rotWithShape="0">
              <a:srgbClr val="808080">
                <a:alpha val="39998"/>
              </a:srgbClr>
            </a:outerShdw>
          </a:effectLst>
          <a:extLst>
            <a:ext uri="{909E8E84-426E-40DD-AFC4-6F175D3DCCD1}">
              <a14:hiddenFill xmlns:a14="http://schemas.microsoft.com/office/drawing/2010/main">
                <a:noFill/>
              </a14:hiddenFill>
            </a:ext>
          </a:extLst>
        </p:spPr>
      </p:cxnSp>
      <p:sp>
        <p:nvSpPr>
          <p:cNvPr id="3" name="Content Placeholder 2"/>
          <p:cNvSpPr>
            <a:spLocks noGrp="1"/>
          </p:cNvSpPr>
          <p:nvPr>
            <p:ph idx="1"/>
          </p:nvPr>
        </p:nvSpPr>
        <p:spPr>
          <a:xfrm>
            <a:off x="457200" y="3352800"/>
            <a:ext cx="8229600" cy="457200"/>
          </a:xfrm>
        </p:spPr>
        <p:txBody>
          <a:bodyPr>
            <a:normAutofit fontScale="92500" lnSpcReduction="10000"/>
          </a:bodyPr>
          <a:lstStyle/>
          <a:p>
            <a:pPr marL="0" indent="0" algn="ctr">
              <a:buNone/>
            </a:pPr>
            <a:r>
              <a:rPr lang="en-US" altLang="en-US" sz="2800" dirty="0"/>
              <a:t>(Beginning inventory + Ending inventory)/2)</a:t>
            </a:r>
            <a:endParaRPr lang="en-US" sz="2800" dirty="0"/>
          </a:p>
        </p:txBody>
      </p:sp>
      <p:pic>
        <p:nvPicPr>
          <p:cNvPr id="5" name="Picture 4" descr="Days’ inventory outstanding = 365 over inventory turnover">
            <a:extLst>
              <a:ext uri="{FF2B5EF4-FFF2-40B4-BE49-F238E27FC236}">
                <a16:creationId xmlns:a16="http://schemas.microsoft.com/office/drawing/2014/main" id="{9BA16FB8-84D4-459D-8E53-C0CDF0E92BBE}"/>
              </a:ext>
            </a:extLst>
          </p:cNvPr>
          <p:cNvPicPr>
            <a:picLocks noChangeAspect="1"/>
          </p:cNvPicPr>
          <p:nvPr/>
        </p:nvPicPr>
        <p:blipFill>
          <a:blip r:embed="rId4"/>
          <a:stretch>
            <a:fillRect/>
          </a:stretch>
        </p:blipFill>
        <p:spPr>
          <a:xfrm>
            <a:off x="1371600" y="4372862"/>
            <a:ext cx="7086957" cy="1128664"/>
          </a:xfrm>
          <a:prstGeom prst="rect">
            <a:avLst/>
          </a:prstGeom>
        </p:spPr>
      </p:pic>
    </p:spTree>
    <p:extLst>
      <p:ext uri="{BB962C8B-B14F-4D97-AF65-F5344CB8AC3E}">
        <p14:creationId xmlns:p14="http://schemas.microsoft.com/office/powerpoint/2010/main" val="123730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Measuring Ability to Sell Inventory</a:t>
            </a:r>
            <a:endParaRPr lang="en-US" dirty="0"/>
          </a:p>
        </p:txBody>
      </p:sp>
      <p:sp>
        <p:nvSpPr>
          <p:cNvPr id="3" name="Content Placeholder 2"/>
          <p:cNvSpPr>
            <a:spLocks noGrp="1"/>
          </p:cNvSpPr>
          <p:nvPr>
            <p:ph idx="1"/>
          </p:nvPr>
        </p:nvSpPr>
        <p:spPr>
          <a:xfrm>
            <a:off x="533400" y="1524000"/>
            <a:ext cx="8229600" cy="4525963"/>
          </a:xfrm>
        </p:spPr>
        <p:txBody>
          <a:bodyPr anchor="ctr"/>
          <a:lstStyle/>
          <a:p>
            <a:pPr marL="0" indent="0" algn="ctr">
              <a:buNone/>
            </a:pPr>
            <a:r>
              <a:rPr lang="en-US" altLang="en-US" sz="2400" dirty="0"/>
              <a:t>Apple</a:t>
            </a:r>
            <a:r>
              <a:rPr lang="ja-JP" altLang="en-US" sz="2400" dirty="0"/>
              <a:t>’</a:t>
            </a:r>
            <a:r>
              <a:rPr lang="en-US" altLang="ja-JP" sz="2400" dirty="0"/>
              <a:t>s inventory turnover: </a:t>
            </a:r>
            <a:r>
              <a:rPr lang="en-US" altLang="en-US" sz="2400" b="1" dirty="0"/>
              <a:t>2020</a:t>
            </a:r>
          </a:p>
          <a:p>
            <a:pPr marL="0" indent="0" algn="ctr">
              <a:buNone/>
            </a:pPr>
            <a:r>
              <a:rPr lang="en-US" altLang="en-US" sz="2400" dirty="0"/>
              <a:t>          $169,559 ÷ $4,083.5 = 41.5</a:t>
            </a:r>
          </a:p>
          <a:p>
            <a:pPr marL="0" indent="0" algn="ctr">
              <a:buNone/>
            </a:pPr>
            <a:r>
              <a:rPr lang="en-CA" altLang="ja-JP" sz="2400" dirty="0"/>
              <a:t>Competitor</a:t>
            </a:r>
            <a:r>
              <a:rPr lang="ja-JP" altLang="en-US" sz="2400" dirty="0"/>
              <a:t>’</a:t>
            </a:r>
            <a:r>
              <a:rPr lang="en-US" altLang="ja-JP" sz="2400" dirty="0"/>
              <a:t>s was 98.1</a:t>
            </a:r>
          </a:p>
          <a:p>
            <a:pPr marL="0" indent="0" algn="ctr">
              <a:buNone/>
              <a:defRPr/>
            </a:pPr>
            <a:r>
              <a:rPr lang="en-US" sz="2400" dirty="0"/>
              <a:t>A high number indicates an ability to</a:t>
            </a:r>
          </a:p>
          <a:p>
            <a:pPr marL="0" indent="0" algn="ctr">
              <a:buNone/>
              <a:defRPr/>
            </a:pPr>
            <a:r>
              <a:rPr lang="en-US" sz="2400" dirty="0"/>
              <a:t>sell inventory quickly.</a:t>
            </a:r>
          </a:p>
        </p:txBody>
      </p:sp>
    </p:spTree>
    <p:extLst>
      <p:ext uri="{BB962C8B-B14F-4D97-AF65-F5344CB8AC3E}">
        <p14:creationId xmlns:p14="http://schemas.microsoft.com/office/powerpoint/2010/main" val="139083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Accounts Receivable Turnover</a:t>
            </a:r>
            <a:endParaRPr lang="en-US" dirty="0"/>
          </a:p>
        </p:txBody>
      </p:sp>
      <p:pic>
        <p:nvPicPr>
          <p:cNvPr id="10" name="Picture 9" descr="Net sales over average net accounts receivable">
            <a:extLst>
              <a:ext uri="{FF2B5EF4-FFF2-40B4-BE49-F238E27FC236}">
                <a16:creationId xmlns:a16="http://schemas.microsoft.com/office/drawing/2014/main" id="{4493CD6B-C78F-4A85-B6AC-2C0FC40B6377}"/>
              </a:ext>
            </a:extLst>
          </p:cNvPr>
          <p:cNvPicPr>
            <a:picLocks noChangeAspect="1"/>
          </p:cNvPicPr>
          <p:nvPr/>
        </p:nvPicPr>
        <p:blipFill>
          <a:blip r:embed="rId3"/>
          <a:stretch>
            <a:fillRect/>
          </a:stretch>
        </p:blipFill>
        <p:spPr>
          <a:xfrm>
            <a:off x="838994" y="1434025"/>
            <a:ext cx="7462836" cy="1188526"/>
          </a:xfrm>
          <a:prstGeom prst="rect">
            <a:avLst/>
          </a:prstGeom>
        </p:spPr>
      </p:pic>
      <p:cxnSp>
        <p:nvCxnSpPr>
          <p:cNvPr id="5" name="Straight Arrow Connector 4"/>
          <p:cNvCxnSpPr>
            <a:cxnSpLocks noChangeShapeType="1"/>
          </p:cNvCxnSpPr>
          <p:nvPr/>
        </p:nvCxnSpPr>
        <p:spPr bwMode="auto">
          <a:xfrm rot="5400000">
            <a:off x="4229100" y="3162300"/>
            <a:ext cx="684212" cy="1588"/>
          </a:xfrm>
          <a:prstGeom prst="straightConnector1">
            <a:avLst/>
          </a:prstGeom>
          <a:noFill/>
          <a:ln w="19050">
            <a:solidFill>
              <a:srgbClr val="007FA3"/>
            </a:solidFill>
            <a:round/>
            <a:headEnd/>
            <a:tailEnd type="arrow" w="med" len="med"/>
          </a:ln>
          <a:effectLst>
            <a:outerShdw blurRad="51500" dist="25400" dir="5400000" rotWithShape="0">
              <a:srgbClr val="808080">
                <a:alpha val="39998"/>
              </a:srgbClr>
            </a:outerShdw>
          </a:effectLst>
          <a:extLst>
            <a:ext uri="{909E8E84-426E-40DD-AFC4-6F175D3DCCD1}">
              <a14:hiddenFill xmlns:a14="http://schemas.microsoft.com/office/drawing/2010/main">
                <a:noFill/>
              </a14:hiddenFill>
            </a:ext>
          </a:extLst>
        </p:spPr>
      </p:cxnSp>
      <p:sp>
        <p:nvSpPr>
          <p:cNvPr id="3" name="Content Placeholder 2"/>
          <p:cNvSpPr>
            <a:spLocks noGrp="1"/>
          </p:cNvSpPr>
          <p:nvPr>
            <p:ph idx="1"/>
          </p:nvPr>
        </p:nvSpPr>
        <p:spPr>
          <a:xfrm>
            <a:off x="457200" y="3703637"/>
            <a:ext cx="8229600" cy="411163"/>
          </a:xfrm>
        </p:spPr>
        <p:txBody>
          <a:bodyPr>
            <a:normAutofit fontScale="92500" lnSpcReduction="10000"/>
          </a:bodyPr>
          <a:lstStyle/>
          <a:p>
            <a:pPr marL="0" indent="0" algn="ctr">
              <a:buNone/>
            </a:pPr>
            <a:r>
              <a:rPr lang="en-US" altLang="en-US" sz="2400" dirty="0"/>
              <a:t>(Beginning net receivables + Ending net receivables)/2)</a:t>
            </a:r>
            <a:endParaRPr lang="en-US" sz="2400" dirty="0"/>
          </a:p>
        </p:txBody>
      </p:sp>
      <p:sp>
        <p:nvSpPr>
          <p:cNvPr id="6" name="Rectangle 5"/>
          <p:cNvSpPr/>
          <p:nvPr/>
        </p:nvSpPr>
        <p:spPr>
          <a:xfrm>
            <a:off x="990600" y="4592650"/>
            <a:ext cx="7239000" cy="461665"/>
          </a:xfrm>
          <a:prstGeom prst="rect">
            <a:avLst/>
          </a:prstGeom>
        </p:spPr>
        <p:txBody>
          <a:bodyPr wrap="square">
            <a:spAutoFit/>
          </a:bodyPr>
          <a:lstStyle/>
          <a:p>
            <a:pPr algn="ctr"/>
            <a:r>
              <a:rPr lang="en-US" altLang="en-US" sz="2400" dirty="0"/>
              <a:t>Days’ sales outstanding (DSO) = 365/Turnover                  </a:t>
            </a:r>
            <a:endParaRPr lang="en-US" sz="2400" dirty="0"/>
          </a:p>
        </p:txBody>
      </p:sp>
    </p:spTree>
    <p:extLst>
      <p:ext uri="{BB962C8B-B14F-4D97-AF65-F5344CB8AC3E}">
        <p14:creationId xmlns:p14="http://schemas.microsoft.com/office/powerpoint/2010/main" val="3160658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553" y="426720"/>
            <a:ext cx="8229600" cy="1097280"/>
          </a:xfrm>
        </p:spPr>
        <p:txBody>
          <a:bodyPr/>
          <a:lstStyle/>
          <a:p>
            <a:r>
              <a:rPr lang="en-US" altLang="en-US" dirty="0"/>
              <a:t>Measuring Ability to Collect Receivables</a:t>
            </a:r>
            <a:br>
              <a:rPr lang="en-US" altLang="en-US" dirty="0"/>
            </a:br>
            <a:r>
              <a:rPr lang="en-US" altLang="en-US" sz="2000" b="0" dirty="0"/>
              <a:t>(1 of 2)</a:t>
            </a:r>
            <a:endParaRPr lang="en-US" b="0" dirty="0"/>
          </a:p>
        </p:txBody>
      </p:sp>
      <p:sp>
        <p:nvSpPr>
          <p:cNvPr id="3" name="Content Placeholder 2"/>
          <p:cNvSpPr>
            <a:spLocks noGrp="1"/>
          </p:cNvSpPr>
          <p:nvPr>
            <p:ph idx="1"/>
          </p:nvPr>
        </p:nvSpPr>
        <p:spPr>
          <a:xfrm>
            <a:off x="428847" y="1524000"/>
            <a:ext cx="8229600" cy="4114800"/>
          </a:xfrm>
        </p:spPr>
        <p:txBody>
          <a:bodyPr anchor="ctr"/>
          <a:lstStyle/>
          <a:p>
            <a:pPr marL="0" indent="0" algn="ctr">
              <a:buNone/>
            </a:pPr>
            <a:r>
              <a:rPr lang="en-US" altLang="en-US" sz="2400" dirty="0"/>
              <a:t>Apple</a:t>
            </a:r>
            <a:r>
              <a:rPr lang="ja-JP" altLang="en-US" sz="2400" dirty="0"/>
              <a:t>’</a:t>
            </a:r>
            <a:r>
              <a:rPr lang="en-US" altLang="ja-JP" sz="2400" dirty="0"/>
              <a:t>s accounts receivable turnover: </a:t>
            </a:r>
            <a:r>
              <a:rPr lang="en-US" altLang="en-US" sz="2400" b="1" dirty="0"/>
              <a:t>2020</a:t>
            </a:r>
          </a:p>
          <a:p>
            <a:pPr marL="0" indent="0">
              <a:buNone/>
            </a:pPr>
            <a:r>
              <a:rPr lang="en-US" altLang="en-US" sz="2400" dirty="0"/>
              <a:t>	$274,515 ÷ $19,523 = 14.1 times	</a:t>
            </a:r>
            <a:endParaRPr lang="en-US" sz="2400" dirty="0"/>
          </a:p>
          <a:p>
            <a:pPr marL="0" indent="0" algn="ctr">
              <a:buNone/>
            </a:pPr>
            <a:r>
              <a:rPr lang="en-US" altLang="ja-JP" sz="2400" dirty="0"/>
              <a:t>Competitor</a:t>
            </a:r>
            <a:r>
              <a:rPr lang="ja-JP" altLang="en-US" sz="2400" dirty="0"/>
              <a:t>’</a:t>
            </a:r>
            <a:r>
              <a:rPr lang="en-US" altLang="ja-JP" sz="2400" dirty="0"/>
              <a:t>s was 6.5</a:t>
            </a:r>
            <a:endParaRPr lang="en-US" sz="2400" dirty="0"/>
          </a:p>
          <a:p>
            <a:pPr marL="0" indent="0" algn="ctr">
              <a:buNone/>
            </a:pPr>
            <a:r>
              <a:rPr lang="en-US" sz="2400" dirty="0"/>
              <a:t>The higher the ratio, the better.</a:t>
            </a:r>
          </a:p>
        </p:txBody>
      </p:sp>
    </p:spTree>
    <p:extLst>
      <p:ext uri="{BB962C8B-B14F-4D97-AF65-F5344CB8AC3E}">
        <p14:creationId xmlns:p14="http://schemas.microsoft.com/office/powerpoint/2010/main" val="195962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0381"/>
            <a:ext cx="8229600" cy="1097280"/>
          </a:xfrm>
        </p:spPr>
        <p:txBody>
          <a:bodyPr/>
          <a:lstStyle/>
          <a:p>
            <a:r>
              <a:rPr lang="en-US" altLang="en-US" dirty="0"/>
              <a:t>Measuring Ability to Collect Receivables</a:t>
            </a:r>
            <a:br>
              <a:rPr lang="en-US" altLang="en-US" dirty="0"/>
            </a:br>
            <a:r>
              <a:rPr lang="en-US" altLang="en-US" sz="2000" b="0" dirty="0"/>
              <a:t>(2 of 2)</a:t>
            </a:r>
            <a:endParaRPr lang="en-US" b="0" dirty="0"/>
          </a:p>
        </p:txBody>
      </p:sp>
      <p:sp>
        <p:nvSpPr>
          <p:cNvPr id="3" name="Content Placeholder 2"/>
          <p:cNvSpPr>
            <a:spLocks noGrp="1"/>
          </p:cNvSpPr>
          <p:nvPr>
            <p:ph idx="1"/>
          </p:nvPr>
        </p:nvSpPr>
        <p:spPr/>
        <p:txBody>
          <a:bodyPr anchor="ctr"/>
          <a:lstStyle/>
          <a:p>
            <a:pPr marL="0" indent="0" algn="ctr">
              <a:buNone/>
            </a:pPr>
            <a:r>
              <a:rPr lang="en-US" altLang="en-US" sz="2400" dirty="0"/>
              <a:t>Days</a:t>
            </a:r>
            <a:r>
              <a:rPr lang="ja-JP" altLang="en-US" sz="2400" dirty="0"/>
              <a:t>’</a:t>
            </a:r>
            <a:r>
              <a:rPr lang="en-US" altLang="ja-JP" sz="2400" dirty="0"/>
              <a:t> sales in receivable (DSO):</a:t>
            </a:r>
          </a:p>
          <a:p>
            <a:pPr marL="0" indent="0" algn="ctr">
              <a:buNone/>
            </a:pPr>
            <a:r>
              <a:rPr lang="en-US" altLang="en-US" sz="2400" dirty="0"/>
              <a:t>365 ÷ 14.1 = 26 days</a:t>
            </a:r>
            <a:endParaRPr lang="en-US" sz="2400" dirty="0"/>
          </a:p>
          <a:p>
            <a:pPr marL="0" indent="0" algn="ctr">
              <a:buNone/>
            </a:pPr>
            <a:r>
              <a:rPr lang="en-US" sz="2400" dirty="0">
                <a:cs typeface="Arial" charset="0"/>
              </a:rPr>
              <a:t>The competition was 56 days.</a:t>
            </a:r>
            <a:endParaRPr lang="en-US" sz="2400" dirty="0"/>
          </a:p>
        </p:txBody>
      </p:sp>
    </p:spTree>
    <p:extLst>
      <p:ext uri="{BB962C8B-B14F-4D97-AF65-F5344CB8AC3E}">
        <p14:creationId xmlns:p14="http://schemas.microsoft.com/office/powerpoint/2010/main" val="111744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Accounts Payable Turnover</a:t>
            </a:r>
            <a:endParaRPr lang="en-US" dirty="0"/>
          </a:p>
        </p:txBody>
      </p:sp>
      <p:pic>
        <p:nvPicPr>
          <p:cNvPr id="3" name="Picture 2" descr="Cost of goods sold over average accounts payable">
            <a:extLst>
              <a:ext uri="{FF2B5EF4-FFF2-40B4-BE49-F238E27FC236}">
                <a16:creationId xmlns:a16="http://schemas.microsoft.com/office/drawing/2014/main" id="{CE866C2E-2685-4905-A779-22B55665BED8}"/>
              </a:ext>
            </a:extLst>
          </p:cNvPr>
          <p:cNvPicPr>
            <a:picLocks noChangeAspect="1"/>
          </p:cNvPicPr>
          <p:nvPr/>
        </p:nvPicPr>
        <p:blipFill>
          <a:blip r:embed="rId3"/>
          <a:stretch>
            <a:fillRect/>
          </a:stretch>
        </p:blipFill>
        <p:spPr>
          <a:xfrm>
            <a:off x="457200" y="1981200"/>
            <a:ext cx="8229600" cy="1341120"/>
          </a:xfrm>
          <a:prstGeom prst="rect">
            <a:avLst/>
          </a:prstGeom>
        </p:spPr>
      </p:pic>
      <p:pic>
        <p:nvPicPr>
          <p:cNvPr id="4" name="Picture 3" descr="Days' payables outstanding = 365 over payables turnover">
            <a:extLst>
              <a:ext uri="{FF2B5EF4-FFF2-40B4-BE49-F238E27FC236}">
                <a16:creationId xmlns:a16="http://schemas.microsoft.com/office/drawing/2014/main" id="{9419D8F5-7E52-4F07-A653-9DE8F04EC8D5}"/>
              </a:ext>
            </a:extLst>
          </p:cNvPr>
          <p:cNvPicPr>
            <a:picLocks noChangeAspect="1"/>
          </p:cNvPicPr>
          <p:nvPr/>
        </p:nvPicPr>
        <p:blipFill>
          <a:blip r:embed="rId4"/>
          <a:stretch>
            <a:fillRect/>
          </a:stretch>
        </p:blipFill>
        <p:spPr>
          <a:xfrm>
            <a:off x="533400" y="3718560"/>
            <a:ext cx="8229600" cy="1310640"/>
          </a:xfrm>
          <a:prstGeom prst="rect">
            <a:avLst/>
          </a:prstGeom>
        </p:spPr>
      </p:pic>
    </p:spTree>
    <p:extLst>
      <p:ext uri="{BB962C8B-B14F-4D97-AF65-F5344CB8AC3E}">
        <p14:creationId xmlns:p14="http://schemas.microsoft.com/office/powerpoint/2010/main" val="102862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Cash Conversion Cycle</a:t>
            </a:r>
            <a:endParaRPr lang="en-US" dirty="0"/>
          </a:p>
        </p:txBody>
      </p:sp>
      <p:graphicFrame>
        <p:nvGraphicFramePr>
          <p:cNvPr id="4" name="Object 3" descr="D I O = D S O minus D P O"/>
          <p:cNvGraphicFramePr>
            <a:graphicFrameLocks noChangeAspect="1"/>
          </p:cNvGraphicFramePr>
          <p:nvPr/>
        </p:nvGraphicFramePr>
        <p:xfrm>
          <a:off x="490538" y="2197100"/>
          <a:ext cx="8162925" cy="687388"/>
        </p:xfrm>
        <a:graphic>
          <a:graphicData uri="http://schemas.openxmlformats.org/presentationml/2006/ole">
            <mc:AlternateContent xmlns:mc="http://schemas.openxmlformats.org/markup-compatibility/2006">
              <mc:Choice xmlns:v="urn:schemas-microsoft-com:vml" Requires="v">
                <p:oleObj name="Equation" r:id="rId3" imgW="4965480" imgH="419040" progId="Equation.DSMT4">
                  <p:embed/>
                </p:oleObj>
              </mc:Choice>
              <mc:Fallback>
                <p:oleObj name="Equation" r:id="rId3" imgW="4965480" imgH="419040" progId="Equation.DSMT4">
                  <p:embed/>
                  <p:pic>
                    <p:nvPicPr>
                      <p:cNvPr id="4" name="Object 3" descr="D I O = D S O minus D P O"/>
                      <p:cNvPicPr>
                        <a:picLocks noChangeAspect="1" noChangeArrowheads="1"/>
                      </p:cNvPicPr>
                      <p:nvPr/>
                    </p:nvPicPr>
                    <p:blipFill>
                      <a:blip r:embed="rId4"/>
                      <a:srcRect/>
                      <a:stretch>
                        <a:fillRect/>
                      </a:stretch>
                    </p:blipFill>
                    <p:spPr bwMode="auto">
                      <a:xfrm>
                        <a:off x="490538" y="2197100"/>
                        <a:ext cx="8162925"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p:cNvSpPr>
            <a:spLocks noGrp="1"/>
          </p:cNvSpPr>
          <p:nvPr>
            <p:ph idx="1"/>
          </p:nvPr>
        </p:nvSpPr>
        <p:spPr>
          <a:xfrm>
            <a:off x="457200" y="3733800"/>
            <a:ext cx="8229600" cy="1935163"/>
          </a:xfrm>
        </p:spPr>
        <p:txBody>
          <a:bodyPr/>
          <a:lstStyle/>
          <a:p>
            <a:pPr marL="91440" indent="0">
              <a:buNone/>
            </a:pPr>
            <a:r>
              <a:rPr lang="en-US" altLang="en-US" b="1" dirty="0"/>
              <a:t>DIO =  Days’ Inventory Outstanding</a:t>
            </a:r>
          </a:p>
          <a:p>
            <a:pPr marL="91440" indent="0">
              <a:buNone/>
            </a:pPr>
            <a:r>
              <a:rPr lang="en-US" altLang="en-US" b="1" dirty="0"/>
              <a:t>DSO = Days’ Sales Outstanding</a:t>
            </a:r>
          </a:p>
          <a:p>
            <a:pPr marL="91440" indent="0">
              <a:buNone/>
            </a:pPr>
            <a:r>
              <a:rPr lang="en-US" altLang="en-US" b="1" dirty="0"/>
              <a:t>DPO = Days’ Payables Outstanding</a:t>
            </a:r>
            <a:endParaRPr lang="en-US" dirty="0"/>
          </a:p>
        </p:txBody>
      </p:sp>
    </p:spTree>
    <p:extLst>
      <p:ext uri="{BB962C8B-B14F-4D97-AF65-F5344CB8AC3E}">
        <p14:creationId xmlns:p14="http://schemas.microsoft.com/office/powerpoint/2010/main" val="4268828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Measuring Leverage: Overall Ability to Pay Debts</a:t>
            </a:r>
            <a:endParaRPr lang="en-US" dirty="0"/>
          </a:p>
        </p:txBody>
      </p:sp>
      <p:sp>
        <p:nvSpPr>
          <p:cNvPr id="4" name="Text Placeholder 3"/>
          <p:cNvSpPr>
            <a:spLocks noGrp="1"/>
          </p:cNvSpPr>
          <p:nvPr>
            <p:ph type="body" idx="1"/>
          </p:nvPr>
        </p:nvSpPr>
        <p:spPr>
          <a:xfrm>
            <a:off x="856637" y="2382860"/>
            <a:ext cx="3248783" cy="2081344"/>
          </a:xfrm>
        </p:spPr>
        <p:txBody>
          <a:bodyPr/>
          <a:lstStyle/>
          <a:p>
            <a:pPr lvl="0"/>
            <a:r>
              <a:rPr lang="en-US" sz="2800" dirty="0"/>
              <a:t>Debt ratio</a:t>
            </a:r>
          </a:p>
        </p:txBody>
      </p:sp>
      <p:sp>
        <p:nvSpPr>
          <p:cNvPr id="5" name="Content Placeholder 4"/>
          <p:cNvSpPr>
            <a:spLocks noGrp="1"/>
          </p:cNvSpPr>
          <p:nvPr>
            <p:ph sz="half" idx="2"/>
          </p:nvPr>
        </p:nvSpPr>
        <p:spPr>
          <a:xfrm>
            <a:off x="4701861" y="2382860"/>
            <a:ext cx="3483135" cy="2081344"/>
          </a:xfrm>
        </p:spPr>
        <p:txBody>
          <a:bodyPr/>
          <a:lstStyle/>
          <a:p>
            <a:pPr marL="0" lvl="0" indent="0"/>
            <a:r>
              <a:rPr lang="en-US" sz="2800" dirty="0"/>
              <a:t>Times-interest-earned</a:t>
            </a:r>
          </a:p>
        </p:txBody>
      </p:sp>
    </p:spTree>
    <p:extLst>
      <p:ext uri="{BB962C8B-B14F-4D97-AF65-F5344CB8AC3E}">
        <p14:creationId xmlns:p14="http://schemas.microsoft.com/office/powerpoint/2010/main" val="2642681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Debt ratio</a:t>
            </a:r>
            <a:endParaRPr lang="en-US" dirty="0"/>
          </a:p>
        </p:txBody>
      </p:sp>
      <p:pic>
        <p:nvPicPr>
          <p:cNvPr id="8" name="Picture 7" descr="Total liabilities over total assets">
            <a:extLst>
              <a:ext uri="{FF2B5EF4-FFF2-40B4-BE49-F238E27FC236}">
                <a16:creationId xmlns:a16="http://schemas.microsoft.com/office/drawing/2014/main" id="{4B4366A8-6AF4-461E-853A-DD9C3316E5D3}"/>
              </a:ext>
            </a:extLst>
          </p:cNvPr>
          <p:cNvPicPr>
            <a:picLocks noChangeAspect="1"/>
          </p:cNvPicPr>
          <p:nvPr/>
        </p:nvPicPr>
        <p:blipFill rotWithShape="1">
          <a:blip r:embed="rId3"/>
          <a:srcRect l="28704" r="29629"/>
          <a:stretch/>
        </p:blipFill>
        <p:spPr>
          <a:xfrm>
            <a:off x="2895600" y="2438400"/>
            <a:ext cx="3429000" cy="1607820"/>
          </a:xfrm>
          <a:prstGeom prst="rect">
            <a:avLst/>
          </a:prstGeom>
        </p:spPr>
      </p:pic>
    </p:spTree>
    <p:extLst>
      <p:ext uri="{BB962C8B-B14F-4D97-AF65-F5344CB8AC3E}">
        <p14:creationId xmlns:p14="http://schemas.microsoft.com/office/powerpoint/2010/main" val="157956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Times-Interest-Earned</a:t>
            </a:r>
            <a:endParaRPr lang="en-US" dirty="0"/>
          </a:p>
        </p:txBody>
      </p:sp>
      <p:pic>
        <p:nvPicPr>
          <p:cNvPr id="5" name="Picture 4" descr="Income from operations over interest expense">
            <a:extLst>
              <a:ext uri="{FF2B5EF4-FFF2-40B4-BE49-F238E27FC236}">
                <a16:creationId xmlns:a16="http://schemas.microsoft.com/office/drawing/2014/main" id="{E5868FDE-F19B-4E7D-996D-339A80B3250A}"/>
              </a:ext>
            </a:extLst>
          </p:cNvPr>
          <p:cNvPicPr>
            <a:picLocks noChangeAspect="1"/>
          </p:cNvPicPr>
          <p:nvPr/>
        </p:nvPicPr>
        <p:blipFill rotWithShape="1">
          <a:blip r:embed="rId3"/>
          <a:srcRect l="19444" r="20371"/>
          <a:stretch/>
        </p:blipFill>
        <p:spPr>
          <a:xfrm>
            <a:off x="2057400" y="2514600"/>
            <a:ext cx="4953000" cy="1447800"/>
          </a:xfrm>
          <a:prstGeom prst="rect">
            <a:avLst/>
          </a:prstGeom>
        </p:spPr>
      </p:pic>
    </p:spTree>
    <p:extLst>
      <p:ext uri="{BB962C8B-B14F-4D97-AF65-F5344CB8AC3E}">
        <p14:creationId xmlns:p14="http://schemas.microsoft.com/office/powerpoint/2010/main" val="60756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86489-5B5B-BC00-68CD-44CC448824F3}"/>
              </a:ext>
            </a:extLst>
          </p:cNvPr>
          <p:cNvSpPr>
            <a:spLocks noGrp="1"/>
          </p:cNvSpPr>
          <p:nvPr>
            <p:ph type="title"/>
          </p:nvPr>
        </p:nvSpPr>
        <p:spPr/>
        <p:txBody>
          <a:bodyPr/>
          <a:lstStyle/>
          <a:p>
            <a:r>
              <a:rPr lang="en-US" dirty="0"/>
              <a:t>E10-19 page 594</a:t>
            </a:r>
          </a:p>
        </p:txBody>
      </p:sp>
      <p:pic>
        <p:nvPicPr>
          <p:cNvPr id="5" name="Content Placeholder 4" descr="A yellow paper with black lines and numbers&#10;&#10;Description automatically generated">
            <a:extLst>
              <a:ext uri="{FF2B5EF4-FFF2-40B4-BE49-F238E27FC236}">
                <a16:creationId xmlns:a16="http://schemas.microsoft.com/office/drawing/2014/main" id="{36E257D4-EA34-159B-98F4-43F7AA0956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789" y="1330038"/>
            <a:ext cx="8737519" cy="3671046"/>
          </a:xfrm>
        </p:spPr>
      </p:pic>
      <p:sp>
        <p:nvSpPr>
          <p:cNvPr id="6" name="TextBox 5">
            <a:extLst>
              <a:ext uri="{FF2B5EF4-FFF2-40B4-BE49-F238E27FC236}">
                <a16:creationId xmlns:a16="http://schemas.microsoft.com/office/drawing/2014/main" id="{50F20F2F-84A0-5BBC-AC6D-58A1E3DDE19C}"/>
              </a:ext>
            </a:extLst>
          </p:cNvPr>
          <p:cNvSpPr txBox="1"/>
          <p:nvPr/>
        </p:nvSpPr>
        <p:spPr>
          <a:xfrm>
            <a:off x="564776" y="5001084"/>
            <a:ext cx="8307435" cy="1200329"/>
          </a:xfrm>
          <a:prstGeom prst="rect">
            <a:avLst/>
          </a:prstGeom>
          <a:noFill/>
        </p:spPr>
        <p:txBody>
          <a:bodyPr wrap="square" rtlCol="0">
            <a:spAutoFit/>
          </a:bodyPr>
          <a:lstStyle/>
          <a:p>
            <a:r>
              <a:rPr lang="en-US" dirty="0"/>
              <a:t>Calculate the following ratios for the current year:</a:t>
            </a:r>
          </a:p>
          <a:p>
            <a:pPr marL="285750" indent="-285750">
              <a:buFont typeface="Arial" panose="020B0604020202020204" pitchFamily="34" charset="0"/>
              <a:buChar char="•"/>
            </a:pPr>
            <a:r>
              <a:rPr lang="en-US" dirty="0"/>
              <a:t>Current Ratio, Quick Ratio</a:t>
            </a:r>
          </a:p>
          <a:p>
            <a:pPr marL="285750" indent="-285750">
              <a:buFont typeface="Arial" panose="020B0604020202020204" pitchFamily="34" charset="0"/>
              <a:buChar char="•"/>
            </a:pPr>
            <a:r>
              <a:rPr lang="en-US" dirty="0"/>
              <a:t>Inventory Turnover, Accounts Receivable Turnover, Days Sales in Receivables</a:t>
            </a:r>
          </a:p>
        </p:txBody>
      </p:sp>
    </p:spTree>
    <p:extLst>
      <p:ext uri="{BB962C8B-B14F-4D97-AF65-F5344CB8AC3E}">
        <p14:creationId xmlns:p14="http://schemas.microsoft.com/office/powerpoint/2010/main" val="2314835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61B6-D87B-D0BA-5D7E-23E81C330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6EA66-38A6-6FF3-BEF6-5DF4186E9728}"/>
              </a:ext>
            </a:extLst>
          </p:cNvPr>
          <p:cNvSpPr>
            <a:spLocks noGrp="1"/>
          </p:cNvSpPr>
          <p:nvPr>
            <p:ph type="title"/>
          </p:nvPr>
        </p:nvSpPr>
        <p:spPr>
          <a:xfrm>
            <a:off x="194914" y="434111"/>
            <a:ext cx="8677297" cy="895927"/>
          </a:xfrm>
        </p:spPr>
        <p:txBody>
          <a:bodyPr vert="horz" lIns="91440" tIns="91440" rIns="91440" bIns="45720" rtlCol="0" anchor="ctr">
            <a:normAutofit/>
          </a:bodyPr>
          <a:lstStyle/>
          <a:p>
            <a:r>
              <a:rPr lang="en-US" b="0" kern="1200" spc="51" baseline="0" dirty="0">
                <a:latin typeface="+mj-lt"/>
                <a:ea typeface="+mj-ea"/>
                <a:cs typeface="+mj-cs"/>
              </a:rPr>
              <a:t>S10-7 page 590</a:t>
            </a:r>
          </a:p>
        </p:txBody>
      </p:sp>
      <p:pic>
        <p:nvPicPr>
          <p:cNvPr id="22" name="Picture 21" descr="A table with numbers and a number of items&#10;&#10;Description automatically generated with medium confidence">
            <a:extLst>
              <a:ext uri="{FF2B5EF4-FFF2-40B4-BE49-F238E27FC236}">
                <a16:creationId xmlns:a16="http://schemas.microsoft.com/office/drawing/2014/main" id="{924C20E4-F6F8-EFDA-E3EE-DE06A9086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0837" y="1053268"/>
            <a:ext cx="6302326" cy="5654424"/>
          </a:xfrm>
          <a:prstGeom prst="rect">
            <a:avLst/>
          </a:prstGeom>
        </p:spPr>
      </p:pic>
    </p:spTree>
    <p:extLst>
      <p:ext uri="{BB962C8B-B14F-4D97-AF65-F5344CB8AC3E}">
        <p14:creationId xmlns:p14="http://schemas.microsoft.com/office/powerpoint/2010/main" val="1498491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661C-BFCD-C347-A6E5-76A1F2CC7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48F20-0D6D-030D-8F86-0092B44FCEC5}"/>
              </a:ext>
            </a:extLst>
          </p:cNvPr>
          <p:cNvSpPr>
            <a:spLocks noGrp="1"/>
          </p:cNvSpPr>
          <p:nvPr>
            <p:ph type="title"/>
          </p:nvPr>
        </p:nvSpPr>
        <p:spPr>
          <a:xfrm>
            <a:off x="194914" y="434111"/>
            <a:ext cx="8677297" cy="895927"/>
          </a:xfrm>
        </p:spPr>
        <p:txBody>
          <a:bodyPr vert="horz" lIns="91440" tIns="91440" rIns="91440" bIns="45720" rtlCol="0" anchor="ctr">
            <a:normAutofit/>
          </a:bodyPr>
          <a:lstStyle/>
          <a:p>
            <a:r>
              <a:rPr lang="en-US" b="0" kern="1200" spc="51" baseline="0">
                <a:latin typeface="+mj-lt"/>
                <a:ea typeface="+mj-ea"/>
                <a:cs typeface="+mj-cs"/>
              </a:rPr>
              <a:t>S10-7 page 590</a:t>
            </a:r>
          </a:p>
        </p:txBody>
      </p:sp>
      <p:pic>
        <p:nvPicPr>
          <p:cNvPr id="13" name="Content Placeholder 12" descr="A table with text and numbers&#10;&#10;Description automatically generated with medium confidence">
            <a:extLst>
              <a:ext uri="{FF2B5EF4-FFF2-40B4-BE49-F238E27FC236}">
                <a16:creationId xmlns:a16="http://schemas.microsoft.com/office/drawing/2014/main" id="{D5BA252E-5995-84A6-811D-8D1323C5D20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89597" y="3094251"/>
            <a:ext cx="5444859" cy="3035508"/>
          </a:xfrm>
          <a:noFill/>
        </p:spPr>
      </p:pic>
      <p:pic>
        <p:nvPicPr>
          <p:cNvPr id="4" name="Picture 3" descr="A table with numbers and words&#10;&#10;Description automatically generated">
            <a:extLst>
              <a:ext uri="{FF2B5EF4-FFF2-40B4-BE49-F238E27FC236}">
                <a16:creationId xmlns:a16="http://schemas.microsoft.com/office/drawing/2014/main" id="{0E79094E-0F1D-70FD-59BF-7E5E1ECB1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52345"/>
            <a:ext cx="6358922" cy="1764213"/>
          </a:xfrm>
          <a:prstGeom prst="rect">
            <a:avLst/>
          </a:prstGeom>
        </p:spPr>
      </p:pic>
      <p:sp>
        <p:nvSpPr>
          <p:cNvPr id="5" name="TextBox 4">
            <a:extLst>
              <a:ext uri="{FF2B5EF4-FFF2-40B4-BE49-F238E27FC236}">
                <a16:creationId xmlns:a16="http://schemas.microsoft.com/office/drawing/2014/main" id="{6AA3F2CA-2C28-70F7-55A5-8AFF62435306}"/>
              </a:ext>
            </a:extLst>
          </p:cNvPr>
          <p:cNvSpPr txBox="1"/>
          <p:nvPr/>
        </p:nvSpPr>
        <p:spPr>
          <a:xfrm>
            <a:off x="5734456" y="3249637"/>
            <a:ext cx="3137755" cy="1600438"/>
          </a:xfrm>
          <a:prstGeom prst="rect">
            <a:avLst/>
          </a:prstGeom>
          <a:noFill/>
        </p:spPr>
        <p:txBody>
          <a:bodyPr wrap="square" rtlCol="0">
            <a:spAutoFit/>
          </a:bodyPr>
          <a:lstStyle/>
          <a:p>
            <a:r>
              <a:rPr lang="en-US" dirty="0"/>
              <a:t>For 2022 calculate:</a:t>
            </a:r>
          </a:p>
          <a:p>
            <a:pPr marL="342900" indent="-342900">
              <a:buFont typeface="+mj-lt"/>
              <a:buAutoNum type="arabicPeriod"/>
            </a:pPr>
            <a:r>
              <a:rPr lang="en-US" sz="1600" dirty="0"/>
              <a:t>Inventory turnover &amp; DIO</a:t>
            </a:r>
          </a:p>
          <a:p>
            <a:pPr marL="342900" indent="-342900">
              <a:buFont typeface="+mj-lt"/>
              <a:buAutoNum type="arabicPeriod"/>
            </a:pPr>
            <a:r>
              <a:rPr lang="en-US" sz="1600" dirty="0"/>
              <a:t>DSO</a:t>
            </a:r>
          </a:p>
          <a:p>
            <a:pPr marL="342900" indent="-342900">
              <a:buFont typeface="+mj-lt"/>
              <a:buAutoNum type="arabicPeriod"/>
            </a:pPr>
            <a:r>
              <a:rPr lang="en-US" sz="1600" dirty="0"/>
              <a:t>A/P turnover &amp; DPO</a:t>
            </a:r>
          </a:p>
          <a:p>
            <a:pPr marL="342900" indent="-342900">
              <a:buFont typeface="+mj-lt"/>
              <a:buAutoNum type="arabicPeriod"/>
            </a:pPr>
            <a:r>
              <a:rPr lang="en-US" sz="1600" dirty="0"/>
              <a:t>Cash Conversion Cycle in days </a:t>
            </a:r>
          </a:p>
        </p:txBody>
      </p:sp>
    </p:spTree>
    <p:extLst>
      <p:ext uri="{BB962C8B-B14F-4D97-AF65-F5344CB8AC3E}">
        <p14:creationId xmlns:p14="http://schemas.microsoft.com/office/powerpoint/2010/main" val="3950174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Measuring Profitability</a:t>
            </a:r>
            <a:endParaRPr lang="en-US" dirty="0"/>
          </a:p>
        </p:txBody>
      </p:sp>
      <p:sp>
        <p:nvSpPr>
          <p:cNvPr id="5" name="Text Placeholder 4"/>
          <p:cNvSpPr>
            <a:spLocks noGrp="1"/>
          </p:cNvSpPr>
          <p:nvPr>
            <p:ph type="body" idx="1"/>
          </p:nvPr>
        </p:nvSpPr>
        <p:spPr/>
        <p:txBody>
          <a:bodyPr/>
          <a:lstStyle/>
          <a:p>
            <a:pPr lvl="0"/>
            <a:r>
              <a:rPr lang="en-US" sz="2000" dirty="0"/>
              <a:t>Gross profit percentage</a:t>
            </a:r>
          </a:p>
        </p:txBody>
      </p:sp>
      <p:sp>
        <p:nvSpPr>
          <p:cNvPr id="6" name="Content Placeholder 5"/>
          <p:cNvSpPr>
            <a:spLocks noGrp="1"/>
          </p:cNvSpPr>
          <p:nvPr>
            <p:ph sz="half" idx="2"/>
          </p:nvPr>
        </p:nvSpPr>
        <p:spPr/>
        <p:txBody>
          <a:bodyPr/>
          <a:lstStyle/>
          <a:p>
            <a:pPr lvl="0"/>
            <a:r>
              <a:rPr lang="en-US" sz="2000" dirty="0"/>
              <a:t>Operating income percentage</a:t>
            </a:r>
          </a:p>
        </p:txBody>
      </p:sp>
      <p:sp>
        <p:nvSpPr>
          <p:cNvPr id="7" name="Text Placeholder 6"/>
          <p:cNvSpPr>
            <a:spLocks noGrp="1"/>
          </p:cNvSpPr>
          <p:nvPr>
            <p:ph type="body" sz="quarter" idx="3"/>
          </p:nvPr>
        </p:nvSpPr>
        <p:spPr/>
        <p:txBody>
          <a:bodyPr/>
          <a:lstStyle/>
          <a:p>
            <a:pPr lvl="0"/>
            <a:r>
              <a:rPr lang="en-US" sz="2000" dirty="0"/>
              <a:t>Return on sales</a:t>
            </a:r>
          </a:p>
        </p:txBody>
      </p:sp>
      <p:sp>
        <p:nvSpPr>
          <p:cNvPr id="8" name="Content Placeholder 7"/>
          <p:cNvSpPr>
            <a:spLocks noGrp="1"/>
          </p:cNvSpPr>
          <p:nvPr>
            <p:ph sz="quarter" idx="4"/>
          </p:nvPr>
        </p:nvSpPr>
        <p:spPr>
          <a:xfrm>
            <a:off x="457200" y="3253707"/>
            <a:ext cx="2560320" cy="1463040"/>
          </a:xfrm>
        </p:spPr>
        <p:txBody>
          <a:bodyPr/>
          <a:lstStyle/>
          <a:p>
            <a:pPr lvl="0"/>
            <a:r>
              <a:rPr lang="en-US" sz="2000" dirty="0"/>
              <a:t>Asset turnover</a:t>
            </a:r>
          </a:p>
        </p:txBody>
      </p:sp>
      <p:sp>
        <p:nvSpPr>
          <p:cNvPr id="9" name="Content Placeholder 8"/>
          <p:cNvSpPr>
            <a:spLocks noGrp="1"/>
          </p:cNvSpPr>
          <p:nvPr>
            <p:ph sz="half" idx="13"/>
          </p:nvPr>
        </p:nvSpPr>
        <p:spPr>
          <a:xfrm>
            <a:off x="3300984" y="3253707"/>
            <a:ext cx="2560320" cy="1463040"/>
          </a:xfrm>
        </p:spPr>
        <p:txBody>
          <a:bodyPr/>
          <a:lstStyle/>
          <a:p>
            <a:pPr lvl="0"/>
            <a:r>
              <a:rPr lang="en-US" sz="2000" dirty="0"/>
              <a:t>Return on assets</a:t>
            </a:r>
          </a:p>
        </p:txBody>
      </p:sp>
      <p:sp>
        <p:nvSpPr>
          <p:cNvPr id="10" name="Content Placeholder 9"/>
          <p:cNvSpPr>
            <a:spLocks noGrp="1"/>
          </p:cNvSpPr>
          <p:nvPr>
            <p:ph sz="quarter" idx="14"/>
          </p:nvPr>
        </p:nvSpPr>
        <p:spPr>
          <a:xfrm>
            <a:off x="6128658" y="3249933"/>
            <a:ext cx="2560320" cy="1463040"/>
          </a:xfrm>
        </p:spPr>
        <p:txBody>
          <a:bodyPr/>
          <a:lstStyle/>
          <a:p>
            <a:pPr lvl="0"/>
            <a:r>
              <a:rPr lang="en-US" sz="2000" dirty="0"/>
              <a:t>Leverage ratio</a:t>
            </a:r>
          </a:p>
        </p:txBody>
      </p:sp>
      <p:sp>
        <p:nvSpPr>
          <p:cNvPr id="11" name="Content Placeholder 10"/>
          <p:cNvSpPr>
            <a:spLocks noGrp="1"/>
          </p:cNvSpPr>
          <p:nvPr>
            <p:ph sz="quarter" idx="15"/>
          </p:nvPr>
        </p:nvSpPr>
        <p:spPr>
          <a:xfrm>
            <a:off x="1892247" y="4906227"/>
            <a:ext cx="2560320" cy="1463040"/>
          </a:xfrm>
        </p:spPr>
        <p:txBody>
          <a:bodyPr/>
          <a:lstStyle/>
          <a:p>
            <a:pPr lvl="0"/>
            <a:r>
              <a:rPr lang="en-US" sz="2000" dirty="0"/>
              <a:t>Return on equity</a:t>
            </a:r>
          </a:p>
        </p:txBody>
      </p:sp>
      <p:sp>
        <p:nvSpPr>
          <p:cNvPr id="12" name="Content Placeholder 11"/>
          <p:cNvSpPr>
            <a:spLocks noGrp="1"/>
          </p:cNvSpPr>
          <p:nvPr>
            <p:ph sz="quarter" idx="16"/>
          </p:nvPr>
        </p:nvSpPr>
        <p:spPr>
          <a:xfrm>
            <a:off x="4734435" y="4906227"/>
            <a:ext cx="2560320" cy="1463040"/>
          </a:xfrm>
        </p:spPr>
        <p:txBody>
          <a:bodyPr/>
          <a:lstStyle/>
          <a:p>
            <a:pPr lvl="0"/>
            <a:r>
              <a:rPr lang="en-US" sz="2000" dirty="0"/>
              <a:t>Earnings per share</a:t>
            </a:r>
          </a:p>
        </p:txBody>
      </p:sp>
    </p:spTree>
    <p:extLst>
      <p:ext uri="{BB962C8B-B14F-4D97-AF65-F5344CB8AC3E}">
        <p14:creationId xmlns:p14="http://schemas.microsoft.com/office/powerpoint/2010/main" val="2442874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097280"/>
          </a:xfrm>
        </p:spPr>
        <p:txBody>
          <a:bodyPr/>
          <a:lstStyle/>
          <a:p>
            <a:r>
              <a:rPr lang="en-US" altLang="en-US" dirty="0"/>
              <a:t>Gross Profit and Operating Income Percentages</a:t>
            </a:r>
            <a:endParaRPr lang="en-US" dirty="0"/>
          </a:p>
        </p:txBody>
      </p:sp>
      <p:pic>
        <p:nvPicPr>
          <p:cNvPr id="10" name="Picture 9" descr="Gross profit % = Gross profit over net sales">
            <a:extLst>
              <a:ext uri="{FF2B5EF4-FFF2-40B4-BE49-F238E27FC236}">
                <a16:creationId xmlns:a16="http://schemas.microsoft.com/office/drawing/2014/main" id="{3830B34C-0352-495C-94CB-C868DADB7CAF}"/>
              </a:ext>
            </a:extLst>
          </p:cNvPr>
          <p:cNvPicPr>
            <a:picLocks noChangeAspect="1"/>
          </p:cNvPicPr>
          <p:nvPr/>
        </p:nvPicPr>
        <p:blipFill>
          <a:blip r:embed="rId3"/>
          <a:stretch>
            <a:fillRect/>
          </a:stretch>
        </p:blipFill>
        <p:spPr>
          <a:xfrm>
            <a:off x="1981200" y="2047268"/>
            <a:ext cx="4945380" cy="922020"/>
          </a:xfrm>
          <a:prstGeom prst="rect">
            <a:avLst/>
          </a:prstGeom>
        </p:spPr>
      </p:pic>
      <p:pic>
        <p:nvPicPr>
          <p:cNvPr id="15" name="Picture 14" descr="Operating income % = Operating income over net sales">
            <a:extLst>
              <a:ext uri="{FF2B5EF4-FFF2-40B4-BE49-F238E27FC236}">
                <a16:creationId xmlns:a16="http://schemas.microsoft.com/office/drawing/2014/main" id="{22793E28-542A-4850-8207-1716187FDE52}"/>
              </a:ext>
            </a:extLst>
          </p:cNvPr>
          <p:cNvPicPr>
            <a:picLocks noChangeAspect="1"/>
          </p:cNvPicPr>
          <p:nvPr/>
        </p:nvPicPr>
        <p:blipFill>
          <a:blip r:embed="rId4"/>
          <a:stretch>
            <a:fillRect/>
          </a:stretch>
        </p:blipFill>
        <p:spPr>
          <a:xfrm>
            <a:off x="1036320" y="3726180"/>
            <a:ext cx="7071360" cy="922020"/>
          </a:xfrm>
          <a:prstGeom prst="rect">
            <a:avLst/>
          </a:prstGeom>
        </p:spPr>
      </p:pic>
    </p:spTree>
    <p:extLst>
      <p:ext uri="{BB962C8B-B14F-4D97-AF65-F5344CB8AC3E}">
        <p14:creationId xmlns:p14="http://schemas.microsoft.com/office/powerpoint/2010/main" val="225203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Return (Net Profit Margin) on Sales</a:t>
            </a:r>
            <a:endParaRPr lang="en-US" dirty="0"/>
          </a:p>
        </p:txBody>
      </p:sp>
      <p:pic>
        <p:nvPicPr>
          <p:cNvPr id="3" name="Picture 2" descr="Net income over net sales">
            <a:extLst>
              <a:ext uri="{FF2B5EF4-FFF2-40B4-BE49-F238E27FC236}">
                <a16:creationId xmlns:a16="http://schemas.microsoft.com/office/drawing/2014/main" id="{5278FF91-5CB6-4140-892E-E7C8339C6536}"/>
              </a:ext>
            </a:extLst>
          </p:cNvPr>
          <p:cNvPicPr>
            <a:picLocks noChangeAspect="1"/>
          </p:cNvPicPr>
          <p:nvPr/>
        </p:nvPicPr>
        <p:blipFill>
          <a:blip r:embed="rId3"/>
          <a:stretch>
            <a:fillRect/>
          </a:stretch>
        </p:blipFill>
        <p:spPr>
          <a:xfrm>
            <a:off x="3451860" y="2971800"/>
            <a:ext cx="2240280" cy="914400"/>
          </a:xfrm>
          <a:prstGeom prst="rect">
            <a:avLst/>
          </a:prstGeom>
        </p:spPr>
      </p:pic>
    </p:spTree>
    <p:extLst>
      <p:ext uri="{BB962C8B-B14F-4D97-AF65-F5344CB8AC3E}">
        <p14:creationId xmlns:p14="http://schemas.microsoft.com/office/powerpoint/2010/main" val="63887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Asset Turnover</a:t>
            </a:r>
            <a:endParaRPr lang="en-US" dirty="0"/>
          </a:p>
        </p:txBody>
      </p:sp>
      <p:pic>
        <p:nvPicPr>
          <p:cNvPr id="3" name="Picture 2" descr="Net sales over average total assets">
            <a:extLst>
              <a:ext uri="{FF2B5EF4-FFF2-40B4-BE49-F238E27FC236}">
                <a16:creationId xmlns:a16="http://schemas.microsoft.com/office/drawing/2014/main" id="{D455318E-1A23-4120-A242-FFB43195BDC4}"/>
              </a:ext>
            </a:extLst>
          </p:cNvPr>
          <p:cNvPicPr>
            <a:picLocks noChangeAspect="1"/>
          </p:cNvPicPr>
          <p:nvPr/>
        </p:nvPicPr>
        <p:blipFill>
          <a:blip r:embed="rId3"/>
          <a:stretch>
            <a:fillRect/>
          </a:stretch>
        </p:blipFill>
        <p:spPr>
          <a:xfrm>
            <a:off x="2727960" y="2667000"/>
            <a:ext cx="3688080" cy="990600"/>
          </a:xfrm>
          <a:prstGeom prst="rect">
            <a:avLst/>
          </a:prstGeom>
        </p:spPr>
      </p:pic>
    </p:spTree>
    <p:extLst>
      <p:ext uri="{BB962C8B-B14F-4D97-AF65-F5344CB8AC3E}">
        <p14:creationId xmlns:p14="http://schemas.microsoft.com/office/powerpoint/2010/main" val="148994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Return on Total Assets</a:t>
            </a:r>
            <a:endParaRPr lang="en-US" dirty="0"/>
          </a:p>
        </p:txBody>
      </p:sp>
      <p:sp>
        <p:nvSpPr>
          <p:cNvPr id="4" name="Content Placeholder 2">
            <a:extLst>
              <a:ext uri="{FF2B5EF4-FFF2-40B4-BE49-F238E27FC236}">
                <a16:creationId xmlns:a16="http://schemas.microsoft.com/office/drawing/2014/main" id="{8F391860-483F-DFD1-F3AD-D7E8A061F16F}"/>
              </a:ext>
            </a:extLst>
          </p:cNvPr>
          <p:cNvSpPr>
            <a:spLocks noGrp="1"/>
          </p:cNvSpPr>
          <p:nvPr>
            <p:ph idx="1"/>
          </p:nvPr>
        </p:nvSpPr>
        <p:spPr>
          <a:xfrm>
            <a:off x="429228" y="1524000"/>
            <a:ext cx="8229600" cy="4525963"/>
          </a:xfrm>
        </p:spPr>
        <p:txBody>
          <a:bodyPr anchor="ctr"/>
          <a:lstStyle/>
          <a:p>
            <a:pPr marL="0" indent="0" algn="ctr">
              <a:buNone/>
            </a:pPr>
            <a:r>
              <a:rPr lang="en-US" altLang="en-US" sz="3200" dirty="0"/>
              <a:t>Net income</a:t>
            </a:r>
          </a:p>
          <a:p>
            <a:pPr marL="0" indent="0" algn="ctr">
              <a:buNone/>
            </a:pPr>
            <a:r>
              <a:rPr lang="en-US" altLang="ja-JP" sz="3200" dirty="0"/>
              <a:t>Average total assets</a:t>
            </a:r>
          </a:p>
        </p:txBody>
      </p:sp>
      <p:cxnSp>
        <p:nvCxnSpPr>
          <p:cNvPr id="6" name="Straight Connector 5">
            <a:extLst>
              <a:ext uri="{FF2B5EF4-FFF2-40B4-BE49-F238E27FC236}">
                <a16:creationId xmlns:a16="http://schemas.microsoft.com/office/drawing/2014/main" id="{3B5D8FC5-E668-54CE-5907-7D7C5C21E686}"/>
              </a:ext>
            </a:extLst>
          </p:cNvPr>
          <p:cNvCxnSpPr/>
          <p:nvPr/>
        </p:nvCxnSpPr>
        <p:spPr>
          <a:xfrm>
            <a:off x="2590800" y="3810000"/>
            <a:ext cx="381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1710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Leverage (Equity Multiplier) Ratio</a:t>
            </a:r>
            <a:endParaRPr lang="en-US" dirty="0"/>
          </a:p>
        </p:txBody>
      </p:sp>
      <p:pic>
        <p:nvPicPr>
          <p:cNvPr id="3" name="Picture 2" descr="Average total assets over average common shareholders’ equity">
            <a:extLst>
              <a:ext uri="{FF2B5EF4-FFF2-40B4-BE49-F238E27FC236}">
                <a16:creationId xmlns:a16="http://schemas.microsoft.com/office/drawing/2014/main" id="{06A0A437-DFB0-4EFF-B705-EE80B61D0F5B}"/>
              </a:ext>
            </a:extLst>
          </p:cNvPr>
          <p:cNvPicPr>
            <a:picLocks noChangeAspect="1"/>
          </p:cNvPicPr>
          <p:nvPr/>
        </p:nvPicPr>
        <p:blipFill>
          <a:blip r:embed="rId3"/>
          <a:stretch>
            <a:fillRect/>
          </a:stretch>
        </p:blipFill>
        <p:spPr>
          <a:xfrm>
            <a:off x="1287780" y="2895600"/>
            <a:ext cx="6568440" cy="990600"/>
          </a:xfrm>
          <a:prstGeom prst="rect">
            <a:avLst/>
          </a:prstGeom>
        </p:spPr>
      </p:pic>
    </p:spTree>
    <p:extLst>
      <p:ext uri="{BB962C8B-B14F-4D97-AF65-F5344CB8AC3E}">
        <p14:creationId xmlns:p14="http://schemas.microsoft.com/office/powerpoint/2010/main" val="3566837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Return on Common Shareholders Equity</a:t>
            </a:r>
            <a:endParaRPr lang="en-US" dirty="0"/>
          </a:p>
        </p:txBody>
      </p:sp>
      <p:pic>
        <p:nvPicPr>
          <p:cNvPr id="3" name="Picture 2" descr="Net income minus preferred dividends over average common shareholders’ equity">
            <a:extLst>
              <a:ext uri="{FF2B5EF4-FFF2-40B4-BE49-F238E27FC236}">
                <a16:creationId xmlns:a16="http://schemas.microsoft.com/office/drawing/2014/main" id="{8F2117D3-B05C-42A0-A964-574D80AF3DED}"/>
              </a:ext>
            </a:extLst>
          </p:cNvPr>
          <p:cNvPicPr>
            <a:picLocks noChangeAspect="1"/>
          </p:cNvPicPr>
          <p:nvPr/>
        </p:nvPicPr>
        <p:blipFill>
          <a:blip r:embed="rId3"/>
          <a:stretch>
            <a:fillRect/>
          </a:stretch>
        </p:blipFill>
        <p:spPr>
          <a:xfrm>
            <a:off x="1432560" y="2971800"/>
            <a:ext cx="6568440" cy="990600"/>
          </a:xfrm>
          <a:prstGeom prst="rect">
            <a:avLst/>
          </a:prstGeom>
        </p:spPr>
      </p:pic>
    </p:spTree>
    <p:extLst>
      <p:ext uri="{BB962C8B-B14F-4D97-AF65-F5344CB8AC3E}">
        <p14:creationId xmlns:p14="http://schemas.microsoft.com/office/powerpoint/2010/main" val="17410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Earnings per Share</a:t>
            </a:r>
            <a:endParaRPr lang="en-US" dirty="0"/>
          </a:p>
        </p:txBody>
      </p:sp>
      <p:pic>
        <p:nvPicPr>
          <p:cNvPr id="3" name="Picture 2" descr="Net income minus preferred dividends over average number of common shares outstanding">
            <a:extLst>
              <a:ext uri="{FF2B5EF4-FFF2-40B4-BE49-F238E27FC236}">
                <a16:creationId xmlns:a16="http://schemas.microsoft.com/office/drawing/2014/main" id="{A02277EE-FF37-4335-8BDA-CB5D15DE1975}"/>
              </a:ext>
            </a:extLst>
          </p:cNvPr>
          <p:cNvPicPr>
            <a:picLocks noChangeAspect="1"/>
          </p:cNvPicPr>
          <p:nvPr/>
        </p:nvPicPr>
        <p:blipFill>
          <a:blip r:embed="rId3"/>
          <a:stretch>
            <a:fillRect/>
          </a:stretch>
        </p:blipFill>
        <p:spPr>
          <a:xfrm>
            <a:off x="457200" y="2667000"/>
            <a:ext cx="8206740" cy="990600"/>
          </a:xfrm>
          <a:prstGeom prst="rect">
            <a:avLst/>
          </a:prstGeom>
        </p:spPr>
      </p:pic>
    </p:spTree>
    <p:extLst>
      <p:ext uri="{BB962C8B-B14F-4D97-AF65-F5344CB8AC3E}">
        <p14:creationId xmlns:p14="http://schemas.microsoft.com/office/powerpoint/2010/main" val="3577777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2BE9-2C85-3BE3-52FE-317D7FC09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0DB19-E008-ED08-78A0-1C5C0587B6E5}"/>
              </a:ext>
            </a:extLst>
          </p:cNvPr>
          <p:cNvSpPr>
            <a:spLocks noGrp="1"/>
          </p:cNvSpPr>
          <p:nvPr>
            <p:ph type="title"/>
          </p:nvPr>
        </p:nvSpPr>
        <p:spPr/>
        <p:txBody>
          <a:bodyPr/>
          <a:lstStyle/>
          <a:p>
            <a:r>
              <a:rPr lang="en-US" dirty="0"/>
              <a:t>E10-18 page 593</a:t>
            </a:r>
          </a:p>
        </p:txBody>
      </p:sp>
      <p:sp>
        <p:nvSpPr>
          <p:cNvPr id="6" name="TextBox 5">
            <a:extLst>
              <a:ext uri="{FF2B5EF4-FFF2-40B4-BE49-F238E27FC236}">
                <a16:creationId xmlns:a16="http://schemas.microsoft.com/office/drawing/2014/main" id="{EEC1D6D5-D05E-0DA4-4734-C05ECCCD9970}"/>
              </a:ext>
            </a:extLst>
          </p:cNvPr>
          <p:cNvSpPr txBox="1"/>
          <p:nvPr/>
        </p:nvSpPr>
        <p:spPr>
          <a:xfrm>
            <a:off x="6604728" y="1043731"/>
            <a:ext cx="2305921" cy="4770537"/>
          </a:xfrm>
          <a:prstGeom prst="rect">
            <a:avLst/>
          </a:prstGeom>
          <a:noFill/>
        </p:spPr>
        <p:txBody>
          <a:bodyPr wrap="square" rtlCol="0">
            <a:spAutoFit/>
          </a:bodyPr>
          <a:lstStyle/>
          <a:p>
            <a:r>
              <a:rPr lang="en-US" sz="1600" dirty="0"/>
              <a:t>In 20X2:</a:t>
            </a:r>
          </a:p>
          <a:p>
            <a:pPr marL="342900" indent="-342900">
              <a:buFont typeface="+mj-lt"/>
              <a:buAutoNum type="arabicPeriod"/>
            </a:pPr>
            <a:r>
              <a:rPr lang="en-US" sz="1600" dirty="0"/>
              <a:t>How much gross profit was earned on the sale of products?</a:t>
            </a:r>
          </a:p>
          <a:p>
            <a:pPr marL="342900" indent="-342900">
              <a:buFont typeface="+mj-lt"/>
              <a:buAutoNum type="arabicPeriod"/>
            </a:pPr>
            <a:endParaRPr lang="en-US" sz="1600" dirty="0"/>
          </a:p>
          <a:p>
            <a:pPr marL="342900" indent="-342900">
              <a:buFont typeface="+mj-lt"/>
              <a:buAutoNum type="arabicPeriod"/>
            </a:pPr>
            <a:r>
              <a:rPr lang="en-US" sz="1600" dirty="0"/>
              <a:t>How much was operating income?</a:t>
            </a:r>
          </a:p>
          <a:p>
            <a:pPr marL="342900" indent="-342900">
              <a:buFont typeface="+mj-lt"/>
              <a:buAutoNum type="arabicPeriod"/>
            </a:pPr>
            <a:endParaRPr lang="en-US" sz="1600" dirty="0"/>
          </a:p>
          <a:p>
            <a:pPr marL="342900" indent="-342900">
              <a:buFont typeface="+mj-lt"/>
              <a:buAutoNum type="arabicPeriod"/>
            </a:pPr>
            <a:r>
              <a:rPr lang="en-US" sz="1600" dirty="0"/>
              <a:t>How much net income was earned?</a:t>
            </a:r>
          </a:p>
          <a:p>
            <a:pPr marL="342900" indent="-342900">
              <a:buFont typeface="+mj-lt"/>
              <a:buAutoNum type="arabicPeriod"/>
            </a:pPr>
            <a:endParaRPr lang="en-US" sz="1600" dirty="0"/>
          </a:p>
          <a:p>
            <a:pPr marL="342900" indent="-342900">
              <a:buFont typeface="+mj-lt"/>
              <a:buAutoNum type="arabicPeriod"/>
            </a:pPr>
            <a:r>
              <a:rPr lang="en-US" sz="1600" dirty="0"/>
              <a:t>At the end of 20X2 what $ amount of income would investors use to predict 20X3 income?</a:t>
            </a:r>
          </a:p>
        </p:txBody>
      </p:sp>
      <p:pic>
        <p:nvPicPr>
          <p:cNvPr id="12" name="Picture 11" descr="A spreadsheet with text and numbers&#10;&#10;Description automatically generated">
            <a:extLst>
              <a:ext uri="{FF2B5EF4-FFF2-40B4-BE49-F238E27FC236}">
                <a16:creationId xmlns:a16="http://schemas.microsoft.com/office/drawing/2014/main" id="{5649372B-3D40-62C5-ACE4-2E896816B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4895"/>
            <a:ext cx="6643165" cy="5089687"/>
          </a:xfrm>
          <a:prstGeom prst="rect">
            <a:avLst/>
          </a:prstGeom>
        </p:spPr>
      </p:pic>
    </p:spTree>
    <p:extLst>
      <p:ext uri="{BB962C8B-B14F-4D97-AF65-F5344CB8AC3E}">
        <p14:creationId xmlns:p14="http://schemas.microsoft.com/office/powerpoint/2010/main" val="410313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Analyzing Shares as an Investment</a:t>
            </a:r>
            <a:endParaRPr lang="en-US" dirty="0"/>
          </a:p>
        </p:txBody>
      </p:sp>
      <p:sp>
        <p:nvSpPr>
          <p:cNvPr id="4" name="Text Placeholder 3"/>
          <p:cNvSpPr>
            <a:spLocks noGrp="1"/>
          </p:cNvSpPr>
          <p:nvPr>
            <p:ph type="body" idx="1"/>
          </p:nvPr>
        </p:nvSpPr>
        <p:spPr>
          <a:xfrm>
            <a:off x="1515820" y="2133600"/>
            <a:ext cx="2911961" cy="1828800"/>
          </a:xfrm>
        </p:spPr>
        <p:txBody>
          <a:bodyPr/>
          <a:lstStyle/>
          <a:p>
            <a:pPr lvl="0"/>
            <a:r>
              <a:rPr lang="en-US" sz="2400" dirty="0"/>
              <a:t>Price/Earnings ratio</a:t>
            </a:r>
          </a:p>
        </p:txBody>
      </p:sp>
      <p:sp>
        <p:nvSpPr>
          <p:cNvPr id="5" name="Content Placeholder 4"/>
          <p:cNvSpPr>
            <a:spLocks noGrp="1"/>
          </p:cNvSpPr>
          <p:nvPr>
            <p:ph sz="half" idx="2"/>
          </p:nvPr>
        </p:nvSpPr>
        <p:spPr>
          <a:xfrm>
            <a:off x="4746700" y="2133600"/>
            <a:ext cx="2911961" cy="1828800"/>
          </a:xfrm>
        </p:spPr>
        <p:txBody>
          <a:bodyPr/>
          <a:lstStyle/>
          <a:p>
            <a:pPr marL="0" indent="0"/>
            <a:r>
              <a:rPr lang="en-US" sz="2400" dirty="0"/>
              <a:t>Dividend yield</a:t>
            </a:r>
          </a:p>
        </p:txBody>
      </p:sp>
      <p:sp>
        <p:nvSpPr>
          <p:cNvPr id="6" name="Text Placeholder 5"/>
          <p:cNvSpPr>
            <a:spLocks noGrp="1"/>
          </p:cNvSpPr>
          <p:nvPr>
            <p:ph type="body" sz="quarter" idx="3"/>
          </p:nvPr>
        </p:nvSpPr>
        <p:spPr>
          <a:xfrm>
            <a:off x="3116020" y="4267200"/>
            <a:ext cx="2911961" cy="1828800"/>
          </a:xfrm>
        </p:spPr>
        <p:txBody>
          <a:bodyPr/>
          <a:lstStyle/>
          <a:p>
            <a:r>
              <a:rPr lang="en-IN" sz="2400" dirty="0"/>
              <a:t>Book value per common share</a:t>
            </a:r>
            <a:endParaRPr lang="en-US" sz="2400" dirty="0"/>
          </a:p>
        </p:txBody>
      </p:sp>
    </p:spTree>
    <p:extLst>
      <p:ext uri="{BB962C8B-B14F-4D97-AF65-F5344CB8AC3E}">
        <p14:creationId xmlns:p14="http://schemas.microsoft.com/office/powerpoint/2010/main" val="40087997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Price/Earnings Ratio</a:t>
            </a:r>
            <a:endParaRPr lang="en-US" dirty="0"/>
          </a:p>
        </p:txBody>
      </p:sp>
      <p:pic>
        <p:nvPicPr>
          <p:cNvPr id="3" name="Picture 2" descr="Market price per share of common stock over earnings per share">
            <a:extLst>
              <a:ext uri="{FF2B5EF4-FFF2-40B4-BE49-F238E27FC236}">
                <a16:creationId xmlns:a16="http://schemas.microsoft.com/office/drawing/2014/main" id="{D370E97E-3416-4F74-84FE-71204CCFD793}"/>
              </a:ext>
            </a:extLst>
          </p:cNvPr>
          <p:cNvPicPr>
            <a:picLocks noChangeAspect="1"/>
          </p:cNvPicPr>
          <p:nvPr/>
        </p:nvPicPr>
        <p:blipFill>
          <a:blip r:embed="rId3"/>
          <a:stretch>
            <a:fillRect/>
          </a:stretch>
        </p:blipFill>
        <p:spPr>
          <a:xfrm>
            <a:off x="1177695" y="2590800"/>
            <a:ext cx="6842760" cy="1013460"/>
          </a:xfrm>
          <a:prstGeom prst="rect">
            <a:avLst/>
          </a:prstGeom>
        </p:spPr>
      </p:pic>
    </p:spTree>
    <p:extLst>
      <p:ext uri="{BB962C8B-B14F-4D97-AF65-F5344CB8AC3E}">
        <p14:creationId xmlns:p14="http://schemas.microsoft.com/office/powerpoint/2010/main" val="317872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Dividend Yield</a:t>
            </a:r>
            <a:endParaRPr lang="en-US" dirty="0"/>
          </a:p>
        </p:txBody>
      </p:sp>
      <p:pic>
        <p:nvPicPr>
          <p:cNvPr id="3" name="Picture 2" descr="Dividend per share of common stock over market price per share of common stock">
            <a:extLst>
              <a:ext uri="{FF2B5EF4-FFF2-40B4-BE49-F238E27FC236}">
                <a16:creationId xmlns:a16="http://schemas.microsoft.com/office/drawing/2014/main" id="{6D358120-79ED-4B13-A306-FD2B8D9534A9}"/>
              </a:ext>
            </a:extLst>
          </p:cNvPr>
          <p:cNvPicPr>
            <a:picLocks noChangeAspect="1"/>
          </p:cNvPicPr>
          <p:nvPr/>
        </p:nvPicPr>
        <p:blipFill>
          <a:blip r:embed="rId3"/>
          <a:stretch>
            <a:fillRect/>
          </a:stretch>
        </p:blipFill>
        <p:spPr>
          <a:xfrm>
            <a:off x="1150620" y="2895600"/>
            <a:ext cx="6842760" cy="990600"/>
          </a:xfrm>
          <a:prstGeom prst="rect">
            <a:avLst/>
          </a:prstGeom>
        </p:spPr>
      </p:pic>
    </p:spTree>
    <p:extLst>
      <p:ext uri="{BB962C8B-B14F-4D97-AF65-F5344CB8AC3E}">
        <p14:creationId xmlns:p14="http://schemas.microsoft.com/office/powerpoint/2010/main" val="2674555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Book Value</a:t>
            </a:r>
            <a:endParaRPr lang="en-US" dirty="0"/>
          </a:p>
        </p:txBody>
      </p:sp>
      <p:pic>
        <p:nvPicPr>
          <p:cNvPr id="3" name="Picture 2" descr="Total shareholders’ equity minus preferred equity over weighted average number of common shares outstanding">
            <a:extLst>
              <a:ext uri="{FF2B5EF4-FFF2-40B4-BE49-F238E27FC236}">
                <a16:creationId xmlns:a16="http://schemas.microsoft.com/office/drawing/2014/main" id="{189E1CBA-650D-4CB9-8842-D8B567EC8156}"/>
              </a:ext>
            </a:extLst>
          </p:cNvPr>
          <p:cNvPicPr>
            <a:picLocks noChangeAspect="1"/>
          </p:cNvPicPr>
          <p:nvPr/>
        </p:nvPicPr>
        <p:blipFill>
          <a:blip r:embed="rId3"/>
          <a:stretch>
            <a:fillRect/>
          </a:stretch>
        </p:blipFill>
        <p:spPr>
          <a:xfrm>
            <a:off x="838200" y="2590800"/>
            <a:ext cx="7612380" cy="1417320"/>
          </a:xfrm>
          <a:prstGeom prst="rect">
            <a:avLst/>
          </a:prstGeom>
        </p:spPr>
      </p:pic>
    </p:spTree>
    <p:extLst>
      <p:ext uri="{BB962C8B-B14F-4D97-AF65-F5344CB8AC3E}">
        <p14:creationId xmlns:p14="http://schemas.microsoft.com/office/powerpoint/2010/main" val="3721791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E7BD2-892C-E8A2-5435-EE9FC840C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54326-577C-EE0F-33EA-E3C0677777E9}"/>
              </a:ext>
            </a:extLst>
          </p:cNvPr>
          <p:cNvSpPr>
            <a:spLocks noGrp="1"/>
          </p:cNvSpPr>
          <p:nvPr>
            <p:ph type="title"/>
          </p:nvPr>
        </p:nvSpPr>
        <p:spPr/>
        <p:txBody>
          <a:bodyPr/>
          <a:lstStyle/>
          <a:p>
            <a:r>
              <a:rPr lang="en-US" dirty="0"/>
              <a:t>E10-22 page 599</a:t>
            </a:r>
          </a:p>
        </p:txBody>
      </p:sp>
      <p:sp>
        <p:nvSpPr>
          <p:cNvPr id="6" name="TextBox 5">
            <a:extLst>
              <a:ext uri="{FF2B5EF4-FFF2-40B4-BE49-F238E27FC236}">
                <a16:creationId xmlns:a16="http://schemas.microsoft.com/office/drawing/2014/main" id="{E42109E4-118F-C902-8055-F62BAAA957D5}"/>
              </a:ext>
            </a:extLst>
          </p:cNvPr>
          <p:cNvSpPr txBox="1"/>
          <p:nvPr/>
        </p:nvSpPr>
        <p:spPr>
          <a:xfrm>
            <a:off x="608429" y="4137701"/>
            <a:ext cx="7258100" cy="1323439"/>
          </a:xfrm>
          <a:prstGeom prst="rect">
            <a:avLst/>
          </a:prstGeom>
          <a:noFill/>
        </p:spPr>
        <p:txBody>
          <a:bodyPr wrap="square" rtlCol="0">
            <a:spAutoFit/>
          </a:bodyPr>
          <a:lstStyle/>
          <a:p>
            <a:r>
              <a:rPr lang="en-US" sz="2000" dirty="0"/>
              <a:t>Evaluate the common shares of Phillips Distributing Ltd. as an investment.  Use the two share ratios to determine whether the commons shares increased or decreased in attractiveness during the past year.</a:t>
            </a:r>
          </a:p>
        </p:txBody>
      </p:sp>
      <p:pic>
        <p:nvPicPr>
          <p:cNvPr id="4" name="Picture 3" descr="A yellow card with black text&#10;&#10;Description automatically generated">
            <a:extLst>
              <a:ext uri="{FF2B5EF4-FFF2-40B4-BE49-F238E27FC236}">
                <a16:creationId xmlns:a16="http://schemas.microsoft.com/office/drawing/2014/main" id="{9CA5581E-B448-07A5-A71F-E3CBAA244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914" y="1396860"/>
            <a:ext cx="8740927" cy="2192082"/>
          </a:xfrm>
          <a:prstGeom prst="rect">
            <a:avLst/>
          </a:prstGeom>
        </p:spPr>
      </p:pic>
    </p:spTree>
    <p:extLst>
      <p:ext uri="{BB962C8B-B14F-4D97-AF65-F5344CB8AC3E}">
        <p14:creationId xmlns:p14="http://schemas.microsoft.com/office/powerpoint/2010/main" val="3258047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Red Flags in Financial Statement Analysis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Earnings problems</a:t>
            </a:r>
          </a:p>
          <a:p>
            <a:r>
              <a:rPr lang="en-US" altLang="en-US" dirty="0">
                <a:ea typeface="ＭＳ Ｐゴシック" pitchFamily="34" charset="-128"/>
              </a:rPr>
              <a:t>Decreased cash flow</a:t>
            </a:r>
          </a:p>
          <a:p>
            <a:r>
              <a:rPr lang="en-US" altLang="en-US" dirty="0">
                <a:ea typeface="ＭＳ Ｐゴシック" pitchFamily="34" charset="-128"/>
              </a:rPr>
              <a:t>Too much debt</a:t>
            </a:r>
          </a:p>
          <a:p>
            <a:r>
              <a:rPr lang="en-US" altLang="en-US" dirty="0">
                <a:ea typeface="ＭＳ Ｐゴシック" pitchFamily="34" charset="-128"/>
              </a:rPr>
              <a:t>Inability to collect receivables</a:t>
            </a:r>
          </a:p>
          <a:p>
            <a:r>
              <a:rPr lang="en-US" altLang="en-US" dirty="0">
                <a:ea typeface="ＭＳ Ｐゴシック" pitchFamily="34" charset="-128"/>
              </a:rPr>
              <a:t>Buildup of inventories</a:t>
            </a:r>
          </a:p>
          <a:p>
            <a:r>
              <a:rPr lang="en-US" altLang="en-US" dirty="0">
                <a:ea typeface="ＭＳ Ｐゴシック" pitchFamily="34" charset="-128"/>
              </a:rPr>
              <a:t>Trends of sales, inventory and receivables</a:t>
            </a:r>
            <a:endParaRPr lang="en-US" dirty="0"/>
          </a:p>
        </p:txBody>
      </p:sp>
    </p:spTree>
    <p:extLst>
      <p:ext uri="{BB962C8B-B14F-4D97-AF65-F5344CB8AC3E}">
        <p14:creationId xmlns:p14="http://schemas.microsoft.com/office/powerpoint/2010/main" val="308146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Ten</a:t>
            </a:r>
          </a:p>
        </p:txBody>
      </p:sp>
      <p:sp>
        <p:nvSpPr>
          <p:cNvPr id="2" name="Subtitle 4">
            <a:extLst>
              <a:ext uri="{FF2B5EF4-FFF2-40B4-BE49-F238E27FC236}">
                <a16:creationId xmlns:a16="http://schemas.microsoft.com/office/drawing/2014/main" id="{6B7D9657-4773-36CC-DCBC-1C69D2BFA8CB}"/>
              </a:ext>
            </a:extLst>
          </p:cNvPr>
          <p:cNvSpPr>
            <a:spLocks noGrp="1"/>
          </p:cNvSpPr>
          <p:nvPr>
            <p:ph type="subTitle" idx="1"/>
          </p:nvPr>
        </p:nvSpPr>
        <p:spPr>
          <a:xfrm>
            <a:off x="575082" y="5416751"/>
            <a:ext cx="6519149" cy="249758"/>
          </a:xfrm>
        </p:spPr>
        <p:txBody>
          <a:bodyPr>
            <a:noAutofit/>
          </a:bodyPr>
          <a:lstStyle/>
          <a:p>
            <a:r>
              <a:rPr lang="en-US" sz="1200" dirty="0"/>
              <a:t>Slides adapted from Pearson Canada Inc. 2024</a:t>
            </a:r>
          </a:p>
        </p:txBody>
      </p:sp>
    </p:spTree>
    <p:extLst>
      <p:ext uri="{BB962C8B-B14F-4D97-AF65-F5344CB8AC3E}">
        <p14:creationId xmlns:p14="http://schemas.microsoft.com/office/powerpoint/2010/main" val="46174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800B5-A7C7-4A38-A875-53B18BAC9D5C}">
  <ds:schemaRefs>
    <ds:schemaRef ds:uri="http://purl.org/dc/elements/1.1/"/>
    <ds:schemaRef ds:uri="http://schemas.microsoft.com/office/infopath/2007/PartnerControls"/>
    <ds:schemaRef ds:uri="baf01252-53fa-40dd-aec5-420f8d6c2b25"/>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9a5288b5-dab3-4678-90e6-28176b4bed68"/>
    <ds:schemaRef ds:uri="http://purl.org/dc/dcmitype/"/>
    <ds:schemaRef ds:uri="http://purl.org/dc/terms/"/>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7948</TotalTime>
  <Words>4833</Words>
  <Application>Microsoft Macintosh PowerPoint</Application>
  <PresentationFormat>On-screen Show (4:3)</PresentationFormat>
  <Paragraphs>426</Paragraphs>
  <Slides>56</Slides>
  <Notes>51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5" baseType="lpstr">
      <vt:lpstr>ＭＳ Ｐゴシック</vt:lpstr>
      <vt:lpstr>Arial</vt:lpstr>
      <vt:lpstr>Calibri</vt:lpstr>
      <vt:lpstr>Georgia</vt:lpstr>
      <vt:lpstr>Impact</vt:lpstr>
      <vt:lpstr>Verdana</vt:lpstr>
      <vt:lpstr>Wingdings</vt:lpstr>
      <vt:lpstr>UofWaterloo_WhiteBkgrd</vt:lpstr>
      <vt:lpstr>Equation</vt:lpstr>
      <vt:lpstr>Chapter 10 Financial Statement Analysis</vt:lpstr>
      <vt:lpstr>Learning Objectives</vt:lpstr>
      <vt:lpstr>Learning Objective One</vt:lpstr>
      <vt:lpstr>Industry and Company Analysis (1 of 2)</vt:lpstr>
      <vt:lpstr>Industry and Company Analysis (2 of 2)</vt:lpstr>
      <vt:lpstr>Learning Objective Two</vt:lpstr>
      <vt:lpstr>Horizontal Analysis</vt:lpstr>
      <vt:lpstr>Horizontal Analysis - Example (1 of 2)</vt:lpstr>
      <vt:lpstr>Horizontal Analysis - Example (2 of 2) </vt:lpstr>
      <vt:lpstr>Trend Percentages (1 of 2)</vt:lpstr>
      <vt:lpstr>Trend Percentages (2 of 2)</vt:lpstr>
      <vt:lpstr>Learning Objective Three</vt:lpstr>
      <vt:lpstr>Vertical Analysis</vt:lpstr>
      <vt:lpstr>Learning Objective Four</vt:lpstr>
      <vt:lpstr>Common-Size Statements</vt:lpstr>
      <vt:lpstr>Benchmarking</vt:lpstr>
      <vt:lpstr>Learning Objective Five</vt:lpstr>
      <vt:lpstr>Ratio Categories</vt:lpstr>
      <vt:lpstr>Ability to Pay Current Liabilities</vt:lpstr>
      <vt:lpstr>Working Capital and Current Ratio</vt:lpstr>
      <vt:lpstr>Quick (Acid-Test) Ratio</vt:lpstr>
      <vt:lpstr>     Data for Calculations (1 of 2)                                            </vt:lpstr>
      <vt:lpstr>Data for Calculations (2 of 2)</vt:lpstr>
      <vt:lpstr>Working Capital</vt:lpstr>
      <vt:lpstr>Current Ratio</vt:lpstr>
      <vt:lpstr>Quick Ratio</vt:lpstr>
      <vt:lpstr>Measuring Turnover and the Cash Conversion Cycle</vt:lpstr>
      <vt:lpstr>Inventory Turnover</vt:lpstr>
      <vt:lpstr>Measuring Ability to Sell Inventory</vt:lpstr>
      <vt:lpstr>Accounts Receivable Turnover</vt:lpstr>
      <vt:lpstr>Measuring Ability to Collect Receivables (1 of 2)</vt:lpstr>
      <vt:lpstr>Measuring Ability to Collect Receivables (2 of 2)</vt:lpstr>
      <vt:lpstr>Accounts Payable Turnover</vt:lpstr>
      <vt:lpstr>Cash Conversion Cycle</vt:lpstr>
      <vt:lpstr>Measuring Leverage: Overall Ability to Pay Debts</vt:lpstr>
      <vt:lpstr>Debt ratio</vt:lpstr>
      <vt:lpstr>Times-Interest-Earned</vt:lpstr>
      <vt:lpstr>E10-19 page 594</vt:lpstr>
      <vt:lpstr>S10-7 page 590</vt:lpstr>
      <vt:lpstr>S10-7 page 590</vt:lpstr>
      <vt:lpstr>Measuring Profitability</vt:lpstr>
      <vt:lpstr>Gross Profit and Operating Income Percentages</vt:lpstr>
      <vt:lpstr>Return (Net Profit Margin) on Sales</vt:lpstr>
      <vt:lpstr>Asset Turnover</vt:lpstr>
      <vt:lpstr>Return on Total Assets</vt:lpstr>
      <vt:lpstr>Leverage (Equity Multiplier) Ratio</vt:lpstr>
      <vt:lpstr>Return on Common Shareholders Equity</vt:lpstr>
      <vt:lpstr>Earnings per Share</vt:lpstr>
      <vt:lpstr>E10-18 page 593</vt:lpstr>
      <vt:lpstr>Analyzing Shares as an Investment</vt:lpstr>
      <vt:lpstr>Price/Earnings Ratio</vt:lpstr>
      <vt:lpstr>Dividend Yield</vt:lpstr>
      <vt:lpstr>Book Value</vt:lpstr>
      <vt:lpstr>E10-22 page 599</vt:lpstr>
      <vt:lpstr>Red Flags in Financial Statement Analysis</vt:lpstr>
      <vt:lpstr>End of Chapter Ten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17</cp:revision>
  <cp:lastPrinted>2023-11-21T03:05:57Z</cp:lastPrinted>
  <dcterms:created xsi:type="dcterms:W3CDTF">2020-07-10T19:47:04Z</dcterms:created>
  <dcterms:modified xsi:type="dcterms:W3CDTF">2025-11-25T19:45:03Z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