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4"/>
  </p:sldMasterIdLst>
  <p:notesMasterIdLst>
    <p:notesMasterId r:id="rId81"/>
  </p:notesMasterIdLst>
  <p:sldIdLst>
    <p:sldId id="256" r:id="rId5"/>
    <p:sldId id="302" r:id="rId6"/>
    <p:sldId id="303" r:id="rId7"/>
    <p:sldId id="265" r:id="rId8"/>
    <p:sldId id="259" r:id="rId9"/>
    <p:sldId id="267" r:id="rId10"/>
    <p:sldId id="390" r:id="rId11"/>
    <p:sldId id="391" r:id="rId12"/>
    <p:sldId id="398" r:id="rId13"/>
    <p:sldId id="268" r:id="rId14"/>
    <p:sldId id="399" r:id="rId15"/>
    <p:sldId id="392" r:id="rId16"/>
    <p:sldId id="400" r:id="rId17"/>
    <p:sldId id="401" r:id="rId18"/>
    <p:sldId id="393" r:id="rId19"/>
    <p:sldId id="394" r:id="rId20"/>
    <p:sldId id="402" r:id="rId21"/>
    <p:sldId id="403" r:id="rId22"/>
    <p:sldId id="404" r:id="rId23"/>
    <p:sldId id="395" r:id="rId24"/>
    <p:sldId id="405" r:id="rId25"/>
    <p:sldId id="397" r:id="rId26"/>
    <p:sldId id="272" r:id="rId27"/>
    <p:sldId id="273" r:id="rId28"/>
    <p:sldId id="274" r:id="rId29"/>
    <p:sldId id="275" r:id="rId30"/>
    <p:sldId id="278" r:id="rId31"/>
    <p:sldId id="307" r:id="rId32"/>
    <p:sldId id="279" r:id="rId33"/>
    <p:sldId id="308" r:id="rId34"/>
    <p:sldId id="287" r:id="rId35"/>
    <p:sldId id="288" r:id="rId36"/>
    <p:sldId id="276" r:id="rId37"/>
    <p:sldId id="280" r:id="rId38"/>
    <p:sldId id="309" r:id="rId39"/>
    <p:sldId id="282" r:id="rId40"/>
    <p:sldId id="331" r:id="rId41"/>
    <p:sldId id="277" r:id="rId42"/>
    <p:sldId id="284" r:id="rId43"/>
    <p:sldId id="285" r:id="rId44"/>
    <p:sldId id="286" r:id="rId45"/>
    <p:sldId id="310" r:id="rId46"/>
    <p:sldId id="311" r:id="rId47"/>
    <p:sldId id="289" r:id="rId48"/>
    <p:sldId id="290" r:id="rId49"/>
    <p:sldId id="327" r:id="rId50"/>
    <p:sldId id="357" r:id="rId51"/>
    <p:sldId id="359" r:id="rId52"/>
    <p:sldId id="297" r:id="rId53"/>
    <p:sldId id="298" r:id="rId54"/>
    <p:sldId id="299" r:id="rId55"/>
    <p:sldId id="365" r:id="rId56"/>
    <p:sldId id="300" r:id="rId57"/>
    <p:sldId id="328" r:id="rId58"/>
    <p:sldId id="312" r:id="rId59"/>
    <p:sldId id="329" r:id="rId60"/>
    <p:sldId id="330" r:id="rId61"/>
    <p:sldId id="304" r:id="rId62"/>
    <p:sldId id="314" r:id="rId63"/>
    <p:sldId id="306" r:id="rId64"/>
    <p:sldId id="313" r:id="rId65"/>
    <p:sldId id="322" r:id="rId66"/>
    <p:sldId id="315" r:id="rId67"/>
    <p:sldId id="379" r:id="rId68"/>
    <p:sldId id="317" r:id="rId69"/>
    <p:sldId id="318" r:id="rId70"/>
    <p:sldId id="319" r:id="rId71"/>
    <p:sldId id="325" r:id="rId72"/>
    <p:sldId id="320" r:id="rId73"/>
    <p:sldId id="333" r:id="rId74"/>
    <p:sldId id="334" r:id="rId75"/>
    <p:sldId id="341" r:id="rId76"/>
    <p:sldId id="335" r:id="rId77"/>
    <p:sldId id="338" r:id="rId78"/>
    <p:sldId id="339" r:id="rId79"/>
    <p:sldId id="321" r:id="rId8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4B429"/>
    <a:srgbClr val="FFD54F"/>
    <a:srgbClr val="FFEA3D"/>
    <a:srgbClr val="FFFFAA"/>
    <a:srgbClr val="E0249A"/>
    <a:srgbClr val="0073CF"/>
    <a:srgbClr val="57068C"/>
    <a:srgbClr val="FFDB43"/>
    <a:srgbClr val="FDD54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969" autoAdjust="0"/>
    <p:restoredTop sz="72496"/>
  </p:normalViewPr>
  <p:slideViewPr>
    <p:cSldViewPr snapToGrid="0">
      <p:cViewPr varScale="1">
        <p:scale>
          <a:sx n="77" d="100"/>
          <a:sy n="77" d="100"/>
        </p:scale>
        <p:origin x="1624" y="176"/>
      </p:cViewPr>
      <p:guideLst>
        <p:guide orient="horz" pos="2160"/>
        <p:guide pos="2880"/>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notesMaster" Target="notesMasters/notesMaster1.xml"/><Relationship Id="rId86"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61" Type="http://schemas.openxmlformats.org/officeDocument/2006/relationships/slide" Target="slides/slide57.xml"/><Relationship Id="rId8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ynn Carty" userId="22830c01-2f55-4e06-b79c-b355947cb1ea" providerId="ADAL" clId="{E6A8568F-FCCE-5F0D-9483-B75700116AC1}"/>
    <pc:docChg chg="custSel modSld">
      <pc:chgData name="Lynn Carty" userId="22830c01-2f55-4e06-b79c-b355947cb1ea" providerId="ADAL" clId="{E6A8568F-FCCE-5F0D-9483-B75700116AC1}" dt="2025-09-11T20:13:10.127" v="0" actId="478"/>
      <pc:docMkLst>
        <pc:docMk/>
      </pc:docMkLst>
      <pc:sldChg chg="addSp delSp modSp mod">
        <pc:chgData name="Lynn Carty" userId="22830c01-2f55-4e06-b79c-b355947cb1ea" providerId="ADAL" clId="{E6A8568F-FCCE-5F0D-9483-B75700116AC1}" dt="2025-09-11T20:13:10.127" v="0" actId="478"/>
        <pc:sldMkLst>
          <pc:docMk/>
          <pc:sldMk cId="114863653" sldId="256"/>
        </pc:sldMkLst>
        <pc:spChg chg="del">
          <ac:chgData name="Lynn Carty" userId="22830c01-2f55-4e06-b79c-b355947cb1ea" providerId="ADAL" clId="{E6A8568F-FCCE-5F0D-9483-B75700116AC1}" dt="2025-09-11T20:13:10.127" v="0" actId="478"/>
          <ac:spMkLst>
            <pc:docMk/>
            <pc:sldMk cId="114863653" sldId="256"/>
            <ac:spMk id="3" creationId="{00000000-0000-0000-0000-000000000000}"/>
          </ac:spMkLst>
        </pc:spChg>
        <pc:spChg chg="add mod">
          <ac:chgData name="Lynn Carty" userId="22830c01-2f55-4e06-b79c-b355947cb1ea" providerId="ADAL" clId="{E6A8568F-FCCE-5F0D-9483-B75700116AC1}" dt="2025-09-11T20:13:10.127" v="0" actId="478"/>
          <ac:spMkLst>
            <pc:docMk/>
            <pc:sldMk cId="114863653" sldId="256"/>
            <ac:spMk id="5" creationId="{92446CAE-B9A8-A47C-5CA0-7C6916E908F5}"/>
          </ac:spMkLst>
        </pc:spChg>
      </pc:sldChg>
    </pc:docChg>
  </pc:docChgLst>
  <pc:docChgLst>
    <pc:chgData name="Lynn Carty" userId="22830c01-2f55-4e06-b79c-b355947cb1ea" providerId="ADAL" clId="{74B77945-B47C-0D49-ADB1-8E8F5A321B00}"/>
    <pc:docChg chg="undo custSel modSld">
      <pc:chgData name="Lynn Carty" userId="22830c01-2f55-4e06-b79c-b355947cb1ea" providerId="ADAL" clId="{74B77945-B47C-0D49-ADB1-8E8F5A321B00}" dt="2024-09-11T15:04:37.610" v="109" actId="207"/>
      <pc:docMkLst>
        <pc:docMk/>
      </pc:docMkLst>
      <pc:sldChg chg="setBg">
        <pc:chgData name="Lynn Carty" userId="22830c01-2f55-4e06-b79c-b355947cb1ea" providerId="ADAL" clId="{74B77945-B47C-0D49-ADB1-8E8F5A321B00}" dt="2024-09-11T14:53:51.458" v="1"/>
        <pc:sldMkLst>
          <pc:docMk/>
          <pc:sldMk cId="3235816779" sldId="265"/>
        </pc:sldMkLst>
      </pc:sldChg>
      <pc:sldChg chg="setBg">
        <pc:chgData name="Lynn Carty" userId="22830c01-2f55-4e06-b79c-b355947cb1ea" providerId="ADAL" clId="{74B77945-B47C-0D49-ADB1-8E8F5A321B00}" dt="2024-09-11T14:54:31.233" v="2"/>
        <pc:sldMkLst>
          <pc:docMk/>
          <pc:sldMk cId="1212143782" sldId="268"/>
        </pc:sldMkLst>
      </pc:sldChg>
      <pc:sldChg chg="setBg">
        <pc:chgData name="Lynn Carty" userId="22830c01-2f55-4e06-b79c-b355947cb1ea" providerId="ADAL" clId="{74B77945-B47C-0D49-ADB1-8E8F5A321B00}" dt="2024-09-11T14:54:31.233" v="2"/>
        <pc:sldMkLst>
          <pc:docMk/>
          <pc:sldMk cId="678616654" sldId="272"/>
        </pc:sldMkLst>
      </pc:sldChg>
      <pc:sldChg chg="setBg">
        <pc:chgData name="Lynn Carty" userId="22830c01-2f55-4e06-b79c-b355947cb1ea" providerId="ADAL" clId="{74B77945-B47C-0D49-ADB1-8E8F5A321B00}" dt="2024-09-11T14:54:31.233" v="2"/>
        <pc:sldMkLst>
          <pc:docMk/>
          <pc:sldMk cId="1889026798" sldId="298"/>
        </pc:sldMkLst>
      </pc:sldChg>
      <pc:sldChg chg="modSp mod">
        <pc:chgData name="Lynn Carty" userId="22830c01-2f55-4e06-b79c-b355947cb1ea" providerId="ADAL" clId="{74B77945-B47C-0D49-ADB1-8E8F5A321B00}" dt="2024-09-11T14:56:19.056" v="103" actId="20577"/>
        <pc:sldMkLst>
          <pc:docMk/>
          <pc:sldMk cId="1758161513" sldId="302"/>
        </pc:sldMkLst>
      </pc:sldChg>
      <pc:sldChg chg="setBg">
        <pc:chgData name="Lynn Carty" userId="22830c01-2f55-4e06-b79c-b355947cb1ea" providerId="ADAL" clId="{74B77945-B47C-0D49-ADB1-8E8F5A321B00}" dt="2024-09-11T14:54:31.233" v="2"/>
        <pc:sldMkLst>
          <pc:docMk/>
          <pc:sldMk cId="955986327" sldId="306"/>
        </pc:sldMkLst>
      </pc:sldChg>
      <pc:sldChg chg="setBg">
        <pc:chgData name="Lynn Carty" userId="22830c01-2f55-4e06-b79c-b355947cb1ea" providerId="ADAL" clId="{74B77945-B47C-0D49-ADB1-8E8F5A321B00}" dt="2024-09-11T14:54:31.233" v="2"/>
        <pc:sldMkLst>
          <pc:docMk/>
          <pc:sldMk cId="2075448692" sldId="317"/>
        </pc:sldMkLst>
      </pc:sldChg>
      <pc:sldChg chg="setBg">
        <pc:chgData name="Lynn Carty" userId="22830c01-2f55-4e06-b79c-b355947cb1ea" providerId="ADAL" clId="{74B77945-B47C-0D49-ADB1-8E8F5A321B00}" dt="2024-09-11T14:54:31.233" v="2"/>
        <pc:sldMkLst>
          <pc:docMk/>
          <pc:sldMk cId="3124546199" sldId="333"/>
        </pc:sldMkLst>
      </pc:sldChg>
      <pc:sldChg chg="modSp mod">
        <pc:chgData name="Lynn Carty" userId="22830c01-2f55-4e06-b79c-b355947cb1ea" providerId="ADAL" clId="{74B77945-B47C-0D49-ADB1-8E8F5A321B00}" dt="2024-09-11T15:01:32.878" v="107" actId="207"/>
        <pc:sldMkLst>
          <pc:docMk/>
          <pc:sldMk cId="1543362066" sldId="357"/>
        </pc:sldMkLst>
      </pc:sldChg>
      <pc:sldChg chg="modSp mod">
        <pc:chgData name="Lynn Carty" userId="22830c01-2f55-4e06-b79c-b355947cb1ea" providerId="ADAL" clId="{74B77945-B47C-0D49-ADB1-8E8F5A321B00}" dt="2024-09-11T15:02:25.012" v="108" actId="207"/>
        <pc:sldMkLst>
          <pc:docMk/>
          <pc:sldMk cId="379132323" sldId="359"/>
        </pc:sldMkLst>
      </pc:sldChg>
      <pc:sldChg chg="modSp mod">
        <pc:chgData name="Lynn Carty" userId="22830c01-2f55-4e06-b79c-b355947cb1ea" providerId="ADAL" clId="{74B77945-B47C-0D49-ADB1-8E8F5A321B00}" dt="2024-09-11T15:04:37.610" v="109" actId="207"/>
        <pc:sldMkLst>
          <pc:docMk/>
          <pc:sldMk cId="1962668577" sldId="379"/>
        </pc:sldMkLst>
      </pc:sldChg>
      <pc:sldChg chg="modSp mod">
        <pc:chgData name="Lynn Carty" userId="22830c01-2f55-4e06-b79c-b355947cb1ea" providerId="ADAL" clId="{74B77945-B47C-0D49-ADB1-8E8F5A321B00}" dt="2024-09-11T15:00:05.546" v="106" actId="115"/>
        <pc:sldMkLst>
          <pc:docMk/>
          <pc:sldMk cId="2971061389" sldId="397"/>
        </pc:sldMkLst>
      </pc:sldChg>
      <pc:sldChg chg="modSp mod">
        <pc:chgData name="Lynn Carty" userId="22830c01-2f55-4e06-b79c-b355947cb1ea" providerId="ADAL" clId="{74B77945-B47C-0D49-ADB1-8E8F5A321B00}" dt="2024-09-11T14:58:10.548" v="104" actId="207"/>
        <pc:sldMkLst>
          <pc:docMk/>
          <pc:sldMk cId="3192857592" sldId="39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78E97C-1779-4CEE-80D0-5BBB1AC4023D}" type="datetimeFigureOut">
              <a:rPr lang="en-US" smtClean="0"/>
              <a:t>9/11/25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CEF7D1-689C-4BC1-B59B-4A4CE078ECDF}" type="slidenum">
              <a:rPr lang="en-US" smtClean="0"/>
              <a:t>‹#›</a:t>
            </a:fld>
            <a:endParaRPr lang="en-US"/>
          </a:p>
        </p:txBody>
      </p:sp>
    </p:spTree>
    <p:extLst>
      <p:ext uri="{BB962C8B-B14F-4D97-AF65-F5344CB8AC3E}">
        <p14:creationId xmlns:p14="http://schemas.microsoft.com/office/powerpoint/2010/main" val="1981143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455662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extLst>
      <p:ext uri="{BB962C8B-B14F-4D97-AF65-F5344CB8AC3E}">
        <p14:creationId xmlns:p14="http://schemas.microsoft.com/office/powerpoint/2010/main" val="10764736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first learning objective is to explain how accrual accounting differs from cash-basis accounting.</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7938696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en-US" dirty="0">
                <a:latin typeface="Arial" pitchFamily="34" charset="0"/>
                <a:ea typeface="ＭＳ Ｐゴシック" pitchFamily="34" charset="-128"/>
              </a:rPr>
              <a:t>Managers want to earn a profit. Investors search for companies whose share prices will increase. Banks seek borrowers who’ll pay their debts. Accounting provides the information these people use for decision making. Accounting can be based on either the accrual basis</a:t>
            </a:r>
            <a:r>
              <a:rPr lang="en-US" altLang="en-US" dirty="0">
                <a:solidFill>
                  <a:srgbClr val="FF0000"/>
                </a:solidFill>
                <a:latin typeface="Arial" pitchFamily="34" charset="0"/>
                <a:ea typeface="ＭＳ Ｐゴシック" pitchFamily="34" charset="-128"/>
              </a:rPr>
              <a:t> </a:t>
            </a:r>
            <a:r>
              <a:rPr lang="en-US" altLang="en-US" dirty="0">
                <a:latin typeface="Arial" pitchFamily="34" charset="0"/>
                <a:ea typeface="ＭＳ Ｐゴシック" pitchFamily="34" charset="-128"/>
              </a:rPr>
              <a:t>or the cash basis. </a:t>
            </a:r>
          </a:p>
          <a:p>
            <a:r>
              <a:rPr lang="en-US" altLang="en-US" dirty="0">
                <a:latin typeface="Arial" pitchFamily="34" charset="0"/>
                <a:ea typeface="ＭＳ Ｐゴシック" pitchFamily="34" charset="-128"/>
              </a:rPr>
              <a:t>Accrual accounting records the impact of a business transaction as it occurs. When the business performs a service, makes a sale, or incurs an expense, the accountant records the transaction even if the business receives or pays no cash. Cash-basis accounting records only cash transactions—cash receipts and cash payments. Cash receipts are treated as revenues, and cash payments are handled as expenses.</a:t>
            </a:r>
          </a:p>
          <a:p>
            <a:r>
              <a:rPr lang="en-US" altLang="en-US" dirty="0">
                <a:latin typeface="Arial" pitchFamily="34" charset="0"/>
                <a:ea typeface="ＭＳ Ｐゴシック" pitchFamily="34" charset="-128"/>
              </a:rPr>
              <a:t>Both IFRS and ASPE require accrual accounting.  The business records revenues as the revenues are earned and expenses as the expenses are incurred—not necessarily when cash changes hands. The basic defect of cash-basis accounting is that the cash basis ignores important information that makes the financial statements incomplete. </a:t>
            </a:r>
          </a:p>
          <a:p>
            <a:r>
              <a:rPr lang="en-US" altLang="en-US" dirty="0">
                <a:latin typeface="Arial" pitchFamily="34" charset="0"/>
                <a:ea typeface="ＭＳ Ｐゴシック" pitchFamily="34" charset="-128"/>
              </a:rPr>
              <a:t>Companies that use the cash basis of accounting do not follow IFRS nor ASPE. Their financial statements omit important information.</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Accrual accounting is more complex—and more complete—than cash-basis accounting.</a:t>
            </a:r>
          </a:p>
          <a:p>
            <a:r>
              <a:rPr lang="en-US" altLang="en-US" dirty="0">
                <a:latin typeface="Arial" pitchFamily="34" charset="0"/>
                <a:ea typeface="ＭＳ Ｐゴシック" pitchFamily="34" charset="-128"/>
              </a:rPr>
              <a:t>Accrual accounting records cash transactions, such as:</a:t>
            </a:r>
          </a:p>
          <a:p>
            <a:r>
              <a:rPr lang="en-US" altLang="en-US" dirty="0">
                <a:latin typeface="Arial" pitchFamily="34" charset="0"/>
                <a:ea typeface="ＭＳ Ｐゴシック" pitchFamily="34" charset="-128"/>
              </a:rPr>
              <a:t>■ Collecting cash from customers</a:t>
            </a:r>
          </a:p>
          <a:p>
            <a:r>
              <a:rPr lang="en-US" altLang="en-US" dirty="0">
                <a:latin typeface="Arial" pitchFamily="34" charset="0"/>
                <a:ea typeface="ＭＳ Ｐゴシック" pitchFamily="34" charset="-128"/>
              </a:rPr>
              <a:t>■ Receiving cash from interest earned</a:t>
            </a:r>
          </a:p>
          <a:p>
            <a:r>
              <a:rPr lang="en-US" altLang="en-US" dirty="0">
                <a:latin typeface="Arial" pitchFamily="34" charset="0"/>
                <a:ea typeface="ＭＳ Ｐゴシック" pitchFamily="34" charset="-128"/>
              </a:rPr>
              <a:t>■ Paying salaries, rent, and other expenses</a:t>
            </a:r>
          </a:p>
          <a:p>
            <a:r>
              <a:rPr lang="en-US" altLang="en-US" dirty="0">
                <a:latin typeface="Arial" pitchFamily="34" charset="0"/>
                <a:ea typeface="ＭＳ Ｐゴシック" pitchFamily="34" charset="-128"/>
              </a:rPr>
              <a:t>■ Borrowing money</a:t>
            </a:r>
          </a:p>
          <a:p>
            <a:r>
              <a:rPr lang="en-US" altLang="en-US" dirty="0">
                <a:latin typeface="Arial" pitchFamily="34" charset="0"/>
                <a:ea typeface="ＭＳ Ｐゴシック" pitchFamily="34" charset="-128"/>
              </a:rPr>
              <a:t>■ Paying off loans</a:t>
            </a:r>
          </a:p>
          <a:p>
            <a:r>
              <a:rPr lang="en-US" altLang="en-US" dirty="0">
                <a:latin typeface="Arial" pitchFamily="34" charset="0"/>
                <a:ea typeface="ＭＳ Ｐゴシック" pitchFamily="34" charset="-128"/>
              </a:rPr>
              <a:t>■ Issuing shares</a:t>
            </a:r>
          </a:p>
          <a:p>
            <a:r>
              <a:rPr lang="en-US" altLang="en-US" dirty="0">
                <a:latin typeface="Arial" pitchFamily="34" charset="0"/>
                <a:ea typeface="ＭＳ Ｐゴシック" pitchFamily="34" charset="-128"/>
              </a:rPr>
              <a:t>Accrual accounting also records noncash transactions, such as</a:t>
            </a:r>
          </a:p>
          <a:p>
            <a:r>
              <a:rPr lang="en-US" altLang="en-US" dirty="0">
                <a:latin typeface="Arial" pitchFamily="34" charset="0"/>
                <a:ea typeface="ＭＳ Ｐゴシック" pitchFamily="34" charset="-128"/>
              </a:rPr>
              <a:t>■ Sales on account</a:t>
            </a:r>
          </a:p>
          <a:p>
            <a:r>
              <a:rPr lang="en-US" altLang="en-US" dirty="0">
                <a:latin typeface="Arial" pitchFamily="34" charset="0"/>
                <a:ea typeface="ＭＳ Ｐゴシック" pitchFamily="34" charset="-128"/>
              </a:rPr>
              <a:t>■ Purchases of inventory on account</a:t>
            </a:r>
          </a:p>
          <a:p>
            <a:r>
              <a:rPr lang="en-US" altLang="en-US" dirty="0">
                <a:latin typeface="Arial" pitchFamily="34" charset="0"/>
                <a:ea typeface="ＭＳ Ｐゴシック" pitchFamily="34" charset="-128"/>
              </a:rPr>
              <a:t>■ Accrual of expenses incurred but not yet paid</a:t>
            </a:r>
          </a:p>
          <a:p>
            <a:r>
              <a:rPr lang="en-US" altLang="en-US" dirty="0">
                <a:latin typeface="Arial" pitchFamily="34" charset="0"/>
                <a:ea typeface="ＭＳ Ｐゴシック" pitchFamily="34" charset="-128"/>
              </a:rPr>
              <a:t>■ Depreciation expense</a:t>
            </a:r>
          </a:p>
          <a:p>
            <a:r>
              <a:rPr lang="en-US" altLang="en-US" dirty="0">
                <a:latin typeface="Arial" pitchFamily="34" charset="0"/>
                <a:ea typeface="ＭＳ Ｐゴシック" pitchFamily="34" charset="-128"/>
              </a:rPr>
              <a:t>■ Usage of prepaid rent, insurance, and supplies</a:t>
            </a:r>
          </a:p>
          <a:p>
            <a:r>
              <a:rPr lang="en-US" altLang="en-US" dirty="0">
                <a:latin typeface="Arial" pitchFamily="34" charset="0"/>
                <a:ea typeface="ＭＳ Ｐゴシック" pitchFamily="34" charset="-128"/>
              </a:rPr>
              <a:t>■ Earning of revenue when cash was collected in advance</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15129336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F7E4D1F-7753-43AB-981D-FC3373B32726}" type="slidenum">
              <a:rPr lang="en-US" altLang="en-US" smtClean="0"/>
              <a:pPr>
                <a:spcBef>
                  <a:spcPct val="0"/>
                </a:spcBef>
              </a:pPr>
              <a:t>7</a:t>
            </a:fld>
            <a:endParaRPr lang="en-US" altLang="en-US"/>
          </a:p>
        </p:txBody>
      </p:sp>
      <p:sp>
        <p:nvSpPr>
          <p:cNvPr id="5222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dirty="0"/>
          </a:p>
        </p:txBody>
      </p:sp>
    </p:spTree>
    <p:extLst>
      <p:ext uri="{BB962C8B-B14F-4D97-AF65-F5344CB8AC3E}">
        <p14:creationId xmlns:p14="http://schemas.microsoft.com/office/powerpoint/2010/main" val="1663052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F7E4D1F-7753-43AB-981D-FC3373B32726}" type="slidenum">
              <a:rPr lang="en-US" altLang="en-US" smtClean="0"/>
              <a:pPr>
                <a:spcBef>
                  <a:spcPct val="0"/>
                </a:spcBef>
              </a:pPr>
              <a:t>8</a:t>
            </a:fld>
            <a:endParaRPr lang="en-US" altLang="en-US"/>
          </a:p>
        </p:txBody>
      </p:sp>
      <p:sp>
        <p:nvSpPr>
          <p:cNvPr id="5222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dirty="0"/>
          </a:p>
        </p:txBody>
      </p:sp>
    </p:spTree>
    <p:extLst>
      <p:ext uri="{BB962C8B-B14F-4D97-AF65-F5344CB8AC3E}">
        <p14:creationId xmlns:p14="http://schemas.microsoft.com/office/powerpoint/2010/main" val="397212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17879582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second learning objective is to apply the revenue and expense recognition principles.</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1691827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57238" indent="-290513">
              <a:spcBef>
                <a:spcPct val="30000"/>
              </a:spcBef>
              <a:defRPr sz="1200">
                <a:solidFill>
                  <a:schemeClr val="tx1"/>
                </a:solidFill>
                <a:latin typeface="Calibri" panose="020F0502020204030204" pitchFamily="34" charset="0"/>
              </a:defRPr>
            </a:lvl2pPr>
            <a:lvl3pPr marL="1165225" indent="-231775">
              <a:spcBef>
                <a:spcPct val="30000"/>
              </a:spcBef>
              <a:defRPr sz="1200">
                <a:solidFill>
                  <a:schemeClr val="tx1"/>
                </a:solidFill>
                <a:latin typeface="Calibri" panose="020F0502020204030204" pitchFamily="34" charset="0"/>
              </a:defRPr>
            </a:lvl3pPr>
            <a:lvl4pPr marL="1631950" indent="-231775">
              <a:spcBef>
                <a:spcPct val="30000"/>
              </a:spcBef>
              <a:defRPr sz="1200">
                <a:solidFill>
                  <a:schemeClr val="tx1"/>
                </a:solidFill>
                <a:latin typeface="Calibri" panose="020F0502020204030204" pitchFamily="34" charset="0"/>
              </a:defRPr>
            </a:lvl4pPr>
            <a:lvl5pPr marL="2098675" indent="-231775">
              <a:spcBef>
                <a:spcPct val="30000"/>
              </a:spcBef>
              <a:defRPr sz="1200">
                <a:solidFill>
                  <a:schemeClr val="tx1"/>
                </a:solidFill>
                <a:latin typeface="Calibri" panose="020F0502020204030204" pitchFamily="34" charset="0"/>
              </a:defRPr>
            </a:lvl5pPr>
            <a:lvl6pPr marL="2555875" indent="-231775" eaLnBrk="0" fontAlgn="base" hangingPunct="0">
              <a:spcBef>
                <a:spcPct val="30000"/>
              </a:spcBef>
              <a:spcAft>
                <a:spcPct val="0"/>
              </a:spcAft>
              <a:defRPr sz="1200">
                <a:solidFill>
                  <a:schemeClr val="tx1"/>
                </a:solidFill>
                <a:latin typeface="Calibri" panose="020F0502020204030204" pitchFamily="34" charset="0"/>
              </a:defRPr>
            </a:lvl6pPr>
            <a:lvl7pPr marL="3013075" indent="-231775" eaLnBrk="0" fontAlgn="base" hangingPunct="0">
              <a:spcBef>
                <a:spcPct val="30000"/>
              </a:spcBef>
              <a:spcAft>
                <a:spcPct val="0"/>
              </a:spcAft>
              <a:defRPr sz="1200">
                <a:solidFill>
                  <a:schemeClr val="tx1"/>
                </a:solidFill>
                <a:latin typeface="Calibri" panose="020F0502020204030204" pitchFamily="34" charset="0"/>
              </a:defRPr>
            </a:lvl7pPr>
            <a:lvl8pPr marL="3470275" indent="-231775" eaLnBrk="0" fontAlgn="base" hangingPunct="0">
              <a:spcBef>
                <a:spcPct val="30000"/>
              </a:spcBef>
              <a:spcAft>
                <a:spcPct val="0"/>
              </a:spcAft>
              <a:defRPr sz="1200">
                <a:solidFill>
                  <a:schemeClr val="tx1"/>
                </a:solidFill>
                <a:latin typeface="Calibri" panose="020F0502020204030204" pitchFamily="34" charset="0"/>
              </a:defRPr>
            </a:lvl8pPr>
            <a:lvl9pPr marL="3927475" indent="-231775"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D75064E-50BF-4B5C-8071-1C50DD8ACA02}" type="slidenum">
              <a:rPr lang="en-US" altLang="en-US" smtClean="0"/>
              <a:pPr>
                <a:spcBef>
                  <a:spcPct val="0"/>
                </a:spcBef>
              </a:pPr>
              <a:t>11</a:t>
            </a:fld>
            <a:endParaRPr lang="en-US" altLang="en-US"/>
          </a:p>
        </p:txBody>
      </p:sp>
      <p:sp>
        <p:nvSpPr>
          <p:cNvPr id="4198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extLst>
      <p:ext uri="{BB962C8B-B14F-4D97-AF65-F5344CB8AC3E}">
        <p14:creationId xmlns:p14="http://schemas.microsoft.com/office/powerpoint/2010/main" val="11313446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F7E4D1F-7753-43AB-981D-FC3373B32726}" type="slidenum">
              <a:rPr lang="en-US" altLang="en-US" smtClean="0"/>
              <a:pPr>
                <a:spcBef>
                  <a:spcPct val="0"/>
                </a:spcBef>
              </a:pPr>
              <a:t>13</a:t>
            </a:fld>
            <a:endParaRPr lang="en-US" altLang="en-US"/>
          </a:p>
        </p:txBody>
      </p:sp>
      <p:sp>
        <p:nvSpPr>
          <p:cNvPr id="5222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dirty="0"/>
          </a:p>
        </p:txBody>
      </p:sp>
    </p:spTree>
    <p:extLst>
      <p:ext uri="{BB962C8B-B14F-4D97-AF65-F5344CB8AC3E}">
        <p14:creationId xmlns:p14="http://schemas.microsoft.com/office/powerpoint/2010/main" val="10247580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en-US" dirty="0">
                <a:latin typeface="Arial" pitchFamily="34" charset="0"/>
                <a:ea typeface="ＭＳ Ｐゴシック" pitchFamily="34" charset="-128"/>
              </a:rPr>
              <a:t>The revenue recognition principle deals with two issues:</a:t>
            </a:r>
          </a:p>
          <a:p>
            <a:r>
              <a:rPr lang="en-US" altLang="en-US" dirty="0">
                <a:latin typeface="Arial" pitchFamily="34" charset="0"/>
                <a:ea typeface="ＭＳ Ｐゴシック" pitchFamily="34" charset="-128"/>
              </a:rPr>
              <a:t>1. When to record revenue (make a journal entry)</a:t>
            </a:r>
          </a:p>
          <a:p>
            <a:r>
              <a:rPr lang="en-US" altLang="en-US" dirty="0">
                <a:latin typeface="Arial" pitchFamily="34" charset="0"/>
                <a:ea typeface="ＭＳ Ｐゴシック" pitchFamily="34" charset="-128"/>
              </a:rPr>
              <a:t>2. The amount of revenue to record</a:t>
            </a:r>
          </a:p>
          <a:p>
            <a:r>
              <a:rPr lang="en-US" altLang="en-US" dirty="0">
                <a:latin typeface="Arial" pitchFamily="34" charset="0"/>
                <a:ea typeface="ＭＳ Ｐゴシック" pitchFamily="34" charset="-128"/>
              </a:rPr>
              <a:t>When should you record revenue? After it has been earned—and not before. In most cases, revenue is earned when the business has delivered a good or service to a customer. It has done everything required to earn the revenue by transferring the good or service to the customer. </a:t>
            </a:r>
            <a:r>
              <a:rPr lang="en-CA" altLang="en-US" dirty="0">
                <a:latin typeface="Arial" pitchFamily="34" charset="0"/>
                <a:ea typeface="ＭＳ Ｐゴシック" pitchFamily="34" charset="-128"/>
              </a:rPr>
              <a:t>The amount of revenue can be reliably measured, and it is probable the revenue will be received. </a:t>
            </a:r>
            <a:r>
              <a:rPr lang="en-US" altLang="en-US" dirty="0">
                <a:latin typeface="Arial" pitchFamily="34" charset="0"/>
                <a:ea typeface="ＭＳ Ｐゴシック" pitchFamily="34" charset="-128"/>
              </a:rPr>
              <a:t>The amount of revenue to record is the cash value of the goods or services transferred to the customer.</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13918880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14670295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24154055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F7E4D1F-7753-43AB-981D-FC3373B32726}" type="slidenum">
              <a:rPr lang="en-US" altLang="en-US" smtClean="0"/>
              <a:pPr>
                <a:spcBef>
                  <a:spcPct val="0"/>
                </a:spcBef>
              </a:pPr>
              <a:t>17</a:t>
            </a:fld>
            <a:endParaRPr lang="en-US" altLang="en-US"/>
          </a:p>
        </p:txBody>
      </p:sp>
      <p:sp>
        <p:nvSpPr>
          <p:cNvPr id="5222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dirty="0"/>
          </a:p>
        </p:txBody>
      </p:sp>
    </p:spTree>
    <p:extLst>
      <p:ext uri="{BB962C8B-B14F-4D97-AF65-F5344CB8AC3E}">
        <p14:creationId xmlns:p14="http://schemas.microsoft.com/office/powerpoint/2010/main" val="19208946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57238" indent="-290513">
              <a:spcBef>
                <a:spcPct val="30000"/>
              </a:spcBef>
              <a:defRPr sz="1200">
                <a:solidFill>
                  <a:schemeClr val="tx1"/>
                </a:solidFill>
                <a:latin typeface="Calibri" panose="020F0502020204030204" pitchFamily="34" charset="0"/>
              </a:defRPr>
            </a:lvl2pPr>
            <a:lvl3pPr marL="1165225" indent="-231775">
              <a:spcBef>
                <a:spcPct val="30000"/>
              </a:spcBef>
              <a:defRPr sz="1200">
                <a:solidFill>
                  <a:schemeClr val="tx1"/>
                </a:solidFill>
                <a:latin typeface="Calibri" panose="020F0502020204030204" pitchFamily="34" charset="0"/>
              </a:defRPr>
            </a:lvl3pPr>
            <a:lvl4pPr marL="1631950" indent="-231775">
              <a:spcBef>
                <a:spcPct val="30000"/>
              </a:spcBef>
              <a:defRPr sz="1200">
                <a:solidFill>
                  <a:schemeClr val="tx1"/>
                </a:solidFill>
                <a:latin typeface="Calibri" panose="020F0502020204030204" pitchFamily="34" charset="0"/>
              </a:defRPr>
            </a:lvl4pPr>
            <a:lvl5pPr marL="2098675" indent="-231775">
              <a:spcBef>
                <a:spcPct val="30000"/>
              </a:spcBef>
              <a:defRPr sz="1200">
                <a:solidFill>
                  <a:schemeClr val="tx1"/>
                </a:solidFill>
                <a:latin typeface="Calibri" panose="020F0502020204030204" pitchFamily="34" charset="0"/>
              </a:defRPr>
            </a:lvl5pPr>
            <a:lvl6pPr marL="2555875" indent="-231775" eaLnBrk="0" fontAlgn="base" hangingPunct="0">
              <a:spcBef>
                <a:spcPct val="30000"/>
              </a:spcBef>
              <a:spcAft>
                <a:spcPct val="0"/>
              </a:spcAft>
              <a:defRPr sz="1200">
                <a:solidFill>
                  <a:schemeClr val="tx1"/>
                </a:solidFill>
                <a:latin typeface="Calibri" panose="020F0502020204030204" pitchFamily="34" charset="0"/>
              </a:defRPr>
            </a:lvl6pPr>
            <a:lvl7pPr marL="3013075" indent="-231775" eaLnBrk="0" fontAlgn="base" hangingPunct="0">
              <a:spcBef>
                <a:spcPct val="30000"/>
              </a:spcBef>
              <a:spcAft>
                <a:spcPct val="0"/>
              </a:spcAft>
              <a:defRPr sz="1200">
                <a:solidFill>
                  <a:schemeClr val="tx1"/>
                </a:solidFill>
                <a:latin typeface="Calibri" panose="020F0502020204030204" pitchFamily="34" charset="0"/>
              </a:defRPr>
            </a:lvl7pPr>
            <a:lvl8pPr marL="3470275" indent="-231775" eaLnBrk="0" fontAlgn="base" hangingPunct="0">
              <a:spcBef>
                <a:spcPct val="30000"/>
              </a:spcBef>
              <a:spcAft>
                <a:spcPct val="0"/>
              </a:spcAft>
              <a:defRPr sz="1200">
                <a:solidFill>
                  <a:schemeClr val="tx1"/>
                </a:solidFill>
                <a:latin typeface="Calibri" panose="020F0502020204030204" pitchFamily="34" charset="0"/>
              </a:defRPr>
            </a:lvl8pPr>
            <a:lvl9pPr marL="3927475" indent="-231775"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8359E53-442D-4600-B8C8-961AA8B7EDAB}" type="slidenum">
              <a:rPr lang="en-US" altLang="en-US" smtClean="0"/>
              <a:pPr>
                <a:spcBef>
                  <a:spcPct val="0"/>
                </a:spcBef>
              </a:pPr>
              <a:t>18</a:t>
            </a:fld>
            <a:endParaRPr lang="en-US" altLang="en-US"/>
          </a:p>
        </p:txBody>
      </p:sp>
      <p:sp>
        <p:nvSpPr>
          <p:cNvPr id="6451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sz="1000" dirty="0"/>
          </a:p>
        </p:txBody>
      </p:sp>
    </p:spTree>
    <p:extLst>
      <p:ext uri="{BB962C8B-B14F-4D97-AF65-F5344CB8AC3E}">
        <p14:creationId xmlns:p14="http://schemas.microsoft.com/office/powerpoint/2010/main" val="15017729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The expense recognition principle is the basis for recording expenses. Expenses are the costs of assets used up, and of liabilities created, in the earning of revenue. Expenses have no future benefit to the company. The expense recognition principle, also known as the matching principle, has two criteria that must be satisfied before an expense can be recognized:</a:t>
            </a:r>
          </a:p>
          <a:p>
            <a:r>
              <a:rPr lang="en-US" altLang="en-US" dirty="0">
                <a:latin typeface="Arial" pitchFamily="34" charset="0"/>
                <a:ea typeface="ＭＳ Ｐゴシック" pitchFamily="34" charset="-128"/>
              </a:rPr>
              <a:t>1. There has been a decrease in future economic benefit</a:t>
            </a:r>
          </a:p>
          <a:p>
            <a:r>
              <a:rPr lang="en-US" altLang="en-US" dirty="0">
                <a:latin typeface="Arial" pitchFamily="34" charset="0"/>
                <a:ea typeface="ＭＳ Ｐゴシック" pitchFamily="34" charset="-128"/>
              </a:rPr>
              <a:t>2. The expense can be reliably measured</a:t>
            </a:r>
          </a:p>
          <a:p>
            <a:r>
              <a:rPr lang="en-US" altLang="en-US" dirty="0">
                <a:latin typeface="Arial" pitchFamily="34" charset="0"/>
                <a:ea typeface="ＭＳ Ｐゴシック" pitchFamily="34" charset="-128"/>
              </a:rPr>
              <a:t>To recognize expenses along with related revenues means to subtract expenses from revenues to compute net income or net loss.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1726058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The expense recognition principle is the basis for recording expenses. Expenses are the costs of assets used up, and of liabilities created, in the earning of revenue. Expenses have no future benefit to the company. The expense recognition principle, also known as the matching principle, has two criteria that must be satisfied before an expense can be recognized:</a:t>
            </a:r>
          </a:p>
          <a:p>
            <a:r>
              <a:rPr lang="en-US" altLang="en-US" dirty="0">
                <a:latin typeface="Arial" pitchFamily="34" charset="0"/>
                <a:ea typeface="ＭＳ Ｐゴシック" pitchFamily="34" charset="-128"/>
              </a:rPr>
              <a:t>1. There has been a decrease in future economic benefit</a:t>
            </a:r>
          </a:p>
          <a:p>
            <a:r>
              <a:rPr lang="en-US" altLang="en-US" dirty="0">
                <a:latin typeface="Arial" pitchFamily="34" charset="0"/>
                <a:ea typeface="ＭＳ Ｐゴシック" pitchFamily="34" charset="-128"/>
              </a:rPr>
              <a:t>2. The expense can be reliably measured</a:t>
            </a:r>
          </a:p>
          <a:p>
            <a:r>
              <a:rPr lang="en-US" altLang="en-US" dirty="0">
                <a:latin typeface="Arial" pitchFamily="34" charset="0"/>
                <a:ea typeface="ＭＳ Ｐゴシック" pitchFamily="34" charset="-128"/>
              </a:rPr>
              <a:t>To recognize expenses along with related revenues means to subtract expenses from revenues to compute net income or net loss.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22346415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The expense recognition principle is the basis for recording expenses. Expenses are the costs of assets used up, and of liabilities created, in the earning of revenue. Expenses have no future benefit to the company. The expense recognition principle, also known as the matching principle, has two criteria that must be satisfied before an expense can be recognized:</a:t>
            </a:r>
          </a:p>
          <a:p>
            <a:r>
              <a:rPr lang="en-US" altLang="en-US" dirty="0">
                <a:latin typeface="Arial" pitchFamily="34" charset="0"/>
                <a:ea typeface="ＭＳ Ｐゴシック" pitchFamily="34" charset="-128"/>
              </a:rPr>
              <a:t>1. There has been a decrease in future economic benefit</a:t>
            </a:r>
          </a:p>
          <a:p>
            <a:r>
              <a:rPr lang="en-US" altLang="en-US" dirty="0">
                <a:latin typeface="Arial" pitchFamily="34" charset="0"/>
                <a:ea typeface="ＭＳ Ｐゴシック" pitchFamily="34" charset="-128"/>
              </a:rPr>
              <a:t>2. The expense can be reliably measured</a:t>
            </a:r>
          </a:p>
          <a:p>
            <a:r>
              <a:rPr lang="en-US" altLang="en-US" dirty="0">
                <a:latin typeface="Arial" pitchFamily="34" charset="0"/>
                <a:ea typeface="ＭＳ Ｐゴシック" pitchFamily="34" charset="-128"/>
              </a:rPr>
              <a:t>To recognize expenses along with related revenues means to subtract expenses from revenues to compute net income or net loss.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20159590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39158980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third learning objective is to record adjusting journal entries. </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37369349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At the end of the period, the business reports its financial statements. This process begins with the trial balance introduced in Chapter 2. We refer to this trial balance as unadjusted because the accounts are not yet ready for the financial statements. In most cases, the simple label “Trial Balance” means “unadjusted.”</a:t>
            </a:r>
          </a:p>
          <a:p>
            <a:r>
              <a:rPr lang="en-US" altLang="en-US" dirty="0">
                <a:latin typeface="Arial" pitchFamily="34" charset="0"/>
                <a:ea typeface="ＭＳ Ｐゴシック" pitchFamily="34" charset="-128"/>
              </a:rPr>
              <a:t>The shareholders need to know how well the corporation they’ve invested in </a:t>
            </a:r>
            <a:r>
              <a:rPr lang="en-US" altLang="en-US" dirty="0">
                <a:solidFill>
                  <a:srgbClr val="FF0000"/>
                </a:solidFill>
                <a:latin typeface="Arial" pitchFamily="34" charset="0"/>
                <a:ea typeface="ＭＳ Ｐゴシック" pitchFamily="34" charset="-128"/>
              </a:rPr>
              <a:t>i</a:t>
            </a:r>
            <a:r>
              <a:rPr lang="en-US" altLang="en-US" dirty="0">
                <a:latin typeface="Arial" pitchFamily="34" charset="0"/>
                <a:ea typeface="ＭＳ Ｐゴシック" pitchFamily="34" charset="-128"/>
              </a:rPr>
              <a:t>s performing. The financial statements report this information, and all accounts must be up-to-date. That means some accounts must be adjusted. Accounts such as Cash, Equipment, Common Shares, and Dividends are up-to-date and need no adjustment at the end of the period. Why? Because the day-to-day transactions provide all the data for these accounts.</a:t>
            </a:r>
          </a:p>
          <a:p>
            <a:r>
              <a:rPr lang="en-US" altLang="en-US" dirty="0">
                <a:latin typeface="Arial" pitchFamily="34" charset="0"/>
                <a:ea typeface="ＭＳ Ｐゴシック" pitchFamily="34" charset="-128"/>
              </a:rPr>
              <a:t>Accounts such as Accounts Receivable, Accounts Payable, Supplies, Prepaid Rent, and the other accounts are another story. These accounts are not often up-to-date at the end of the year. Why? Because certain transactions have not yet been recorded.</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3587631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Accounting adjustments fall into three basic categories: deferrals, depreciation, and accruals. Depreciation is called amortization under ASPE.</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3223985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A deferral is an adjustment for an item in which the business paid or received cash in advance. Companies purchase supplies for use in their operations.</a:t>
            </a:r>
            <a:r>
              <a:rPr lang="en-US" altLang="en-US" dirty="0">
                <a:solidFill>
                  <a:srgbClr val="FF0000"/>
                </a:solidFill>
                <a:latin typeface="Arial" pitchFamily="34" charset="0"/>
                <a:ea typeface="ＭＳ Ｐゴシック" pitchFamily="34" charset="-128"/>
              </a:rPr>
              <a:t> </a:t>
            </a:r>
            <a:r>
              <a:rPr lang="en-US" altLang="en-US" dirty="0">
                <a:latin typeface="Arial" pitchFamily="34" charset="0"/>
                <a:ea typeface="ＭＳ Ｐゴシック" pitchFamily="34" charset="-128"/>
              </a:rPr>
              <a:t>During the period, some supplies (assets) are used up and become expenses. At the end of the period, an adjustment is needed to decrease the Supplies account for the supplies used up. This is Supplies Expense. Prepaid rent, prepaid insurance, and all other prepaid expenses require deferral adjustments. There are also deferral adjustments for liabilities. Companies may collect cash from a customer in advance of earning the revenue. When a company receives cash up front, it has a liability to provide goods or services for the customer. This liability is called Unearned Sales Revenue. Then, when the company delivers the goods to the customer, it earns Sales Revenue. This earning process requires an adjustment at the end of the period. The adjustment decreases the liability and increases the revenue for the revenue earned. </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41825346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Prepaid expense is an expense paid in advance. Therefore, prepaid expenses are assets because they provide a future benefit for the owner. Over time, these benefits expire or are used. Examples include prepaid rent and supplies. When these items are purchased, an asset is recorded. The adjustment records an expense for the used portion and decreases the asset. Let’s say a company paid for three months’ rent in advance ($1,000 per month) on June 1. Then, on June 2 it purchased $700 of supplies. At the time of these purchases, assets are recorded.</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31407984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Over time, the benefits of a prepaid expense expire and the assets are used. The adjustment records an expense for the used portion and decreases the asset. At June 30, one month of the rent has expired. $1,000 of the expired rent is transferred from Prepaid Rent to Rent Expense. For the supplies, only $400 of supplies are on hand at the end of the month. This means $300 of supplies were used. Supplies Expense is recorded for this amount and the asset account is reduced.</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31407984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T-accounts for Prepaid Rent and Rent Expense show how the purchase and adjustment of the accounts impact the financial statements.</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1168616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T-accounts for Supplies and Supplies Expense show how the purchase and adjustment of the accounts impact the financial statements.</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1168616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Some businesses collect cash from customers before earning the revenue. This creates a liability called Unearned Revenue. Only when the job is completed does the business earn the revenue. Suppose a real estate management firm engages a company to clean its office building, agreeing to pay the company $400 monthly, beginning immediately. If the cleaning company collects the first amount on June 15, then it records this transaction as shown on this slide.</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extLst>
      <p:ext uri="{BB962C8B-B14F-4D97-AF65-F5344CB8AC3E}">
        <p14:creationId xmlns:p14="http://schemas.microsoft.com/office/powerpoint/2010/main" val="869888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Unearned Revenue is a liability because the company is obligated to perform services for the real estate management firm. During the last 15 days of the month, the company will earn one-half of the $400, or $200. On June 30, the company makes the adjustment shown in this slide. This adjusting entry shifts $200 of the total amount received ($400) from liability to revenue.</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val="40658780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Depreciation allocates the cost of a </a:t>
            </a:r>
            <a:r>
              <a:rPr lang="en-US" altLang="en-US" dirty="0">
                <a:ea typeface="ＭＳ Ｐゴシック" pitchFamily="34" charset="-128"/>
              </a:rPr>
              <a:t>long-term, tangible </a:t>
            </a:r>
            <a:r>
              <a:rPr lang="en-US" altLang="en-US" dirty="0">
                <a:latin typeface="Arial" pitchFamily="34" charset="0"/>
                <a:ea typeface="ＭＳ Ｐゴシック" pitchFamily="34" charset="-128"/>
              </a:rPr>
              <a:t>asset to expense over the asset’s useful life. Depreciation is the most common long-term deferral. Many businesses own buildings and equipment. As a company uses the assets, it records depreciation for wear-and-tear and obsolescence. The accounting adjustment records Depreciation Expense and decreases the asset’s book value over its life. The process is identical to a deferral-type adjustment; the only difference is the type of asset involved. Plant assets are long-lived tangible assets, such as land, buildings, furniture, and equipment. All plant assets but land decline in usefulness, and this decline is an expense.</a:t>
            </a:r>
            <a:r>
              <a:rPr lang="en-US" altLang="en-US" dirty="0">
                <a:solidFill>
                  <a:srgbClr val="FF0000"/>
                </a:solidFill>
                <a:latin typeface="Arial" pitchFamily="34" charset="0"/>
                <a:ea typeface="ＭＳ Ｐゴシック" pitchFamily="34" charset="-128"/>
              </a:rPr>
              <a:t> </a:t>
            </a:r>
            <a:r>
              <a:rPr lang="en-US" altLang="en-US" dirty="0">
                <a:latin typeface="Arial" pitchFamily="34" charset="0"/>
                <a:ea typeface="ＭＳ Ｐゴシック" pitchFamily="34" charset="-128"/>
              </a:rPr>
              <a:t>Accountants spread the cost of each plant asset, except land, over its useful life. </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val="15951272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Plant assets are long-lived tangible assets, such as land, buildings, furniture, and equipment. All plant assets except land decline in usefulness, and this decline is an expense. Depreciation is the process of allocating cost to expense for a long-term plant asset. To illustrate depreciation, let’s say a company purchased equipment on account on June 3 for $24,000. The company records an asset when it purchases equipment. Then, as the asset is used, a portion of the asset’s cost is transferred to Depreciation expense. The machine is being used to produce revenue. The cost of the machine should be allocated (matched) against that revenue. This is another illustration of the expense recognition principle.</a:t>
            </a:r>
          </a:p>
          <a:p>
            <a:r>
              <a:rPr lang="en-US" altLang="en-US" dirty="0">
                <a:latin typeface="Arial" pitchFamily="34" charset="0"/>
                <a:ea typeface="ＭＳ Ｐゴシック" pitchFamily="34" charset="-128"/>
              </a:rPr>
              <a:t>The equipment will remain useful for five years and then be worthless. One way to compute the amount of depreciation for each year is to divide the cost of the asset ($24,000 in our example) by its expected useful life (five years). For our example, this equals $4,800. Since we are adjusting for one month, divide this amount by 12 for monthly depreciation of $400.</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val="13437773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T-accounts for Equipment, Accumulated Depreciation, and Depreciation Expense show the impact of the journal entries. Notice the Equipment account is not affected by the adjusting entry.</a:t>
            </a:r>
            <a:r>
              <a:rPr lang="en-US" altLang="en-US" dirty="0">
                <a:solidFill>
                  <a:srgbClr val="FF0000"/>
                </a:solidFill>
                <a:latin typeface="Arial" pitchFamily="34" charset="0"/>
                <a:ea typeface="ＭＳ Ｐゴシック" pitchFamily="34" charset="-128"/>
              </a:rPr>
              <a:t>  </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35</a:t>
            </a:fld>
            <a:endParaRPr lang="en-US" dirty="0"/>
          </a:p>
        </p:txBody>
      </p:sp>
    </p:spTree>
    <p:extLst>
      <p:ext uri="{BB962C8B-B14F-4D97-AF65-F5344CB8AC3E}">
        <p14:creationId xmlns:p14="http://schemas.microsoft.com/office/powerpoint/2010/main" val="1168616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Accumulated Depreciation account shows the sum of all depreciation expense from using the asset. Therefore, the balance in the Accumulated Depreciation account increases over the asset’s life. Accumulated Depreciation is a contra-asset account—an asset account with a normal credit balance. A contra account has two distinguishing characteristics:</a:t>
            </a:r>
          </a:p>
          <a:p>
            <a:r>
              <a:rPr lang="en-US" altLang="en-US" dirty="0">
                <a:latin typeface="Arial" pitchFamily="34" charset="0"/>
                <a:ea typeface="ＭＳ Ｐゴシック" pitchFamily="34" charset="-128"/>
              </a:rPr>
              <a:t>1. It always has a companion account.</a:t>
            </a:r>
          </a:p>
          <a:p>
            <a:r>
              <a:rPr lang="en-US" altLang="en-US" dirty="0">
                <a:latin typeface="Arial" pitchFamily="34" charset="0"/>
                <a:ea typeface="ＭＳ Ｐゴシック" pitchFamily="34" charset="-128"/>
              </a:rPr>
              <a:t>2. Its normal balance is opposite that of the companion account.</a:t>
            </a:r>
          </a:p>
          <a:p>
            <a:r>
              <a:rPr lang="en-US" altLang="en-US" dirty="0">
                <a:latin typeface="Arial" pitchFamily="34" charset="0"/>
                <a:ea typeface="ＭＳ Ｐゴシック" pitchFamily="34" charset="-128"/>
              </a:rPr>
              <a:t>The net amount of a plant asset (cost minus accumulated depreciation) is called that asset’s carrying amount, or book value (of a plant asset).</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36</a:t>
            </a:fld>
            <a:endParaRPr lang="en-US" dirty="0"/>
          </a:p>
        </p:txBody>
      </p:sp>
    </p:spTree>
    <p:extLst>
      <p:ext uri="{BB962C8B-B14F-4D97-AF65-F5344CB8AC3E}">
        <p14:creationId xmlns:p14="http://schemas.microsoft.com/office/powerpoint/2010/main" val="265304110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On the balance sheet, plant assets are shown at their carrying amount – the cost of the asset minus the accumulated depreciation.  </a:t>
            </a:r>
            <a:endParaRPr lang="en-US" dirty="0"/>
          </a:p>
          <a:p>
            <a:endParaRPr lang="en-AU"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37</a:t>
            </a:fld>
            <a:endParaRPr lang="en-US" dirty="0"/>
          </a:p>
        </p:txBody>
      </p:sp>
    </p:spTree>
    <p:extLst>
      <p:ext uri="{BB962C8B-B14F-4D97-AF65-F5344CB8AC3E}">
        <p14:creationId xmlns:p14="http://schemas.microsoft.com/office/powerpoint/2010/main" val="19017985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An accrual is the opposite of a deferral. For an accrued expense, a company records the expense before paying cash. For an accrued revenue, a company records the revenue before collecting cash.</a:t>
            </a:r>
          </a:p>
          <a:p>
            <a:r>
              <a:rPr lang="en-US" altLang="en-US" dirty="0">
                <a:latin typeface="Arial" pitchFamily="34" charset="0"/>
                <a:ea typeface="ＭＳ Ｐゴシック" pitchFamily="34" charset="-128"/>
              </a:rPr>
              <a:t>Salary expense, for example, can create an accrual adjustment when employees have worked, but won’t be paid for that work until after the current accounting period. Other examples of expense accruals include interest expense and income tax expense.</a:t>
            </a:r>
          </a:p>
          <a:p>
            <a:r>
              <a:rPr lang="en-US" altLang="en-US" dirty="0">
                <a:latin typeface="Arial" pitchFamily="34" charset="0"/>
                <a:ea typeface="ＭＳ Ｐゴシック" pitchFamily="34" charset="-128"/>
              </a:rPr>
              <a:t>An accrued revenue is a revenue that the business has earned and will collect in a future period. The adjustment debits a receivable and credits a revenue.</a:t>
            </a:r>
          </a:p>
          <a:p>
            <a:r>
              <a:rPr lang="en-US" altLang="en-US" dirty="0">
                <a:latin typeface="Arial" pitchFamily="34" charset="0"/>
                <a:ea typeface="ＭＳ Ｐゴシック" pitchFamily="34" charset="-128"/>
              </a:rPr>
              <a:t>For example, accrual of interest revenue debits Interest Receivable and credits Interest Revenue.</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38</a:t>
            </a:fld>
            <a:endParaRPr lang="en-US" dirty="0"/>
          </a:p>
        </p:txBody>
      </p:sp>
    </p:spTree>
    <p:extLst>
      <p:ext uri="{BB962C8B-B14F-4D97-AF65-F5344CB8AC3E}">
        <p14:creationId xmlns:p14="http://schemas.microsoft.com/office/powerpoint/2010/main" val="34474050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Businesses may incur expenses before they pay cash. Consider an employee’s salary. A company’s expense and payable grow as the employee works, so the liability is said to accrue. Another example is interest expense on a note payable. Interest accrues as the clock ticks. The term </a:t>
            </a:r>
            <a:r>
              <a:rPr lang="en-US" altLang="en-US" i="1" dirty="0">
                <a:latin typeface="Arial" pitchFamily="34" charset="0"/>
                <a:ea typeface="ＭＳ Ｐゴシック" pitchFamily="34" charset="-128"/>
              </a:rPr>
              <a:t>accrued expense </a:t>
            </a:r>
            <a:r>
              <a:rPr lang="en-US" altLang="en-US" dirty="0">
                <a:latin typeface="Arial" pitchFamily="34" charset="0"/>
                <a:ea typeface="ＭＳ Ｐゴシック" pitchFamily="34" charset="-128"/>
              </a:rPr>
              <a:t>refers to a liability that arises from an expense that has not yet been paid. Companies don’t record accrued expenses daily or weekly. Instead, they wait until the end of the period and use an adjusting entry to update each expense (and related liability) for the financial statements.</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39</a:t>
            </a:fld>
            <a:endParaRPr lang="en-US" dirty="0"/>
          </a:p>
        </p:txBody>
      </p:sp>
    </p:spTree>
    <p:extLst>
      <p:ext uri="{BB962C8B-B14F-4D97-AF65-F5344CB8AC3E}">
        <p14:creationId xmlns:p14="http://schemas.microsoft.com/office/powerpoint/2010/main" val="30912953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Most companies pay their employees at set times. Suppose a company pays its employees a monthly salary of $1,800, half on the 15th and half on the last day of the month.</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40</a:t>
            </a:fld>
            <a:endParaRPr lang="en-US" dirty="0"/>
          </a:p>
        </p:txBody>
      </p:sp>
    </p:spTree>
    <p:extLst>
      <p:ext uri="{BB962C8B-B14F-4D97-AF65-F5344CB8AC3E}">
        <p14:creationId xmlns:p14="http://schemas.microsoft.com/office/powerpoint/2010/main" val="329363823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During September, the company paid its employees the first half-month salary of $900 and made the first entry in this slide. Because September 30, the second payday of the month, falls on a Sunday, the second half-month amount of $900 will be paid on Monday, October 1. At September 30, therefore, the company adjusts for additional salary expense and salary payable of $900.</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41</a:t>
            </a:fld>
            <a:endParaRPr lang="en-US" dirty="0"/>
          </a:p>
        </p:txBody>
      </p:sp>
    </p:spTree>
    <p:extLst>
      <p:ext uri="{BB962C8B-B14F-4D97-AF65-F5344CB8AC3E}">
        <p14:creationId xmlns:p14="http://schemas.microsoft.com/office/powerpoint/2010/main" val="328086735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After posting, the Salary Payable and Salary Expense accounts appear as follows. The accounts now hold all of September’s salary information. Salary Expense has a full month’s salary, and Salary Payable shows the amount owed at September 30. All accrued expenses are recorded this way—debit the expense and credit the liability.</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42</a:t>
            </a:fld>
            <a:endParaRPr lang="en-US" dirty="0"/>
          </a:p>
        </p:txBody>
      </p:sp>
    </p:spTree>
    <p:extLst>
      <p:ext uri="{BB962C8B-B14F-4D97-AF65-F5344CB8AC3E}">
        <p14:creationId xmlns:p14="http://schemas.microsoft.com/office/powerpoint/2010/main" val="1168616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Businesses often earn revenue before they receive the cash. A revenue that has been earned but not yet collected is called an accrued revenue. All accrued revenues are accounted for similarly—debit a receivable and credit a revenue. Let’s say a company is hired on June 15 to clean equipment for $600 per month, receiving the first payment on July 15. As of June 30, half of the fee will be earned. The entry to record the revenue that has been earned is shown above. </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43</a:t>
            </a:fld>
            <a:endParaRPr lang="en-US" dirty="0"/>
          </a:p>
        </p:txBody>
      </p:sp>
    </p:spTree>
    <p:extLst>
      <p:ext uri="{BB962C8B-B14F-4D97-AF65-F5344CB8AC3E}">
        <p14:creationId xmlns:p14="http://schemas.microsoft.com/office/powerpoint/2010/main" val="245295911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This table diagrams the distinctive timing of prepaids</a:t>
            </a:r>
            <a:r>
              <a:rPr lang="en-US" altLang="en-US" dirty="0">
                <a:solidFill>
                  <a:srgbClr val="FF0000"/>
                </a:solidFill>
                <a:latin typeface="Arial" pitchFamily="34" charset="0"/>
                <a:ea typeface="ＭＳ Ｐゴシック" pitchFamily="34" charset="-128"/>
              </a:rPr>
              <a:t> </a:t>
            </a:r>
            <a:r>
              <a:rPr lang="en-US" altLang="en-US" dirty="0">
                <a:latin typeface="Arial" pitchFamily="34" charset="0"/>
                <a:ea typeface="ＭＳ Ｐゴシック" pitchFamily="34" charset="-128"/>
              </a:rPr>
              <a:t>and accruals. With prepaids</a:t>
            </a:r>
            <a:r>
              <a:rPr lang="en-US" altLang="en-US" dirty="0">
                <a:solidFill>
                  <a:srgbClr val="FF0000"/>
                </a:solidFill>
                <a:latin typeface="Arial" pitchFamily="34" charset="0"/>
                <a:ea typeface="ＭＳ Ｐゴシック" pitchFamily="34" charset="-128"/>
              </a:rPr>
              <a:t> </a:t>
            </a:r>
            <a:r>
              <a:rPr lang="en-US" altLang="en-US" dirty="0">
                <a:latin typeface="Arial" pitchFamily="34" charset="0"/>
                <a:ea typeface="ＭＳ Ｐゴシック" pitchFamily="34" charset="-128"/>
              </a:rPr>
              <a:t>the cash comes first. Then an adjusting entry is needed to update the accounts. Accruals start with an adjusting entry. Then, the cash transaction comes later.</a:t>
            </a:r>
            <a:endParaRPr lang="en-US" b="1"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b="1"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44</a:t>
            </a:fld>
            <a:endParaRPr lang="en-US" dirty="0"/>
          </a:p>
        </p:txBody>
      </p:sp>
    </p:spTree>
    <p:extLst>
      <p:ext uri="{BB962C8B-B14F-4D97-AF65-F5344CB8AC3E}">
        <p14:creationId xmlns:p14="http://schemas.microsoft.com/office/powerpoint/2010/main" val="28253981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Two purposes of the adjusting process are to (1) measure income, and (2) update the balance sheet. Therefore, every adjusting entry affects at least one revenue or expense—to measure income, and one asset or liability—to update the balance sheet.  </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45</a:t>
            </a:fld>
            <a:endParaRPr lang="en-US" dirty="0"/>
          </a:p>
        </p:txBody>
      </p:sp>
    </p:spTree>
    <p:extLst>
      <p:ext uri="{BB962C8B-B14F-4D97-AF65-F5344CB8AC3E}">
        <p14:creationId xmlns:p14="http://schemas.microsoft.com/office/powerpoint/2010/main" val="12603478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Each category of adjustment has its own pattern. Notice that each involves a balance sheet account and an income statement account</a:t>
            </a:r>
            <a:r>
              <a:rPr lang="en-US" altLang="en-US" dirty="0">
                <a:solidFill>
                  <a:srgbClr val="FF0000"/>
                </a:solidFill>
                <a:latin typeface="Arial" pitchFamily="34" charset="0"/>
                <a:ea typeface="ＭＳ Ｐゴシック" pitchFamily="34" charset="-128"/>
              </a:rPr>
              <a:t>.</a:t>
            </a:r>
            <a:endParaRPr lang="en-US" dirty="0"/>
          </a:p>
          <a:p>
            <a:endParaRPr lang="en-AU"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46</a:t>
            </a:fld>
            <a:endParaRPr lang="en-US" dirty="0"/>
          </a:p>
        </p:txBody>
      </p:sp>
    </p:spTree>
    <p:extLst>
      <p:ext uri="{BB962C8B-B14F-4D97-AF65-F5344CB8AC3E}">
        <p14:creationId xmlns:p14="http://schemas.microsoft.com/office/powerpoint/2010/main" val="28724394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47</a:t>
            </a:fld>
            <a:endParaRPr lang="en-US" dirty="0"/>
          </a:p>
        </p:txBody>
      </p:sp>
    </p:spTree>
    <p:extLst>
      <p:ext uri="{BB962C8B-B14F-4D97-AF65-F5344CB8AC3E}">
        <p14:creationId xmlns:p14="http://schemas.microsoft.com/office/powerpoint/2010/main" val="197875479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48</a:t>
            </a:fld>
            <a:endParaRPr lang="en-US" dirty="0"/>
          </a:p>
        </p:txBody>
      </p:sp>
    </p:spTree>
    <p:extLst>
      <p:ext uri="{BB962C8B-B14F-4D97-AF65-F5344CB8AC3E}">
        <p14:creationId xmlns:p14="http://schemas.microsoft.com/office/powerpoint/2010/main" val="49297201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After the adjustments are journalized and posted, a useful step in preparing the financial statements is to list the accounts, along with their adjusted balances, on an adjusted trial balance. This document lists all the accounts and their final balances in a single place.</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49</a:t>
            </a:fld>
            <a:endParaRPr lang="en-US" dirty="0"/>
          </a:p>
        </p:txBody>
      </p:sp>
    </p:spTree>
    <p:extLst>
      <p:ext uri="{BB962C8B-B14F-4D97-AF65-F5344CB8AC3E}">
        <p14:creationId xmlns:p14="http://schemas.microsoft.com/office/powerpoint/2010/main" val="399803935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fourth learning objective is to prepare the financial statements.</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50</a:t>
            </a:fld>
            <a:endParaRPr lang="en-US" dirty="0"/>
          </a:p>
        </p:txBody>
      </p:sp>
    </p:spTree>
    <p:extLst>
      <p:ext uri="{BB962C8B-B14F-4D97-AF65-F5344CB8AC3E}">
        <p14:creationId xmlns:p14="http://schemas.microsoft.com/office/powerpoint/2010/main" val="369008768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financial statements can be prepared from the adjusted trial balance. The income statement lists the revenue and expenses. The statement of retained earnings shows the changes in retained earnings. The balance sheet reports assets, liabilities, and shareholders’ equity.  </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51</a:t>
            </a:fld>
            <a:endParaRPr lang="en-US" dirty="0"/>
          </a:p>
        </p:txBody>
      </p:sp>
    </p:spTree>
    <p:extLst>
      <p:ext uri="{BB962C8B-B14F-4D97-AF65-F5344CB8AC3E}">
        <p14:creationId xmlns:p14="http://schemas.microsoft.com/office/powerpoint/2010/main" val="12710901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Why is the income statement prepared first and the balance sheet last? The income statement reports net income or net loss, the result of revenues minus expenses. Revenues and expenses affect shareholders’ equity, so net income must be determined first because it is then transferred to retained earnings.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52</a:t>
            </a:fld>
            <a:endParaRPr lang="en-US" dirty="0"/>
          </a:p>
        </p:txBody>
      </p:sp>
    </p:spTree>
    <p:extLst>
      <p:ext uri="{BB962C8B-B14F-4D97-AF65-F5344CB8AC3E}">
        <p14:creationId xmlns:p14="http://schemas.microsoft.com/office/powerpoint/2010/main" val="876208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Why is the income statement prepared first and the balance sheet last? The income statement reports net income or net loss, the result of revenues minus expenses. Revenues and expenses affect shareholders’ equity, so net income must be determined first because it is then transferred to retained earnings. </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53</a:t>
            </a:fld>
            <a:endParaRPr lang="en-US" dirty="0"/>
          </a:p>
        </p:txBody>
      </p:sp>
    </p:spTree>
    <p:extLst>
      <p:ext uri="{BB962C8B-B14F-4D97-AF65-F5344CB8AC3E}">
        <p14:creationId xmlns:p14="http://schemas.microsoft.com/office/powerpoint/2010/main" val="225024350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Statement of Retained Earnings shows the computation of the ending balance of the account. Retained earnings is the final balancing element of the balance sheet.  </a:t>
            </a:r>
            <a:endParaRPr lang="en-US" altLang="en-US" dirty="0">
              <a:solidFill>
                <a:srgbClr val="FF0000"/>
              </a:solidFill>
              <a:latin typeface="Arial" pitchFamily="34" charset="0"/>
              <a:ea typeface="ＭＳ Ｐゴシック" pitchFamily="34" charset="-128"/>
            </a:endParaRPr>
          </a:p>
          <a:p>
            <a:endParaRPr lang="en-AU"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54</a:t>
            </a:fld>
            <a:endParaRPr lang="en-US" dirty="0"/>
          </a:p>
        </p:txBody>
      </p:sp>
    </p:spTree>
    <p:extLst>
      <p:ext uri="{BB962C8B-B14F-4D97-AF65-F5344CB8AC3E}">
        <p14:creationId xmlns:p14="http://schemas.microsoft.com/office/powerpoint/2010/main" val="88449473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Balance Sheet Formats: The report format lists the assets at the top, followed by the liabilities and shareholders’ equity below. The report format is more popular, with approximately 60% of large companies using it. The account format lists the assets on the left and the liabilities and shareholders’ equity on the right in the same way that a T-account appears, with assets (debits) on the left and liabilities and equity (credits) on the right.</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55</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On the balance sheet, assets and liabilities are classified as current or long term to indicate their relative liquidity. Liquidity measures how quickly an item can be converted to cash. Cash is the most liquid asset. Accounts receivable is relatively liquid because cash collections usually follow quickly. Inventory is less liquid than accounts receivable because the company must first sell the goods. Equipment and buildings are even less liquid because these assets are held for use and not for sale. A balance sheet lists assets and liabilities in the order of relative liquidity.</a:t>
            </a:r>
            <a:endParaRPr lang="en-US" dirty="0"/>
          </a:p>
          <a:p>
            <a:endParaRPr lang="en-AU"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56</a:t>
            </a:fld>
            <a:endParaRPr lang="en-US" dirty="0"/>
          </a:p>
        </p:txBody>
      </p:sp>
    </p:spTree>
    <p:extLst>
      <p:ext uri="{BB962C8B-B14F-4D97-AF65-F5344CB8AC3E}">
        <p14:creationId xmlns:p14="http://schemas.microsoft.com/office/powerpoint/2010/main" val="226518907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dirty="0">
                <a:latin typeface="Arial" pitchFamily="34" charset="0"/>
                <a:ea typeface="ＭＳ Ｐゴシック" pitchFamily="34" charset="-128"/>
              </a:rPr>
              <a:t>Current assets are the most liquid assets. They will be converted to cash, sold, or consumed during the next 12 months or within the business</a:t>
            </a:r>
            <a:r>
              <a:rPr lang="ja-JP" altLang="en-US" sz="1200" dirty="0">
                <a:latin typeface="Arial" pitchFamily="34" charset="0"/>
                <a:ea typeface="ＭＳ Ｐゴシック" pitchFamily="34" charset="-128"/>
              </a:rPr>
              <a:t>’</a:t>
            </a:r>
            <a:r>
              <a:rPr lang="en-US" altLang="ja-JP" sz="1200" dirty="0">
                <a:latin typeface="Arial" pitchFamily="34" charset="0"/>
                <a:ea typeface="ＭＳ Ｐゴシック" pitchFamily="34" charset="-128"/>
              </a:rPr>
              <a:t>s normal operating cycle if longer than a year. The operating cycle is the time span during which cash is paid for goods and services, and these goods and services are sold to bring in cash. For most businesses, the operating cycle is a few months. Cash, Short-term investments, Accounts Receivable, Merchandise Inventory, and Prepaid Expenses are the current assets.</a:t>
            </a:r>
          </a:p>
          <a:p>
            <a:r>
              <a:rPr lang="en-US" altLang="en-US" sz="1200" dirty="0">
                <a:latin typeface="Arial" pitchFamily="34" charset="0"/>
                <a:ea typeface="ＭＳ Ｐゴシック" pitchFamily="34" charset="-128"/>
              </a:rPr>
              <a:t>Non-current assets are all assets not classified as current assets. One category of non-current assets is long-term, tangible assets, often labeled Property, plant, and equipment or Fixed assets. Land, Buildings, Furniture and fixtures, and Equipment are long-term, tangible</a:t>
            </a:r>
            <a:r>
              <a:rPr lang="en-US" altLang="en-US" sz="1200" baseline="0" dirty="0">
                <a:latin typeface="Arial" pitchFamily="34" charset="0"/>
                <a:ea typeface="ＭＳ Ｐゴシック" pitchFamily="34" charset="-128"/>
              </a:rPr>
              <a:t> </a:t>
            </a:r>
            <a:r>
              <a:rPr lang="en-US" altLang="en-US" sz="1200" dirty="0">
                <a:latin typeface="Arial" pitchFamily="34" charset="0"/>
                <a:ea typeface="ＭＳ Ｐゴシック" pitchFamily="34" charset="-128"/>
              </a:rPr>
              <a:t>assets. Long-term investments, Intangible assets, and Other assets (a catch-all category for assets that are not classified more precisely) are also non-current.</a:t>
            </a:r>
          </a:p>
          <a:p>
            <a:r>
              <a:rPr lang="en-US" altLang="en-US" sz="1200" dirty="0">
                <a:latin typeface="Arial" pitchFamily="34" charset="0"/>
                <a:ea typeface="ＭＳ Ｐゴシック" pitchFamily="34" charset="-128"/>
              </a:rPr>
              <a:t>Current liabilities are debts that must be paid within one year or within the entity</a:t>
            </a:r>
            <a:r>
              <a:rPr lang="ja-JP" altLang="en-US" sz="1200" dirty="0">
                <a:latin typeface="Arial" pitchFamily="34" charset="0"/>
                <a:ea typeface="ＭＳ Ｐゴシック" pitchFamily="34" charset="-128"/>
              </a:rPr>
              <a:t>’</a:t>
            </a:r>
            <a:r>
              <a:rPr lang="en-US" altLang="ja-JP" sz="1200" dirty="0">
                <a:latin typeface="Arial" pitchFamily="34" charset="0"/>
                <a:ea typeface="ＭＳ Ｐゴシック" pitchFamily="34" charset="-128"/>
              </a:rPr>
              <a:t>s operating cycle if longer than a year. Accounts Payable, Notes Payable due within one year, Salary Payable, Unearned Revenue, Interest Payable, and Income Tax Payable are current liabilities. Bankers and other lenders are interested in the due dates of an entity</a:t>
            </a:r>
            <a:r>
              <a:rPr lang="ja-JP" altLang="en-US" sz="1200" dirty="0">
                <a:latin typeface="Arial" pitchFamily="34" charset="0"/>
                <a:ea typeface="ＭＳ Ｐゴシック" pitchFamily="34" charset="-128"/>
              </a:rPr>
              <a:t>’</a:t>
            </a:r>
            <a:r>
              <a:rPr lang="en-US" altLang="ja-JP" sz="1200" dirty="0">
                <a:latin typeface="Arial" pitchFamily="34" charset="0"/>
                <a:ea typeface="ＭＳ Ｐゴシック" pitchFamily="34" charset="-128"/>
              </a:rPr>
              <a:t>s liabilities. The sooner a liability must be paid, the more pressure it creates. Therefore, the balance sheet lists liabilities in the order in which they must be paid.</a:t>
            </a:r>
          </a:p>
          <a:p>
            <a:r>
              <a:rPr lang="en-US" altLang="en-US" sz="1200" dirty="0">
                <a:latin typeface="Arial" pitchFamily="34" charset="0"/>
                <a:ea typeface="ＭＳ Ｐゴシック" pitchFamily="34" charset="-128"/>
              </a:rPr>
              <a:t>All liabilities that are not current are classified as non-current liabilities. Many notes payable are non-current. Some notes payable are paid in installments, with the first installment due within one year, the second installment due the second year, and so on. The first installment is a current liability and the remainder is non-current.</a:t>
            </a:r>
            <a:endParaRPr lang="en-US" dirty="0"/>
          </a:p>
          <a:p>
            <a:endParaRPr lang="en-AU"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57</a:t>
            </a:fld>
            <a:endParaRPr lang="en-US" dirty="0"/>
          </a:p>
        </p:txBody>
      </p:sp>
    </p:spTree>
    <p:extLst>
      <p:ext uri="{BB962C8B-B14F-4D97-AF65-F5344CB8AC3E}">
        <p14:creationId xmlns:p14="http://schemas.microsoft.com/office/powerpoint/2010/main" val="160476090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A classified balance sheet separates current assets from non-current assets and current liabilities from non-current liabilities.</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58</a:t>
            </a:fld>
            <a:endParaRPr lang="en-US" dirty="0"/>
          </a:p>
        </p:txBody>
      </p:sp>
    </p:spTree>
    <p:extLst>
      <p:ext uri="{BB962C8B-B14F-4D97-AF65-F5344CB8AC3E}">
        <p14:creationId xmlns:p14="http://schemas.microsoft.com/office/powerpoint/2010/main" val="19916409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Income Statement Formats: A single-step income statement lists all the revenues together under a heading such as Revenues, or Revenues and Gains. The expenses are listed together in a single category titled Expenses, or Expenses and Losses. There is only one step, the subtraction of Expenses and Losses from the sum of Revenues and Gains, in arriving at net  income. A multi-step income statement reports a number of subtotals to highlight  important relationships between revenues and expenses. These include gross profit, income from operations,  income before tax, and net income.</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59</a:t>
            </a:fld>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fifth learning objective is to record closing journal entries.</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60</a:t>
            </a:fld>
            <a:endParaRPr lang="en-US" dirty="0"/>
          </a:p>
        </p:txBody>
      </p:sp>
    </p:spTree>
    <p:extLst>
      <p:ext uri="{BB962C8B-B14F-4D97-AF65-F5344CB8AC3E}">
        <p14:creationId xmlns:p14="http://schemas.microsoft.com/office/powerpoint/2010/main" val="279874185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Closing journal entries prepare the accounts for the next fiscal year. The closing entries set the revenue, expense, and dividends balances back to zero at the end of the period. The idea is the same as setting the scoreboard back to zero after a game.</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61</a:t>
            </a:fld>
            <a:endParaRPr lang="en-US" dirty="0"/>
          </a:p>
        </p:txBody>
      </p:sp>
    </p:spTree>
    <p:extLst>
      <p:ext uri="{BB962C8B-B14F-4D97-AF65-F5344CB8AC3E}">
        <p14:creationId xmlns:p14="http://schemas.microsoft.com/office/powerpoint/2010/main" val="144446416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en-US" dirty="0">
                <a:latin typeface="Arial" pitchFamily="34" charset="0"/>
                <a:ea typeface="ＭＳ Ｐゴシック" pitchFamily="34" charset="-128"/>
              </a:rPr>
              <a:t>Because revenues and expenses relate to a limited period, they are called temporary accounts. The Dividends account is also temporary. The closing process applies only to temporary accounts (revenues, expenses, and dividends). </a:t>
            </a:r>
          </a:p>
          <a:p>
            <a:r>
              <a:rPr lang="en-US" altLang="en-US" dirty="0">
                <a:latin typeface="Arial" pitchFamily="34" charset="0"/>
                <a:ea typeface="ＭＳ Ｐゴシック" pitchFamily="34" charset="-128"/>
              </a:rPr>
              <a:t>Permanent accounts consist of assets, liabilities, and shareholders’ equity. The permanent accounts are not closed at the end of the period because they carry over to the next period. Consider Cash, Receivables, Equipment, Accounts Payable, Common Shares, and Retained Earnings. Their ending balances at the end of one period become the beginning balances of the next period.</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62</a:t>
            </a:fld>
            <a:endParaRPr 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dirty="0">
                <a:ea typeface="+mn-ea"/>
                <a:cs typeface="+mn-cs"/>
              </a:rPr>
              <a:t>Closing entries transfer the revenue, expense, and dividends balances to Retained Earnings. Here are the steps to close the books of a company:</a:t>
            </a:r>
          </a:p>
          <a:p>
            <a:pPr marL="228600" indent="-228600">
              <a:buFontTx/>
              <a:buAutoNum type="arabicParenR"/>
              <a:defRPr/>
            </a:pPr>
            <a:r>
              <a:rPr lang="en-US" dirty="0">
                <a:ea typeface="+mn-ea"/>
                <a:cs typeface="+mn-cs"/>
              </a:rPr>
              <a:t>Debit each revenue account for the amount of its credit balance. Credit Retained Earnings for the sum of the revenues. Now the sum of the revenues is in Retained Earnings.</a:t>
            </a:r>
          </a:p>
          <a:p>
            <a:pPr marL="228600" indent="-228600">
              <a:buFontTx/>
              <a:buAutoNum type="arabicParenR"/>
              <a:defRPr/>
            </a:pPr>
            <a:r>
              <a:rPr lang="en-US" dirty="0">
                <a:ea typeface="+mn-ea"/>
                <a:cs typeface="+mn-cs"/>
              </a:rPr>
              <a:t>Credit each expense account for the amount of its debit balance. Debit Retained Earnings for the sum of the expenses. The sum of the expenses is now in Retained Earnings.</a:t>
            </a:r>
          </a:p>
          <a:p>
            <a:pPr>
              <a:defRPr/>
            </a:pPr>
            <a:r>
              <a:rPr lang="en-US" dirty="0">
                <a:ea typeface="+mn-ea"/>
                <a:cs typeface="+mn-cs"/>
              </a:rPr>
              <a:t>3)  Credit the Dividends account for the amount of its debit balance. Debit Retained Earnings. This entry places the dividends amount in the debit side of Retained Earnings. Remember that dividends are not expenses. Dividends never affect net income.</a:t>
            </a:r>
            <a:endParaRPr lang="en-US" dirty="0"/>
          </a:p>
          <a:p>
            <a:pPr>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63</a:t>
            </a:fld>
            <a:endParaRPr lang="en-US" dirty="0"/>
          </a:p>
        </p:txBody>
      </p:sp>
    </p:spTree>
    <p:extLst>
      <p:ext uri="{BB962C8B-B14F-4D97-AF65-F5344CB8AC3E}">
        <p14:creationId xmlns:p14="http://schemas.microsoft.com/office/powerpoint/2010/main" val="424215876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itchFamily="34" charset="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64</a:t>
            </a:fld>
            <a:endParaRPr lang="en-US" dirty="0"/>
          </a:p>
        </p:txBody>
      </p:sp>
    </p:spTree>
    <p:extLst>
      <p:ext uri="{BB962C8B-B14F-4D97-AF65-F5344CB8AC3E}">
        <p14:creationId xmlns:p14="http://schemas.microsoft.com/office/powerpoint/2010/main" val="122195571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sixth learning objective is to analyze and evaluate a company’s debt-paying ability.</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65</a:t>
            </a:fld>
            <a:endParaRPr lang="en-US" dirty="0"/>
          </a:p>
        </p:txBody>
      </p:sp>
    </p:spTree>
    <p:extLst>
      <p:ext uri="{BB962C8B-B14F-4D97-AF65-F5344CB8AC3E}">
        <p14:creationId xmlns:p14="http://schemas.microsoft.com/office/powerpoint/2010/main" val="326099039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Net working capital is computational data that represents operating liquidity. Its computation is simple—total current assets minus total current liabilities. Generally, to be considered sufficiently liquid, entities should have a sufficient excess of current assets over current liabilities. The amount of that excess is usually expressed in terms of the current ratio discussed next, and the amount considered “sufficient” varies with the industry.</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66</a:t>
            </a:fld>
            <a:endParaRPr lang="en-US" dirty="0"/>
          </a:p>
        </p:txBody>
      </p:sp>
    </p:spTree>
    <p:extLst>
      <p:ext uri="{BB962C8B-B14F-4D97-AF65-F5344CB8AC3E}">
        <p14:creationId xmlns:p14="http://schemas.microsoft.com/office/powerpoint/2010/main" val="281290165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Another means of expressing operating liquidity through the relationship between current assets and current liabilities is the current ratio, which divides total current assets by total current liabilities. The current ratio measures the company’s ability to pay current liabilities with current assets. A company prefers a high current ratio, which means that the business has plenty of current assets to pay current liabilities. An increasing current ratio from period to period indicates improvement in financial position. As a rule of thumb, a strong current ratio is 1.50, which indicates that the company has $1.50 in current assets for every $1.00 in current liabilities. A company with a current ratio of 1.50 would probably have little trouble paying its current liabilities.  Most successful businesses operate with current ratios between 1.20 and 1.50. A current ratio of less than 1.00 is considered quite low.</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67</a:t>
            </a:fld>
            <a:endParaRPr lang="en-US" dirty="0"/>
          </a:p>
        </p:txBody>
      </p:sp>
    </p:spTree>
    <p:extLst>
      <p:ext uri="{BB962C8B-B14F-4D97-AF65-F5344CB8AC3E}">
        <p14:creationId xmlns:p14="http://schemas.microsoft.com/office/powerpoint/2010/main" val="135201488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Still another measure of debt-paying ability is the debt ratio, which is the ratio of total liabilities to total assets. The debt ratio indicates the proportion of a company’s assets that is financed with debt. This ratio measures a business’s ability to pay both current and long-term debts (total liabilities). A low debt ratio is safer than a high debt ratio. Why? Because a company with few liabilities has low required debt payments. This company is unlikely to get into financial difficulty. By contrast, a business with a high debt ratio may have trouble paying its liabilities, especially when sales are low and cash is scarce.</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68</a:t>
            </a:fld>
            <a:endParaRPr lang="en-US" dirty="0"/>
          </a:p>
        </p:txBody>
      </p:sp>
    </p:spTree>
    <p:extLst>
      <p:ext uri="{BB962C8B-B14F-4D97-AF65-F5344CB8AC3E}">
        <p14:creationId xmlns:p14="http://schemas.microsoft.com/office/powerpoint/2010/main" val="135201488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Companies are keenly aware of how transactions affect their ratios. Lending  agreements often require that a company’s current ratio not fall below a certain level. Another loan requirement is that the company’s debt ratio may not rise above a threshold, such as 0.70. When a company fails to meet one of these conditions, it is said to default on its lending agreements. The penalty can be severe: the lender can require immediate payment of the loan. To help keep debt ratios within normal limits, companies might adopt one or more of the strategies shown.</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69</a:t>
            </a:fld>
            <a:endParaRPr lang="en-US" dirty="0"/>
          </a:p>
        </p:txBody>
      </p:sp>
    </p:spTree>
    <p:extLst>
      <p:ext uri="{BB962C8B-B14F-4D97-AF65-F5344CB8AC3E}">
        <p14:creationId xmlns:p14="http://schemas.microsoft.com/office/powerpoint/2010/main" val="84271152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seventh learning objective is to identify patterns and trends using data visualization</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70</a:t>
            </a:fld>
            <a:endParaRPr lang="en-US" dirty="0"/>
          </a:p>
        </p:txBody>
      </p:sp>
    </p:spTree>
    <p:extLst>
      <p:ext uri="{BB962C8B-B14F-4D97-AF65-F5344CB8AC3E}">
        <p14:creationId xmlns:p14="http://schemas.microsoft.com/office/powerpoint/2010/main" val="9700801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This concludes Chapter Three.</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76</a:t>
            </a:fld>
            <a:endParaRPr lang="en-US" dirty="0"/>
          </a:p>
        </p:txBody>
      </p:sp>
    </p:spTree>
    <p:extLst>
      <p:ext uri="{BB962C8B-B14F-4D97-AF65-F5344CB8AC3E}">
        <p14:creationId xmlns:p14="http://schemas.microsoft.com/office/powerpoint/2010/main" val="152529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39557" y="1028943"/>
            <a:ext cx="6519149" cy="1474115"/>
          </a:xfrm>
        </p:spPr>
        <p:txBody>
          <a:bodyPr lIns="0" anchor="b">
            <a:noAutofit/>
          </a:bodyPr>
          <a:lstStyle>
            <a:lvl1pPr algn="l">
              <a:defRPr sz="5400">
                <a:solidFill>
                  <a:schemeClr val="tx1"/>
                </a:solidFill>
                <a:latin typeface="+mj-lt"/>
              </a:defRPr>
            </a:lvl1pPr>
          </a:lstStyle>
          <a:p>
            <a:r>
              <a:rPr lang="en-US" dirty="0"/>
              <a:t>CLICK TO EDIT MASTER TITLE SLIDE</a:t>
            </a:r>
          </a:p>
        </p:txBody>
      </p:sp>
      <p:sp>
        <p:nvSpPr>
          <p:cNvPr id="3" name="Subtitle 2"/>
          <p:cNvSpPr>
            <a:spLocks noGrp="1"/>
          </p:cNvSpPr>
          <p:nvPr>
            <p:ph type="subTitle" idx="1"/>
          </p:nvPr>
        </p:nvSpPr>
        <p:spPr>
          <a:xfrm>
            <a:off x="339555" y="4266824"/>
            <a:ext cx="5112661" cy="666549"/>
          </a:xfrm>
        </p:spPr>
        <p:txBody>
          <a:bodyPr lIns="0" anchor="t">
            <a:normAutofit/>
          </a:bodyPr>
          <a:lstStyle>
            <a:lvl1pPr marL="0" indent="0" algn="l">
              <a:buNone/>
              <a:defRPr sz="2000" b="0">
                <a:solidFill>
                  <a:schemeClr val="tx1">
                    <a:lumMod val="50000"/>
                    <a:lumOff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6" y="2642329"/>
            <a:ext cx="1155958"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9/11/25</a:t>
            </a:fld>
            <a:endParaRPr lang="en-US" dirty="0"/>
          </a:p>
        </p:txBody>
      </p:sp>
      <p:grpSp>
        <p:nvGrpSpPr>
          <p:cNvPr id="16" name="Group 15"/>
          <p:cNvGrpSpPr/>
          <p:nvPr userDrawn="1"/>
        </p:nvGrpSpPr>
        <p:grpSpPr>
          <a:xfrm>
            <a:off x="0" y="0"/>
            <a:ext cx="9144000" cy="397164"/>
            <a:chOff x="421830" y="1342659"/>
            <a:chExt cx="10018760" cy="290558"/>
          </a:xfrm>
        </p:grpSpPr>
        <p:sp>
          <p:nvSpPr>
            <p:cNvPr id="18" name="Rectangle 1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5" name="Picture 14">
            <a:extLst>
              <a:ext uri="{FF2B5EF4-FFF2-40B4-BE49-F238E27FC236}">
                <a16:creationId xmlns:a16="http://schemas.microsoft.com/office/drawing/2014/main" id="{643069D2-FAC5-B540-938A-D5C004FC4DF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66" t="25800" r="8375" b="26600"/>
          <a:stretch/>
        </p:blipFill>
        <p:spPr>
          <a:xfrm>
            <a:off x="457200" y="5791200"/>
            <a:ext cx="5432996" cy="722376"/>
          </a:xfrm>
          <a:prstGeom prst="rect">
            <a:avLst/>
          </a:prstGeom>
        </p:spPr>
      </p:pic>
    </p:spTree>
    <p:extLst>
      <p:ext uri="{BB962C8B-B14F-4D97-AF65-F5344CB8AC3E}">
        <p14:creationId xmlns:p14="http://schemas.microsoft.com/office/powerpoint/2010/main" val="3515592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4570594" y="397164"/>
            <a:ext cx="4573407" cy="6460836"/>
          </a:xfrm>
        </p:spPr>
        <p:txBody>
          <a:bodyPr/>
          <a:lstStyle/>
          <a:p>
            <a:r>
              <a:rPr lang="en-US"/>
              <a:t>Click icon to add picture</a:t>
            </a:r>
          </a:p>
        </p:txBody>
      </p:sp>
      <p:sp>
        <p:nvSpPr>
          <p:cNvPr id="2" name="Title 1"/>
          <p:cNvSpPr>
            <a:spLocks noGrp="1"/>
          </p:cNvSpPr>
          <p:nvPr>
            <p:ph type="ctrTitle" hasCustomPrompt="1"/>
          </p:nvPr>
        </p:nvSpPr>
        <p:spPr>
          <a:xfrm>
            <a:off x="339556" y="595747"/>
            <a:ext cx="4114682" cy="1907312"/>
          </a:xfrm>
        </p:spPr>
        <p:txBody>
          <a:bodyPr lIns="0" anchor="b">
            <a:noAutofit/>
          </a:bodyPr>
          <a:lstStyle>
            <a:lvl1pPr algn="l">
              <a:defRPr sz="4400">
                <a:solidFill>
                  <a:schemeClr val="tx1"/>
                </a:solidFill>
                <a:latin typeface="+mj-lt"/>
              </a:defRPr>
            </a:lvl1pPr>
          </a:lstStyle>
          <a:p>
            <a:r>
              <a:rPr lang="en-US" dirty="0"/>
              <a:t>CLICK TO EDIT MASTER TITLE SLIDE</a:t>
            </a:r>
          </a:p>
        </p:txBody>
      </p:sp>
      <p:sp>
        <p:nvSpPr>
          <p:cNvPr id="3" name="Subtitle 2"/>
          <p:cNvSpPr>
            <a:spLocks noGrp="1"/>
          </p:cNvSpPr>
          <p:nvPr>
            <p:ph type="subTitle" idx="1"/>
          </p:nvPr>
        </p:nvSpPr>
        <p:spPr>
          <a:xfrm>
            <a:off x="339556" y="4266824"/>
            <a:ext cx="4114682" cy="666549"/>
          </a:xfrm>
        </p:spPr>
        <p:txBody>
          <a:bodyPr lIns="0" anchor="t">
            <a:normAutofit/>
          </a:bodyPr>
          <a:lstStyle>
            <a:lvl1pPr marL="0" indent="0" algn="l">
              <a:buNone/>
              <a:defRPr sz="2000" b="0">
                <a:solidFill>
                  <a:schemeClr val="tx1">
                    <a:lumMod val="50000"/>
                    <a:lumOff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6" y="2642329"/>
            <a:ext cx="1152144"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9/11/25</a:t>
            </a:fld>
            <a:endParaRPr lang="en-US" dirty="0"/>
          </a:p>
        </p:txBody>
      </p:sp>
      <p:grpSp>
        <p:nvGrpSpPr>
          <p:cNvPr id="16" name="Group 15"/>
          <p:cNvGrpSpPr/>
          <p:nvPr userDrawn="1"/>
        </p:nvGrpSpPr>
        <p:grpSpPr>
          <a:xfrm>
            <a:off x="0" y="0"/>
            <a:ext cx="9144000" cy="397164"/>
            <a:chOff x="421830" y="1342659"/>
            <a:chExt cx="10018760" cy="290558"/>
          </a:xfrm>
        </p:grpSpPr>
        <p:sp>
          <p:nvSpPr>
            <p:cNvPr id="18" name="Rectangle 1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4" name="Picture 23">
            <a:extLst>
              <a:ext uri="{FF2B5EF4-FFF2-40B4-BE49-F238E27FC236}">
                <a16:creationId xmlns:a16="http://schemas.microsoft.com/office/drawing/2014/main" id="{61D60701-02B4-D540-911A-B01AC4D2CAEF}"/>
              </a:ext>
            </a:extLst>
          </p:cNvPr>
          <p:cNvPicPr>
            <a:picLocks noChangeAspect="1"/>
          </p:cNvPicPr>
          <p:nvPr userDrawn="1"/>
        </p:nvPicPr>
        <p:blipFill>
          <a:blip r:embed="rId2"/>
          <a:stretch>
            <a:fillRect/>
          </a:stretch>
        </p:blipFill>
        <p:spPr>
          <a:xfrm>
            <a:off x="6827793" y="6147742"/>
            <a:ext cx="2060466" cy="527423"/>
          </a:xfrm>
          <a:prstGeom prst="rect">
            <a:avLst/>
          </a:prstGeom>
        </p:spPr>
      </p:pic>
      <p:pic>
        <p:nvPicPr>
          <p:cNvPr id="25" name="Picture 24">
            <a:extLst>
              <a:ext uri="{FF2B5EF4-FFF2-40B4-BE49-F238E27FC236}">
                <a16:creationId xmlns:a16="http://schemas.microsoft.com/office/drawing/2014/main" id="{91D4C5F0-5180-6746-A503-097869B289A8}"/>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0114" t="18434" r="9658" b="19398"/>
          <a:stretch/>
        </p:blipFill>
        <p:spPr>
          <a:xfrm>
            <a:off x="228600" y="6175248"/>
            <a:ext cx="1447162" cy="530352"/>
          </a:xfrm>
          <a:prstGeom prst="rect">
            <a:avLst/>
          </a:prstGeom>
        </p:spPr>
      </p:pic>
    </p:spTree>
    <p:extLst>
      <p:ext uri="{BB962C8B-B14F-4D97-AF65-F5344CB8AC3E}">
        <p14:creationId xmlns:p14="http://schemas.microsoft.com/office/powerpoint/2010/main" val="1031835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Black">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39557" y="1028943"/>
            <a:ext cx="6519149" cy="1474115"/>
          </a:xfrm>
        </p:spPr>
        <p:txBody>
          <a:bodyPr lIns="0" anchor="b">
            <a:noAutofit/>
          </a:bodyPr>
          <a:lstStyle>
            <a:lvl1pPr algn="l">
              <a:defRPr sz="5400">
                <a:solidFill>
                  <a:schemeClr val="bg1"/>
                </a:solidFill>
                <a:latin typeface="+mj-lt"/>
              </a:defRPr>
            </a:lvl1pPr>
          </a:lstStyle>
          <a:p>
            <a:r>
              <a:rPr lang="en-US" dirty="0"/>
              <a:t>CLICK TO EDIT MASTER TITLE SLIDE</a:t>
            </a:r>
          </a:p>
        </p:txBody>
      </p:sp>
      <p:sp>
        <p:nvSpPr>
          <p:cNvPr id="3" name="Subtitle 2"/>
          <p:cNvSpPr>
            <a:spLocks noGrp="1"/>
          </p:cNvSpPr>
          <p:nvPr>
            <p:ph type="subTitle" idx="1"/>
          </p:nvPr>
        </p:nvSpPr>
        <p:spPr>
          <a:xfrm>
            <a:off x="339556" y="4266824"/>
            <a:ext cx="4114682" cy="666549"/>
          </a:xfrm>
        </p:spPr>
        <p:txBody>
          <a:bodyPr lIns="0" anchor="t">
            <a:normAutofit/>
          </a:bodyPr>
          <a:lstStyle>
            <a:lvl1pPr marL="0" indent="0" algn="l">
              <a:buNone/>
              <a:defRPr sz="2000" b="0">
                <a:solidFill>
                  <a:schemeClr val="bg1">
                    <a:lumMod val="8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5" y="2642329"/>
            <a:ext cx="1152144"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9/11/25</a:t>
            </a:fld>
            <a:endParaRPr lang="en-US" dirty="0"/>
          </a:p>
        </p:txBody>
      </p:sp>
      <p:grpSp>
        <p:nvGrpSpPr>
          <p:cNvPr id="17" name="Group 16"/>
          <p:cNvGrpSpPr/>
          <p:nvPr userDrawn="1"/>
        </p:nvGrpSpPr>
        <p:grpSpPr>
          <a:xfrm>
            <a:off x="0" y="0"/>
            <a:ext cx="9144000" cy="397164"/>
            <a:chOff x="421830" y="1342659"/>
            <a:chExt cx="10018760" cy="290558"/>
          </a:xfrm>
        </p:grpSpPr>
        <p:sp>
          <p:nvSpPr>
            <p:cNvPr id="5" name="Rectangle 4"/>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0" name="Picture 19">
            <a:extLst>
              <a:ext uri="{FF2B5EF4-FFF2-40B4-BE49-F238E27FC236}">
                <a16:creationId xmlns:a16="http://schemas.microsoft.com/office/drawing/2014/main" id="{E043A7D3-71BA-0D4D-8606-264CCB5C2EA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188" t="23400" r="7817" b="25400"/>
          <a:stretch/>
        </p:blipFill>
        <p:spPr>
          <a:xfrm>
            <a:off x="345440" y="5907024"/>
            <a:ext cx="5101781" cy="722376"/>
          </a:xfrm>
          <a:prstGeom prst="rect">
            <a:avLst/>
          </a:prstGeom>
        </p:spPr>
      </p:pic>
    </p:spTree>
    <p:extLst>
      <p:ext uri="{BB962C8B-B14F-4D97-AF65-F5344CB8AC3E}">
        <p14:creationId xmlns:p14="http://schemas.microsoft.com/office/powerpoint/2010/main" val="2528952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Black with Image">
    <p:bg>
      <p:bgPr>
        <a:solidFill>
          <a:schemeClr val="tx1"/>
        </a:solidFill>
        <a:effectLst/>
      </p:bgPr>
    </p:bg>
    <p:spTree>
      <p:nvGrpSpPr>
        <p:cNvPr id="1" name=""/>
        <p:cNvGrpSpPr/>
        <p:nvPr/>
      </p:nvGrpSpPr>
      <p:grpSpPr>
        <a:xfrm>
          <a:off x="0" y="0"/>
          <a:ext cx="0" cy="0"/>
          <a:chOff x="0" y="0"/>
          <a:chExt cx="0" cy="0"/>
        </a:xfrm>
      </p:grpSpPr>
      <p:sp>
        <p:nvSpPr>
          <p:cNvPr id="18" name="Picture Placeholder 5"/>
          <p:cNvSpPr>
            <a:spLocks noGrp="1"/>
          </p:cNvSpPr>
          <p:nvPr>
            <p:ph type="pic" sz="quarter" idx="13"/>
          </p:nvPr>
        </p:nvSpPr>
        <p:spPr>
          <a:xfrm>
            <a:off x="4570594" y="397164"/>
            <a:ext cx="4573407" cy="6460836"/>
          </a:xfrm>
        </p:spPr>
        <p:txBody>
          <a:bodyPr/>
          <a:lstStyle/>
          <a:p>
            <a:r>
              <a:rPr lang="en-US"/>
              <a:t>Click icon to add picture</a:t>
            </a:r>
          </a:p>
        </p:txBody>
      </p:sp>
      <p:sp>
        <p:nvSpPr>
          <p:cNvPr id="2" name="Title 1"/>
          <p:cNvSpPr>
            <a:spLocks noGrp="1"/>
          </p:cNvSpPr>
          <p:nvPr>
            <p:ph type="ctrTitle" hasCustomPrompt="1"/>
          </p:nvPr>
        </p:nvSpPr>
        <p:spPr>
          <a:xfrm>
            <a:off x="339556" y="595747"/>
            <a:ext cx="4114682" cy="1907312"/>
          </a:xfrm>
        </p:spPr>
        <p:txBody>
          <a:bodyPr lIns="0" anchor="b">
            <a:noAutofit/>
          </a:bodyPr>
          <a:lstStyle>
            <a:lvl1pPr algn="l">
              <a:defRPr sz="4400">
                <a:solidFill>
                  <a:schemeClr val="bg1"/>
                </a:solidFill>
                <a:latin typeface="+mj-lt"/>
              </a:defRPr>
            </a:lvl1pPr>
          </a:lstStyle>
          <a:p>
            <a:r>
              <a:rPr lang="en-US" dirty="0"/>
              <a:t>CLICK TO EDIT MASTER TITLE SLIDE</a:t>
            </a:r>
          </a:p>
        </p:txBody>
      </p:sp>
      <p:sp>
        <p:nvSpPr>
          <p:cNvPr id="3" name="Subtitle 2"/>
          <p:cNvSpPr>
            <a:spLocks noGrp="1"/>
          </p:cNvSpPr>
          <p:nvPr>
            <p:ph type="subTitle" idx="1"/>
          </p:nvPr>
        </p:nvSpPr>
        <p:spPr>
          <a:xfrm>
            <a:off x="339556" y="4266824"/>
            <a:ext cx="4114682" cy="666549"/>
          </a:xfrm>
        </p:spPr>
        <p:txBody>
          <a:bodyPr lIns="0" anchor="t">
            <a:normAutofit/>
          </a:bodyPr>
          <a:lstStyle>
            <a:lvl1pPr marL="0" indent="0" algn="l">
              <a:buNone/>
              <a:defRPr sz="2000" b="0">
                <a:solidFill>
                  <a:schemeClr val="bg1">
                    <a:lumMod val="8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5" y="2642329"/>
            <a:ext cx="1152144"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9/11/25</a:t>
            </a:fld>
            <a:endParaRPr lang="en-US" dirty="0"/>
          </a:p>
        </p:txBody>
      </p:sp>
      <p:grpSp>
        <p:nvGrpSpPr>
          <p:cNvPr id="15" name="Group 14"/>
          <p:cNvGrpSpPr/>
          <p:nvPr userDrawn="1"/>
        </p:nvGrpSpPr>
        <p:grpSpPr>
          <a:xfrm>
            <a:off x="0" y="0"/>
            <a:ext cx="9144000" cy="397164"/>
            <a:chOff x="421830" y="1342659"/>
            <a:chExt cx="10018760" cy="290558"/>
          </a:xfrm>
        </p:grpSpPr>
        <p:sp>
          <p:nvSpPr>
            <p:cNvPr id="20" name="Rectangle 19"/>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4" name="Rectangle 23"/>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5" name="Picture 24">
            <a:extLst>
              <a:ext uri="{FF2B5EF4-FFF2-40B4-BE49-F238E27FC236}">
                <a16:creationId xmlns:a16="http://schemas.microsoft.com/office/drawing/2014/main" id="{CA074264-89A3-EE45-B1CD-741D4DBB62E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188" t="23400" r="7817" b="25400"/>
          <a:stretch/>
        </p:blipFill>
        <p:spPr>
          <a:xfrm>
            <a:off x="375921" y="5907024"/>
            <a:ext cx="4145280" cy="586942"/>
          </a:xfrm>
          <a:prstGeom prst="rect">
            <a:avLst/>
          </a:prstGeom>
        </p:spPr>
      </p:pic>
    </p:spTree>
    <p:extLst>
      <p:ext uri="{BB962C8B-B14F-4D97-AF65-F5344CB8AC3E}">
        <p14:creationId xmlns:p14="http://schemas.microsoft.com/office/powerpoint/2010/main" val="350106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66323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_Menu">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p:cNvSpPr>
            <a:spLocks noGrp="1"/>
          </p:cNvSpPr>
          <p:nvPr>
            <p:ph type="body" sz="quarter" idx="13" hasCustomPrompt="1"/>
          </p:nvPr>
        </p:nvSpPr>
        <p:spPr>
          <a:xfrm>
            <a:off x="5555773" y="685060"/>
            <a:ext cx="1065644" cy="286052"/>
          </a:xfrm>
        </p:spPr>
        <p:txBody>
          <a:bodyPr anchor="ctr">
            <a:noAutofit/>
          </a:bodyPr>
          <a:lstStyle>
            <a:lvl1pPr marL="0" indent="0" algn="ctr">
              <a:buNone/>
              <a:defRPr sz="10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1</a:t>
            </a:r>
          </a:p>
        </p:txBody>
      </p:sp>
      <p:sp>
        <p:nvSpPr>
          <p:cNvPr id="9" name="Text Placeholder 7"/>
          <p:cNvSpPr>
            <a:spLocks noGrp="1"/>
          </p:cNvSpPr>
          <p:nvPr>
            <p:ph type="body" sz="quarter" idx="14" hasCustomPrompt="1"/>
          </p:nvPr>
        </p:nvSpPr>
        <p:spPr>
          <a:xfrm>
            <a:off x="6681169" y="685060"/>
            <a:ext cx="1065644" cy="286052"/>
          </a:xfrm>
        </p:spPr>
        <p:txBody>
          <a:bodyPr anchor="ctr">
            <a:noAutofit/>
          </a:bodyPr>
          <a:lstStyle>
            <a:lvl1pPr marL="0" indent="0" algn="ctr">
              <a:buNone/>
              <a:defRPr sz="10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2</a:t>
            </a:r>
          </a:p>
        </p:txBody>
      </p:sp>
      <p:sp>
        <p:nvSpPr>
          <p:cNvPr id="10" name="Text Placeholder 7"/>
          <p:cNvSpPr>
            <a:spLocks noGrp="1"/>
          </p:cNvSpPr>
          <p:nvPr>
            <p:ph type="body" sz="quarter" idx="15" hasCustomPrompt="1"/>
          </p:nvPr>
        </p:nvSpPr>
        <p:spPr>
          <a:xfrm>
            <a:off x="7806565" y="685060"/>
            <a:ext cx="1065644" cy="286052"/>
          </a:xfrm>
        </p:spPr>
        <p:txBody>
          <a:bodyPr anchor="ctr">
            <a:noAutofit/>
          </a:bodyPr>
          <a:lstStyle>
            <a:lvl1pPr marL="0" indent="0" algn="ctr">
              <a:buNone/>
              <a:defRPr sz="1000" b="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3</a:t>
            </a:r>
          </a:p>
        </p:txBody>
      </p:sp>
      <p:sp>
        <p:nvSpPr>
          <p:cNvPr id="4" name="Title 3"/>
          <p:cNvSpPr>
            <a:spLocks noGrp="1"/>
          </p:cNvSpPr>
          <p:nvPr>
            <p:ph type="title"/>
          </p:nvPr>
        </p:nvSpPr>
        <p:spPr>
          <a:xfrm>
            <a:off x="194914" y="434111"/>
            <a:ext cx="5284561" cy="895927"/>
          </a:xfrm>
        </p:spPr>
        <p:txBody>
          <a:bodyPr tIns="182880"/>
          <a:lstStyle>
            <a:lvl1pPr>
              <a:defRPr cap="all" baseline="0"/>
            </a:lvl1pPr>
          </a:lstStyle>
          <a:p>
            <a:r>
              <a:rPr lang="en-US"/>
              <a:t>Click to edit Master title style</a:t>
            </a:r>
            <a:endParaRPr lang="en-US" dirty="0"/>
          </a:p>
        </p:txBody>
      </p:sp>
    </p:spTree>
    <p:extLst>
      <p:ext uri="{BB962C8B-B14F-4D97-AF65-F5344CB8AC3E}">
        <p14:creationId xmlns:p14="http://schemas.microsoft.com/office/powerpoint/2010/main" val="1267036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94913" y="1709741"/>
            <a:ext cx="7049630" cy="2852737"/>
          </a:xfrm>
        </p:spPr>
        <p:txBody>
          <a:bodyPr anchor="b">
            <a:normAutofit/>
          </a:bodyPr>
          <a:lstStyle>
            <a:lvl1pPr algn="l">
              <a:defRPr sz="4000" baseline="0">
                <a:solidFill>
                  <a:schemeClr val="tx1"/>
                </a:solidFill>
              </a:defRPr>
            </a:lvl1pPr>
          </a:lstStyle>
          <a:p>
            <a:r>
              <a:rPr lang="en-US" dirty="0"/>
              <a:t>CLICK TO EDIT MASTER</a:t>
            </a:r>
            <a:br>
              <a:rPr lang="en-US" dirty="0"/>
            </a:br>
            <a:r>
              <a:rPr lang="en-US" dirty="0"/>
              <a:t>SECTION TITLE SLIDE</a:t>
            </a:r>
          </a:p>
        </p:txBody>
      </p:sp>
      <p:sp>
        <p:nvSpPr>
          <p:cNvPr id="3" name="Text Placeholder 2"/>
          <p:cNvSpPr>
            <a:spLocks noGrp="1"/>
          </p:cNvSpPr>
          <p:nvPr>
            <p:ph type="body" idx="1"/>
          </p:nvPr>
        </p:nvSpPr>
        <p:spPr>
          <a:xfrm>
            <a:off x="194913" y="4589466"/>
            <a:ext cx="7049630" cy="1500187"/>
          </a:xfrm>
        </p:spPr>
        <p:txBody>
          <a:bodyPr>
            <a:normAutofit/>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969021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Section Header_AL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20392" y="3727927"/>
            <a:ext cx="6577965" cy="1212056"/>
          </a:xfrm>
        </p:spPr>
        <p:txBody>
          <a:bodyPr anchor="b">
            <a:noAutofit/>
          </a:bodyPr>
          <a:lstStyle>
            <a:lvl1pPr algn="l">
              <a:defRPr sz="4000" baseline="0">
                <a:solidFill>
                  <a:schemeClr val="tx1"/>
                </a:solidFill>
                <a:latin typeface="+mj-lt"/>
              </a:defRPr>
            </a:lvl1pPr>
          </a:lstStyle>
          <a:p>
            <a:r>
              <a:rPr lang="en-US" dirty="0"/>
              <a:t>CLICK TO EDIT MASTER</a:t>
            </a:r>
            <a:br>
              <a:rPr lang="en-US" dirty="0"/>
            </a:br>
            <a:r>
              <a:rPr lang="en-US" dirty="0"/>
              <a:t>SECTION TITLE SLIDE OPTION 2</a:t>
            </a:r>
          </a:p>
        </p:txBody>
      </p:sp>
      <p:sp>
        <p:nvSpPr>
          <p:cNvPr id="3" name="Subtitle 2"/>
          <p:cNvSpPr>
            <a:spLocks noGrp="1"/>
          </p:cNvSpPr>
          <p:nvPr>
            <p:ph type="subTitle" idx="1"/>
          </p:nvPr>
        </p:nvSpPr>
        <p:spPr bwMode="gray">
          <a:xfrm>
            <a:off x="720392" y="4947816"/>
            <a:ext cx="6577965" cy="666549"/>
          </a:xfrm>
        </p:spPr>
        <p:txBody>
          <a:bodyPr anchor="t">
            <a:normAutofit/>
          </a:bodyPr>
          <a:lstStyle>
            <a:lvl1pPr marL="0" indent="0" algn="l">
              <a:buNone/>
              <a:defRPr sz="2400">
                <a:solidFill>
                  <a:schemeClr val="tx1">
                    <a:lumMod val="50000"/>
                    <a:lumOff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grpSp>
        <p:nvGrpSpPr>
          <p:cNvPr id="16" name="Group 15"/>
          <p:cNvGrpSpPr/>
          <p:nvPr userDrawn="1"/>
        </p:nvGrpSpPr>
        <p:grpSpPr>
          <a:xfrm>
            <a:off x="0" y="0"/>
            <a:ext cx="9144000" cy="397164"/>
            <a:chOff x="421830" y="1342659"/>
            <a:chExt cx="10018760" cy="290558"/>
          </a:xfrm>
        </p:grpSpPr>
        <p:sp>
          <p:nvSpPr>
            <p:cNvPr id="17" name="Rectangle 16"/>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ectangle 17"/>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5" name="Picture 14">
            <a:extLst>
              <a:ext uri="{FF2B5EF4-FFF2-40B4-BE49-F238E27FC236}">
                <a16:creationId xmlns:a16="http://schemas.microsoft.com/office/drawing/2014/main" id="{F031D293-784B-194D-B017-C76342FBDC7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66" t="25800" r="8375" b="26600"/>
          <a:stretch/>
        </p:blipFill>
        <p:spPr>
          <a:xfrm>
            <a:off x="619761" y="1925320"/>
            <a:ext cx="8280400" cy="1100969"/>
          </a:xfrm>
          <a:prstGeom prst="rect">
            <a:avLst/>
          </a:prstGeom>
        </p:spPr>
      </p:pic>
    </p:spTree>
    <p:extLst>
      <p:ext uri="{BB962C8B-B14F-4D97-AF65-F5344CB8AC3E}">
        <p14:creationId xmlns:p14="http://schemas.microsoft.com/office/powerpoint/2010/main" val="3642748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94914" y="434111"/>
            <a:ext cx="8677297" cy="895927"/>
          </a:xfrm>
        </p:spPr>
        <p:txBody>
          <a:bodyPr/>
          <a:lstStyle/>
          <a:p>
            <a:r>
              <a:rPr lang="en-US" dirty="0"/>
              <a:t>CLICK TO EDIT MASTER TITLE STYLE</a:t>
            </a:r>
          </a:p>
        </p:txBody>
      </p:sp>
      <p:sp>
        <p:nvSpPr>
          <p:cNvPr id="3" name="Content Placeholder 2"/>
          <p:cNvSpPr>
            <a:spLocks noGrp="1"/>
          </p:cNvSpPr>
          <p:nvPr>
            <p:ph sz="half" idx="1"/>
          </p:nvPr>
        </p:nvSpPr>
        <p:spPr>
          <a:xfrm>
            <a:off x="194913" y="1413164"/>
            <a:ext cx="4190141" cy="4590472"/>
          </a:xfrm>
        </p:spPr>
        <p:txBody>
          <a:bodyPr/>
          <a:lstStyle>
            <a:lvl1pPr marL="288918" indent="-288918">
              <a:spcBef>
                <a:spcPts val="800"/>
              </a:spcBef>
              <a:spcAft>
                <a:spcPts val="800"/>
              </a:spcAft>
              <a:buFont typeface="Wingdings" charset="2"/>
              <a:buChar char="§"/>
              <a:defRPr/>
            </a:lvl1pPr>
            <a:lvl2pPr marL="685783" indent="-228594">
              <a:spcBef>
                <a:spcPts val="800"/>
              </a:spcBef>
              <a:spcAft>
                <a:spcPts val="800"/>
              </a:spcAft>
              <a:buFont typeface="Wingdings" charset="2"/>
              <a:buChar char="§"/>
              <a:defRPr/>
            </a:lvl2pPr>
            <a:lvl3pPr marL="1142971" indent="-228594">
              <a:spcBef>
                <a:spcPts val="800"/>
              </a:spcBef>
              <a:spcAft>
                <a:spcPts val="800"/>
              </a:spcAft>
              <a:buFont typeface="Wingdings" charset="2"/>
              <a:buChar char="§"/>
              <a:defRPr/>
            </a:lvl3pPr>
            <a:lvl4pPr marL="1600160" indent="-228594">
              <a:spcBef>
                <a:spcPts val="800"/>
              </a:spcBef>
              <a:spcAft>
                <a:spcPts val="800"/>
              </a:spcAft>
              <a:buFont typeface="Wingdings" charset="2"/>
              <a:buChar char="§"/>
              <a:defRPr/>
            </a:lvl4pPr>
            <a:lvl5pPr marL="2057349" indent="-228594">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8245" y="1413164"/>
            <a:ext cx="4243965" cy="4590472"/>
          </a:xfrm>
        </p:spPr>
        <p:txBody>
          <a:bodyPr/>
          <a:lstStyle>
            <a:lvl1pPr marL="288918" indent="-288918">
              <a:spcBef>
                <a:spcPts val="800"/>
              </a:spcBef>
              <a:spcAft>
                <a:spcPts val="800"/>
              </a:spcAft>
              <a:buFont typeface="Wingdings" charset="2"/>
              <a:buChar char="§"/>
              <a:defRPr/>
            </a:lvl1pPr>
            <a:lvl2pPr marL="685783" indent="-228594">
              <a:spcBef>
                <a:spcPts val="800"/>
              </a:spcBef>
              <a:spcAft>
                <a:spcPts val="800"/>
              </a:spcAft>
              <a:buFont typeface="Wingdings" charset="2"/>
              <a:buChar char="§"/>
              <a:defRPr/>
            </a:lvl2pPr>
            <a:lvl3pPr marL="1142971" indent="-228594">
              <a:spcBef>
                <a:spcPts val="800"/>
              </a:spcBef>
              <a:spcAft>
                <a:spcPts val="800"/>
              </a:spcAft>
              <a:buFont typeface="Wingdings" charset="2"/>
              <a:buChar char="§"/>
              <a:defRPr/>
            </a:lvl3pPr>
            <a:lvl4pPr marL="1600160" indent="-228594">
              <a:spcBef>
                <a:spcPts val="800"/>
              </a:spcBef>
              <a:spcAft>
                <a:spcPts val="800"/>
              </a:spcAft>
              <a:buFont typeface="Wingdings" charset="2"/>
              <a:buChar char="§"/>
              <a:defRPr/>
            </a:lvl4pPr>
            <a:lvl5pPr marL="2057349" indent="-228594">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38516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4912" y="1396192"/>
            <a:ext cx="4214718" cy="670270"/>
          </a:xfrm>
        </p:spPr>
        <p:txBody>
          <a:bodyPr anchor="b">
            <a:noAutofit/>
          </a:bodyPr>
          <a:lstStyle>
            <a:lvl1pPr marL="0" indent="0">
              <a:buNone/>
              <a:defRPr sz="2800" b="1" baseline="0">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194912" y="2184402"/>
            <a:ext cx="4214718" cy="3846945"/>
          </a:xfrm>
        </p:spPr>
        <p:txBody>
          <a:bodyPr>
            <a:normAutofit/>
          </a:bodyPr>
          <a:lstStyle>
            <a:lvl1pPr marL="288918" indent="-288918">
              <a:spcBef>
                <a:spcPts val="800"/>
              </a:spcBef>
              <a:spcAft>
                <a:spcPts val="800"/>
              </a:spcAft>
              <a:buFont typeface="Wingdings" charset="2"/>
              <a:buChar char="§"/>
              <a:defRPr sz="2000"/>
            </a:lvl1pPr>
            <a:lvl2pPr marL="685783" indent="-228594">
              <a:spcBef>
                <a:spcPts val="800"/>
              </a:spcBef>
              <a:spcAft>
                <a:spcPts val="800"/>
              </a:spcAft>
              <a:buFont typeface="Wingdings" charset="2"/>
              <a:buChar char="§"/>
              <a:defRPr sz="1800"/>
            </a:lvl2pPr>
            <a:lvl3pPr marL="1142971" indent="-228594">
              <a:spcBef>
                <a:spcPts val="800"/>
              </a:spcBef>
              <a:spcAft>
                <a:spcPts val="800"/>
              </a:spcAft>
              <a:buFont typeface="Wingdings" charset="2"/>
              <a:buChar char="§"/>
              <a:defRPr sz="1600"/>
            </a:lvl3pPr>
            <a:lvl4pPr marL="1600160" indent="-228594">
              <a:spcBef>
                <a:spcPts val="800"/>
              </a:spcBef>
              <a:spcAft>
                <a:spcPts val="800"/>
              </a:spcAft>
              <a:buFont typeface="Wingdings" charset="2"/>
              <a:buChar char="§"/>
              <a:defRPr sz="1400"/>
            </a:lvl4pPr>
            <a:lvl5pPr marL="2057349" indent="-228594">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77115" y="1396192"/>
            <a:ext cx="4195094" cy="670270"/>
          </a:xfrm>
        </p:spPr>
        <p:txBody>
          <a:bodyPr anchor="b">
            <a:normAutofit/>
          </a:bodyPr>
          <a:lstStyle>
            <a:lvl1pPr marL="0" indent="0">
              <a:buNone/>
              <a:defRPr sz="2800" b="1">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77115" y="2184402"/>
            <a:ext cx="4195094" cy="3846945"/>
          </a:xfrm>
        </p:spPr>
        <p:txBody>
          <a:bodyPr>
            <a:normAutofit/>
          </a:bodyPr>
          <a:lstStyle>
            <a:lvl1pPr marL="288918" indent="-288918">
              <a:spcBef>
                <a:spcPts val="800"/>
              </a:spcBef>
              <a:spcAft>
                <a:spcPts val="800"/>
              </a:spcAft>
              <a:buFont typeface="Wingdings" charset="2"/>
              <a:buChar char="§"/>
              <a:defRPr sz="2000"/>
            </a:lvl1pPr>
            <a:lvl2pPr marL="685783" indent="-228594">
              <a:spcBef>
                <a:spcPts val="800"/>
              </a:spcBef>
              <a:spcAft>
                <a:spcPts val="800"/>
              </a:spcAft>
              <a:buFont typeface="Wingdings" charset="2"/>
              <a:buChar char="§"/>
              <a:defRPr sz="1800"/>
            </a:lvl2pPr>
            <a:lvl3pPr marL="1142971" indent="-228594">
              <a:spcBef>
                <a:spcPts val="800"/>
              </a:spcBef>
              <a:spcAft>
                <a:spcPts val="800"/>
              </a:spcAft>
              <a:buFont typeface="Wingdings" charset="2"/>
              <a:buChar char="§"/>
              <a:defRPr sz="1600"/>
            </a:lvl3pPr>
            <a:lvl4pPr marL="1600160" indent="-228594">
              <a:spcBef>
                <a:spcPts val="800"/>
              </a:spcBef>
              <a:spcAft>
                <a:spcPts val="800"/>
              </a:spcAft>
              <a:buFont typeface="Wingdings" charset="2"/>
              <a:buChar char="§"/>
              <a:defRPr sz="1400"/>
            </a:lvl4pPr>
            <a:lvl5pPr marL="2057349" indent="-228594">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p:cNvSpPr>
            <a:spLocks noGrp="1"/>
          </p:cNvSpPr>
          <p:nvPr>
            <p:ph type="title" hasCustomPrompt="1"/>
          </p:nvPr>
        </p:nvSpPr>
        <p:spPr>
          <a:xfrm>
            <a:off x="194914" y="434111"/>
            <a:ext cx="8677297" cy="895927"/>
          </a:xfrm>
        </p:spPr>
        <p:txBody>
          <a:bodyPr/>
          <a:lstStyle/>
          <a:p>
            <a:r>
              <a:rPr lang="en-US" dirty="0"/>
              <a:t>CLICK TO EDIT MASTER TITLE STYLE</a:t>
            </a:r>
          </a:p>
        </p:txBody>
      </p:sp>
    </p:spTree>
    <p:extLst>
      <p:ext uri="{BB962C8B-B14F-4D97-AF65-F5344CB8AC3E}">
        <p14:creationId xmlns:p14="http://schemas.microsoft.com/office/powerpoint/2010/main" val="519598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Tree>
    <p:extLst>
      <p:ext uri="{BB962C8B-B14F-4D97-AF65-F5344CB8AC3E}">
        <p14:creationId xmlns:p14="http://schemas.microsoft.com/office/powerpoint/2010/main" val="2708487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43165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Blank_NoBkgr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1087678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xt or Quot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47555" y="1237675"/>
            <a:ext cx="3248891" cy="910202"/>
          </a:xfrm>
        </p:spPr>
        <p:txBody>
          <a:bodyPr anchor="b">
            <a:normAutofit/>
          </a:bodyPr>
          <a:lstStyle>
            <a:lvl1pPr algn="ctr">
              <a:defRPr sz="2800" cap="all" baseline="0"/>
            </a:lvl1pPr>
          </a:lstStyle>
          <a:p>
            <a:r>
              <a:rPr lang="en-US" dirty="0"/>
              <a:t>CONTEXT or THEME</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cxnSp>
        <p:nvCxnSpPr>
          <p:cNvPr id="12" name="Straight Connector 11"/>
          <p:cNvCxnSpPr/>
          <p:nvPr userDrawn="1"/>
        </p:nvCxnSpPr>
        <p:spPr>
          <a:xfrm>
            <a:off x="2947556" y="2244437"/>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2947556" y="4668983"/>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 Placeholder 14"/>
          <p:cNvSpPr>
            <a:spLocks noGrp="1"/>
          </p:cNvSpPr>
          <p:nvPr>
            <p:ph type="body" sz="quarter" idx="13"/>
          </p:nvPr>
        </p:nvSpPr>
        <p:spPr>
          <a:xfrm>
            <a:off x="495300" y="2420360"/>
            <a:ext cx="8153400" cy="2114550"/>
          </a:xfrm>
        </p:spPr>
        <p:txBody>
          <a:bodyPr anchor="ctr">
            <a:normAutofit/>
          </a:bodyPr>
          <a:lstStyle>
            <a:lvl1pPr marL="0" indent="0" algn="ctr">
              <a:lnSpc>
                <a:spcPct val="100000"/>
              </a:lnSpc>
              <a:buNone/>
              <a:defRPr sz="28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2947556" y="4784728"/>
            <a:ext cx="3248891"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spTree>
    <p:extLst>
      <p:ext uri="{BB962C8B-B14F-4D97-AF65-F5344CB8AC3E}">
        <p14:creationId xmlns:p14="http://schemas.microsoft.com/office/powerpoint/2010/main" val="1064198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xt or Quote with Photo">
    <p:bg>
      <p:bgPr>
        <a:solidFill>
          <a:schemeClr val="bg2"/>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5"/>
          </p:nvPr>
        </p:nvSpPr>
        <p:spPr>
          <a:xfrm>
            <a:off x="4762714" y="495661"/>
            <a:ext cx="4080486" cy="5757360"/>
          </a:xfrm>
        </p:spPr>
        <p:txBody>
          <a:bodyPr/>
          <a:lstStyle/>
          <a:p>
            <a:r>
              <a:rPr lang="en-US"/>
              <a:t>Click icon to add picture</a:t>
            </a:r>
          </a:p>
        </p:txBody>
      </p:sp>
      <p:sp>
        <p:nvSpPr>
          <p:cNvPr id="2" name="Title 1"/>
          <p:cNvSpPr>
            <a:spLocks noGrp="1"/>
          </p:cNvSpPr>
          <p:nvPr>
            <p:ph type="title" hasCustomPrompt="1"/>
          </p:nvPr>
        </p:nvSpPr>
        <p:spPr>
          <a:xfrm>
            <a:off x="640773" y="1237675"/>
            <a:ext cx="3248891" cy="910202"/>
          </a:xfrm>
        </p:spPr>
        <p:txBody>
          <a:bodyPr anchor="b">
            <a:normAutofit/>
          </a:bodyPr>
          <a:lstStyle>
            <a:lvl1pPr algn="ctr">
              <a:defRPr sz="2800" cap="all" baseline="0"/>
            </a:lvl1pPr>
          </a:lstStyle>
          <a:p>
            <a:r>
              <a:rPr lang="en-US" dirty="0"/>
              <a:t>CONTEXT or THEME</a:t>
            </a:r>
          </a:p>
        </p:txBody>
      </p:sp>
      <p:sp>
        <p:nvSpPr>
          <p:cNvPr id="4" name="Footer Placeholder 3"/>
          <p:cNvSpPr>
            <a:spLocks noGrp="1"/>
          </p:cNvSpPr>
          <p:nvPr>
            <p:ph type="ftr" sz="quarter" idx="11"/>
          </p:nvPr>
        </p:nvSpPr>
        <p:spPr>
          <a:xfrm>
            <a:off x="194913" y="6335312"/>
            <a:ext cx="2915434" cy="250337"/>
          </a:xfrm>
          <a:prstGeom prst="rect">
            <a:avLst/>
          </a:prstGeom>
        </p:spPr>
        <p:txBody>
          <a:bodyPr/>
          <a:lstStyle/>
          <a:p>
            <a:r>
              <a:rPr lang="en-US"/>
              <a:t>PRESENTATION TITLE</a:t>
            </a:r>
            <a:endParaRPr lang="en-US" dirty="0"/>
          </a:p>
        </p:txBody>
      </p:sp>
      <p:sp>
        <p:nvSpPr>
          <p:cNvPr id="15" name="Text Placeholder 14"/>
          <p:cNvSpPr>
            <a:spLocks noGrp="1"/>
          </p:cNvSpPr>
          <p:nvPr>
            <p:ph type="body" sz="quarter" idx="13"/>
          </p:nvPr>
        </p:nvSpPr>
        <p:spPr>
          <a:xfrm>
            <a:off x="408708" y="2409026"/>
            <a:ext cx="3713021" cy="2114550"/>
          </a:xfrm>
        </p:spPr>
        <p:txBody>
          <a:bodyPr anchor="ctr">
            <a:normAutofit/>
          </a:bodyPr>
          <a:lstStyle>
            <a:lvl1pPr marL="0" indent="0" algn="ctr">
              <a:lnSpc>
                <a:spcPct val="100000"/>
              </a:lnSpc>
              <a:buNone/>
              <a:defRPr sz="22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640773" y="4784728"/>
            <a:ext cx="3248891"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cxnSp>
        <p:nvCxnSpPr>
          <p:cNvPr id="10" name="Straight Connector 9"/>
          <p:cNvCxnSpPr/>
          <p:nvPr userDrawn="1"/>
        </p:nvCxnSpPr>
        <p:spPr>
          <a:xfrm>
            <a:off x="640774" y="2244437"/>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a:off x="640774" y="4668983"/>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317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Divider 1">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163243" y="3461559"/>
            <a:ext cx="6803231" cy="598488"/>
          </a:xfrm>
        </p:spPr>
        <p:txBody>
          <a:bodyPr>
            <a:normAutofit/>
          </a:bodyPr>
          <a:lstStyle>
            <a:lvl1pPr marL="0" indent="0" algn="ctr">
              <a:buNone/>
              <a:defRPr sz="3200"/>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15695" y="2382984"/>
            <a:ext cx="8677297" cy="1046019"/>
          </a:xfrm>
        </p:spPr>
        <p:txBody>
          <a:bodyPr anchor="b">
            <a:normAutofit/>
          </a:bodyPr>
          <a:lstStyle>
            <a:lvl1pPr algn="ctr">
              <a:defRPr sz="6000" cap="all" baseline="0"/>
            </a:lvl1pPr>
          </a:lstStyle>
          <a:p>
            <a:r>
              <a:rPr lang="en-US" dirty="0"/>
              <a:t>SECTION DIVIDER</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1467728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Divider 2">
    <p:bg>
      <p:bgPr>
        <a:solidFill>
          <a:schemeClr val="accent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163243" y="3461559"/>
            <a:ext cx="6803231" cy="598488"/>
          </a:xfrm>
        </p:spPr>
        <p:txBody>
          <a:bodyPr>
            <a:normAutofit/>
          </a:bodyPr>
          <a:lstStyle>
            <a:lvl1pPr marL="0" indent="0" algn="ctr">
              <a:buNone/>
              <a:defRPr sz="3200"/>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15695" y="2382984"/>
            <a:ext cx="8677297" cy="1046019"/>
          </a:xfrm>
        </p:spPr>
        <p:txBody>
          <a:bodyPr anchor="b">
            <a:normAutofit/>
          </a:bodyPr>
          <a:lstStyle>
            <a:lvl1pPr algn="ctr">
              <a:defRPr sz="6000" cap="all" baseline="0"/>
            </a:lvl1pPr>
          </a:lstStyle>
          <a:p>
            <a:r>
              <a:rPr lang="en-US" dirty="0"/>
              <a:t>SECTION DIVIDER</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3666828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Divider 3">
    <p:bg>
      <p:bgPr>
        <a:solidFill>
          <a:schemeClr val="tx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163243" y="3461559"/>
            <a:ext cx="6803231" cy="598488"/>
          </a:xfrm>
        </p:spPr>
        <p:txBody>
          <a:bodyPr>
            <a:normAutofit/>
          </a:bodyPr>
          <a:lstStyle>
            <a:lvl1pPr marL="0" indent="0" algn="ctr">
              <a:buNone/>
              <a:defRPr sz="3200">
                <a:solidFill>
                  <a:schemeClr val="bg1"/>
                </a:solidFill>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15695" y="2382984"/>
            <a:ext cx="8677297" cy="1046019"/>
          </a:xfrm>
        </p:spPr>
        <p:txBody>
          <a:bodyPr anchor="b">
            <a:normAutofit/>
          </a:bodyPr>
          <a:lstStyle>
            <a:lvl1pPr algn="ctr">
              <a:defRPr sz="6000" cap="all" baseline="0">
                <a:solidFill>
                  <a:schemeClr val="bg1"/>
                </a:solidFill>
              </a:defRPr>
            </a:lvl1pPr>
          </a:lstStyle>
          <a:p>
            <a:r>
              <a:rPr lang="en-US" dirty="0"/>
              <a:t>SECTION DIVIDER</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lvl1pPr>
              <a:defRPr>
                <a:solidFill>
                  <a:schemeClr val="bg1"/>
                </a:solidFill>
              </a:defRPr>
            </a:lvl1pPr>
          </a:lstStyle>
          <a:p>
            <a:r>
              <a:rPr lang="en-US"/>
              <a:t>PRESENTATION TITLE</a:t>
            </a:r>
            <a:endParaRPr lang="en-US" dirty="0"/>
          </a:p>
        </p:txBody>
      </p:sp>
    </p:spTree>
    <p:extLst>
      <p:ext uri="{BB962C8B-B14F-4D97-AF65-F5344CB8AC3E}">
        <p14:creationId xmlns:p14="http://schemas.microsoft.com/office/powerpoint/2010/main" val="303502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2920" y="4581239"/>
            <a:ext cx="8158163" cy="1597891"/>
          </a:xfrm>
          <a:noFill/>
        </p:spPr>
        <p:txBody>
          <a:bodyPr wrap="square" rtlCol="0" anchor="ctr" anchorCtr="1">
            <a:noAutofit/>
          </a:bodyPr>
          <a:lstStyle>
            <a:lvl1pPr algn="ctr">
              <a:defRPr lang="en-US" sz="1800" b="0" cap="all" baseline="0">
                <a:solidFill>
                  <a:schemeClr val="tx1"/>
                </a:solidFill>
                <a:latin typeface="Verdana" charset="0"/>
                <a:ea typeface="Verdana" charset="0"/>
                <a:cs typeface="Verdana" charset="0"/>
              </a:defRPr>
            </a:lvl1pPr>
          </a:lstStyle>
          <a:p>
            <a:pPr marL="0" lvl="0" algn="ctr">
              <a:lnSpc>
                <a:spcPct val="75000"/>
              </a:lnSpc>
            </a:pPr>
            <a:r>
              <a:rPr lang="en-US" dirty="0"/>
              <a:t>click to edit master closing slide</a:t>
            </a:r>
          </a:p>
        </p:txBody>
      </p:sp>
      <p:sp>
        <p:nvSpPr>
          <p:cNvPr id="10" name="Footer Placeholder 9"/>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grpSp>
        <p:nvGrpSpPr>
          <p:cNvPr id="8" name="Group 7"/>
          <p:cNvGrpSpPr/>
          <p:nvPr userDrawn="1"/>
        </p:nvGrpSpPr>
        <p:grpSpPr>
          <a:xfrm>
            <a:off x="0" y="0"/>
            <a:ext cx="9144000" cy="397164"/>
            <a:chOff x="421830" y="1342659"/>
            <a:chExt cx="10018760" cy="290558"/>
          </a:xfrm>
        </p:grpSpPr>
        <p:sp>
          <p:nvSpPr>
            <p:cNvPr id="12" name="Rectangle 11"/>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15"/>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7" name="Picture 16">
            <a:extLst>
              <a:ext uri="{FF2B5EF4-FFF2-40B4-BE49-F238E27FC236}">
                <a16:creationId xmlns:a16="http://schemas.microsoft.com/office/drawing/2014/main" id="{8EF7CDFE-4AD1-C042-9B69-C29262BF44C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2857" y="411480"/>
            <a:ext cx="5683943" cy="4160520"/>
          </a:xfrm>
          <a:prstGeom prst="rect">
            <a:avLst/>
          </a:prstGeom>
        </p:spPr>
      </p:pic>
    </p:spTree>
    <p:extLst>
      <p:ext uri="{BB962C8B-B14F-4D97-AF65-F5344CB8AC3E}">
        <p14:creationId xmlns:p14="http://schemas.microsoft.com/office/powerpoint/2010/main" val="3269677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losing Slide_ALT">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hqprint">
            <a:extLst>
              <a:ext uri="{28A0092B-C50C-407E-A947-70E740481C1C}">
                <a14:useLocalDpi xmlns:a14="http://schemas.microsoft.com/office/drawing/2010/main" val="0"/>
              </a:ext>
            </a:extLst>
          </a:blip>
          <a:srcRect/>
          <a:stretch/>
        </p:blipFill>
        <p:spPr>
          <a:xfrm>
            <a:off x="0" y="0"/>
            <a:ext cx="9144000" cy="6858000"/>
          </a:xfrm>
          <a:prstGeom prst="rect">
            <a:avLst/>
          </a:prstGeom>
        </p:spPr>
      </p:pic>
      <p:sp>
        <p:nvSpPr>
          <p:cNvPr id="7" name="Footer Placeholder 6"/>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grpSp>
        <p:nvGrpSpPr>
          <p:cNvPr id="10" name="Group 9"/>
          <p:cNvGrpSpPr/>
          <p:nvPr userDrawn="1"/>
        </p:nvGrpSpPr>
        <p:grpSpPr>
          <a:xfrm>
            <a:off x="0" y="0"/>
            <a:ext cx="9144000" cy="397164"/>
            <a:chOff x="421830" y="1342659"/>
            <a:chExt cx="10018760" cy="290558"/>
          </a:xfrm>
        </p:grpSpPr>
        <p:sp>
          <p:nvSpPr>
            <p:cNvPr id="12" name="Rectangle 11"/>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15"/>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17" name="Title 1"/>
          <p:cNvSpPr>
            <a:spLocks noGrp="1"/>
          </p:cNvSpPr>
          <p:nvPr>
            <p:ph type="title" hasCustomPrompt="1"/>
          </p:nvPr>
        </p:nvSpPr>
        <p:spPr>
          <a:xfrm>
            <a:off x="492920" y="4581239"/>
            <a:ext cx="8158163" cy="1597891"/>
          </a:xfrm>
          <a:noFill/>
        </p:spPr>
        <p:txBody>
          <a:bodyPr wrap="square" rtlCol="0" anchor="ctr" anchorCtr="1">
            <a:noAutofit/>
          </a:bodyPr>
          <a:lstStyle>
            <a:lvl1pPr algn="ctr">
              <a:defRPr lang="en-US" sz="1800" b="0" cap="all" baseline="0">
                <a:solidFill>
                  <a:schemeClr val="bg1"/>
                </a:solidFill>
                <a:latin typeface="Verdana" charset="0"/>
                <a:ea typeface="Verdana" charset="0"/>
                <a:cs typeface="Verdana" charset="0"/>
              </a:defRPr>
            </a:lvl1pPr>
          </a:lstStyle>
          <a:p>
            <a:pPr marL="0" lvl="0" algn="ctr">
              <a:lnSpc>
                <a:spcPct val="75000"/>
              </a:lnSpc>
            </a:pPr>
            <a:r>
              <a:rPr lang="en-US" dirty="0"/>
              <a:t>click to edit master closing slide</a:t>
            </a:r>
          </a:p>
        </p:txBody>
      </p:sp>
      <p:pic>
        <p:nvPicPr>
          <p:cNvPr id="18" name="Picture 17">
            <a:extLst>
              <a:ext uri="{FF2B5EF4-FFF2-40B4-BE49-F238E27FC236}">
                <a16:creationId xmlns:a16="http://schemas.microsoft.com/office/drawing/2014/main" id="{710C154A-5454-7D48-9F68-2CA0B874964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722120" y="355600"/>
            <a:ext cx="5683943" cy="4160520"/>
          </a:xfrm>
          <a:prstGeom prst="rect">
            <a:avLst/>
          </a:prstGeom>
        </p:spPr>
      </p:pic>
    </p:spTree>
    <p:extLst>
      <p:ext uri="{BB962C8B-B14F-4D97-AF65-F5344CB8AC3E}">
        <p14:creationId xmlns:p14="http://schemas.microsoft.com/office/powerpoint/2010/main" val="3722082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16" name="Text Placeholder 15"/>
          <p:cNvSpPr>
            <a:spLocks noGrp="1"/>
          </p:cNvSpPr>
          <p:nvPr>
            <p:ph type="body" sz="quarter" idx="18"/>
          </p:nvPr>
        </p:nvSpPr>
        <p:spPr>
          <a:xfrm>
            <a:off x="457200" y="1457450"/>
            <a:ext cx="8229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hasCustomPrompt="1"/>
          </p:nvPr>
        </p:nvSpPr>
        <p:spPr>
          <a:xfrm>
            <a:off x="45720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4" name="Content Placeholder 3"/>
          <p:cNvSpPr>
            <a:spLocks noGrp="1"/>
          </p:cNvSpPr>
          <p:nvPr>
            <p:ph sz="half" idx="2" hasCustomPrompt="1"/>
          </p:nvPr>
        </p:nvSpPr>
        <p:spPr>
          <a:xfrm>
            <a:off x="3291114" y="160194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5" name="Text Placeholder 4"/>
          <p:cNvSpPr>
            <a:spLocks noGrp="1"/>
          </p:cNvSpPr>
          <p:nvPr>
            <p:ph type="body" sz="quarter" idx="3" hasCustomPrompt="1"/>
          </p:nvPr>
        </p:nvSpPr>
        <p:spPr>
          <a:xfrm>
            <a:off x="612648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6" name="Content Placeholder 5"/>
          <p:cNvSpPr>
            <a:spLocks noGrp="1"/>
          </p:cNvSpPr>
          <p:nvPr>
            <p:ph sz="quarter" idx="4" hasCustomPrompt="1"/>
          </p:nvPr>
        </p:nvSpPr>
        <p:spPr>
          <a:xfrm>
            <a:off x="457200"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0" name="Content Placeholder 3"/>
          <p:cNvSpPr>
            <a:spLocks noGrp="1"/>
          </p:cNvSpPr>
          <p:nvPr>
            <p:ph sz="half" idx="13" hasCustomPrompt="1"/>
          </p:nvPr>
        </p:nvSpPr>
        <p:spPr>
          <a:xfrm>
            <a:off x="3300984"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1" name="Content Placeholder 5"/>
          <p:cNvSpPr>
            <a:spLocks noGrp="1"/>
          </p:cNvSpPr>
          <p:nvPr>
            <p:ph sz="quarter" idx="14" hasCustomPrompt="1"/>
          </p:nvPr>
        </p:nvSpPr>
        <p:spPr>
          <a:xfrm>
            <a:off x="6128658" y="3171876"/>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2" name="Content Placeholder 5"/>
          <p:cNvSpPr>
            <a:spLocks noGrp="1"/>
          </p:cNvSpPr>
          <p:nvPr>
            <p:ph sz="quarter" idx="15" hasCustomPrompt="1"/>
          </p:nvPr>
        </p:nvSpPr>
        <p:spPr>
          <a:xfrm>
            <a:off x="457200"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Content Placeholder 5"/>
          <p:cNvSpPr>
            <a:spLocks noGrp="1"/>
          </p:cNvSpPr>
          <p:nvPr>
            <p:ph sz="quarter" idx="16" hasCustomPrompt="1"/>
          </p:nvPr>
        </p:nvSpPr>
        <p:spPr>
          <a:xfrm>
            <a:off x="3299388"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4" name="Content Placeholder 5"/>
          <p:cNvSpPr>
            <a:spLocks noGrp="1"/>
          </p:cNvSpPr>
          <p:nvPr>
            <p:ph sz="quarter" idx="17" hasCustomPrompt="1"/>
          </p:nvPr>
        </p:nvSpPr>
        <p:spPr>
          <a:xfrm>
            <a:off x="6128658" y="4764312"/>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8" name="Footer Placeholder 7"/>
          <p:cNvSpPr>
            <a:spLocks noGrp="1"/>
          </p:cNvSpPr>
          <p:nvPr>
            <p:ph type="ftr" sz="quarter" idx="11"/>
          </p:nvPr>
        </p:nvSpPr>
        <p:spPr/>
        <p:txBody>
          <a:bodyPr/>
          <a:lstStyle>
            <a:lvl1pPr>
              <a:buFont typeface="Arial" pitchFamily="34" charset="0"/>
              <a:buNone/>
              <a:defRPr/>
            </a:lvl1pPr>
          </a:lstStyle>
          <a:p>
            <a:endParaRPr lang="en-US" dirty="0"/>
          </a:p>
        </p:txBody>
      </p:sp>
      <p:sp>
        <p:nvSpPr>
          <p:cNvPr id="7" name="Date Placeholder 6"/>
          <p:cNvSpPr>
            <a:spLocks noGrp="1"/>
          </p:cNvSpPr>
          <p:nvPr>
            <p:ph type="dt" sz="half" idx="10"/>
          </p:nvPr>
        </p:nvSpPr>
        <p:spPr/>
        <p:txBody>
          <a:bodyPr/>
          <a:lstStyle/>
          <a:p>
            <a:fld id="{E0DBC1D4-5704-45BB-BA8B-9B7E98161C8B}" type="datetimeFigureOut">
              <a:rPr lang="en-US" smtClean="0"/>
              <a:pPr/>
              <a:t>9/11/25</a:t>
            </a:fld>
            <a:endParaRPr lang="en-US" dirty="0"/>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dirty="0"/>
          </a:p>
        </p:txBody>
      </p:sp>
    </p:spTree>
    <p:extLst>
      <p:ext uri="{BB962C8B-B14F-4D97-AF65-F5344CB8AC3E}">
        <p14:creationId xmlns:p14="http://schemas.microsoft.com/office/powerpoint/2010/main" val="13198650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3" name="Text Placeholder 2"/>
          <p:cNvSpPr>
            <a:spLocks noGrp="1"/>
          </p:cNvSpPr>
          <p:nvPr>
            <p:ph type="body" idx="1"/>
          </p:nvPr>
        </p:nvSpPr>
        <p:spPr>
          <a:xfrm>
            <a:off x="457200" y="1338942"/>
            <a:ext cx="4040982"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457200" y="2162854"/>
            <a:ext cx="4040982"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29150" y="1338942"/>
            <a:ext cx="4057650"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4629150" y="2162854"/>
            <a:ext cx="4057650"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0DBC1D4-5704-45BB-BA8B-9B7E98161C8B}" type="datetimeFigureOut">
              <a:rPr lang="en-US" smtClean="0"/>
              <a:pPr/>
              <a:t>9/11/25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dirty="0"/>
          </a:p>
        </p:txBody>
      </p:sp>
      <p:sp>
        <p:nvSpPr>
          <p:cNvPr id="10" name="Content Placeholder 3"/>
          <p:cNvSpPr>
            <a:spLocks noGrp="1"/>
          </p:cNvSpPr>
          <p:nvPr>
            <p:ph sz="half" idx="13"/>
          </p:nvPr>
        </p:nvSpPr>
        <p:spPr>
          <a:xfrm>
            <a:off x="457200" y="3935863"/>
            <a:ext cx="4042512"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5"/>
          <p:cNvSpPr>
            <a:spLocks noGrp="1"/>
          </p:cNvSpPr>
          <p:nvPr>
            <p:ph sz="quarter" idx="14"/>
          </p:nvPr>
        </p:nvSpPr>
        <p:spPr>
          <a:xfrm>
            <a:off x="4637312" y="3946751"/>
            <a:ext cx="4049488"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961658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9/11/25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99111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2.emf"/><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6" name="Picture 25"/>
          <p:cNvPicPr>
            <a:picLocks noChangeAspect="1"/>
          </p:cNvPicPr>
          <p:nvPr userDrawn="1"/>
        </p:nvPicPr>
        <p:blipFill>
          <a:blip r:embed="rId25"/>
          <a:stretch>
            <a:fillRect/>
          </a:stretch>
        </p:blipFill>
        <p:spPr>
          <a:xfrm>
            <a:off x="6827793" y="6147742"/>
            <a:ext cx="2060466" cy="527423"/>
          </a:xfrm>
          <a:prstGeom prst="rect">
            <a:avLst/>
          </a:prstGeom>
        </p:spPr>
      </p:pic>
      <p:sp>
        <p:nvSpPr>
          <p:cNvPr id="2" name="Title Placeholder 1"/>
          <p:cNvSpPr>
            <a:spLocks noGrp="1"/>
          </p:cNvSpPr>
          <p:nvPr>
            <p:ph type="title"/>
          </p:nvPr>
        </p:nvSpPr>
        <p:spPr>
          <a:xfrm>
            <a:off x="194914" y="434111"/>
            <a:ext cx="8677297" cy="895927"/>
          </a:xfrm>
          <a:prstGeom prst="rect">
            <a:avLst/>
          </a:prstGeom>
        </p:spPr>
        <p:txBody>
          <a:bodyPr vert="horz" lIns="91440" tIns="9144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94913" y="1413166"/>
            <a:ext cx="8677297" cy="45951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5" name="Group 14"/>
          <p:cNvGrpSpPr/>
          <p:nvPr userDrawn="1"/>
        </p:nvGrpSpPr>
        <p:grpSpPr>
          <a:xfrm>
            <a:off x="0" y="0"/>
            <a:ext cx="9144000" cy="397164"/>
            <a:chOff x="421830" y="1342659"/>
            <a:chExt cx="10018760" cy="290558"/>
          </a:xfrm>
        </p:grpSpPr>
        <p:sp>
          <p:nvSpPr>
            <p:cNvPr id="16" name="Rectangle 15"/>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7" name="Rectangle 16"/>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ectangle 17"/>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4" name="Picture 13">
            <a:extLst>
              <a:ext uri="{FF2B5EF4-FFF2-40B4-BE49-F238E27FC236}">
                <a16:creationId xmlns:a16="http://schemas.microsoft.com/office/drawing/2014/main" id="{1DEEB02D-A9CE-7C41-A3A6-27E44A035530}"/>
              </a:ext>
            </a:extLst>
          </p:cNvPr>
          <p:cNvPicPr>
            <a:picLocks noChangeAspect="1"/>
          </p:cNvPicPr>
          <p:nvPr userDrawn="1"/>
        </p:nvPicPr>
        <p:blipFill rotWithShape="1">
          <a:blip r:embed="rId26">
            <a:extLst>
              <a:ext uri="{28A0092B-C50C-407E-A947-70E740481C1C}">
                <a14:useLocalDpi xmlns:a14="http://schemas.microsoft.com/office/drawing/2010/main" val="0"/>
              </a:ext>
            </a:extLst>
          </a:blip>
          <a:srcRect l="10114" t="18434" r="9658" b="19398"/>
          <a:stretch/>
        </p:blipFill>
        <p:spPr>
          <a:xfrm>
            <a:off x="228600" y="6175248"/>
            <a:ext cx="1447162" cy="530352"/>
          </a:xfrm>
          <a:prstGeom prst="rect">
            <a:avLst/>
          </a:prstGeom>
        </p:spPr>
      </p:pic>
    </p:spTree>
    <p:extLst>
      <p:ext uri="{BB962C8B-B14F-4D97-AF65-F5344CB8AC3E}">
        <p14:creationId xmlns:p14="http://schemas.microsoft.com/office/powerpoint/2010/main" val="973700157"/>
      </p:ext>
    </p:extLst>
  </p:cSld>
  <p:clrMap bg1="lt1" tx1="dk1" bg2="lt2" tx2="dk2" accent1="accent1" accent2="accent2" accent3="accent3" accent4="accent4" accent5="accent5" accent6="accent6" hlink="hlink" folHlink="folHlink"/>
  <p:sldLayoutIdLst>
    <p:sldLayoutId id="2147483669" r:id="rId1"/>
    <p:sldLayoutId id="2147483714" r:id="rId2"/>
    <p:sldLayoutId id="2147483715" r:id="rId3"/>
    <p:sldLayoutId id="2147483716" r:id="rId4"/>
    <p:sldLayoutId id="2147483670" r:id="rId5"/>
    <p:sldLayoutId id="2147483693" r:id="rId6"/>
    <p:sldLayoutId id="2147483671" r:id="rId7"/>
    <p:sldLayoutId id="2147483690" r:id="rId8"/>
    <p:sldLayoutId id="2147483672" r:id="rId9"/>
    <p:sldLayoutId id="2147483673" r:id="rId10"/>
    <p:sldLayoutId id="2147483674" r:id="rId11"/>
    <p:sldLayoutId id="2147483675" r:id="rId12"/>
    <p:sldLayoutId id="2147483710" r:id="rId13"/>
    <p:sldLayoutId id="2147483717" r:id="rId14"/>
    <p:sldLayoutId id="2147483718" r:id="rId15"/>
    <p:sldLayoutId id="2147483719" r:id="rId16"/>
    <p:sldLayoutId id="2147483720" r:id="rId17"/>
    <p:sldLayoutId id="2147483721" r:id="rId18"/>
    <p:sldLayoutId id="2147483712" r:id="rId19"/>
    <p:sldLayoutId id="2147483713" r:id="rId20"/>
    <p:sldLayoutId id="2147483722" r:id="rId21"/>
    <p:sldLayoutId id="2147483723" r:id="rId22"/>
    <p:sldLayoutId id="2147483724" r:id="rId2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85000"/>
        </a:lnSpc>
        <a:spcBef>
          <a:spcPct val="0"/>
        </a:spcBef>
        <a:buNone/>
        <a:defRPr sz="3600" b="0" kern="1200" spc="51" baseline="0">
          <a:solidFill>
            <a:schemeClr val="tx1"/>
          </a:solidFill>
          <a:latin typeface="+mj-lt"/>
          <a:ea typeface="+mj-ea"/>
          <a:cs typeface="+mj-cs"/>
        </a:defRPr>
      </a:lvl1pPr>
    </p:titleStyle>
    <p:bodyStyle>
      <a:lvl1pPr marL="288918" indent="-288918" algn="l" defTabSz="914377" rtl="0" eaLnBrk="1" latinLnBrk="0" hangingPunct="1">
        <a:lnSpc>
          <a:spcPct val="100000"/>
        </a:lnSpc>
        <a:spcBef>
          <a:spcPts val="800"/>
        </a:spcBef>
        <a:spcAft>
          <a:spcPts val="800"/>
        </a:spcAft>
        <a:buClr>
          <a:schemeClr val="tx1"/>
        </a:buClr>
        <a:buSzPct val="85000"/>
        <a:buFont typeface="Wingdings" charset="2"/>
        <a:buChar char="§"/>
        <a:defRPr sz="2400" kern="1200">
          <a:solidFill>
            <a:schemeClr val="tx1"/>
          </a:solidFill>
          <a:latin typeface="+mn-lt"/>
          <a:ea typeface="+mn-ea"/>
          <a:cs typeface="+mn-cs"/>
        </a:defRPr>
      </a:lvl1pPr>
      <a:lvl2pPr marL="685783" indent="-228594" algn="l" defTabSz="914377" rtl="0" eaLnBrk="1" latinLnBrk="0" hangingPunct="1">
        <a:lnSpc>
          <a:spcPct val="100000"/>
        </a:lnSpc>
        <a:spcBef>
          <a:spcPts val="800"/>
        </a:spcBef>
        <a:spcAft>
          <a:spcPts val="800"/>
        </a:spcAft>
        <a:buClr>
          <a:schemeClr val="tx1"/>
        </a:buClr>
        <a:buSzPct val="85000"/>
        <a:buFont typeface="Wingdings" charset="2"/>
        <a:buChar char="§"/>
        <a:defRPr sz="2000" kern="1200">
          <a:solidFill>
            <a:schemeClr val="tx1"/>
          </a:solidFill>
          <a:latin typeface="+mn-lt"/>
          <a:ea typeface="+mn-ea"/>
          <a:cs typeface="+mn-cs"/>
        </a:defRPr>
      </a:lvl2pPr>
      <a:lvl3pPr marL="1142971" indent="-228594" algn="l" defTabSz="914377" rtl="0" eaLnBrk="1" latinLnBrk="0" hangingPunct="1">
        <a:lnSpc>
          <a:spcPct val="100000"/>
        </a:lnSpc>
        <a:spcBef>
          <a:spcPts val="800"/>
        </a:spcBef>
        <a:spcAft>
          <a:spcPts val="800"/>
        </a:spcAft>
        <a:buClr>
          <a:schemeClr val="tx1"/>
        </a:buClr>
        <a:buSzPct val="85000"/>
        <a:buFont typeface="Wingdings" charset="2"/>
        <a:buChar char="§"/>
        <a:defRPr sz="1800" kern="1200">
          <a:solidFill>
            <a:schemeClr val="tx1"/>
          </a:solidFill>
          <a:latin typeface="+mn-lt"/>
          <a:ea typeface="+mn-ea"/>
          <a:cs typeface="+mn-cs"/>
        </a:defRPr>
      </a:lvl3pPr>
      <a:lvl4pPr marL="1600160" indent="-228594" algn="l" defTabSz="914377"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65.xml"/><Relationship Id="rId1" Type="http://schemas.openxmlformats.org/officeDocument/2006/relationships/slideLayout" Target="../slideLayouts/slideLayout23.xml"/></Relationships>
</file>

<file path=ppt/slides/_rels/slide6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66.xml"/><Relationship Id="rId1" Type="http://schemas.openxmlformats.org/officeDocument/2006/relationships/slideLayout" Target="../slideLayouts/slideLayout2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9557" y="585927"/>
            <a:ext cx="8262905" cy="1917132"/>
          </a:xfrm>
        </p:spPr>
        <p:txBody>
          <a:bodyPr/>
          <a:lstStyle/>
          <a:p>
            <a:r>
              <a:rPr lang="en-US" sz="4400" dirty="0"/>
              <a:t>Chapter 3</a:t>
            </a:r>
            <a:br>
              <a:rPr lang="en-US" sz="4400" dirty="0"/>
            </a:br>
            <a:r>
              <a:rPr lang="en-US" sz="4400" dirty="0"/>
              <a:t>Accrual Accounting and the Financial Statements</a:t>
            </a:r>
          </a:p>
        </p:txBody>
      </p:sp>
      <p:sp>
        <p:nvSpPr>
          <p:cNvPr id="5" name="Subtitle 4">
            <a:extLst>
              <a:ext uri="{FF2B5EF4-FFF2-40B4-BE49-F238E27FC236}">
                <a16:creationId xmlns:a16="http://schemas.microsoft.com/office/drawing/2014/main" id="{92446CAE-B9A8-A47C-5CA0-7C6916E908F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4863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4" name="Text Placeholder 3"/>
          <p:cNvSpPr>
            <a:spLocks noGrp="1"/>
          </p:cNvSpPr>
          <p:nvPr>
            <p:ph type="body" sz="quarter" idx="4294967295"/>
          </p:nvPr>
        </p:nvSpPr>
        <p:spPr>
          <a:xfrm>
            <a:off x="0" y="1524000"/>
            <a:ext cx="8686800" cy="4648200"/>
          </a:xfrm>
        </p:spPr>
        <p:txBody>
          <a:bodyPr>
            <a:normAutofit fontScale="85000" lnSpcReduction="10000"/>
          </a:bodyPr>
          <a:lstStyle/>
          <a:p>
            <a:pPr marL="457200" indent="-457200">
              <a:lnSpc>
                <a:spcPct val="150000"/>
              </a:lnSpc>
              <a:buClr>
                <a:schemeClr val="accent2"/>
              </a:buClr>
              <a:buFont typeface="+mj-lt"/>
              <a:buAutoNum type="arabicPeriod"/>
            </a:pPr>
            <a:r>
              <a:rPr lang="en-US" sz="2400" b="1" dirty="0">
                <a:solidFill>
                  <a:schemeClr val="accent2"/>
                </a:solidFill>
              </a:rPr>
              <a:t>Explain</a:t>
            </a:r>
            <a:r>
              <a:rPr lang="en-US" sz="2400" dirty="0">
                <a:solidFill>
                  <a:schemeClr val="accent2"/>
                </a:solidFill>
              </a:rPr>
              <a:t> how accrual accounting differs from cash-basis accounting</a:t>
            </a:r>
            <a:endParaRPr lang="en-CA" sz="2400" dirty="0">
              <a:solidFill>
                <a:schemeClr val="accent2"/>
              </a:solidFill>
            </a:endParaRPr>
          </a:p>
          <a:p>
            <a:pPr marL="457200" indent="-457200">
              <a:lnSpc>
                <a:spcPct val="150000"/>
              </a:lnSpc>
              <a:buClr>
                <a:schemeClr val="accent2"/>
              </a:buClr>
              <a:buFont typeface="+mj-lt"/>
              <a:buAutoNum type="arabicPeriod"/>
            </a:pPr>
            <a:r>
              <a:rPr lang="en-US" sz="2400" b="1" dirty="0">
                <a:solidFill>
                  <a:schemeClr val="accent2"/>
                </a:solidFill>
              </a:rPr>
              <a:t>Apply</a:t>
            </a:r>
            <a:r>
              <a:rPr lang="en-US" sz="2400" dirty="0">
                <a:solidFill>
                  <a:schemeClr val="accent2"/>
                </a:solidFill>
              </a:rPr>
              <a:t> the revenue and expense recognition principles</a:t>
            </a:r>
            <a:endParaRPr lang="en-CA" sz="2400" dirty="0">
              <a:solidFill>
                <a:schemeClr val="accent2"/>
              </a:solidFill>
            </a:endParaRPr>
          </a:p>
          <a:p>
            <a:pPr marL="457200" indent="-457200">
              <a:lnSpc>
                <a:spcPct val="150000"/>
              </a:lnSpc>
              <a:buClr>
                <a:schemeClr val="accent2"/>
              </a:buClr>
              <a:buFont typeface="+mj-lt"/>
              <a:buAutoNum type="arabicPeriod"/>
            </a:pPr>
            <a:r>
              <a:rPr lang="en-US" sz="2400" b="1" dirty="0">
                <a:solidFill>
                  <a:schemeClr val="accent2"/>
                </a:solidFill>
              </a:rPr>
              <a:t>Record </a:t>
            </a:r>
            <a:r>
              <a:rPr lang="en-US" sz="2400" dirty="0">
                <a:solidFill>
                  <a:schemeClr val="accent2"/>
                </a:solidFill>
              </a:rPr>
              <a:t>adjusting journal entries</a:t>
            </a:r>
            <a:endParaRPr lang="en-CA" sz="2400" dirty="0">
              <a:solidFill>
                <a:schemeClr val="accent2"/>
              </a:solidFill>
            </a:endParaRPr>
          </a:p>
          <a:p>
            <a:pPr marL="457200" indent="-457200">
              <a:lnSpc>
                <a:spcPct val="150000"/>
              </a:lnSpc>
              <a:buClr>
                <a:schemeClr val="accent2"/>
              </a:buClr>
              <a:buFont typeface="+mj-lt"/>
              <a:buAutoNum type="arabicPeriod"/>
            </a:pPr>
            <a:r>
              <a:rPr lang="en-US" sz="2400" b="1" dirty="0">
                <a:solidFill>
                  <a:schemeClr val="accent2"/>
                </a:solidFill>
              </a:rPr>
              <a:t>Prepare</a:t>
            </a:r>
            <a:r>
              <a:rPr lang="en-US" sz="2400" dirty="0">
                <a:solidFill>
                  <a:schemeClr val="accent2"/>
                </a:solidFill>
              </a:rPr>
              <a:t> the financial statements</a:t>
            </a:r>
            <a:endParaRPr lang="en-CA" sz="2400" dirty="0">
              <a:solidFill>
                <a:schemeClr val="accent2"/>
              </a:solidFill>
            </a:endParaRPr>
          </a:p>
          <a:p>
            <a:pPr marL="457200" indent="-457200">
              <a:lnSpc>
                <a:spcPct val="150000"/>
              </a:lnSpc>
              <a:buClr>
                <a:schemeClr val="accent2"/>
              </a:buClr>
              <a:buFont typeface="+mj-lt"/>
              <a:buAutoNum type="arabicPeriod"/>
            </a:pPr>
            <a:r>
              <a:rPr lang="en-US" sz="2400" b="1" dirty="0">
                <a:solidFill>
                  <a:schemeClr val="accent2"/>
                </a:solidFill>
              </a:rPr>
              <a:t>Record</a:t>
            </a:r>
            <a:r>
              <a:rPr lang="en-US" sz="2400" dirty="0">
                <a:solidFill>
                  <a:schemeClr val="accent2"/>
                </a:solidFill>
              </a:rPr>
              <a:t> closing journal entries</a:t>
            </a:r>
            <a:endParaRPr lang="en-CA" sz="2400" dirty="0">
              <a:solidFill>
                <a:schemeClr val="accent2"/>
              </a:solidFill>
            </a:endParaRPr>
          </a:p>
          <a:p>
            <a:pPr marL="457200" indent="-457200">
              <a:lnSpc>
                <a:spcPct val="150000"/>
              </a:lnSpc>
              <a:buClr>
                <a:schemeClr val="accent2"/>
              </a:buClr>
              <a:buFont typeface="+mj-lt"/>
              <a:buAutoNum type="arabicPeriod"/>
            </a:pPr>
            <a:r>
              <a:rPr lang="en-US" sz="2400" b="1" dirty="0">
                <a:solidFill>
                  <a:schemeClr val="accent2"/>
                </a:solidFill>
              </a:rPr>
              <a:t>Analyze</a:t>
            </a:r>
            <a:r>
              <a:rPr lang="en-US" sz="2400" dirty="0">
                <a:solidFill>
                  <a:schemeClr val="accent2"/>
                </a:solidFill>
              </a:rPr>
              <a:t> and </a:t>
            </a:r>
            <a:r>
              <a:rPr lang="en-US" sz="2400" b="1" dirty="0">
                <a:solidFill>
                  <a:schemeClr val="accent2"/>
                </a:solidFill>
              </a:rPr>
              <a:t>evaluate</a:t>
            </a:r>
            <a:r>
              <a:rPr lang="en-US" sz="2400" dirty="0">
                <a:solidFill>
                  <a:schemeClr val="accent2"/>
                </a:solidFill>
              </a:rPr>
              <a:t> a company’s debt-paying ability</a:t>
            </a:r>
            <a:endParaRPr lang="en-US" sz="2400" b="1" dirty="0">
              <a:solidFill>
                <a:srgbClr val="C00000"/>
              </a:solidFill>
            </a:endParaRPr>
          </a:p>
          <a:p>
            <a:pPr marL="457200" indent="-457200">
              <a:lnSpc>
                <a:spcPct val="150000"/>
              </a:lnSpc>
              <a:buClr>
                <a:schemeClr val="accent2"/>
              </a:buClr>
              <a:buFont typeface="+mj-lt"/>
              <a:buAutoNum type="arabicPeriod"/>
            </a:pPr>
            <a:r>
              <a:rPr lang="en-CA" sz="2400" b="1" dirty="0">
                <a:solidFill>
                  <a:schemeClr val="accent2"/>
                </a:solidFill>
              </a:rPr>
              <a:t>Identify</a:t>
            </a:r>
            <a:r>
              <a:rPr lang="en-CA" sz="2400" dirty="0">
                <a:solidFill>
                  <a:schemeClr val="accent2"/>
                </a:solidFill>
              </a:rPr>
              <a:t> patterns and trends using data visualization</a:t>
            </a:r>
          </a:p>
          <a:p>
            <a:endParaRPr lang="en-US" sz="2400" dirty="0"/>
          </a:p>
        </p:txBody>
      </p:sp>
      <p:sp>
        <p:nvSpPr>
          <p:cNvPr id="6" name="Text Placeholder 5"/>
          <p:cNvSpPr>
            <a:spLocks noGrp="1"/>
          </p:cNvSpPr>
          <p:nvPr>
            <p:ph type="body" sz="quarter" idx="4294967295"/>
          </p:nvPr>
        </p:nvSpPr>
        <p:spPr>
          <a:xfrm>
            <a:off x="5486400" y="6400800"/>
            <a:ext cx="3657600" cy="201613"/>
          </a:xfrm>
        </p:spPr>
        <p:txBody>
          <a:bodyPr/>
          <a:lstStyle/>
          <a:p>
            <a:pPr>
              <a:defRPr/>
            </a:pPr>
            <a:r>
              <a:rPr lang="en-US" altLang="en-US" sz="700" dirty="0"/>
              <a:t>.</a:t>
            </a:r>
          </a:p>
        </p:txBody>
      </p:sp>
      <p:sp>
        <p:nvSpPr>
          <p:cNvPr id="2" name="Rectangle 1"/>
          <p:cNvSpPr/>
          <p:nvPr/>
        </p:nvSpPr>
        <p:spPr>
          <a:xfrm>
            <a:off x="1289306" y="533400"/>
            <a:ext cx="6565388" cy="584775"/>
          </a:xfrm>
          <a:prstGeom prst="rect">
            <a:avLst/>
          </a:prstGeom>
        </p:spPr>
        <p:txBody>
          <a:bodyPr wrap="none">
            <a:spAutoFit/>
          </a:bodyPr>
          <a:lstStyle/>
          <a:p>
            <a:pPr algn="ctr"/>
            <a:r>
              <a:rPr lang="en-CA" sz="3200" b="1" dirty="0">
                <a:solidFill>
                  <a:schemeClr val="accent2"/>
                </a:solidFill>
              </a:rPr>
              <a:t>Chapter 3’s Learning Objectives</a:t>
            </a:r>
          </a:p>
        </p:txBody>
      </p:sp>
    </p:spTree>
    <p:extLst>
      <p:ext uri="{BB962C8B-B14F-4D97-AF65-F5344CB8AC3E}">
        <p14:creationId xmlns:p14="http://schemas.microsoft.com/office/powerpoint/2010/main" val="1758161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4"/>
          <p:cNvSpPr>
            <a:spLocks noGrp="1"/>
          </p:cNvSpPr>
          <p:nvPr>
            <p:ph type="title"/>
          </p:nvPr>
        </p:nvSpPr>
        <p:spPr>
          <a:xfrm>
            <a:off x="340057" y="575765"/>
            <a:ext cx="8229600" cy="537104"/>
          </a:xfrm>
        </p:spPr>
        <p:txBody>
          <a:bodyPr>
            <a:normAutofit fontScale="90000"/>
          </a:bodyPr>
          <a:lstStyle/>
          <a:p>
            <a:pPr algn="ctr" eaLnBrk="1" hangingPunct="1"/>
            <a:r>
              <a:rPr lang="en-CA" altLang="en-US" b="1" dirty="0">
                <a:solidFill>
                  <a:schemeClr val="accent2"/>
                </a:solidFill>
                <a:latin typeface="Arial" panose="020B0604020202020204" pitchFamily="34" charset="0"/>
              </a:rPr>
              <a:t>Accounting Cycle – Timeline</a:t>
            </a:r>
          </a:p>
        </p:txBody>
      </p:sp>
      <p:grpSp>
        <p:nvGrpSpPr>
          <p:cNvPr id="28677" name="Group 6"/>
          <p:cNvGrpSpPr>
            <a:grpSpLocks/>
          </p:cNvGrpSpPr>
          <p:nvPr/>
        </p:nvGrpSpPr>
        <p:grpSpPr bwMode="auto">
          <a:xfrm>
            <a:off x="-10160" y="2114519"/>
            <a:ext cx="9126538" cy="2584481"/>
            <a:chOff x="-86997" y="2500870"/>
            <a:chExt cx="9125885" cy="2584056"/>
          </a:xfrm>
        </p:grpSpPr>
        <p:sp>
          <p:nvSpPr>
            <p:cNvPr id="28678" name="Rectangle 5"/>
            <p:cNvSpPr>
              <a:spLocks noChangeArrowheads="1"/>
            </p:cNvSpPr>
            <p:nvPr/>
          </p:nvSpPr>
          <p:spPr bwMode="auto">
            <a:xfrm>
              <a:off x="2577089" y="4164161"/>
              <a:ext cx="1452322" cy="920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800">
                  <a:solidFill>
                    <a:schemeClr val="tx1"/>
                  </a:solidFill>
                  <a:latin typeface="Arial" panose="020B0604020202020204" pitchFamily="34" charset="0"/>
                  <a:cs typeface="Arial" panose="020B0604020202020204" pitchFamily="34" charset="0"/>
                </a:defRPr>
              </a:lvl1pPr>
              <a:lvl2pPr marL="742950" indent="-285750">
                <a:defRPr sz="2800">
                  <a:solidFill>
                    <a:schemeClr val="tx1"/>
                  </a:solidFill>
                  <a:latin typeface="Arial" panose="020B0604020202020204" pitchFamily="34" charset="0"/>
                  <a:cs typeface="Arial" panose="020B0604020202020204" pitchFamily="34" charset="0"/>
                </a:defRPr>
              </a:lvl2pPr>
              <a:lvl3pPr marL="1143000" indent="-228600">
                <a:defRPr sz="2800">
                  <a:solidFill>
                    <a:schemeClr val="tx1"/>
                  </a:solidFill>
                  <a:latin typeface="Arial" panose="020B0604020202020204" pitchFamily="34" charset="0"/>
                  <a:cs typeface="Arial" panose="020B0604020202020204" pitchFamily="34" charset="0"/>
                </a:defRPr>
              </a:lvl3pPr>
              <a:lvl4pPr marL="1600200" indent="-228600">
                <a:defRPr sz="2800">
                  <a:solidFill>
                    <a:schemeClr val="tx1"/>
                  </a:solidFill>
                  <a:latin typeface="Arial" panose="020B0604020202020204" pitchFamily="34" charset="0"/>
                  <a:cs typeface="Arial" panose="020B0604020202020204" pitchFamily="34" charset="0"/>
                </a:defRPr>
              </a:lvl4pPr>
              <a:lvl5pPr marL="2057400" indent="-228600">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9pPr>
            </a:lstStyle>
            <a:p>
              <a:pPr algn="ctr"/>
              <a:r>
                <a:rPr lang="en-US" altLang="en-US" sz="1800" b="1" dirty="0">
                  <a:solidFill>
                    <a:schemeClr val="accent2"/>
                  </a:solidFill>
                </a:rPr>
                <a:t>End of</a:t>
              </a:r>
            </a:p>
            <a:p>
              <a:pPr algn="ctr"/>
              <a:r>
                <a:rPr lang="en-US" altLang="en-US" sz="1800" b="1" dirty="0">
                  <a:solidFill>
                    <a:schemeClr val="accent2"/>
                  </a:solidFill>
                </a:rPr>
                <a:t>Accounting</a:t>
              </a:r>
            </a:p>
            <a:p>
              <a:pPr algn="ctr"/>
              <a:r>
                <a:rPr lang="en-US" altLang="en-US" sz="1800" b="1" dirty="0">
                  <a:solidFill>
                    <a:schemeClr val="accent2"/>
                  </a:solidFill>
                </a:rPr>
                <a:t>Period</a:t>
              </a:r>
            </a:p>
          </p:txBody>
        </p:sp>
        <p:sp>
          <p:nvSpPr>
            <p:cNvPr id="28679" name="Rectangle 7"/>
            <p:cNvSpPr>
              <a:spLocks noChangeArrowheads="1"/>
            </p:cNvSpPr>
            <p:nvPr/>
          </p:nvSpPr>
          <p:spPr bwMode="auto">
            <a:xfrm>
              <a:off x="-86997" y="4118107"/>
              <a:ext cx="1513114" cy="920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800">
                  <a:solidFill>
                    <a:schemeClr val="tx1"/>
                  </a:solidFill>
                  <a:latin typeface="Arial" panose="020B0604020202020204" pitchFamily="34" charset="0"/>
                  <a:cs typeface="Arial" panose="020B0604020202020204" pitchFamily="34" charset="0"/>
                </a:defRPr>
              </a:lvl1pPr>
              <a:lvl2pPr marL="742950" indent="-285750">
                <a:defRPr sz="2800">
                  <a:solidFill>
                    <a:schemeClr val="tx1"/>
                  </a:solidFill>
                  <a:latin typeface="Arial" panose="020B0604020202020204" pitchFamily="34" charset="0"/>
                  <a:cs typeface="Arial" panose="020B0604020202020204" pitchFamily="34" charset="0"/>
                </a:defRPr>
              </a:lvl2pPr>
              <a:lvl3pPr marL="1143000" indent="-228600">
                <a:defRPr sz="2800">
                  <a:solidFill>
                    <a:schemeClr val="tx1"/>
                  </a:solidFill>
                  <a:latin typeface="Arial" panose="020B0604020202020204" pitchFamily="34" charset="0"/>
                  <a:cs typeface="Arial" panose="020B0604020202020204" pitchFamily="34" charset="0"/>
                </a:defRPr>
              </a:lvl3pPr>
              <a:lvl4pPr marL="1600200" indent="-228600">
                <a:defRPr sz="2800">
                  <a:solidFill>
                    <a:schemeClr val="tx1"/>
                  </a:solidFill>
                  <a:latin typeface="Arial" panose="020B0604020202020204" pitchFamily="34" charset="0"/>
                  <a:cs typeface="Arial" panose="020B0604020202020204" pitchFamily="34" charset="0"/>
                </a:defRPr>
              </a:lvl4pPr>
              <a:lvl5pPr marL="2057400" indent="-228600">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9pPr>
            </a:lstStyle>
            <a:p>
              <a:pPr algn="ctr"/>
              <a:r>
                <a:rPr lang="en-US" altLang="en-US" sz="1800" b="1" dirty="0">
                  <a:solidFill>
                    <a:schemeClr val="accent2"/>
                  </a:solidFill>
                </a:rPr>
                <a:t>Start of Accounting</a:t>
              </a:r>
            </a:p>
            <a:p>
              <a:pPr algn="ctr"/>
              <a:r>
                <a:rPr lang="en-US" altLang="en-US" sz="1800" b="1" dirty="0">
                  <a:solidFill>
                    <a:schemeClr val="accent2"/>
                  </a:solidFill>
                </a:rPr>
                <a:t>Period</a:t>
              </a:r>
            </a:p>
          </p:txBody>
        </p:sp>
        <p:sp>
          <p:nvSpPr>
            <p:cNvPr id="20" name="Line 8"/>
            <p:cNvSpPr>
              <a:spLocks noChangeShapeType="1"/>
            </p:cNvSpPr>
            <p:nvPr/>
          </p:nvSpPr>
          <p:spPr bwMode="auto">
            <a:xfrm flipH="1" flipV="1">
              <a:off x="713046" y="3123099"/>
              <a:ext cx="380973" cy="0"/>
            </a:xfrm>
            <a:prstGeom prst="line">
              <a:avLst/>
            </a:prstGeom>
            <a:noFill/>
            <a:ln w="28575">
              <a:solidFill>
                <a:schemeClr val="accent2"/>
              </a:solidFill>
              <a:round/>
              <a:headEnd/>
              <a:tailEnd type="triangle" w="med" len="med"/>
            </a:ln>
          </p:spPr>
          <p:txBody>
            <a:bodyPr wrap="none" anchor="ctr"/>
            <a:lstStyle/>
            <a:p>
              <a:pPr eaLnBrk="1" fontAlgn="auto" hangingPunct="1">
                <a:spcBef>
                  <a:spcPts val="0"/>
                </a:spcBef>
                <a:spcAft>
                  <a:spcPts val="0"/>
                </a:spcAft>
                <a:defRPr/>
              </a:pPr>
              <a:endParaRPr lang="en-CA" sz="1800" kern="0" dirty="0">
                <a:solidFill>
                  <a:srgbClr val="2F2B20"/>
                </a:solidFill>
                <a:latin typeface="Lucida Sans Unicode"/>
                <a:cs typeface="+mn-cs"/>
              </a:endParaRPr>
            </a:p>
          </p:txBody>
        </p:sp>
        <p:sp>
          <p:nvSpPr>
            <p:cNvPr id="21" name="Line 9"/>
            <p:cNvSpPr>
              <a:spLocks noChangeShapeType="1"/>
            </p:cNvSpPr>
            <p:nvPr/>
          </p:nvSpPr>
          <p:spPr bwMode="auto">
            <a:xfrm>
              <a:off x="2262335" y="3099291"/>
              <a:ext cx="431769" cy="0"/>
            </a:xfrm>
            <a:prstGeom prst="line">
              <a:avLst/>
            </a:prstGeom>
            <a:noFill/>
            <a:ln w="28575">
              <a:solidFill>
                <a:schemeClr val="accent2"/>
              </a:solidFill>
              <a:round/>
              <a:headEnd/>
              <a:tailEnd type="triangle" w="med" len="med"/>
            </a:ln>
          </p:spPr>
          <p:txBody>
            <a:bodyPr wrap="none" anchor="ctr"/>
            <a:lstStyle/>
            <a:p>
              <a:pPr eaLnBrk="1" fontAlgn="auto" hangingPunct="1">
                <a:spcBef>
                  <a:spcPts val="0"/>
                </a:spcBef>
                <a:spcAft>
                  <a:spcPts val="0"/>
                </a:spcAft>
                <a:defRPr/>
              </a:pPr>
              <a:endParaRPr lang="en-CA" sz="1800" kern="0" dirty="0">
                <a:solidFill>
                  <a:srgbClr val="2F2B20"/>
                </a:solidFill>
                <a:latin typeface="Lucida Sans Unicode"/>
                <a:cs typeface="+mn-cs"/>
              </a:endParaRPr>
            </a:p>
          </p:txBody>
        </p:sp>
        <p:sp>
          <p:nvSpPr>
            <p:cNvPr id="28682" name="Rectangle 10"/>
            <p:cNvSpPr>
              <a:spLocks noChangeArrowheads="1"/>
            </p:cNvSpPr>
            <p:nvPr/>
          </p:nvSpPr>
          <p:spPr bwMode="auto">
            <a:xfrm>
              <a:off x="960913" y="2707918"/>
              <a:ext cx="1565957" cy="920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a:defRPr sz="2800">
                  <a:solidFill>
                    <a:schemeClr val="tx1"/>
                  </a:solidFill>
                  <a:latin typeface="Arial" panose="020B0604020202020204" pitchFamily="34" charset="0"/>
                  <a:cs typeface="Arial" panose="020B0604020202020204" pitchFamily="34" charset="0"/>
                </a:defRPr>
              </a:lvl1pPr>
              <a:lvl2pPr marL="742950" indent="-285750">
                <a:defRPr sz="2800">
                  <a:solidFill>
                    <a:schemeClr val="tx1"/>
                  </a:solidFill>
                  <a:latin typeface="Arial" panose="020B0604020202020204" pitchFamily="34" charset="0"/>
                  <a:cs typeface="Arial" panose="020B0604020202020204" pitchFamily="34" charset="0"/>
                </a:defRPr>
              </a:lvl2pPr>
              <a:lvl3pPr marL="1143000" indent="-228600">
                <a:defRPr sz="2800">
                  <a:solidFill>
                    <a:schemeClr val="tx1"/>
                  </a:solidFill>
                  <a:latin typeface="Arial" panose="020B0604020202020204" pitchFamily="34" charset="0"/>
                  <a:cs typeface="Arial" panose="020B0604020202020204" pitchFamily="34" charset="0"/>
                </a:defRPr>
              </a:lvl3pPr>
              <a:lvl4pPr marL="1600200" indent="-228600">
                <a:defRPr sz="2800">
                  <a:solidFill>
                    <a:schemeClr val="tx1"/>
                  </a:solidFill>
                  <a:latin typeface="Arial" panose="020B0604020202020204" pitchFamily="34" charset="0"/>
                  <a:cs typeface="Arial" panose="020B0604020202020204" pitchFamily="34" charset="0"/>
                </a:defRPr>
              </a:lvl4pPr>
              <a:lvl5pPr marL="2057400" indent="-228600">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9pPr>
            </a:lstStyle>
            <a:p>
              <a:pPr algn="ctr"/>
              <a:r>
                <a:rPr lang="en-US" altLang="en-US" sz="1800" b="1" dirty="0">
                  <a:solidFill>
                    <a:srgbClr val="FF0000"/>
                  </a:solidFill>
                </a:rPr>
                <a:t>JEs</a:t>
              </a:r>
              <a:r>
                <a:rPr lang="en-US" altLang="en-US" sz="1800" b="1" dirty="0">
                  <a:solidFill>
                    <a:schemeClr val="accent2"/>
                  </a:solidFill>
                </a:rPr>
                <a:t> to record transactions</a:t>
              </a:r>
            </a:p>
          </p:txBody>
        </p:sp>
        <p:sp>
          <p:nvSpPr>
            <p:cNvPr id="24" name="Line 6"/>
            <p:cNvSpPr>
              <a:spLocks noChangeShapeType="1"/>
            </p:cNvSpPr>
            <p:nvPr/>
          </p:nvSpPr>
          <p:spPr bwMode="auto">
            <a:xfrm>
              <a:off x="652725" y="3500862"/>
              <a:ext cx="0" cy="558708"/>
            </a:xfrm>
            <a:prstGeom prst="line">
              <a:avLst/>
            </a:prstGeom>
            <a:noFill/>
            <a:ln w="50800">
              <a:solidFill>
                <a:schemeClr val="accent2"/>
              </a:solidFill>
              <a:round/>
              <a:headEnd/>
              <a:tailEnd/>
            </a:ln>
          </p:spPr>
          <p:txBody>
            <a:bodyPr wrap="none" anchor="ctr"/>
            <a:lstStyle/>
            <a:p>
              <a:pPr eaLnBrk="1" fontAlgn="auto" hangingPunct="1">
                <a:spcBef>
                  <a:spcPts val="0"/>
                </a:spcBef>
                <a:spcAft>
                  <a:spcPts val="0"/>
                </a:spcAft>
                <a:defRPr/>
              </a:pPr>
              <a:endParaRPr lang="en-CA" sz="1800" kern="0" dirty="0">
                <a:solidFill>
                  <a:srgbClr val="2F2B20"/>
                </a:solidFill>
                <a:latin typeface="Lucida Sans Unicode"/>
                <a:cs typeface="+mn-cs"/>
              </a:endParaRPr>
            </a:p>
          </p:txBody>
        </p:sp>
        <p:sp>
          <p:nvSpPr>
            <p:cNvPr id="25" name="Line 6"/>
            <p:cNvSpPr>
              <a:spLocks noChangeShapeType="1"/>
            </p:cNvSpPr>
            <p:nvPr/>
          </p:nvSpPr>
          <p:spPr bwMode="auto">
            <a:xfrm>
              <a:off x="3303660" y="3540543"/>
              <a:ext cx="0" cy="558708"/>
            </a:xfrm>
            <a:prstGeom prst="line">
              <a:avLst/>
            </a:prstGeom>
            <a:noFill/>
            <a:ln w="50800">
              <a:solidFill>
                <a:schemeClr val="accent2"/>
              </a:solidFill>
              <a:round/>
              <a:headEnd/>
              <a:tailEnd/>
            </a:ln>
          </p:spPr>
          <p:txBody>
            <a:bodyPr wrap="none" anchor="ctr"/>
            <a:lstStyle/>
            <a:p>
              <a:pPr eaLnBrk="1" fontAlgn="auto" hangingPunct="1">
                <a:spcBef>
                  <a:spcPts val="0"/>
                </a:spcBef>
                <a:spcAft>
                  <a:spcPts val="0"/>
                </a:spcAft>
                <a:defRPr/>
              </a:pPr>
              <a:endParaRPr lang="en-CA" sz="1800" kern="0" dirty="0">
                <a:solidFill>
                  <a:srgbClr val="2F2B20"/>
                </a:solidFill>
                <a:latin typeface="Lucida Sans Unicode"/>
                <a:cs typeface="+mn-cs"/>
              </a:endParaRPr>
            </a:p>
          </p:txBody>
        </p:sp>
        <p:cxnSp>
          <p:nvCxnSpPr>
            <p:cNvPr id="28685" name="Straight Connector 26"/>
            <p:cNvCxnSpPr>
              <a:cxnSpLocks noChangeShapeType="1"/>
            </p:cNvCxnSpPr>
            <p:nvPr/>
          </p:nvCxnSpPr>
          <p:spPr bwMode="auto">
            <a:xfrm flipV="1">
              <a:off x="669560" y="3779838"/>
              <a:ext cx="8369328" cy="6352"/>
            </a:xfrm>
            <a:prstGeom prst="line">
              <a:avLst/>
            </a:prstGeom>
            <a:noFill/>
            <a:ln w="50800">
              <a:solidFill>
                <a:schemeClr val="accent2"/>
              </a:solidFill>
              <a:round/>
              <a:headEnd/>
              <a:tailEnd/>
            </a:ln>
            <a:extLst>
              <a:ext uri="{909E8E84-426E-40DD-AFC4-6F175D3DCCD1}">
                <a14:hiddenFill xmlns:a14="http://schemas.microsoft.com/office/drawing/2010/main">
                  <a:noFill/>
                </a14:hiddenFill>
              </a:ext>
            </a:extLst>
          </p:spPr>
        </p:cxnSp>
        <p:sp>
          <p:nvSpPr>
            <p:cNvPr id="28686" name="Rectangle 27"/>
            <p:cNvSpPr>
              <a:spLocks noChangeArrowheads="1"/>
            </p:cNvSpPr>
            <p:nvPr/>
          </p:nvSpPr>
          <p:spPr bwMode="auto">
            <a:xfrm>
              <a:off x="5347554" y="4303769"/>
              <a:ext cx="1995012" cy="400110"/>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a:solidFill>
                    <a:schemeClr val="tx1"/>
                  </a:solidFill>
                  <a:latin typeface="Arial" panose="020B0604020202020204" pitchFamily="34" charset="0"/>
                  <a:cs typeface="Arial" panose="020B0604020202020204" pitchFamily="34" charset="0"/>
                </a:defRPr>
              </a:lvl1pPr>
              <a:lvl2pPr marL="742950" indent="-285750">
                <a:defRPr sz="2800">
                  <a:solidFill>
                    <a:schemeClr val="tx1"/>
                  </a:solidFill>
                  <a:latin typeface="Arial" panose="020B0604020202020204" pitchFamily="34" charset="0"/>
                  <a:cs typeface="Arial" panose="020B0604020202020204" pitchFamily="34" charset="0"/>
                </a:defRPr>
              </a:lvl2pPr>
              <a:lvl3pPr marL="1143000" indent="-228600">
                <a:defRPr sz="2800">
                  <a:solidFill>
                    <a:schemeClr val="tx1"/>
                  </a:solidFill>
                  <a:latin typeface="Arial" panose="020B0604020202020204" pitchFamily="34" charset="0"/>
                  <a:cs typeface="Arial" panose="020B0604020202020204" pitchFamily="34" charset="0"/>
                </a:defRPr>
              </a:lvl3pPr>
              <a:lvl4pPr marL="1600200" indent="-228600">
                <a:defRPr sz="2800">
                  <a:solidFill>
                    <a:schemeClr val="tx1"/>
                  </a:solidFill>
                  <a:latin typeface="Arial" panose="020B0604020202020204" pitchFamily="34" charset="0"/>
                  <a:cs typeface="Arial" panose="020B0604020202020204" pitchFamily="34" charset="0"/>
                </a:defRPr>
              </a:lvl4pPr>
              <a:lvl5pPr marL="2057400" indent="-228600">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9pPr>
            </a:lstStyle>
            <a:p>
              <a:pPr eaLnBrk="1" hangingPunct="1"/>
              <a:r>
                <a:rPr lang="en-US" altLang="en-US" sz="2000" b="1" dirty="0">
                  <a:solidFill>
                    <a:schemeClr val="accent2"/>
                  </a:solidFill>
                </a:rPr>
                <a:t>After Year End</a:t>
              </a:r>
              <a:endParaRPr lang="en-CA" altLang="en-US" sz="2000" dirty="0">
                <a:solidFill>
                  <a:schemeClr val="accent2"/>
                </a:solidFill>
              </a:endParaRPr>
            </a:p>
          </p:txBody>
        </p:sp>
        <p:sp>
          <p:nvSpPr>
            <p:cNvPr id="31" name="Line 8"/>
            <p:cNvSpPr>
              <a:spLocks noChangeShapeType="1"/>
            </p:cNvSpPr>
            <p:nvPr/>
          </p:nvSpPr>
          <p:spPr bwMode="auto">
            <a:xfrm flipH="1">
              <a:off x="4002110" y="4503997"/>
              <a:ext cx="1103234" cy="0"/>
            </a:xfrm>
            <a:prstGeom prst="line">
              <a:avLst/>
            </a:prstGeom>
            <a:noFill/>
            <a:ln w="28575">
              <a:solidFill>
                <a:schemeClr val="accent2"/>
              </a:solidFill>
              <a:round/>
              <a:headEnd/>
              <a:tailEnd type="triangle" w="med" len="med"/>
            </a:ln>
          </p:spPr>
          <p:txBody>
            <a:bodyPr wrap="none" anchor="ctr"/>
            <a:lstStyle/>
            <a:p>
              <a:pPr eaLnBrk="1" fontAlgn="auto" hangingPunct="1">
                <a:spcBef>
                  <a:spcPts val="0"/>
                </a:spcBef>
                <a:spcAft>
                  <a:spcPts val="0"/>
                </a:spcAft>
                <a:defRPr/>
              </a:pPr>
              <a:endParaRPr lang="en-CA" sz="1800" kern="0" dirty="0">
                <a:solidFill>
                  <a:schemeClr val="tx2"/>
                </a:solidFill>
              </a:endParaRPr>
            </a:p>
          </p:txBody>
        </p:sp>
        <p:sp>
          <p:nvSpPr>
            <p:cNvPr id="32" name="Line 9"/>
            <p:cNvSpPr>
              <a:spLocks noChangeShapeType="1"/>
            </p:cNvSpPr>
            <p:nvPr/>
          </p:nvSpPr>
          <p:spPr bwMode="auto">
            <a:xfrm>
              <a:off x="7694371" y="4494473"/>
              <a:ext cx="1015927" cy="0"/>
            </a:xfrm>
            <a:prstGeom prst="line">
              <a:avLst/>
            </a:prstGeom>
            <a:noFill/>
            <a:ln w="28575">
              <a:solidFill>
                <a:schemeClr val="accent2"/>
              </a:solidFill>
              <a:round/>
              <a:headEnd/>
              <a:tailEnd type="triangle" w="med" len="med"/>
            </a:ln>
          </p:spPr>
          <p:txBody>
            <a:bodyPr wrap="none" anchor="ctr"/>
            <a:lstStyle/>
            <a:p>
              <a:pPr eaLnBrk="1" fontAlgn="auto" hangingPunct="1">
                <a:spcBef>
                  <a:spcPts val="0"/>
                </a:spcBef>
                <a:spcAft>
                  <a:spcPts val="0"/>
                </a:spcAft>
                <a:defRPr/>
              </a:pPr>
              <a:endParaRPr lang="en-CA" sz="1800" kern="0" dirty="0">
                <a:solidFill>
                  <a:schemeClr val="tx2"/>
                </a:solidFill>
              </a:endParaRPr>
            </a:p>
          </p:txBody>
        </p:sp>
        <p:grpSp>
          <p:nvGrpSpPr>
            <p:cNvPr id="28689" name="Group 3"/>
            <p:cNvGrpSpPr>
              <a:grpSpLocks/>
            </p:cNvGrpSpPr>
            <p:nvPr/>
          </p:nvGrpSpPr>
          <p:grpSpPr bwMode="auto">
            <a:xfrm>
              <a:off x="2603739" y="2593872"/>
              <a:ext cx="1309111" cy="920765"/>
              <a:chOff x="2577089" y="2587687"/>
              <a:chExt cx="1309111" cy="920765"/>
            </a:xfrm>
          </p:grpSpPr>
          <p:sp>
            <p:nvSpPr>
              <p:cNvPr id="28703" name="Rectangle 5"/>
              <p:cNvSpPr>
                <a:spLocks noChangeArrowheads="1"/>
              </p:cNvSpPr>
              <p:nvPr/>
            </p:nvSpPr>
            <p:spPr bwMode="auto">
              <a:xfrm>
                <a:off x="2577089" y="2587687"/>
                <a:ext cx="1309111" cy="920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800">
                    <a:solidFill>
                      <a:schemeClr val="tx1"/>
                    </a:solidFill>
                    <a:latin typeface="Arial" panose="020B0604020202020204" pitchFamily="34" charset="0"/>
                    <a:cs typeface="Arial" panose="020B0604020202020204" pitchFamily="34" charset="0"/>
                  </a:defRPr>
                </a:lvl1pPr>
                <a:lvl2pPr marL="742950" indent="-285750">
                  <a:defRPr sz="2800">
                    <a:solidFill>
                      <a:schemeClr val="tx1"/>
                    </a:solidFill>
                    <a:latin typeface="Arial" panose="020B0604020202020204" pitchFamily="34" charset="0"/>
                    <a:cs typeface="Arial" panose="020B0604020202020204" pitchFamily="34" charset="0"/>
                  </a:defRPr>
                </a:lvl2pPr>
                <a:lvl3pPr marL="1143000" indent="-228600">
                  <a:defRPr sz="2800">
                    <a:solidFill>
                      <a:schemeClr val="tx1"/>
                    </a:solidFill>
                    <a:latin typeface="Arial" panose="020B0604020202020204" pitchFamily="34" charset="0"/>
                    <a:cs typeface="Arial" panose="020B0604020202020204" pitchFamily="34" charset="0"/>
                  </a:defRPr>
                </a:lvl3pPr>
                <a:lvl4pPr marL="1600200" indent="-228600">
                  <a:defRPr sz="2800">
                    <a:solidFill>
                      <a:schemeClr val="tx1"/>
                    </a:solidFill>
                    <a:latin typeface="Arial" panose="020B0604020202020204" pitchFamily="34" charset="0"/>
                    <a:cs typeface="Arial" panose="020B0604020202020204" pitchFamily="34" charset="0"/>
                  </a:defRPr>
                </a:lvl4pPr>
                <a:lvl5pPr marL="2057400" indent="-228600">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9pPr>
              </a:lstStyle>
              <a:p>
                <a:pPr algn="ctr"/>
                <a:r>
                  <a:rPr lang="en-US" altLang="en-US" sz="1800" b="1" dirty="0" err="1">
                    <a:solidFill>
                      <a:schemeClr val="accent2"/>
                    </a:solidFill>
                  </a:rPr>
                  <a:t>Unadj</a:t>
                </a:r>
                <a:r>
                  <a:rPr lang="en-US" altLang="en-US" sz="1800" b="1" dirty="0">
                    <a:solidFill>
                      <a:schemeClr val="accent2"/>
                    </a:solidFill>
                  </a:rPr>
                  <a:t>.</a:t>
                </a:r>
              </a:p>
              <a:p>
                <a:pPr algn="ctr"/>
                <a:r>
                  <a:rPr lang="en-US" altLang="en-US" sz="1800" b="1" dirty="0">
                    <a:solidFill>
                      <a:schemeClr val="accent2"/>
                    </a:solidFill>
                  </a:rPr>
                  <a:t>Trial Balance</a:t>
                </a:r>
              </a:p>
            </p:txBody>
          </p:sp>
          <p:sp>
            <p:nvSpPr>
              <p:cNvPr id="2" name="Rounded Rectangle 1"/>
              <p:cNvSpPr/>
              <p:nvPr/>
            </p:nvSpPr>
            <p:spPr>
              <a:xfrm>
                <a:off x="2732537" y="2588364"/>
                <a:ext cx="1066723" cy="904727"/>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grpSp>
        <p:sp>
          <p:nvSpPr>
            <p:cNvPr id="35" name="Line 9"/>
            <p:cNvSpPr>
              <a:spLocks noChangeShapeType="1"/>
            </p:cNvSpPr>
            <p:nvPr/>
          </p:nvSpPr>
          <p:spPr bwMode="auto">
            <a:xfrm flipV="1">
              <a:off x="3825911" y="3078656"/>
              <a:ext cx="773057" cy="0"/>
            </a:xfrm>
            <a:prstGeom prst="line">
              <a:avLst/>
            </a:prstGeom>
            <a:noFill/>
            <a:ln w="28575">
              <a:solidFill>
                <a:schemeClr val="accent2"/>
              </a:solidFill>
              <a:round/>
              <a:headEnd/>
              <a:tailEnd type="triangle" w="med" len="med"/>
            </a:ln>
          </p:spPr>
          <p:txBody>
            <a:bodyPr wrap="none" anchor="ctr"/>
            <a:lstStyle/>
            <a:p>
              <a:pPr eaLnBrk="1" fontAlgn="auto" hangingPunct="1">
                <a:spcBef>
                  <a:spcPts val="0"/>
                </a:spcBef>
                <a:spcAft>
                  <a:spcPts val="0"/>
                </a:spcAft>
                <a:defRPr/>
              </a:pPr>
              <a:endParaRPr lang="en-CA" sz="1800" kern="0">
                <a:solidFill>
                  <a:srgbClr val="2F2B20"/>
                </a:solidFill>
                <a:latin typeface="Lucida Sans Unicode"/>
                <a:cs typeface="+mn-cs"/>
              </a:endParaRPr>
            </a:p>
          </p:txBody>
        </p:sp>
        <p:sp>
          <p:nvSpPr>
            <p:cNvPr id="28691" name="Rectangle 2"/>
            <p:cNvSpPr>
              <a:spLocks noChangeArrowheads="1"/>
            </p:cNvSpPr>
            <p:nvPr/>
          </p:nvSpPr>
          <p:spPr bwMode="auto">
            <a:xfrm>
              <a:off x="3840510" y="2500870"/>
              <a:ext cx="784018" cy="584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Arial" panose="020B0604020202020204" pitchFamily="34" charset="0"/>
                  <a:cs typeface="Arial" panose="020B0604020202020204" pitchFamily="34" charset="0"/>
                </a:defRPr>
              </a:lvl1pPr>
              <a:lvl2pPr marL="742950" indent="-285750">
                <a:defRPr sz="2800">
                  <a:solidFill>
                    <a:schemeClr val="tx1"/>
                  </a:solidFill>
                  <a:latin typeface="Arial" panose="020B0604020202020204" pitchFamily="34" charset="0"/>
                  <a:cs typeface="Arial" panose="020B0604020202020204" pitchFamily="34" charset="0"/>
                </a:defRPr>
              </a:lvl2pPr>
              <a:lvl3pPr marL="1143000" indent="-228600">
                <a:defRPr sz="2800">
                  <a:solidFill>
                    <a:schemeClr val="tx1"/>
                  </a:solidFill>
                  <a:latin typeface="Arial" panose="020B0604020202020204" pitchFamily="34" charset="0"/>
                  <a:cs typeface="Arial" panose="020B0604020202020204" pitchFamily="34" charset="0"/>
                </a:defRPr>
              </a:lvl3pPr>
              <a:lvl4pPr marL="1600200" indent="-228600">
                <a:defRPr sz="2800">
                  <a:solidFill>
                    <a:schemeClr val="tx1"/>
                  </a:solidFill>
                  <a:latin typeface="Arial" panose="020B0604020202020204" pitchFamily="34" charset="0"/>
                  <a:cs typeface="Arial" panose="020B0604020202020204" pitchFamily="34" charset="0"/>
                </a:defRPr>
              </a:lvl4pPr>
              <a:lvl5pPr marL="2057400" indent="-228600">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9pPr>
            </a:lstStyle>
            <a:p>
              <a:r>
                <a:rPr lang="en-US" altLang="en-US" sz="1600" b="1" dirty="0">
                  <a:solidFill>
                    <a:schemeClr val="accent2"/>
                  </a:solidFill>
                </a:rPr>
                <a:t>Apply </a:t>
              </a:r>
              <a:r>
                <a:rPr lang="en-US" altLang="en-US" sz="1600" b="1" dirty="0">
                  <a:solidFill>
                    <a:srgbClr val="FF0000"/>
                  </a:solidFill>
                </a:rPr>
                <a:t>AJEs</a:t>
              </a:r>
              <a:endParaRPr lang="en-CA" altLang="en-US" sz="1600" dirty="0">
                <a:solidFill>
                  <a:srgbClr val="FF0000"/>
                </a:solidFill>
              </a:endParaRPr>
            </a:p>
          </p:txBody>
        </p:sp>
        <p:grpSp>
          <p:nvGrpSpPr>
            <p:cNvPr id="28692" name="Group 4"/>
            <p:cNvGrpSpPr>
              <a:grpSpLocks/>
            </p:cNvGrpSpPr>
            <p:nvPr/>
          </p:nvGrpSpPr>
          <p:grpSpPr bwMode="auto">
            <a:xfrm>
              <a:off x="4528373" y="2612148"/>
              <a:ext cx="1488161" cy="932290"/>
              <a:chOff x="5115563" y="2625035"/>
              <a:chExt cx="1590684" cy="920765"/>
            </a:xfrm>
          </p:grpSpPr>
          <p:sp>
            <p:nvSpPr>
              <p:cNvPr id="28701" name="Rectangle 5"/>
              <p:cNvSpPr>
                <a:spLocks noChangeArrowheads="1"/>
              </p:cNvSpPr>
              <p:nvPr/>
            </p:nvSpPr>
            <p:spPr bwMode="auto">
              <a:xfrm>
                <a:off x="5115563" y="2625035"/>
                <a:ext cx="1590684" cy="920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800">
                    <a:solidFill>
                      <a:schemeClr val="tx1"/>
                    </a:solidFill>
                    <a:latin typeface="Arial" panose="020B0604020202020204" pitchFamily="34" charset="0"/>
                    <a:cs typeface="Arial" panose="020B0604020202020204" pitchFamily="34" charset="0"/>
                  </a:defRPr>
                </a:lvl1pPr>
                <a:lvl2pPr marL="742950" indent="-285750">
                  <a:defRPr sz="2800">
                    <a:solidFill>
                      <a:schemeClr val="tx1"/>
                    </a:solidFill>
                    <a:latin typeface="Arial" panose="020B0604020202020204" pitchFamily="34" charset="0"/>
                    <a:cs typeface="Arial" panose="020B0604020202020204" pitchFamily="34" charset="0"/>
                  </a:defRPr>
                </a:lvl2pPr>
                <a:lvl3pPr marL="1143000" indent="-228600">
                  <a:defRPr sz="2800">
                    <a:solidFill>
                      <a:schemeClr val="tx1"/>
                    </a:solidFill>
                    <a:latin typeface="Arial" panose="020B0604020202020204" pitchFamily="34" charset="0"/>
                    <a:cs typeface="Arial" panose="020B0604020202020204" pitchFamily="34" charset="0"/>
                  </a:defRPr>
                </a:lvl3pPr>
                <a:lvl4pPr marL="1600200" indent="-228600">
                  <a:defRPr sz="2800">
                    <a:solidFill>
                      <a:schemeClr val="tx1"/>
                    </a:solidFill>
                    <a:latin typeface="Arial" panose="020B0604020202020204" pitchFamily="34" charset="0"/>
                    <a:cs typeface="Arial" panose="020B0604020202020204" pitchFamily="34" charset="0"/>
                  </a:defRPr>
                </a:lvl4pPr>
                <a:lvl5pPr marL="2057400" indent="-228600">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9pPr>
              </a:lstStyle>
              <a:p>
                <a:pPr algn="ctr"/>
                <a:r>
                  <a:rPr lang="en-US" altLang="en-US" sz="1800" b="1" dirty="0">
                    <a:solidFill>
                      <a:schemeClr val="accent2"/>
                    </a:solidFill>
                  </a:rPr>
                  <a:t>Adjusted</a:t>
                </a:r>
              </a:p>
              <a:p>
                <a:pPr algn="ctr"/>
                <a:r>
                  <a:rPr lang="en-US" altLang="en-US" sz="1800" b="1" dirty="0">
                    <a:solidFill>
                      <a:schemeClr val="accent2"/>
                    </a:solidFill>
                  </a:rPr>
                  <a:t>Trial Balance</a:t>
                </a:r>
              </a:p>
            </p:txBody>
          </p:sp>
          <p:sp>
            <p:nvSpPr>
              <p:cNvPr id="38" name="Rounded Rectangle 37"/>
              <p:cNvSpPr/>
              <p:nvPr/>
            </p:nvSpPr>
            <p:spPr>
              <a:xfrm>
                <a:off x="5333548" y="2624897"/>
                <a:ext cx="1219961" cy="902948"/>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grpSp>
        <p:sp>
          <p:nvSpPr>
            <p:cNvPr id="42" name="Line 9"/>
            <p:cNvSpPr>
              <a:spLocks noChangeShapeType="1"/>
            </p:cNvSpPr>
            <p:nvPr/>
          </p:nvSpPr>
          <p:spPr bwMode="auto">
            <a:xfrm>
              <a:off x="5873639" y="3043737"/>
              <a:ext cx="401608" cy="0"/>
            </a:xfrm>
            <a:prstGeom prst="line">
              <a:avLst/>
            </a:prstGeom>
            <a:noFill/>
            <a:ln w="28575">
              <a:solidFill>
                <a:schemeClr val="accent2"/>
              </a:solidFill>
              <a:round/>
              <a:headEnd/>
              <a:tailEnd type="triangle" w="med" len="med"/>
            </a:ln>
          </p:spPr>
          <p:txBody>
            <a:bodyPr wrap="none" anchor="ctr"/>
            <a:lstStyle/>
            <a:p>
              <a:pPr eaLnBrk="1" fontAlgn="auto" hangingPunct="1">
                <a:spcBef>
                  <a:spcPts val="0"/>
                </a:spcBef>
                <a:spcAft>
                  <a:spcPts val="0"/>
                </a:spcAft>
                <a:defRPr/>
              </a:pPr>
              <a:endParaRPr lang="en-CA" sz="1800" kern="0">
                <a:solidFill>
                  <a:srgbClr val="2F2B20"/>
                </a:solidFill>
                <a:latin typeface="Lucida Sans Unicode"/>
                <a:cs typeface="+mn-cs"/>
              </a:endParaRPr>
            </a:p>
          </p:txBody>
        </p:sp>
        <p:grpSp>
          <p:nvGrpSpPr>
            <p:cNvPr id="28694" name="Group 42"/>
            <p:cNvGrpSpPr>
              <a:grpSpLocks/>
            </p:cNvGrpSpPr>
            <p:nvPr/>
          </p:nvGrpSpPr>
          <p:grpSpPr bwMode="auto">
            <a:xfrm>
              <a:off x="6275052" y="2615183"/>
              <a:ext cx="1066922" cy="885679"/>
              <a:chOff x="5288401" y="2624742"/>
              <a:chExt cx="1265515" cy="904601"/>
            </a:xfrm>
          </p:grpSpPr>
          <p:sp>
            <p:nvSpPr>
              <p:cNvPr id="28699" name="Rectangle 5"/>
              <p:cNvSpPr>
                <a:spLocks noChangeArrowheads="1"/>
              </p:cNvSpPr>
              <p:nvPr/>
            </p:nvSpPr>
            <p:spPr bwMode="auto">
              <a:xfrm>
                <a:off x="5288401" y="2784392"/>
                <a:ext cx="1249253" cy="657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800">
                    <a:solidFill>
                      <a:schemeClr val="tx1"/>
                    </a:solidFill>
                    <a:latin typeface="Arial" panose="020B0604020202020204" pitchFamily="34" charset="0"/>
                    <a:cs typeface="Arial" panose="020B0604020202020204" pitchFamily="34" charset="0"/>
                  </a:defRPr>
                </a:lvl1pPr>
                <a:lvl2pPr marL="742950" indent="-285750">
                  <a:defRPr sz="2800">
                    <a:solidFill>
                      <a:schemeClr val="tx1"/>
                    </a:solidFill>
                    <a:latin typeface="Arial" panose="020B0604020202020204" pitchFamily="34" charset="0"/>
                    <a:cs typeface="Arial" panose="020B0604020202020204" pitchFamily="34" charset="0"/>
                  </a:defRPr>
                </a:lvl2pPr>
                <a:lvl3pPr marL="1143000" indent="-228600">
                  <a:defRPr sz="2800">
                    <a:solidFill>
                      <a:schemeClr val="tx1"/>
                    </a:solidFill>
                    <a:latin typeface="Arial" panose="020B0604020202020204" pitchFamily="34" charset="0"/>
                    <a:cs typeface="Arial" panose="020B0604020202020204" pitchFamily="34" charset="0"/>
                  </a:defRPr>
                </a:lvl3pPr>
                <a:lvl4pPr marL="1600200" indent="-228600">
                  <a:defRPr sz="2800">
                    <a:solidFill>
                      <a:schemeClr val="tx1"/>
                    </a:solidFill>
                    <a:latin typeface="Arial" panose="020B0604020202020204" pitchFamily="34" charset="0"/>
                    <a:cs typeface="Arial" panose="020B0604020202020204" pitchFamily="34" charset="0"/>
                  </a:defRPr>
                </a:lvl4pPr>
                <a:lvl5pPr marL="2057400" indent="-228600">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9pPr>
              </a:lstStyle>
              <a:p>
                <a:pPr algn="ctr"/>
                <a:r>
                  <a:rPr lang="en-US" altLang="en-US" sz="1800" b="1" dirty="0">
                    <a:solidFill>
                      <a:schemeClr val="accent2"/>
                    </a:solidFill>
                  </a:rPr>
                  <a:t>Prepare F/S</a:t>
                </a:r>
              </a:p>
            </p:txBody>
          </p:sp>
          <p:sp>
            <p:nvSpPr>
              <p:cNvPr id="45" name="Rounded Rectangle 44"/>
              <p:cNvSpPr/>
              <p:nvPr/>
            </p:nvSpPr>
            <p:spPr>
              <a:xfrm>
                <a:off x="5333824" y="2624742"/>
                <a:ext cx="1220092" cy="904601"/>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grpSp>
        <p:sp>
          <p:nvSpPr>
            <p:cNvPr id="46" name="Line 9"/>
            <p:cNvSpPr>
              <a:spLocks noChangeShapeType="1"/>
            </p:cNvSpPr>
            <p:nvPr/>
          </p:nvSpPr>
          <p:spPr bwMode="auto">
            <a:xfrm>
              <a:off x="7368957" y="3086593"/>
              <a:ext cx="330176" cy="0"/>
            </a:xfrm>
            <a:prstGeom prst="line">
              <a:avLst/>
            </a:prstGeom>
            <a:noFill/>
            <a:ln w="28575">
              <a:solidFill>
                <a:schemeClr val="accent2"/>
              </a:solidFill>
              <a:round/>
              <a:headEnd/>
              <a:tailEnd type="triangle" w="med" len="med"/>
            </a:ln>
          </p:spPr>
          <p:txBody>
            <a:bodyPr wrap="none" anchor="ctr"/>
            <a:lstStyle/>
            <a:p>
              <a:pPr eaLnBrk="1" fontAlgn="auto" hangingPunct="1">
                <a:spcBef>
                  <a:spcPts val="0"/>
                </a:spcBef>
                <a:spcAft>
                  <a:spcPts val="0"/>
                </a:spcAft>
                <a:defRPr/>
              </a:pPr>
              <a:endParaRPr lang="en-CA" sz="1800" kern="0">
                <a:solidFill>
                  <a:srgbClr val="2F2B20"/>
                </a:solidFill>
                <a:latin typeface="Lucida Sans Unicode"/>
                <a:cs typeface="+mn-cs"/>
              </a:endParaRPr>
            </a:p>
          </p:txBody>
        </p:sp>
        <p:grpSp>
          <p:nvGrpSpPr>
            <p:cNvPr id="28696" name="Group 46"/>
            <p:cNvGrpSpPr>
              <a:grpSpLocks/>
            </p:cNvGrpSpPr>
            <p:nvPr/>
          </p:nvGrpSpPr>
          <p:grpSpPr bwMode="auto">
            <a:xfrm>
              <a:off x="7708967" y="2623326"/>
              <a:ext cx="1040268" cy="927659"/>
              <a:chOff x="4821738" y="2566902"/>
              <a:chExt cx="1249255" cy="947478"/>
            </a:xfrm>
          </p:grpSpPr>
          <p:sp>
            <p:nvSpPr>
              <p:cNvPr id="28697" name="Rectangle 5"/>
              <p:cNvSpPr>
                <a:spLocks noChangeArrowheads="1"/>
              </p:cNvSpPr>
              <p:nvPr/>
            </p:nvSpPr>
            <p:spPr bwMode="auto">
              <a:xfrm>
                <a:off x="4821738" y="2566902"/>
                <a:ext cx="1249255" cy="940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800">
                    <a:solidFill>
                      <a:schemeClr val="tx1"/>
                    </a:solidFill>
                    <a:latin typeface="Arial" panose="020B0604020202020204" pitchFamily="34" charset="0"/>
                    <a:cs typeface="Arial" panose="020B0604020202020204" pitchFamily="34" charset="0"/>
                  </a:defRPr>
                </a:lvl1pPr>
                <a:lvl2pPr marL="742950" indent="-285750">
                  <a:defRPr sz="2800">
                    <a:solidFill>
                      <a:schemeClr val="tx1"/>
                    </a:solidFill>
                    <a:latin typeface="Arial" panose="020B0604020202020204" pitchFamily="34" charset="0"/>
                    <a:cs typeface="Arial" panose="020B0604020202020204" pitchFamily="34" charset="0"/>
                  </a:defRPr>
                </a:lvl2pPr>
                <a:lvl3pPr marL="1143000" indent="-228600">
                  <a:defRPr sz="2800">
                    <a:solidFill>
                      <a:schemeClr val="tx1"/>
                    </a:solidFill>
                    <a:latin typeface="Arial" panose="020B0604020202020204" pitchFamily="34" charset="0"/>
                    <a:cs typeface="Arial" panose="020B0604020202020204" pitchFamily="34" charset="0"/>
                  </a:defRPr>
                </a:lvl3pPr>
                <a:lvl4pPr marL="1600200" indent="-228600">
                  <a:defRPr sz="2800">
                    <a:solidFill>
                      <a:schemeClr val="tx1"/>
                    </a:solidFill>
                    <a:latin typeface="Arial" panose="020B0604020202020204" pitchFamily="34" charset="0"/>
                    <a:cs typeface="Arial" panose="020B0604020202020204" pitchFamily="34" charset="0"/>
                  </a:defRPr>
                </a:lvl4pPr>
                <a:lvl5pPr marL="2057400" indent="-228600">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9pPr>
              </a:lstStyle>
              <a:p>
                <a:pPr algn="ctr"/>
                <a:r>
                  <a:rPr lang="en-US" altLang="en-US" sz="1800" b="1" dirty="0">
                    <a:solidFill>
                      <a:schemeClr val="accent2"/>
                    </a:solidFill>
                  </a:rPr>
                  <a:t>Prepare Closing Entries</a:t>
                </a:r>
              </a:p>
            </p:txBody>
          </p:sp>
          <p:sp>
            <p:nvSpPr>
              <p:cNvPr id="49" name="Rounded Rectangle 48"/>
              <p:cNvSpPr/>
              <p:nvPr/>
            </p:nvSpPr>
            <p:spPr>
              <a:xfrm>
                <a:off x="4836617" y="2610461"/>
                <a:ext cx="1220025" cy="904601"/>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grpSp>
      </p:grpSp>
      <p:sp>
        <p:nvSpPr>
          <p:cNvPr id="3" name="Left Brace 2"/>
          <p:cNvSpPr/>
          <p:nvPr/>
        </p:nvSpPr>
        <p:spPr>
          <a:xfrm rot="5400000">
            <a:off x="2044659" y="255609"/>
            <a:ext cx="289868" cy="3426869"/>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33" name="Left Brace 32"/>
          <p:cNvSpPr/>
          <p:nvPr/>
        </p:nvSpPr>
        <p:spPr>
          <a:xfrm rot="5400000">
            <a:off x="6262322" y="-445067"/>
            <a:ext cx="292033" cy="4836732"/>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34" name="Rectangle 5"/>
          <p:cNvSpPr>
            <a:spLocks noChangeArrowheads="1"/>
          </p:cNvSpPr>
          <p:nvPr/>
        </p:nvSpPr>
        <p:spPr bwMode="auto">
          <a:xfrm>
            <a:off x="1792919" y="1378114"/>
            <a:ext cx="74700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800">
                <a:solidFill>
                  <a:schemeClr val="tx1"/>
                </a:solidFill>
                <a:latin typeface="Arial" panose="020B0604020202020204" pitchFamily="34" charset="0"/>
                <a:cs typeface="Arial" panose="020B0604020202020204" pitchFamily="34" charset="0"/>
              </a:defRPr>
            </a:lvl1pPr>
            <a:lvl2pPr marL="742950" indent="-285750">
              <a:defRPr sz="2800">
                <a:solidFill>
                  <a:schemeClr val="tx1"/>
                </a:solidFill>
                <a:latin typeface="Arial" panose="020B0604020202020204" pitchFamily="34" charset="0"/>
                <a:cs typeface="Arial" panose="020B0604020202020204" pitchFamily="34" charset="0"/>
              </a:defRPr>
            </a:lvl2pPr>
            <a:lvl3pPr marL="1143000" indent="-228600">
              <a:defRPr sz="2800">
                <a:solidFill>
                  <a:schemeClr val="tx1"/>
                </a:solidFill>
                <a:latin typeface="Arial" panose="020B0604020202020204" pitchFamily="34" charset="0"/>
                <a:cs typeface="Arial" panose="020B0604020202020204" pitchFamily="34" charset="0"/>
              </a:defRPr>
            </a:lvl3pPr>
            <a:lvl4pPr marL="1600200" indent="-228600">
              <a:defRPr sz="2800">
                <a:solidFill>
                  <a:schemeClr val="tx1"/>
                </a:solidFill>
                <a:latin typeface="Arial" panose="020B0604020202020204" pitchFamily="34" charset="0"/>
                <a:cs typeface="Arial" panose="020B0604020202020204" pitchFamily="34" charset="0"/>
              </a:defRPr>
            </a:lvl4pPr>
            <a:lvl5pPr marL="2057400" indent="-228600">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9pPr>
          </a:lstStyle>
          <a:p>
            <a:pPr algn="ctr"/>
            <a:r>
              <a:rPr lang="en-US" altLang="en-US" sz="1800" b="1" dirty="0">
                <a:solidFill>
                  <a:srgbClr val="FF0000"/>
                </a:solidFill>
              </a:rPr>
              <a:t>Ch. 2</a:t>
            </a:r>
          </a:p>
        </p:txBody>
      </p:sp>
      <p:sp>
        <p:nvSpPr>
          <p:cNvPr id="36" name="Rectangle 5"/>
          <p:cNvSpPr>
            <a:spLocks noChangeArrowheads="1"/>
          </p:cNvSpPr>
          <p:nvPr/>
        </p:nvSpPr>
        <p:spPr bwMode="auto">
          <a:xfrm>
            <a:off x="6034838" y="1445834"/>
            <a:ext cx="74700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800">
                <a:solidFill>
                  <a:schemeClr val="tx1"/>
                </a:solidFill>
                <a:latin typeface="Arial" panose="020B0604020202020204" pitchFamily="34" charset="0"/>
                <a:cs typeface="Arial" panose="020B0604020202020204" pitchFamily="34" charset="0"/>
              </a:defRPr>
            </a:lvl1pPr>
            <a:lvl2pPr marL="742950" indent="-285750">
              <a:defRPr sz="2800">
                <a:solidFill>
                  <a:schemeClr val="tx1"/>
                </a:solidFill>
                <a:latin typeface="Arial" panose="020B0604020202020204" pitchFamily="34" charset="0"/>
                <a:cs typeface="Arial" panose="020B0604020202020204" pitchFamily="34" charset="0"/>
              </a:defRPr>
            </a:lvl2pPr>
            <a:lvl3pPr marL="1143000" indent="-228600">
              <a:defRPr sz="2800">
                <a:solidFill>
                  <a:schemeClr val="tx1"/>
                </a:solidFill>
                <a:latin typeface="Arial" panose="020B0604020202020204" pitchFamily="34" charset="0"/>
                <a:cs typeface="Arial" panose="020B0604020202020204" pitchFamily="34" charset="0"/>
              </a:defRPr>
            </a:lvl3pPr>
            <a:lvl4pPr marL="1600200" indent="-228600">
              <a:defRPr sz="2800">
                <a:solidFill>
                  <a:schemeClr val="tx1"/>
                </a:solidFill>
                <a:latin typeface="Arial" panose="020B0604020202020204" pitchFamily="34" charset="0"/>
                <a:cs typeface="Arial" panose="020B0604020202020204" pitchFamily="34" charset="0"/>
              </a:defRPr>
            </a:lvl4pPr>
            <a:lvl5pPr marL="2057400" indent="-228600">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9pPr>
          </a:lstStyle>
          <a:p>
            <a:pPr algn="ctr"/>
            <a:r>
              <a:rPr lang="en-US" altLang="en-US" sz="1800" b="1" dirty="0">
                <a:solidFill>
                  <a:srgbClr val="FF0000"/>
                </a:solidFill>
              </a:rPr>
              <a:t>Ch. 3</a:t>
            </a:r>
          </a:p>
        </p:txBody>
      </p:sp>
    </p:spTree>
    <p:extLst>
      <p:ext uri="{BB962C8B-B14F-4D97-AF65-F5344CB8AC3E}">
        <p14:creationId xmlns:p14="http://schemas.microsoft.com/office/powerpoint/2010/main" val="1328138365"/>
      </p:ext>
    </p:extLst>
  </p:cSld>
  <p:clrMapOvr>
    <a:masterClrMapping/>
  </p:clrMapOvr>
  <p:transition>
    <p:wipe dir="d"/>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One</a:t>
            </a:r>
          </a:p>
        </p:txBody>
      </p:sp>
      <p:sp>
        <p:nvSpPr>
          <p:cNvPr id="3" name="Subtitle 2"/>
          <p:cNvSpPr>
            <a:spLocks noGrp="1"/>
          </p:cNvSpPr>
          <p:nvPr>
            <p:ph type="subTitle" idx="1"/>
          </p:nvPr>
        </p:nvSpPr>
        <p:spPr/>
        <p:txBody>
          <a:bodyPr>
            <a:normAutofit lnSpcReduction="10000"/>
          </a:bodyPr>
          <a:lstStyle/>
          <a:p>
            <a:r>
              <a:rPr lang="en-US" altLang="en-US" b="1" dirty="0">
                <a:ea typeface="ＭＳ Ｐゴシック" pitchFamily="34" charset="-128"/>
              </a:rPr>
              <a:t>Explain </a:t>
            </a:r>
            <a:r>
              <a:rPr lang="en-US" altLang="en-US" dirty="0">
                <a:ea typeface="ＭＳ Ｐゴシック" pitchFamily="34" charset="-128"/>
              </a:rPr>
              <a:t>how accrual accounting differs from cash-basis accounting</a:t>
            </a:r>
            <a:endParaRPr lang="en-US" dirty="0"/>
          </a:p>
        </p:txBody>
      </p:sp>
    </p:spTree>
    <p:extLst>
      <p:ext uri="{BB962C8B-B14F-4D97-AF65-F5344CB8AC3E}">
        <p14:creationId xmlns:p14="http://schemas.microsoft.com/office/powerpoint/2010/main" val="3235816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3251"/>
            <a:ext cx="8229600" cy="1097280"/>
          </a:xfrm>
        </p:spPr>
        <p:txBody>
          <a:bodyPr/>
          <a:lstStyle/>
          <a:p>
            <a:r>
              <a:rPr lang="en-US" altLang="en-US" dirty="0"/>
              <a:t>Accrual vs. Cash-Basis Accounting</a:t>
            </a:r>
            <a:endParaRPr lang="en-US" dirty="0"/>
          </a:p>
        </p:txBody>
      </p:sp>
      <p:sp>
        <p:nvSpPr>
          <p:cNvPr id="3" name="Text Placeholder 2"/>
          <p:cNvSpPr>
            <a:spLocks noGrp="1"/>
          </p:cNvSpPr>
          <p:nvPr>
            <p:ph type="body" idx="1"/>
          </p:nvPr>
        </p:nvSpPr>
        <p:spPr>
          <a:xfrm>
            <a:off x="457200" y="1671575"/>
            <a:ext cx="4040982" cy="457200"/>
          </a:xfrm>
          <a:solidFill>
            <a:srgbClr val="C5F3FF"/>
          </a:solidFill>
          <a:ln>
            <a:solidFill>
              <a:srgbClr val="007FA3"/>
            </a:solidFill>
          </a:ln>
        </p:spPr>
        <p:txBody>
          <a:bodyPr anchor="ctr"/>
          <a:lstStyle/>
          <a:p>
            <a:pPr algn="ctr"/>
            <a:r>
              <a:rPr lang="en-US" sz="2000" b="1" dirty="0"/>
              <a:t>ACCRUAL  ACCOUNTING</a:t>
            </a:r>
          </a:p>
        </p:txBody>
      </p:sp>
      <p:sp>
        <p:nvSpPr>
          <p:cNvPr id="4" name="Content Placeholder 3"/>
          <p:cNvSpPr>
            <a:spLocks noGrp="1"/>
          </p:cNvSpPr>
          <p:nvPr>
            <p:ph sz="half" idx="2"/>
          </p:nvPr>
        </p:nvSpPr>
        <p:spPr>
          <a:xfrm>
            <a:off x="457200" y="2143760"/>
            <a:ext cx="4040982" cy="3684588"/>
          </a:xfrm>
        </p:spPr>
        <p:txBody>
          <a:bodyPr/>
          <a:lstStyle/>
          <a:p>
            <a:r>
              <a:rPr lang="en-US" altLang="en-US" dirty="0">
                <a:ea typeface="ＭＳ Ｐゴシック" pitchFamily="34" charset="-128"/>
              </a:rPr>
              <a:t>Records impact of transactions when they occur</a:t>
            </a:r>
          </a:p>
          <a:p>
            <a:r>
              <a:rPr lang="en-US" altLang="en-US" dirty="0">
                <a:ea typeface="ＭＳ Ｐゴシック" pitchFamily="34" charset="-128"/>
              </a:rPr>
              <a:t>Required by IFRS and ASPE</a:t>
            </a:r>
          </a:p>
          <a:p>
            <a:r>
              <a:rPr lang="en-US" altLang="en-US" dirty="0">
                <a:ea typeface="ＭＳ Ｐゴシック" pitchFamily="34" charset="-128"/>
              </a:rPr>
              <a:t>Records:</a:t>
            </a:r>
          </a:p>
          <a:p>
            <a:pPr lvl="1"/>
            <a:r>
              <a:rPr lang="en-US" altLang="en-US" dirty="0">
                <a:ea typeface="ＭＳ Ｐゴシック" pitchFamily="34" charset="-128"/>
              </a:rPr>
              <a:t>Revenue when </a:t>
            </a:r>
            <a:r>
              <a:rPr lang="en-US" altLang="en-US" b="1" u="sng" dirty="0">
                <a:ea typeface="ＭＳ Ｐゴシック" pitchFamily="34" charset="-128"/>
              </a:rPr>
              <a:t>earned</a:t>
            </a:r>
          </a:p>
          <a:p>
            <a:pPr lvl="1"/>
            <a:r>
              <a:rPr lang="en-US" altLang="en-US" dirty="0">
                <a:ea typeface="ＭＳ Ｐゴシック" pitchFamily="34" charset="-128"/>
              </a:rPr>
              <a:t>Expenses when </a:t>
            </a:r>
            <a:r>
              <a:rPr lang="en-US" altLang="en-US" b="1" u="sng" dirty="0">
                <a:ea typeface="ＭＳ Ｐゴシック" pitchFamily="34" charset="-128"/>
              </a:rPr>
              <a:t>incurred</a:t>
            </a:r>
            <a:endParaRPr lang="en-US" b="1" u="sng" dirty="0"/>
          </a:p>
        </p:txBody>
      </p:sp>
      <p:sp>
        <p:nvSpPr>
          <p:cNvPr id="5" name="Text Placeholder 4"/>
          <p:cNvSpPr>
            <a:spLocks noGrp="1"/>
          </p:cNvSpPr>
          <p:nvPr>
            <p:ph type="body" sz="quarter" idx="3"/>
          </p:nvPr>
        </p:nvSpPr>
        <p:spPr>
          <a:xfrm>
            <a:off x="4629150" y="1671575"/>
            <a:ext cx="4057650" cy="457200"/>
          </a:xfrm>
          <a:solidFill>
            <a:srgbClr val="C5F3FF"/>
          </a:solidFill>
          <a:ln>
            <a:solidFill>
              <a:srgbClr val="007FA3"/>
            </a:solidFill>
          </a:ln>
        </p:spPr>
        <p:txBody>
          <a:bodyPr anchor="ctr"/>
          <a:lstStyle/>
          <a:p>
            <a:pPr algn="ctr"/>
            <a:r>
              <a:rPr lang="en-US" sz="2000" b="1" dirty="0"/>
              <a:t>CASH-BASIS ACCOUNTING</a:t>
            </a:r>
          </a:p>
        </p:txBody>
      </p:sp>
      <p:sp>
        <p:nvSpPr>
          <p:cNvPr id="6" name="Content Placeholder 5"/>
          <p:cNvSpPr>
            <a:spLocks noGrp="1"/>
          </p:cNvSpPr>
          <p:nvPr>
            <p:ph sz="quarter" idx="4"/>
          </p:nvPr>
        </p:nvSpPr>
        <p:spPr>
          <a:xfrm>
            <a:off x="4629150" y="2143760"/>
            <a:ext cx="4057650" cy="3684588"/>
          </a:xfrm>
        </p:spPr>
        <p:txBody>
          <a:bodyPr/>
          <a:lstStyle/>
          <a:p>
            <a:pPr>
              <a:defRPr/>
            </a:pPr>
            <a:r>
              <a:rPr lang="en-US" altLang="en-US" dirty="0"/>
              <a:t>Records only cash transactions</a:t>
            </a:r>
          </a:p>
          <a:p>
            <a:pPr lvl="1">
              <a:defRPr/>
            </a:pPr>
            <a:r>
              <a:rPr lang="en-US" altLang="en-US" dirty="0"/>
              <a:t>Cash </a:t>
            </a:r>
            <a:r>
              <a:rPr lang="en-US" altLang="en-US" b="1" u="sng" dirty="0"/>
              <a:t>receipts</a:t>
            </a:r>
          </a:p>
          <a:p>
            <a:pPr lvl="1">
              <a:defRPr/>
            </a:pPr>
            <a:r>
              <a:rPr lang="en-US" altLang="en-US" dirty="0"/>
              <a:t>Cash </a:t>
            </a:r>
            <a:r>
              <a:rPr lang="en-US" altLang="en-US" b="1" u="sng" dirty="0"/>
              <a:t>payments</a:t>
            </a:r>
          </a:p>
          <a:p>
            <a:pPr>
              <a:defRPr/>
            </a:pPr>
            <a:r>
              <a:rPr lang="en-US" altLang="en-US" dirty="0"/>
              <a:t>Ignores important information</a:t>
            </a:r>
          </a:p>
          <a:p>
            <a:pPr>
              <a:defRPr/>
            </a:pPr>
            <a:r>
              <a:rPr lang="en-US" altLang="en-US" dirty="0"/>
              <a:t>Results in incomplete financial statements</a:t>
            </a:r>
            <a:endParaRPr lang="en-US" dirty="0"/>
          </a:p>
        </p:txBody>
      </p:sp>
    </p:spTree>
    <p:extLst>
      <p:ext uri="{BB962C8B-B14F-4D97-AF65-F5344CB8AC3E}">
        <p14:creationId xmlns:p14="http://schemas.microsoft.com/office/powerpoint/2010/main" val="3415574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Accrual Accounting</a:t>
            </a:r>
            <a:endParaRPr lang="en-US" dirty="0"/>
          </a:p>
        </p:txBody>
      </p:sp>
      <p:sp>
        <p:nvSpPr>
          <p:cNvPr id="3" name="Content Placeholder 2"/>
          <p:cNvSpPr>
            <a:spLocks noGrp="1"/>
          </p:cNvSpPr>
          <p:nvPr>
            <p:ph idx="1"/>
          </p:nvPr>
        </p:nvSpPr>
        <p:spPr>
          <a:xfrm>
            <a:off x="457200" y="1600201"/>
            <a:ext cx="8229600" cy="457200"/>
          </a:xfrm>
        </p:spPr>
        <p:txBody>
          <a:bodyPr/>
          <a:lstStyle/>
          <a:p>
            <a:r>
              <a:rPr lang="en-US" altLang="en-US" dirty="0">
                <a:ea typeface="ＭＳ Ｐゴシック" pitchFamily="34" charset="-128"/>
              </a:rPr>
              <a:t>Records both </a:t>
            </a:r>
            <a:r>
              <a:rPr lang="en-US" altLang="en-US" b="1" u="sng" dirty="0">
                <a:ea typeface="ＭＳ Ｐゴシック" pitchFamily="34" charset="-128"/>
              </a:rPr>
              <a:t>cash</a:t>
            </a:r>
            <a:r>
              <a:rPr lang="en-US" altLang="en-US" dirty="0">
                <a:ea typeface="ＭＳ Ｐゴシック" pitchFamily="34" charset="-128"/>
              </a:rPr>
              <a:t> and </a:t>
            </a:r>
            <a:r>
              <a:rPr lang="en-US" altLang="en-US" b="1" u="sng" dirty="0">
                <a:ea typeface="ＭＳ Ｐゴシック" pitchFamily="34" charset="-128"/>
              </a:rPr>
              <a:t>noncash</a:t>
            </a:r>
            <a:r>
              <a:rPr lang="en-US" altLang="en-US" dirty="0">
                <a:ea typeface="ＭＳ Ｐゴシック" pitchFamily="34" charset="-128"/>
              </a:rPr>
              <a:t> transactions</a:t>
            </a:r>
            <a:endParaRPr lang="en-US" dirty="0"/>
          </a:p>
        </p:txBody>
      </p:sp>
      <p:graphicFrame>
        <p:nvGraphicFramePr>
          <p:cNvPr id="4" name="Table 3"/>
          <p:cNvGraphicFramePr>
            <a:graphicFrameLocks noGrp="1"/>
          </p:cNvGraphicFramePr>
          <p:nvPr/>
        </p:nvGraphicFramePr>
        <p:xfrm>
          <a:off x="723900" y="2362200"/>
          <a:ext cx="7696200" cy="3382996"/>
        </p:xfrm>
        <a:graphic>
          <a:graphicData uri="http://schemas.openxmlformats.org/drawingml/2006/table">
            <a:tbl>
              <a:tblPr firstRow="1">
                <a:tableStyleId>{2D5ABB26-0587-4C30-8999-92F81FD0307C}</a:tableStyleId>
              </a:tblPr>
              <a:tblGrid>
                <a:gridCol w="3619500">
                  <a:extLst>
                    <a:ext uri="{9D8B030D-6E8A-4147-A177-3AD203B41FA5}">
                      <a16:colId xmlns:a16="http://schemas.microsoft.com/office/drawing/2014/main" val="20000"/>
                    </a:ext>
                  </a:extLst>
                </a:gridCol>
                <a:gridCol w="4076700">
                  <a:extLst>
                    <a:ext uri="{9D8B030D-6E8A-4147-A177-3AD203B41FA5}">
                      <a16:colId xmlns:a16="http://schemas.microsoft.com/office/drawing/2014/main" val="20001"/>
                    </a:ext>
                  </a:extLst>
                </a:gridCol>
              </a:tblGrid>
              <a:tr h="396196">
                <a:tc>
                  <a:txBody>
                    <a:bodyPr/>
                    <a:lstStyle/>
                    <a:p>
                      <a:r>
                        <a:rPr lang="en-US" b="1" dirty="0"/>
                        <a:t>Cash transactions</a:t>
                      </a:r>
                    </a:p>
                  </a:txBody>
                  <a:tcPr marT="45700" marB="457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b="1" dirty="0"/>
                        <a:t>Noncash transactions</a:t>
                      </a:r>
                    </a:p>
                  </a:txBody>
                  <a:tcPr marT="45700" marB="457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00992">
                <a:tc>
                  <a:txBody>
                    <a:bodyPr/>
                    <a:lstStyle/>
                    <a:p>
                      <a:r>
                        <a:rPr lang="en-US" sz="2000" dirty="0"/>
                        <a:t>Collecting</a:t>
                      </a:r>
                      <a:r>
                        <a:rPr lang="en-US" sz="2000" baseline="0" dirty="0"/>
                        <a:t> payments from customers</a:t>
                      </a:r>
                      <a:endParaRPr lang="en-US" sz="2000" dirty="0"/>
                    </a:p>
                  </a:txBody>
                  <a:tcPr marT="45700" marB="457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2000" dirty="0"/>
                        <a:t>Sales on account</a:t>
                      </a:r>
                    </a:p>
                  </a:txBody>
                  <a:tcPr marT="45700" marB="457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96196">
                <a:tc>
                  <a:txBody>
                    <a:bodyPr/>
                    <a:lstStyle/>
                    <a:p>
                      <a:r>
                        <a:rPr lang="en-US" sz="2000" dirty="0"/>
                        <a:t>Receiving</a:t>
                      </a:r>
                      <a:r>
                        <a:rPr lang="en-US" sz="2000" baseline="0" dirty="0"/>
                        <a:t> interest earned</a:t>
                      </a:r>
                      <a:endParaRPr lang="en-US" sz="2000" dirty="0"/>
                    </a:p>
                  </a:txBody>
                  <a:tcPr marT="45700" marB="457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Purchases</a:t>
                      </a:r>
                      <a:r>
                        <a:rPr lang="en-US" sz="2000" baseline="0" dirty="0"/>
                        <a:t> on account</a:t>
                      </a:r>
                      <a:endParaRPr lang="en-US" sz="2000" dirty="0"/>
                    </a:p>
                  </a:txBody>
                  <a:tcPr marT="45700" marB="457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96196">
                <a:tc>
                  <a:txBody>
                    <a:bodyPr/>
                    <a:lstStyle/>
                    <a:p>
                      <a:r>
                        <a:rPr lang="en-US" sz="2000" dirty="0"/>
                        <a:t>Borrowing money</a:t>
                      </a:r>
                    </a:p>
                  </a:txBody>
                  <a:tcPr marT="45700" marB="457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Accrual</a:t>
                      </a:r>
                      <a:r>
                        <a:rPr lang="en-US" sz="2000" baseline="0" dirty="0"/>
                        <a:t> of expenses not yet paid</a:t>
                      </a:r>
                      <a:endParaRPr lang="en-US" sz="2000" dirty="0"/>
                    </a:p>
                  </a:txBody>
                  <a:tcPr marT="45700" marB="457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96196">
                <a:tc>
                  <a:txBody>
                    <a:bodyPr/>
                    <a:lstStyle/>
                    <a:p>
                      <a:r>
                        <a:rPr lang="en-US" sz="2000" dirty="0"/>
                        <a:t>Paying expenses</a:t>
                      </a:r>
                    </a:p>
                  </a:txBody>
                  <a:tcPr marT="45700" marB="457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Depreciation expense</a:t>
                      </a:r>
                    </a:p>
                  </a:txBody>
                  <a:tcPr marT="45700" marB="457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96196">
                <a:tc>
                  <a:txBody>
                    <a:bodyPr/>
                    <a:lstStyle/>
                    <a:p>
                      <a:r>
                        <a:rPr lang="en-US" sz="2000" dirty="0"/>
                        <a:t>Paying off loans</a:t>
                      </a:r>
                    </a:p>
                  </a:txBody>
                  <a:tcPr marT="45700" marB="457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Usage of prepaid expenses</a:t>
                      </a:r>
                    </a:p>
                  </a:txBody>
                  <a:tcPr marT="45700" marB="457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700992">
                <a:tc>
                  <a:txBody>
                    <a:bodyPr/>
                    <a:lstStyle/>
                    <a:p>
                      <a:r>
                        <a:rPr lang="en-US" sz="2000" dirty="0"/>
                        <a:t>Issuing</a:t>
                      </a:r>
                      <a:r>
                        <a:rPr lang="en-US" sz="2000" baseline="0" dirty="0"/>
                        <a:t> shares</a:t>
                      </a:r>
                      <a:endParaRPr lang="en-US" sz="2000" dirty="0"/>
                    </a:p>
                  </a:txBody>
                  <a:tcPr marT="45700" marB="457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2000" dirty="0"/>
                        <a:t>Earning of revenue when cash was collected in advance</a:t>
                      </a:r>
                    </a:p>
                  </a:txBody>
                  <a:tcPr marT="45700" marB="457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392844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6"/>
          <p:cNvSpPr>
            <a:spLocks noGrp="1" noChangeArrowheads="1"/>
          </p:cNvSpPr>
          <p:nvPr>
            <p:ph type="title" idx="4294967295"/>
          </p:nvPr>
        </p:nvSpPr>
        <p:spPr>
          <a:xfrm>
            <a:off x="177800" y="517478"/>
            <a:ext cx="8966200" cy="533400"/>
          </a:xfrm>
        </p:spPr>
        <p:txBody>
          <a:bodyPr>
            <a:normAutofit fontScale="90000"/>
          </a:bodyPr>
          <a:lstStyle/>
          <a:p>
            <a:pPr algn="ctr" eaLnBrk="1" hangingPunct="1"/>
            <a:r>
              <a:rPr lang="en-US" altLang="en-US" sz="3000" b="1" dirty="0">
                <a:solidFill>
                  <a:schemeClr val="accent2"/>
                </a:solidFill>
                <a:latin typeface="Arial" panose="020B0604020202020204" pitchFamily="34" charset="0"/>
              </a:rPr>
              <a:t>Accrual vs. Cash-basis Accounting – Example 1</a:t>
            </a:r>
          </a:p>
        </p:txBody>
      </p:sp>
      <p:sp>
        <p:nvSpPr>
          <p:cNvPr id="26627" name="Rectangle 3"/>
          <p:cNvSpPr>
            <a:spLocks noGrp="1" noChangeArrowheads="1"/>
          </p:cNvSpPr>
          <p:nvPr>
            <p:ph type="body" idx="4294967295"/>
          </p:nvPr>
        </p:nvSpPr>
        <p:spPr>
          <a:xfrm>
            <a:off x="409432" y="928048"/>
            <a:ext cx="8318931" cy="1191697"/>
          </a:xfrm>
        </p:spPr>
        <p:txBody>
          <a:bodyPr lIns="90488" tIns="44450" rIns="90488" bIns="44450">
            <a:normAutofit fontScale="92500" lnSpcReduction="10000"/>
          </a:bodyPr>
          <a:lstStyle/>
          <a:p>
            <a:pPr algn="just">
              <a:lnSpc>
                <a:spcPct val="150000"/>
              </a:lnSpc>
              <a:buClr>
                <a:schemeClr val="accent2"/>
              </a:buClr>
              <a:defRPr/>
            </a:pPr>
            <a:r>
              <a:rPr lang="en-US" altLang="en-US" b="1" dirty="0">
                <a:solidFill>
                  <a:schemeClr val="accent2"/>
                </a:solidFill>
                <a:latin typeface="Arial" panose="020B0604020202020204" pitchFamily="34" charset="0"/>
              </a:rPr>
              <a:t>ABC Inc. makes a $20K sale on </a:t>
            </a:r>
            <a:r>
              <a:rPr lang="en-US" altLang="en-US" b="1" dirty="0">
                <a:latin typeface="Arial" panose="020B0604020202020204" pitchFamily="34" charset="0"/>
              </a:rPr>
              <a:t>account and the product is delivered to the customer.</a:t>
            </a:r>
            <a:endParaRPr lang="en-US" altLang="en-US" dirty="0">
              <a:latin typeface="Arial" panose="020B0604020202020204" pitchFamily="34" charset="0"/>
            </a:endParaRPr>
          </a:p>
          <a:p>
            <a:pPr algn="just">
              <a:lnSpc>
                <a:spcPct val="150000"/>
              </a:lnSpc>
              <a:buClr>
                <a:schemeClr val="accent2"/>
              </a:buClr>
              <a:defRPr/>
            </a:pPr>
            <a:endParaRPr lang="en-US" altLang="en-US" dirty="0">
              <a:solidFill>
                <a:schemeClr val="accent2"/>
              </a:solidFill>
              <a:latin typeface="Arial" panose="020B0604020202020204" pitchFamily="34" charset="0"/>
            </a:endParaRPr>
          </a:p>
          <a:p>
            <a:pPr marL="0" indent="0" algn="just" eaLnBrk="1" hangingPunct="1">
              <a:lnSpc>
                <a:spcPct val="150000"/>
              </a:lnSpc>
              <a:buClr>
                <a:schemeClr val="accent2"/>
              </a:buClr>
              <a:buNone/>
              <a:defRPr/>
            </a:pPr>
            <a:endParaRPr lang="en-US" altLang="en-US" sz="2200" b="1" dirty="0">
              <a:solidFill>
                <a:schemeClr val="accent2"/>
              </a:solidFill>
              <a:ea typeface="ＭＳ Ｐゴシック" pitchFamily="34" charset="-128"/>
            </a:endParaRPr>
          </a:p>
        </p:txBody>
      </p:sp>
      <p:sp>
        <p:nvSpPr>
          <p:cNvPr id="2" name="TextBox 1">
            <a:extLst>
              <a:ext uri="{FF2B5EF4-FFF2-40B4-BE49-F238E27FC236}">
                <a16:creationId xmlns:a16="http://schemas.microsoft.com/office/drawing/2014/main" id="{D439D772-A00A-0C59-2BD8-D7720335A283}"/>
              </a:ext>
            </a:extLst>
          </p:cNvPr>
          <p:cNvSpPr txBox="1"/>
          <p:nvPr/>
        </p:nvSpPr>
        <p:spPr>
          <a:xfrm>
            <a:off x="409433" y="2119745"/>
            <a:ext cx="2735549" cy="2533963"/>
          </a:xfrm>
          <a:prstGeom prst="rect">
            <a:avLst/>
          </a:prstGeom>
          <a:noFill/>
        </p:spPr>
        <p:txBody>
          <a:bodyPr wrap="square" rtlCol="0">
            <a:spAutoFit/>
          </a:bodyPr>
          <a:lstStyle/>
          <a:p>
            <a:pPr lvl="1">
              <a:lnSpc>
                <a:spcPct val="150000"/>
              </a:lnSpc>
              <a:buClr>
                <a:schemeClr val="accent2"/>
              </a:buClr>
              <a:defRPr/>
            </a:pPr>
            <a:r>
              <a:rPr lang="en-US" altLang="en-US" b="1" u="sng" dirty="0">
                <a:solidFill>
                  <a:schemeClr val="accent2"/>
                </a:solidFill>
                <a:latin typeface="Arial" panose="020B0604020202020204" pitchFamily="34" charset="0"/>
              </a:rPr>
              <a:t>CASH-BASIS</a:t>
            </a:r>
            <a:r>
              <a:rPr lang="en-US" altLang="en-US" b="1" dirty="0">
                <a:solidFill>
                  <a:schemeClr val="accent2"/>
                </a:solidFill>
                <a:latin typeface="Arial" panose="020B0604020202020204" pitchFamily="34" charset="0"/>
              </a:rPr>
              <a:t> </a:t>
            </a:r>
          </a:p>
          <a:p>
            <a:pPr lvl="1">
              <a:lnSpc>
                <a:spcPct val="150000"/>
              </a:lnSpc>
              <a:buClr>
                <a:schemeClr val="accent2"/>
              </a:buClr>
              <a:defRPr/>
            </a:pPr>
            <a:r>
              <a:rPr lang="en-US" altLang="en-US" dirty="0">
                <a:solidFill>
                  <a:schemeClr val="accent2"/>
                </a:solidFill>
                <a:latin typeface="Arial" panose="020B0604020202020204" pitchFamily="34" charset="0"/>
              </a:rPr>
              <a:t>ABC Inc. does </a:t>
            </a:r>
            <a:r>
              <a:rPr lang="en-US" altLang="en-US" i="1" dirty="0">
                <a:solidFill>
                  <a:schemeClr val="accent2"/>
                </a:solidFill>
                <a:latin typeface="Arial" panose="020B0604020202020204" pitchFamily="34" charset="0"/>
              </a:rPr>
              <a:t>not</a:t>
            </a:r>
            <a:r>
              <a:rPr lang="en-US" altLang="en-US" dirty="0">
                <a:solidFill>
                  <a:schemeClr val="accent2"/>
                </a:solidFill>
                <a:latin typeface="Arial" panose="020B0604020202020204" pitchFamily="34" charset="0"/>
              </a:rPr>
              <a:t> record this transaction until cash is received from the customer.</a:t>
            </a:r>
          </a:p>
        </p:txBody>
      </p:sp>
      <p:sp>
        <p:nvSpPr>
          <p:cNvPr id="3" name="TextBox 2">
            <a:extLst>
              <a:ext uri="{FF2B5EF4-FFF2-40B4-BE49-F238E27FC236}">
                <a16:creationId xmlns:a16="http://schemas.microsoft.com/office/drawing/2014/main" id="{ECE45E76-ECA6-E029-8F73-6CF64E89BCFA}"/>
              </a:ext>
            </a:extLst>
          </p:cNvPr>
          <p:cNvSpPr txBox="1"/>
          <p:nvPr/>
        </p:nvSpPr>
        <p:spPr>
          <a:xfrm>
            <a:off x="3144982" y="2119745"/>
            <a:ext cx="5583381" cy="5026954"/>
          </a:xfrm>
          <a:prstGeom prst="rect">
            <a:avLst/>
          </a:prstGeom>
          <a:noFill/>
        </p:spPr>
        <p:txBody>
          <a:bodyPr wrap="square" rtlCol="0">
            <a:spAutoFit/>
          </a:bodyPr>
          <a:lstStyle/>
          <a:p>
            <a:pPr lvl="1">
              <a:lnSpc>
                <a:spcPct val="150000"/>
              </a:lnSpc>
              <a:buClr>
                <a:schemeClr val="accent2"/>
              </a:buClr>
              <a:defRPr/>
            </a:pPr>
            <a:r>
              <a:rPr lang="en-US" altLang="en-US" b="1" u="sng" dirty="0">
                <a:solidFill>
                  <a:schemeClr val="accent2"/>
                </a:solidFill>
                <a:latin typeface="Arial" panose="020B0604020202020204" pitchFamily="34" charset="0"/>
              </a:rPr>
              <a:t>ACCRUAL ACCOUNTING</a:t>
            </a:r>
            <a:r>
              <a:rPr lang="en-US" altLang="en-US" dirty="0">
                <a:solidFill>
                  <a:schemeClr val="accent2"/>
                </a:solidFill>
                <a:latin typeface="Arial" panose="020B0604020202020204" pitchFamily="34" charset="0"/>
              </a:rPr>
              <a:t>, What matters is whether ABC Inc. has acquired an asset, earned revenue, taken on a liability, or incurred an expense. In this example, ABC Inc. earned $20K in revenue because it fulfills its obligation (delivered the product to customer), and acquired $20K in asset (A/R) in return.</a:t>
            </a:r>
            <a:r>
              <a:rPr lang="en-US" altLang="en-US" b="1" dirty="0">
                <a:solidFill>
                  <a:schemeClr val="accent2"/>
                </a:solidFill>
                <a:latin typeface="Arial" panose="020B0604020202020204" pitchFamily="34" charset="0"/>
                <a:sym typeface="Wingdings" panose="05000000000000000000" pitchFamily="2" charset="2"/>
              </a:rPr>
              <a:t> Since this transaction results in an asset (A/R) and revenue, ABC Inc. records it under Accrual Accounting.</a:t>
            </a:r>
          </a:p>
          <a:p>
            <a:pPr lvl="1">
              <a:lnSpc>
                <a:spcPct val="150000"/>
              </a:lnSpc>
              <a:buClr>
                <a:schemeClr val="accent2"/>
              </a:buClr>
              <a:defRPr/>
            </a:pPr>
            <a:r>
              <a:rPr lang="en-US" altLang="en-US" dirty="0">
                <a:solidFill>
                  <a:schemeClr val="accent2"/>
                </a:solidFill>
                <a:latin typeface="Arial" panose="020B0604020202020204" pitchFamily="34" charset="0"/>
              </a:rPr>
              <a:t>(receipt of cash is irrelevant)</a:t>
            </a:r>
            <a:endParaRPr lang="en-US" altLang="en-US" b="1" dirty="0">
              <a:solidFill>
                <a:schemeClr val="accent2"/>
              </a:solidFill>
              <a:latin typeface="Arial" panose="020B0604020202020204" pitchFamily="34" charset="0"/>
            </a:endParaRPr>
          </a:p>
          <a:p>
            <a:pPr lvl="1">
              <a:lnSpc>
                <a:spcPct val="150000"/>
              </a:lnSpc>
              <a:buClr>
                <a:schemeClr val="accent2"/>
              </a:buClr>
              <a:defRPr/>
            </a:pPr>
            <a:endParaRPr lang="en-US" altLang="en-US" dirty="0">
              <a:solidFill>
                <a:schemeClr val="accent2"/>
              </a:solidFill>
              <a:latin typeface="Arial" panose="020B0604020202020204" pitchFamily="34" charset="0"/>
            </a:endParaRPr>
          </a:p>
        </p:txBody>
      </p:sp>
    </p:spTree>
    <p:extLst>
      <p:ext uri="{BB962C8B-B14F-4D97-AF65-F5344CB8AC3E}">
        <p14:creationId xmlns:p14="http://schemas.microsoft.com/office/powerpoint/2010/main" val="774007206"/>
      </p:ext>
    </p:extLst>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6"/>
          <p:cNvSpPr>
            <a:spLocks noGrp="1" noChangeArrowheads="1"/>
          </p:cNvSpPr>
          <p:nvPr>
            <p:ph type="title" idx="4294967295"/>
          </p:nvPr>
        </p:nvSpPr>
        <p:spPr>
          <a:xfrm>
            <a:off x="177800" y="517478"/>
            <a:ext cx="8966200" cy="533400"/>
          </a:xfrm>
        </p:spPr>
        <p:txBody>
          <a:bodyPr>
            <a:normAutofit fontScale="90000"/>
          </a:bodyPr>
          <a:lstStyle/>
          <a:p>
            <a:pPr algn="ctr" eaLnBrk="1" hangingPunct="1"/>
            <a:r>
              <a:rPr lang="en-US" altLang="en-US" sz="3000" b="1" dirty="0">
                <a:solidFill>
                  <a:schemeClr val="accent2"/>
                </a:solidFill>
                <a:latin typeface="Arial" panose="020B0604020202020204" pitchFamily="34" charset="0"/>
              </a:rPr>
              <a:t>Accrual vs. Cash-basis Accounting – Example 2</a:t>
            </a:r>
          </a:p>
        </p:txBody>
      </p:sp>
      <p:sp>
        <p:nvSpPr>
          <p:cNvPr id="26627" name="Rectangle 3"/>
          <p:cNvSpPr>
            <a:spLocks noGrp="1" noChangeArrowheads="1"/>
          </p:cNvSpPr>
          <p:nvPr>
            <p:ph type="body" idx="4294967295"/>
          </p:nvPr>
        </p:nvSpPr>
        <p:spPr>
          <a:xfrm>
            <a:off x="409432" y="928048"/>
            <a:ext cx="8318931" cy="1191697"/>
          </a:xfrm>
        </p:spPr>
        <p:txBody>
          <a:bodyPr lIns="90488" tIns="44450" rIns="90488" bIns="44450">
            <a:normAutofit fontScale="92500" lnSpcReduction="10000"/>
          </a:bodyPr>
          <a:lstStyle/>
          <a:p>
            <a:pPr marL="0" indent="0" algn="just">
              <a:lnSpc>
                <a:spcPct val="150000"/>
              </a:lnSpc>
              <a:buClr>
                <a:schemeClr val="accent2"/>
              </a:buClr>
              <a:buNone/>
              <a:defRPr/>
            </a:pPr>
            <a:r>
              <a:rPr lang="en-US" altLang="en-US" b="1" dirty="0">
                <a:solidFill>
                  <a:schemeClr val="accent2"/>
                </a:solidFill>
                <a:latin typeface="Arial" panose="020B0604020202020204" pitchFamily="34" charset="0"/>
              </a:rPr>
              <a:t>ABC Inc. purchased $50K of inventory on account from supplier and received the inventory items.</a:t>
            </a:r>
            <a:endParaRPr lang="en-US" altLang="en-US" dirty="0">
              <a:solidFill>
                <a:schemeClr val="accent2"/>
              </a:solidFill>
              <a:latin typeface="Arial" panose="020B0604020202020204" pitchFamily="34" charset="0"/>
            </a:endParaRPr>
          </a:p>
          <a:p>
            <a:pPr algn="just">
              <a:lnSpc>
                <a:spcPct val="150000"/>
              </a:lnSpc>
              <a:buClr>
                <a:schemeClr val="accent2"/>
              </a:buClr>
              <a:defRPr/>
            </a:pPr>
            <a:endParaRPr lang="en-US" altLang="en-US" dirty="0">
              <a:solidFill>
                <a:schemeClr val="accent2"/>
              </a:solidFill>
              <a:latin typeface="Arial" panose="020B0604020202020204" pitchFamily="34" charset="0"/>
            </a:endParaRPr>
          </a:p>
          <a:p>
            <a:pPr marL="0" indent="0" algn="just" eaLnBrk="1" hangingPunct="1">
              <a:lnSpc>
                <a:spcPct val="150000"/>
              </a:lnSpc>
              <a:buClr>
                <a:schemeClr val="accent2"/>
              </a:buClr>
              <a:buNone/>
              <a:defRPr/>
            </a:pPr>
            <a:endParaRPr lang="en-US" altLang="en-US" sz="2200" b="1" dirty="0">
              <a:solidFill>
                <a:schemeClr val="accent2"/>
              </a:solidFill>
              <a:ea typeface="ＭＳ Ｐゴシック" pitchFamily="34" charset="-128"/>
            </a:endParaRPr>
          </a:p>
        </p:txBody>
      </p:sp>
      <p:sp>
        <p:nvSpPr>
          <p:cNvPr id="2" name="TextBox 1">
            <a:extLst>
              <a:ext uri="{FF2B5EF4-FFF2-40B4-BE49-F238E27FC236}">
                <a16:creationId xmlns:a16="http://schemas.microsoft.com/office/drawing/2014/main" id="{D439D772-A00A-0C59-2BD8-D7720335A283}"/>
              </a:ext>
            </a:extLst>
          </p:cNvPr>
          <p:cNvSpPr txBox="1"/>
          <p:nvPr/>
        </p:nvSpPr>
        <p:spPr>
          <a:xfrm>
            <a:off x="409433" y="2119745"/>
            <a:ext cx="2735549" cy="2533963"/>
          </a:xfrm>
          <a:prstGeom prst="rect">
            <a:avLst/>
          </a:prstGeom>
          <a:noFill/>
        </p:spPr>
        <p:txBody>
          <a:bodyPr wrap="square" rtlCol="0">
            <a:spAutoFit/>
          </a:bodyPr>
          <a:lstStyle/>
          <a:p>
            <a:pPr lvl="1">
              <a:lnSpc>
                <a:spcPct val="150000"/>
              </a:lnSpc>
              <a:buClr>
                <a:schemeClr val="accent2"/>
              </a:buClr>
              <a:defRPr/>
            </a:pPr>
            <a:r>
              <a:rPr lang="en-US" altLang="en-US" b="1" u="sng" dirty="0">
                <a:solidFill>
                  <a:schemeClr val="accent2"/>
                </a:solidFill>
                <a:latin typeface="Arial" panose="020B0604020202020204" pitchFamily="34" charset="0"/>
              </a:rPr>
              <a:t>CASH-BASIS</a:t>
            </a:r>
            <a:r>
              <a:rPr lang="en-US" altLang="en-US" b="1" dirty="0">
                <a:solidFill>
                  <a:schemeClr val="accent2"/>
                </a:solidFill>
                <a:latin typeface="Arial" panose="020B0604020202020204" pitchFamily="34" charset="0"/>
              </a:rPr>
              <a:t> </a:t>
            </a:r>
          </a:p>
          <a:p>
            <a:pPr lvl="1">
              <a:lnSpc>
                <a:spcPct val="150000"/>
              </a:lnSpc>
              <a:buClr>
                <a:schemeClr val="accent2"/>
              </a:buClr>
              <a:defRPr/>
            </a:pPr>
            <a:r>
              <a:rPr lang="en-US" altLang="en-US" dirty="0">
                <a:solidFill>
                  <a:schemeClr val="accent2"/>
                </a:solidFill>
                <a:latin typeface="Arial" panose="020B0604020202020204" pitchFamily="34" charset="0"/>
              </a:rPr>
              <a:t>ABC Inc. does </a:t>
            </a:r>
            <a:r>
              <a:rPr lang="en-US" altLang="en-US" i="1" dirty="0">
                <a:solidFill>
                  <a:schemeClr val="accent2"/>
                </a:solidFill>
                <a:latin typeface="Arial" panose="020B0604020202020204" pitchFamily="34" charset="0"/>
              </a:rPr>
              <a:t>not</a:t>
            </a:r>
            <a:r>
              <a:rPr lang="en-US" altLang="en-US" dirty="0">
                <a:solidFill>
                  <a:schemeClr val="accent2"/>
                </a:solidFill>
                <a:latin typeface="Arial" panose="020B0604020202020204" pitchFamily="34" charset="0"/>
              </a:rPr>
              <a:t> record this transaction until it pays $50K to its suppliers.</a:t>
            </a:r>
          </a:p>
        </p:txBody>
      </p:sp>
      <p:sp>
        <p:nvSpPr>
          <p:cNvPr id="3" name="TextBox 2">
            <a:extLst>
              <a:ext uri="{FF2B5EF4-FFF2-40B4-BE49-F238E27FC236}">
                <a16:creationId xmlns:a16="http://schemas.microsoft.com/office/drawing/2014/main" id="{ECE45E76-ECA6-E029-8F73-6CF64E89BCFA}"/>
              </a:ext>
            </a:extLst>
          </p:cNvPr>
          <p:cNvSpPr txBox="1"/>
          <p:nvPr/>
        </p:nvSpPr>
        <p:spPr>
          <a:xfrm>
            <a:off x="2590800" y="2119745"/>
            <a:ext cx="6137563" cy="4195957"/>
          </a:xfrm>
          <a:prstGeom prst="rect">
            <a:avLst/>
          </a:prstGeom>
          <a:noFill/>
        </p:spPr>
        <p:txBody>
          <a:bodyPr wrap="square" rtlCol="0">
            <a:spAutoFit/>
          </a:bodyPr>
          <a:lstStyle/>
          <a:p>
            <a:pPr lvl="2">
              <a:lnSpc>
                <a:spcPct val="150000"/>
              </a:lnSpc>
              <a:buClr>
                <a:schemeClr val="accent2"/>
              </a:buClr>
              <a:defRPr/>
            </a:pPr>
            <a:r>
              <a:rPr lang="en-US" altLang="en-US" b="1" u="sng" dirty="0">
                <a:solidFill>
                  <a:schemeClr val="accent2"/>
                </a:solidFill>
                <a:latin typeface="Arial" panose="020B0604020202020204" pitchFamily="34" charset="0"/>
              </a:rPr>
              <a:t>ACCRUAL ACCOUNTING</a:t>
            </a:r>
            <a:r>
              <a:rPr lang="en-US" altLang="en-US" dirty="0">
                <a:solidFill>
                  <a:schemeClr val="accent2"/>
                </a:solidFill>
                <a:latin typeface="Arial" panose="020B0604020202020204" pitchFamily="34" charset="0"/>
              </a:rPr>
              <a:t>, What matters is whether it has acquired an asset, earned revenue, taken on a liability, or incurred an expense.  In this example, ABC Inc. acquired $50K in assets (inventory) that can sell and took on $50K in liability (A/P)  </a:t>
            </a:r>
            <a:r>
              <a:rPr lang="en-US" altLang="en-US" dirty="0">
                <a:solidFill>
                  <a:schemeClr val="accent2"/>
                </a:solidFill>
                <a:latin typeface="Arial" panose="020B0604020202020204" pitchFamily="34" charset="0"/>
                <a:sym typeface="Wingdings" panose="05000000000000000000" pitchFamily="2" charset="2"/>
              </a:rPr>
              <a:t> </a:t>
            </a:r>
            <a:r>
              <a:rPr lang="en-US" altLang="en-US" b="1" dirty="0">
                <a:solidFill>
                  <a:schemeClr val="accent2"/>
                </a:solidFill>
                <a:latin typeface="Arial" panose="020B0604020202020204" pitchFamily="34" charset="0"/>
                <a:sym typeface="Wingdings" panose="05000000000000000000" pitchFamily="2" charset="2"/>
              </a:rPr>
              <a:t>Since this transaction results in an asset and liability, ABC Inc. records it under Accrual Accounting</a:t>
            </a:r>
          </a:p>
          <a:p>
            <a:pPr lvl="2">
              <a:lnSpc>
                <a:spcPct val="150000"/>
              </a:lnSpc>
              <a:buClr>
                <a:schemeClr val="accent2"/>
              </a:buClr>
              <a:defRPr/>
            </a:pPr>
            <a:r>
              <a:rPr lang="en-US" altLang="en-US" dirty="0">
                <a:solidFill>
                  <a:schemeClr val="accent2"/>
                </a:solidFill>
                <a:latin typeface="Arial" panose="020B0604020202020204" pitchFamily="34" charset="0"/>
              </a:rPr>
              <a:t>(receipt of cash is irrelevant)</a:t>
            </a:r>
            <a:endParaRPr lang="en-US" altLang="en-US" b="1" dirty="0">
              <a:solidFill>
                <a:schemeClr val="accent2"/>
              </a:solidFill>
              <a:latin typeface="Arial" panose="020B0604020202020204" pitchFamily="34" charset="0"/>
            </a:endParaRPr>
          </a:p>
          <a:p>
            <a:pPr lvl="1">
              <a:lnSpc>
                <a:spcPct val="150000"/>
              </a:lnSpc>
              <a:buClr>
                <a:schemeClr val="accent2"/>
              </a:buClr>
              <a:defRPr/>
            </a:pPr>
            <a:endParaRPr lang="en-US" altLang="en-US" dirty="0">
              <a:solidFill>
                <a:schemeClr val="accent2"/>
              </a:solidFill>
              <a:latin typeface="Arial" panose="020B0604020202020204" pitchFamily="34" charset="0"/>
            </a:endParaRPr>
          </a:p>
        </p:txBody>
      </p:sp>
    </p:spTree>
    <p:extLst>
      <p:ext uri="{BB962C8B-B14F-4D97-AF65-F5344CB8AC3E}">
        <p14:creationId xmlns:p14="http://schemas.microsoft.com/office/powerpoint/2010/main" val="1261066261"/>
      </p:ext>
    </p:extLst>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2221"/>
            <a:ext cx="8229600" cy="546628"/>
          </a:xfrm>
        </p:spPr>
        <p:txBody>
          <a:bodyPr>
            <a:normAutofit fontScale="90000"/>
          </a:bodyPr>
          <a:lstStyle/>
          <a:p>
            <a:pPr algn="ctr"/>
            <a:r>
              <a:rPr lang="en-US" altLang="en-US" dirty="0">
                <a:solidFill>
                  <a:srgbClr val="C00000"/>
                </a:solidFill>
              </a:rPr>
              <a:t>Exercise 3-13 (page 161)</a:t>
            </a:r>
            <a:endParaRPr lang="en-US" b="0" dirty="0">
              <a:solidFill>
                <a:srgbClr val="C00000"/>
              </a:solidFill>
            </a:endParaRPr>
          </a:p>
        </p:txBody>
      </p:sp>
      <p:sp>
        <p:nvSpPr>
          <p:cNvPr id="3" name="Content Placeholder 2"/>
          <p:cNvSpPr>
            <a:spLocks noGrp="1"/>
          </p:cNvSpPr>
          <p:nvPr>
            <p:ph idx="1"/>
          </p:nvPr>
        </p:nvSpPr>
        <p:spPr>
          <a:xfrm>
            <a:off x="152400" y="1219200"/>
            <a:ext cx="8839200" cy="5486400"/>
          </a:xfrm>
        </p:spPr>
        <p:txBody>
          <a:bodyPr>
            <a:normAutofit/>
          </a:bodyPr>
          <a:lstStyle/>
          <a:p>
            <a:pPr marL="0" indent="0">
              <a:lnSpc>
                <a:spcPct val="150000"/>
              </a:lnSpc>
              <a:buClr>
                <a:schemeClr val="accent2"/>
              </a:buClr>
              <a:buNone/>
              <a:defRPr/>
            </a:pPr>
            <a:r>
              <a:rPr lang="en-US" altLang="en-US" dirty="0">
                <a:solidFill>
                  <a:schemeClr val="accent2"/>
                </a:solidFill>
              </a:rPr>
              <a:t>During 2020, Valley Sales Inc. (VSI) earned revenues of $500,000 on account.  VSI collected $410,000 from customers during the year.  Expenses totalled $420,000 and the related cash payments were $400,000.  </a:t>
            </a:r>
          </a:p>
          <a:p>
            <a:pPr marL="457200" indent="-457200">
              <a:lnSpc>
                <a:spcPct val="150000"/>
              </a:lnSpc>
              <a:buClr>
                <a:schemeClr val="accent2"/>
              </a:buClr>
              <a:buFont typeface="+mj-lt"/>
              <a:buAutoNum type="arabicPeriod"/>
              <a:defRPr/>
            </a:pPr>
            <a:r>
              <a:rPr lang="en-US" altLang="en-US" sz="2200" dirty="0">
                <a:solidFill>
                  <a:schemeClr val="accent2"/>
                </a:solidFill>
              </a:rPr>
              <a:t>Compute VSI’s net income using both the cash basis and the accrual basis of accounting.</a:t>
            </a:r>
          </a:p>
          <a:p>
            <a:pPr marL="457200" indent="-457200">
              <a:lnSpc>
                <a:spcPct val="150000"/>
              </a:lnSpc>
              <a:buClr>
                <a:schemeClr val="accent2"/>
              </a:buClr>
              <a:buFont typeface="+mj-lt"/>
              <a:buAutoNum type="arabicPeriod"/>
              <a:defRPr/>
            </a:pPr>
            <a:r>
              <a:rPr lang="en-US" altLang="en-US" sz="2200" dirty="0">
                <a:solidFill>
                  <a:schemeClr val="accent2"/>
                </a:solidFill>
              </a:rPr>
              <a:t>If you were thinking of investing in VSI, which basis would you want the company to use to determine its net income and why?   </a:t>
            </a:r>
          </a:p>
        </p:txBody>
      </p:sp>
    </p:spTree>
    <p:extLst>
      <p:ext uri="{BB962C8B-B14F-4D97-AF65-F5344CB8AC3E}">
        <p14:creationId xmlns:p14="http://schemas.microsoft.com/office/powerpoint/2010/main" val="3192857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Two</a:t>
            </a:r>
          </a:p>
        </p:txBody>
      </p:sp>
      <p:sp>
        <p:nvSpPr>
          <p:cNvPr id="3" name="Subtitle 2"/>
          <p:cNvSpPr>
            <a:spLocks noGrp="1"/>
          </p:cNvSpPr>
          <p:nvPr>
            <p:ph type="subTitle" idx="1"/>
          </p:nvPr>
        </p:nvSpPr>
        <p:spPr/>
        <p:txBody>
          <a:bodyPr>
            <a:normAutofit lnSpcReduction="10000"/>
          </a:bodyPr>
          <a:lstStyle/>
          <a:p>
            <a:r>
              <a:rPr lang="en-US" altLang="en-US" b="1" dirty="0">
                <a:ea typeface="ＭＳ Ｐゴシック" pitchFamily="34" charset="-128"/>
              </a:rPr>
              <a:t>Apply</a:t>
            </a:r>
            <a:r>
              <a:rPr lang="en-US" altLang="en-US" dirty="0">
                <a:ea typeface="ＭＳ Ｐゴシック" pitchFamily="34" charset="-128"/>
              </a:rPr>
              <a:t> the revenue and expense recognition principles</a:t>
            </a:r>
            <a:endParaRPr lang="en-US" dirty="0"/>
          </a:p>
        </p:txBody>
      </p:sp>
    </p:spTree>
    <p:extLst>
      <p:ext uri="{BB962C8B-B14F-4D97-AF65-F5344CB8AC3E}">
        <p14:creationId xmlns:p14="http://schemas.microsoft.com/office/powerpoint/2010/main" val="1212143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
          <p:cNvSpPr>
            <a:spLocks noGrp="1" noChangeArrowheads="1"/>
          </p:cNvSpPr>
          <p:nvPr>
            <p:ph type="title" idx="4294967295"/>
          </p:nvPr>
        </p:nvSpPr>
        <p:spPr>
          <a:xfrm>
            <a:off x="343433" y="528851"/>
            <a:ext cx="8229600" cy="792163"/>
          </a:xfrm>
        </p:spPr>
        <p:txBody>
          <a:bodyPr anchor="ctr">
            <a:normAutofit fontScale="90000"/>
          </a:bodyPr>
          <a:lstStyle/>
          <a:p>
            <a:pPr algn="ctr" eaLnBrk="1" hangingPunct="1"/>
            <a:r>
              <a:rPr lang="en-CA" altLang="en-US" b="1" dirty="0">
                <a:solidFill>
                  <a:schemeClr val="accent2"/>
                </a:solidFill>
                <a:latin typeface="Arial" panose="020B0604020202020204" pitchFamily="34" charset="0"/>
              </a:rPr>
              <a:t>Accrual Accounting – Two Principles</a:t>
            </a:r>
            <a:endParaRPr lang="en-CA" altLang="en-US" dirty="0">
              <a:solidFill>
                <a:schemeClr val="accent2"/>
              </a:solidFill>
            </a:endParaRPr>
          </a:p>
        </p:txBody>
      </p:sp>
      <p:sp>
        <p:nvSpPr>
          <p:cNvPr id="25607" name="TextBox 7"/>
          <p:cNvSpPr txBox="1">
            <a:spLocks noChangeArrowheads="1"/>
          </p:cNvSpPr>
          <p:nvPr/>
        </p:nvSpPr>
        <p:spPr bwMode="auto">
          <a:xfrm>
            <a:off x="203200" y="1524000"/>
            <a:ext cx="8837613" cy="3967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56032" indent="-256032" algn="just" eaLnBrk="1" hangingPunct="1">
              <a:lnSpc>
                <a:spcPct val="150000"/>
              </a:lnSpc>
              <a:spcBef>
                <a:spcPts val="1500"/>
              </a:spcBef>
              <a:buClr>
                <a:schemeClr val="accent2"/>
              </a:buClr>
              <a:buSzPct val="100000"/>
              <a:buFont typeface="Arial" panose="020B0604020202020204" pitchFamily="34" charset="0"/>
              <a:buChar char="•"/>
              <a:defRPr/>
            </a:pPr>
            <a:r>
              <a:rPr lang="en-CA" altLang="en-US" sz="2300" b="1" dirty="0">
                <a:solidFill>
                  <a:srgbClr val="FF0000"/>
                </a:solidFill>
                <a:latin typeface="+mn-lt"/>
                <a:ea typeface="ＭＳ Ｐゴシック" pitchFamily="34" charset="-128"/>
                <a:cs typeface="+mn-cs"/>
              </a:rPr>
              <a:t>Revenues</a:t>
            </a:r>
            <a:r>
              <a:rPr lang="en-CA" altLang="en-US" sz="2300" dirty="0">
                <a:solidFill>
                  <a:schemeClr val="accent2"/>
                </a:solidFill>
                <a:latin typeface="+mn-lt"/>
                <a:ea typeface="ＭＳ Ｐゴシック" pitchFamily="34" charset="-128"/>
                <a:cs typeface="+mn-cs"/>
              </a:rPr>
              <a:t> are recognized when they are earned.</a:t>
            </a:r>
          </a:p>
          <a:p>
            <a:pPr marL="256032" indent="-256032" algn="just" eaLnBrk="1" hangingPunct="1">
              <a:lnSpc>
                <a:spcPct val="150000"/>
              </a:lnSpc>
              <a:spcBef>
                <a:spcPts val="1500"/>
              </a:spcBef>
              <a:buClr>
                <a:schemeClr val="accent2"/>
              </a:buClr>
              <a:buSzPct val="100000"/>
              <a:buFont typeface="Arial" panose="020B0604020202020204" pitchFamily="34" charset="0"/>
              <a:buChar char="•"/>
              <a:defRPr/>
            </a:pPr>
            <a:r>
              <a:rPr lang="en-CA" altLang="en-US" sz="2300" b="1" dirty="0">
                <a:solidFill>
                  <a:srgbClr val="FF0000"/>
                </a:solidFill>
                <a:latin typeface="+mn-lt"/>
                <a:ea typeface="ＭＳ Ｐゴシック" pitchFamily="34" charset="-128"/>
                <a:cs typeface="+mn-cs"/>
              </a:rPr>
              <a:t>Expenses</a:t>
            </a:r>
            <a:r>
              <a:rPr lang="en-CA" altLang="en-US" sz="2300" dirty="0">
                <a:solidFill>
                  <a:schemeClr val="accent2"/>
                </a:solidFill>
                <a:latin typeface="+mn-lt"/>
                <a:ea typeface="ＭＳ Ｐゴシック" pitchFamily="34" charset="-128"/>
                <a:cs typeface="+mn-cs"/>
              </a:rPr>
              <a:t> are recognized when they are incurred.</a:t>
            </a:r>
          </a:p>
          <a:p>
            <a:pPr marL="256032" indent="-256032" algn="just" eaLnBrk="1" hangingPunct="1">
              <a:lnSpc>
                <a:spcPct val="150000"/>
              </a:lnSpc>
              <a:spcBef>
                <a:spcPts val="1500"/>
              </a:spcBef>
              <a:buClr>
                <a:schemeClr val="accent2"/>
              </a:buClr>
              <a:buSzPct val="100000"/>
              <a:buFont typeface="Arial" panose="020B0604020202020204" pitchFamily="34" charset="0"/>
              <a:buChar char="•"/>
              <a:defRPr/>
            </a:pPr>
            <a:r>
              <a:rPr lang="en-CA" altLang="en-US" sz="2300" dirty="0">
                <a:solidFill>
                  <a:schemeClr val="accent2"/>
                </a:solidFill>
                <a:latin typeface="+mn-lt"/>
                <a:ea typeface="ＭＳ Ｐゴシック" pitchFamily="34" charset="-128"/>
                <a:cs typeface="+mn-cs"/>
              </a:rPr>
              <a:t>There are 2 accrual accounting principles that determine when revenues and expenses are recognized:</a:t>
            </a:r>
          </a:p>
          <a:p>
            <a:pPr marL="1200150" lvl="1" indent="-457200" algn="just">
              <a:lnSpc>
                <a:spcPct val="150000"/>
              </a:lnSpc>
              <a:spcBef>
                <a:spcPts val="600"/>
              </a:spcBef>
              <a:buClr>
                <a:schemeClr val="accent2"/>
              </a:buClr>
              <a:buSzPct val="76000"/>
              <a:buFont typeface="+mj-lt"/>
              <a:buAutoNum type="arabicPeriod"/>
              <a:defRPr/>
            </a:pPr>
            <a:r>
              <a:rPr lang="en-CA" altLang="en-US" sz="2800" b="1" dirty="0">
                <a:solidFill>
                  <a:schemeClr val="accent2"/>
                </a:solidFill>
                <a:ea typeface="ＭＳ Ｐゴシック" pitchFamily="34" charset="-128"/>
              </a:rPr>
              <a:t>Revenue recognition principle</a:t>
            </a:r>
            <a:endParaRPr lang="en-CA" altLang="en-US" sz="2300" dirty="0">
              <a:solidFill>
                <a:schemeClr val="accent2"/>
              </a:solidFill>
              <a:ea typeface="ＭＳ Ｐゴシック" pitchFamily="34" charset="-128"/>
            </a:endParaRPr>
          </a:p>
          <a:p>
            <a:pPr marL="1200150" lvl="1" indent="-457200" algn="just">
              <a:lnSpc>
                <a:spcPct val="150000"/>
              </a:lnSpc>
              <a:spcBef>
                <a:spcPts val="600"/>
              </a:spcBef>
              <a:buClr>
                <a:schemeClr val="accent2"/>
              </a:buClr>
              <a:buSzPct val="76000"/>
              <a:buFont typeface="+mj-lt"/>
              <a:buAutoNum type="arabicPeriod"/>
              <a:defRPr/>
            </a:pPr>
            <a:r>
              <a:rPr lang="en-CA" altLang="en-US" sz="2800" b="1" dirty="0">
                <a:solidFill>
                  <a:schemeClr val="accent2"/>
                </a:solidFill>
                <a:ea typeface="ＭＳ Ｐゴシック" pitchFamily="34" charset="-128"/>
              </a:rPr>
              <a:t>Matching principle</a:t>
            </a:r>
            <a:endParaRPr lang="en-CA" altLang="en-US" sz="2300" b="1" dirty="0">
              <a:solidFill>
                <a:schemeClr val="accent2"/>
              </a:solidFill>
              <a:ea typeface="ＭＳ Ｐゴシック" pitchFamily="34" charset="-128"/>
            </a:endParaRPr>
          </a:p>
        </p:txBody>
      </p:sp>
    </p:spTree>
    <p:extLst>
      <p:ext uri="{BB962C8B-B14F-4D97-AF65-F5344CB8AC3E}">
        <p14:creationId xmlns:p14="http://schemas.microsoft.com/office/powerpoint/2010/main" val="109185600"/>
      </p:ext>
    </p:extLst>
  </p:cSld>
  <p:clrMapOvr>
    <a:masterClrMapping/>
  </p:clrMapOvr>
  <p:transition>
    <p:strips dir="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297EDD-A4BE-0C12-C22C-96EFB94A1067}"/>
              </a:ext>
            </a:extLst>
          </p:cNvPr>
          <p:cNvPicPr>
            <a:picLocks noChangeAspect="1"/>
          </p:cNvPicPr>
          <p:nvPr/>
        </p:nvPicPr>
        <p:blipFill>
          <a:blip r:embed="rId2"/>
          <a:stretch>
            <a:fillRect/>
          </a:stretch>
        </p:blipFill>
        <p:spPr>
          <a:xfrm>
            <a:off x="196850" y="984250"/>
            <a:ext cx="8750300" cy="4889500"/>
          </a:xfrm>
          <a:prstGeom prst="rect">
            <a:avLst/>
          </a:prstGeom>
        </p:spPr>
      </p:pic>
      <p:sp>
        <p:nvSpPr>
          <p:cNvPr id="4" name="Rectangle 1">
            <a:extLst>
              <a:ext uri="{FF2B5EF4-FFF2-40B4-BE49-F238E27FC236}">
                <a16:creationId xmlns:a16="http://schemas.microsoft.com/office/drawing/2014/main" id="{DBA8B408-9346-F971-B05D-314436E80EC6}"/>
              </a:ext>
            </a:extLst>
          </p:cNvPr>
          <p:cNvSpPr txBox="1">
            <a:spLocks/>
          </p:cNvSpPr>
          <p:nvPr/>
        </p:nvSpPr>
        <p:spPr>
          <a:xfrm>
            <a:off x="449262" y="539098"/>
            <a:ext cx="8245475" cy="604837"/>
          </a:xfrm>
          <a:prstGeom prst="rect">
            <a:avLst/>
          </a:prstGeom>
        </p:spPr>
        <p:txBody>
          <a:bodyPr vert="horz" lIns="91440" tIns="91440" rIns="91440" bIns="45720" rtlCol="0" anchor="ctr">
            <a:normAutofit fontScale="90000"/>
          </a:bodyPr>
          <a:lstStyle>
            <a:lvl1pPr algn="l" defTabSz="914377" rtl="0" eaLnBrk="1" latinLnBrk="0" hangingPunct="1">
              <a:lnSpc>
                <a:spcPct val="85000"/>
              </a:lnSpc>
              <a:spcBef>
                <a:spcPct val="0"/>
              </a:spcBef>
              <a:buNone/>
              <a:defRPr sz="3600" b="0" kern="1200" spc="51" baseline="0">
                <a:solidFill>
                  <a:schemeClr val="tx1"/>
                </a:solidFill>
                <a:latin typeface="+mj-lt"/>
                <a:ea typeface="+mj-ea"/>
                <a:cs typeface="+mj-cs"/>
              </a:defRPr>
            </a:lvl1pPr>
          </a:lstStyle>
          <a:p>
            <a:pPr algn="ctr"/>
            <a:r>
              <a:rPr lang="en-US" altLang="en-US" b="1">
                <a:solidFill>
                  <a:schemeClr val="accent2"/>
                </a:solidFill>
                <a:latin typeface="Arial" panose="020B0604020202020204" pitchFamily="34" charset="0"/>
              </a:rPr>
              <a:t>Expanded Accounting Equation - Recap</a:t>
            </a:r>
            <a:endParaRPr lang="en-US" altLang="en-US" b="1" dirty="0">
              <a:solidFill>
                <a:schemeClr val="accent2"/>
              </a:solidFill>
              <a:latin typeface="Arial" panose="020B0604020202020204" pitchFamily="34" charset="0"/>
            </a:endParaRPr>
          </a:p>
        </p:txBody>
      </p:sp>
      <p:sp>
        <p:nvSpPr>
          <p:cNvPr id="5" name="Rectangle 4">
            <a:extLst>
              <a:ext uri="{FF2B5EF4-FFF2-40B4-BE49-F238E27FC236}">
                <a16:creationId xmlns:a16="http://schemas.microsoft.com/office/drawing/2014/main" id="{E0497A60-985F-51AF-32D9-1AB2E271EB2A}"/>
              </a:ext>
            </a:extLst>
          </p:cNvPr>
          <p:cNvSpPr/>
          <p:nvPr/>
        </p:nvSpPr>
        <p:spPr>
          <a:xfrm>
            <a:off x="1108975" y="4194616"/>
            <a:ext cx="2909889" cy="1015663"/>
          </a:xfrm>
          <a:prstGeom prst="rect">
            <a:avLst/>
          </a:prstGeom>
        </p:spPr>
        <p:txBody>
          <a:bodyPr wrap="square">
            <a:spAutoFit/>
          </a:bodyPr>
          <a:lstStyle/>
          <a:p>
            <a:r>
              <a:rPr lang="en-CA" sz="2000" dirty="0">
                <a:solidFill>
                  <a:schemeClr val="accent2"/>
                </a:solidFill>
                <a:ea typeface="ＭＳ Ｐゴシック" pitchFamily="34" charset="-128"/>
              </a:rPr>
              <a:t>Reminder:</a:t>
            </a:r>
          </a:p>
          <a:p>
            <a:r>
              <a:rPr lang="en-CA" sz="2000" dirty="0">
                <a:solidFill>
                  <a:schemeClr val="accent2"/>
                </a:solidFill>
                <a:ea typeface="ＭＳ Ｐゴシック" pitchFamily="34" charset="-128"/>
              </a:rPr>
              <a:t>Revenue increase RE</a:t>
            </a:r>
          </a:p>
          <a:p>
            <a:r>
              <a:rPr lang="en-CA" sz="2000" dirty="0">
                <a:solidFill>
                  <a:schemeClr val="accent2"/>
                </a:solidFill>
                <a:ea typeface="ＭＳ Ｐゴシック" pitchFamily="34" charset="-128"/>
              </a:rPr>
              <a:t>Expense decrease RE</a:t>
            </a:r>
            <a:endParaRPr lang="en-CA" sz="2000" dirty="0"/>
          </a:p>
        </p:txBody>
      </p:sp>
      <p:sp>
        <p:nvSpPr>
          <p:cNvPr id="9" name="TextBox 8">
            <a:extLst>
              <a:ext uri="{FF2B5EF4-FFF2-40B4-BE49-F238E27FC236}">
                <a16:creationId xmlns:a16="http://schemas.microsoft.com/office/drawing/2014/main" id="{2D29CB43-191B-354D-FF61-57EB94C66072}"/>
              </a:ext>
            </a:extLst>
          </p:cNvPr>
          <p:cNvSpPr txBox="1"/>
          <p:nvPr/>
        </p:nvSpPr>
        <p:spPr>
          <a:xfrm>
            <a:off x="4018864" y="4194616"/>
            <a:ext cx="1604014" cy="400110"/>
          </a:xfrm>
          <a:prstGeom prst="rect">
            <a:avLst/>
          </a:prstGeom>
          <a:noFill/>
        </p:spPr>
        <p:txBody>
          <a:bodyPr wrap="square" rtlCol="0">
            <a:spAutoFit/>
          </a:bodyPr>
          <a:lstStyle/>
          <a:p>
            <a:pPr algn="ctr"/>
            <a:r>
              <a:rPr lang="en-US" sz="2000" dirty="0"/>
              <a:t>Revenue</a:t>
            </a:r>
          </a:p>
        </p:txBody>
      </p:sp>
      <p:sp>
        <p:nvSpPr>
          <p:cNvPr id="10" name="TextBox 9">
            <a:extLst>
              <a:ext uri="{FF2B5EF4-FFF2-40B4-BE49-F238E27FC236}">
                <a16:creationId xmlns:a16="http://schemas.microsoft.com/office/drawing/2014/main" id="{FDB58DBD-667F-E087-0F2A-2D24F1A59AED}"/>
              </a:ext>
            </a:extLst>
          </p:cNvPr>
          <p:cNvSpPr txBox="1"/>
          <p:nvPr/>
        </p:nvSpPr>
        <p:spPr>
          <a:xfrm>
            <a:off x="6232076" y="4194616"/>
            <a:ext cx="1604014" cy="400110"/>
          </a:xfrm>
          <a:prstGeom prst="rect">
            <a:avLst/>
          </a:prstGeom>
          <a:noFill/>
        </p:spPr>
        <p:txBody>
          <a:bodyPr wrap="square" rtlCol="0">
            <a:spAutoFit/>
          </a:bodyPr>
          <a:lstStyle/>
          <a:p>
            <a:pPr algn="ctr"/>
            <a:r>
              <a:rPr lang="en-US" sz="2000" dirty="0"/>
              <a:t>Expenses</a:t>
            </a:r>
          </a:p>
        </p:txBody>
      </p:sp>
      <p:sp>
        <p:nvSpPr>
          <p:cNvPr id="12" name="Oval 11">
            <a:extLst>
              <a:ext uri="{FF2B5EF4-FFF2-40B4-BE49-F238E27FC236}">
                <a16:creationId xmlns:a16="http://schemas.microsoft.com/office/drawing/2014/main" id="{781F2FED-F5D5-2737-E8F6-850099793FAB}"/>
              </a:ext>
            </a:extLst>
          </p:cNvPr>
          <p:cNvSpPr/>
          <p:nvPr/>
        </p:nvSpPr>
        <p:spPr>
          <a:xfrm>
            <a:off x="4930989" y="5210279"/>
            <a:ext cx="533400" cy="457200"/>
          </a:xfrm>
          <a:prstGeom prst="ellipse">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 name="Oval 12">
            <a:extLst>
              <a:ext uri="{FF2B5EF4-FFF2-40B4-BE49-F238E27FC236}">
                <a16:creationId xmlns:a16="http://schemas.microsoft.com/office/drawing/2014/main" id="{B9FD372E-74E4-373F-2E8E-B3DC54B8D6BC}"/>
              </a:ext>
            </a:extLst>
          </p:cNvPr>
          <p:cNvSpPr/>
          <p:nvPr/>
        </p:nvSpPr>
        <p:spPr>
          <a:xfrm>
            <a:off x="6340440" y="5210279"/>
            <a:ext cx="533400" cy="457200"/>
          </a:xfrm>
          <a:prstGeom prst="ellipse">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Tree>
    <p:extLst>
      <p:ext uri="{BB962C8B-B14F-4D97-AF65-F5344CB8AC3E}">
        <p14:creationId xmlns:p14="http://schemas.microsoft.com/office/powerpoint/2010/main" val="330755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533400" y="1048011"/>
            <a:ext cx="8382000" cy="1301087"/>
          </a:xfrm>
          <a:prstGeom prst="roundRect">
            <a:avLst/>
          </a:prstGeom>
          <a:solidFill>
            <a:schemeClr val="accent1">
              <a:lumMod val="20000"/>
              <a:lumOff val="80000"/>
              <a:alpha val="5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2000" dirty="0" err="1"/>
          </a:p>
        </p:txBody>
      </p:sp>
      <p:sp>
        <p:nvSpPr>
          <p:cNvPr id="51202" name="Rectangle 6"/>
          <p:cNvSpPr>
            <a:spLocks noGrp="1" noChangeArrowheads="1"/>
          </p:cNvSpPr>
          <p:nvPr>
            <p:ph type="title" idx="4294967295"/>
          </p:nvPr>
        </p:nvSpPr>
        <p:spPr>
          <a:xfrm>
            <a:off x="-9939" y="419100"/>
            <a:ext cx="9039226" cy="533400"/>
          </a:xfrm>
        </p:spPr>
        <p:txBody>
          <a:bodyPr>
            <a:normAutofit fontScale="90000"/>
          </a:bodyPr>
          <a:lstStyle/>
          <a:p>
            <a:pPr algn="ctr" eaLnBrk="1" hangingPunct="1"/>
            <a:r>
              <a:rPr lang="en-US" altLang="en-US" sz="3200" b="1" dirty="0">
                <a:solidFill>
                  <a:schemeClr val="accent2"/>
                </a:solidFill>
              </a:rPr>
              <a:t>Revenue Definition based on accounting equation</a:t>
            </a:r>
          </a:p>
        </p:txBody>
      </p:sp>
      <p:sp>
        <p:nvSpPr>
          <p:cNvPr id="26627" name="Rectangle 3"/>
          <p:cNvSpPr>
            <a:spLocks noGrp="1" noChangeArrowheads="1"/>
          </p:cNvSpPr>
          <p:nvPr>
            <p:ph type="body" idx="4294967295"/>
          </p:nvPr>
        </p:nvSpPr>
        <p:spPr>
          <a:xfrm>
            <a:off x="533400" y="952500"/>
            <a:ext cx="8030035" cy="4954137"/>
          </a:xfrm>
        </p:spPr>
        <p:txBody>
          <a:bodyPr lIns="90488" tIns="44450" rIns="90488" bIns="44450">
            <a:normAutofit fontScale="92500" lnSpcReduction="10000"/>
          </a:bodyPr>
          <a:lstStyle/>
          <a:p>
            <a:pPr marL="457200" lvl="1" indent="0" algn="ctr">
              <a:lnSpc>
                <a:spcPct val="150000"/>
              </a:lnSpc>
              <a:buClr>
                <a:schemeClr val="accent2"/>
              </a:buClr>
              <a:buNone/>
              <a:defRPr/>
            </a:pPr>
            <a:r>
              <a:rPr lang="en-CA" altLang="en-US" sz="2200" dirty="0">
                <a:solidFill>
                  <a:schemeClr val="accent2"/>
                </a:solidFill>
                <a:ea typeface="ＭＳ Ｐゴシック" pitchFamily="34" charset="-128"/>
              </a:rPr>
              <a:t>Revenue is earned when </a:t>
            </a:r>
            <a:r>
              <a:rPr lang="en-CA" altLang="en-US" sz="2200" b="1" u="sng" dirty="0">
                <a:solidFill>
                  <a:schemeClr val="accent2"/>
                </a:solidFill>
                <a:ea typeface="ＭＳ Ｐゴシック" pitchFamily="34" charset="-128"/>
              </a:rPr>
              <a:t>ordinary</a:t>
            </a:r>
            <a:r>
              <a:rPr lang="en-CA" altLang="en-US" sz="2200" dirty="0">
                <a:solidFill>
                  <a:schemeClr val="accent2"/>
                </a:solidFill>
                <a:ea typeface="ＭＳ Ｐゴシック" pitchFamily="34" charset="-128"/>
              </a:rPr>
              <a:t> business activities results in increases in both (1) assets and (2) SE, </a:t>
            </a:r>
            <a:r>
              <a:rPr lang="en-CA" altLang="en-US" sz="2200" u="sng" dirty="0">
                <a:solidFill>
                  <a:schemeClr val="accent2"/>
                </a:solidFill>
                <a:ea typeface="ＭＳ Ｐゴシック" pitchFamily="34" charset="-128"/>
              </a:rPr>
              <a:t>other than when shareholders contribute capital to the business</a:t>
            </a:r>
            <a:r>
              <a:rPr lang="en-CA" altLang="en-US" sz="2200" dirty="0">
                <a:solidFill>
                  <a:schemeClr val="accent2"/>
                </a:solidFill>
                <a:ea typeface="ＭＳ Ｐゴシック" pitchFamily="34" charset="-128"/>
              </a:rPr>
              <a:t>.</a:t>
            </a:r>
          </a:p>
          <a:p>
            <a:pPr>
              <a:lnSpc>
                <a:spcPct val="150000"/>
              </a:lnSpc>
              <a:buClr>
                <a:schemeClr val="accent2"/>
              </a:buClr>
              <a:defRPr/>
            </a:pPr>
            <a:r>
              <a:rPr lang="en-CA" altLang="en-US" sz="2200" b="1" dirty="0">
                <a:solidFill>
                  <a:schemeClr val="accent2"/>
                </a:solidFill>
                <a:ea typeface="ＭＳ Ｐゴシック" pitchFamily="34" charset="-128"/>
              </a:rPr>
              <a:t>Example 1: </a:t>
            </a:r>
            <a:r>
              <a:rPr lang="en-CA" altLang="en-US" sz="2200" dirty="0">
                <a:solidFill>
                  <a:schemeClr val="accent2"/>
                </a:solidFill>
                <a:ea typeface="ＭＳ Ｐゴシック" pitchFamily="34" charset="-128"/>
              </a:rPr>
              <a:t>When ABC Inc. </a:t>
            </a:r>
            <a:r>
              <a:rPr lang="en-CA" altLang="en-US" sz="2200" u="sng" dirty="0">
                <a:solidFill>
                  <a:schemeClr val="accent2"/>
                </a:solidFill>
                <a:ea typeface="ＭＳ Ｐゴシック" pitchFamily="34" charset="-128"/>
              </a:rPr>
              <a:t>delivers</a:t>
            </a:r>
            <a:r>
              <a:rPr lang="en-CA" altLang="en-US" sz="2200" dirty="0">
                <a:solidFill>
                  <a:schemeClr val="accent2"/>
                </a:solidFill>
                <a:ea typeface="ＭＳ Ｐゴシック" pitchFamily="34" charset="-128"/>
              </a:rPr>
              <a:t> goods to John who pays cash</a:t>
            </a:r>
          </a:p>
          <a:p>
            <a:pPr lvl="1">
              <a:lnSpc>
                <a:spcPct val="150000"/>
              </a:lnSpc>
              <a:buClr>
                <a:schemeClr val="accent2"/>
              </a:buClr>
              <a:defRPr/>
            </a:pPr>
            <a:r>
              <a:rPr lang="en-CA" altLang="en-US" dirty="0">
                <a:solidFill>
                  <a:schemeClr val="accent2"/>
                </a:solidFill>
                <a:ea typeface="ＭＳ Ｐゴシック" pitchFamily="34" charset="-128"/>
              </a:rPr>
              <a:t>ABC Inc.’s Cash asset increases </a:t>
            </a:r>
          </a:p>
          <a:p>
            <a:pPr lvl="1">
              <a:lnSpc>
                <a:spcPct val="150000"/>
              </a:lnSpc>
              <a:buClr>
                <a:schemeClr val="accent2"/>
              </a:buClr>
              <a:defRPr/>
            </a:pPr>
            <a:r>
              <a:rPr lang="en-CA" altLang="en-US" dirty="0">
                <a:solidFill>
                  <a:schemeClr val="accent2"/>
                </a:solidFill>
                <a:ea typeface="ＭＳ Ｐゴシック" pitchFamily="34" charset="-128"/>
              </a:rPr>
              <a:t>ABC Inc.’s SE increases (via Retained Earnings)</a:t>
            </a:r>
          </a:p>
          <a:p>
            <a:pPr lvl="1" algn="ctr">
              <a:lnSpc>
                <a:spcPct val="150000"/>
              </a:lnSpc>
              <a:buClr>
                <a:schemeClr val="accent2"/>
              </a:buClr>
              <a:buFont typeface="Wingdings" panose="05000000000000000000" pitchFamily="2" charset="2"/>
              <a:buChar char="è"/>
              <a:defRPr/>
            </a:pPr>
            <a:r>
              <a:rPr lang="en-CA" altLang="en-US" dirty="0">
                <a:solidFill>
                  <a:schemeClr val="accent2"/>
                </a:solidFill>
                <a:ea typeface="ＭＳ Ｐゴシック" pitchFamily="34" charset="-128"/>
                <a:sym typeface="Wingdings" panose="05000000000000000000" pitchFamily="2" charset="2"/>
              </a:rPr>
              <a:t>ABC Inc. has earned revenue </a:t>
            </a:r>
          </a:p>
          <a:p>
            <a:pPr>
              <a:lnSpc>
                <a:spcPct val="150000"/>
              </a:lnSpc>
              <a:buClr>
                <a:schemeClr val="accent2"/>
              </a:buClr>
              <a:defRPr/>
            </a:pPr>
            <a:r>
              <a:rPr lang="en-US" altLang="en-US" sz="2200" b="1" dirty="0">
                <a:solidFill>
                  <a:schemeClr val="accent2"/>
                </a:solidFill>
                <a:ea typeface="ＭＳ Ｐゴシック" pitchFamily="34" charset="-128"/>
              </a:rPr>
              <a:t>Example 2:</a:t>
            </a:r>
            <a:r>
              <a:rPr lang="en-US" altLang="en-US" sz="2200" dirty="0">
                <a:solidFill>
                  <a:schemeClr val="accent2"/>
                </a:solidFill>
                <a:ea typeface="ＭＳ Ｐゴシック" pitchFamily="34" charset="-128"/>
              </a:rPr>
              <a:t> What about when a shareholder purchases additional shares of ABC Inc.?</a:t>
            </a:r>
          </a:p>
        </p:txBody>
      </p:sp>
    </p:spTree>
    <p:extLst>
      <p:ext uri="{BB962C8B-B14F-4D97-AF65-F5344CB8AC3E}">
        <p14:creationId xmlns:p14="http://schemas.microsoft.com/office/powerpoint/2010/main" val="1812778917"/>
      </p:ext>
    </p:extLst>
  </p:cSld>
  <p:clrMapOvr>
    <a:masterClrMapping/>
  </p:clrMapOvr>
  <p:transition>
    <p:strips dir="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Rounded Corners 18"/>
          <p:cNvSpPr/>
          <p:nvPr/>
        </p:nvSpPr>
        <p:spPr>
          <a:xfrm>
            <a:off x="118182" y="3055435"/>
            <a:ext cx="8907636" cy="2971800"/>
          </a:xfrm>
          <a:prstGeom prst="roundRect">
            <a:avLst/>
          </a:prstGeom>
          <a:solidFill>
            <a:schemeClr val="accent1">
              <a:lumMod val="20000"/>
              <a:lumOff val="80000"/>
              <a:alpha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2000" dirty="0" err="1"/>
          </a:p>
        </p:txBody>
      </p:sp>
      <p:sp>
        <p:nvSpPr>
          <p:cNvPr id="2" name="Title 1"/>
          <p:cNvSpPr>
            <a:spLocks noGrp="1"/>
          </p:cNvSpPr>
          <p:nvPr>
            <p:ph type="title"/>
          </p:nvPr>
        </p:nvSpPr>
        <p:spPr>
          <a:xfrm>
            <a:off x="318447" y="422469"/>
            <a:ext cx="8229600" cy="478536"/>
          </a:xfrm>
        </p:spPr>
        <p:txBody>
          <a:bodyPr>
            <a:normAutofit fontScale="90000"/>
          </a:bodyPr>
          <a:lstStyle/>
          <a:p>
            <a:pPr algn="ctr"/>
            <a:r>
              <a:rPr lang="en-US" altLang="en-US" sz="3200" dirty="0">
                <a:solidFill>
                  <a:schemeClr val="accent2"/>
                </a:solidFill>
              </a:rPr>
              <a:t>Revenue Recognition Principle – 3 Conditions</a:t>
            </a:r>
            <a:endParaRPr lang="en-US" sz="3200" dirty="0">
              <a:solidFill>
                <a:schemeClr val="accent2"/>
              </a:solidFill>
            </a:endParaRPr>
          </a:p>
        </p:txBody>
      </p:sp>
      <p:sp>
        <p:nvSpPr>
          <p:cNvPr id="17" name="Rectangle 3"/>
          <p:cNvSpPr>
            <a:spLocks noGrp="1" noChangeArrowheads="1"/>
          </p:cNvSpPr>
          <p:nvPr>
            <p:ph type="body" idx="4294967295"/>
          </p:nvPr>
        </p:nvSpPr>
        <p:spPr>
          <a:xfrm>
            <a:off x="0" y="838200"/>
            <a:ext cx="9082532" cy="5638800"/>
          </a:xfrm>
        </p:spPr>
        <p:txBody>
          <a:bodyPr lIns="90488" tIns="44450" rIns="90488" bIns="44450">
            <a:normAutofit/>
          </a:bodyPr>
          <a:lstStyle/>
          <a:p>
            <a:pPr algn="just">
              <a:lnSpc>
                <a:spcPct val="150000"/>
              </a:lnSpc>
              <a:buClr>
                <a:schemeClr val="accent2"/>
              </a:buClr>
              <a:defRPr/>
            </a:pPr>
            <a:r>
              <a:rPr lang="en-CA" altLang="en-US" sz="1600" dirty="0">
                <a:solidFill>
                  <a:schemeClr val="accent2"/>
                </a:solidFill>
                <a:ea typeface="ＭＳ Ｐゴシック" pitchFamily="34" charset="-128"/>
              </a:rPr>
              <a:t>The revenue recognition principle deals with 2 issues:</a:t>
            </a:r>
          </a:p>
          <a:p>
            <a:pPr marL="944118" lvl="1" indent="-457200">
              <a:lnSpc>
                <a:spcPct val="150000"/>
              </a:lnSpc>
              <a:buClr>
                <a:schemeClr val="accent2"/>
              </a:buClr>
              <a:buFont typeface="+mj-lt"/>
              <a:buAutoNum type="arabicPeriod"/>
              <a:defRPr/>
            </a:pPr>
            <a:r>
              <a:rPr lang="en-US" altLang="en-US" sz="1600" b="1" dirty="0">
                <a:solidFill>
                  <a:schemeClr val="accent2"/>
                </a:solidFill>
                <a:ea typeface="ＭＳ Ｐゴシック" pitchFamily="34" charset="-128"/>
              </a:rPr>
              <a:t>When to record revenue (make a journal entry)? </a:t>
            </a:r>
            <a:r>
              <a:rPr lang="en-US" altLang="en-US" sz="1400" u="sng" dirty="0">
                <a:solidFill>
                  <a:schemeClr val="accent2"/>
                </a:solidFill>
                <a:ea typeface="ＭＳ Ｐゴシック" pitchFamily="34" charset="-128"/>
              </a:rPr>
              <a:t>After</a:t>
            </a:r>
            <a:r>
              <a:rPr lang="en-US" altLang="en-US" sz="1400" dirty="0">
                <a:solidFill>
                  <a:schemeClr val="accent2"/>
                </a:solidFill>
                <a:ea typeface="ＭＳ Ｐゴシック" pitchFamily="34" charset="-128"/>
              </a:rPr>
              <a:t> it has been earned  (goods or service delivered) and NOT before</a:t>
            </a:r>
          </a:p>
          <a:p>
            <a:pPr marL="944118" lvl="1" indent="-457200">
              <a:lnSpc>
                <a:spcPct val="150000"/>
              </a:lnSpc>
              <a:buClr>
                <a:schemeClr val="accent2"/>
              </a:buClr>
              <a:buFont typeface="+mj-lt"/>
              <a:buAutoNum type="arabicPeriod"/>
              <a:defRPr/>
            </a:pPr>
            <a:r>
              <a:rPr lang="en-US" altLang="en-US" sz="1600" b="1" dirty="0">
                <a:solidFill>
                  <a:schemeClr val="accent2"/>
                </a:solidFill>
                <a:ea typeface="ＭＳ Ｐゴシック" pitchFamily="34" charset="-128"/>
              </a:rPr>
              <a:t>Amount of revenue to record?  </a:t>
            </a:r>
            <a:r>
              <a:rPr lang="en-US" altLang="en-US" sz="1400" dirty="0">
                <a:solidFill>
                  <a:schemeClr val="accent2"/>
                </a:solidFill>
                <a:ea typeface="ＭＳ Ｐゴシック" pitchFamily="34" charset="-128"/>
              </a:rPr>
              <a:t>Cash value of goods or services transferred to the customer</a:t>
            </a:r>
          </a:p>
          <a:p>
            <a:pPr marL="0" indent="0" algn="just">
              <a:lnSpc>
                <a:spcPct val="150000"/>
              </a:lnSpc>
              <a:spcBef>
                <a:spcPts val="5400"/>
              </a:spcBef>
              <a:buClr>
                <a:schemeClr val="accent2"/>
              </a:buClr>
              <a:buNone/>
              <a:defRPr/>
            </a:pPr>
            <a:r>
              <a:rPr lang="en-US" altLang="en-US" sz="1600" dirty="0">
                <a:solidFill>
                  <a:schemeClr val="accent2"/>
                </a:solidFill>
                <a:ea typeface="ＭＳ Ｐゴシック" pitchFamily="34" charset="-128"/>
              </a:rPr>
              <a:t>	</a:t>
            </a:r>
            <a:r>
              <a:rPr lang="en-US" altLang="en-US" sz="1600" b="1" u="sng" dirty="0">
                <a:solidFill>
                  <a:schemeClr val="accent2"/>
                </a:solidFill>
                <a:ea typeface="ＭＳ Ｐゴシック" pitchFamily="34" charset="-128"/>
              </a:rPr>
              <a:t>All 3 conditions</a:t>
            </a:r>
            <a:r>
              <a:rPr lang="en-US" altLang="en-US" sz="1600" dirty="0">
                <a:solidFill>
                  <a:schemeClr val="accent2"/>
                </a:solidFill>
                <a:ea typeface="ＭＳ Ｐゴシック" pitchFamily="34" charset="-128"/>
              </a:rPr>
              <a:t> below must be met to recognize revenue:</a:t>
            </a:r>
          </a:p>
          <a:p>
            <a:pPr marL="944118" lvl="1" indent="-457200" algn="just">
              <a:lnSpc>
                <a:spcPct val="150000"/>
              </a:lnSpc>
              <a:buClr>
                <a:schemeClr val="accent2"/>
              </a:buClr>
              <a:buFont typeface="Wingdings" pitchFamily="2" charset="2"/>
              <a:buChar char="ü"/>
              <a:defRPr/>
            </a:pPr>
            <a:r>
              <a:rPr lang="en-US" altLang="en-US" sz="1600" dirty="0">
                <a:solidFill>
                  <a:schemeClr val="accent2"/>
                </a:solidFill>
                <a:ea typeface="ＭＳ Ｐゴシック" pitchFamily="34" charset="-128"/>
              </a:rPr>
              <a:t>The business has </a:t>
            </a:r>
            <a:r>
              <a:rPr lang="en-US" altLang="en-US" sz="1600" b="1" u="sng" dirty="0">
                <a:solidFill>
                  <a:schemeClr val="accent2"/>
                </a:solidFill>
                <a:ea typeface="ＭＳ Ｐゴシック" pitchFamily="34" charset="-128"/>
              </a:rPr>
              <a:t>delivered</a:t>
            </a:r>
            <a:r>
              <a:rPr lang="en-US" altLang="en-US" sz="1600" dirty="0">
                <a:solidFill>
                  <a:schemeClr val="accent2"/>
                </a:solidFill>
                <a:ea typeface="ＭＳ Ｐゴシック" pitchFamily="34" charset="-128"/>
              </a:rPr>
              <a:t> the goods or service to its customer.</a:t>
            </a:r>
          </a:p>
          <a:p>
            <a:pPr marL="944118" lvl="1" indent="-457200" algn="just">
              <a:lnSpc>
                <a:spcPct val="150000"/>
              </a:lnSpc>
              <a:buClr>
                <a:schemeClr val="accent2"/>
              </a:buClr>
              <a:buFont typeface="Wingdings" pitchFamily="2" charset="2"/>
              <a:buChar char="ü"/>
              <a:defRPr/>
            </a:pPr>
            <a:r>
              <a:rPr lang="en-CA" altLang="en-US" sz="1600" dirty="0">
                <a:solidFill>
                  <a:schemeClr val="accent2"/>
                </a:solidFill>
                <a:ea typeface="ＭＳ Ｐゴシック" pitchFamily="34" charset="-128"/>
              </a:rPr>
              <a:t>The amount of revenue can be </a:t>
            </a:r>
            <a:r>
              <a:rPr lang="en-CA" altLang="en-US" sz="1600" b="1" u="sng" dirty="0">
                <a:solidFill>
                  <a:schemeClr val="accent2"/>
                </a:solidFill>
                <a:ea typeface="ＭＳ Ｐゴシック" pitchFamily="34" charset="-128"/>
              </a:rPr>
              <a:t>reliably measured</a:t>
            </a:r>
            <a:r>
              <a:rPr lang="en-CA" altLang="en-US" sz="1600" dirty="0">
                <a:solidFill>
                  <a:schemeClr val="accent2"/>
                </a:solidFill>
                <a:ea typeface="ＭＳ Ｐゴシック" pitchFamily="34" charset="-128"/>
              </a:rPr>
              <a:t>.</a:t>
            </a:r>
          </a:p>
          <a:p>
            <a:pPr marL="944118" lvl="1" indent="-457200" algn="just">
              <a:lnSpc>
                <a:spcPct val="150000"/>
              </a:lnSpc>
              <a:buClr>
                <a:schemeClr val="accent2"/>
              </a:buClr>
              <a:buFont typeface="Wingdings" pitchFamily="2" charset="2"/>
              <a:buChar char="ü"/>
              <a:defRPr/>
            </a:pPr>
            <a:r>
              <a:rPr lang="en-CA" altLang="en-US" sz="1600" dirty="0">
                <a:solidFill>
                  <a:schemeClr val="accent2"/>
                </a:solidFill>
                <a:ea typeface="ＭＳ Ｐゴシック" pitchFamily="34" charset="-128"/>
              </a:rPr>
              <a:t>It is </a:t>
            </a:r>
            <a:r>
              <a:rPr lang="en-CA" altLang="en-US" sz="1600" b="1" u="sng" dirty="0">
                <a:solidFill>
                  <a:schemeClr val="accent2"/>
                </a:solidFill>
                <a:ea typeface="ＭＳ Ｐゴシック" pitchFamily="34" charset="-128"/>
              </a:rPr>
              <a:t>probable</a:t>
            </a:r>
            <a:r>
              <a:rPr lang="en-CA" altLang="en-US" sz="1600" dirty="0">
                <a:solidFill>
                  <a:schemeClr val="accent2"/>
                </a:solidFill>
                <a:ea typeface="ＭＳ Ｐゴシック" pitchFamily="34" charset="-128"/>
              </a:rPr>
              <a:t> the revenue will be received.</a:t>
            </a:r>
            <a:endParaRPr lang="en-US" altLang="en-US" sz="1600" dirty="0">
              <a:solidFill>
                <a:schemeClr val="accent2"/>
              </a:solidFill>
              <a:ea typeface="ＭＳ Ｐゴシック" pitchFamily="34" charset="-128"/>
            </a:endParaRPr>
          </a:p>
          <a:p>
            <a:pPr marL="944118" lvl="1" indent="-457200" algn="just">
              <a:lnSpc>
                <a:spcPct val="150000"/>
              </a:lnSpc>
              <a:buClr>
                <a:schemeClr val="accent2"/>
              </a:buClr>
              <a:buFont typeface="+mj-lt"/>
              <a:buAutoNum type="arabicPeriod"/>
              <a:defRPr/>
            </a:pPr>
            <a:endParaRPr lang="en-US" altLang="en-US" sz="1600" dirty="0">
              <a:solidFill>
                <a:schemeClr val="accent2"/>
              </a:solidFill>
              <a:ea typeface="ＭＳ Ｐゴシック" pitchFamily="34" charset="-128"/>
            </a:endParaRPr>
          </a:p>
          <a:p>
            <a:pPr algn="just">
              <a:lnSpc>
                <a:spcPct val="150000"/>
              </a:lnSpc>
              <a:buClr>
                <a:schemeClr val="accent2"/>
              </a:buClr>
              <a:defRPr/>
            </a:pPr>
            <a:endParaRPr lang="en-US" altLang="en-US" sz="1600" dirty="0">
              <a:solidFill>
                <a:schemeClr val="accent2"/>
              </a:solidFill>
              <a:ea typeface="ＭＳ Ｐゴシック" pitchFamily="34" charset="-128"/>
            </a:endParaRPr>
          </a:p>
          <a:p>
            <a:pPr marL="1344168" lvl="2" indent="-457200" algn="just">
              <a:lnSpc>
                <a:spcPct val="150000"/>
              </a:lnSpc>
              <a:buClr>
                <a:schemeClr val="accent2"/>
              </a:buClr>
              <a:buFont typeface="+mj-lt"/>
              <a:buAutoNum type="arabicPeriod"/>
              <a:defRPr/>
            </a:pPr>
            <a:endParaRPr lang="en-US" altLang="en-US" sz="1600" dirty="0">
              <a:solidFill>
                <a:schemeClr val="accent2"/>
              </a:solidFill>
              <a:ea typeface="ＭＳ Ｐゴシック" pitchFamily="34" charset="-128"/>
            </a:endParaRPr>
          </a:p>
          <a:p>
            <a:pPr marL="944118" lvl="1" indent="-457200" algn="just">
              <a:lnSpc>
                <a:spcPct val="150000"/>
              </a:lnSpc>
              <a:buClr>
                <a:schemeClr val="accent2"/>
              </a:buClr>
              <a:buFont typeface="+mj-lt"/>
              <a:buAutoNum type="arabicPeriod"/>
              <a:defRPr/>
            </a:pPr>
            <a:endParaRPr lang="en-US" altLang="en-US" sz="1600" dirty="0">
              <a:solidFill>
                <a:schemeClr val="accent2"/>
              </a:solidFill>
              <a:ea typeface="ＭＳ Ｐゴシック" pitchFamily="34" charset="-128"/>
            </a:endParaRPr>
          </a:p>
          <a:p>
            <a:pPr algn="just">
              <a:lnSpc>
                <a:spcPct val="150000"/>
              </a:lnSpc>
              <a:buClr>
                <a:schemeClr val="accent2"/>
              </a:buClr>
              <a:defRPr/>
            </a:pPr>
            <a:endParaRPr lang="en-US" altLang="en-US" sz="1600" dirty="0">
              <a:solidFill>
                <a:schemeClr val="accent2"/>
              </a:solidFill>
              <a:ea typeface="ＭＳ Ｐゴシック" pitchFamily="34" charset="-128"/>
            </a:endParaRPr>
          </a:p>
          <a:p>
            <a:pPr marL="0" indent="0" algn="just">
              <a:lnSpc>
                <a:spcPct val="150000"/>
              </a:lnSpc>
              <a:buClr>
                <a:schemeClr val="accent2"/>
              </a:buClr>
              <a:buNone/>
              <a:defRPr/>
            </a:pPr>
            <a:endParaRPr lang="en-US" altLang="en-US" sz="1600" dirty="0">
              <a:solidFill>
                <a:schemeClr val="accent2"/>
              </a:solidFill>
              <a:ea typeface="ＭＳ Ｐゴシック" pitchFamily="34" charset="-128"/>
            </a:endParaRPr>
          </a:p>
        </p:txBody>
      </p:sp>
      <p:sp>
        <p:nvSpPr>
          <p:cNvPr id="18" name="Rectangle 17"/>
          <p:cNvSpPr/>
          <p:nvPr/>
        </p:nvSpPr>
        <p:spPr>
          <a:xfrm>
            <a:off x="2076672" y="3055435"/>
            <a:ext cx="4713150" cy="461665"/>
          </a:xfrm>
          <a:prstGeom prst="rect">
            <a:avLst/>
          </a:prstGeom>
        </p:spPr>
        <p:txBody>
          <a:bodyPr wrap="none">
            <a:spAutoFit/>
          </a:bodyPr>
          <a:lstStyle/>
          <a:p>
            <a:pPr algn="ctr"/>
            <a:r>
              <a:rPr lang="en-US" altLang="en-US" sz="2400" b="1" dirty="0">
                <a:solidFill>
                  <a:schemeClr val="accent2"/>
                </a:solidFill>
              </a:rPr>
              <a:t>Revenue Recognition Principle</a:t>
            </a:r>
            <a:endParaRPr lang="en-CA" sz="2400" b="1" dirty="0"/>
          </a:p>
        </p:txBody>
      </p:sp>
    </p:spTree>
    <p:extLst>
      <p:ext uri="{BB962C8B-B14F-4D97-AF65-F5344CB8AC3E}">
        <p14:creationId xmlns:p14="http://schemas.microsoft.com/office/powerpoint/2010/main" val="289361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1152" y="588264"/>
            <a:ext cx="8229600" cy="478536"/>
          </a:xfrm>
        </p:spPr>
        <p:txBody>
          <a:bodyPr>
            <a:normAutofit fontScale="90000"/>
          </a:bodyPr>
          <a:lstStyle/>
          <a:p>
            <a:pPr algn="ctr"/>
            <a:r>
              <a:rPr lang="en-US" altLang="en-US" sz="3000" dirty="0">
                <a:solidFill>
                  <a:schemeClr val="accent2"/>
                </a:solidFill>
              </a:rPr>
              <a:t>Revenue Recognition Principle – Example 1</a:t>
            </a:r>
            <a:endParaRPr lang="en-US" sz="3000" dirty="0">
              <a:solidFill>
                <a:schemeClr val="accent2"/>
              </a:solidFill>
            </a:endParaRPr>
          </a:p>
        </p:txBody>
      </p:sp>
      <p:sp>
        <p:nvSpPr>
          <p:cNvPr id="17" name="Rectangle 3"/>
          <p:cNvSpPr>
            <a:spLocks noGrp="1" noChangeArrowheads="1"/>
          </p:cNvSpPr>
          <p:nvPr>
            <p:ph type="body" idx="4294967295"/>
          </p:nvPr>
        </p:nvSpPr>
        <p:spPr>
          <a:xfrm>
            <a:off x="0" y="1066800"/>
            <a:ext cx="9082532" cy="1444388"/>
          </a:xfrm>
        </p:spPr>
        <p:txBody>
          <a:bodyPr lIns="90488" tIns="44450" rIns="90488" bIns="44450">
            <a:normAutofit fontScale="92500" lnSpcReduction="10000"/>
          </a:bodyPr>
          <a:lstStyle/>
          <a:p>
            <a:pPr>
              <a:lnSpc>
                <a:spcPct val="150000"/>
              </a:lnSpc>
              <a:buClr>
                <a:schemeClr val="accent2"/>
              </a:buClr>
              <a:defRPr/>
            </a:pPr>
            <a:r>
              <a:rPr lang="en-CA" altLang="en-US" sz="2000" dirty="0">
                <a:solidFill>
                  <a:schemeClr val="accent2"/>
                </a:solidFill>
                <a:ea typeface="ＭＳ Ｐゴシック" pitchFamily="34" charset="-128"/>
              </a:rPr>
              <a:t>You purchase a TV from Costco for $500 and you pay cash and take the TV home.  Can Costco recognize revenue for this transaction?  Check if all 3 revenue recognition conditions are met:</a:t>
            </a:r>
          </a:p>
          <a:p>
            <a:pPr marL="944118" lvl="1" indent="-457200" algn="just">
              <a:lnSpc>
                <a:spcPct val="150000"/>
              </a:lnSpc>
              <a:buClr>
                <a:schemeClr val="accent2"/>
              </a:buClr>
              <a:buFont typeface="+mj-lt"/>
              <a:buAutoNum type="arabicPeriod"/>
              <a:defRPr/>
            </a:pPr>
            <a:endParaRPr lang="en-US" altLang="en-US" sz="2200" dirty="0">
              <a:solidFill>
                <a:schemeClr val="accent2"/>
              </a:solidFill>
              <a:ea typeface="ＭＳ Ｐゴシック" pitchFamily="34" charset="-128"/>
            </a:endParaRPr>
          </a:p>
          <a:p>
            <a:pPr marL="944118" lvl="1" indent="-457200" algn="just">
              <a:lnSpc>
                <a:spcPct val="150000"/>
              </a:lnSpc>
              <a:buClr>
                <a:schemeClr val="accent2"/>
              </a:buClr>
              <a:buFont typeface="+mj-lt"/>
              <a:buAutoNum type="arabicPeriod"/>
              <a:defRPr/>
            </a:pPr>
            <a:endParaRPr lang="en-US" altLang="en-US" sz="2200" dirty="0">
              <a:solidFill>
                <a:schemeClr val="accent2"/>
              </a:solidFill>
              <a:ea typeface="ＭＳ Ｐゴシック" pitchFamily="34" charset="-128"/>
            </a:endParaRPr>
          </a:p>
          <a:p>
            <a:pPr algn="just">
              <a:lnSpc>
                <a:spcPct val="150000"/>
              </a:lnSpc>
              <a:buClr>
                <a:schemeClr val="accent2"/>
              </a:buClr>
              <a:defRPr/>
            </a:pPr>
            <a:endParaRPr lang="en-US" altLang="en-US" sz="2200" dirty="0">
              <a:solidFill>
                <a:schemeClr val="accent2"/>
              </a:solidFill>
              <a:ea typeface="ＭＳ Ｐゴシック" pitchFamily="34" charset="-128"/>
            </a:endParaRPr>
          </a:p>
          <a:p>
            <a:pPr marL="1344168" lvl="2" indent="-457200" algn="just">
              <a:lnSpc>
                <a:spcPct val="150000"/>
              </a:lnSpc>
              <a:buClr>
                <a:schemeClr val="accent2"/>
              </a:buClr>
              <a:buFont typeface="+mj-lt"/>
              <a:buAutoNum type="arabicPeriod"/>
              <a:defRPr/>
            </a:pPr>
            <a:endParaRPr lang="en-US" altLang="en-US" sz="2200" dirty="0">
              <a:solidFill>
                <a:schemeClr val="accent2"/>
              </a:solidFill>
              <a:ea typeface="ＭＳ Ｐゴシック" pitchFamily="34" charset="-128"/>
            </a:endParaRPr>
          </a:p>
          <a:p>
            <a:pPr marL="944118" lvl="1" indent="-457200" algn="just">
              <a:lnSpc>
                <a:spcPct val="150000"/>
              </a:lnSpc>
              <a:buClr>
                <a:schemeClr val="accent2"/>
              </a:buClr>
              <a:buFont typeface="+mj-lt"/>
              <a:buAutoNum type="arabicPeriod"/>
              <a:defRPr/>
            </a:pPr>
            <a:endParaRPr lang="en-US" altLang="en-US" sz="2200" dirty="0">
              <a:solidFill>
                <a:schemeClr val="accent2"/>
              </a:solidFill>
              <a:ea typeface="ＭＳ Ｐゴシック" pitchFamily="34" charset="-128"/>
            </a:endParaRPr>
          </a:p>
          <a:p>
            <a:pPr marL="944118" lvl="1" indent="-457200" algn="just">
              <a:lnSpc>
                <a:spcPct val="150000"/>
              </a:lnSpc>
              <a:buClr>
                <a:schemeClr val="accent2"/>
              </a:buClr>
              <a:buFont typeface="+mj-lt"/>
              <a:buAutoNum type="arabicPeriod"/>
              <a:defRPr/>
            </a:pPr>
            <a:endParaRPr lang="en-US" altLang="en-US" sz="2200" dirty="0">
              <a:solidFill>
                <a:schemeClr val="accent2"/>
              </a:solidFill>
              <a:ea typeface="ＭＳ Ｐゴシック" pitchFamily="34" charset="-128"/>
            </a:endParaRPr>
          </a:p>
          <a:p>
            <a:pPr algn="just">
              <a:lnSpc>
                <a:spcPct val="150000"/>
              </a:lnSpc>
              <a:buClr>
                <a:schemeClr val="accent2"/>
              </a:buClr>
              <a:defRPr/>
            </a:pPr>
            <a:endParaRPr lang="en-US" altLang="en-US" sz="2200" dirty="0">
              <a:solidFill>
                <a:schemeClr val="accent2"/>
              </a:solidFill>
              <a:ea typeface="ＭＳ Ｐゴシック" pitchFamily="34" charset="-128"/>
            </a:endParaRPr>
          </a:p>
          <a:p>
            <a:pPr marL="0" indent="0" algn="just">
              <a:lnSpc>
                <a:spcPct val="150000"/>
              </a:lnSpc>
              <a:buClr>
                <a:schemeClr val="accent2"/>
              </a:buClr>
              <a:buNone/>
              <a:defRPr/>
            </a:pPr>
            <a:endParaRPr lang="en-US" altLang="en-US" sz="2200" dirty="0">
              <a:solidFill>
                <a:schemeClr val="accent2"/>
              </a:solidFill>
              <a:ea typeface="ＭＳ Ｐゴシック" pitchFamily="34" charset="-128"/>
            </a:endParaRPr>
          </a:p>
        </p:txBody>
      </p:sp>
      <p:graphicFrame>
        <p:nvGraphicFramePr>
          <p:cNvPr id="3" name="Table 3">
            <a:extLst>
              <a:ext uri="{FF2B5EF4-FFF2-40B4-BE49-F238E27FC236}">
                <a16:creationId xmlns:a16="http://schemas.microsoft.com/office/drawing/2014/main" id="{C68E5081-661F-B24A-6259-AE2354EBFDCD}"/>
              </a:ext>
            </a:extLst>
          </p:cNvPr>
          <p:cNvGraphicFramePr>
            <a:graphicFrameLocks noGrp="1"/>
          </p:cNvGraphicFramePr>
          <p:nvPr/>
        </p:nvGraphicFramePr>
        <p:xfrm>
          <a:off x="1150960" y="2511188"/>
          <a:ext cx="6842079" cy="2834640"/>
        </p:xfrm>
        <a:graphic>
          <a:graphicData uri="http://schemas.openxmlformats.org/drawingml/2006/table">
            <a:tbl>
              <a:tblPr firstRow="1" bandRow="1">
                <a:tableStyleId>{69CF1AB2-1976-4502-BF36-3FF5EA218861}</a:tableStyleId>
              </a:tblPr>
              <a:tblGrid>
                <a:gridCol w="2670413">
                  <a:extLst>
                    <a:ext uri="{9D8B030D-6E8A-4147-A177-3AD203B41FA5}">
                      <a16:colId xmlns:a16="http://schemas.microsoft.com/office/drawing/2014/main" val="3479213045"/>
                    </a:ext>
                  </a:extLst>
                </a:gridCol>
                <a:gridCol w="2715905">
                  <a:extLst>
                    <a:ext uri="{9D8B030D-6E8A-4147-A177-3AD203B41FA5}">
                      <a16:colId xmlns:a16="http://schemas.microsoft.com/office/drawing/2014/main" val="3161769599"/>
                    </a:ext>
                  </a:extLst>
                </a:gridCol>
                <a:gridCol w="1455761">
                  <a:extLst>
                    <a:ext uri="{9D8B030D-6E8A-4147-A177-3AD203B41FA5}">
                      <a16:colId xmlns:a16="http://schemas.microsoft.com/office/drawing/2014/main" val="1969521866"/>
                    </a:ext>
                  </a:extLst>
                </a:gridCol>
              </a:tblGrid>
              <a:tr h="370840">
                <a:tc>
                  <a:txBody>
                    <a:bodyPr/>
                    <a:lstStyle/>
                    <a:p>
                      <a:r>
                        <a:rPr lang="en-US" altLang="en-US" sz="1600" b="0" dirty="0">
                          <a:solidFill>
                            <a:schemeClr val="accent2"/>
                          </a:solidFill>
                          <a:ea typeface="ＭＳ Ｐゴシック" pitchFamily="34" charset="-128"/>
                        </a:rPr>
                        <a:t>The business has </a:t>
                      </a:r>
                      <a:r>
                        <a:rPr lang="en-US" altLang="en-US" sz="1600" b="0" u="none" dirty="0">
                          <a:solidFill>
                            <a:schemeClr val="accent2"/>
                          </a:solidFill>
                          <a:ea typeface="ＭＳ Ｐゴシック" pitchFamily="34" charset="-128"/>
                        </a:rPr>
                        <a:t>delivered</a:t>
                      </a:r>
                      <a:r>
                        <a:rPr lang="en-US" altLang="en-US" sz="1600" b="0" dirty="0">
                          <a:solidFill>
                            <a:schemeClr val="accent2"/>
                          </a:solidFill>
                          <a:ea typeface="ＭＳ Ｐゴシック" pitchFamily="34" charset="-128"/>
                        </a:rPr>
                        <a:t> the goods or service to its customer</a:t>
                      </a:r>
                      <a:endParaRPr lang="en-US" sz="1600" b="0" dirty="0"/>
                    </a:p>
                  </a:txBody>
                  <a:tcPr anchor="ctr"/>
                </a:tc>
                <a:tc>
                  <a:txBody>
                    <a:bodyPr/>
                    <a:lstStyle/>
                    <a:p>
                      <a:r>
                        <a:rPr lang="en-CA" altLang="en-US" sz="1600" b="0" dirty="0">
                          <a:solidFill>
                            <a:schemeClr val="accent2"/>
                          </a:solidFill>
                          <a:ea typeface="ＭＳ Ｐゴシック" pitchFamily="34" charset="-128"/>
                        </a:rPr>
                        <a:t>Costco delivered the TV (i.e., you own the TV and the benefit of using it) </a:t>
                      </a:r>
                      <a:endParaRPr lang="en-US" sz="1600" b="0" dirty="0"/>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altLang="en-US" sz="2800" dirty="0">
                          <a:solidFill>
                            <a:schemeClr val="accent2"/>
                          </a:solidFill>
                          <a:ea typeface="ＭＳ Ｐゴシック" pitchFamily="34" charset="-128"/>
                          <a:sym typeface="Wingdings" panose="05000000000000000000" pitchFamily="2" charset="2"/>
                        </a:rPr>
                        <a:t></a:t>
                      </a:r>
                      <a:endParaRPr lang="en-CA" altLang="en-US" sz="2800" dirty="0">
                        <a:solidFill>
                          <a:schemeClr val="accent2"/>
                        </a:solidFill>
                        <a:ea typeface="ＭＳ Ｐゴシック" pitchFamily="34" charset="-128"/>
                      </a:endParaRPr>
                    </a:p>
                    <a:p>
                      <a:pPr algn="ctr"/>
                      <a:endParaRPr lang="en-US" sz="2800" dirty="0"/>
                    </a:p>
                  </a:txBody>
                  <a:tcPr anchor="ctr"/>
                </a:tc>
                <a:extLst>
                  <a:ext uri="{0D108BD9-81ED-4DB2-BD59-A6C34878D82A}">
                    <a16:rowId xmlns:a16="http://schemas.microsoft.com/office/drawing/2014/main" val="2875064791"/>
                  </a:ext>
                </a:extLst>
              </a:tr>
              <a:tr h="370840">
                <a:tc>
                  <a:txBody>
                    <a:bodyPr/>
                    <a:lstStyle/>
                    <a:p>
                      <a:r>
                        <a:rPr lang="en-CA" altLang="en-US" sz="1600" dirty="0">
                          <a:solidFill>
                            <a:schemeClr val="accent2"/>
                          </a:solidFill>
                          <a:ea typeface="ＭＳ Ｐゴシック" pitchFamily="34" charset="-128"/>
                        </a:rPr>
                        <a:t>The amount of revenue can be </a:t>
                      </a:r>
                      <a:r>
                        <a:rPr lang="en-CA" altLang="en-US" sz="1600" b="0" u="none" dirty="0">
                          <a:solidFill>
                            <a:schemeClr val="accent2"/>
                          </a:solidFill>
                          <a:ea typeface="ＭＳ Ｐゴシック" pitchFamily="34" charset="-128"/>
                        </a:rPr>
                        <a:t>reliably measured</a:t>
                      </a:r>
                      <a:endParaRPr lang="en-US" sz="1600" b="0" u="none" dirty="0"/>
                    </a:p>
                  </a:txBody>
                  <a:tcPr anchor="ctr"/>
                </a:tc>
                <a:tc>
                  <a:txBody>
                    <a:bodyPr/>
                    <a:lstStyle/>
                    <a:p>
                      <a:r>
                        <a:rPr lang="en-CA" altLang="en-US" sz="1600" dirty="0">
                          <a:solidFill>
                            <a:schemeClr val="accent2"/>
                          </a:solidFill>
                          <a:ea typeface="ＭＳ Ｐゴシック" pitchFamily="34" charset="-128"/>
                        </a:rPr>
                        <a:t>The TV have a price of $500 </a:t>
                      </a:r>
                      <a:endParaRPr lang="en-US" sz="1600" dirty="0"/>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altLang="en-US" sz="2800" dirty="0">
                          <a:solidFill>
                            <a:schemeClr val="accent2"/>
                          </a:solidFill>
                          <a:ea typeface="ＭＳ Ｐゴシック" pitchFamily="34" charset="-128"/>
                          <a:sym typeface="Wingdings" panose="05000000000000000000" pitchFamily="2" charset="2"/>
                        </a:rPr>
                        <a:t></a:t>
                      </a:r>
                      <a:endParaRPr lang="en-CA" altLang="en-US" sz="2800" dirty="0">
                        <a:solidFill>
                          <a:schemeClr val="accent2"/>
                        </a:solidFill>
                        <a:ea typeface="ＭＳ Ｐゴシック" pitchFamily="34" charset="-128"/>
                      </a:endParaRPr>
                    </a:p>
                    <a:p>
                      <a:pPr algn="ctr"/>
                      <a:endParaRPr lang="en-US" sz="2800" dirty="0"/>
                    </a:p>
                  </a:txBody>
                  <a:tcPr anchor="ctr"/>
                </a:tc>
                <a:extLst>
                  <a:ext uri="{0D108BD9-81ED-4DB2-BD59-A6C34878D82A}">
                    <a16:rowId xmlns:a16="http://schemas.microsoft.com/office/drawing/2014/main" val="1351393534"/>
                  </a:ext>
                </a:extLst>
              </a:tr>
              <a:tr h="370840">
                <a:tc>
                  <a:txBody>
                    <a:bodyPr/>
                    <a:lstStyle/>
                    <a:p>
                      <a:r>
                        <a:rPr lang="en-CA" altLang="en-US" sz="1600" dirty="0">
                          <a:solidFill>
                            <a:schemeClr val="accent2"/>
                          </a:solidFill>
                          <a:ea typeface="ＭＳ Ｐゴシック" pitchFamily="34" charset="-128"/>
                        </a:rPr>
                        <a:t>It is</a:t>
                      </a:r>
                      <a:r>
                        <a:rPr lang="en-CA" altLang="en-US" sz="1600" b="0" u="none" dirty="0">
                          <a:solidFill>
                            <a:schemeClr val="accent2"/>
                          </a:solidFill>
                          <a:ea typeface="ＭＳ Ｐゴシック" pitchFamily="34" charset="-128"/>
                        </a:rPr>
                        <a:t> probable </a:t>
                      </a:r>
                      <a:r>
                        <a:rPr lang="en-CA" altLang="en-US" sz="1600" dirty="0">
                          <a:solidFill>
                            <a:schemeClr val="accent2"/>
                          </a:solidFill>
                          <a:ea typeface="ＭＳ Ｐゴシック" pitchFamily="34" charset="-128"/>
                        </a:rPr>
                        <a:t>the revenue will be received</a:t>
                      </a:r>
                      <a:endParaRPr lang="en-US" sz="1600" dirty="0"/>
                    </a:p>
                  </a:txBody>
                  <a:tcPr anchor="ctr"/>
                </a:tc>
                <a:tc>
                  <a:txBody>
                    <a:bodyPr/>
                    <a:lstStyle/>
                    <a:p>
                      <a:r>
                        <a:rPr lang="en-CA" altLang="en-US" sz="1600" dirty="0">
                          <a:solidFill>
                            <a:schemeClr val="accent2"/>
                          </a:solidFill>
                          <a:ea typeface="ＭＳ Ｐゴシック" pitchFamily="34" charset="-128"/>
                        </a:rPr>
                        <a:t>Costco received $500 in cash from you </a:t>
                      </a:r>
                      <a:endParaRPr lang="en-US" sz="1600" dirty="0"/>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altLang="en-US" sz="2800" dirty="0">
                          <a:solidFill>
                            <a:schemeClr val="accent2"/>
                          </a:solidFill>
                          <a:ea typeface="ＭＳ Ｐゴシック" pitchFamily="34" charset="-128"/>
                          <a:sym typeface="Wingdings" panose="05000000000000000000" pitchFamily="2" charset="2"/>
                        </a:rPr>
                        <a:t></a:t>
                      </a:r>
                      <a:endParaRPr lang="en-CA" altLang="en-US" sz="2800" dirty="0">
                        <a:solidFill>
                          <a:schemeClr val="accent2"/>
                        </a:solidFill>
                        <a:ea typeface="ＭＳ Ｐゴシック" pitchFamily="34" charset="-128"/>
                      </a:endParaRPr>
                    </a:p>
                    <a:p>
                      <a:pPr algn="ctr"/>
                      <a:endParaRPr lang="en-US" sz="2800" dirty="0"/>
                    </a:p>
                  </a:txBody>
                  <a:tcPr anchor="ctr"/>
                </a:tc>
                <a:extLst>
                  <a:ext uri="{0D108BD9-81ED-4DB2-BD59-A6C34878D82A}">
                    <a16:rowId xmlns:a16="http://schemas.microsoft.com/office/drawing/2014/main" val="2288023134"/>
                  </a:ext>
                </a:extLst>
              </a:tr>
            </a:tbl>
          </a:graphicData>
        </a:graphic>
      </p:graphicFrame>
      <p:sp>
        <p:nvSpPr>
          <p:cNvPr id="4" name="TextBox 3">
            <a:extLst>
              <a:ext uri="{FF2B5EF4-FFF2-40B4-BE49-F238E27FC236}">
                <a16:creationId xmlns:a16="http://schemas.microsoft.com/office/drawing/2014/main" id="{836E8D2E-D099-BD08-C096-9F6644361D6C}"/>
              </a:ext>
            </a:extLst>
          </p:cNvPr>
          <p:cNvSpPr txBox="1"/>
          <p:nvPr/>
        </p:nvSpPr>
        <p:spPr>
          <a:xfrm>
            <a:off x="682388" y="5606534"/>
            <a:ext cx="7838364" cy="369332"/>
          </a:xfrm>
          <a:prstGeom prst="rect">
            <a:avLst/>
          </a:prstGeom>
          <a:noFill/>
        </p:spPr>
        <p:txBody>
          <a:bodyPr wrap="square" rtlCol="0">
            <a:spAutoFit/>
          </a:bodyPr>
          <a:lstStyle/>
          <a:p>
            <a:r>
              <a:rPr lang="en-US" b="1" dirty="0"/>
              <a:t>Yes, </a:t>
            </a:r>
            <a:r>
              <a:rPr lang="en-CA" altLang="en-US" b="1" dirty="0">
                <a:solidFill>
                  <a:schemeClr val="accent2"/>
                </a:solidFill>
                <a:ea typeface="ＭＳ Ｐゴシック" pitchFamily="34" charset="-128"/>
                <a:sym typeface="Wingdings" panose="05000000000000000000" pitchFamily="2" charset="2"/>
              </a:rPr>
              <a:t>Costco can recognize revenue since all 3 conditions are met.</a:t>
            </a:r>
            <a:endParaRPr lang="en-US" dirty="0"/>
          </a:p>
        </p:txBody>
      </p:sp>
    </p:spTree>
    <p:extLst>
      <p:ext uri="{BB962C8B-B14F-4D97-AF65-F5344CB8AC3E}">
        <p14:creationId xmlns:p14="http://schemas.microsoft.com/office/powerpoint/2010/main" val="247735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1152" y="588264"/>
            <a:ext cx="8229600" cy="478536"/>
          </a:xfrm>
        </p:spPr>
        <p:txBody>
          <a:bodyPr>
            <a:normAutofit fontScale="90000"/>
          </a:bodyPr>
          <a:lstStyle/>
          <a:p>
            <a:pPr algn="ctr"/>
            <a:r>
              <a:rPr lang="en-US" altLang="en-US" sz="3000" dirty="0">
                <a:solidFill>
                  <a:schemeClr val="accent2"/>
                </a:solidFill>
              </a:rPr>
              <a:t>Revenue Recognition Principle – Example 2</a:t>
            </a:r>
            <a:endParaRPr lang="en-US" sz="3000" dirty="0">
              <a:solidFill>
                <a:schemeClr val="accent2"/>
              </a:solidFill>
            </a:endParaRPr>
          </a:p>
        </p:txBody>
      </p:sp>
      <p:sp>
        <p:nvSpPr>
          <p:cNvPr id="17" name="Rectangle 3"/>
          <p:cNvSpPr>
            <a:spLocks noGrp="1" noChangeArrowheads="1"/>
          </p:cNvSpPr>
          <p:nvPr>
            <p:ph type="body" idx="4294967295"/>
          </p:nvPr>
        </p:nvSpPr>
        <p:spPr>
          <a:xfrm>
            <a:off x="0" y="1066800"/>
            <a:ext cx="9082532" cy="1444388"/>
          </a:xfrm>
        </p:spPr>
        <p:txBody>
          <a:bodyPr lIns="90488" tIns="44450" rIns="90488" bIns="44450">
            <a:normAutofit fontScale="92500" lnSpcReduction="10000"/>
          </a:bodyPr>
          <a:lstStyle/>
          <a:p>
            <a:pPr algn="just">
              <a:lnSpc>
                <a:spcPct val="150000"/>
              </a:lnSpc>
              <a:buClr>
                <a:schemeClr val="accent2"/>
              </a:buClr>
              <a:defRPr/>
            </a:pPr>
            <a:r>
              <a:rPr lang="en-CA" altLang="en-US" sz="2000" dirty="0">
                <a:solidFill>
                  <a:schemeClr val="accent2"/>
                </a:solidFill>
                <a:ea typeface="ＭＳ Ｐゴシック" pitchFamily="34" charset="-128"/>
              </a:rPr>
              <a:t>Now, suppose Costco does not have the TV you want in stock. Costco orders it for you and asks you to come back in 4 days to pick it up (at which point you will pay for it). Can Costco recognize revenue for this transaction?</a:t>
            </a:r>
          </a:p>
          <a:p>
            <a:pPr marL="944118" lvl="1" indent="-457200" algn="just">
              <a:lnSpc>
                <a:spcPct val="150000"/>
              </a:lnSpc>
              <a:buClr>
                <a:schemeClr val="accent2"/>
              </a:buClr>
              <a:buFont typeface="+mj-lt"/>
              <a:buAutoNum type="arabicPeriod"/>
              <a:defRPr/>
            </a:pPr>
            <a:endParaRPr lang="en-US" altLang="en-US" sz="2200" dirty="0">
              <a:solidFill>
                <a:schemeClr val="accent2"/>
              </a:solidFill>
              <a:ea typeface="ＭＳ Ｐゴシック" pitchFamily="34" charset="-128"/>
            </a:endParaRPr>
          </a:p>
          <a:p>
            <a:pPr marL="944118" lvl="1" indent="-457200" algn="just">
              <a:lnSpc>
                <a:spcPct val="150000"/>
              </a:lnSpc>
              <a:buClr>
                <a:schemeClr val="accent2"/>
              </a:buClr>
              <a:buFont typeface="+mj-lt"/>
              <a:buAutoNum type="arabicPeriod"/>
              <a:defRPr/>
            </a:pPr>
            <a:endParaRPr lang="en-US" altLang="en-US" sz="2200" dirty="0">
              <a:solidFill>
                <a:schemeClr val="accent2"/>
              </a:solidFill>
              <a:ea typeface="ＭＳ Ｐゴシック" pitchFamily="34" charset="-128"/>
            </a:endParaRPr>
          </a:p>
          <a:p>
            <a:pPr algn="just">
              <a:lnSpc>
                <a:spcPct val="150000"/>
              </a:lnSpc>
              <a:buClr>
                <a:schemeClr val="accent2"/>
              </a:buClr>
              <a:defRPr/>
            </a:pPr>
            <a:endParaRPr lang="en-US" altLang="en-US" sz="2200" dirty="0">
              <a:solidFill>
                <a:schemeClr val="accent2"/>
              </a:solidFill>
              <a:ea typeface="ＭＳ Ｐゴシック" pitchFamily="34" charset="-128"/>
            </a:endParaRPr>
          </a:p>
          <a:p>
            <a:pPr marL="1344168" lvl="2" indent="-457200" algn="just">
              <a:lnSpc>
                <a:spcPct val="150000"/>
              </a:lnSpc>
              <a:buClr>
                <a:schemeClr val="accent2"/>
              </a:buClr>
              <a:buFont typeface="+mj-lt"/>
              <a:buAutoNum type="arabicPeriod"/>
              <a:defRPr/>
            </a:pPr>
            <a:endParaRPr lang="en-US" altLang="en-US" sz="2200" dirty="0">
              <a:solidFill>
                <a:schemeClr val="accent2"/>
              </a:solidFill>
              <a:ea typeface="ＭＳ Ｐゴシック" pitchFamily="34" charset="-128"/>
            </a:endParaRPr>
          </a:p>
          <a:p>
            <a:pPr marL="944118" lvl="1" indent="-457200" algn="just">
              <a:lnSpc>
                <a:spcPct val="150000"/>
              </a:lnSpc>
              <a:buClr>
                <a:schemeClr val="accent2"/>
              </a:buClr>
              <a:buFont typeface="+mj-lt"/>
              <a:buAutoNum type="arabicPeriod"/>
              <a:defRPr/>
            </a:pPr>
            <a:endParaRPr lang="en-US" altLang="en-US" sz="2200" dirty="0">
              <a:solidFill>
                <a:schemeClr val="accent2"/>
              </a:solidFill>
              <a:ea typeface="ＭＳ Ｐゴシック" pitchFamily="34" charset="-128"/>
            </a:endParaRPr>
          </a:p>
          <a:p>
            <a:pPr marL="944118" lvl="1" indent="-457200" algn="just">
              <a:lnSpc>
                <a:spcPct val="150000"/>
              </a:lnSpc>
              <a:buClr>
                <a:schemeClr val="accent2"/>
              </a:buClr>
              <a:buFont typeface="+mj-lt"/>
              <a:buAutoNum type="arabicPeriod"/>
              <a:defRPr/>
            </a:pPr>
            <a:endParaRPr lang="en-US" altLang="en-US" sz="2200" dirty="0">
              <a:solidFill>
                <a:schemeClr val="accent2"/>
              </a:solidFill>
              <a:ea typeface="ＭＳ Ｐゴシック" pitchFamily="34" charset="-128"/>
            </a:endParaRPr>
          </a:p>
          <a:p>
            <a:pPr algn="just">
              <a:lnSpc>
                <a:spcPct val="150000"/>
              </a:lnSpc>
              <a:buClr>
                <a:schemeClr val="accent2"/>
              </a:buClr>
              <a:defRPr/>
            </a:pPr>
            <a:endParaRPr lang="en-US" altLang="en-US" sz="2200" dirty="0">
              <a:solidFill>
                <a:schemeClr val="accent2"/>
              </a:solidFill>
              <a:ea typeface="ＭＳ Ｐゴシック" pitchFamily="34" charset="-128"/>
            </a:endParaRPr>
          </a:p>
          <a:p>
            <a:pPr marL="0" indent="0" algn="just">
              <a:lnSpc>
                <a:spcPct val="150000"/>
              </a:lnSpc>
              <a:buClr>
                <a:schemeClr val="accent2"/>
              </a:buClr>
              <a:buNone/>
              <a:defRPr/>
            </a:pPr>
            <a:endParaRPr lang="en-US" altLang="en-US" sz="2200" dirty="0">
              <a:solidFill>
                <a:schemeClr val="accent2"/>
              </a:solidFill>
              <a:ea typeface="ＭＳ Ｐゴシック" pitchFamily="34" charset="-128"/>
            </a:endParaRPr>
          </a:p>
        </p:txBody>
      </p:sp>
      <p:graphicFrame>
        <p:nvGraphicFramePr>
          <p:cNvPr id="3" name="Table 3">
            <a:extLst>
              <a:ext uri="{FF2B5EF4-FFF2-40B4-BE49-F238E27FC236}">
                <a16:creationId xmlns:a16="http://schemas.microsoft.com/office/drawing/2014/main" id="{C68E5081-661F-B24A-6259-AE2354EBFDCD}"/>
              </a:ext>
            </a:extLst>
          </p:cNvPr>
          <p:cNvGraphicFramePr>
            <a:graphicFrameLocks noGrp="1"/>
          </p:cNvGraphicFramePr>
          <p:nvPr/>
        </p:nvGraphicFramePr>
        <p:xfrm>
          <a:off x="1150960" y="2511188"/>
          <a:ext cx="6842079" cy="2773680"/>
        </p:xfrm>
        <a:graphic>
          <a:graphicData uri="http://schemas.openxmlformats.org/drawingml/2006/table">
            <a:tbl>
              <a:tblPr firstRow="1" bandRow="1">
                <a:tableStyleId>{69CF1AB2-1976-4502-BF36-3FF5EA218861}</a:tableStyleId>
              </a:tblPr>
              <a:tblGrid>
                <a:gridCol w="2670413">
                  <a:extLst>
                    <a:ext uri="{9D8B030D-6E8A-4147-A177-3AD203B41FA5}">
                      <a16:colId xmlns:a16="http://schemas.microsoft.com/office/drawing/2014/main" val="3479213045"/>
                    </a:ext>
                  </a:extLst>
                </a:gridCol>
                <a:gridCol w="2715905">
                  <a:extLst>
                    <a:ext uri="{9D8B030D-6E8A-4147-A177-3AD203B41FA5}">
                      <a16:colId xmlns:a16="http://schemas.microsoft.com/office/drawing/2014/main" val="3161769599"/>
                    </a:ext>
                  </a:extLst>
                </a:gridCol>
                <a:gridCol w="1455761">
                  <a:extLst>
                    <a:ext uri="{9D8B030D-6E8A-4147-A177-3AD203B41FA5}">
                      <a16:colId xmlns:a16="http://schemas.microsoft.com/office/drawing/2014/main" val="1969521866"/>
                    </a:ext>
                  </a:extLst>
                </a:gridCol>
              </a:tblGrid>
              <a:tr h="370840">
                <a:tc>
                  <a:txBody>
                    <a:bodyPr/>
                    <a:lstStyle/>
                    <a:p>
                      <a:r>
                        <a:rPr lang="en-US" altLang="en-US" sz="1600" b="0" dirty="0">
                          <a:solidFill>
                            <a:schemeClr val="accent2"/>
                          </a:solidFill>
                          <a:ea typeface="ＭＳ Ｐゴシック" pitchFamily="34" charset="-128"/>
                        </a:rPr>
                        <a:t>The business has </a:t>
                      </a:r>
                      <a:r>
                        <a:rPr lang="en-US" altLang="en-US" sz="1600" b="0" u="none" dirty="0">
                          <a:solidFill>
                            <a:schemeClr val="accent2"/>
                          </a:solidFill>
                          <a:ea typeface="ＭＳ Ｐゴシック" pitchFamily="34" charset="-128"/>
                        </a:rPr>
                        <a:t>delivered</a:t>
                      </a:r>
                      <a:r>
                        <a:rPr lang="en-US" altLang="en-US" sz="1600" b="0" dirty="0">
                          <a:solidFill>
                            <a:schemeClr val="accent2"/>
                          </a:solidFill>
                          <a:ea typeface="ＭＳ Ｐゴシック" pitchFamily="34" charset="-128"/>
                        </a:rPr>
                        <a:t> the goods or service to its customer</a:t>
                      </a:r>
                      <a:endParaRPr lang="en-US" sz="1600" b="0" dirty="0"/>
                    </a:p>
                  </a:txBody>
                  <a:tcPr anchor="ctr"/>
                </a:tc>
                <a:tc>
                  <a:txBody>
                    <a:bodyPr/>
                    <a:lstStyle/>
                    <a:p>
                      <a:r>
                        <a:rPr lang="en-CA" altLang="en-US" sz="1600" b="0" dirty="0">
                          <a:solidFill>
                            <a:schemeClr val="accent2"/>
                          </a:solidFill>
                          <a:ea typeface="ＭＳ Ｐゴシック" pitchFamily="34" charset="-128"/>
                        </a:rPr>
                        <a:t>Costco has not delivered the TV yet </a:t>
                      </a:r>
                      <a:endParaRPr lang="en-US" sz="1600" b="0" dirty="0"/>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altLang="en-US" sz="2400" dirty="0">
                          <a:solidFill>
                            <a:schemeClr val="accent2"/>
                          </a:solidFill>
                          <a:ea typeface="ＭＳ Ｐゴシック" pitchFamily="34" charset="-128"/>
                          <a:sym typeface="Wingdings" panose="05000000000000000000" pitchFamily="2" charset="2"/>
                        </a:rPr>
                        <a:t>X</a:t>
                      </a:r>
                      <a:endParaRPr lang="en-CA" altLang="en-US" sz="2400" dirty="0">
                        <a:solidFill>
                          <a:schemeClr val="accent2"/>
                        </a:solidFill>
                        <a:ea typeface="ＭＳ Ｐゴシック" pitchFamily="34" charset="-128"/>
                      </a:endParaRPr>
                    </a:p>
                    <a:p>
                      <a:pPr algn="ctr"/>
                      <a:endParaRPr lang="en-US" sz="2800" dirty="0"/>
                    </a:p>
                  </a:txBody>
                  <a:tcPr anchor="ctr"/>
                </a:tc>
                <a:extLst>
                  <a:ext uri="{0D108BD9-81ED-4DB2-BD59-A6C34878D82A}">
                    <a16:rowId xmlns:a16="http://schemas.microsoft.com/office/drawing/2014/main" val="2875064791"/>
                  </a:ext>
                </a:extLst>
              </a:tr>
              <a:tr h="370840">
                <a:tc>
                  <a:txBody>
                    <a:bodyPr/>
                    <a:lstStyle/>
                    <a:p>
                      <a:r>
                        <a:rPr lang="en-CA" altLang="en-US" sz="1600" dirty="0">
                          <a:solidFill>
                            <a:schemeClr val="accent2"/>
                          </a:solidFill>
                          <a:ea typeface="ＭＳ Ｐゴシック" pitchFamily="34" charset="-128"/>
                        </a:rPr>
                        <a:t>The amount of revenue can be </a:t>
                      </a:r>
                      <a:r>
                        <a:rPr lang="en-CA" altLang="en-US" sz="1600" b="0" u="none" dirty="0">
                          <a:solidFill>
                            <a:schemeClr val="accent2"/>
                          </a:solidFill>
                          <a:ea typeface="ＭＳ Ｐゴシック" pitchFamily="34" charset="-128"/>
                        </a:rPr>
                        <a:t>reliably measured</a:t>
                      </a:r>
                      <a:endParaRPr lang="en-US" sz="1600" b="0" u="none" dirty="0"/>
                    </a:p>
                  </a:txBody>
                  <a:tcPr anchor="ctr"/>
                </a:tc>
                <a:tc>
                  <a:txBody>
                    <a:bodyPr/>
                    <a:lstStyle/>
                    <a:p>
                      <a:r>
                        <a:rPr lang="en-CA" altLang="en-US" sz="1600" dirty="0">
                          <a:solidFill>
                            <a:schemeClr val="accent2"/>
                          </a:solidFill>
                          <a:ea typeface="ＭＳ Ｐゴシック" pitchFamily="34" charset="-128"/>
                        </a:rPr>
                        <a:t>The TV have a price of $500 </a:t>
                      </a:r>
                      <a:endParaRPr lang="en-US" sz="1600" dirty="0"/>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altLang="en-US" sz="2800" dirty="0">
                          <a:solidFill>
                            <a:schemeClr val="accent2"/>
                          </a:solidFill>
                          <a:ea typeface="ＭＳ Ｐゴシック" pitchFamily="34" charset="-128"/>
                          <a:sym typeface="Wingdings" panose="05000000000000000000" pitchFamily="2" charset="2"/>
                        </a:rPr>
                        <a:t></a:t>
                      </a:r>
                      <a:endParaRPr lang="en-CA" altLang="en-US" sz="2800" dirty="0">
                        <a:solidFill>
                          <a:schemeClr val="accent2"/>
                        </a:solidFill>
                        <a:ea typeface="ＭＳ Ｐゴシック" pitchFamily="34" charset="-128"/>
                      </a:endParaRPr>
                    </a:p>
                    <a:p>
                      <a:pPr algn="ctr"/>
                      <a:endParaRPr lang="en-US" sz="2800" dirty="0"/>
                    </a:p>
                  </a:txBody>
                  <a:tcPr anchor="ctr"/>
                </a:tc>
                <a:extLst>
                  <a:ext uri="{0D108BD9-81ED-4DB2-BD59-A6C34878D82A}">
                    <a16:rowId xmlns:a16="http://schemas.microsoft.com/office/drawing/2014/main" val="1351393534"/>
                  </a:ext>
                </a:extLst>
              </a:tr>
              <a:tr h="370840">
                <a:tc>
                  <a:txBody>
                    <a:bodyPr/>
                    <a:lstStyle/>
                    <a:p>
                      <a:r>
                        <a:rPr lang="en-CA" altLang="en-US" sz="1600" dirty="0">
                          <a:solidFill>
                            <a:schemeClr val="accent2"/>
                          </a:solidFill>
                          <a:ea typeface="ＭＳ Ｐゴシック" pitchFamily="34" charset="-128"/>
                        </a:rPr>
                        <a:t>It is</a:t>
                      </a:r>
                      <a:r>
                        <a:rPr lang="en-CA" altLang="en-US" sz="1600" b="0" u="none" dirty="0">
                          <a:solidFill>
                            <a:schemeClr val="accent2"/>
                          </a:solidFill>
                          <a:ea typeface="ＭＳ Ｐゴシック" pitchFamily="34" charset="-128"/>
                        </a:rPr>
                        <a:t> probable </a:t>
                      </a:r>
                      <a:r>
                        <a:rPr lang="en-CA" altLang="en-US" sz="1600" dirty="0">
                          <a:solidFill>
                            <a:schemeClr val="accent2"/>
                          </a:solidFill>
                          <a:ea typeface="ＭＳ Ｐゴシック" pitchFamily="34" charset="-128"/>
                        </a:rPr>
                        <a:t>the revenue will be received</a:t>
                      </a:r>
                      <a:endParaRPr lang="en-US" sz="1600" dirty="0"/>
                    </a:p>
                  </a:txBody>
                  <a:tcPr anchor="ctr"/>
                </a:tc>
                <a:tc>
                  <a:txBody>
                    <a:bodyPr/>
                    <a:lstStyle/>
                    <a:p>
                      <a:r>
                        <a:rPr lang="en-CA" altLang="en-US" sz="1600" dirty="0">
                          <a:solidFill>
                            <a:schemeClr val="accent2"/>
                          </a:solidFill>
                          <a:ea typeface="ＭＳ Ｐゴシック" pitchFamily="34" charset="-128"/>
                        </a:rPr>
                        <a:t>Costco received $500 in cash from you </a:t>
                      </a:r>
                      <a:endParaRPr lang="en-US" sz="1600" dirty="0"/>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altLang="en-US" sz="2800" dirty="0">
                          <a:solidFill>
                            <a:schemeClr val="accent2"/>
                          </a:solidFill>
                          <a:ea typeface="ＭＳ Ｐゴシック" pitchFamily="34" charset="-128"/>
                          <a:sym typeface="Wingdings" panose="05000000000000000000" pitchFamily="2" charset="2"/>
                        </a:rPr>
                        <a:t>X</a:t>
                      </a:r>
                      <a:endParaRPr lang="en-CA" altLang="en-US" sz="2800" dirty="0">
                        <a:solidFill>
                          <a:schemeClr val="accent2"/>
                        </a:solidFill>
                        <a:ea typeface="ＭＳ Ｐゴシック" pitchFamily="34" charset="-128"/>
                      </a:endParaRPr>
                    </a:p>
                    <a:p>
                      <a:pPr algn="ctr"/>
                      <a:endParaRPr lang="en-US" sz="2800" dirty="0"/>
                    </a:p>
                  </a:txBody>
                  <a:tcPr anchor="ctr"/>
                </a:tc>
                <a:extLst>
                  <a:ext uri="{0D108BD9-81ED-4DB2-BD59-A6C34878D82A}">
                    <a16:rowId xmlns:a16="http://schemas.microsoft.com/office/drawing/2014/main" val="2288023134"/>
                  </a:ext>
                </a:extLst>
              </a:tr>
            </a:tbl>
          </a:graphicData>
        </a:graphic>
      </p:graphicFrame>
      <p:sp>
        <p:nvSpPr>
          <p:cNvPr id="4" name="TextBox 3">
            <a:extLst>
              <a:ext uri="{FF2B5EF4-FFF2-40B4-BE49-F238E27FC236}">
                <a16:creationId xmlns:a16="http://schemas.microsoft.com/office/drawing/2014/main" id="{836E8D2E-D099-BD08-C096-9F6644361D6C}"/>
              </a:ext>
            </a:extLst>
          </p:cNvPr>
          <p:cNvSpPr txBox="1"/>
          <p:nvPr/>
        </p:nvSpPr>
        <p:spPr>
          <a:xfrm>
            <a:off x="291153" y="5606534"/>
            <a:ext cx="8443414" cy="369332"/>
          </a:xfrm>
          <a:prstGeom prst="rect">
            <a:avLst/>
          </a:prstGeom>
          <a:noFill/>
        </p:spPr>
        <p:txBody>
          <a:bodyPr wrap="square" rtlCol="0">
            <a:spAutoFit/>
          </a:bodyPr>
          <a:lstStyle/>
          <a:p>
            <a:r>
              <a:rPr lang="en-CA" altLang="en-US" b="1" dirty="0">
                <a:solidFill>
                  <a:schemeClr val="accent2"/>
                </a:solidFill>
                <a:ea typeface="ＭＳ Ｐゴシック" pitchFamily="34" charset="-128"/>
                <a:sym typeface="Wingdings" panose="05000000000000000000" pitchFamily="2" charset="2"/>
              </a:rPr>
              <a:t>No, Costco cannot recognize revenue since condition 1 &amp;3  are not met</a:t>
            </a:r>
            <a:endParaRPr lang="en-US" dirty="0"/>
          </a:p>
        </p:txBody>
      </p:sp>
    </p:spTree>
    <p:extLst>
      <p:ext uri="{BB962C8B-B14F-4D97-AF65-F5344CB8AC3E}">
        <p14:creationId xmlns:p14="http://schemas.microsoft.com/office/powerpoint/2010/main" val="2703019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6"/>
          <p:cNvSpPr>
            <a:spLocks noGrp="1" noChangeArrowheads="1"/>
          </p:cNvSpPr>
          <p:nvPr>
            <p:ph type="title" idx="4294967295"/>
          </p:nvPr>
        </p:nvSpPr>
        <p:spPr>
          <a:xfrm>
            <a:off x="0" y="613012"/>
            <a:ext cx="9039226" cy="533400"/>
          </a:xfrm>
        </p:spPr>
        <p:txBody>
          <a:bodyPr>
            <a:normAutofit fontScale="90000"/>
          </a:bodyPr>
          <a:lstStyle/>
          <a:p>
            <a:pPr algn="ctr" eaLnBrk="1" hangingPunct="1"/>
            <a:r>
              <a:rPr lang="en-US" altLang="en-US" sz="3200" b="1" dirty="0">
                <a:solidFill>
                  <a:schemeClr val="accent2"/>
                </a:solidFill>
              </a:rPr>
              <a:t>Expenses Definition</a:t>
            </a:r>
          </a:p>
        </p:txBody>
      </p:sp>
      <p:sp>
        <p:nvSpPr>
          <p:cNvPr id="26627" name="Rectangle 3"/>
          <p:cNvSpPr>
            <a:spLocks noGrp="1" noChangeArrowheads="1"/>
          </p:cNvSpPr>
          <p:nvPr>
            <p:ph type="body" idx="4294967295"/>
          </p:nvPr>
        </p:nvSpPr>
        <p:spPr>
          <a:xfrm>
            <a:off x="82722" y="1447800"/>
            <a:ext cx="8966200" cy="4611806"/>
          </a:xfrm>
        </p:spPr>
        <p:txBody>
          <a:bodyPr lIns="90000" tIns="44450" rIns="90488" bIns="44450">
            <a:normAutofit/>
          </a:bodyPr>
          <a:lstStyle/>
          <a:p>
            <a:pPr>
              <a:lnSpc>
                <a:spcPct val="150000"/>
              </a:lnSpc>
              <a:buClr>
                <a:schemeClr val="accent2"/>
              </a:buClr>
              <a:defRPr/>
            </a:pPr>
            <a:r>
              <a:rPr lang="en-CA" altLang="en-US" dirty="0">
                <a:solidFill>
                  <a:schemeClr val="accent2"/>
                </a:solidFill>
                <a:ea typeface="ＭＳ Ｐゴシック" pitchFamily="34" charset="-128"/>
              </a:rPr>
              <a:t>Expenses are costs incurred to purchases goods and services a company needs to run its business on a </a:t>
            </a:r>
            <a:r>
              <a:rPr lang="en-CA" altLang="en-US" b="1" u="sng" dirty="0">
                <a:solidFill>
                  <a:schemeClr val="accent2"/>
                </a:solidFill>
                <a:ea typeface="ＭＳ Ｐゴシック" pitchFamily="34" charset="-128"/>
              </a:rPr>
              <a:t>day-to-day</a:t>
            </a:r>
            <a:r>
              <a:rPr lang="en-CA" altLang="en-US" dirty="0">
                <a:solidFill>
                  <a:schemeClr val="accent2"/>
                </a:solidFill>
                <a:ea typeface="ＭＳ Ｐゴシック" pitchFamily="34" charset="-128"/>
              </a:rPr>
              <a:t> basis.</a:t>
            </a:r>
          </a:p>
          <a:p>
            <a:pPr>
              <a:lnSpc>
                <a:spcPct val="150000"/>
              </a:lnSpc>
              <a:buClr>
                <a:schemeClr val="accent2"/>
              </a:buClr>
              <a:defRPr/>
            </a:pPr>
            <a:r>
              <a:rPr lang="en-US" altLang="en-US" dirty="0">
                <a:solidFill>
                  <a:schemeClr val="accent2"/>
                </a:solidFill>
                <a:ea typeface="ＭＳ Ｐゴシック" pitchFamily="34" charset="-128"/>
              </a:rPr>
              <a:t>Expenses are </a:t>
            </a:r>
            <a:r>
              <a:rPr lang="en-CA" altLang="en-US" dirty="0">
                <a:solidFill>
                  <a:schemeClr val="accent2"/>
                </a:solidFill>
                <a:ea typeface="ＭＳ Ｐゴシック" pitchFamily="34" charset="-128"/>
              </a:rPr>
              <a:t>costs incurred to generate revenues</a:t>
            </a:r>
            <a:r>
              <a:rPr lang="en-CA" altLang="en-US" dirty="0">
                <a:solidFill>
                  <a:schemeClr val="accent2"/>
                </a:solidFill>
                <a:latin typeface="Arial" pitchFamily="34" charset="0"/>
                <a:ea typeface="ＭＳ Ｐゴシック" pitchFamily="34" charset="-128"/>
              </a:rPr>
              <a:t>. </a:t>
            </a:r>
          </a:p>
          <a:p>
            <a:pPr>
              <a:lnSpc>
                <a:spcPct val="150000"/>
              </a:lnSpc>
              <a:buClr>
                <a:schemeClr val="accent2"/>
              </a:buClr>
              <a:defRPr/>
            </a:pPr>
            <a:r>
              <a:rPr lang="en-CA" altLang="en-US" dirty="0">
                <a:solidFill>
                  <a:schemeClr val="accent2"/>
                </a:solidFill>
                <a:ea typeface="ＭＳ Ｐゴシック" pitchFamily="34" charset="-128"/>
              </a:rPr>
              <a:t>Typical expenses: </a:t>
            </a:r>
          </a:p>
          <a:p>
            <a:pPr marL="457189" lvl="1" indent="0">
              <a:buClr>
                <a:schemeClr val="accent2"/>
              </a:buClr>
              <a:buNone/>
              <a:defRPr/>
            </a:pPr>
            <a:r>
              <a:rPr lang="en-CA" altLang="en-US" sz="2400" i="1" dirty="0">
                <a:solidFill>
                  <a:schemeClr val="accent2"/>
                </a:solidFill>
                <a:ea typeface="ＭＳ Ｐゴシック" pitchFamily="34" charset="-128"/>
              </a:rPr>
              <a:t>cost of sales		wages expense</a:t>
            </a:r>
          </a:p>
          <a:p>
            <a:pPr marL="457189" lvl="1" indent="0">
              <a:buClr>
                <a:schemeClr val="accent2"/>
              </a:buClr>
              <a:buNone/>
              <a:defRPr/>
            </a:pPr>
            <a:r>
              <a:rPr lang="en-CA" altLang="en-US" sz="2400" i="1" dirty="0">
                <a:solidFill>
                  <a:schemeClr val="accent2"/>
                </a:solidFill>
                <a:ea typeface="ＭＳ Ｐゴシック" pitchFamily="34" charset="-128"/>
              </a:rPr>
              <a:t>utilities expense		rent expense</a:t>
            </a:r>
          </a:p>
          <a:p>
            <a:pPr marL="457189" lvl="1" indent="0">
              <a:buClr>
                <a:schemeClr val="accent2"/>
              </a:buClr>
              <a:buNone/>
              <a:defRPr/>
            </a:pPr>
            <a:r>
              <a:rPr lang="en-CA" altLang="en-US" sz="2400" i="1" dirty="0">
                <a:solidFill>
                  <a:schemeClr val="accent2"/>
                </a:solidFill>
                <a:ea typeface="ＭＳ Ｐゴシック" pitchFamily="34" charset="-128"/>
              </a:rPr>
              <a:t>depreciation expense</a:t>
            </a:r>
          </a:p>
        </p:txBody>
      </p:sp>
    </p:spTree>
    <p:extLst>
      <p:ext uri="{BB962C8B-B14F-4D97-AF65-F5344CB8AC3E}">
        <p14:creationId xmlns:p14="http://schemas.microsoft.com/office/powerpoint/2010/main" val="502646164"/>
      </p:ext>
    </p:extLst>
  </p:cSld>
  <p:clrMapOvr>
    <a:masterClrMapping/>
  </p:clrMapOvr>
  <p:transition>
    <p:strips dir="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581818" y="381000"/>
            <a:ext cx="8029575" cy="457200"/>
          </a:xfrm>
        </p:spPr>
        <p:txBody>
          <a:bodyPr anchor="ctr">
            <a:normAutofit fontScale="90000"/>
          </a:bodyPr>
          <a:lstStyle/>
          <a:p>
            <a:pPr algn="ctr" eaLnBrk="1" hangingPunct="1"/>
            <a:r>
              <a:rPr lang="en-CA" altLang="en-US" b="1" dirty="0">
                <a:solidFill>
                  <a:schemeClr val="accent2"/>
                </a:solidFill>
              </a:rPr>
              <a:t>The Matching Principle</a:t>
            </a:r>
          </a:p>
        </p:txBody>
      </p:sp>
      <p:sp>
        <p:nvSpPr>
          <p:cNvPr id="3" name="Content Placeholder 2"/>
          <p:cNvSpPr>
            <a:spLocks noGrp="1"/>
          </p:cNvSpPr>
          <p:nvPr>
            <p:ph idx="1"/>
          </p:nvPr>
        </p:nvSpPr>
        <p:spPr>
          <a:xfrm>
            <a:off x="152400" y="1219200"/>
            <a:ext cx="8888413" cy="5410200"/>
          </a:xfrm>
        </p:spPr>
        <p:txBody>
          <a:bodyPr>
            <a:normAutofit/>
          </a:bodyPr>
          <a:lstStyle/>
          <a:p>
            <a:pPr eaLnBrk="1" hangingPunct="1">
              <a:lnSpc>
                <a:spcPct val="150000"/>
              </a:lnSpc>
              <a:buClr>
                <a:schemeClr val="accent2"/>
              </a:buClr>
              <a:defRPr/>
            </a:pPr>
            <a:r>
              <a:rPr lang="en-US" altLang="en-US" sz="2400" dirty="0">
                <a:solidFill>
                  <a:schemeClr val="accent2"/>
                </a:solidFill>
                <a:ea typeface="ＭＳ Ｐゴシック" pitchFamily="34" charset="-128"/>
              </a:rPr>
              <a:t>Resources consumed to earn revenues in an accounting period should be recorded in that period, </a:t>
            </a:r>
            <a:r>
              <a:rPr lang="en-US" altLang="en-US" sz="2400" u="sng" dirty="0">
                <a:solidFill>
                  <a:schemeClr val="accent2"/>
                </a:solidFill>
                <a:ea typeface="ＭＳ Ｐゴシック" pitchFamily="34" charset="-128"/>
              </a:rPr>
              <a:t>regardless of when cash is paid.</a:t>
            </a:r>
          </a:p>
          <a:p>
            <a:pPr eaLnBrk="1" hangingPunct="1">
              <a:lnSpc>
                <a:spcPct val="150000"/>
              </a:lnSpc>
              <a:buClr>
                <a:schemeClr val="accent2"/>
              </a:buClr>
              <a:defRPr/>
            </a:pPr>
            <a:r>
              <a:rPr lang="en-CA" altLang="en-US" sz="2400" dirty="0">
                <a:solidFill>
                  <a:schemeClr val="accent2"/>
                </a:solidFill>
                <a:ea typeface="ＭＳ Ｐゴシック" pitchFamily="34" charset="-128"/>
              </a:rPr>
              <a:t>Costs incurred to generate revenues must be recognized in the same period — a matching of costs with benefits. </a:t>
            </a:r>
            <a:endParaRPr lang="en-CA" altLang="en-US" sz="2400" i="1" dirty="0">
              <a:solidFill>
                <a:schemeClr val="accent2"/>
              </a:solidFill>
            </a:endParaRPr>
          </a:p>
          <a:p>
            <a:pPr marL="0" indent="0" algn="just" eaLnBrk="1" hangingPunct="1">
              <a:lnSpc>
                <a:spcPct val="150000"/>
              </a:lnSpc>
              <a:buClr>
                <a:schemeClr val="tx2"/>
              </a:buClr>
              <a:buFont typeface="Wingdings 3" panose="05040102010807070707" pitchFamily="18" charset="2"/>
              <a:buNone/>
              <a:defRPr/>
            </a:pPr>
            <a:endParaRPr lang="en-US" altLang="en-US" sz="2500" dirty="0">
              <a:solidFill>
                <a:schemeClr val="tx2"/>
              </a:solidFill>
              <a:latin typeface="Arial" panose="020B0604020202020204" pitchFamily="34" charset="0"/>
              <a:ea typeface="ＭＳ Ｐゴシック" pitchFamily="34" charset="-128"/>
            </a:endParaRPr>
          </a:p>
          <a:p>
            <a:pPr algn="just" eaLnBrk="1" hangingPunct="1">
              <a:lnSpc>
                <a:spcPct val="150000"/>
              </a:lnSpc>
              <a:buClr>
                <a:schemeClr val="tx2"/>
              </a:buClr>
              <a:defRPr/>
            </a:pPr>
            <a:endParaRPr lang="en-US" altLang="en-US" dirty="0">
              <a:solidFill>
                <a:schemeClr val="tx2"/>
              </a:solidFill>
              <a:latin typeface="Arial" panose="020B0604020202020204" pitchFamily="34" charset="0"/>
              <a:ea typeface="ＭＳ Ｐゴシック" pitchFamily="34" charset="-128"/>
            </a:endParaRPr>
          </a:p>
          <a:p>
            <a:pPr marL="0" indent="0" algn="just" eaLnBrk="1" hangingPunct="1">
              <a:lnSpc>
                <a:spcPct val="150000"/>
              </a:lnSpc>
              <a:buClr>
                <a:schemeClr val="tx2"/>
              </a:buClr>
              <a:buFont typeface="Wingdings 3" panose="05040102010807070707" pitchFamily="18" charset="2"/>
              <a:buNone/>
              <a:defRPr/>
            </a:pPr>
            <a:endParaRPr lang="en-US" altLang="en-US" dirty="0">
              <a:solidFill>
                <a:schemeClr val="tx2"/>
              </a:solidFill>
              <a:latin typeface="Arial" panose="020B0604020202020204" pitchFamily="34" charset="0"/>
              <a:ea typeface="ＭＳ Ｐゴシック" pitchFamily="34" charset="-128"/>
            </a:endParaRPr>
          </a:p>
          <a:p>
            <a:pPr eaLnBrk="1" hangingPunct="1">
              <a:lnSpc>
                <a:spcPct val="150000"/>
              </a:lnSpc>
              <a:defRPr/>
            </a:pPr>
            <a:endParaRPr lang="en-CA" dirty="0">
              <a:solidFill>
                <a:schemeClr val="tx2"/>
              </a:solidFill>
              <a:latin typeface="Arial" panose="020B0604020202020204" pitchFamily="34" charset="0"/>
              <a:ea typeface="ＭＳ Ｐゴシック" pitchFamily="34" charset="-128"/>
            </a:endParaRPr>
          </a:p>
        </p:txBody>
      </p:sp>
    </p:spTree>
    <p:extLst>
      <p:ext uri="{BB962C8B-B14F-4D97-AF65-F5344CB8AC3E}">
        <p14:creationId xmlns:p14="http://schemas.microsoft.com/office/powerpoint/2010/main" val="1355507128"/>
      </p:ext>
    </p:extLst>
  </p:cSld>
  <p:clrMapOvr>
    <a:masterClrMapping/>
  </p:clrMapOvr>
  <p:transition>
    <p:wipe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Rounded Corners 14"/>
          <p:cNvSpPr/>
          <p:nvPr/>
        </p:nvSpPr>
        <p:spPr>
          <a:xfrm>
            <a:off x="76200" y="3657600"/>
            <a:ext cx="8892396" cy="2544417"/>
          </a:xfrm>
          <a:prstGeom prst="roundRect">
            <a:avLst/>
          </a:prstGeom>
          <a:solidFill>
            <a:schemeClr val="accent1">
              <a:lumMod val="20000"/>
              <a:lumOff val="80000"/>
              <a:alpha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2000" dirty="0" err="1"/>
          </a:p>
        </p:txBody>
      </p:sp>
      <p:sp>
        <p:nvSpPr>
          <p:cNvPr id="2" name="Title 1"/>
          <p:cNvSpPr>
            <a:spLocks noGrp="1"/>
          </p:cNvSpPr>
          <p:nvPr>
            <p:ph type="title"/>
          </p:nvPr>
        </p:nvSpPr>
        <p:spPr>
          <a:xfrm>
            <a:off x="129396" y="228600"/>
            <a:ext cx="8839200" cy="544068"/>
          </a:xfrm>
        </p:spPr>
        <p:txBody>
          <a:bodyPr>
            <a:normAutofit fontScale="90000"/>
          </a:bodyPr>
          <a:lstStyle/>
          <a:p>
            <a:pPr algn="ctr"/>
            <a:r>
              <a:rPr lang="en-US" altLang="en-US" sz="3200" dirty="0">
                <a:solidFill>
                  <a:schemeClr val="accent2"/>
                </a:solidFill>
                <a:ea typeface="ＭＳ Ｐゴシック" pitchFamily="34" charset="-128"/>
              </a:rPr>
              <a:t>Expense Recognition Conditions</a:t>
            </a:r>
            <a:endParaRPr lang="en-US" sz="3200" dirty="0">
              <a:solidFill>
                <a:schemeClr val="accent2"/>
              </a:solidFill>
            </a:endParaRPr>
          </a:p>
        </p:txBody>
      </p:sp>
      <p:sp>
        <p:nvSpPr>
          <p:cNvPr id="3" name="Rectangle 2"/>
          <p:cNvSpPr/>
          <p:nvPr/>
        </p:nvSpPr>
        <p:spPr>
          <a:xfrm>
            <a:off x="0" y="1219200"/>
            <a:ext cx="8983836" cy="5078313"/>
          </a:xfrm>
          <a:prstGeom prst="rect">
            <a:avLst/>
          </a:prstGeom>
        </p:spPr>
        <p:txBody>
          <a:bodyPr wrap="square">
            <a:spAutoFit/>
          </a:bodyPr>
          <a:lstStyle/>
          <a:p>
            <a:pPr marL="342900" indent="-342900" algn="just">
              <a:lnSpc>
                <a:spcPct val="150000"/>
              </a:lnSpc>
              <a:buClr>
                <a:schemeClr val="accent2"/>
              </a:buClr>
              <a:buFont typeface="Arial" panose="020B0604020202020204" pitchFamily="34" charset="0"/>
              <a:buChar char="•"/>
              <a:defRPr/>
            </a:pPr>
            <a:r>
              <a:rPr lang="en-CA" altLang="en-US" sz="2200" dirty="0">
                <a:solidFill>
                  <a:schemeClr val="accent2"/>
                </a:solidFill>
                <a:ea typeface="ＭＳ Ｐゴシック" pitchFamily="34" charset="-128"/>
              </a:rPr>
              <a:t>The expense recognition principle deals with 3 issues:</a:t>
            </a:r>
          </a:p>
          <a:p>
            <a:pPr marL="944118" lvl="1" indent="-457200" algn="just">
              <a:lnSpc>
                <a:spcPct val="150000"/>
              </a:lnSpc>
              <a:buClr>
                <a:schemeClr val="accent2"/>
              </a:buClr>
              <a:buFont typeface="+mj-lt"/>
              <a:buAutoNum type="arabicPeriod"/>
              <a:defRPr/>
            </a:pPr>
            <a:r>
              <a:rPr lang="en-US" altLang="en-US" sz="2200" dirty="0">
                <a:solidFill>
                  <a:schemeClr val="accent2"/>
                </a:solidFill>
                <a:ea typeface="ＭＳ Ｐゴシック" pitchFamily="34" charset="-128"/>
              </a:rPr>
              <a:t>Identify expenses incurred in generating revenue</a:t>
            </a:r>
          </a:p>
          <a:p>
            <a:pPr marL="944118" lvl="1" indent="-457200" algn="just">
              <a:lnSpc>
                <a:spcPct val="150000"/>
              </a:lnSpc>
              <a:buClr>
                <a:schemeClr val="accent2"/>
              </a:buClr>
              <a:buFont typeface="+mj-lt"/>
              <a:buAutoNum type="arabicPeriod"/>
              <a:defRPr/>
            </a:pPr>
            <a:r>
              <a:rPr lang="en-US" altLang="en-US" sz="2200" dirty="0">
                <a:solidFill>
                  <a:schemeClr val="accent2"/>
                </a:solidFill>
                <a:ea typeface="ＭＳ Ｐゴシック" pitchFamily="34" charset="-128"/>
              </a:rPr>
              <a:t>Measure these expenses</a:t>
            </a:r>
          </a:p>
          <a:p>
            <a:pPr marL="944118" lvl="1" indent="-457200" algn="just">
              <a:lnSpc>
                <a:spcPct val="150000"/>
              </a:lnSpc>
              <a:buClr>
                <a:schemeClr val="accent2"/>
              </a:buClr>
              <a:buFont typeface="+mj-lt"/>
              <a:buAutoNum type="arabicPeriod"/>
              <a:defRPr/>
            </a:pPr>
            <a:r>
              <a:rPr lang="en-US" altLang="en-US" sz="2200" dirty="0">
                <a:solidFill>
                  <a:schemeClr val="accent2"/>
                </a:solidFill>
                <a:ea typeface="ＭＳ Ｐゴシック" pitchFamily="34" charset="-128"/>
              </a:rPr>
              <a:t>Recognize them with related revenues</a:t>
            </a:r>
          </a:p>
          <a:p>
            <a:pPr marL="342900" indent="-342900" algn="just">
              <a:lnSpc>
                <a:spcPct val="150000"/>
              </a:lnSpc>
              <a:spcBef>
                <a:spcPts val="7200"/>
              </a:spcBef>
              <a:buClr>
                <a:schemeClr val="accent2"/>
              </a:buClr>
              <a:buFont typeface="Arial" panose="020B0604020202020204" pitchFamily="34" charset="0"/>
              <a:buChar char="•"/>
              <a:defRPr/>
            </a:pPr>
            <a:r>
              <a:rPr lang="en-US" altLang="en-US" sz="2200" dirty="0">
                <a:solidFill>
                  <a:schemeClr val="accent2"/>
                </a:solidFill>
                <a:ea typeface="ＭＳ Ｐゴシック" pitchFamily="34" charset="-128"/>
              </a:rPr>
              <a:t>The </a:t>
            </a:r>
            <a:r>
              <a:rPr lang="en-US" altLang="en-US" sz="2200" b="1" u="sng" dirty="0">
                <a:solidFill>
                  <a:schemeClr val="accent2"/>
                </a:solidFill>
                <a:ea typeface="ＭＳ Ｐゴシック" pitchFamily="34" charset="-128"/>
              </a:rPr>
              <a:t>2 conditions</a:t>
            </a:r>
            <a:r>
              <a:rPr lang="en-US" altLang="en-US" sz="2200" dirty="0">
                <a:solidFill>
                  <a:schemeClr val="accent2"/>
                </a:solidFill>
                <a:ea typeface="ＭＳ Ｐゴシック" pitchFamily="34" charset="-128"/>
              </a:rPr>
              <a:t> below must be met to recognize an expense:</a:t>
            </a:r>
          </a:p>
          <a:p>
            <a:pPr marL="944118" lvl="1" indent="-457200" algn="just">
              <a:lnSpc>
                <a:spcPct val="150000"/>
              </a:lnSpc>
              <a:buClr>
                <a:schemeClr val="accent2"/>
              </a:buClr>
              <a:buFont typeface="+mj-lt"/>
              <a:buAutoNum type="arabicPeriod"/>
              <a:defRPr/>
            </a:pPr>
            <a:r>
              <a:rPr lang="en-US" altLang="en-US" sz="2200" dirty="0">
                <a:solidFill>
                  <a:schemeClr val="accent2"/>
                </a:solidFill>
                <a:ea typeface="ＭＳ Ｐゴシック" pitchFamily="34" charset="-128"/>
              </a:rPr>
              <a:t>There has been a decrease in future economic benefit caused by a decrease in as asset or an increase in a liability.</a:t>
            </a:r>
          </a:p>
          <a:p>
            <a:pPr marL="944118" lvl="1" indent="-457200" algn="just">
              <a:lnSpc>
                <a:spcPct val="150000"/>
              </a:lnSpc>
              <a:buClr>
                <a:schemeClr val="accent2"/>
              </a:buClr>
              <a:buFont typeface="+mj-lt"/>
              <a:buAutoNum type="arabicPeriod"/>
              <a:defRPr/>
            </a:pPr>
            <a:r>
              <a:rPr lang="en-CA" altLang="en-US" sz="2200" dirty="0">
                <a:solidFill>
                  <a:schemeClr val="accent2"/>
                </a:solidFill>
                <a:ea typeface="ＭＳ Ｐゴシック" pitchFamily="34" charset="-128"/>
              </a:rPr>
              <a:t>The expense can be reliably measured.</a:t>
            </a:r>
            <a:endParaRPr lang="en-US" altLang="en-US" sz="2200" dirty="0">
              <a:solidFill>
                <a:schemeClr val="accent2"/>
              </a:solidFill>
              <a:ea typeface="ＭＳ Ｐゴシック" pitchFamily="34" charset="-128"/>
            </a:endParaRPr>
          </a:p>
        </p:txBody>
      </p:sp>
      <p:sp>
        <p:nvSpPr>
          <p:cNvPr id="14" name="Rectangle 13"/>
          <p:cNvSpPr/>
          <p:nvPr/>
        </p:nvSpPr>
        <p:spPr>
          <a:xfrm>
            <a:off x="1483646" y="3657600"/>
            <a:ext cx="5001690" cy="461665"/>
          </a:xfrm>
          <a:prstGeom prst="rect">
            <a:avLst/>
          </a:prstGeom>
        </p:spPr>
        <p:txBody>
          <a:bodyPr wrap="none">
            <a:spAutoFit/>
          </a:bodyPr>
          <a:lstStyle/>
          <a:p>
            <a:pPr algn="ctr"/>
            <a:r>
              <a:rPr lang="en-US" altLang="en-US" sz="2400" b="1" dirty="0">
                <a:solidFill>
                  <a:schemeClr val="accent2"/>
                </a:solidFill>
              </a:rPr>
              <a:t>Expense Recognition Conditions</a:t>
            </a:r>
            <a:endParaRPr lang="en-CA" sz="2400" b="1" dirty="0"/>
          </a:p>
        </p:txBody>
      </p:sp>
    </p:spTree>
    <p:extLst>
      <p:ext uri="{BB962C8B-B14F-4D97-AF65-F5344CB8AC3E}">
        <p14:creationId xmlns:p14="http://schemas.microsoft.com/office/powerpoint/2010/main" val="4082455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7118" y="217932"/>
            <a:ext cx="8229600" cy="630936"/>
          </a:xfrm>
        </p:spPr>
        <p:txBody>
          <a:bodyPr/>
          <a:lstStyle/>
          <a:p>
            <a:pPr algn="ctr"/>
            <a:r>
              <a:rPr lang="en-US" altLang="en-US" dirty="0">
                <a:solidFill>
                  <a:schemeClr val="accent2"/>
                </a:solidFill>
                <a:ea typeface="ＭＳ Ｐゴシック" pitchFamily="34" charset="-128"/>
              </a:rPr>
              <a:t>Matching Principle – Example 1</a:t>
            </a:r>
            <a:endParaRPr lang="en-US" dirty="0">
              <a:solidFill>
                <a:schemeClr val="accent2"/>
              </a:solidFill>
            </a:endParaRPr>
          </a:p>
        </p:txBody>
      </p:sp>
      <p:sp>
        <p:nvSpPr>
          <p:cNvPr id="3" name="Rectangle 2"/>
          <p:cNvSpPr/>
          <p:nvPr/>
        </p:nvSpPr>
        <p:spPr>
          <a:xfrm>
            <a:off x="0" y="848868"/>
            <a:ext cx="8983836" cy="1703864"/>
          </a:xfrm>
          <a:prstGeom prst="rect">
            <a:avLst/>
          </a:prstGeom>
        </p:spPr>
        <p:txBody>
          <a:bodyPr wrap="square">
            <a:spAutoFit/>
          </a:bodyPr>
          <a:lstStyle/>
          <a:p>
            <a:pPr marL="342900" indent="-342900">
              <a:lnSpc>
                <a:spcPct val="150000"/>
              </a:lnSpc>
              <a:buClr>
                <a:schemeClr val="accent2"/>
              </a:buClr>
              <a:buFont typeface="Arial" panose="020B0604020202020204" pitchFamily="34" charset="0"/>
              <a:buChar char="•"/>
              <a:defRPr/>
            </a:pPr>
            <a:r>
              <a:rPr lang="en-CA" altLang="en-US" dirty="0">
                <a:solidFill>
                  <a:schemeClr val="accent2"/>
                </a:solidFill>
                <a:ea typeface="ＭＳ Ｐゴシック" pitchFamily="34" charset="-128"/>
              </a:rPr>
              <a:t>You purchased a TV from Costco for $500 in cash and took it home.  Costco recognized Revenue and the cost of the TV sold was $100 . The matching principle says costs incurred to generate revenue must be recognized in the same period.  Let’s check if the 2 Expense Recognition conditions are met:</a:t>
            </a:r>
          </a:p>
        </p:txBody>
      </p:sp>
      <p:graphicFrame>
        <p:nvGraphicFramePr>
          <p:cNvPr id="4" name="Table 4">
            <a:extLst>
              <a:ext uri="{FF2B5EF4-FFF2-40B4-BE49-F238E27FC236}">
                <a16:creationId xmlns:a16="http://schemas.microsoft.com/office/drawing/2014/main" id="{55080942-D0B7-2134-8CA9-2AD819D2366B}"/>
              </a:ext>
            </a:extLst>
          </p:cNvPr>
          <p:cNvGraphicFramePr>
            <a:graphicFrameLocks noGrp="1"/>
          </p:cNvGraphicFramePr>
          <p:nvPr/>
        </p:nvGraphicFramePr>
        <p:xfrm>
          <a:off x="377118" y="2678208"/>
          <a:ext cx="8328471" cy="949960"/>
        </p:xfrm>
        <a:graphic>
          <a:graphicData uri="http://schemas.openxmlformats.org/drawingml/2006/table">
            <a:tbl>
              <a:tblPr firstRow="1" bandRow="1">
                <a:tableStyleId>{BC89EF96-8CEA-46FF-86C4-4CE0E7609802}</a:tableStyleId>
              </a:tblPr>
              <a:tblGrid>
                <a:gridCol w="6725140">
                  <a:extLst>
                    <a:ext uri="{9D8B030D-6E8A-4147-A177-3AD203B41FA5}">
                      <a16:colId xmlns:a16="http://schemas.microsoft.com/office/drawing/2014/main" val="857489944"/>
                    </a:ext>
                  </a:extLst>
                </a:gridCol>
                <a:gridCol w="1603331">
                  <a:extLst>
                    <a:ext uri="{9D8B030D-6E8A-4147-A177-3AD203B41FA5}">
                      <a16:colId xmlns:a16="http://schemas.microsoft.com/office/drawing/2014/main" val="10191198"/>
                    </a:ext>
                  </a:extLst>
                </a:gridCol>
              </a:tblGrid>
              <a:tr h="370840">
                <a:tc>
                  <a:txBody>
                    <a:bodyPr/>
                    <a:lstStyle/>
                    <a:p>
                      <a:r>
                        <a:rPr lang="en-CA" altLang="en-US" sz="1600" b="0" dirty="0">
                          <a:solidFill>
                            <a:schemeClr val="accent2"/>
                          </a:solidFill>
                          <a:ea typeface="ＭＳ Ｐゴシック" pitchFamily="34" charset="-128"/>
                        </a:rPr>
                        <a:t>You took the TV home, Costco’s TV inventory (an asset) decreased</a:t>
                      </a:r>
                      <a:endParaRPr lang="en-US" sz="1600" b="0" dirty="0"/>
                    </a:p>
                  </a:txBody>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altLang="en-US" sz="1600" b="0" dirty="0">
                          <a:solidFill>
                            <a:schemeClr val="accent2"/>
                          </a:solidFill>
                          <a:ea typeface="ＭＳ Ｐゴシック" pitchFamily="34" charset="-128"/>
                          <a:sym typeface="Wingdings" panose="05000000000000000000" pitchFamily="2" charset="2"/>
                        </a:rPr>
                        <a:t>Condition 1 </a:t>
                      </a:r>
                    </a:p>
                  </a:txBody>
                  <a:tcPr anchor="ctr"/>
                </a:tc>
                <a:extLst>
                  <a:ext uri="{0D108BD9-81ED-4DB2-BD59-A6C34878D82A}">
                    <a16:rowId xmlns:a16="http://schemas.microsoft.com/office/drawing/2014/main" val="1891350233"/>
                  </a:ext>
                </a:extLst>
              </a:tr>
              <a:tr h="370840">
                <a:tc>
                  <a:txBody>
                    <a:bodyPr/>
                    <a:lstStyle/>
                    <a:p>
                      <a:r>
                        <a:rPr lang="en-CA" altLang="en-US" sz="1600" dirty="0">
                          <a:solidFill>
                            <a:schemeClr val="accent2"/>
                          </a:solidFill>
                          <a:ea typeface="ＭＳ Ｐゴシック" pitchFamily="34" charset="-128"/>
                          <a:sym typeface="Wingdings" panose="05000000000000000000" pitchFamily="2" charset="2"/>
                        </a:rPr>
                        <a:t>Costco’s inventory records determine the cost of the TV sold to you (Cost of Goods Sold); The expense can be reliably measured</a:t>
                      </a:r>
                      <a:endParaRPr lang="en-US" sz="1600" dirty="0"/>
                    </a:p>
                  </a:txBody>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altLang="en-US" sz="1600" dirty="0">
                          <a:solidFill>
                            <a:schemeClr val="accent2"/>
                          </a:solidFill>
                          <a:ea typeface="ＭＳ Ｐゴシック" pitchFamily="34" charset="-128"/>
                          <a:sym typeface="Wingdings" panose="05000000000000000000" pitchFamily="2" charset="2"/>
                        </a:rPr>
                        <a:t>Condition 2 </a:t>
                      </a:r>
                    </a:p>
                    <a:p>
                      <a:pPr algn="ctr"/>
                      <a:endParaRPr lang="en-US" sz="1600" dirty="0"/>
                    </a:p>
                  </a:txBody>
                  <a:tcPr anchor="ctr"/>
                </a:tc>
                <a:extLst>
                  <a:ext uri="{0D108BD9-81ED-4DB2-BD59-A6C34878D82A}">
                    <a16:rowId xmlns:a16="http://schemas.microsoft.com/office/drawing/2014/main" val="1278846017"/>
                  </a:ext>
                </a:extLst>
              </a:tr>
            </a:tbl>
          </a:graphicData>
        </a:graphic>
      </p:graphicFrame>
      <p:sp>
        <p:nvSpPr>
          <p:cNvPr id="5" name="TextBox 4">
            <a:extLst>
              <a:ext uri="{FF2B5EF4-FFF2-40B4-BE49-F238E27FC236}">
                <a16:creationId xmlns:a16="http://schemas.microsoft.com/office/drawing/2014/main" id="{0B43E6E4-0CC0-2D46-AE7E-C0DDA65AD8D3}"/>
              </a:ext>
            </a:extLst>
          </p:cNvPr>
          <p:cNvSpPr txBox="1"/>
          <p:nvPr/>
        </p:nvSpPr>
        <p:spPr>
          <a:xfrm>
            <a:off x="226806" y="3814604"/>
            <a:ext cx="4082148" cy="1615827"/>
          </a:xfrm>
          <a:prstGeom prst="rect">
            <a:avLst/>
          </a:prstGeom>
          <a:noFill/>
        </p:spPr>
        <p:txBody>
          <a:bodyPr wrap="square" rtlCol="0">
            <a:spAutoFit/>
          </a:bodyPr>
          <a:lstStyle/>
          <a:p>
            <a:pPr marL="285750" indent="-285750">
              <a:lnSpc>
                <a:spcPct val="150000"/>
              </a:lnSpc>
              <a:buClr>
                <a:schemeClr val="accent2"/>
              </a:buClr>
              <a:buFont typeface="Wingdings" pitchFamily="2" charset="2"/>
              <a:buChar char="ü"/>
              <a:defRPr/>
            </a:pPr>
            <a:r>
              <a:rPr lang="en-CA" altLang="en-US" dirty="0">
                <a:solidFill>
                  <a:schemeClr val="accent2"/>
                </a:solidFill>
                <a:ea typeface="ＭＳ Ｐゴシック" pitchFamily="34" charset="-128"/>
              </a:rPr>
              <a:t>Recognize Revenue:</a:t>
            </a:r>
          </a:p>
          <a:p>
            <a:pPr algn="ctr">
              <a:lnSpc>
                <a:spcPct val="150000"/>
              </a:lnSpc>
              <a:buClr>
                <a:schemeClr val="accent2"/>
              </a:buClr>
              <a:defRPr/>
            </a:pPr>
            <a:r>
              <a:rPr lang="en-CA" altLang="en-US" dirty="0">
                <a:solidFill>
                  <a:schemeClr val="accent2"/>
                </a:solidFill>
                <a:ea typeface="ＭＳ Ｐゴシック" pitchFamily="34" charset="-128"/>
              </a:rPr>
              <a:t>DR Cash (+A)	   $500 	    	</a:t>
            </a:r>
          </a:p>
          <a:p>
            <a:pPr algn="ctr">
              <a:lnSpc>
                <a:spcPct val="150000"/>
              </a:lnSpc>
              <a:buClr>
                <a:schemeClr val="accent2"/>
              </a:buClr>
              <a:defRPr/>
            </a:pPr>
            <a:r>
              <a:rPr lang="en-CA" altLang="en-US" dirty="0">
                <a:solidFill>
                  <a:schemeClr val="accent2"/>
                </a:solidFill>
                <a:ea typeface="ＭＳ Ｐゴシック" pitchFamily="34" charset="-128"/>
              </a:rPr>
              <a:t>   CR Revenue (+R,+SE)	$500</a:t>
            </a:r>
          </a:p>
          <a:p>
            <a:endParaRPr lang="en-US" dirty="0"/>
          </a:p>
        </p:txBody>
      </p:sp>
      <p:sp>
        <p:nvSpPr>
          <p:cNvPr id="6" name="TextBox 5">
            <a:extLst>
              <a:ext uri="{FF2B5EF4-FFF2-40B4-BE49-F238E27FC236}">
                <a16:creationId xmlns:a16="http://schemas.microsoft.com/office/drawing/2014/main" id="{DEFA462D-B697-93EF-E93D-BBDEB4116BF2}"/>
              </a:ext>
            </a:extLst>
          </p:cNvPr>
          <p:cNvSpPr txBox="1"/>
          <p:nvPr/>
        </p:nvSpPr>
        <p:spPr>
          <a:xfrm>
            <a:off x="4075864" y="3814604"/>
            <a:ext cx="4907972" cy="1615827"/>
          </a:xfrm>
          <a:prstGeom prst="rect">
            <a:avLst/>
          </a:prstGeom>
          <a:noFill/>
        </p:spPr>
        <p:txBody>
          <a:bodyPr wrap="square" rtlCol="0">
            <a:spAutoFit/>
          </a:bodyPr>
          <a:lstStyle/>
          <a:p>
            <a:pPr marL="285750" indent="-285750">
              <a:lnSpc>
                <a:spcPct val="150000"/>
              </a:lnSpc>
              <a:buClr>
                <a:schemeClr val="accent2"/>
              </a:buClr>
              <a:buFont typeface="Wingdings" pitchFamily="2" charset="2"/>
              <a:buChar char="ü"/>
              <a:defRPr/>
            </a:pPr>
            <a:r>
              <a:rPr lang="en-CA" altLang="en-US" dirty="0">
                <a:solidFill>
                  <a:schemeClr val="accent2"/>
                </a:solidFill>
                <a:ea typeface="ＭＳ Ｐゴシック" pitchFamily="34" charset="-128"/>
              </a:rPr>
              <a:t>Recognize related expenses:</a:t>
            </a:r>
          </a:p>
          <a:p>
            <a:pPr algn="ctr">
              <a:lnSpc>
                <a:spcPct val="150000"/>
              </a:lnSpc>
              <a:buClr>
                <a:schemeClr val="accent2"/>
              </a:buClr>
              <a:defRPr/>
            </a:pPr>
            <a:r>
              <a:rPr lang="en-CA" altLang="en-US" dirty="0">
                <a:solidFill>
                  <a:schemeClr val="accent2"/>
                </a:solidFill>
                <a:ea typeface="ＭＳ Ｐゴシック" pitchFamily="34" charset="-128"/>
              </a:rPr>
              <a:t>DR Cost of goods sold (+E, -SE)  $100	</a:t>
            </a:r>
          </a:p>
          <a:p>
            <a:pPr algn="r">
              <a:lnSpc>
                <a:spcPct val="150000"/>
              </a:lnSpc>
              <a:buClr>
                <a:schemeClr val="accent2"/>
              </a:buClr>
              <a:defRPr/>
            </a:pPr>
            <a:r>
              <a:rPr lang="en-CA" altLang="en-US" dirty="0">
                <a:solidFill>
                  <a:schemeClr val="accent2"/>
                </a:solidFill>
                <a:ea typeface="ＭＳ Ｐゴシック" pitchFamily="34" charset="-128"/>
              </a:rPr>
              <a:t>          CR Inventory (-A)	 	   $100</a:t>
            </a:r>
          </a:p>
          <a:p>
            <a:endParaRPr lang="en-US" dirty="0"/>
          </a:p>
        </p:txBody>
      </p:sp>
      <p:sp>
        <p:nvSpPr>
          <p:cNvPr id="7" name="TextBox 6">
            <a:extLst>
              <a:ext uri="{FF2B5EF4-FFF2-40B4-BE49-F238E27FC236}">
                <a16:creationId xmlns:a16="http://schemas.microsoft.com/office/drawing/2014/main" id="{5BAD762A-8F1A-93E0-B969-EB933570B3C7}"/>
              </a:ext>
            </a:extLst>
          </p:cNvPr>
          <p:cNvSpPr txBox="1"/>
          <p:nvPr/>
        </p:nvSpPr>
        <p:spPr>
          <a:xfrm>
            <a:off x="4636848" y="5422647"/>
            <a:ext cx="3786004" cy="861774"/>
          </a:xfrm>
          <a:prstGeom prst="rect">
            <a:avLst/>
          </a:prstGeom>
          <a:noFill/>
        </p:spPr>
        <p:txBody>
          <a:bodyPr wrap="square" rtlCol="0">
            <a:spAutoFit/>
          </a:bodyPr>
          <a:lstStyle/>
          <a:p>
            <a:pPr algn="ctr"/>
            <a:r>
              <a:rPr lang="en-US" b="1" i="1" dirty="0"/>
              <a:t>Matching Principle </a:t>
            </a:r>
            <a:r>
              <a:rPr lang="en-US" sz="1600" b="1" i="1" dirty="0"/>
              <a:t>(more in Chapter 5 on COGS and Inventory)</a:t>
            </a:r>
          </a:p>
        </p:txBody>
      </p:sp>
      <p:sp>
        <p:nvSpPr>
          <p:cNvPr id="8" name="TextBox 7">
            <a:extLst>
              <a:ext uri="{FF2B5EF4-FFF2-40B4-BE49-F238E27FC236}">
                <a16:creationId xmlns:a16="http://schemas.microsoft.com/office/drawing/2014/main" id="{634EDA73-604C-E43F-842E-28B522BC168C}"/>
              </a:ext>
            </a:extLst>
          </p:cNvPr>
          <p:cNvSpPr txBox="1"/>
          <p:nvPr/>
        </p:nvSpPr>
        <p:spPr>
          <a:xfrm>
            <a:off x="319269" y="5824466"/>
            <a:ext cx="3897221" cy="369332"/>
          </a:xfrm>
          <a:prstGeom prst="rect">
            <a:avLst/>
          </a:prstGeom>
          <a:noFill/>
        </p:spPr>
        <p:txBody>
          <a:bodyPr wrap="none" rtlCol="0">
            <a:spAutoFit/>
          </a:bodyPr>
          <a:lstStyle/>
          <a:p>
            <a:r>
              <a:rPr lang="en-US" b="1" i="1" dirty="0"/>
              <a:t>Revenue Recognition Principle</a:t>
            </a:r>
          </a:p>
        </p:txBody>
      </p:sp>
      <p:sp>
        <p:nvSpPr>
          <p:cNvPr id="9" name="Up Arrow 8">
            <a:extLst>
              <a:ext uri="{FF2B5EF4-FFF2-40B4-BE49-F238E27FC236}">
                <a16:creationId xmlns:a16="http://schemas.microsoft.com/office/drawing/2014/main" id="{E334D50D-4B80-553C-A2D7-0F21CC187917}"/>
              </a:ext>
            </a:extLst>
          </p:cNvPr>
          <p:cNvSpPr/>
          <p:nvPr/>
        </p:nvSpPr>
        <p:spPr>
          <a:xfrm>
            <a:off x="1766170" y="5185775"/>
            <a:ext cx="338203" cy="63869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Up Arrow 9">
            <a:extLst>
              <a:ext uri="{FF2B5EF4-FFF2-40B4-BE49-F238E27FC236}">
                <a16:creationId xmlns:a16="http://schemas.microsoft.com/office/drawing/2014/main" id="{CB10571E-E17A-06AA-8B76-53E83FAC8F33}"/>
              </a:ext>
            </a:extLst>
          </p:cNvPr>
          <p:cNvSpPr/>
          <p:nvPr/>
        </p:nvSpPr>
        <p:spPr>
          <a:xfrm>
            <a:off x="5953432" y="5111086"/>
            <a:ext cx="327014" cy="319346"/>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32560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7438" y="304800"/>
            <a:ext cx="8229600" cy="630936"/>
          </a:xfrm>
        </p:spPr>
        <p:txBody>
          <a:bodyPr/>
          <a:lstStyle/>
          <a:p>
            <a:pPr algn="ctr"/>
            <a:r>
              <a:rPr lang="en-US" altLang="en-US" dirty="0">
                <a:solidFill>
                  <a:schemeClr val="accent2"/>
                </a:solidFill>
                <a:ea typeface="ＭＳ Ｐゴシック" pitchFamily="34" charset="-128"/>
              </a:rPr>
              <a:t>Matching Principle – Example 2</a:t>
            </a:r>
            <a:endParaRPr lang="en-US" dirty="0">
              <a:solidFill>
                <a:schemeClr val="accent2"/>
              </a:solidFill>
            </a:endParaRPr>
          </a:p>
        </p:txBody>
      </p:sp>
      <p:sp>
        <p:nvSpPr>
          <p:cNvPr id="3" name="Rectangle 2"/>
          <p:cNvSpPr/>
          <p:nvPr/>
        </p:nvSpPr>
        <p:spPr>
          <a:xfrm>
            <a:off x="0" y="847595"/>
            <a:ext cx="8983836" cy="2119234"/>
          </a:xfrm>
          <a:prstGeom prst="rect">
            <a:avLst/>
          </a:prstGeom>
        </p:spPr>
        <p:txBody>
          <a:bodyPr wrap="square">
            <a:spAutoFit/>
          </a:bodyPr>
          <a:lstStyle/>
          <a:p>
            <a:pPr marL="342900" indent="-342900">
              <a:lnSpc>
                <a:spcPct val="150000"/>
              </a:lnSpc>
              <a:buClr>
                <a:schemeClr val="accent2"/>
              </a:buClr>
              <a:buFont typeface="Arial" panose="020B0604020202020204" pitchFamily="34" charset="0"/>
              <a:buChar char="•"/>
              <a:defRPr/>
            </a:pPr>
            <a:r>
              <a:rPr lang="en-CA" altLang="en-US" dirty="0">
                <a:solidFill>
                  <a:schemeClr val="accent2"/>
                </a:solidFill>
                <a:ea typeface="ＭＳ Ｐゴシック" pitchFamily="34" charset="-128"/>
              </a:rPr>
              <a:t>Costco does not have the TV you want in stock. Costco orders it for you and asks you to come back in 4 days to pick it up. We determined previously that Costco cannot recognize Revenue. </a:t>
            </a:r>
          </a:p>
          <a:p>
            <a:pPr marL="342900" indent="-342900">
              <a:lnSpc>
                <a:spcPct val="150000"/>
              </a:lnSpc>
              <a:buClr>
                <a:schemeClr val="accent2"/>
              </a:buClr>
              <a:buFont typeface="Arial" panose="020B0604020202020204" pitchFamily="34" charset="0"/>
              <a:buChar char="•"/>
              <a:defRPr/>
            </a:pPr>
            <a:r>
              <a:rPr lang="en-CA" altLang="en-US" dirty="0">
                <a:solidFill>
                  <a:schemeClr val="accent2"/>
                </a:solidFill>
                <a:ea typeface="ＭＳ Ｐゴシック" pitchFamily="34" charset="-128"/>
              </a:rPr>
              <a:t>Costco cannot recognize an expense(Cost of Goods Sold) as Costco’s TV inventory (an asset) will not decrease until you purchase the TV </a:t>
            </a:r>
            <a:r>
              <a:rPr lang="en-CA" altLang="en-US" dirty="0">
                <a:solidFill>
                  <a:schemeClr val="accent2"/>
                </a:solidFill>
                <a:ea typeface="ＭＳ Ｐゴシック" pitchFamily="34" charset="-128"/>
                <a:sym typeface="Wingdings" panose="05000000000000000000" pitchFamily="2" charset="2"/>
              </a:rPr>
              <a:t> Condition 1 not met</a:t>
            </a:r>
          </a:p>
        </p:txBody>
      </p:sp>
    </p:spTree>
    <p:extLst>
      <p:ext uri="{BB962C8B-B14F-4D97-AF65-F5344CB8AC3E}">
        <p14:creationId xmlns:p14="http://schemas.microsoft.com/office/powerpoint/2010/main" val="2927205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2221"/>
            <a:ext cx="8229600" cy="546628"/>
          </a:xfrm>
        </p:spPr>
        <p:txBody>
          <a:bodyPr>
            <a:normAutofit fontScale="90000"/>
          </a:bodyPr>
          <a:lstStyle/>
          <a:p>
            <a:pPr algn="ctr"/>
            <a:r>
              <a:rPr lang="en-US" altLang="en-US" dirty="0">
                <a:solidFill>
                  <a:srgbClr val="C00000"/>
                </a:solidFill>
              </a:rPr>
              <a:t>Exercise 3-15 (page 161)</a:t>
            </a:r>
            <a:endParaRPr lang="en-US" b="0" dirty="0">
              <a:solidFill>
                <a:srgbClr val="C00000"/>
              </a:solidFill>
            </a:endParaRPr>
          </a:p>
        </p:txBody>
      </p:sp>
      <p:sp>
        <p:nvSpPr>
          <p:cNvPr id="3" name="Content Placeholder 2"/>
          <p:cNvSpPr>
            <a:spLocks noGrp="1"/>
          </p:cNvSpPr>
          <p:nvPr>
            <p:ph idx="1"/>
          </p:nvPr>
        </p:nvSpPr>
        <p:spPr>
          <a:xfrm>
            <a:off x="152400" y="1028849"/>
            <a:ext cx="8839200" cy="5486400"/>
          </a:xfrm>
        </p:spPr>
        <p:txBody>
          <a:bodyPr>
            <a:normAutofit/>
          </a:bodyPr>
          <a:lstStyle/>
          <a:p>
            <a:pPr>
              <a:lnSpc>
                <a:spcPct val="150000"/>
              </a:lnSpc>
              <a:buClr>
                <a:schemeClr val="accent2"/>
              </a:buClr>
              <a:defRPr/>
            </a:pPr>
            <a:r>
              <a:rPr lang="en-US" altLang="en-US" dirty="0">
                <a:solidFill>
                  <a:schemeClr val="accent2"/>
                </a:solidFill>
              </a:rPr>
              <a:t>During the year, Dish Networks Inc. earned revenues of $700 million.  Expenses totalled $540 million.  Dish collected all but $20 million of the revenues and paid $530 million on its expenses (assume Dish uses </a:t>
            </a:r>
            <a:r>
              <a:rPr lang="en-US" altLang="en-US" u="sng" dirty="0">
                <a:solidFill>
                  <a:schemeClr val="accent2"/>
                </a:solidFill>
              </a:rPr>
              <a:t>accrual accounting</a:t>
            </a:r>
            <a:r>
              <a:rPr lang="en-US" altLang="en-US" dirty="0">
                <a:solidFill>
                  <a:schemeClr val="accent2"/>
                </a:solidFill>
              </a:rPr>
              <a:t>).</a:t>
            </a:r>
          </a:p>
          <a:p>
            <a:pPr marL="944118" lvl="1" indent="-457200">
              <a:lnSpc>
                <a:spcPct val="150000"/>
              </a:lnSpc>
              <a:buClr>
                <a:schemeClr val="accent2"/>
              </a:buClr>
              <a:buFont typeface="Georgia" pitchFamily="18" charset="0"/>
              <a:buAutoNum type="alphaLcPeriod"/>
              <a:defRPr/>
            </a:pPr>
            <a:r>
              <a:rPr lang="en-US" altLang="en-US" dirty="0">
                <a:solidFill>
                  <a:schemeClr val="accent2"/>
                </a:solidFill>
              </a:rPr>
              <a:t>What amount of revenue should the company report for the year?   </a:t>
            </a:r>
          </a:p>
          <a:p>
            <a:pPr marL="944118" lvl="1" indent="-457200">
              <a:lnSpc>
                <a:spcPct val="150000"/>
              </a:lnSpc>
              <a:buClr>
                <a:schemeClr val="accent2"/>
              </a:buClr>
              <a:buFont typeface="Georgia" pitchFamily="18" charset="0"/>
              <a:buAutoNum type="alphaLcPeriod"/>
              <a:defRPr/>
            </a:pPr>
            <a:r>
              <a:rPr lang="en-US" altLang="en-US" dirty="0">
                <a:solidFill>
                  <a:schemeClr val="accent2"/>
                </a:solidFill>
              </a:rPr>
              <a:t>What amount of total expense should the company report for the year?</a:t>
            </a:r>
          </a:p>
          <a:p>
            <a:pPr marL="944118" lvl="1" indent="-457200">
              <a:lnSpc>
                <a:spcPct val="150000"/>
              </a:lnSpc>
              <a:buClr>
                <a:schemeClr val="accent2"/>
              </a:buClr>
              <a:buFont typeface="Georgia" pitchFamily="18" charset="0"/>
              <a:buAutoNum type="alphaLcPeriod"/>
              <a:defRPr/>
            </a:pPr>
            <a:r>
              <a:rPr lang="en-US" altLang="en-US" dirty="0">
                <a:solidFill>
                  <a:schemeClr val="accent2"/>
                </a:solidFill>
              </a:rPr>
              <a:t>Which financial statement reports revenues and expenses?  Which statement reports cash receipts and cash payments?</a:t>
            </a:r>
          </a:p>
        </p:txBody>
      </p:sp>
    </p:spTree>
    <p:extLst>
      <p:ext uri="{BB962C8B-B14F-4D97-AF65-F5344CB8AC3E}">
        <p14:creationId xmlns:p14="http://schemas.microsoft.com/office/powerpoint/2010/main" val="2971061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Three</a:t>
            </a:r>
          </a:p>
        </p:txBody>
      </p:sp>
      <p:sp>
        <p:nvSpPr>
          <p:cNvPr id="3" name="Subtitle 2"/>
          <p:cNvSpPr>
            <a:spLocks noGrp="1"/>
          </p:cNvSpPr>
          <p:nvPr>
            <p:ph type="subTitle" idx="1"/>
          </p:nvPr>
        </p:nvSpPr>
        <p:spPr/>
        <p:txBody>
          <a:bodyPr/>
          <a:lstStyle/>
          <a:p>
            <a:r>
              <a:rPr lang="en-US" altLang="en-US" b="1" dirty="0">
                <a:ea typeface="ＭＳ Ｐゴシック" pitchFamily="34" charset="-128"/>
              </a:rPr>
              <a:t>Record </a:t>
            </a:r>
            <a:r>
              <a:rPr lang="en-US" altLang="en-US" dirty="0">
                <a:ea typeface="ＭＳ Ｐゴシック" pitchFamily="34" charset="-128"/>
              </a:rPr>
              <a:t>adjusting journal entries</a:t>
            </a:r>
            <a:endParaRPr lang="en-US" dirty="0"/>
          </a:p>
        </p:txBody>
      </p:sp>
    </p:spTree>
    <p:extLst>
      <p:ext uri="{BB962C8B-B14F-4D97-AF65-F5344CB8AC3E}">
        <p14:creationId xmlns:p14="http://schemas.microsoft.com/office/powerpoint/2010/main" val="678616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Adjusting the Accounts</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Financial statements issued at end of period</a:t>
            </a:r>
          </a:p>
          <a:p>
            <a:r>
              <a:rPr lang="en-US" altLang="en-US" dirty="0">
                <a:ea typeface="ＭＳ Ｐゴシック" pitchFamily="34" charset="-128"/>
              </a:rPr>
              <a:t>Several accounts on trial balance need to be brought up-to-date</a:t>
            </a:r>
          </a:p>
          <a:p>
            <a:pPr lvl="1"/>
            <a:r>
              <a:rPr lang="en-US" altLang="en-US" dirty="0">
                <a:ea typeface="ＭＳ Ｐゴシック" pitchFamily="34" charset="-128"/>
              </a:rPr>
              <a:t>Certain transactions have not been recorded</a:t>
            </a:r>
            <a:endParaRPr lang="en-US" dirty="0"/>
          </a:p>
        </p:txBody>
      </p:sp>
    </p:spTree>
    <p:extLst>
      <p:ext uri="{BB962C8B-B14F-4D97-AF65-F5344CB8AC3E}">
        <p14:creationId xmlns:p14="http://schemas.microsoft.com/office/powerpoint/2010/main" val="363880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Categories of Adjustments</a:t>
            </a:r>
            <a:endParaRPr lang="en-US" dirty="0"/>
          </a:p>
        </p:txBody>
      </p:sp>
      <p:sp>
        <p:nvSpPr>
          <p:cNvPr id="4" name="Text Placeholder 3"/>
          <p:cNvSpPr>
            <a:spLocks noGrp="1"/>
          </p:cNvSpPr>
          <p:nvPr>
            <p:ph type="body" idx="1"/>
          </p:nvPr>
        </p:nvSpPr>
        <p:spPr>
          <a:xfrm>
            <a:off x="1698536" y="1905000"/>
            <a:ext cx="2743200" cy="1828800"/>
          </a:xfrm>
        </p:spPr>
        <p:txBody>
          <a:bodyPr/>
          <a:lstStyle/>
          <a:p>
            <a:pPr lvl="0"/>
            <a:r>
              <a:rPr lang="en-US" sz="2800" dirty="0"/>
              <a:t>Deferrals</a:t>
            </a:r>
            <a:endParaRPr lang="en-US" sz="2000" dirty="0"/>
          </a:p>
        </p:txBody>
      </p:sp>
      <p:sp>
        <p:nvSpPr>
          <p:cNvPr id="5" name="Content Placeholder 4"/>
          <p:cNvSpPr>
            <a:spLocks noGrp="1"/>
          </p:cNvSpPr>
          <p:nvPr>
            <p:ph sz="half" idx="2"/>
          </p:nvPr>
        </p:nvSpPr>
        <p:spPr>
          <a:xfrm>
            <a:off x="4706075" y="1905000"/>
            <a:ext cx="2743200" cy="1828800"/>
          </a:xfrm>
        </p:spPr>
        <p:txBody>
          <a:bodyPr/>
          <a:lstStyle/>
          <a:p>
            <a:pPr lvl="0"/>
            <a:r>
              <a:rPr lang="en-US" sz="2800" dirty="0"/>
              <a:t>Depreciation</a:t>
            </a:r>
            <a:endParaRPr lang="en-US" sz="2000" dirty="0"/>
          </a:p>
        </p:txBody>
      </p:sp>
      <p:sp>
        <p:nvSpPr>
          <p:cNvPr id="6" name="Text Placeholder 5"/>
          <p:cNvSpPr>
            <a:spLocks noGrp="1"/>
          </p:cNvSpPr>
          <p:nvPr>
            <p:ph type="body" sz="quarter" idx="3"/>
          </p:nvPr>
        </p:nvSpPr>
        <p:spPr>
          <a:xfrm>
            <a:off x="3200400" y="3997125"/>
            <a:ext cx="2743200" cy="1828800"/>
          </a:xfrm>
        </p:spPr>
        <p:txBody>
          <a:bodyPr/>
          <a:lstStyle/>
          <a:p>
            <a:pPr lvl="0"/>
            <a:r>
              <a:rPr lang="en-US" sz="2800" dirty="0"/>
              <a:t>Accruals</a:t>
            </a:r>
          </a:p>
        </p:txBody>
      </p:sp>
    </p:spTree>
    <p:extLst>
      <p:ext uri="{BB962C8B-B14F-4D97-AF65-F5344CB8AC3E}">
        <p14:creationId xmlns:p14="http://schemas.microsoft.com/office/powerpoint/2010/main" val="10770006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9296"/>
            <a:ext cx="8229600" cy="1097280"/>
          </a:xfrm>
        </p:spPr>
        <p:txBody>
          <a:bodyPr/>
          <a:lstStyle/>
          <a:p>
            <a:r>
              <a:rPr lang="en-US" altLang="en-US" dirty="0"/>
              <a:t>Deferrals</a:t>
            </a:r>
            <a:endParaRPr lang="en-US" dirty="0"/>
          </a:p>
        </p:txBody>
      </p:sp>
      <p:sp>
        <p:nvSpPr>
          <p:cNvPr id="5" name="Content Placeholder 4"/>
          <p:cNvSpPr>
            <a:spLocks noGrp="1"/>
          </p:cNvSpPr>
          <p:nvPr>
            <p:ph sz="half" idx="2"/>
          </p:nvPr>
        </p:nvSpPr>
        <p:spPr>
          <a:xfrm>
            <a:off x="457200" y="1600200"/>
            <a:ext cx="8229600" cy="427945"/>
          </a:xfrm>
        </p:spPr>
        <p:txBody>
          <a:bodyPr>
            <a:normAutofit lnSpcReduction="10000"/>
          </a:bodyPr>
          <a:lstStyle/>
          <a:p>
            <a:pPr>
              <a:buFont typeface="Arial" panose="020B0604020202020204" pitchFamily="34" charset="0"/>
              <a:buChar char="•"/>
            </a:pPr>
            <a:r>
              <a:rPr lang="en-US" altLang="en-US" dirty="0">
                <a:ea typeface="ＭＳ Ｐゴシック" pitchFamily="34" charset="-128"/>
              </a:rPr>
              <a:t>Business has paid or received cash in advance</a:t>
            </a:r>
            <a:endParaRPr lang="en-US" dirty="0"/>
          </a:p>
        </p:txBody>
      </p:sp>
      <p:sp>
        <p:nvSpPr>
          <p:cNvPr id="6" name="Text Placeholder 5"/>
          <p:cNvSpPr>
            <a:spLocks noGrp="1"/>
          </p:cNvSpPr>
          <p:nvPr>
            <p:ph type="body" idx="1"/>
          </p:nvPr>
        </p:nvSpPr>
        <p:spPr>
          <a:xfrm>
            <a:off x="457200" y="2103120"/>
            <a:ext cx="4040982" cy="457200"/>
          </a:xfrm>
          <a:solidFill>
            <a:srgbClr val="C5F3FF"/>
          </a:solidFill>
          <a:ln>
            <a:solidFill>
              <a:schemeClr val="tx1"/>
            </a:solidFill>
          </a:ln>
        </p:spPr>
        <p:txBody>
          <a:bodyPr anchor="ctr"/>
          <a:lstStyle/>
          <a:p>
            <a:pPr lvl="0" algn="ctr"/>
            <a:r>
              <a:rPr lang="en-US" dirty="0"/>
              <a:t>Prepaid expense</a:t>
            </a:r>
          </a:p>
        </p:txBody>
      </p:sp>
      <p:sp>
        <p:nvSpPr>
          <p:cNvPr id="9" name="Content Placeholder 8"/>
          <p:cNvSpPr>
            <a:spLocks noGrp="1"/>
          </p:cNvSpPr>
          <p:nvPr>
            <p:ph sz="half" idx="13"/>
          </p:nvPr>
        </p:nvSpPr>
        <p:spPr>
          <a:xfrm>
            <a:off x="457200" y="2567650"/>
            <a:ext cx="4042512" cy="1855788"/>
          </a:xfrm>
        </p:spPr>
        <p:txBody>
          <a:bodyPr/>
          <a:lstStyle/>
          <a:p>
            <a:pPr lvl="0"/>
            <a:r>
              <a:rPr lang="en-US" dirty="0"/>
              <a:t>Recorded as an asset when purchased</a:t>
            </a:r>
          </a:p>
          <a:p>
            <a:pPr lvl="0"/>
            <a:r>
              <a:rPr lang="en-US" dirty="0"/>
              <a:t>Expensed when used or expired</a:t>
            </a:r>
          </a:p>
        </p:txBody>
      </p:sp>
      <p:sp>
        <p:nvSpPr>
          <p:cNvPr id="7" name="Text Placeholder 6"/>
          <p:cNvSpPr>
            <a:spLocks noGrp="1"/>
          </p:cNvSpPr>
          <p:nvPr>
            <p:ph type="body" sz="quarter" idx="3"/>
          </p:nvPr>
        </p:nvSpPr>
        <p:spPr>
          <a:xfrm>
            <a:off x="4617720" y="2103120"/>
            <a:ext cx="4041648" cy="457200"/>
          </a:xfrm>
          <a:solidFill>
            <a:srgbClr val="C5F3FF"/>
          </a:solidFill>
          <a:ln>
            <a:solidFill>
              <a:schemeClr val="tx1"/>
            </a:solidFill>
          </a:ln>
        </p:spPr>
        <p:txBody>
          <a:bodyPr anchor="ctr"/>
          <a:lstStyle/>
          <a:p>
            <a:pPr lvl="0" algn="ctr"/>
            <a:r>
              <a:rPr lang="en-US" dirty="0"/>
              <a:t>Unearned revenue</a:t>
            </a:r>
          </a:p>
        </p:txBody>
      </p:sp>
      <p:sp>
        <p:nvSpPr>
          <p:cNvPr id="10" name="Content Placeholder 9"/>
          <p:cNvSpPr>
            <a:spLocks noGrp="1"/>
          </p:cNvSpPr>
          <p:nvPr>
            <p:ph sz="quarter" idx="14"/>
          </p:nvPr>
        </p:nvSpPr>
        <p:spPr>
          <a:xfrm>
            <a:off x="4637312" y="2567650"/>
            <a:ext cx="4049488" cy="1855788"/>
          </a:xfrm>
        </p:spPr>
        <p:txBody>
          <a:bodyPr/>
          <a:lstStyle/>
          <a:p>
            <a:pPr lvl="0"/>
            <a:r>
              <a:rPr lang="en-US" dirty="0"/>
              <a:t>Recorded as a liability when payment is received</a:t>
            </a:r>
          </a:p>
          <a:p>
            <a:pPr lvl="0"/>
            <a:r>
              <a:rPr lang="en-US" dirty="0"/>
              <a:t>Recorded as revenue when earned</a:t>
            </a:r>
          </a:p>
        </p:txBody>
      </p:sp>
    </p:spTree>
    <p:extLst>
      <p:ext uri="{BB962C8B-B14F-4D97-AF65-F5344CB8AC3E}">
        <p14:creationId xmlns:p14="http://schemas.microsoft.com/office/powerpoint/2010/main" val="34422207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Prepaid Expenses </a:t>
            </a:r>
            <a:r>
              <a:rPr lang="en-US" altLang="en-US" sz="2000" b="0" dirty="0"/>
              <a:t>(1 of 2)</a:t>
            </a:r>
            <a:endParaRPr lang="en-US" b="0" dirty="0"/>
          </a:p>
        </p:txBody>
      </p:sp>
      <p:sp>
        <p:nvSpPr>
          <p:cNvPr id="3" name="Content Placeholder 2"/>
          <p:cNvSpPr>
            <a:spLocks noGrp="1"/>
          </p:cNvSpPr>
          <p:nvPr>
            <p:ph idx="1"/>
          </p:nvPr>
        </p:nvSpPr>
        <p:spPr>
          <a:xfrm>
            <a:off x="457200" y="1600201"/>
            <a:ext cx="8229600" cy="533400"/>
          </a:xfrm>
        </p:spPr>
        <p:txBody>
          <a:bodyPr/>
          <a:lstStyle/>
          <a:p>
            <a:r>
              <a:rPr lang="en-US" altLang="en-US" sz="2600" dirty="0">
                <a:ea typeface="ＭＳ Ｐゴシック" pitchFamily="34" charset="-128"/>
              </a:rPr>
              <a:t>Recorded as assets when paid in advance</a:t>
            </a:r>
            <a:endParaRPr lang="en-US" sz="2600" dirty="0"/>
          </a:p>
        </p:txBody>
      </p:sp>
      <p:graphicFrame>
        <p:nvGraphicFramePr>
          <p:cNvPr id="5" name="Table 4"/>
          <p:cNvGraphicFramePr>
            <a:graphicFrameLocks noGrp="1"/>
          </p:cNvGraphicFramePr>
          <p:nvPr/>
        </p:nvGraphicFramePr>
        <p:xfrm>
          <a:off x="457200" y="2560320"/>
          <a:ext cx="8229600" cy="2773680"/>
        </p:xfrm>
        <a:graphic>
          <a:graphicData uri="http://schemas.openxmlformats.org/drawingml/2006/table">
            <a:tbl>
              <a:tblPr firstRow="1" bandRow="1">
                <a:tableStyleId>{2D5ABB26-0587-4C30-8999-92F81FD0307C}</a:tableStyleId>
              </a:tblPr>
              <a:tblGrid>
                <a:gridCol w="990600">
                  <a:extLst>
                    <a:ext uri="{9D8B030D-6E8A-4147-A177-3AD203B41FA5}">
                      <a16:colId xmlns:a16="http://schemas.microsoft.com/office/drawing/2014/main" val="20000"/>
                    </a:ext>
                  </a:extLst>
                </a:gridCol>
                <a:gridCol w="4253753">
                  <a:extLst>
                    <a:ext uri="{9D8B030D-6E8A-4147-A177-3AD203B41FA5}">
                      <a16:colId xmlns:a16="http://schemas.microsoft.com/office/drawing/2014/main" val="20001"/>
                    </a:ext>
                  </a:extLst>
                </a:gridCol>
                <a:gridCol w="1510129">
                  <a:extLst>
                    <a:ext uri="{9D8B030D-6E8A-4147-A177-3AD203B41FA5}">
                      <a16:colId xmlns:a16="http://schemas.microsoft.com/office/drawing/2014/main" val="20002"/>
                    </a:ext>
                  </a:extLst>
                </a:gridCol>
                <a:gridCol w="1475118">
                  <a:extLst>
                    <a:ext uri="{9D8B030D-6E8A-4147-A177-3AD203B41FA5}">
                      <a16:colId xmlns:a16="http://schemas.microsoft.com/office/drawing/2014/main" val="20003"/>
                    </a:ext>
                  </a:extLst>
                </a:gridCol>
              </a:tblGrid>
              <a:tr h="396240">
                <a:tc gridSpan="4">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JOURNAL</a:t>
                      </a:r>
                      <a:endParaRPr lang="en-US" sz="1800" i="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i="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algn="ct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algn="ct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96240">
                <a:tc>
                  <a:txBody>
                    <a:bodyPr/>
                    <a:lstStyle/>
                    <a:p>
                      <a:r>
                        <a:rPr lang="en-US" sz="1800" dirty="0"/>
                        <a:t>Date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r>
                        <a:rPr lang="en-US" sz="1800" dirty="0"/>
                        <a:t>Accounts</a:t>
                      </a:r>
                      <a:endParaRPr lang="en-US" sz="1800" i="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r>
                        <a:rPr lang="en-US" sz="1800" dirty="0"/>
                        <a:t>Debit</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r>
                        <a:rPr lang="en-US" sz="1800" dirty="0"/>
                        <a:t>Credit</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96240">
                <a:tc>
                  <a:txBody>
                    <a:bodyPr/>
                    <a:lstStyle/>
                    <a:p>
                      <a:r>
                        <a:rPr lang="en-US" sz="1800" dirty="0"/>
                        <a:t>Jun 1</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lang="en-US" sz="1800" dirty="0"/>
                        <a:t>Prepaid Rent</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lang="en-US" sz="1800" dirty="0"/>
                        <a:t>3,000</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96240">
                <a:tc>
                  <a:txBody>
                    <a:bodyPr/>
                    <a:lstStyle/>
                    <a:p>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mn-cs"/>
                        </a:rPr>
                        <a:t>Cash</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lang="en-US" sz="1800" dirty="0"/>
                        <a:t>3,000</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96240">
                <a:tc>
                  <a:txBody>
                    <a:bodyPr/>
                    <a:lstStyle/>
                    <a:p>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en-US" sz="1800" i="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96240">
                <a:tc>
                  <a:txBody>
                    <a:bodyPr/>
                    <a:lstStyle/>
                    <a:p>
                      <a:r>
                        <a:rPr lang="en-US" sz="1800" baseline="0" dirty="0"/>
                        <a:t>Jun 2</a:t>
                      </a: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lang="en-US" sz="1800" dirty="0"/>
                        <a:t>Supplies</a:t>
                      </a:r>
                      <a:endParaRPr lang="en-US" sz="1800" i="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lang="en-US" sz="1800" dirty="0"/>
                        <a:t>700</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96240">
                <a:tc>
                  <a:txBody>
                    <a:bodyPr/>
                    <a:lstStyle/>
                    <a:p>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mn-cs"/>
                        </a:rPr>
                        <a:t>Cash</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lang="en-US" sz="1800" dirty="0"/>
                        <a:t>700</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5489673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Prepaid Expenses </a:t>
            </a:r>
            <a:r>
              <a:rPr lang="en-US" altLang="en-US" sz="2000" b="0" dirty="0"/>
              <a:t>(2 of 2)</a:t>
            </a:r>
            <a:endParaRPr lang="en-US" b="0" dirty="0"/>
          </a:p>
        </p:txBody>
      </p:sp>
      <p:sp>
        <p:nvSpPr>
          <p:cNvPr id="3" name="Content Placeholder 2"/>
          <p:cNvSpPr>
            <a:spLocks noGrp="1"/>
          </p:cNvSpPr>
          <p:nvPr>
            <p:ph idx="1"/>
          </p:nvPr>
        </p:nvSpPr>
        <p:spPr>
          <a:xfrm>
            <a:off x="457200" y="1600200"/>
            <a:ext cx="8229600" cy="457199"/>
          </a:xfrm>
        </p:spPr>
        <p:txBody>
          <a:bodyPr>
            <a:normAutofit lnSpcReduction="10000"/>
          </a:bodyPr>
          <a:lstStyle/>
          <a:p>
            <a:r>
              <a:rPr lang="en-US" altLang="en-US" sz="2600" dirty="0">
                <a:ea typeface="ＭＳ Ｐゴシック" pitchFamily="34" charset="-128"/>
              </a:rPr>
              <a:t>Expensed when expired or used</a:t>
            </a:r>
            <a:endParaRPr lang="en-US" sz="2600" dirty="0"/>
          </a:p>
        </p:txBody>
      </p:sp>
      <p:graphicFrame>
        <p:nvGraphicFramePr>
          <p:cNvPr id="6" name="Table 5"/>
          <p:cNvGraphicFramePr>
            <a:graphicFrameLocks noGrp="1"/>
          </p:cNvGraphicFramePr>
          <p:nvPr/>
        </p:nvGraphicFramePr>
        <p:xfrm>
          <a:off x="457200" y="2560320"/>
          <a:ext cx="8305800" cy="2773680"/>
        </p:xfrm>
        <a:graphic>
          <a:graphicData uri="http://schemas.openxmlformats.org/drawingml/2006/table">
            <a:tbl>
              <a:tblPr firstRow="1" bandRow="1">
                <a:tableStyleId>{2D5ABB26-0587-4C30-8999-92F81FD0307C}</a:tableStyleId>
              </a:tblPr>
              <a:tblGrid>
                <a:gridCol w="1066800">
                  <a:extLst>
                    <a:ext uri="{9D8B030D-6E8A-4147-A177-3AD203B41FA5}">
                      <a16:colId xmlns:a16="http://schemas.microsoft.com/office/drawing/2014/main" val="20000"/>
                    </a:ext>
                  </a:extLst>
                </a:gridCol>
                <a:gridCol w="4226111">
                  <a:extLst>
                    <a:ext uri="{9D8B030D-6E8A-4147-A177-3AD203B41FA5}">
                      <a16:colId xmlns:a16="http://schemas.microsoft.com/office/drawing/2014/main" val="20001"/>
                    </a:ext>
                  </a:extLst>
                </a:gridCol>
                <a:gridCol w="1524112">
                  <a:extLst>
                    <a:ext uri="{9D8B030D-6E8A-4147-A177-3AD203B41FA5}">
                      <a16:colId xmlns:a16="http://schemas.microsoft.com/office/drawing/2014/main" val="20002"/>
                    </a:ext>
                  </a:extLst>
                </a:gridCol>
                <a:gridCol w="1488777">
                  <a:extLst>
                    <a:ext uri="{9D8B030D-6E8A-4147-A177-3AD203B41FA5}">
                      <a16:colId xmlns:a16="http://schemas.microsoft.com/office/drawing/2014/main" val="20003"/>
                    </a:ext>
                  </a:extLst>
                </a:gridCol>
              </a:tblGrid>
              <a:tr h="396240">
                <a:tc gridSpan="4">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JOURNAL</a:t>
                      </a:r>
                      <a:endParaRPr lang="en-US" sz="1800" i="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i="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algn="ct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algn="ct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96240">
                <a:tc>
                  <a:txBody>
                    <a:bodyPr/>
                    <a:lstStyle/>
                    <a:p>
                      <a:r>
                        <a:rPr lang="en-US" sz="1800" dirty="0"/>
                        <a:t>Date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sz="1800" dirty="0"/>
                        <a:t>Accounts </a:t>
                      </a:r>
                      <a:endParaRPr lang="en-US" sz="1800" i="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sz="1800" dirty="0"/>
                        <a:t>Debit</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sz="1800" dirty="0"/>
                        <a:t>Credit</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96240">
                <a:tc>
                  <a:txBody>
                    <a:bodyPr/>
                    <a:lstStyle/>
                    <a:p>
                      <a:r>
                        <a:rPr lang="en-US" sz="1800" dirty="0"/>
                        <a:t>Jun</a:t>
                      </a:r>
                      <a:r>
                        <a:rPr lang="en-US" sz="1800" baseline="0" dirty="0"/>
                        <a:t> 30</a:t>
                      </a: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dirty="0"/>
                        <a:t>Rent Expense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sz="1800" dirty="0"/>
                        <a:t>1,000</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96240">
                <a:tc>
                  <a:txBody>
                    <a:bodyPr/>
                    <a:lstStyle/>
                    <a:p>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sz="1800" dirty="0"/>
                        <a:t>Prepaid Rent</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sz="1800" dirty="0"/>
                        <a:t>1,000</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96240">
                <a:tc>
                  <a:txBody>
                    <a:bodyPr/>
                    <a:lstStyle/>
                    <a:p>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96240">
                <a:tc>
                  <a:txBody>
                    <a:bodyPr/>
                    <a:lstStyle/>
                    <a:p>
                      <a:r>
                        <a:rPr lang="en-US" sz="1800" dirty="0"/>
                        <a:t>Jun 30</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dirty="0"/>
                        <a:t>Supplies Expense</a:t>
                      </a:r>
                      <a:endParaRPr lang="en-US" sz="1800" i="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sz="1800" dirty="0"/>
                        <a:t>300</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96240">
                <a:tc>
                  <a:txBody>
                    <a:bodyPr/>
                    <a:lstStyle/>
                    <a:p>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mn-cs"/>
                        </a:rPr>
                        <a:t>Supplies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sz="1800" dirty="0"/>
                        <a:t>300</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92148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6916"/>
            <a:ext cx="8229600" cy="1097280"/>
          </a:xfrm>
        </p:spPr>
        <p:txBody>
          <a:bodyPr/>
          <a:lstStyle/>
          <a:p>
            <a:r>
              <a:rPr lang="en-US" altLang="en-US" dirty="0"/>
              <a:t>Prepaid Rent</a:t>
            </a:r>
            <a:endParaRPr lang="en-US" dirty="0"/>
          </a:p>
        </p:txBody>
      </p:sp>
      <p:graphicFrame>
        <p:nvGraphicFramePr>
          <p:cNvPr id="4" name="Table 3"/>
          <p:cNvGraphicFramePr>
            <a:graphicFrameLocks noGrp="1"/>
          </p:cNvGraphicFramePr>
          <p:nvPr/>
        </p:nvGraphicFramePr>
        <p:xfrm>
          <a:off x="492760" y="1808480"/>
          <a:ext cx="3963035" cy="1762760"/>
        </p:xfrm>
        <a:graphic>
          <a:graphicData uri="http://schemas.openxmlformats.org/drawingml/2006/table">
            <a:tbl>
              <a:tblPr firstRow="1" bandRow="1">
                <a:tableStyleId>{2D5ABB26-0587-4C30-8999-92F81FD0307C}</a:tableStyleId>
              </a:tblPr>
              <a:tblGrid>
                <a:gridCol w="1887855">
                  <a:extLst>
                    <a:ext uri="{9D8B030D-6E8A-4147-A177-3AD203B41FA5}">
                      <a16:colId xmlns:a16="http://schemas.microsoft.com/office/drawing/2014/main" val="20000"/>
                    </a:ext>
                  </a:extLst>
                </a:gridCol>
                <a:gridCol w="2075180">
                  <a:extLst>
                    <a:ext uri="{9D8B030D-6E8A-4147-A177-3AD203B41FA5}">
                      <a16:colId xmlns:a16="http://schemas.microsoft.com/office/drawing/2014/main" val="20001"/>
                    </a:ext>
                  </a:extLst>
                </a:gridCol>
              </a:tblGrid>
              <a:tr h="304800">
                <a:tc gridSpan="2">
                  <a:txBody>
                    <a:bodyPr/>
                    <a:lstStyle/>
                    <a:p>
                      <a:pPr algn="ctr"/>
                      <a:r>
                        <a:rPr lang="en-US" altLang="en-US" sz="2000" dirty="0">
                          <a:solidFill>
                            <a:schemeClr val="tx1"/>
                          </a:solidFill>
                        </a:rPr>
                        <a:t>Prepaid Rent</a:t>
                      </a:r>
                      <a:endParaRPr lang="en-US" sz="2000" dirty="0">
                        <a:solidFill>
                          <a:schemeClr val="tx1"/>
                        </a:solidFill>
                      </a:endParaRP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24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Jun 1        </a:t>
                      </a:r>
                      <a:r>
                        <a:rPr lang="en-US" altLang="en-US" sz="1800" dirty="0">
                          <a:solidFill>
                            <a:schemeClr val="tx1"/>
                          </a:solidFill>
                        </a:rPr>
                        <a:t>3,000</a:t>
                      </a:r>
                      <a:endParaRPr lang="en-US" sz="1800" dirty="0">
                        <a:solidFill>
                          <a:schemeClr val="tx1"/>
                        </a:solidFill>
                      </a:endParaRPr>
                    </a:p>
                  </a:txBody>
                  <a:tcP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solidFill>
                            <a:schemeClr val="tx1"/>
                          </a:solidFill>
                        </a:rPr>
                        <a:t>1,000         </a:t>
                      </a:r>
                      <a:r>
                        <a:rPr lang="en-US" altLang="en-US" sz="1800" dirty="0"/>
                        <a:t>Jun 30</a:t>
                      </a:r>
                      <a:endParaRPr lang="en-US" sz="180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b="1" dirty="0">
                          <a:solidFill>
                            <a:schemeClr val="tx1"/>
                          </a:solidFill>
                        </a:rPr>
                        <a:t>                 2,000</a:t>
                      </a:r>
                      <a:endParaRPr lang="en-US" sz="1800" dirty="0">
                        <a:solidFill>
                          <a:schemeClr val="tx1"/>
                        </a:solidFill>
                      </a:endParaRPr>
                    </a:p>
                  </a:txBody>
                  <a:tcP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tcPr>
                </a:tc>
                <a:extLst>
                  <a:ext uri="{0D108BD9-81ED-4DB2-BD59-A6C34878D82A}">
                    <a16:rowId xmlns:a16="http://schemas.microsoft.com/office/drawing/2014/main" val="10003"/>
                  </a:ext>
                </a:extLst>
              </a:tr>
            </a:tbl>
          </a:graphicData>
        </a:graphic>
      </p:graphicFrame>
      <p:cxnSp>
        <p:nvCxnSpPr>
          <p:cNvPr id="16" name="Straight Arrow Connector 15" descr="Straight Arrow Connector"/>
          <p:cNvCxnSpPr/>
          <p:nvPr/>
        </p:nvCxnSpPr>
        <p:spPr>
          <a:xfrm>
            <a:off x="1828800" y="3124200"/>
            <a:ext cx="660400" cy="88646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 name="Text Placeholder 5"/>
          <p:cNvSpPr>
            <a:spLocks noGrp="1"/>
          </p:cNvSpPr>
          <p:nvPr>
            <p:ph type="body" idx="1"/>
          </p:nvPr>
        </p:nvSpPr>
        <p:spPr>
          <a:xfrm>
            <a:off x="1919323" y="4089580"/>
            <a:ext cx="2119277" cy="863420"/>
          </a:xfrm>
        </p:spPr>
        <p:txBody>
          <a:bodyPr/>
          <a:lstStyle/>
          <a:p>
            <a:r>
              <a:rPr lang="en-US" sz="2000" dirty="0"/>
              <a:t>Amount remaining</a:t>
            </a:r>
          </a:p>
        </p:txBody>
      </p:sp>
      <p:sp>
        <p:nvSpPr>
          <p:cNvPr id="7" name="Content Placeholder 6"/>
          <p:cNvSpPr>
            <a:spLocks noGrp="1"/>
          </p:cNvSpPr>
          <p:nvPr>
            <p:ph sz="half" idx="2"/>
          </p:nvPr>
        </p:nvSpPr>
        <p:spPr>
          <a:xfrm>
            <a:off x="1919323" y="5080180"/>
            <a:ext cx="2119277" cy="863420"/>
          </a:xfrm>
        </p:spPr>
        <p:txBody>
          <a:bodyPr/>
          <a:lstStyle/>
          <a:p>
            <a:pPr marL="0" indent="0"/>
            <a:r>
              <a:rPr lang="en-US" sz="2000" dirty="0"/>
              <a:t>Balance Sheet</a:t>
            </a:r>
          </a:p>
        </p:txBody>
      </p:sp>
      <p:graphicFrame>
        <p:nvGraphicFramePr>
          <p:cNvPr id="5" name="Table 4"/>
          <p:cNvGraphicFramePr>
            <a:graphicFrameLocks noGrp="1"/>
          </p:cNvGraphicFramePr>
          <p:nvPr/>
        </p:nvGraphicFramePr>
        <p:xfrm>
          <a:off x="5465175" y="1808480"/>
          <a:ext cx="3149600" cy="1508760"/>
        </p:xfrm>
        <a:graphic>
          <a:graphicData uri="http://schemas.openxmlformats.org/drawingml/2006/table">
            <a:tbl>
              <a:tblPr firstRow="1" bandRow="1">
                <a:tableStyleId>{2D5ABB26-0587-4C30-8999-92F81FD0307C}</a:tableStyleId>
              </a:tblPr>
              <a:tblGrid>
                <a:gridCol w="1821180">
                  <a:extLst>
                    <a:ext uri="{9D8B030D-6E8A-4147-A177-3AD203B41FA5}">
                      <a16:colId xmlns:a16="http://schemas.microsoft.com/office/drawing/2014/main" val="20000"/>
                    </a:ext>
                  </a:extLst>
                </a:gridCol>
                <a:gridCol w="1328420">
                  <a:extLst>
                    <a:ext uri="{9D8B030D-6E8A-4147-A177-3AD203B41FA5}">
                      <a16:colId xmlns:a16="http://schemas.microsoft.com/office/drawing/2014/main" val="20001"/>
                    </a:ext>
                  </a:extLst>
                </a:gridCol>
              </a:tblGrid>
              <a:tr h="304800">
                <a:tc gridSpan="2">
                  <a:txBody>
                    <a:bodyPr/>
                    <a:lstStyle/>
                    <a:p>
                      <a:pPr algn="ctr" eaLnBrk="1" hangingPunct="1"/>
                      <a:r>
                        <a:rPr lang="en-US" altLang="en-US" sz="2000" dirty="0">
                          <a:solidFill>
                            <a:schemeClr val="tx1"/>
                          </a:solidFill>
                        </a:rPr>
                        <a:t>Rent Expense</a:t>
                      </a: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Jun 30     </a:t>
                      </a:r>
                      <a:r>
                        <a:rPr lang="en-US" altLang="en-US" sz="1800" dirty="0">
                          <a:solidFill>
                            <a:schemeClr val="tx1"/>
                          </a:solidFill>
                        </a:rPr>
                        <a:t>1,000</a:t>
                      </a:r>
                      <a:endParaRPr lang="en-US" sz="1800" dirty="0">
                        <a:solidFill>
                          <a:schemeClr val="tx1"/>
                        </a:solidFill>
                      </a:endParaRPr>
                    </a:p>
                  </a:txBody>
                  <a:tcP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tcPr>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tcPr>
                </a:tc>
                <a:extLst>
                  <a:ext uri="{0D108BD9-81ED-4DB2-BD59-A6C34878D82A}">
                    <a16:rowId xmlns:a16="http://schemas.microsoft.com/office/drawing/2014/main" val="10003"/>
                  </a:ext>
                </a:extLst>
              </a:tr>
            </a:tbl>
          </a:graphicData>
        </a:graphic>
      </p:graphicFrame>
      <p:cxnSp>
        <p:nvCxnSpPr>
          <p:cNvPr id="18" name="Straight Arrow Connector 17" descr="Straight Arrow Connector"/>
          <p:cNvCxnSpPr/>
          <p:nvPr/>
        </p:nvCxnSpPr>
        <p:spPr>
          <a:xfrm flipH="1">
            <a:off x="6621072" y="2514600"/>
            <a:ext cx="194457" cy="1510236"/>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3"/>
          </p:nvPr>
        </p:nvSpPr>
        <p:spPr>
          <a:xfrm>
            <a:off x="5727192" y="4093464"/>
            <a:ext cx="2121408" cy="859536"/>
          </a:xfrm>
        </p:spPr>
        <p:txBody>
          <a:bodyPr/>
          <a:lstStyle/>
          <a:p>
            <a:pPr>
              <a:defRPr/>
            </a:pPr>
            <a:r>
              <a:rPr lang="en-US" sz="2000" dirty="0"/>
              <a:t>Amount expired</a:t>
            </a:r>
          </a:p>
        </p:txBody>
      </p:sp>
      <p:sp>
        <p:nvSpPr>
          <p:cNvPr id="9" name="Content Placeholder 8"/>
          <p:cNvSpPr>
            <a:spLocks noGrp="1"/>
          </p:cNvSpPr>
          <p:nvPr>
            <p:ph sz="quarter" idx="4"/>
          </p:nvPr>
        </p:nvSpPr>
        <p:spPr>
          <a:xfrm>
            <a:off x="5727192" y="5084064"/>
            <a:ext cx="2121408" cy="859536"/>
          </a:xfrm>
        </p:spPr>
        <p:txBody>
          <a:bodyPr/>
          <a:lstStyle/>
          <a:p>
            <a:pPr marL="0" indent="0">
              <a:defRPr/>
            </a:pPr>
            <a:r>
              <a:rPr lang="en-US" sz="2000" dirty="0"/>
              <a:t>Income Statement</a:t>
            </a:r>
          </a:p>
        </p:txBody>
      </p:sp>
    </p:spTree>
    <p:extLst>
      <p:ext uri="{BB962C8B-B14F-4D97-AF65-F5344CB8AC3E}">
        <p14:creationId xmlns:p14="http://schemas.microsoft.com/office/powerpoint/2010/main" val="10768539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0312"/>
            <a:ext cx="8229600" cy="1097280"/>
          </a:xfrm>
        </p:spPr>
        <p:txBody>
          <a:bodyPr/>
          <a:lstStyle/>
          <a:p>
            <a:r>
              <a:rPr lang="en-US" altLang="en-US" dirty="0"/>
              <a:t>Supplies</a:t>
            </a:r>
            <a:endParaRPr lang="en-US" dirty="0"/>
          </a:p>
        </p:txBody>
      </p:sp>
      <p:graphicFrame>
        <p:nvGraphicFramePr>
          <p:cNvPr id="4" name="Table 3"/>
          <p:cNvGraphicFramePr>
            <a:graphicFrameLocks noGrp="1"/>
          </p:cNvGraphicFramePr>
          <p:nvPr/>
        </p:nvGraphicFramePr>
        <p:xfrm>
          <a:off x="492760" y="1808480"/>
          <a:ext cx="3810000" cy="1762760"/>
        </p:xfrm>
        <a:graphic>
          <a:graphicData uri="http://schemas.openxmlformats.org/drawingml/2006/table">
            <a:tbl>
              <a:tblPr firstRow="1" bandRow="1">
                <a:tableStyleId>{2D5ABB26-0587-4C30-8999-92F81FD0307C}</a:tableStyleId>
              </a:tblPr>
              <a:tblGrid>
                <a:gridCol w="1887855">
                  <a:extLst>
                    <a:ext uri="{9D8B030D-6E8A-4147-A177-3AD203B41FA5}">
                      <a16:colId xmlns:a16="http://schemas.microsoft.com/office/drawing/2014/main" val="20000"/>
                    </a:ext>
                  </a:extLst>
                </a:gridCol>
                <a:gridCol w="1922145">
                  <a:extLst>
                    <a:ext uri="{9D8B030D-6E8A-4147-A177-3AD203B41FA5}">
                      <a16:colId xmlns:a16="http://schemas.microsoft.com/office/drawing/2014/main" val="20001"/>
                    </a:ext>
                  </a:extLst>
                </a:gridCol>
              </a:tblGrid>
              <a:tr h="304800">
                <a:tc gridSpan="2">
                  <a:txBody>
                    <a:bodyPr/>
                    <a:lstStyle/>
                    <a:p>
                      <a:pPr marL="0" algn="ctr" defTabSz="914400" rtl="0" eaLnBrk="1" latinLnBrk="0" hangingPunct="1"/>
                      <a:r>
                        <a:rPr lang="en-US" altLang="en-US" sz="2000" kern="1200" dirty="0">
                          <a:solidFill>
                            <a:schemeClr val="tx1"/>
                          </a:solidFill>
                          <a:latin typeface="+mn-lt"/>
                          <a:ea typeface="+mn-ea"/>
                          <a:cs typeface="+mn-cs"/>
                        </a:rPr>
                        <a:t>Supplies</a:t>
                      </a: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24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Jun 2        700</a:t>
                      </a:r>
                      <a:endParaRPr lang="en-US" sz="1800" dirty="0">
                        <a:solidFill>
                          <a:schemeClr val="tx1"/>
                        </a:solidFill>
                      </a:endParaRPr>
                    </a:p>
                  </a:txBody>
                  <a:tcP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solidFill>
                            <a:schemeClr val="tx1"/>
                          </a:solidFill>
                        </a:rPr>
                        <a:t>300         </a:t>
                      </a:r>
                      <a:r>
                        <a:rPr lang="en-US" altLang="en-US" sz="1800" dirty="0"/>
                        <a:t>Jun 30</a:t>
                      </a:r>
                      <a:endParaRPr lang="en-US" sz="180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b="1" dirty="0">
                          <a:solidFill>
                            <a:schemeClr val="tx1"/>
                          </a:solidFill>
                        </a:rPr>
                        <a:t>                 </a:t>
                      </a:r>
                      <a:r>
                        <a:rPr lang="en-US" altLang="en-US" sz="1800" b="1" dirty="0"/>
                        <a:t>400</a:t>
                      </a:r>
                      <a:endParaRPr lang="en-US" sz="1800" dirty="0">
                        <a:solidFill>
                          <a:schemeClr val="tx1"/>
                        </a:solidFill>
                      </a:endParaRPr>
                    </a:p>
                  </a:txBody>
                  <a:tcP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tcPr>
                </a:tc>
                <a:extLst>
                  <a:ext uri="{0D108BD9-81ED-4DB2-BD59-A6C34878D82A}">
                    <a16:rowId xmlns:a16="http://schemas.microsoft.com/office/drawing/2014/main" val="10003"/>
                  </a:ext>
                </a:extLst>
              </a:tr>
            </a:tbl>
          </a:graphicData>
        </a:graphic>
      </p:graphicFrame>
      <p:cxnSp>
        <p:nvCxnSpPr>
          <p:cNvPr id="16" name="Straight Arrow Connector 15" descr="Straight Arrow Connector"/>
          <p:cNvCxnSpPr/>
          <p:nvPr/>
        </p:nvCxnSpPr>
        <p:spPr>
          <a:xfrm>
            <a:off x="2006600" y="3124200"/>
            <a:ext cx="660400" cy="88646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 name="Text Placeholder 5"/>
          <p:cNvSpPr>
            <a:spLocks noGrp="1"/>
          </p:cNvSpPr>
          <p:nvPr>
            <p:ph type="body" idx="1"/>
          </p:nvPr>
        </p:nvSpPr>
        <p:spPr>
          <a:xfrm>
            <a:off x="1919323" y="4089580"/>
            <a:ext cx="2119277" cy="863420"/>
          </a:xfrm>
        </p:spPr>
        <p:txBody>
          <a:bodyPr/>
          <a:lstStyle/>
          <a:p>
            <a:r>
              <a:rPr lang="en-US" sz="2000" dirty="0"/>
              <a:t>Amount on hand</a:t>
            </a:r>
          </a:p>
        </p:txBody>
      </p:sp>
      <p:sp>
        <p:nvSpPr>
          <p:cNvPr id="7" name="Content Placeholder 6"/>
          <p:cNvSpPr>
            <a:spLocks noGrp="1"/>
          </p:cNvSpPr>
          <p:nvPr>
            <p:ph sz="half" idx="2"/>
          </p:nvPr>
        </p:nvSpPr>
        <p:spPr>
          <a:xfrm>
            <a:off x="1919323" y="5080180"/>
            <a:ext cx="2119277" cy="863420"/>
          </a:xfrm>
        </p:spPr>
        <p:txBody>
          <a:bodyPr/>
          <a:lstStyle/>
          <a:p>
            <a:pPr marL="0" indent="0"/>
            <a:r>
              <a:rPr lang="en-US" sz="2000" dirty="0"/>
              <a:t>Balance Sheet</a:t>
            </a:r>
          </a:p>
        </p:txBody>
      </p:sp>
      <p:graphicFrame>
        <p:nvGraphicFramePr>
          <p:cNvPr id="5" name="Table 4"/>
          <p:cNvGraphicFramePr>
            <a:graphicFrameLocks noGrp="1"/>
          </p:cNvGraphicFramePr>
          <p:nvPr/>
        </p:nvGraphicFramePr>
        <p:xfrm>
          <a:off x="5638800" y="1808480"/>
          <a:ext cx="2971800" cy="1508760"/>
        </p:xfrm>
        <a:graphic>
          <a:graphicData uri="http://schemas.openxmlformats.org/drawingml/2006/table">
            <a:tbl>
              <a:tblPr firstRow="1" bandRow="1">
                <a:tableStyleId>{2D5ABB26-0587-4C30-8999-92F81FD0307C}</a:tableStyleId>
              </a:tblPr>
              <a:tblGrid>
                <a:gridCol w="1643380">
                  <a:extLst>
                    <a:ext uri="{9D8B030D-6E8A-4147-A177-3AD203B41FA5}">
                      <a16:colId xmlns:a16="http://schemas.microsoft.com/office/drawing/2014/main" val="20000"/>
                    </a:ext>
                  </a:extLst>
                </a:gridCol>
                <a:gridCol w="1328420">
                  <a:extLst>
                    <a:ext uri="{9D8B030D-6E8A-4147-A177-3AD203B41FA5}">
                      <a16:colId xmlns:a16="http://schemas.microsoft.com/office/drawing/2014/main" val="20001"/>
                    </a:ext>
                  </a:extLst>
                </a:gridCol>
              </a:tblGrid>
              <a:tr h="304800">
                <a:tc gridSpan="2">
                  <a:txBody>
                    <a:bodyPr/>
                    <a:lstStyle/>
                    <a:p>
                      <a:pPr marL="0" algn="ctr" defTabSz="914400" rtl="0" eaLnBrk="1" latinLnBrk="0" hangingPunct="1"/>
                      <a:r>
                        <a:rPr lang="en-US" altLang="en-US" sz="2000" kern="1200" dirty="0">
                          <a:solidFill>
                            <a:schemeClr val="tx1"/>
                          </a:solidFill>
                          <a:latin typeface="+mn-lt"/>
                          <a:ea typeface="+mn-ea"/>
                          <a:cs typeface="+mn-cs"/>
                        </a:rPr>
                        <a:t>Supplies Expense</a:t>
                      </a: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Jun 30     300</a:t>
                      </a:r>
                      <a:endParaRPr lang="en-US" sz="1800" dirty="0">
                        <a:solidFill>
                          <a:schemeClr val="tx1"/>
                        </a:solidFill>
                      </a:endParaRPr>
                    </a:p>
                  </a:txBody>
                  <a:tcP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tcPr>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tcPr>
                </a:tc>
                <a:extLst>
                  <a:ext uri="{0D108BD9-81ED-4DB2-BD59-A6C34878D82A}">
                    <a16:rowId xmlns:a16="http://schemas.microsoft.com/office/drawing/2014/main" val="10003"/>
                  </a:ext>
                </a:extLst>
              </a:tr>
            </a:tbl>
          </a:graphicData>
        </a:graphic>
      </p:graphicFrame>
      <p:cxnSp>
        <p:nvCxnSpPr>
          <p:cNvPr id="18" name="Straight Arrow Connector 17" descr="Straight Arrow Connector"/>
          <p:cNvCxnSpPr/>
          <p:nvPr/>
        </p:nvCxnSpPr>
        <p:spPr>
          <a:xfrm flipH="1">
            <a:off x="6621072" y="2514600"/>
            <a:ext cx="194457" cy="1510236"/>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3"/>
          </p:nvPr>
        </p:nvSpPr>
        <p:spPr>
          <a:xfrm>
            <a:off x="5727192" y="4093464"/>
            <a:ext cx="2121408" cy="859536"/>
          </a:xfrm>
        </p:spPr>
        <p:txBody>
          <a:bodyPr/>
          <a:lstStyle/>
          <a:p>
            <a:pPr>
              <a:defRPr/>
            </a:pPr>
            <a:r>
              <a:rPr lang="en-US" sz="2000" dirty="0"/>
              <a:t>Amount used</a:t>
            </a:r>
          </a:p>
        </p:txBody>
      </p:sp>
      <p:sp>
        <p:nvSpPr>
          <p:cNvPr id="9" name="Content Placeholder 8"/>
          <p:cNvSpPr>
            <a:spLocks noGrp="1"/>
          </p:cNvSpPr>
          <p:nvPr>
            <p:ph sz="quarter" idx="4"/>
          </p:nvPr>
        </p:nvSpPr>
        <p:spPr>
          <a:xfrm>
            <a:off x="5727192" y="5084064"/>
            <a:ext cx="2121408" cy="859536"/>
          </a:xfrm>
        </p:spPr>
        <p:txBody>
          <a:bodyPr/>
          <a:lstStyle/>
          <a:p>
            <a:pPr marL="0" indent="0">
              <a:defRPr/>
            </a:pPr>
            <a:r>
              <a:rPr lang="en-US" sz="2000" dirty="0"/>
              <a:t>Income Statement</a:t>
            </a:r>
          </a:p>
        </p:txBody>
      </p:sp>
    </p:spTree>
    <p:extLst>
      <p:ext uri="{BB962C8B-B14F-4D97-AF65-F5344CB8AC3E}">
        <p14:creationId xmlns:p14="http://schemas.microsoft.com/office/powerpoint/2010/main" val="21274963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Unearned Revenue </a:t>
            </a:r>
            <a:r>
              <a:rPr lang="en-US" altLang="en-US" sz="2000" b="0" dirty="0"/>
              <a:t>(1 of 2)</a:t>
            </a:r>
            <a:endParaRPr lang="en-US" b="0" dirty="0"/>
          </a:p>
        </p:txBody>
      </p:sp>
      <p:sp>
        <p:nvSpPr>
          <p:cNvPr id="3" name="Content Placeholder 2"/>
          <p:cNvSpPr>
            <a:spLocks noGrp="1"/>
          </p:cNvSpPr>
          <p:nvPr>
            <p:ph idx="1"/>
          </p:nvPr>
        </p:nvSpPr>
        <p:spPr>
          <a:xfrm>
            <a:off x="457200" y="1600201"/>
            <a:ext cx="8229600" cy="1143000"/>
          </a:xfrm>
        </p:spPr>
        <p:txBody>
          <a:bodyPr/>
          <a:lstStyle/>
          <a:p>
            <a:r>
              <a:rPr lang="en-US" altLang="en-US" dirty="0">
                <a:ea typeface="ＭＳ Ｐゴシック" pitchFamily="34" charset="-128"/>
              </a:rPr>
              <a:t>Receive cash before revenue is earned</a:t>
            </a:r>
          </a:p>
          <a:p>
            <a:r>
              <a:rPr lang="en-US" altLang="en-US" dirty="0">
                <a:ea typeface="ＭＳ Ｐゴシック" pitchFamily="34" charset="-128"/>
              </a:rPr>
              <a:t>Creates a liability</a:t>
            </a:r>
            <a:endParaRPr lang="en-US" dirty="0"/>
          </a:p>
        </p:txBody>
      </p:sp>
      <p:graphicFrame>
        <p:nvGraphicFramePr>
          <p:cNvPr id="4" name="Table 3"/>
          <p:cNvGraphicFramePr>
            <a:graphicFrameLocks noGrp="1"/>
          </p:cNvGraphicFramePr>
          <p:nvPr/>
        </p:nvGraphicFramePr>
        <p:xfrm>
          <a:off x="457200" y="3200400"/>
          <a:ext cx="8229600" cy="1828800"/>
        </p:xfrm>
        <a:graphic>
          <a:graphicData uri="http://schemas.openxmlformats.org/drawingml/2006/table">
            <a:tbl>
              <a:tblPr firstRow="1" bandRow="1">
                <a:tableStyleId>{2D5ABB26-0587-4C30-8999-92F81FD0307C}</a:tableStyleId>
              </a:tblPr>
              <a:tblGrid>
                <a:gridCol w="1143000">
                  <a:extLst>
                    <a:ext uri="{9D8B030D-6E8A-4147-A177-3AD203B41FA5}">
                      <a16:colId xmlns:a16="http://schemas.microsoft.com/office/drawing/2014/main" val="20000"/>
                    </a:ext>
                  </a:extLst>
                </a:gridCol>
                <a:gridCol w="4101353">
                  <a:extLst>
                    <a:ext uri="{9D8B030D-6E8A-4147-A177-3AD203B41FA5}">
                      <a16:colId xmlns:a16="http://schemas.microsoft.com/office/drawing/2014/main" val="20001"/>
                    </a:ext>
                  </a:extLst>
                </a:gridCol>
                <a:gridCol w="1510129">
                  <a:extLst>
                    <a:ext uri="{9D8B030D-6E8A-4147-A177-3AD203B41FA5}">
                      <a16:colId xmlns:a16="http://schemas.microsoft.com/office/drawing/2014/main" val="20002"/>
                    </a:ext>
                  </a:extLst>
                </a:gridCol>
                <a:gridCol w="1475118">
                  <a:extLst>
                    <a:ext uri="{9D8B030D-6E8A-4147-A177-3AD203B41FA5}">
                      <a16:colId xmlns:a16="http://schemas.microsoft.com/office/drawing/2014/main" val="20003"/>
                    </a:ext>
                  </a:extLst>
                </a:gridCol>
              </a:tblGrid>
              <a:tr h="365760">
                <a:tc gridSpan="4">
                  <a:txBody>
                    <a:bodyPr/>
                    <a:lstStyle/>
                    <a:p>
                      <a:pPr algn="ctr"/>
                      <a:r>
                        <a:rPr lang="en-US" b="1" dirty="0"/>
                        <a:t>JOURNAL</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pPr algn="ctr"/>
                      <a:endParaRPr lang="en-US" dirty="0"/>
                    </a:p>
                  </a:txBody>
                  <a:tcPr/>
                </a:tc>
                <a:tc hMerge="1">
                  <a:txBody>
                    <a:bodyPr/>
                    <a:lstStyle/>
                    <a:p>
                      <a:pPr algn="ctr"/>
                      <a:endParaRPr lang="en-US" dirty="0"/>
                    </a:p>
                  </a:txBody>
                  <a:tcPr/>
                </a:tc>
                <a:extLst>
                  <a:ext uri="{0D108BD9-81ED-4DB2-BD59-A6C34878D82A}">
                    <a16:rowId xmlns:a16="http://schemas.microsoft.com/office/drawing/2014/main" val="10000"/>
                  </a:ext>
                </a:extLst>
              </a:tr>
              <a:tr h="365760">
                <a:tc>
                  <a:txBody>
                    <a:bodyPr/>
                    <a:lstStyle/>
                    <a:p>
                      <a:r>
                        <a:rPr lang="en-US" dirty="0"/>
                        <a:t>Date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dirty="0"/>
                        <a:t>Accounts  </a:t>
                      </a:r>
                      <a:endParaRPr lang="en-US" i="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dirty="0"/>
                        <a:t>Debit</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dirty="0"/>
                        <a:t>Credit</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r>
                        <a:rPr lang="en-US" dirty="0"/>
                        <a:t>Jun 15</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Cash</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dirty="0"/>
                        <a:t>400</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274320"/>
                      <a:r>
                        <a:rPr lang="en-US" baseline="0" dirty="0"/>
                        <a:t>Unearned Revenue</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dirty="0"/>
                        <a:t>400</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80233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Unearned Revenue </a:t>
            </a:r>
            <a:r>
              <a:rPr lang="en-US" altLang="en-US" sz="2000" b="0" dirty="0"/>
              <a:t>(2 of 2)</a:t>
            </a:r>
            <a:endParaRPr lang="en-US" b="0" dirty="0"/>
          </a:p>
        </p:txBody>
      </p:sp>
      <p:sp>
        <p:nvSpPr>
          <p:cNvPr id="3" name="Content Placeholder 2"/>
          <p:cNvSpPr>
            <a:spLocks noGrp="1"/>
          </p:cNvSpPr>
          <p:nvPr>
            <p:ph idx="1"/>
          </p:nvPr>
        </p:nvSpPr>
        <p:spPr>
          <a:xfrm>
            <a:off x="457200" y="1600201"/>
            <a:ext cx="8229600" cy="1219200"/>
          </a:xfrm>
        </p:spPr>
        <p:txBody>
          <a:bodyPr>
            <a:normAutofit fontScale="85000" lnSpcReduction="20000"/>
          </a:bodyPr>
          <a:lstStyle/>
          <a:p>
            <a:r>
              <a:rPr lang="en-US" altLang="en-US" dirty="0">
                <a:ea typeface="ＭＳ Ｐゴシック" pitchFamily="34" charset="-128"/>
              </a:rPr>
              <a:t>When revenue is earned</a:t>
            </a:r>
          </a:p>
          <a:p>
            <a:pPr lvl="1"/>
            <a:r>
              <a:rPr lang="en-US" altLang="en-US" dirty="0">
                <a:ea typeface="ＭＳ Ｐゴシック" pitchFamily="34" charset="-128"/>
              </a:rPr>
              <a:t>Liability is reduced</a:t>
            </a:r>
          </a:p>
          <a:p>
            <a:pPr lvl="1"/>
            <a:r>
              <a:rPr lang="en-US" altLang="en-US" dirty="0">
                <a:ea typeface="ＭＳ Ｐゴシック" pitchFamily="34" charset="-128"/>
              </a:rPr>
              <a:t>Revenue is increased</a:t>
            </a:r>
            <a:endParaRPr lang="en-US" dirty="0"/>
          </a:p>
        </p:txBody>
      </p:sp>
      <p:graphicFrame>
        <p:nvGraphicFramePr>
          <p:cNvPr id="4" name="Table 3"/>
          <p:cNvGraphicFramePr>
            <a:graphicFrameLocks noGrp="1"/>
          </p:cNvGraphicFramePr>
          <p:nvPr/>
        </p:nvGraphicFramePr>
        <p:xfrm>
          <a:off x="457200" y="3200400"/>
          <a:ext cx="8229600" cy="1828800"/>
        </p:xfrm>
        <a:graphic>
          <a:graphicData uri="http://schemas.openxmlformats.org/drawingml/2006/table">
            <a:tbl>
              <a:tblPr firstRow="1" bandRow="1">
                <a:tableStyleId>{2D5ABB26-0587-4C30-8999-92F81FD0307C}</a:tableStyleId>
              </a:tblPr>
              <a:tblGrid>
                <a:gridCol w="1143000">
                  <a:extLst>
                    <a:ext uri="{9D8B030D-6E8A-4147-A177-3AD203B41FA5}">
                      <a16:colId xmlns:a16="http://schemas.microsoft.com/office/drawing/2014/main" val="20000"/>
                    </a:ext>
                  </a:extLst>
                </a:gridCol>
                <a:gridCol w="4101353">
                  <a:extLst>
                    <a:ext uri="{9D8B030D-6E8A-4147-A177-3AD203B41FA5}">
                      <a16:colId xmlns:a16="http://schemas.microsoft.com/office/drawing/2014/main" val="20001"/>
                    </a:ext>
                  </a:extLst>
                </a:gridCol>
                <a:gridCol w="1510129">
                  <a:extLst>
                    <a:ext uri="{9D8B030D-6E8A-4147-A177-3AD203B41FA5}">
                      <a16:colId xmlns:a16="http://schemas.microsoft.com/office/drawing/2014/main" val="20002"/>
                    </a:ext>
                  </a:extLst>
                </a:gridCol>
                <a:gridCol w="1475118">
                  <a:extLst>
                    <a:ext uri="{9D8B030D-6E8A-4147-A177-3AD203B41FA5}">
                      <a16:colId xmlns:a16="http://schemas.microsoft.com/office/drawing/2014/main" val="20003"/>
                    </a:ext>
                  </a:extLst>
                </a:gridCol>
              </a:tblGrid>
              <a:tr h="365760">
                <a:tc gridSpan="4">
                  <a:txBody>
                    <a:bodyPr/>
                    <a:lstStyle/>
                    <a:p>
                      <a:pPr algn="ctr"/>
                      <a:r>
                        <a:rPr lang="en-US" b="1" dirty="0"/>
                        <a:t>JOURNAL</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pPr algn="ctr"/>
                      <a:endParaRPr lang="en-US" dirty="0"/>
                    </a:p>
                  </a:txBody>
                  <a:tcPr/>
                </a:tc>
                <a:tc hMerge="1">
                  <a:txBody>
                    <a:bodyPr/>
                    <a:lstStyle/>
                    <a:p>
                      <a:pPr algn="ctr"/>
                      <a:endParaRPr lang="en-US" dirty="0"/>
                    </a:p>
                  </a:txBody>
                  <a:tcPr/>
                </a:tc>
                <a:extLst>
                  <a:ext uri="{0D108BD9-81ED-4DB2-BD59-A6C34878D82A}">
                    <a16:rowId xmlns:a16="http://schemas.microsoft.com/office/drawing/2014/main" val="10000"/>
                  </a:ext>
                </a:extLst>
              </a:tr>
              <a:tr h="365760">
                <a:tc>
                  <a:txBody>
                    <a:bodyPr/>
                    <a:lstStyle/>
                    <a:p>
                      <a:r>
                        <a:rPr lang="en-US" dirty="0"/>
                        <a:t>Date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Accounts and explanation</a:t>
                      </a:r>
                      <a:endParaRPr lang="en-US" i="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dirty="0"/>
                        <a:t>Debit</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dirty="0"/>
                        <a:t>Credit</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r>
                        <a:rPr lang="en-US" dirty="0"/>
                        <a:t>Jun 30</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baseline="0" dirty="0"/>
                        <a:t>Unearned Revenue</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dirty="0"/>
                        <a:t>200</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274320" algn="l" defTabSz="914400" rtl="0" eaLnBrk="1" latinLnBrk="0" hangingPunct="1"/>
                      <a:r>
                        <a:rPr lang="en-US" sz="1800" kern="1200" baseline="0" dirty="0">
                          <a:solidFill>
                            <a:schemeClr val="tx1"/>
                          </a:solidFill>
                          <a:latin typeface="+mn-lt"/>
                          <a:ea typeface="+mn-ea"/>
                          <a:cs typeface="+mn-cs"/>
                        </a:rPr>
                        <a:t>Service Revenue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dirty="0"/>
                        <a:t>200</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69818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7752"/>
            <a:ext cx="8229600" cy="1097280"/>
          </a:xfrm>
        </p:spPr>
        <p:txBody>
          <a:bodyPr/>
          <a:lstStyle/>
          <a:p>
            <a:r>
              <a:rPr lang="en-US" altLang="en-US" dirty="0"/>
              <a:t>Depreciation</a:t>
            </a:r>
            <a:r>
              <a:rPr lang="en-US" altLang="en-US" sz="2000" dirty="0"/>
              <a:t> </a:t>
            </a:r>
            <a:r>
              <a:rPr lang="en-US" altLang="en-US" sz="2000" b="0" dirty="0"/>
              <a:t>(1 of 3)</a:t>
            </a:r>
            <a:endParaRPr lang="en-US" sz="2000" dirty="0"/>
          </a:p>
        </p:txBody>
      </p:sp>
      <p:sp>
        <p:nvSpPr>
          <p:cNvPr id="3" name="Content Placeholder 2"/>
          <p:cNvSpPr>
            <a:spLocks noGrp="1"/>
          </p:cNvSpPr>
          <p:nvPr>
            <p:ph idx="1"/>
          </p:nvPr>
        </p:nvSpPr>
        <p:spPr/>
        <p:txBody>
          <a:bodyPr/>
          <a:lstStyle/>
          <a:p>
            <a:r>
              <a:rPr lang="en-US" altLang="en-US" dirty="0">
                <a:ea typeface="ＭＳ Ｐゴシック" pitchFamily="34" charset="-128"/>
              </a:rPr>
              <a:t>Allocates cost of long-term, tangible assets to expense over useful lives</a:t>
            </a:r>
          </a:p>
          <a:p>
            <a:r>
              <a:rPr lang="en-US" altLang="en-US" dirty="0">
                <a:ea typeface="ＭＳ Ｐゴシック" pitchFamily="34" charset="-128"/>
              </a:rPr>
              <a:t>Represents wear-and-tear and obsolescence</a:t>
            </a:r>
          </a:p>
          <a:p>
            <a:r>
              <a:rPr lang="en-US" altLang="en-US" dirty="0">
                <a:ea typeface="ＭＳ Ｐゴシック" pitchFamily="34" charset="-128"/>
              </a:rPr>
              <a:t>Examples of long-term, tangible assets:</a:t>
            </a:r>
          </a:p>
          <a:p>
            <a:pPr lvl="1"/>
            <a:r>
              <a:rPr lang="en-US" altLang="en-US" dirty="0">
                <a:ea typeface="ＭＳ Ｐゴシック" pitchFamily="34" charset="-128"/>
              </a:rPr>
              <a:t>Buildings</a:t>
            </a:r>
          </a:p>
          <a:p>
            <a:pPr lvl="1"/>
            <a:r>
              <a:rPr lang="en-US" altLang="en-US" dirty="0">
                <a:ea typeface="ＭＳ Ｐゴシック" pitchFamily="34" charset="-128"/>
              </a:rPr>
              <a:t>Equipment</a:t>
            </a:r>
          </a:p>
          <a:p>
            <a:pPr lvl="1"/>
            <a:r>
              <a:rPr lang="en-US" altLang="en-US" dirty="0">
                <a:ea typeface="ＭＳ Ｐゴシック" pitchFamily="34" charset="-128"/>
              </a:rPr>
              <a:t>Furniture</a:t>
            </a:r>
            <a:endParaRPr lang="en-US" dirty="0"/>
          </a:p>
        </p:txBody>
      </p:sp>
    </p:spTree>
    <p:extLst>
      <p:ext uri="{BB962C8B-B14F-4D97-AF65-F5344CB8AC3E}">
        <p14:creationId xmlns:p14="http://schemas.microsoft.com/office/powerpoint/2010/main" val="1703590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Depreciation</a:t>
            </a:r>
            <a:r>
              <a:rPr lang="en-US" altLang="en-US" sz="2000" dirty="0"/>
              <a:t> </a:t>
            </a:r>
            <a:r>
              <a:rPr lang="en-US" altLang="en-US" sz="2000" b="0" dirty="0"/>
              <a:t>(2 of 3)</a:t>
            </a:r>
            <a:endParaRPr lang="en-US" sz="2000" b="0" dirty="0"/>
          </a:p>
        </p:txBody>
      </p:sp>
      <p:graphicFrame>
        <p:nvGraphicFramePr>
          <p:cNvPr id="4" name="Table 3"/>
          <p:cNvGraphicFramePr>
            <a:graphicFrameLocks noGrp="1"/>
          </p:cNvGraphicFramePr>
          <p:nvPr/>
        </p:nvGraphicFramePr>
        <p:xfrm>
          <a:off x="405392" y="1828800"/>
          <a:ext cx="8317977" cy="3414020"/>
        </p:xfrm>
        <a:graphic>
          <a:graphicData uri="http://schemas.openxmlformats.org/drawingml/2006/table">
            <a:tbl>
              <a:tblPr firstRow="1" bandRow="1">
                <a:tableStyleId>{2D5ABB26-0587-4C30-8999-92F81FD0307C}</a:tableStyleId>
              </a:tblPr>
              <a:tblGrid>
                <a:gridCol w="990600">
                  <a:extLst>
                    <a:ext uri="{9D8B030D-6E8A-4147-A177-3AD203B41FA5}">
                      <a16:colId xmlns:a16="http://schemas.microsoft.com/office/drawing/2014/main" val="20000"/>
                    </a:ext>
                  </a:extLst>
                </a:gridCol>
                <a:gridCol w="4342130">
                  <a:extLst>
                    <a:ext uri="{9D8B030D-6E8A-4147-A177-3AD203B41FA5}">
                      <a16:colId xmlns:a16="http://schemas.microsoft.com/office/drawing/2014/main" val="20001"/>
                    </a:ext>
                  </a:extLst>
                </a:gridCol>
                <a:gridCol w="1510129">
                  <a:extLst>
                    <a:ext uri="{9D8B030D-6E8A-4147-A177-3AD203B41FA5}">
                      <a16:colId xmlns:a16="http://schemas.microsoft.com/office/drawing/2014/main" val="20002"/>
                    </a:ext>
                  </a:extLst>
                </a:gridCol>
                <a:gridCol w="1475118">
                  <a:extLst>
                    <a:ext uri="{9D8B030D-6E8A-4147-A177-3AD203B41FA5}">
                      <a16:colId xmlns:a16="http://schemas.microsoft.com/office/drawing/2014/main" val="20003"/>
                    </a:ext>
                  </a:extLst>
                </a:gridCol>
              </a:tblGrid>
              <a:tr h="396276">
                <a:tc gridSpan="4">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t>JOURNAL</a:t>
                      </a:r>
                      <a:endParaRPr lang="en-US" sz="1800" i="0" dirty="0"/>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i="0" dirty="0"/>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algn="ctr"/>
                      <a:endParaRPr lang="en-US" sz="1800" dirty="0"/>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algn="ctr"/>
                      <a:endParaRPr lang="en-US" sz="1800" dirty="0"/>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96276">
                <a:tc>
                  <a:txBody>
                    <a:bodyPr/>
                    <a:lstStyle/>
                    <a:p>
                      <a:r>
                        <a:rPr lang="en-US" sz="1800" dirty="0"/>
                        <a:t>Date</a:t>
                      </a:r>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sz="1800" dirty="0"/>
                        <a:t>Accounts</a:t>
                      </a:r>
                      <a:endParaRPr lang="en-US" sz="1800" i="0" dirty="0"/>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sz="1800" dirty="0"/>
                        <a:t>Debit</a:t>
                      </a:r>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sz="1800" dirty="0"/>
                        <a:t>Credit</a:t>
                      </a:r>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96276">
                <a:tc>
                  <a:txBody>
                    <a:bodyPr/>
                    <a:lstStyle/>
                    <a:p>
                      <a:r>
                        <a:rPr lang="en-US" sz="1800" dirty="0"/>
                        <a:t>Jun 3</a:t>
                      </a:r>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dirty="0"/>
                        <a:t>Equipment</a:t>
                      </a:r>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sz="1800" dirty="0"/>
                        <a:t>24,000</a:t>
                      </a:r>
                    </a:p>
                  </a:txBody>
                  <a:tcPr marR="18288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sz="1800" dirty="0"/>
                    </a:p>
                  </a:txBody>
                  <a:tcPr marR="18288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96276">
                <a:tc>
                  <a:txBody>
                    <a:bodyPr/>
                    <a:lstStyle/>
                    <a:p>
                      <a:endParaRPr lang="en-US" sz="1800" dirty="0"/>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mn-cs"/>
                        </a:rPr>
                        <a:t>Accounts Payable</a:t>
                      </a:r>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sz="1800" dirty="0"/>
                    </a:p>
                  </a:txBody>
                  <a:tcPr marR="18288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sz="1800" dirty="0"/>
                        <a:t>24,000</a:t>
                      </a:r>
                    </a:p>
                  </a:txBody>
                  <a:tcPr marR="18288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96276">
                <a:tc>
                  <a:txBody>
                    <a:bodyPr/>
                    <a:lstStyle/>
                    <a:p>
                      <a:endParaRPr lang="en-US" sz="1800" dirty="0"/>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sz="1800" dirty="0"/>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sz="1800" dirty="0"/>
                    </a:p>
                  </a:txBody>
                  <a:tcPr marR="18288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sz="1800" dirty="0"/>
                    </a:p>
                  </a:txBody>
                  <a:tcPr marR="18288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96276">
                <a:tc>
                  <a:txBody>
                    <a:bodyPr/>
                    <a:lstStyle/>
                    <a:p>
                      <a:r>
                        <a:rPr lang="en-US" sz="1800" dirty="0"/>
                        <a:t>Jun 30</a:t>
                      </a:r>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dirty="0"/>
                        <a:t>Depreciation Expense</a:t>
                      </a:r>
                      <a:endParaRPr lang="en-US" sz="1800" i="0" dirty="0"/>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sz="1800" dirty="0"/>
                        <a:t>400</a:t>
                      </a:r>
                    </a:p>
                  </a:txBody>
                  <a:tcPr marR="18288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sz="1800" dirty="0"/>
                    </a:p>
                  </a:txBody>
                  <a:tcPr marR="18288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96276">
                <a:tc>
                  <a:txBody>
                    <a:bodyPr/>
                    <a:lstStyle/>
                    <a:p>
                      <a:endParaRPr lang="en-US" sz="1800" dirty="0"/>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mn-cs"/>
                        </a:rPr>
                        <a:t>Accumulated Depreciation</a:t>
                      </a:r>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sz="1800" dirty="0"/>
                    </a:p>
                  </a:txBody>
                  <a:tcPr marR="18288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sz="1800" dirty="0"/>
                        <a:t>400</a:t>
                      </a:r>
                    </a:p>
                  </a:txBody>
                  <a:tcPr marR="18288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96276">
                <a:tc>
                  <a:txBody>
                    <a:bodyPr/>
                    <a:lstStyle/>
                    <a:p>
                      <a:endParaRPr lang="en-US" sz="1800" dirty="0"/>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$24,000/5 = $4,800  annual depreciation</a:t>
                      </a:r>
                      <a:br>
                        <a:rPr lang="en-US" sz="1800" dirty="0"/>
                      </a:br>
                      <a:r>
                        <a:rPr lang="en-US" sz="1800" dirty="0"/>
                        <a:t>$4,800/12 = $400 monthly depreciation</a:t>
                      </a:r>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sz="1800" dirty="0"/>
                    </a:p>
                  </a:txBody>
                  <a:tcPr marR="18288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sz="1800" dirty="0"/>
                    </a:p>
                  </a:txBody>
                  <a:tcPr marR="18288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35343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1836"/>
            <a:ext cx="8229600" cy="1097280"/>
          </a:xfrm>
        </p:spPr>
        <p:txBody>
          <a:bodyPr/>
          <a:lstStyle/>
          <a:p>
            <a:r>
              <a:rPr lang="en-US" altLang="en-US" dirty="0"/>
              <a:t>Depreciation</a:t>
            </a:r>
            <a:r>
              <a:rPr lang="en-US" altLang="en-US" sz="2000" dirty="0"/>
              <a:t> </a:t>
            </a:r>
            <a:r>
              <a:rPr lang="en-US" altLang="en-US" sz="2000" b="0" dirty="0"/>
              <a:t>(3 of 3)</a:t>
            </a:r>
            <a:endParaRPr lang="en-US" sz="2000" b="0" dirty="0"/>
          </a:p>
        </p:txBody>
      </p:sp>
      <p:graphicFrame>
        <p:nvGraphicFramePr>
          <p:cNvPr id="4" name="Table 3"/>
          <p:cNvGraphicFramePr>
            <a:graphicFrameLocks noGrp="1"/>
          </p:cNvGraphicFramePr>
          <p:nvPr/>
        </p:nvGraphicFramePr>
        <p:xfrm>
          <a:off x="492760" y="1808480"/>
          <a:ext cx="3810000" cy="1732280"/>
        </p:xfrm>
        <a:graphic>
          <a:graphicData uri="http://schemas.openxmlformats.org/drawingml/2006/table">
            <a:tbl>
              <a:tblPr firstRow="1" bandRow="1">
                <a:tableStyleId>{2D5ABB26-0587-4C30-8999-92F81FD0307C}</a:tableStyleId>
              </a:tblPr>
              <a:tblGrid>
                <a:gridCol w="1887855">
                  <a:extLst>
                    <a:ext uri="{9D8B030D-6E8A-4147-A177-3AD203B41FA5}">
                      <a16:colId xmlns:a16="http://schemas.microsoft.com/office/drawing/2014/main" val="20000"/>
                    </a:ext>
                  </a:extLst>
                </a:gridCol>
                <a:gridCol w="1922145">
                  <a:extLst>
                    <a:ext uri="{9D8B030D-6E8A-4147-A177-3AD203B41FA5}">
                      <a16:colId xmlns:a16="http://schemas.microsoft.com/office/drawing/2014/main" val="20001"/>
                    </a:ext>
                  </a:extLst>
                </a:gridCol>
              </a:tblGrid>
              <a:tr h="304800">
                <a:tc gridSpan="2">
                  <a:txBody>
                    <a:bodyPr/>
                    <a:lstStyle/>
                    <a:p>
                      <a:pPr marL="0" algn="ctr" defTabSz="914400" rtl="0" eaLnBrk="1" latinLnBrk="0" hangingPunct="1"/>
                      <a:r>
                        <a:rPr lang="en-US" altLang="en-US" sz="1800" dirty="0">
                          <a:solidFill>
                            <a:schemeClr val="tx1"/>
                          </a:solidFill>
                        </a:rPr>
                        <a:t>Equipment</a:t>
                      </a:r>
                      <a:endParaRPr lang="en-US" altLang="en-US" sz="1800" kern="1200" dirty="0">
                        <a:solidFill>
                          <a:schemeClr val="tx1"/>
                        </a:solidFill>
                        <a:latin typeface="+mn-lt"/>
                        <a:ea typeface="+mn-ea"/>
                        <a:cs typeface="+mn-cs"/>
                      </a:endParaRP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24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Jun 3      </a:t>
                      </a:r>
                      <a:r>
                        <a:rPr lang="en-US" altLang="en-US" dirty="0"/>
                        <a:t>24,000</a:t>
                      </a:r>
                      <a:endParaRPr lang="en-US" sz="1800" dirty="0">
                        <a:solidFill>
                          <a:schemeClr val="tx1"/>
                        </a:solidFill>
                      </a:endParaRPr>
                    </a:p>
                  </a:txBody>
                  <a:tcP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tcPr>
                </a:tc>
                <a:extLst>
                  <a:ext uri="{0D108BD9-81ED-4DB2-BD59-A6C34878D82A}">
                    <a16:rowId xmlns:a16="http://schemas.microsoft.com/office/drawing/2014/main" val="10003"/>
                  </a:ext>
                </a:extLst>
              </a:tr>
            </a:tbl>
          </a:graphicData>
        </a:graphic>
      </p:graphicFrame>
      <p:cxnSp>
        <p:nvCxnSpPr>
          <p:cNvPr id="13" name="Straight Arrow Connector 12" descr="Straight Arrow Connector "/>
          <p:cNvCxnSpPr/>
          <p:nvPr/>
        </p:nvCxnSpPr>
        <p:spPr>
          <a:xfrm>
            <a:off x="2311400" y="2390140"/>
            <a:ext cx="1651000" cy="88646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2" name="Table 11"/>
          <p:cNvGraphicFramePr>
            <a:graphicFrameLocks noGrp="1"/>
          </p:cNvGraphicFramePr>
          <p:nvPr/>
        </p:nvGraphicFramePr>
        <p:xfrm>
          <a:off x="727364" y="4389120"/>
          <a:ext cx="3210560" cy="1478280"/>
        </p:xfrm>
        <a:graphic>
          <a:graphicData uri="http://schemas.openxmlformats.org/drawingml/2006/table">
            <a:tbl>
              <a:tblPr firstRow="1" bandRow="1">
                <a:tableStyleId>{2D5ABB26-0587-4C30-8999-92F81FD0307C}</a:tableStyleId>
              </a:tblPr>
              <a:tblGrid>
                <a:gridCol w="1643380">
                  <a:extLst>
                    <a:ext uri="{9D8B030D-6E8A-4147-A177-3AD203B41FA5}">
                      <a16:colId xmlns:a16="http://schemas.microsoft.com/office/drawing/2014/main" val="20000"/>
                    </a:ext>
                  </a:extLst>
                </a:gridCol>
                <a:gridCol w="1567180">
                  <a:extLst>
                    <a:ext uri="{9D8B030D-6E8A-4147-A177-3AD203B41FA5}">
                      <a16:colId xmlns:a16="http://schemas.microsoft.com/office/drawing/2014/main" val="20001"/>
                    </a:ext>
                  </a:extLst>
                </a:gridCol>
              </a:tblGrid>
              <a:tr h="304800">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kern="1200" dirty="0">
                          <a:solidFill>
                            <a:schemeClr val="tx1"/>
                          </a:solidFill>
                          <a:latin typeface="+mn-lt"/>
                          <a:ea typeface="+mn-ea"/>
                          <a:cs typeface="+mn-cs"/>
                        </a:rPr>
                        <a:t>Accumulated Depreciation</a:t>
                      </a: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dirty="0"/>
                        <a:t>400    </a:t>
                      </a:r>
                      <a:r>
                        <a:rPr lang="en-US" altLang="en-US" sz="1800" dirty="0"/>
                        <a:t>Jun 30</a:t>
                      </a:r>
                      <a:endParaRPr lang="en-US" sz="180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tcPr>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tcPr>
                </a:tc>
                <a:extLst>
                  <a:ext uri="{0D108BD9-81ED-4DB2-BD59-A6C34878D82A}">
                    <a16:rowId xmlns:a16="http://schemas.microsoft.com/office/drawing/2014/main" val="10003"/>
                  </a:ext>
                </a:extLst>
              </a:tr>
            </a:tbl>
          </a:graphicData>
        </a:graphic>
      </p:graphicFrame>
      <p:cxnSp>
        <p:nvCxnSpPr>
          <p:cNvPr id="16" name="Straight Arrow Connector 15" descr="Straight Arrow Connector"/>
          <p:cNvCxnSpPr/>
          <p:nvPr/>
        </p:nvCxnSpPr>
        <p:spPr>
          <a:xfrm flipV="1">
            <a:off x="2895600" y="3962400"/>
            <a:ext cx="1295400" cy="9144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 name="Text Placeholder 5"/>
          <p:cNvSpPr>
            <a:spLocks noGrp="1"/>
          </p:cNvSpPr>
          <p:nvPr>
            <p:ph type="body" idx="1"/>
          </p:nvPr>
        </p:nvSpPr>
        <p:spPr>
          <a:xfrm>
            <a:off x="4038600" y="3022780"/>
            <a:ext cx="2119277" cy="863420"/>
          </a:xfrm>
        </p:spPr>
        <p:txBody>
          <a:bodyPr/>
          <a:lstStyle/>
          <a:p>
            <a:r>
              <a:rPr lang="en-US" sz="2000" dirty="0"/>
              <a:t>Balance Sheet</a:t>
            </a:r>
          </a:p>
        </p:txBody>
      </p:sp>
      <p:graphicFrame>
        <p:nvGraphicFramePr>
          <p:cNvPr id="5" name="Table 4"/>
          <p:cNvGraphicFramePr>
            <a:graphicFrameLocks noGrp="1"/>
          </p:cNvGraphicFramePr>
          <p:nvPr/>
        </p:nvGraphicFramePr>
        <p:xfrm>
          <a:off x="5638800" y="1808480"/>
          <a:ext cx="2971800" cy="1478280"/>
        </p:xfrm>
        <a:graphic>
          <a:graphicData uri="http://schemas.openxmlformats.org/drawingml/2006/table">
            <a:tbl>
              <a:tblPr firstRow="1" bandRow="1">
                <a:tableStyleId>{2D5ABB26-0587-4C30-8999-92F81FD0307C}</a:tableStyleId>
              </a:tblPr>
              <a:tblGrid>
                <a:gridCol w="1643380">
                  <a:extLst>
                    <a:ext uri="{9D8B030D-6E8A-4147-A177-3AD203B41FA5}">
                      <a16:colId xmlns:a16="http://schemas.microsoft.com/office/drawing/2014/main" val="20000"/>
                    </a:ext>
                  </a:extLst>
                </a:gridCol>
                <a:gridCol w="1328420">
                  <a:extLst>
                    <a:ext uri="{9D8B030D-6E8A-4147-A177-3AD203B41FA5}">
                      <a16:colId xmlns:a16="http://schemas.microsoft.com/office/drawing/2014/main" val="20001"/>
                    </a:ext>
                  </a:extLst>
                </a:gridCol>
              </a:tblGrid>
              <a:tr h="304800">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solidFill>
                            <a:schemeClr val="tx1"/>
                          </a:solidFill>
                        </a:rPr>
                        <a:t>Depreciation Expense</a:t>
                      </a:r>
                      <a:endParaRPr lang="en-US" altLang="en-US" sz="1800" kern="1200" dirty="0">
                        <a:solidFill>
                          <a:schemeClr val="tx1"/>
                        </a:solidFill>
                        <a:latin typeface="+mn-lt"/>
                        <a:ea typeface="+mn-ea"/>
                        <a:cs typeface="+mn-cs"/>
                      </a:endParaRP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Jun 30    </a:t>
                      </a:r>
                      <a:r>
                        <a:rPr lang="en-US" altLang="en-US" dirty="0"/>
                        <a:t>400</a:t>
                      </a:r>
                      <a:endParaRPr lang="en-US" sz="1800" dirty="0">
                        <a:solidFill>
                          <a:schemeClr val="tx1"/>
                        </a:solidFill>
                      </a:endParaRPr>
                    </a:p>
                  </a:txBody>
                  <a:tcP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tcPr>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tcPr>
                </a:tc>
                <a:extLst>
                  <a:ext uri="{0D108BD9-81ED-4DB2-BD59-A6C34878D82A}">
                    <a16:rowId xmlns:a16="http://schemas.microsoft.com/office/drawing/2014/main" val="10003"/>
                  </a:ext>
                </a:extLst>
              </a:tr>
            </a:tbl>
          </a:graphicData>
        </a:graphic>
      </p:graphicFrame>
      <p:cxnSp>
        <p:nvCxnSpPr>
          <p:cNvPr id="18" name="Straight Arrow Connector 17" descr="Straight Arrow Connector"/>
          <p:cNvCxnSpPr/>
          <p:nvPr/>
        </p:nvCxnSpPr>
        <p:spPr>
          <a:xfrm>
            <a:off x="6934200" y="2504441"/>
            <a:ext cx="0" cy="1838959"/>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 name="Content Placeholder 6"/>
          <p:cNvSpPr>
            <a:spLocks noGrp="1"/>
          </p:cNvSpPr>
          <p:nvPr>
            <p:ph sz="half" idx="2"/>
          </p:nvPr>
        </p:nvSpPr>
        <p:spPr>
          <a:xfrm>
            <a:off x="5881723" y="4343400"/>
            <a:ext cx="2119277" cy="863420"/>
          </a:xfrm>
        </p:spPr>
        <p:txBody>
          <a:bodyPr/>
          <a:lstStyle/>
          <a:p>
            <a:pPr marL="0" indent="0"/>
            <a:r>
              <a:rPr lang="en-US" sz="2000" dirty="0"/>
              <a:t>Income Statement</a:t>
            </a:r>
          </a:p>
        </p:txBody>
      </p:sp>
    </p:spTree>
    <p:extLst>
      <p:ext uri="{BB962C8B-B14F-4D97-AF65-F5344CB8AC3E}">
        <p14:creationId xmlns:p14="http://schemas.microsoft.com/office/powerpoint/2010/main" val="38604186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Accumulated Depreciation</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Sum of all depreciation expense</a:t>
            </a:r>
          </a:p>
          <a:p>
            <a:pPr lvl="1"/>
            <a:r>
              <a:rPr lang="en-US" altLang="en-US" dirty="0">
                <a:ea typeface="ＭＳ Ｐゴシック" pitchFamily="34" charset="-128"/>
              </a:rPr>
              <a:t>Increases over asset’s life</a:t>
            </a:r>
          </a:p>
          <a:p>
            <a:r>
              <a:rPr lang="en-US" altLang="en-US" dirty="0">
                <a:ea typeface="ＭＳ Ｐゴシック" pitchFamily="34" charset="-128"/>
              </a:rPr>
              <a:t>Contra-asset</a:t>
            </a:r>
          </a:p>
          <a:p>
            <a:pPr lvl="1"/>
            <a:r>
              <a:rPr lang="en-US" altLang="en-US" dirty="0">
                <a:ea typeface="ＭＳ Ｐゴシック" pitchFamily="34" charset="-128"/>
              </a:rPr>
              <a:t>Normal credit balance</a:t>
            </a:r>
          </a:p>
          <a:p>
            <a:pPr lvl="1"/>
            <a:r>
              <a:rPr lang="en-US" altLang="en-US" dirty="0">
                <a:ea typeface="ＭＳ Ｐゴシック" pitchFamily="34" charset="-128"/>
              </a:rPr>
              <a:t>Companion account is asset </a:t>
            </a:r>
          </a:p>
          <a:p>
            <a:r>
              <a:rPr lang="en-US" altLang="en-US" dirty="0">
                <a:ea typeface="ＭＳ Ｐゴシック" pitchFamily="34" charset="-128"/>
              </a:rPr>
              <a:t>Carrying amount</a:t>
            </a:r>
          </a:p>
          <a:p>
            <a:pPr lvl="1"/>
            <a:r>
              <a:rPr lang="en-US" altLang="en-US" dirty="0">
                <a:ea typeface="ＭＳ Ｐゴシック" pitchFamily="34" charset="-128"/>
              </a:rPr>
              <a:t>Cost of long-term, tangible asset less accumulated depreciation</a:t>
            </a:r>
            <a:endParaRPr lang="en-US" dirty="0"/>
          </a:p>
        </p:txBody>
      </p:sp>
    </p:spTree>
    <p:extLst>
      <p:ext uri="{BB962C8B-B14F-4D97-AF65-F5344CB8AC3E}">
        <p14:creationId xmlns:p14="http://schemas.microsoft.com/office/powerpoint/2010/main" val="3917438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1A6B4-D914-4141-9537-9824EFF57976}"/>
              </a:ext>
            </a:extLst>
          </p:cNvPr>
          <p:cNvSpPr>
            <a:spLocks noGrp="1"/>
          </p:cNvSpPr>
          <p:nvPr>
            <p:ph type="title"/>
          </p:nvPr>
        </p:nvSpPr>
        <p:spPr/>
        <p:txBody>
          <a:bodyPr/>
          <a:lstStyle/>
          <a:p>
            <a:r>
              <a:rPr lang="en-US" altLang="en-US" dirty="0"/>
              <a:t>Carrying Amount</a:t>
            </a:r>
            <a:endParaRPr lang="en-AU" dirty="0"/>
          </a:p>
        </p:txBody>
      </p:sp>
      <p:graphicFrame>
        <p:nvGraphicFramePr>
          <p:cNvPr id="4" name="Table 4">
            <a:extLst>
              <a:ext uri="{FF2B5EF4-FFF2-40B4-BE49-F238E27FC236}">
                <a16:creationId xmlns:a16="http://schemas.microsoft.com/office/drawing/2014/main" id="{DBD09D48-4F1D-46E8-BD92-D54BFBCD8B14}"/>
              </a:ext>
            </a:extLst>
          </p:cNvPr>
          <p:cNvGraphicFramePr>
            <a:graphicFrameLocks noGrp="1"/>
          </p:cNvGraphicFramePr>
          <p:nvPr>
            <p:ph idx="1"/>
          </p:nvPr>
        </p:nvGraphicFramePr>
        <p:xfrm>
          <a:off x="457200" y="2380051"/>
          <a:ext cx="8229600" cy="1828800"/>
        </p:xfrm>
        <a:graphic>
          <a:graphicData uri="http://schemas.openxmlformats.org/drawingml/2006/table">
            <a:tbl>
              <a:tblPr firstRow="1" bandRow="1">
                <a:tableStyleId>{3B4B98B0-60AC-42C2-AFA5-B58CD77FA1E5}</a:tableStyleId>
              </a:tblPr>
              <a:tblGrid>
                <a:gridCol w="4191000">
                  <a:extLst>
                    <a:ext uri="{9D8B030D-6E8A-4147-A177-3AD203B41FA5}">
                      <a16:colId xmlns:a16="http://schemas.microsoft.com/office/drawing/2014/main" val="3723898491"/>
                    </a:ext>
                  </a:extLst>
                </a:gridCol>
                <a:gridCol w="1295400">
                  <a:extLst>
                    <a:ext uri="{9D8B030D-6E8A-4147-A177-3AD203B41FA5}">
                      <a16:colId xmlns:a16="http://schemas.microsoft.com/office/drawing/2014/main" val="2916894709"/>
                    </a:ext>
                  </a:extLst>
                </a:gridCol>
                <a:gridCol w="2743200">
                  <a:extLst>
                    <a:ext uri="{9D8B030D-6E8A-4147-A177-3AD203B41FA5}">
                      <a16:colId xmlns:a16="http://schemas.microsoft.com/office/drawing/2014/main" val="968945181"/>
                    </a:ext>
                  </a:extLst>
                </a:gridCol>
              </a:tblGrid>
              <a:tr h="370840">
                <a:tc gridSpan="3">
                  <a:txBody>
                    <a:bodyPr/>
                    <a:lstStyle/>
                    <a:p>
                      <a:pPr marL="0" indent="0" algn="ctr">
                        <a:spcBef>
                          <a:spcPts val="600"/>
                        </a:spcBef>
                        <a:buNone/>
                      </a:pPr>
                      <a:r>
                        <a:rPr lang="en-US" b="1" dirty="0"/>
                        <a:t>Partial Balance  Sheet</a:t>
                      </a:r>
                    </a:p>
                    <a:p>
                      <a:pPr marL="0" indent="0" algn="ctr">
                        <a:spcBef>
                          <a:spcPts val="600"/>
                        </a:spcBef>
                        <a:buNone/>
                      </a:pPr>
                      <a:r>
                        <a:rPr lang="en-US" b="1" dirty="0"/>
                        <a:t>June 30, 2020</a:t>
                      </a:r>
                      <a:endParaRPr lang="en-AU"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AU" dirty="0"/>
                    </a:p>
                  </a:txBody>
                  <a:tcPr/>
                </a:tc>
                <a:tc hMerge="1">
                  <a:txBody>
                    <a:bodyPr/>
                    <a:lstStyle/>
                    <a:p>
                      <a:endParaRPr lang="en-AU" dirty="0"/>
                    </a:p>
                  </a:txBody>
                  <a:tcPr/>
                </a:tc>
                <a:extLst>
                  <a:ext uri="{0D108BD9-81ED-4DB2-BD59-A6C34878D82A}">
                    <a16:rowId xmlns:a16="http://schemas.microsoft.com/office/drawing/2014/main" val="622009096"/>
                  </a:ext>
                </a:extLst>
              </a:tr>
              <a:tr h="370840">
                <a:tc>
                  <a:txBody>
                    <a:bodyPr/>
                    <a:lstStyle/>
                    <a:p>
                      <a:r>
                        <a:rPr lang="en-US" sz="1800" dirty="0"/>
                        <a:t>Equipment</a:t>
                      </a:r>
                    </a:p>
                  </a:txBody>
                  <a:tcPr marT="45649" marB="45649">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r"/>
                      <a:r>
                        <a:rPr lang="en-US" sz="1800" dirty="0"/>
                        <a:t>$24,000</a:t>
                      </a:r>
                    </a:p>
                  </a:txBody>
                  <a:tcPr marT="45649" marB="45649">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r"/>
                      <a:endParaRPr lang="en-US" sz="1800" dirty="0"/>
                    </a:p>
                  </a:txBody>
                  <a:tcPr marT="45649" marB="45649">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2221501"/>
                  </a:ext>
                </a:extLst>
              </a:tr>
              <a:tr h="370840">
                <a:tc>
                  <a:txBody>
                    <a:bodyPr/>
                    <a:lstStyle/>
                    <a:p>
                      <a:r>
                        <a:rPr lang="en-US" sz="1800" dirty="0"/>
                        <a:t>Less: Accumulated Depreciation</a:t>
                      </a:r>
                    </a:p>
                  </a:txBody>
                  <a:tcPr marT="45649" marB="45649">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r"/>
                      <a:r>
                        <a:rPr lang="en-US" sz="1800" dirty="0"/>
                        <a:t>(400)</a:t>
                      </a:r>
                    </a:p>
                  </a:txBody>
                  <a:tcPr marT="45649" marB="45649">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r"/>
                      <a:endParaRPr lang="en-US" sz="1800" dirty="0"/>
                    </a:p>
                  </a:txBody>
                  <a:tcPr marT="45649" marB="45649">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2376062"/>
                  </a:ext>
                </a:extLst>
              </a:tr>
              <a:tr h="370840">
                <a:tc>
                  <a:txBody>
                    <a:bodyPr/>
                    <a:lstStyle/>
                    <a:p>
                      <a:r>
                        <a:rPr lang="en-US" sz="1800" dirty="0"/>
                        <a:t>Carrying amount</a:t>
                      </a:r>
                    </a:p>
                  </a:txBody>
                  <a:tcPr marT="45649" marB="45649">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r"/>
                      <a:endParaRPr lang="en-US" sz="1800" dirty="0"/>
                    </a:p>
                  </a:txBody>
                  <a:tcPr marT="45649" marB="45649">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r"/>
                      <a:r>
                        <a:rPr lang="en-US" sz="1800" dirty="0"/>
                        <a:t>$23,600</a:t>
                      </a:r>
                    </a:p>
                  </a:txBody>
                  <a:tcPr marT="45649" marB="45649">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36647182"/>
                  </a:ext>
                </a:extLst>
              </a:tr>
            </a:tbl>
          </a:graphicData>
        </a:graphic>
      </p:graphicFrame>
    </p:spTree>
    <p:extLst>
      <p:ext uri="{BB962C8B-B14F-4D97-AF65-F5344CB8AC3E}">
        <p14:creationId xmlns:p14="http://schemas.microsoft.com/office/powerpoint/2010/main" val="2888895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09296"/>
            <a:ext cx="8229600" cy="1097280"/>
          </a:xfrm>
        </p:spPr>
        <p:txBody>
          <a:bodyPr/>
          <a:lstStyle/>
          <a:p>
            <a:r>
              <a:rPr lang="en-US" altLang="en-US" dirty="0">
                <a:ea typeface="ＭＳ Ｐゴシック" pitchFamily="34" charset="-128"/>
              </a:rPr>
              <a:t>Accruals</a:t>
            </a:r>
            <a:endParaRPr lang="en-US" dirty="0"/>
          </a:p>
        </p:txBody>
      </p:sp>
      <p:sp>
        <p:nvSpPr>
          <p:cNvPr id="5" name="Text Placeholder 4"/>
          <p:cNvSpPr>
            <a:spLocks noGrp="1"/>
          </p:cNvSpPr>
          <p:nvPr>
            <p:ph type="body" idx="1"/>
          </p:nvPr>
        </p:nvSpPr>
        <p:spPr>
          <a:xfrm>
            <a:off x="457200" y="1673352"/>
            <a:ext cx="4040982" cy="457200"/>
          </a:xfrm>
          <a:solidFill>
            <a:srgbClr val="C5F3FF"/>
          </a:solidFill>
          <a:ln>
            <a:solidFill>
              <a:schemeClr val="tx1"/>
            </a:solidFill>
          </a:ln>
        </p:spPr>
        <p:txBody>
          <a:bodyPr anchor="ctr"/>
          <a:lstStyle/>
          <a:p>
            <a:pPr lvl="0" algn="ctr"/>
            <a:r>
              <a:rPr lang="en-US" dirty="0"/>
              <a:t>Accrued expenses</a:t>
            </a:r>
          </a:p>
        </p:txBody>
      </p:sp>
      <p:sp>
        <p:nvSpPr>
          <p:cNvPr id="6" name="Content Placeholder 5"/>
          <p:cNvSpPr>
            <a:spLocks noGrp="1"/>
          </p:cNvSpPr>
          <p:nvPr>
            <p:ph sz="half" idx="2"/>
          </p:nvPr>
        </p:nvSpPr>
        <p:spPr>
          <a:xfrm>
            <a:off x="457200" y="2147978"/>
            <a:ext cx="4040982" cy="3684588"/>
          </a:xfrm>
        </p:spPr>
        <p:txBody>
          <a:bodyPr/>
          <a:lstStyle/>
          <a:p>
            <a:pPr lvl="0"/>
            <a:r>
              <a:rPr lang="en-US" dirty="0"/>
              <a:t>Record expense before paying cash</a:t>
            </a:r>
          </a:p>
          <a:p>
            <a:pPr lvl="0"/>
            <a:r>
              <a:rPr lang="en-US" dirty="0"/>
              <a:t>Salaries, interest, and income taxes</a:t>
            </a:r>
          </a:p>
        </p:txBody>
      </p:sp>
      <p:sp>
        <p:nvSpPr>
          <p:cNvPr id="7" name="Text Placeholder 6"/>
          <p:cNvSpPr>
            <a:spLocks noGrp="1"/>
          </p:cNvSpPr>
          <p:nvPr>
            <p:ph type="body" sz="quarter" idx="3"/>
          </p:nvPr>
        </p:nvSpPr>
        <p:spPr>
          <a:xfrm>
            <a:off x="4617720" y="1673352"/>
            <a:ext cx="4057650" cy="457200"/>
          </a:xfrm>
          <a:solidFill>
            <a:srgbClr val="C5F3FF"/>
          </a:solidFill>
          <a:ln>
            <a:solidFill>
              <a:schemeClr val="tx1"/>
            </a:solidFill>
          </a:ln>
        </p:spPr>
        <p:txBody>
          <a:bodyPr anchor="ctr">
            <a:normAutofit fontScale="92500" lnSpcReduction="10000"/>
          </a:bodyPr>
          <a:lstStyle/>
          <a:p>
            <a:pPr lvl="0" algn="ctr"/>
            <a:r>
              <a:rPr lang="en-US" dirty="0"/>
              <a:t>Accrued revenues</a:t>
            </a:r>
          </a:p>
        </p:txBody>
      </p:sp>
      <p:sp>
        <p:nvSpPr>
          <p:cNvPr id="8" name="Content Placeholder 7"/>
          <p:cNvSpPr>
            <a:spLocks noGrp="1"/>
          </p:cNvSpPr>
          <p:nvPr>
            <p:ph sz="quarter" idx="4"/>
          </p:nvPr>
        </p:nvSpPr>
        <p:spPr>
          <a:xfrm>
            <a:off x="4629150" y="2147978"/>
            <a:ext cx="4057650" cy="3684588"/>
          </a:xfrm>
        </p:spPr>
        <p:txBody>
          <a:bodyPr/>
          <a:lstStyle/>
          <a:p>
            <a:pPr lvl="0"/>
            <a:r>
              <a:rPr lang="en-US" dirty="0"/>
              <a:t>Record revenue before collecting cash</a:t>
            </a:r>
          </a:p>
          <a:p>
            <a:pPr lvl="0"/>
            <a:r>
              <a:rPr lang="en-US" dirty="0"/>
              <a:t>Earned and will collect in a future  period</a:t>
            </a:r>
          </a:p>
        </p:txBody>
      </p:sp>
    </p:spTree>
    <p:extLst>
      <p:ext uri="{BB962C8B-B14F-4D97-AF65-F5344CB8AC3E}">
        <p14:creationId xmlns:p14="http://schemas.microsoft.com/office/powerpoint/2010/main" val="142654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Accrued Expenses</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Expenses incurred before cash is paid</a:t>
            </a:r>
          </a:p>
          <a:p>
            <a:r>
              <a:rPr lang="en-US" altLang="en-US" dirty="0">
                <a:ea typeface="ＭＳ Ｐゴシック" pitchFamily="34" charset="-128"/>
              </a:rPr>
              <a:t>Results in a liability</a:t>
            </a:r>
          </a:p>
          <a:p>
            <a:r>
              <a:rPr lang="en-US" altLang="en-US" dirty="0">
                <a:ea typeface="ＭＳ Ｐゴシック" pitchFamily="34" charset="-128"/>
              </a:rPr>
              <a:t>Examples:</a:t>
            </a:r>
          </a:p>
          <a:p>
            <a:pPr lvl="1"/>
            <a:r>
              <a:rPr lang="en-US" altLang="en-US" dirty="0">
                <a:ea typeface="ＭＳ Ｐゴシック" pitchFamily="34" charset="-128"/>
              </a:rPr>
              <a:t>Salaries</a:t>
            </a:r>
          </a:p>
          <a:p>
            <a:pPr lvl="1"/>
            <a:r>
              <a:rPr lang="en-US" altLang="en-US" dirty="0">
                <a:ea typeface="ＭＳ Ｐゴシック" pitchFamily="34" charset="-128"/>
              </a:rPr>
              <a:t>Interest</a:t>
            </a:r>
            <a:endParaRPr lang="en-US" dirty="0"/>
          </a:p>
        </p:txBody>
      </p:sp>
    </p:spTree>
    <p:extLst>
      <p:ext uri="{BB962C8B-B14F-4D97-AF65-F5344CB8AC3E}">
        <p14:creationId xmlns:p14="http://schemas.microsoft.com/office/powerpoint/2010/main" val="2119489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Accrued Salaries </a:t>
            </a:r>
            <a:r>
              <a:rPr lang="en-US" altLang="en-US" sz="2000" b="0" dirty="0"/>
              <a:t>(1 of 3)</a:t>
            </a:r>
            <a:endParaRPr lang="en-US" b="0" dirty="0"/>
          </a:p>
        </p:txBody>
      </p:sp>
      <p:graphicFrame>
        <p:nvGraphicFramePr>
          <p:cNvPr id="13" name="Table 12"/>
          <p:cNvGraphicFramePr>
            <a:graphicFrameLocks noGrp="1"/>
          </p:cNvGraphicFramePr>
          <p:nvPr/>
        </p:nvGraphicFramePr>
        <p:xfrm>
          <a:off x="1752601" y="1947861"/>
          <a:ext cx="5638798" cy="2962278"/>
        </p:xfrm>
        <a:graphic>
          <a:graphicData uri="http://schemas.openxmlformats.org/drawingml/2006/table">
            <a:tbl>
              <a:tblPr firstRow="1" bandRow="1">
                <a:tableStyleId>{2D5ABB26-0587-4C30-8999-92F81FD0307C}</a:tableStyleId>
              </a:tblPr>
              <a:tblGrid>
                <a:gridCol w="727587">
                  <a:extLst>
                    <a:ext uri="{9D8B030D-6E8A-4147-A177-3AD203B41FA5}">
                      <a16:colId xmlns:a16="http://schemas.microsoft.com/office/drawing/2014/main" val="20000"/>
                    </a:ext>
                  </a:extLst>
                </a:gridCol>
                <a:gridCol w="818535">
                  <a:extLst>
                    <a:ext uri="{9D8B030D-6E8A-4147-A177-3AD203B41FA5}">
                      <a16:colId xmlns:a16="http://schemas.microsoft.com/office/drawing/2014/main" val="20001"/>
                    </a:ext>
                  </a:extLst>
                </a:gridCol>
                <a:gridCol w="818535">
                  <a:extLst>
                    <a:ext uri="{9D8B030D-6E8A-4147-A177-3AD203B41FA5}">
                      <a16:colId xmlns:a16="http://schemas.microsoft.com/office/drawing/2014/main" val="20002"/>
                    </a:ext>
                  </a:extLst>
                </a:gridCol>
                <a:gridCol w="818535">
                  <a:extLst>
                    <a:ext uri="{9D8B030D-6E8A-4147-A177-3AD203B41FA5}">
                      <a16:colId xmlns:a16="http://schemas.microsoft.com/office/drawing/2014/main" val="20003"/>
                    </a:ext>
                  </a:extLst>
                </a:gridCol>
                <a:gridCol w="757903">
                  <a:extLst>
                    <a:ext uri="{9D8B030D-6E8A-4147-A177-3AD203B41FA5}">
                      <a16:colId xmlns:a16="http://schemas.microsoft.com/office/drawing/2014/main" val="20004"/>
                    </a:ext>
                  </a:extLst>
                </a:gridCol>
                <a:gridCol w="757903">
                  <a:extLst>
                    <a:ext uri="{9D8B030D-6E8A-4147-A177-3AD203B41FA5}">
                      <a16:colId xmlns:a16="http://schemas.microsoft.com/office/drawing/2014/main" val="20005"/>
                    </a:ext>
                  </a:extLst>
                </a:gridCol>
                <a:gridCol w="939800">
                  <a:extLst>
                    <a:ext uri="{9D8B030D-6E8A-4147-A177-3AD203B41FA5}">
                      <a16:colId xmlns:a16="http://schemas.microsoft.com/office/drawing/2014/main" val="20006"/>
                    </a:ext>
                  </a:extLst>
                </a:gridCol>
              </a:tblGrid>
              <a:tr h="365838">
                <a:tc gridSpan="7">
                  <a:txBody>
                    <a:bodyPr/>
                    <a:lstStyle/>
                    <a:p>
                      <a:pPr algn="ctr"/>
                      <a:r>
                        <a:rPr lang="en-US" sz="1800" b="1" dirty="0"/>
                        <a:t>September</a:t>
                      </a:r>
                    </a:p>
                  </a:txBody>
                  <a:tcPr marT="45730" marB="4573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70920">
                <a:tc>
                  <a:txBody>
                    <a:bodyPr/>
                    <a:lstStyle/>
                    <a:p>
                      <a:r>
                        <a:rPr lang="en-US" sz="1800" dirty="0"/>
                        <a:t>Sun.</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dirty="0"/>
                        <a:t>Mon.</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dirty="0"/>
                        <a:t>Tues.</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dirty="0"/>
                        <a:t>Wed.</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dirty="0"/>
                        <a:t>Thur.</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dirty="0"/>
                        <a:t>Fri.</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dirty="0"/>
                        <a:t>Sat.</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920">
                <a:tc>
                  <a:txBody>
                    <a:bodyPr/>
                    <a:lstStyle/>
                    <a:p>
                      <a:pPr algn="l"/>
                      <a:endParaRPr lang="en-US" sz="1800" dirty="0"/>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a:endParaRPr lang="en-US" sz="1800" dirty="0"/>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a:endParaRPr lang="en-US" sz="1800" dirty="0"/>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a:endParaRPr lang="en-US" sz="1800" dirty="0"/>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a:endParaRPr lang="en-US" sz="1800" dirty="0"/>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a:endParaRPr lang="en-US" sz="1800" dirty="0"/>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a:r>
                        <a:rPr lang="en-US" sz="1800" dirty="0"/>
                        <a:t>1</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920">
                <a:tc>
                  <a:txBody>
                    <a:bodyPr/>
                    <a:lstStyle/>
                    <a:p>
                      <a:pPr algn="l"/>
                      <a:r>
                        <a:rPr lang="en-US" sz="1800" dirty="0"/>
                        <a:t>2</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a:r>
                        <a:rPr lang="en-US" sz="1800" dirty="0"/>
                        <a:t>3</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a:r>
                        <a:rPr lang="en-US" sz="1800" dirty="0"/>
                        <a:t>4</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a:r>
                        <a:rPr lang="en-US" sz="1800" dirty="0"/>
                        <a:t>5</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a:r>
                        <a:rPr lang="en-US" sz="1800" dirty="0"/>
                        <a:t>6</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a:r>
                        <a:rPr lang="en-US" sz="1800" dirty="0"/>
                        <a:t>7</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a:r>
                        <a:rPr lang="en-US" sz="1800" dirty="0"/>
                        <a:t>8</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920">
                <a:tc>
                  <a:txBody>
                    <a:bodyPr/>
                    <a:lstStyle/>
                    <a:p>
                      <a:pPr algn="l"/>
                      <a:r>
                        <a:rPr lang="en-US" sz="1800" dirty="0"/>
                        <a:t>9</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a:r>
                        <a:rPr lang="en-US" sz="1800" dirty="0"/>
                        <a:t>10</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a:r>
                        <a:rPr lang="en-US" sz="1800" dirty="0"/>
                        <a:t>11</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a:r>
                        <a:rPr lang="en-US" sz="1800" dirty="0"/>
                        <a:t>12</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a:r>
                        <a:rPr lang="en-US" sz="1800" dirty="0"/>
                        <a:t>13</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a:r>
                        <a:rPr lang="en-US" sz="1800" dirty="0"/>
                        <a:t>14</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a:r>
                        <a:rPr lang="en-US" sz="1800" dirty="0"/>
                        <a:t>15</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920">
                <a:tc>
                  <a:txBody>
                    <a:bodyPr/>
                    <a:lstStyle/>
                    <a:p>
                      <a:pPr algn="l"/>
                      <a:r>
                        <a:rPr lang="en-US" sz="1800" dirty="0"/>
                        <a:t>16</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a:r>
                        <a:rPr lang="en-US" sz="1800" dirty="0"/>
                        <a:t>17</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a:r>
                        <a:rPr lang="en-US" sz="1800" dirty="0"/>
                        <a:t>18</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a:r>
                        <a:rPr lang="en-US" sz="1800" dirty="0"/>
                        <a:t>19</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a:r>
                        <a:rPr lang="en-US" sz="1800" dirty="0"/>
                        <a:t>20</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a:r>
                        <a:rPr lang="en-US" sz="1800" dirty="0"/>
                        <a:t>21</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a:r>
                        <a:rPr lang="en-US" sz="1800" dirty="0"/>
                        <a:t>22</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920">
                <a:tc>
                  <a:txBody>
                    <a:bodyPr/>
                    <a:lstStyle/>
                    <a:p>
                      <a:pPr algn="l"/>
                      <a:r>
                        <a:rPr lang="en-US" sz="1800" dirty="0"/>
                        <a:t>23</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a:r>
                        <a:rPr lang="en-US" sz="1800" dirty="0"/>
                        <a:t>24</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a:r>
                        <a:rPr lang="en-US" sz="1800" dirty="0"/>
                        <a:t>25</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a:r>
                        <a:rPr lang="en-US" sz="1800" dirty="0"/>
                        <a:t>26</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a:r>
                        <a:rPr lang="en-US" sz="1800" dirty="0"/>
                        <a:t>27</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a:r>
                        <a:rPr lang="en-US" sz="1800" dirty="0"/>
                        <a:t>28</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a:r>
                        <a:rPr lang="en-US" sz="1800" dirty="0"/>
                        <a:t>29</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920">
                <a:tc>
                  <a:txBody>
                    <a:bodyPr/>
                    <a:lstStyle/>
                    <a:p>
                      <a:r>
                        <a:rPr lang="en-US" sz="1800" dirty="0"/>
                        <a:t>30</a:t>
                      </a:r>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sz="1800" dirty="0"/>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sz="1800" dirty="0"/>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sz="1800" dirty="0"/>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sz="1800" dirty="0"/>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sz="1800" dirty="0"/>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sz="1800" dirty="0"/>
                    </a:p>
                  </a:txBody>
                  <a:tcPr marT="45730" marB="4573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1" name="Content Placeholder 10"/>
          <p:cNvSpPr>
            <a:spLocks noGrp="1"/>
          </p:cNvSpPr>
          <p:nvPr>
            <p:ph idx="1"/>
          </p:nvPr>
        </p:nvSpPr>
        <p:spPr>
          <a:xfrm>
            <a:off x="7467600" y="3382700"/>
            <a:ext cx="1066800" cy="381000"/>
          </a:xfrm>
        </p:spPr>
        <p:txBody>
          <a:bodyPr>
            <a:normAutofit fontScale="85000" lnSpcReduction="10000"/>
          </a:bodyPr>
          <a:lstStyle/>
          <a:p>
            <a:pPr marL="0" indent="0">
              <a:buNone/>
            </a:pPr>
            <a:r>
              <a:rPr lang="en-US" altLang="en-US" b="1" dirty="0"/>
              <a:t>Pay day</a:t>
            </a:r>
          </a:p>
        </p:txBody>
      </p:sp>
      <p:sp>
        <p:nvSpPr>
          <p:cNvPr id="12" name="Content Placeholder 11"/>
          <p:cNvSpPr>
            <a:spLocks noGrp="1"/>
          </p:cNvSpPr>
          <p:nvPr>
            <p:ph idx="13"/>
          </p:nvPr>
        </p:nvSpPr>
        <p:spPr>
          <a:xfrm>
            <a:off x="697375" y="4358825"/>
            <a:ext cx="990600" cy="381000"/>
          </a:xfrm>
        </p:spPr>
        <p:txBody>
          <a:bodyPr>
            <a:normAutofit fontScale="77500" lnSpcReduction="20000"/>
          </a:bodyPr>
          <a:lstStyle/>
          <a:p>
            <a:pPr marL="0" indent="0">
              <a:buNone/>
            </a:pPr>
            <a:r>
              <a:rPr lang="en-US" altLang="en-US" b="1" dirty="0"/>
              <a:t>Pay day</a:t>
            </a:r>
          </a:p>
        </p:txBody>
      </p:sp>
      <p:sp>
        <p:nvSpPr>
          <p:cNvPr id="5" name="Oval 4" descr="Oval"/>
          <p:cNvSpPr/>
          <p:nvPr/>
        </p:nvSpPr>
        <p:spPr>
          <a:xfrm>
            <a:off x="6467684" y="3435468"/>
            <a:ext cx="448191" cy="344915"/>
          </a:xfrm>
          <a:prstGeom prst="ellipse">
            <a:avLst/>
          </a:prstGeom>
          <a:solidFill>
            <a:srgbClr val="FFFFFF">
              <a:alpha val="0"/>
            </a:srgbClr>
          </a:solidFill>
          <a:ln w="28575">
            <a:solidFill>
              <a:srgbClr val="007FA3"/>
            </a:solidFill>
          </a:ln>
        </p:spPr>
        <p:style>
          <a:lnRef idx="2">
            <a:schemeClr val="accent4"/>
          </a:lnRef>
          <a:fillRef idx="1">
            <a:schemeClr val="lt1"/>
          </a:fillRef>
          <a:effectRef idx="0">
            <a:schemeClr val="accent4"/>
          </a:effectRef>
          <a:fontRef idx="minor">
            <a:schemeClr val="dk1"/>
          </a:fontRef>
        </p:style>
        <p:txBody>
          <a:bodyPr anchor="ctr"/>
          <a:lstStyle/>
          <a:p>
            <a:pPr algn="ctr" eaLnBrk="1" hangingPunct="1">
              <a:defRPr/>
            </a:pPr>
            <a:endParaRPr lang="en-US" dirty="0"/>
          </a:p>
        </p:txBody>
      </p:sp>
      <p:sp>
        <p:nvSpPr>
          <p:cNvPr id="6" name="Oval 5" descr="Oval"/>
          <p:cNvSpPr/>
          <p:nvPr/>
        </p:nvSpPr>
        <p:spPr>
          <a:xfrm>
            <a:off x="1764434" y="4553333"/>
            <a:ext cx="422216" cy="341500"/>
          </a:xfrm>
          <a:prstGeom prst="ellipse">
            <a:avLst/>
          </a:prstGeom>
          <a:solidFill>
            <a:srgbClr val="FFFFFF">
              <a:alpha val="0"/>
            </a:srgbClr>
          </a:solidFill>
          <a:ln w="28575">
            <a:solidFill>
              <a:srgbClr val="007FA3"/>
            </a:solidFill>
          </a:ln>
        </p:spPr>
        <p:style>
          <a:lnRef idx="2">
            <a:schemeClr val="accent4"/>
          </a:lnRef>
          <a:fillRef idx="1">
            <a:schemeClr val="lt1"/>
          </a:fillRef>
          <a:effectRef idx="0">
            <a:schemeClr val="accent4"/>
          </a:effectRef>
          <a:fontRef idx="minor">
            <a:schemeClr val="dk1"/>
          </a:fontRef>
        </p:style>
        <p:txBody>
          <a:bodyPr anchor="ctr"/>
          <a:lstStyle/>
          <a:p>
            <a:pPr algn="ctr" eaLnBrk="1" hangingPunct="1">
              <a:defRPr/>
            </a:pPr>
            <a:endParaRPr lang="en-US" dirty="0"/>
          </a:p>
        </p:txBody>
      </p:sp>
    </p:spTree>
    <p:extLst>
      <p:ext uri="{BB962C8B-B14F-4D97-AF65-F5344CB8AC3E}">
        <p14:creationId xmlns:p14="http://schemas.microsoft.com/office/powerpoint/2010/main" val="18450358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Accrued Salaries </a:t>
            </a:r>
            <a:r>
              <a:rPr lang="en-US" altLang="en-US" sz="2000" b="0" dirty="0"/>
              <a:t>(2 of 3)</a:t>
            </a:r>
            <a:endParaRPr lang="en-US" b="0" dirty="0"/>
          </a:p>
        </p:txBody>
      </p:sp>
      <p:graphicFrame>
        <p:nvGraphicFramePr>
          <p:cNvPr id="4" name="Table 3"/>
          <p:cNvGraphicFramePr>
            <a:graphicFrameLocks noGrp="1"/>
          </p:cNvGraphicFramePr>
          <p:nvPr/>
        </p:nvGraphicFramePr>
        <p:xfrm>
          <a:off x="457200" y="1828800"/>
          <a:ext cx="8229600" cy="2560635"/>
        </p:xfrm>
        <a:graphic>
          <a:graphicData uri="http://schemas.openxmlformats.org/drawingml/2006/table">
            <a:tbl>
              <a:tblPr firstRow="1" bandRow="1">
                <a:tableStyleId>{2D5ABB26-0587-4C30-8999-92F81FD0307C}</a:tableStyleId>
              </a:tblPr>
              <a:tblGrid>
                <a:gridCol w="1143000">
                  <a:extLst>
                    <a:ext uri="{9D8B030D-6E8A-4147-A177-3AD203B41FA5}">
                      <a16:colId xmlns:a16="http://schemas.microsoft.com/office/drawing/2014/main" val="20000"/>
                    </a:ext>
                  </a:extLst>
                </a:gridCol>
                <a:gridCol w="4101353">
                  <a:extLst>
                    <a:ext uri="{9D8B030D-6E8A-4147-A177-3AD203B41FA5}">
                      <a16:colId xmlns:a16="http://schemas.microsoft.com/office/drawing/2014/main" val="20001"/>
                    </a:ext>
                  </a:extLst>
                </a:gridCol>
                <a:gridCol w="1510129">
                  <a:extLst>
                    <a:ext uri="{9D8B030D-6E8A-4147-A177-3AD203B41FA5}">
                      <a16:colId xmlns:a16="http://schemas.microsoft.com/office/drawing/2014/main" val="20002"/>
                    </a:ext>
                  </a:extLst>
                </a:gridCol>
                <a:gridCol w="1475118">
                  <a:extLst>
                    <a:ext uri="{9D8B030D-6E8A-4147-A177-3AD203B41FA5}">
                      <a16:colId xmlns:a16="http://schemas.microsoft.com/office/drawing/2014/main" val="20003"/>
                    </a:ext>
                  </a:extLst>
                </a:gridCol>
              </a:tblGrid>
              <a:tr h="365805">
                <a:tc gridSpan="4">
                  <a:txBody>
                    <a:bodyPr/>
                    <a:lstStyle/>
                    <a:p>
                      <a:pPr algn="ctr"/>
                      <a:r>
                        <a:rPr lang="en-US" sz="1800" b="1" dirty="0"/>
                        <a:t>JOURNAL</a:t>
                      </a:r>
                    </a:p>
                  </a:txBody>
                  <a:tcPr marT="45726" marB="4572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lang="en-US" dirty="0"/>
                    </a:p>
                  </a:txBody>
                  <a:tcPr/>
                </a:tc>
                <a:tc hMerge="1">
                  <a:txBody>
                    <a:bodyPr/>
                    <a:lstStyle/>
                    <a:p>
                      <a:pPr algn="ctr"/>
                      <a:endParaRPr lang="en-US" dirty="0"/>
                    </a:p>
                  </a:txBody>
                  <a:tcPr/>
                </a:tc>
                <a:tc hMerge="1">
                  <a:txBody>
                    <a:bodyPr/>
                    <a:lstStyle/>
                    <a:p>
                      <a:pPr algn="ctr"/>
                      <a:endParaRPr lang="en-US" dirty="0"/>
                    </a:p>
                  </a:txBody>
                  <a:tcPr/>
                </a:tc>
                <a:extLst>
                  <a:ext uri="{0D108BD9-81ED-4DB2-BD59-A6C34878D82A}">
                    <a16:rowId xmlns:a16="http://schemas.microsoft.com/office/drawing/2014/main" val="10000"/>
                  </a:ext>
                </a:extLst>
              </a:tr>
              <a:tr h="365805">
                <a:tc>
                  <a:txBody>
                    <a:bodyPr/>
                    <a:lstStyle/>
                    <a:p>
                      <a:r>
                        <a:rPr lang="en-US" sz="1800" dirty="0"/>
                        <a:t>Date</a:t>
                      </a:r>
                    </a:p>
                  </a:txBody>
                  <a:tcPr marT="45726" marB="4572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r>
                        <a:rPr lang="en-US" sz="1800" dirty="0"/>
                        <a:t>Accounts</a:t>
                      </a:r>
                      <a:endParaRPr lang="en-US" sz="1800" i="0" dirty="0"/>
                    </a:p>
                  </a:txBody>
                  <a:tcPr marT="45726" marB="4572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r>
                        <a:rPr lang="en-US" sz="1800" dirty="0"/>
                        <a:t>Debit</a:t>
                      </a:r>
                    </a:p>
                  </a:txBody>
                  <a:tcPr marT="45726" marB="4572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r>
                        <a:rPr lang="en-US" sz="1800" dirty="0"/>
                        <a:t>Credit</a:t>
                      </a:r>
                    </a:p>
                  </a:txBody>
                  <a:tcPr marT="45726" marB="4572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65805">
                <a:tc>
                  <a:txBody>
                    <a:bodyPr/>
                    <a:lstStyle/>
                    <a:p>
                      <a:r>
                        <a:rPr lang="en-US" sz="1800" baseline="0" dirty="0"/>
                        <a:t>Sept 15</a:t>
                      </a:r>
                      <a:endParaRPr lang="en-US" sz="1800" dirty="0"/>
                    </a:p>
                  </a:txBody>
                  <a:tcPr marT="45726" marB="4572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lang="en-US" sz="1800" dirty="0"/>
                        <a:t>Salary Expense</a:t>
                      </a:r>
                    </a:p>
                  </a:txBody>
                  <a:tcPr marT="45726" marB="4572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lang="en-US" sz="1800" dirty="0"/>
                        <a:t>900</a:t>
                      </a:r>
                    </a:p>
                  </a:txBody>
                  <a:tcPr marT="45726" marB="4572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endParaRPr lang="en-US" sz="1800" dirty="0"/>
                    </a:p>
                  </a:txBody>
                  <a:tcPr marT="45726" marB="4572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65805">
                <a:tc>
                  <a:txBody>
                    <a:bodyPr/>
                    <a:lstStyle/>
                    <a:p>
                      <a:endParaRPr lang="en-US" sz="1800" dirty="0"/>
                    </a:p>
                  </a:txBody>
                  <a:tcPr marT="45726" marB="4572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274320"/>
                      <a:r>
                        <a:rPr lang="en-US" sz="1800" dirty="0"/>
                        <a:t>Cash</a:t>
                      </a:r>
                    </a:p>
                  </a:txBody>
                  <a:tcPr marT="45726" marB="4572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endParaRPr lang="en-US" sz="1800" dirty="0"/>
                    </a:p>
                  </a:txBody>
                  <a:tcPr marT="45726" marB="4572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lang="en-US" sz="1800" dirty="0"/>
                        <a:t>900</a:t>
                      </a:r>
                    </a:p>
                  </a:txBody>
                  <a:tcPr marT="45726" marB="4572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65805">
                <a:tc>
                  <a:txBody>
                    <a:bodyPr/>
                    <a:lstStyle/>
                    <a:p>
                      <a:endParaRPr lang="en-US" sz="1800" dirty="0"/>
                    </a:p>
                  </a:txBody>
                  <a:tcPr marT="45726" marB="4572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en-US" sz="1800" dirty="0"/>
                    </a:p>
                  </a:txBody>
                  <a:tcPr marT="45726" marB="4572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endParaRPr lang="en-US" sz="1800" dirty="0"/>
                    </a:p>
                  </a:txBody>
                  <a:tcPr marT="45726" marB="4572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endParaRPr lang="en-US" sz="1800" dirty="0"/>
                    </a:p>
                  </a:txBody>
                  <a:tcPr marT="45726" marB="4572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65805">
                <a:tc>
                  <a:txBody>
                    <a:bodyPr/>
                    <a:lstStyle/>
                    <a:p>
                      <a:r>
                        <a:rPr lang="en-US" sz="1800" dirty="0"/>
                        <a:t>Sept 30</a:t>
                      </a:r>
                    </a:p>
                  </a:txBody>
                  <a:tcPr marT="45726" marB="4572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lang="en-US" sz="1800" dirty="0"/>
                        <a:t>Salary Expense</a:t>
                      </a:r>
                    </a:p>
                  </a:txBody>
                  <a:tcPr marT="45726" marB="4572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lang="en-US" sz="1800" dirty="0"/>
                        <a:t>900</a:t>
                      </a:r>
                    </a:p>
                  </a:txBody>
                  <a:tcPr marT="45726" marB="4572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endParaRPr lang="en-US" sz="1800" dirty="0"/>
                    </a:p>
                  </a:txBody>
                  <a:tcPr marT="45726" marB="4572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65805">
                <a:tc>
                  <a:txBody>
                    <a:bodyPr/>
                    <a:lstStyle/>
                    <a:p>
                      <a:endParaRPr lang="en-US" sz="1800" dirty="0"/>
                    </a:p>
                  </a:txBody>
                  <a:tcPr marT="45726" marB="4572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274320" algn="l" defTabSz="914400" rtl="0" eaLnBrk="1" latinLnBrk="0" hangingPunct="1"/>
                      <a:r>
                        <a:rPr lang="en-US" sz="1800" kern="1200" dirty="0">
                          <a:solidFill>
                            <a:schemeClr val="tx1"/>
                          </a:solidFill>
                          <a:latin typeface="+mn-lt"/>
                          <a:ea typeface="+mn-ea"/>
                          <a:cs typeface="+mn-cs"/>
                        </a:rPr>
                        <a:t>Salary Payable</a:t>
                      </a:r>
                    </a:p>
                  </a:txBody>
                  <a:tcPr marT="45726" marB="4572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endParaRPr lang="en-US" sz="1800" dirty="0"/>
                    </a:p>
                  </a:txBody>
                  <a:tcPr marT="45726" marB="4572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lang="en-US" sz="1800" dirty="0"/>
                        <a:t>900</a:t>
                      </a:r>
                    </a:p>
                  </a:txBody>
                  <a:tcPr marT="45726" marB="4572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58481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0312"/>
            <a:ext cx="8229600" cy="1097280"/>
          </a:xfrm>
        </p:spPr>
        <p:txBody>
          <a:bodyPr/>
          <a:lstStyle/>
          <a:p>
            <a:r>
              <a:rPr lang="en-US" altLang="en-US" dirty="0"/>
              <a:t>Accrued Salaries </a:t>
            </a:r>
            <a:r>
              <a:rPr lang="en-US" altLang="en-US" sz="2000" b="0" dirty="0"/>
              <a:t>(3 of 3)</a:t>
            </a:r>
            <a:endParaRPr lang="en-US" b="0" dirty="0"/>
          </a:p>
        </p:txBody>
      </p:sp>
      <p:graphicFrame>
        <p:nvGraphicFramePr>
          <p:cNvPr id="4" name="Table 3"/>
          <p:cNvGraphicFramePr>
            <a:graphicFrameLocks noGrp="1"/>
          </p:cNvGraphicFramePr>
          <p:nvPr/>
        </p:nvGraphicFramePr>
        <p:xfrm>
          <a:off x="492760" y="1808480"/>
          <a:ext cx="3810000" cy="1762760"/>
        </p:xfrm>
        <a:graphic>
          <a:graphicData uri="http://schemas.openxmlformats.org/drawingml/2006/table">
            <a:tbl>
              <a:tblPr firstRow="1" bandRow="1">
                <a:tableStyleId>{2D5ABB26-0587-4C30-8999-92F81FD0307C}</a:tableStyleId>
              </a:tblPr>
              <a:tblGrid>
                <a:gridCol w="1887855">
                  <a:extLst>
                    <a:ext uri="{9D8B030D-6E8A-4147-A177-3AD203B41FA5}">
                      <a16:colId xmlns:a16="http://schemas.microsoft.com/office/drawing/2014/main" val="20000"/>
                    </a:ext>
                  </a:extLst>
                </a:gridCol>
                <a:gridCol w="1922145">
                  <a:extLst>
                    <a:ext uri="{9D8B030D-6E8A-4147-A177-3AD203B41FA5}">
                      <a16:colId xmlns:a16="http://schemas.microsoft.com/office/drawing/2014/main" val="20001"/>
                    </a:ext>
                  </a:extLst>
                </a:gridCol>
              </a:tblGrid>
              <a:tr h="304800">
                <a:tc gridSpan="2">
                  <a:txBody>
                    <a:bodyPr/>
                    <a:lstStyle/>
                    <a:p>
                      <a:pPr marL="0" algn="ctr" defTabSz="914400" rtl="0" eaLnBrk="1" latinLnBrk="0" hangingPunct="1"/>
                      <a:r>
                        <a:rPr lang="en-US" altLang="en-US" sz="2000" kern="1200" dirty="0">
                          <a:solidFill>
                            <a:schemeClr val="tx1"/>
                          </a:solidFill>
                          <a:latin typeface="+mn-lt"/>
                          <a:ea typeface="+mn-ea"/>
                          <a:cs typeface="+mn-cs"/>
                        </a:rPr>
                        <a:t>Salary Payable</a:t>
                      </a: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24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b="1" dirty="0"/>
                        <a:t>900</a:t>
                      </a:r>
                      <a:r>
                        <a:rPr lang="en-US" altLang="en-US" sz="1800" dirty="0">
                          <a:solidFill>
                            <a:schemeClr val="tx1"/>
                          </a:solidFill>
                        </a:rPr>
                        <a:t>        </a:t>
                      </a:r>
                      <a:r>
                        <a:rPr lang="en-US" altLang="en-US" sz="1800" dirty="0"/>
                        <a:t>Sept 30</a:t>
                      </a:r>
                      <a:endParaRPr lang="en-US" sz="180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b="1" dirty="0">
                          <a:solidFill>
                            <a:schemeClr val="tx1"/>
                          </a:solidFill>
                        </a:rPr>
                        <a:t>           </a:t>
                      </a:r>
                      <a:endParaRPr lang="en-US" sz="1800" dirty="0">
                        <a:solidFill>
                          <a:schemeClr val="tx1"/>
                        </a:solidFill>
                      </a:endParaRPr>
                    </a:p>
                  </a:txBody>
                  <a:tcP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t>900</a:t>
                      </a:r>
                      <a:endParaRPr lang="en-US" sz="180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tcPr>
                </a:tc>
                <a:extLst>
                  <a:ext uri="{0D108BD9-81ED-4DB2-BD59-A6C34878D82A}">
                    <a16:rowId xmlns:a16="http://schemas.microsoft.com/office/drawing/2014/main" val="10003"/>
                  </a:ext>
                </a:extLst>
              </a:tr>
            </a:tbl>
          </a:graphicData>
        </a:graphic>
      </p:graphicFrame>
      <p:cxnSp>
        <p:nvCxnSpPr>
          <p:cNvPr id="16" name="Straight Arrow Connector 15" descr="Straight Arrow Connector "/>
          <p:cNvCxnSpPr/>
          <p:nvPr/>
        </p:nvCxnSpPr>
        <p:spPr>
          <a:xfrm>
            <a:off x="2718423" y="3190258"/>
            <a:ext cx="97745" cy="810526"/>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 name="Text Placeholder 5"/>
          <p:cNvSpPr>
            <a:spLocks noGrp="1"/>
          </p:cNvSpPr>
          <p:nvPr>
            <p:ph type="body" idx="1"/>
          </p:nvPr>
        </p:nvSpPr>
        <p:spPr>
          <a:xfrm>
            <a:off x="1919323" y="4089580"/>
            <a:ext cx="2119277" cy="863420"/>
          </a:xfrm>
        </p:spPr>
        <p:txBody>
          <a:bodyPr/>
          <a:lstStyle/>
          <a:p>
            <a:r>
              <a:rPr lang="en-US" sz="2000" dirty="0"/>
              <a:t>Amount  owed</a:t>
            </a:r>
          </a:p>
        </p:txBody>
      </p:sp>
      <p:sp>
        <p:nvSpPr>
          <p:cNvPr id="7" name="Content Placeholder 6"/>
          <p:cNvSpPr>
            <a:spLocks noGrp="1"/>
          </p:cNvSpPr>
          <p:nvPr>
            <p:ph sz="half" idx="2"/>
          </p:nvPr>
        </p:nvSpPr>
        <p:spPr>
          <a:xfrm>
            <a:off x="1919323" y="5080180"/>
            <a:ext cx="2119277" cy="863420"/>
          </a:xfrm>
        </p:spPr>
        <p:txBody>
          <a:bodyPr/>
          <a:lstStyle/>
          <a:p>
            <a:pPr marL="0" indent="0"/>
            <a:r>
              <a:rPr lang="en-US" sz="2000" dirty="0"/>
              <a:t>Balance Sheet</a:t>
            </a:r>
          </a:p>
        </p:txBody>
      </p:sp>
      <p:graphicFrame>
        <p:nvGraphicFramePr>
          <p:cNvPr id="5" name="Table 4"/>
          <p:cNvGraphicFramePr>
            <a:graphicFrameLocks noGrp="1"/>
          </p:cNvGraphicFramePr>
          <p:nvPr/>
        </p:nvGraphicFramePr>
        <p:xfrm>
          <a:off x="5562600" y="1808480"/>
          <a:ext cx="3048000" cy="1508760"/>
        </p:xfrm>
        <a:graphic>
          <a:graphicData uri="http://schemas.openxmlformats.org/drawingml/2006/table">
            <a:tbl>
              <a:tblPr firstRow="1" bandRow="1">
                <a:tableStyleId>{2D5ABB26-0587-4C30-8999-92F81FD0307C}</a:tableStyleId>
              </a:tblPr>
              <a:tblGrid>
                <a:gridCol w="1685518">
                  <a:extLst>
                    <a:ext uri="{9D8B030D-6E8A-4147-A177-3AD203B41FA5}">
                      <a16:colId xmlns:a16="http://schemas.microsoft.com/office/drawing/2014/main" val="20000"/>
                    </a:ext>
                  </a:extLst>
                </a:gridCol>
                <a:gridCol w="1362482">
                  <a:extLst>
                    <a:ext uri="{9D8B030D-6E8A-4147-A177-3AD203B41FA5}">
                      <a16:colId xmlns:a16="http://schemas.microsoft.com/office/drawing/2014/main" val="20001"/>
                    </a:ext>
                  </a:extLst>
                </a:gridCol>
              </a:tblGrid>
              <a:tr h="304800">
                <a:tc gridSpan="2">
                  <a:txBody>
                    <a:bodyPr/>
                    <a:lstStyle/>
                    <a:p>
                      <a:pPr marL="0" algn="ctr" defTabSz="914400" rtl="0" eaLnBrk="1" latinLnBrk="0" hangingPunct="1"/>
                      <a:r>
                        <a:rPr lang="en-US" altLang="en-US" sz="2000" kern="1200" dirty="0">
                          <a:solidFill>
                            <a:schemeClr val="tx1"/>
                          </a:solidFill>
                          <a:latin typeface="+mn-lt"/>
                          <a:ea typeface="+mn-ea"/>
                          <a:cs typeface="+mn-cs"/>
                        </a:rPr>
                        <a:t>Salary  Expense</a:t>
                      </a: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Sept 15     </a:t>
                      </a:r>
                      <a:r>
                        <a:rPr lang="en-US" altLang="en-US" dirty="0"/>
                        <a:t>900</a:t>
                      </a:r>
                      <a:endParaRPr lang="en-US" sz="1800" dirty="0">
                        <a:solidFill>
                          <a:schemeClr val="tx1"/>
                        </a:solidFill>
                      </a:endParaRPr>
                    </a:p>
                  </a:txBody>
                  <a:tcP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Sept 30    </a:t>
                      </a:r>
                      <a:r>
                        <a:rPr lang="en-US" altLang="en-US" b="1" dirty="0"/>
                        <a:t>900</a:t>
                      </a:r>
                      <a:endParaRPr lang="en-US" sz="1800" dirty="0">
                        <a:solidFill>
                          <a:schemeClr val="tx1"/>
                        </a:solidFill>
                      </a:endParaRPr>
                    </a:p>
                  </a:txBody>
                  <a:tcP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b="1" dirty="0"/>
                        <a:t> </a:t>
                      </a:r>
                      <a:r>
                        <a:rPr lang="en-US" altLang="en-US" dirty="0"/>
                        <a:t>1,800</a:t>
                      </a:r>
                      <a:endParaRPr lang="en-US" sz="1800" dirty="0">
                        <a:solidFill>
                          <a:schemeClr val="tx1"/>
                        </a:solidFill>
                      </a:endParaRPr>
                    </a:p>
                  </a:txBody>
                  <a:tcP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3"/>
                  </a:ext>
                </a:extLst>
              </a:tr>
            </a:tbl>
          </a:graphicData>
        </a:graphic>
      </p:graphicFrame>
      <p:cxnSp>
        <p:nvCxnSpPr>
          <p:cNvPr id="18" name="Straight Arrow Connector 17" descr="Straight Arrow Connector"/>
          <p:cNvCxnSpPr/>
          <p:nvPr/>
        </p:nvCxnSpPr>
        <p:spPr>
          <a:xfrm flipH="1">
            <a:off x="6621072" y="3315969"/>
            <a:ext cx="194457" cy="752571"/>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3"/>
          </p:nvPr>
        </p:nvSpPr>
        <p:spPr>
          <a:xfrm>
            <a:off x="5727192" y="4093464"/>
            <a:ext cx="2121408" cy="859536"/>
          </a:xfrm>
        </p:spPr>
        <p:txBody>
          <a:bodyPr/>
          <a:lstStyle/>
          <a:p>
            <a:pPr>
              <a:defRPr/>
            </a:pPr>
            <a:r>
              <a:rPr lang="en-US" altLang="en-US" sz="2000" dirty="0"/>
              <a:t>Sept</a:t>
            </a:r>
            <a:r>
              <a:rPr lang="ja-JP" altLang="en-US" sz="2000" dirty="0"/>
              <a:t>’</a:t>
            </a:r>
            <a:r>
              <a:rPr lang="en-US" altLang="ja-JP" sz="2000" dirty="0"/>
              <a:t>s salary</a:t>
            </a:r>
            <a:endParaRPr lang="en-US" altLang="en-US" sz="2000" dirty="0"/>
          </a:p>
        </p:txBody>
      </p:sp>
      <p:sp>
        <p:nvSpPr>
          <p:cNvPr id="9" name="Content Placeholder 8"/>
          <p:cNvSpPr>
            <a:spLocks noGrp="1"/>
          </p:cNvSpPr>
          <p:nvPr>
            <p:ph sz="quarter" idx="4"/>
          </p:nvPr>
        </p:nvSpPr>
        <p:spPr>
          <a:xfrm>
            <a:off x="5727192" y="5084064"/>
            <a:ext cx="2121408" cy="859536"/>
          </a:xfrm>
        </p:spPr>
        <p:txBody>
          <a:bodyPr/>
          <a:lstStyle/>
          <a:p>
            <a:pPr marL="0" indent="0">
              <a:defRPr/>
            </a:pPr>
            <a:r>
              <a:rPr lang="en-US" sz="2000" dirty="0"/>
              <a:t>Income Statement</a:t>
            </a:r>
          </a:p>
        </p:txBody>
      </p:sp>
    </p:spTree>
    <p:extLst>
      <p:ext uri="{BB962C8B-B14F-4D97-AF65-F5344CB8AC3E}">
        <p14:creationId xmlns:p14="http://schemas.microsoft.com/office/powerpoint/2010/main" val="32647782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Accrued Revenue</a:t>
            </a:r>
            <a:endParaRPr lang="en-US" dirty="0"/>
          </a:p>
        </p:txBody>
      </p:sp>
      <p:sp>
        <p:nvSpPr>
          <p:cNvPr id="3" name="Content Placeholder 2"/>
          <p:cNvSpPr>
            <a:spLocks noGrp="1"/>
          </p:cNvSpPr>
          <p:nvPr>
            <p:ph idx="1"/>
          </p:nvPr>
        </p:nvSpPr>
        <p:spPr>
          <a:xfrm>
            <a:off x="457200" y="1600201"/>
            <a:ext cx="8229600" cy="1066800"/>
          </a:xfrm>
        </p:spPr>
        <p:txBody>
          <a:bodyPr/>
          <a:lstStyle/>
          <a:p>
            <a:r>
              <a:rPr lang="en-US" altLang="en-US" dirty="0">
                <a:ea typeface="ＭＳ Ｐゴシック" pitchFamily="34" charset="-128"/>
              </a:rPr>
              <a:t>Revenue earned but not yet received</a:t>
            </a:r>
          </a:p>
          <a:p>
            <a:r>
              <a:rPr lang="en-US" altLang="en-US" dirty="0">
                <a:ea typeface="ＭＳ Ｐゴシック" pitchFamily="34" charset="-128"/>
              </a:rPr>
              <a:t>Increases receivables and revenue</a:t>
            </a:r>
            <a:endParaRPr lang="en-US" dirty="0"/>
          </a:p>
        </p:txBody>
      </p:sp>
      <p:graphicFrame>
        <p:nvGraphicFramePr>
          <p:cNvPr id="4" name="Table 3"/>
          <p:cNvGraphicFramePr>
            <a:graphicFrameLocks noGrp="1"/>
          </p:cNvGraphicFramePr>
          <p:nvPr/>
        </p:nvGraphicFramePr>
        <p:xfrm>
          <a:off x="457200" y="3200400"/>
          <a:ext cx="8229600" cy="1828800"/>
        </p:xfrm>
        <a:graphic>
          <a:graphicData uri="http://schemas.openxmlformats.org/drawingml/2006/table">
            <a:tbl>
              <a:tblPr firstRow="1" bandRow="1">
                <a:tableStyleId>{2D5ABB26-0587-4C30-8999-92F81FD0307C}</a:tableStyleId>
              </a:tblPr>
              <a:tblGrid>
                <a:gridCol w="1143000">
                  <a:extLst>
                    <a:ext uri="{9D8B030D-6E8A-4147-A177-3AD203B41FA5}">
                      <a16:colId xmlns:a16="http://schemas.microsoft.com/office/drawing/2014/main" val="20000"/>
                    </a:ext>
                  </a:extLst>
                </a:gridCol>
                <a:gridCol w="4101353">
                  <a:extLst>
                    <a:ext uri="{9D8B030D-6E8A-4147-A177-3AD203B41FA5}">
                      <a16:colId xmlns:a16="http://schemas.microsoft.com/office/drawing/2014/main" val="20001"/>
                    </a:ext>
                  </a:extLst>
                </a:gridCol>
                <a:gridCol w="1510129">
                  <a:extLst>
                    <a:ext uri="{9D8B030D-6E8A-4147-A177-3AD203B41FA5}">
                      <a16:colId xmlns:a16="http://schemas.microsoft.com/office/drawing/2014/main" val="20002"/>
                    </a:ext>
                  </a:extLst>
                </a:gridCol>
                <a:gridCol w="1475118">
                  <a:extLst>
                    <a:ext uri="{9D8B030D-6E8A-4147-A177-3AD203B41FA5}">
                      <a16:colId xmlns:a16="http://schemas.microsoft.com/office/drawing/2014/main" val="20003"/>
                    </a:ext>
                  </a:extLst>
                </a:gridCol>
              </a:tblGrid>
              <a:tr h="365760">
                <a:tc gridSpan="4">
                  <a:txBody>
                    <a:bodyPr/>
                    <a:lstStyle/>
                    <a:p>
                      <a:pPr algn="ctr"/>
                      <a:r>
                        <a:rPr lang="en-US" b="1" dirty="0"/>
                        <a:t>JOURNAL</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pPr algn="ctr"/>
                      <a:endParaRPr lang="en-US" dirty="0"/>
                    </a:p>
                  </a:txBody>
                  <a:tcPr/>
                </a:tc>
                <a:tc hMerge="1">
                  <a:txBody>
                    <a:bodyPr/>
                    <a:lstStyle/>
                    <a:p>
                      <a:pPr algn="ctr"/>
                      <a:endParaRPr lang="en-US" dirty="0"/>
                    </a:p>
                  </a:txBody>
                  <a:tcPr/>
                </a:tc>
                <a:extLst>
                  <a:ext uri="{0D108BD9-81ED-4DB2-BD59-A6C34878D82A}">
                    <a16:rowId xmlns:a16="http://schemas.microsoft.com/office/drawing/2014/main" val="10000"/>
                  </a:ext>
                </a:extLst>
              </a:tr>
              <a:tr h="365760">
                <a:tc>
                  <a:txBody>
                    <a:bodyPr/>
                    <a:lstStyle/>
                    <a:p>
                      <a:r>
                        <a:rPr lang="en-US" dirty="0"/>
                        <a:t>Date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dirty="0"/>
                        <a:t>Accounts</a:t>
                      </a:r>
                      <a:endParaRPr lang="en-US" i="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dirty="0"/>
                        <a:t>Debit</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dirty="0"/>
                        <a:t>Credit</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r>
                        <a:rPr lang="en-US" dirty="0"/>
                        <a:t>Jun</a:t>
                      </a:r>
                      <a:r>
                        <a:rPr lang="en-US" baseline="0" dirty="0"/>
                        <a:t> 30</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Accounts Receivable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dirty="0"/>
                        <a:t>300</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274320" algn="l" defTabSz="914400" rtl="0" eaLnBrk="1" latinLnBrk="0" hangingPunct="1"/>
                      <a:r>
                        <a:rPr lang="en-US" sz="1800" kern="1200" baseline="0" dirty="0">
                          <a:solidFill>
                            <a:schemeClr val="tx1"/>
                          </a:solidFill>
                          <a:latin typeface="+mn-lt"/>
                          <a:ea typeface="+mn-ea"/>
                          <a:cs typeface="+mn-cs"/>
                        </a:rPr>
                        <a:t>Service Revenue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dirty="0"/>
                        <a:t>300</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181204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Prepaids and Accruals</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268642968"/>
              </p:ext>
            </p:extLst>
          </p:nvPr>
        </p:nvGraphicFramePr>
        <p:xfrm>
          <a:off x="271789" y="1126435"/>
          <a:ext cx="8305800" cy="4937760"/>
        </p:xfrm>
        <a:graphic>
          <a:graphicData uri="http://schemas.openxmlformats.org/drawingml/2006/table">
            <a:tbl>
              <a:tblPr firstRow="1" bandRow="1">
                <a:tableStyleId>{2D5ABB26-0587-4C30-8999-92F81FD0307C}</a:tableStyleId>
              </a:tblPr>
              <a:tblGrid>
                <a:gridCol w="32004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307536">
                <a:tc>
                  <a:txBody>
                    <a:bodyPr/>
                    <a:lstStyle/>
                    <a:p>
                      <a:r>
                        <a:rPr lang="en-US" altLang="en-US" sz="1800" b="1" dirty="0"/>
                        <a:t>PREPAIDS – CASH FIRST</a:t>
                      </a:r>
                      <a:endParaRPr lang="en-US"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97729">
                <a:tc>
                  <a:txBody>
                    <a:bodyPr/>
                    <a:lstStyle/>
                    <a:p>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dirty="0"/>
                        <a:t>FIRST</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dirty="0"/>
                        <a:t>LATER</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97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dirty="0"/>
                        <a:t>Prepaid expenses</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dirty="0"/>
                        <a:t>Prepaid expense</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dirty="0"/>
                        <a:t>Expense</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97729">
                <a:tc>
                  <a:txBody>
                    <a:bodyPr/>
                    <a:lstStyle/>
                    <a:p>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en-US" sz="1800" dirty="0"/>
                        <a:t>Cash</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en-US" sz="1800" dirty="0"/>
                        <a:t>Prepaid expense</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415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dirty="0"/>
                        <a:t>Unearned revenues</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dirty="0"/>
                        <a:t>Cash</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dirty="0"/>
                        <a:t>Unearned revenue</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97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en-US" sz="1800" dirty="0"/>
                        <a:t>Unearned revenue</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en-US" sz="1800" dirty="0"/>
                        <a:t>Revenue</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415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b="1" dirty="0"/>
                        <a:t>ACCRUALS – CASH LATER</a:t>
                      </a:r>
                      <a:endParaRPr lang="en-US"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197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dirty="0"/>
                        <a:t>FIRST</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dirty="0"/>
                        <a:t>LATER</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197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dirty="0"/>
                        <a:t>Accrued expenses</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dirty="0"/>
                        <a:t>Expense</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800" dirty="0"/>
                        <a:t>Payable </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197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en-US" sz="1800" dirty="0"/>
                        <a:t>Payable</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800" dirty="0"/>
                        <a:t>Cash</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197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dirty="0"/>
                        <a:t>Accrued revenues</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dirty="0"/>
                        <a:t>Receivable</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800" dirty="0"/>
                        <a:t>Cash</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197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en-US" sz="1800" dirty="0"/>
                        <a:t>Revenue</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en-US" sz="1800" dirty="0"/>
                        <a:t>Receivable</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798417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of the Adjusting Process</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Two purposes of adjusting process</a:t>
            </a:r>
          </a:p>
          <a:p>
            <a:pPr lvl="1"/>
            <a:r>
              <a:rPr lang="en-US" altLang="en-US" dirty="0">
                <a:ea typeface="ＭＳ Ｐゴシック" pitchFamily="34" charset="-128"/>
              </a:rPr>
              <a:t>Measure income</a:t>
            </a:r>
          </a:p>
          <a:p>
            <a:pPr lvl="1"/>
            <a:r>
              <a:rPr lang="en-US" altLang="en-US" dirty="0">
                <a:ea typeface="ＭＳ Ｐゴシック" pitchFamily="34" charset="-128"/>
              </a:rPr>
              <a:t>Update balance sheet</a:t>
            </a:r>
          </a:p>
          <a:p>
            <a:r>
              <a:rPr lang="en-US" altLang="en-US" dirty="0">
                <a:ea typeface="ＭＳ Ｐゴシック" pitchFamily="34" charset="-128"/>
              </a:rPr>
              <a:t>Every adjusting entry affects at least one:</a:t>
            </a:r>
          </a:p>
          <a:p>
            <a:pPr lvl="1"/>
            <a:r>
              <a:rPr lang="en-US" altLang="en-US" dirty="0">
                <a:ea typeface="ＭＳ Ｐゴシック" pitchFamily="34" charset="-128"/>
              </a:rPr>
              <a:t>Revenue or expense</a:t>
            </a:r>
          </a:p>
          <a:p>
            <a:pPr lvl="1"/>
            <a:r>
              <a:rPr lang="en-US" altLang="en-US" dirty="0">
                <a:ea typeface="ＭＳ Ｐゴシック" pitchFamily="34" charset="-128"/>
              </a:rPr>
              <a:t>Asset or liability</a:t>
            </a:r>
            <a:endParaRPr lang="en-US" dirty="0"/>
          </a:p>
        </p:txBody>
      </p:sp>
    </p:spTree>
    <p:extLst>
      <p:ext uri="{BB962C8B-B14F-4D97-AF65-F5344CB8AC3E}">
        <p14:creationId xmlns:p14="http://schemas.microsoft.com/office/powerpoint/2010/main" val="2297109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4FD26-8AD3-464F-B448-3F8CBE1BCA7E}"/>
              </a:ext>
            </a:extLst>
          </p:cNvPr>
          <p:cNvSpPr>
            <a:spLocks noGrp="1"/>
          </p:cNvSpPr>
          <p:nvPr>
            <p:ph type="title"/>
          </p:nvPr>
        </p:nvSpPr>
        <p:spPr/>
        <p:txBody>
          <a:bodyPr/>
          <a:lstStyle/>
          <a:p>
            <a:r>
              <a:rPr lang="en-US" altLang="en-US" dirty="0"/>
              <a:t>Summary of Adjusting Entries</a:t>
            </a:r>
            <a:endParaRPr lang="en-AU" dirty="0"/>
          </a:p>
        </p:txBody>
      </p:sp>
      <p:graphicFrame>
        <p:nvGraphicFramePr>
          <p:cNvPr id="8" name="Table 8">
            <a:extLst>
              <a:ext uri="{FF2B5EF4-FFF2-40B4-BE49-F238E27FC236}">
                <a16:creationId xmlns:a16="http://schemas.microsoft.com/office/drawing/2014/main" id="{B9120114-F343-4B02-BF0F-3ED0F44FCE47}"/>
              </a:ext>
            </a:extLst>
          </p:cNvPr>
          <p:cNvGraphicFramePr>
            <a:graphicFrameLocks noGrp="1"/>
          </p:cNvGraphicFramePr>
          <p:nvPr>
            <p:ph idx="1"/>
          </p:nvPr>
        </p:nvGraphicFramePr>
        <p:xfrm>
          <a:off x="457200" y="2438400"/>
          <a:ext cx="8229600" cy="2595880"/>
        </p:xfrm>
        <a:graphic>
          <a:graphicData uri="http://schemas.openxmlformats.org/drawingml/2006/table">
            <a:tbl>
              <a:tblPr firstRow="1" bandRow="1">
                <a:tableStyleId>{3B4B98B0-60AC-42C2-AFA5-B58CD77FA1E5}</a:tableStyleId>
              </a:tblPr>
              <a:tblGrid>
                <a:gridCol w="3124200">
                  <a:extLst>
                    <a:ext uri="{9D8B030D-6E8A-4147-A177-3AD203B41FA5}">
                      <a16:colId xmlns:a16="http://schemas.microsoft.com/office/drawing/2014/main" val="2937673231"/>
                    </a:ext>
                  </a:extLst>
                </a:gridCol>
                <a:gridCol w="2362200">
                  <a:extLst>
                    <a:ext uri="{9D8B030D-6E8A-4147-A177-3AD203B41FA5}">
                      <a16:colId xmlns:a16="http://schemas.microsoft.com/office/drawing/2014/main" val="926886538"/>
                    </a:ext>
                  </a:extLst>
                </a:gridCol>
                <a:gridCol w="2743200">
                  <a:extLst>
                    <a:ext uri="{9D8B030D-6E8A-4147-A177-3AD203B41FA5}">
                      <a16:colId xmlns:a16="http://schemas.microsoft.com/office/drawing/2014/main" val="2633014392"/>
                    </a:ext>
                  </a:extLst>
                </a:gridCol>
              </a:tblGrid>
              <a:tr h="370840">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ctr"/>
                      <a:r>
                        <a:rPr lang="en-US" sz="1800" b="1" dirty="0"/>
                        <a:t>Type of  Account</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AU" dirty="0"/>
                    </a:p>
                  </a:txBody>
                  <a:tcPr/>
                </a:tc>
                <a:extLst>
                  <a:ext uri="{0D108BD9-81ED-4DB2-BD59-A6C34878D82A}">
                    <a16:rowId xmlns:a16="http://schemas.microsoft.com/office/drawing/2014/main" val="271890175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a:t>Category</a:t>
                      </a:r>
                      <a:r>
                        <a:rPr lang="en-US" sz="1800" b="1" baseline="0" dirty="0"/>
                        <a:t> of Adjustment</a:t>
                      </a:r>
                      <a:endParaRPr lang="en-US" sz="1800" b="1" dirty="0"/>
                    </a:p>
                  </a:txBody>
                  <a:tcPr marT="45699" marB="456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800" b="1" dirty="0"/>
                        <a:t>Debit</a:t>
                      </a:r>
                    </a:p>
                  </a:txBody>
                  <a:tcPr marT="45699" marB="456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800" b="1" dirty="0"/>
                        <a:t>Credit</a:t>
                      </a:r>
                    </a:p>
                  </a:txBody>
                  <a:tcPr marT="45699" marB="456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58144573"/>
                  </a:ext>
                </a:extLst>
              </a:tr>
              <a:tr h="370840">
                <a:tc>
                  <a:txBody>
                    <a:bodyPr/>
                    <a:lstStyle/>
                    <a:p>
                      <a:r>
                        <a:rPr lang="en-US" sz="1800" dirty="0"/>
                        <a:t>Prepaid expense</a:t>
                      </a:r>
                    </a:p>
                  </a:txBody>
                  <a:tcPr marT="45699" marB="456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t>Expense</a:t>
                      </a:r>
                    </a:p>
                  </a:txBody>
                  <a:tcPr marT="45699" marB="456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t>Asset</a:t>
                      </a:r>
                    </a:p>
                  </a:txBody>
                  <a:tcPr marT="45699" marB="456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9476810"/>
                  </a:ext>
                </a:extLst>
              </a:tr>
              <a:tr h="370840">
                <a:tc>
                  <a:txBody>
                    <a:bodyPr/>
                    <a:lstStyle/>
                    <a:p>
                      <a:r>
                        <a:rPr lang="en-US" sz="1800" dirty="0"/>
                        <a:t>Depreciation</a:t>
                      </a:r>
                    </a:p>
                  </a:txBody>
                  <a:tcPr marT="45699" marB="456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t>Expense</a:t>
                      </a:r>
                    </a:p>
                  </a:txBody>
                  <a:tcPr marT="45699" marB="456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t>Contra asset</a:t>
                      </a:r>
                    </a:p>
                  </a:txBody>
                  <a:tcPr marT="45699" marB="456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90343692"/>
                  </a:ext>
                </a:extLst>
              </a:tr>
              <a:tr h="370840">
                <a:tc>
                  <a:txBody>
                    <a:bodyPr/>
                    <a:lstStyle/>
                    <a:p>
                      <a:r>
                        <a:rPr lang="en-US" sz="1800" dirty="0"/>
                        <a:t>Accrued expense</a:t>
                      </a:r>
                    </a:p>
                  </a:txBody>
                  <a:tcPr marT="45699" marB="456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t>Expense</a:t>
                      </a:r>
                    </a:p>
                  </a:txBody>
                  <a:tcPr marT="45699" marB="456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t>Liability</a:t>
                      </a:r>
                    </a:p>
                  </a:txBody>
                  <a:tcPr marT="45699" marB="456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26295857"/>
                  </a:ext>
                </a:extLst>
              </a:tr>
              <a:tr h="370840">
                <a:tc>
                  <a:txBody>
                    <a:bodyPr/>
                    <a:lstStyle/>
                    <a:p>
                      <a:r>
                        <a:rPr lang="en-US" sz="1800" dirty="0"/>
                        <a:t>Accrued revenue</a:t>
                      </a:r>
                    </a:p>
                  </a:txBody>
                  <a:tcPr marT="45699" marB="456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t>Asset</a:t>
                      </a:r>
                    </a:p>
                  </a:txBody>
                  <a:tcPr marT="45699" marB="456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t>Revenue</a:t>
                      </a:r>
                    </a:p>
                  </a:txBody>
                  <a:tcPr marT="45699" marB="456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91818186"/>
                  </a:ext>
                </a:extLst>
              </a:tr>
              <a:tr h="370840">
                <a:tc>
                  <a:txBody>
                    <a:bodyPr/>
                    <a:lstStyle/>
                    <a:p>
                      <a:r>
                        <a:rPr lang="en-US" sz="1800" dirty="0"/>
                        <a:t>Unearned revenue</a:t>
                      </a:r>
                    </a:p>
                  </a:txBody>
                  <a:tcPr marT="45699" marB="456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t>Liability</a:t>
                      </a:r>
                    </a:p>
                  </a:txBody>
                  <a:tcPr marT="45699" marB="456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t>Revenue</a:t>
                      </a:r>
                    </a:p>
                  </a:txBody>
                  <a:tcPr marT="45699" marB="456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5646849"/>
                  </a:ext>
                </a:extLst>
              </a:tr>
            </a:tbl>
          </a:graphicData>
        </a:graphic>
      </p:graphicFrame>
    </p:spTree>
    <p:extLst>
      <p:ext uri="{BB962C8B-B14F-4D97-AF65-F5344CB8AC3E}">
        <p14:creationId xmlns:p14="http://schemas.microsoft.com/office/powerpoint/2010/main" val="592711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2221"/>
            <a:ext cx="8229600" cy="546628"/>
          </a:xfrm>
        </p:spPr>
        <p:txBody>
          <a:bodyPr>
            <a:normAutofit fontScale="90000"/>
          </a:bodyPr>
          <a:lstStyle/>
          <a:p>
            <a:pPr algn="ctr"/>
            <a:r>
              <a:rPr lang="en-US" altLang="en-US" dirty="0">
                <a:solidFill>
                  <a:srgbClr val="C00000"/>
                </a:solidFill>
              </a:rPr>
              <a:t>Exercise 3-20 (page 162)</a:t>
            </a:r>
            <a:endParaRPr lang="en-US" b="0" dirty="0">
              <a:solidFill>
                <a:srgbClr val="C00000"/>
              </a:solidFill>
            </a:endParaRPr>
          </a:p>
        </p:txBody>
      </p:sp>
      <p:sp>
        <p:nvSpPr>
          <p:cNvPr id="3" name="Content Placeholder 2"/>
          <p:cNvSpPr>
            <a:spLocks noGrp="1"/>
          </p:cNvSpPr>
          <p:nvPr>
            <p:ph idx="1"/>
          </p:nvPr>
        </p:nvSpPr>
        <p:spPr>
          <a:xfrm>
            <a:off x="152400" y="1219200"/>
            <a:ext cx="8839200" cy="5486400"/>
          </a:xfrm>
        </p:spPr>
        <p:txBody>
          <a:bodyPr>
            <a:normAutofit lnSpcReduction="10000"/>
          </a:bodyPr>
          <a:lstStyle/>
          <a:p>
            <a:pPr>
              <a:lnSpc>
                <a:spcPct val="120000"/>
              </a:lnSpc>
              <a:buClr>
                <a:schemeClr val="accent2"/>
              </a:buClr>
              <a:defRPr/>
            </a:pPr>
            <a:r>
              <a:rPr lang="en-US" altLang="en-US" dirty="0">
                <a:solidFill>
                  <a:schemeClr val="accent2"/>
                </a:solidFill>
              </a:rPr>
              <a:t>Clark Motor Ltd. faced the following situations. Journalize the </a:t>
            </a:r>
            <a:r>
              <a:rPr lang="en-US" altLang="en-US" u="sng" dirty="0">
                <a:solidFill>
                  <a:schemeClr val="accent2"/>
                </a:solidFill>
              </a:rPr>
              <a:t>adjusting entry </a:t>
            </a:r>
            <a:r>
              <a:rPr lang="en-US" altLang="en-US" dirty="0">
                <a:solidFill>
                  <a:schemeClr val="accent2"/>
                </a:solidFill>
              </a:rPr>
              <a:t>needed at December 31, 20X1, for each situation.</a:t>
            </a:r>
          </a:p>
          <a:p>
            <a:pPr>
              <a:lnSpc>
                <a:spcPct val="120000"/>
              </a:lnSpc>
              <a:defRPr/>
            </a:pPr>
            <a:r>
              <a:rPr lang="en-US" altLang="en-US" dirty="0">
                <a:solidFill>
                  <a:schemeClr val="accent2"/>
                </a:solidFill>
              </a:rPr>
              <a:t>Consider each fact separately.</a:t>
            </a:r>
          </a:p>
          <a:p>
            <a:pPr marL="944118" lvl="1" indent="-457200">
              <a:lnSpc>
                <a:spcPct val="120000"/>
              </a:lnSpc>
              <a:buClr>
                <a:schemeClr val="accent2"/>
              </a:buClr>
              <a:buFont typeface="Georgia" pitchFamily="18" charset="0"/>
              <a:buAutoNum type="alphaLcPeriod"/>
              <a:defRPr/>
            </a:pPr>
            <a:r>
              <a:rPr lang="en-US" altLang="en-US" dirty="0">
                <a:solidFill>
                  <a:schemeClr val="accent2"/>
                </a:solidFill>
              </a:rPr>
              <a:t>The business has interest expense of $9,000 that it must pay early in January 20x2 </a:t>
            </a:r>
            <a:r>
              <a:rPr lang="en-US" altLang="en-US" b="1" dirty="0">
                <a:solidFill>
                  <a:schemeClr val="accent2"/>
                </a:solidFill>
                <a:sym typeface="Wingdings" panose="05000000000000000000" pitchFamily="2" charset="2"/>
              </a:rPr>
              <a:t> Accrued Expense (+E)</a:t>
            </a:r>
            <a:endParaRPr lang="en-US" altLang="en-US" b="1" dirty="0">
              <a:solidFill>
                <a:schemeClr val="accent2"/>
              </a:solidFill>
            </a:endParaRPr>
          </a:p>
          <a:p>
            <a:pPr marL="944118" lvl="1" indent="-457200">
              <a:lnSpc>
                <a:spcPct val="120000"/>
              </a:lnSpc>
              <a:buClr>
                <a:schemeClr val="accent2"/>
              </a:buClr>
              <a:buFont typeface="Georgia" pitchFamily="18" charset="0"/>
              <a:buAutoNum type="alphaLcPeriod"/>
              <a:defRPr/>
            </a:pPr>
            <a:r>
              <a:rPr lang="en-US" altLang="en-US" dirty="0">
                <a:solidFill>
                  <a:schemeClr val="accent2"/>
                </a:solidFill>
              </a:rPr>
              <a:t>Interest revenue of $3,000 has been earned but not yet received </a:t>
            </a:r>
            <a:r>
              <a:rPr lang="en-US" altLang="en-US" b="1" dirty="0">
                <a:solidFill>
                  <a:schemeClr val="accent2"/>
                </a:solidFill>
                <a:sym typeface="Wingdings" panose="05000000000000000000" pitchFamily="2" charset="2"/>
              </a:rPr>
              <a:t> Accrued Revenue (+R, +SE)</a:t>
            </a:r>
            <a:endParaRPr lang="en-US" altLang="en-US" b="1" dirty="0">
              <a:solidFill>
                <a:schemeClr val="accent2"/>
              </a:solidFill>
            </a:endParaRPr>
          </a:p>
          <a:p>
            <a:pPr marL="944118" lvl="1" indent="-457200">
              <a:lnSpc>
                <a:spcPct val="120000"/>
              </a:lnSpc>
              <a:buClr>
                <a:schemeClr val="accent2"/>
              </a:buClr>
              <a:buFont typeface="Georgia" pitchFamily="18" charset="0"/>
              <a:buAutoNum type="alphaLcPeriod"/>
              <a:defRPr/>
            </a:pPr>
            <a:r>
              <a:rPr lang="en-US" altLang="en-US" dirty="0">
                <a:solidFill>
                  <a:schemeClr val="accent2"/>
                </a:solidFill>
              </a:rPr>
              <a:t>When the business collected $12,000 in advance, it debited Cash and credited Unearned Revenue. The client was paying for two cars, one delivered in December and one to be delivered in February </a:t>
            </a:r>
            <a:r>
              <a:rPr lang="en-US" altLang="en-US" b="1" dirty="0">
                <a:solidFill>
                  <a:schemeClr val="accent2"/>
                </a:solidFill>
                <a:sym typeface="Wingdings" panose="05000000000000000000" pitchFamily="2" charset="2"/>
              </a:rPr>
              <a:t> Deferred Revenue (+L)</a:t>
            </a:r>
            <a:endParaRPr lang="en-US" altLang="en-US" b="1" dirty="0">
              <a:solidFill>
                <a:schemeClr val="accent2"/>
              </a:solidFill>
            </a:endParaRPr>
          </a:p>
        </p:txBody>
      </p:sp>
    </p:spTree>
    <p:extLst>
      <p:ext uri="{BB962C8B-B14F-4D97-AF65-F5344CB8AC3E}">
        <p14:creationId xmlns:p14="http://schemas.microsoft.com/office/powerpoint/2010/main" val="1543362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95869"/>
            <a:ext cx="8229600" cy="550652"/>
          </a:xfrm>
        </p:spPr>
        <p:txBody>
          <a:bodyPr>
            <a:normAutofit fontScale="90000"/>
          </a:bodyPr>
          <a:lstStyle/>
          <a:p>
            <a:pPr algn="ctr"/>
            <a:r>
              <a:rPr lang="en-US" altLang="en-US" dirty="0">
                <a:solidFill>
                  <a:srgbClr val="C00000"/>
                </a:solidFill>
              </a:rPr>
              <a:t>Exercise 3-20 </a:t>
            </a:r>
            <a:r>
              <a:rPr lang="en-US" altLang="en-US" sz="2000" dirty="0">
                <a:solidFill>
                  <a:srgbClr val="C00000"/>
                </a:solidFill>
              </a:rPr>
              <a:t>(cont’d)</a:t>
            </a:r>
            <a:endParaRPr lang="en-US" sz="2000" b="0" dirty="0">
              <a:solidFill>
                <a:srgbClr val="C00000"/>
              </a:solidFill>
            </a:endParaRPr>
          </a:p>
        </p:txBody>
      </p:sp>
      <p:sp>
        <p:nvSpPr>
          <p:cNvPr id="3" name="Content Placeholder 2"/>
          <p:cNvSpPr>
            <a:spLocks noGrp="1"/>
          </p:cNvSpPr>
          <p:nvPr>
            <p:ph idx="1"/>
          </p:nvPr>
        </p:nvSpPr>
        <p:spPr>
          <a:xfrm>
            <a:off x="114300" y="1046521"/>
            <a:ext cx="8763000" cy="5659079"/>
          </a:xfrm>
        </p:spPr>
        <p:txBody>
          <a:bodyPr>
            <a:normAutofit fontScale="92500"/>
          </a:bodyPr>
          <a:lstStyle/>
          <a:p>
            <a:pPr marL="457200" indent="-457200">
              <a:lnSpc>
                <a:spcPct val="150000"/>
              </a:lnSpc>
              <a:buClr>
                <a:schemeClr val="accent2"/>
              </a:buClr>
              <a:buFont typeface="+mj-lt"/>
              <a:buAutoNum type="alphaLcPeriod" startAt="4"/>
              <a:defRPr/>
            </a:pPr>
            <a:r>
              <a:rPr lang="en-US" altLang="en-US" dirty="0">
                <a:solidFill>
                  <a:schemeClr val="accent2"/>
                </a:solidFill>
              </a:rPr>
              <a:t>Salary expense is $1,000 per day—Monday through Friday—and the business pays employees each Friday. This year, December 31 falls on a Tuesday </a:t>
            </a:r>
            <a:r>
              <a:rPr lang="en-US" altLang="en-US" b="1" dirty="0">
                <a:solidFill>
                  <a:schemeClr val="accent2"/>
                </a:solidFill>
                <a:sym typeface="Wingdings" panose="05000000000000000000" pitchFamily="2" charset="2"/>
              </a:rPr>
              <a:t> Accrued Expense (+E)</a:t>
            </a:r>
            <a:endParaRPr lang="en-US" altLang="en-US" b="1" dirty="0">
              <a:solidFill>
                <a:schemeClr val="accent2"/>
              </a:solidFill>
            </a:endParaRPr>
          </a:p>
          <a:p>
            <a:pPr marL="457200" indent="-457200">
              <a:lnSpc>
                <a:spcPct val="150000"/>
              </a:lnSpc>
              <a:buClr>
                <a:schemeClr val="accent2"/>
              </a:buClr>
              <a:buFont typeface="+mj-lt"/>
              <a:buAutoNum type="alphaLcPeriod" startAt="4"/>
              <a:defRPr/>
            </a:pPr>
            <a:r>
              <a:rPr lang="en-US" altLang="en-US" dirty="0">
                <a:solidFill>
                  <a:schemeClr val="accent2"/>
                </a:solidFill>
              </a:rPr>
              <a:t>The unadjusted balance of the Supplies account is $3,100. Total cost of supplies on hand is $800 </a:t>
            </a:r>
            <a:r>
              <a:rPr lang="en-US" altLang="en-US" b="1" dirty="0">
                <a:solidFill>
                  <a:schemeClr val="accent2"/>
                </a:solidFill>
                <a:sym typeface="Wingdings" panose="05000000000000000000" pitchFamily="2" charset="2"/>
              </a:rPr>
              <a:t> Deferred Expense (+E)</a:t>
            </a:r>
            <a:endParaRPr lang="en-US" altLang="en-US" b="1" dirty="0">
              <a:solidFill>
                <a:schemeClr val="accent2"/>
              </a:solidFill>
            </a:endParaRPr>
          </a:p>
          <a:p>
            <a:pPr marL="457200" indent="-457200">
              <a:lnSpc>
                <a:spcPct val="150000"/>
              </a:lnSpc>
              <a:buClr>
                <a:schemeClr val="accent2"/>
              </a:buClr>
              <a:buFont typeface="+mj-lt"/>
              <a:buAutoNum type="alphaLcPeriod" startAt="4"/>
              <a:defRPr/>
            </a:pPr>
            <a:r>
              <a:rPr lang="en-US" altLang="en-US" dirty="0">
                <a:solidFill>
                  <a:schemeClr val="accent2"/>
                </a:solidFill>
              </a:rPr>
              <a:t>Equipment was purchased at the beginning of this year at a cost of $60,000. The equipment’s useful life is five years. There is no residual value. Record depreciation for this year and then determine the equipment’s carrying amount </a:t>
            </a:r>
            <a:r>
              <a:rPr lang="en-US" altLang="en-US" b="1" dirty="0">
                <a:solidFill>
                  <a:schemeClr val="accent2"/>
                </a:solidFill>
                <a:sym typeface="Wingdings" panose="05000000000000000000" pitchFamily="2" charset="2"/>
              </a:rPr>
              <a:t> Depreciation    		(long-term deferred expense)</a:t>
            </a:r>
            <a:endParaRPr lang="en-US" b="1" dirty="0">
              <a:solidFill>
                <a:schemeClr val="accent2"/>
              </a:solidFill>
            </a:endParaRPr>
          </a:p>
        </p:txBody>
      </p:sp>
    </p:spTree>
    <p:extLst>
      <p:ext uri="{BB962C8B-B14F-4D97-AF65-F5344CB8AC3E}">
        <p14:creationId xmlns:p14="http://schemas.microsoft.com/office/powerpoint/2010/main" val="379132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Adjusted Trial Balance</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Prepared after adjustments are journalized and posted</a:t>
            </a:r>
          </a:p>
          <a:p>
            <a:r>
              <a:rPr lang="en-US" dirty="0">
                <a:ea typeface="ＭＳ Ｐゴシック" pitchFamily="34" charset="-128"/>
              </a:rPr>
              <a:t>See Exhibit 3-5 on page 134</a:t>
            </a:r>
            <a:endParaRPr lang="en-US" dirty="0"/>
          </a:p>
        </p:txBody>
      </p:sp>
      <p:grpSp>
        <p:nvGrpSpPr>
          <p:cNvPr id="4" name="Group 6">
            <a:extLst>
              <a:ext uri="{FF2B5EF4-FFF2-40B4-BE49-F238E27FC236}">
                <a16:creationId xmlns:a16="http://schemas.microsoft.com/office/drawing/2014/main" id="{6BD268DF-2A48-8752-8F2E-0821D6C2049B}"/>
              </a:ext>
            </a:extLst>
          </p:cNvPr>
          <p:cNvGrpSpPr>
            <a:grpSpLocks/>
          </p:cNvGrpSpPr>
          <p:nvPr/>
        </p:nvGrpSpPr>
        <p:grpSpPr bwMode="auto">
          <a:xfrm>
            <a:off x="-17883" y="3577021"/>
            <a:ext cx="8844588" cy="2510490"/>
            <a:chOff x="-86997" y="2500870"/>
            <a:chExt cx="9125885" cy="2584056"/>
          </a:xfrm>
        </p:grpSpPr>
        <p:sp>
          <p:nvSpPr>
            <p:cNvPr id="5" name="Rectangle 5">
              <a:extLst>
                <a:ext uri="{FF2B5EF4-FFF2-40B4-BE49-F238E27FC236}">
                  <a16:creationId xmlns:a16="http://schemas.microsoft.com/office/drawing/2014/main" id="{67AAC533-5E4C-77BF-8FC1-388C3C6EACD6}"/>
                </a:ext>
              </a:extLst>
            </p:cNvPr>
            <p:cNvSpPr>
              <a:spLocks noChangeArrowheads="1"/>
            </p:cNvSpPr>
            <p:nvPr/>
          </p:nvSpPr>
          <p:spPr bwMode="auto">
            <a:xfrm>
              <a:off x="2577089" y="4164161"/>
              <a:ext cx="1452322" cy="920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800">
                  <a:solidFill>
                    <a:schemeClr val="tx1"/>
                  </a:solidFill>
                  <a:latin typeface="Arial" panose="020B0604020202020204" pitchFamily="34" charset="0"/>
                  <a:cs typeface="Arial" panose="020B0604020202020204" pitchFamily="34" charset="0"/>
                </a:defRPr>
              </a:lvl1pPr>
              <a:lvl2pPr marL="742950" indent="-285750">
                <a:defRPr sz="2800">
                  <a:solidFill>
                    <a:schemeClr val="tx1"/>
                  </a:solidFill>
                  <a:latin typeface="Arial" panose="020B0604020202020204" pitchFamily="34" charset="0"/>
                  <a:cs typeface="Arial" panose="020B0604020202020204" pitchFamily="34" charset="0"/>
                </a:defRPr>
              </a:lvl2pPr>
              <a:lvl3pPr marL="1143000" indent="-228600">
                <a:defRPr sz="2800">
                  <a:solidFill>
                    <a:schemeClr val="tx1"/>
                  </a:solidFill>
                  <a:latin typeface="Arial" panose="020B0604020202020204" pitchFamily="34" charset="0"/>
                  <a:cs typeface="Arial" panose="020B0604020202020204" pitchFamily="34" charset="0"/>
                </a:defRPr>
              </a:lvl3pPr>
              <a:lvl4pPr marL="1600200" indent="-228600">
                <a:defRPr sz="2800">
                  <a:solidFill>
                    <a:schemeClr val="tx1"/>
                  </a:solidFill>
                  <a:latin typeface="Arial" panose="020B0604020202020204" pitchFamily="34" charset="0"/>
                  <a:cs typeface="Arial" panose="020B0604020202020204" pitchFamily="34" charset="0"/>
                </a:defRPr>
              </a:lvl4pPr>
              <a:lvl5pPr marL="2057400" indent="-228600">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9pPr>
            </a:lstStyle>
            <a:p>
              <a:pPr algn="ctr"/>
              <a:r>
                <a:rPr lang="en-US" altLang="en-US" sz="1800" b="1" dirty="0">
                  <a:solidFill>
                    <a:schemeClr val="accent2"/>
                  </a:solidFill>
                </a:rPr>
                <a:t>End of</a:t>
              </a:r>
            </a:p>
            <a:p>
              <a:pPr algn="ctr"/>
              <a:r>
                <a:rPr lang="en-US" altLang="en-US" sz="1800" b="1" dirty="0">
                  <a:solidFill>
                    <a:schemeClr val="accent2"/>
                  </a:solidFill>
                </a:rPr>
                <a:t>Accounting</a:t>
              </a:r>
            </a:p>
            <a:p>
              <a:pPr algn="ctr"/>
              <a:r>
                <a:rPr lang="en-US" altLang="en-US" sz="1800" b="1" dirty="0">
                  <a:solidFill>
                    <a:schemeClr val="accent2"/>
                  </a:solidFill>
                </a:rPr>
                <a:t>Period</a:t>
              </a:r>
            </a:p>
          </p:txBody>
        </p:sp>
        <p:sp>
          <p:nvSpPr>
            <p:cNvPr id="6" name="Rectangle 7">
              <a:extLst>
                <a:ext uri="{FF2B5EF4-FFF2-40B4-BE49-F238E27FC236}">
                  <a16:creationId xmlns:a16="http://schemas.microsoft.com/office/drawing/2014/main" id="{4D8DB7DF-66AA-4606-799C-C4CF35F125F4}"/>
                </a:ext>
              </a:extLst>
            </p:cNvPr>
            <p:cNvSpPr>
              <a:spLocks noChangeArrowheads="1"/>
            </p:cNvSpPr>
            <p:nvPr/>
          </p:nvSpPr>
          <p:spPr bwMode="auto">
            <a:xfrm>
              <a:off x="-86997" y="4118107"/>
              <a:ext cx="1513114" cy="920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800">
                  <a:solidFill>
                    <a:schemeClr val="tx1"/>
                  </a:solidFill>
                  <a:latin typeface="Arial" panose="020B0604020202020204" pitchFamily="34" charset="0"/>
                  <a:cs typeface="Arial" panose="020B0604020202020204" pitchFamily="34" charset="0"/>
                </a:defRPr>
              </a:lvl1pPr>
              <a:lvl2pPr marL="742950" indent="-285750">
                <a:defRPr sz="2800">
                  <a:solidFill>
                    <a:schemeClr val="tx1"/>
                  </a:solidFill>
                  <a:latin typeface="Arial" panose="020B0604020202020204" pitchFamily="34" charset="0"/>
                  <a:cs typeface="Arial" panose="020B0604020202020204" pitchFamily="34" charset="0"/>
                </a:defRPr>
              </a:lvl2pPr>
              <a:lvl3pPr marL="1143000" indent="-228600">
                <a:defRPr sz="2800">
                  <a:solidFill>
                    <a:schemeClr val="tx1"/>
                  </a:solidFill>
                  <a:latin typeface="Arial" panose="020B0604020202020204" pitchFamily="34" charset="0"/>
                  <a:cs typeface="Arial" panose="020B0604020202020204" pitchFamily="34" charset="0"/>
                </a:defRPr>
              </a:lvl3pPr>
              <a:lvl4pPr marL="1600200" indent="-228600">
                <a:defRPr sz="2800">
                  <a:solidFill>
                    <a:schemeClr val="tx1"/>
                  </a:solidFill>
                  <a:latin typeface="Arial" panose="020B0604020202020204" pitchFamily="34" charset="0"/>
                  <a:cs typeface="Arial" panose="020B0604020202020204" pitchFamily="34" charset="0"/>
                </a:defRPr>
              </a:lvl4pPr>
              <a:lvl5pPr marL="2057400" indent="-228600">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9pPr>
            </a:lstStyle>
            <a:p>
              <a:pPr algn="ctr"/>
              <a:r>
                <a:rPr lang="en-US" altLang="en-US" sz="1800" b="1" dirty="0">
                  <a:solidFill>
                    <a:schemeClr val="accent2"/>
                  </a:solidFill>
                </a:rPr>
                <a:t>Start of Accounting</a:t>
              </a:r>
            </a:p>
            <a:p>
              <a:pPr algn="ctr"/>
              <a:r>
                <a:rPr lang="en-US" altLang="en-US" sz="1800" b="1" dirty="0">
                  <a:solidFill>
                    <a:schemeClr val="accent2"/>
                  </a:solidFill>
                </a:rPr>
                <a:t>Period</a:t>
              </a:r>
            </a:p>
          </p:txBody>
        </p:sp>
        <p:sp>
          <p:nvSpPr>
            <p:cNvPr id="7" name="Line 8">
              <a:extLst>
                <a:ext uri="{FF2B5EF4-FFF2-40B4-BE49-F238E27FC236}">
                  <a16:creationId xmlns:a16="http://schemas.microsoft.com/office/drawing/2014/main" id="{BDB1BADA-C487-1410-A17F-1B4024F86B17}"/>
                </a:ext>
              </a:extLst>
            </p:cNvPr>
            <p:cNvSpPr>
              <a:spLocks noChangeShapeType="1"/>
            </p:cNvSpPr>
            <p:nvPr/>
          </p:nvSpPr>
          <p:spPr bwMode="auto">
            <a:xfrm flipH="1" flipV="1">
              <a:off x="713046" y="3123099"/>
              <a:ext cx="380973" cy="0"/>
            </a:xfrm>
            <a:prstGeom prst="line">
              <a:avLst/>
            </a:prstGeom>
            <a:noFill/>
            <a:ln w="28575">
              <a:solidFill>
                <a:schemeClr val="accent2"/>
              </a:solidFill>
              <a:round/>
              <a:headEnd/>
              <a:tailEnd type="triangle" w="med" len="med"/>
            </a:ln>
          </p:spPr>
          <p:txBody>
            <a:bodyPr wrap="none" anchor="ctr"/>
            <a:lstStyle/>
            <a:p>
              <a:pPr eaLnBrk="1" fontAlgn="auto" hangingPunct="1">
                <a:spcBef>
                  <a:spcPts val="0"/>
                </a:spcBef>
                <a:spcAft>
                  <a:spcPts val="0"/>
                </a:spcAft>
                <a:defRPr/>
              </a:pPr>
              <a:endParaRPr lang="en-CA" sz="1800" kern="0" dirty="0">
                <a:solidFill>
                  <a:srgbClr val="2F2B20"/>
                </a:solidFill>
                <a:latin typeface="Lucida Sans Unicode"/>
                <a:cs typeface="+mn-cs"/>
              </a:endParaRPr>
            </a:p>
          </p:txBody>
        </p:sp>
        <p:sp>
          <p:nvSpPr>
            <p:cNvPr id="8" name="Line 9">
              <a:extLst>
                <a:ext uri="{FF2B5EF4-FFF2-40B4-BE49-F238E27FC236}">
                  <a16:creationId xmlns:a16="http://schemas.microsoft.com/office/drawing/2014/main" id="{0CBD707E-5527-A3B0-C98C-DF7991B33077}"/>
                </a:ext>
              </a:extLst>
            </p:cNvPr>
            <p:cNvSpPr>
              <a:spLocks noChangeShapeType="1"/>
            </p:cNvSpPr>
            <p:nvPr/>
          </p:nvSpPr>
          <p:spPr bwMode="auto">
            <a:xfrm>
              <a:off x="2262335" y="3099291"/>
              <a:ext cx="431769" cy="0"/>
            </a:xfrm>
            <a:prstGeom prst="line">
              <a:avLst/>
            </a:prstGeom>
            <a:noFill/>
            <a:ln w="28575">
              <a:solidFill>
                <a:schemeClr val="accent2"/>
              </a:solidFill>
              <a:round/>
              <a:headEnd/>
              <a:tailEnd type="triangle" w="med" len="med"/>
            </a:ln>
          </p:spPr>
          <p:txBody>
            <a:bodyPr wrap="none" anchor="ctr"/>
            <a:lstStyle/>
            <a:p>
              <a:pPr eaLnBrk="1" fontAlgn="auto" hangingPunct="1">
                <a:spcBef>
                  <a:spcPts val="0"/>
                </a:spcBef>
                <a:spcAft>
                  <a:spcPts val="0"/>
                </a:spcAft>
                <a:defRPr/>
              </a:pPr>
              <a:endParaRPr lang="en-CA" sz="1800" kern="0" dirty="0">
                <a:solidFill>
                  <a:srgbClr val="2F2B20"/>
                </a:solidFill>
                <a:latin typeface="Lucida Sans Unicode"/>
                <a:cs typeface="+mn-cs"/>
              </a:endParaRPr>
            </a:p>
          </p:txBody>
        </p:sp>
        <p:sp>
          <p:nvSpPr>
            <p:cNvPr id="9" name="Rectangle 10">
              <a:extLst>
                <a:ext uri="{FF2B5EF4-FFF2-40B4-BE49-F238E27FC236}">
                  <a16:creationId xmlns:a16="http://schemas.microsoft.com/office/drawing/2014/main" id="{90B4CDFC-591E-3E6D-FBED-885E0FBB81A3}"/>
                </a:ext>
              </a:extLst>
            </p:cNvPr>
            <p:cNvSpPr>
              <a:spLocks noChangeArrowheads="1"/>
            </p:cNvSpPr>
            <p:nvPr/>
          </p:nvSpPr>
          <p:spPr bwMode="auto">
            <a:xfrm>
              <a:off x="960913" y="2707919"/>
              <a:ext cx="1565957" cy="53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a:defRPr sz="2800">
                  <a:solidFill>
                    <a:schemeClr val="tx1"/>
                  </a:solidFill>
                  <a:latin typeface="Arial" panose="020B0604020202020204" pitchFamily="34" charset="0"/>
                  <a:cs typeface="Arial" panose="020B0604020202020204" pitchFamily="34" charset="0"/>
                </a:defRPr>
              </a:lvl1pPr>
              <a:lvl2pPr marL="742950" indent="-285750">
                <a:defRPr sz="2800">
                  <a:solidFill>
                    <a:schemeClr val="tx1"/>
                  </a:solidFill>
                  <a:latin typeface="Arial" panose="020B0604020202020204" pitchFamily="34" charset="0"/>
                  <a:cs typeface="Arial" panose="020B0604020202020204" pitchFamily="34" charset="0"/>
                </a:defRPr>
              </a:lvl2pPr>
              <a:lvl3pPr marL="1143000" indent="-228600">
                <a:defRPr sz="2800">
                  <a:solidFill>
                    <a:schemeClr val="tx1"/>
                  </a:solidFill>
                  <a:latin typeface="Arial" panose="020B0604020202020204" pitchFamily="34" charset="0"/>
                  <a:cs typeface="Arial" panose="020B0604020202020204" pitchFamily="34" charset="0"/>
                </a:defRPr>
              </a:lvl3pPr>
              <a:lvl4pPr marL="1600200" indent="-228600">
                <a:defRPr sz="2800">
                  <a:solidFill>
                    <a:schemeClr val="tx1"/>
                  </a:solidFill>
                  <a:latin typeface="Arial" panose="020B0604020202020204" pitchFamily="34" charset="0"/>
                  <a:cs typeface="Arial" panose="020B0604020202020204" pitchFamily="34" charset="0"/>
                </a:defRPr>
              </a:lvl4pPr>
              <a:lvl5pPr marL="2057400" indent="-228600">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9pPr>
            </a:lstStyle>
            <a:p>
              <a:pPr algn="ctr"/>
              <a:r>
                <a:rPr lang="en-US" altLang="en-US" sz="1400" b="1" dirty="0">
                  <a:solidFill>
                    <a:srgbClr val="FF0000"/>
                  </a:solidFill>
                </a:rPr>
                <a:t>JEs</a:t>
              </a:r>
              <a:r>
                <a:rPr lang="en-US" altLang="en-US" sz="1400" b="1" dirty="0">
                  <a:solidFill>
                    <a:schemeClr val="accent2"/>
                  </a:solidFill>
                </a:rPr>
                <a:t> to record transactions</a:t>
              </a:r>
            </a:p>
          </p:txBody>
        </p:sp>
        <p:sp>
          <p:nvSpPr>
            <p:cNvPr id="10" name="Line 6">
              <a:extLst>
                <a:ext uri="{FF2B5EF4-FFF2-40B4-BE49-F238E27FC236}">
                  <a16:creationId xmlns:a16="http://schemas.microsoft.com/office/drawing/2014/main" id="{D66C394E-A6CC-D5E4-A3A6-1898A139E556}"/>
                </a:ext>
              </a:extLst>
            </p:cNvPr>
            <p:cNvSpPr>
              <a:spLocks noChangeShapeType="1"/>
            </p:cNvSpPr>
            <p:nvPr/>
          </p:nvSpPr>
          <p:spPr bwMode="auto">
            <a:xfrm>
              <a:off x="652725" y="3500862"/>
              <a:ext cx="0" cy="558708"/>
            </a:xfrm>
            <a:prstGeom prst="line">
              <a:avLst/>
            </a:prstGeom>
            <a:noFill/>
            <a:ln w="50800">
              <a:solidFill>
                <a:schemeClr val="accent2"/>
              </a:solidFill>
              <a:round/>
              <a:headEnd/>
              <a:tailEnd/>
            </a:ln>
          </p:spPr>
          <p:txBody>
            <a:bodyPr wrap="none" anchor="ctr"/>
            <a:lstStyle/>
            <a:p>
              <a:pPr eaLnBrk="1" fontAlgn="auto" hangingPunct="1">
                <a:spcBef>
                  <a:spcPts val="0"/>
                </a:spcBef>
                <a:spcAft>
                  <a:spcPts val="0"/>
                </a:spcAft>
                <a:defRPr/>
              </a:pPr>
              <a:endParaRPr lang="en-CA" sz="1800" kern="0" dirty="0">
                <a:solidFill>
                  <a:srgbClr val="2F2B20"/>
                </a:solidFill>
                <a:latin typeface="Lucida Sans Unicode"/>
                <a:cs typeface="+mn-cs"/>
              </a:endParaRPr>
            </a:p>
          </p:txBody>
        </p:sp>
        <p:sp>
          <p:nvSpPr>
            <p:cNvPr id="11" name="Line 6">
              <a:extLst>
                <a:ext uri="{FF2B5EF4-FFF2-40B4-BE49-F238E27FC236}">
                  <a16:creationId xmlns:a16="http://schemas.microsoft.com/office/drawing/2014/main" id="{90CF1616-1CF0-4C67-8CF0-0F44BB58C2D6}"/>
                </a:ext>
              </a:extLst>
            </p:cNvPr>
            <p:cNvSpPr>
              <a:spLocks noChangeShapeType="1"/>
            </p:cNvSpPr>
            <p:nvPr/>
          </p:nvSpPr>
          <p:spPr bwMode="auto">
            <a:xfrm>
              <a:off x="3303660" y="3540543"/>
              <a:ext cx="0" cy="558708"/>
            </a:xfrm>
            <a:prstGeom prst="line">
              <a:avLst/>
            </a:prstGeom>
            <a:noFill/>
            <a:ln w="50800">
              <a:solidFill>
                <a:schemeClr val="accent2"/>
              </a:solidFill>
              <a:round/>
              <a:headEnd/>
              <a:tailEnd/>
            </a:ln>
          </p:spPr>
          <p:txBody>
            <a:bodyPr wrap="none" anchor="ctr"/>
            <a:lstStyle/>
            <a:p>
              <a:pPr eaLnBrk="1" fontAlgn="auto" hangingPunct="1">
                <a:spcBef>
                  <a:spcPts val="0"/>
                </a:spcBef>
                <a:spcAft>
                  <a:spcPts val="0"/>
                </a:spcAft>
                <a:defRPr/>
              </a:pPr>
              <a:endParaRPr lang="en-CA" sz="1800" kern="0" dirty="0">
                <a:solidFill>
                  <a:srgbClr val="2F2B20"/>
                </a:solidFill>
                <a:latin typeface="Lucida Sans Unicode"/>
                <a:cs typeface="+mn-cs"/>
              </a:endParaRPr>
            </a:p>
          </p:txBody>
        </p:sp>
        <p:cxnSp>
          <p:nvCxnSpPr>
            <p:cNvPr id="12" name="Straight Connector 26">
              <a:extLst>
                <a:ext uri="{FF2B5EF4-FFF2-40B4-BE49-F238E27FC236}">
                  <a16:creationId xmlns:a16="http://schemas.microsoft.com/office/drawing/2014/main" id="{5C679C7F-3ABC-56C6-D3C7-F90B4DDB735F}"/>
                </a:ext>
              </a:extLst>
            </p:cNvPr>
            <p:cNvCxnSpPr>
              <a:cxnSpLocks noChangeShapeType="1"/>
            </p:cNvCxnSpPr>
            <p:nvPr/>
          </p:nvCxnSpPr>
          <p:spPr bwMode="auto">
            <a:xfrm flipV="1">
              <a:off x="669560" y="3779838"/>
              <a:ext cx="8369328" cy="6352"/>
            </a:xfrm>
            <a:prstGeom prst="line">
              <a:avLst/>
            </a:prstGeom>
            <a:noFill/>
            <a:ln w="50800">
              <a:solidFill>
                <a:schemeClr val="accent2"/>
              </a:solidFill>
              <a:round/>
              <a:headEnd/>
              <a:tailEnd/>
            </a:ln>
            <a:extLst>
              <a:ext uri="{909E8E84-426E-40DD-AFC4-6F175D3DCCD1}">
                <a14:hiddenFill xmlns:a14="http://schemas.microsoft.com/office/drawing/2010/main">
                  <a:noFill/>
                </a14:hiddenFill>
              </a:ext>
            </a:extLst>
          </p:spPr>
        </p:cxnSp>
        <p:sp>
          <p:nvSpPr>
            <p:cNvPr id="13" name="Rectangle 27">
              <a:extLst>
                <a:ext uri="{FF2B5EF4-FFF2-40B4-BE49-F238E27FC236}">
                  <a16:creationId xmlns:a16="http://schemas.microsoft.com/office/drawing/2014/main" id="{19056B7D-83C9-B4B4-B942-EBA4598018C0}"/>
                </a:ext>
              </a:extLst>
            </p:cNvPr>
            <p:cNvSpPr>
              <a:spLocks noChangeArrowheads="1"/>
            </p:cNvSpPr>
            <p:nvPr/>
          </p:nvSpPr>
          <p:spPr bwMode="auto">
            <a:xfrm>
              <a:off x="5347554" y="4303769"/>
              <a:ext cx="1995012" cy="400110"/>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a:solidFill>
                    <a:schemeClr val="tx1"/>
                  </a:solidFill>
                  <a:latin typeface="Arial" panose="020B0604020202020204" pitchFamily="34" charset="0"/>
                  <a:cs typeface="Arial" panose="020B0604020202020204" pitchFamily="34" charset="0"/>
                </a:defRPr>
              </a:lvl1pPr>
              <a:lvl2pPr marL="742950" indent="-285750">
                <a:defRPr sz="2800">
                  <a:solidFill>
                    <a:schemeClr val="tx1"/>
                  </a:solidFill>
                  <a:latin typeface="Arial" panose="020B0604020202020204" pitchFamily="34" charset="0"/>
                  <a:cs typeface="Arial" panose="020B0604020202020204" pitchFamily="34" charset="0"/>
                </a:defRPr>
              </a:lvl2pPr>
              <a:lvl3pPr marL="1143000" indent="-228600">
                <a:defRPr sz="2800">
                  <a:solidFill>
                    <a:schemeClr val="tx1"/>
                  </a:solidFill>
                  <a:latin typeface="Arial" panose="020B0604020202020204" pitchFamily="34" charset="0"/>
                  <a:cs typeface="Arial" panose="020B0604020202020204" pitchFamily="34" charset="0"/>
                </a:defRPr>
              </a:lvl3pPr>
              <a:lvl4pPr marL="1600200" indent="-228600">
                <a:defRPr sz="2800">
                  <a:solidFill>
                    <a:schemeClr val="tx1"/>
                  </a:solidFill>
                  <a:latin typeface="Arial" panose="020B0604020202020204" pitchFamily="34" charset="0"/>
                  <a:cs typeface="Arial" panose="020B0604020202020204" pitchFamily="34" charset="0"/>
                </a:defRPr>
              </a:lvl4pPr>
              <a:lvl5pPr marL="2057400" indent="-228600">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9pPr>
            </a:lstStyle>
            <a:p>
              <a:pPr eaLnBrk="1" hangingPunct="1"/>
              <a:r>
                <a:rPr lang="en-US" altLang="en-US" sz="2000" b="1" dirty="0">
                  <a:solidFill>
                    <a:schemeClr val="accent2"/>
                  </a:solidFill>
                </a:rPr>
                <a:t>After Year End</a:t>
              </a:r>
              <a:endParaRPr lang="en-CA" altLang="en-US" sz="2000" dirty="0">
                <a:solidFill>
                  <a:schemeClr val="accent2"/>
                </a:solidFill>
              </a:endParaRPr>
            </a:p>
          </p:txBody>
        </p:sp>
        <p:sp>
          <p:nvSpPr>
            <p:cNvPr id="14" name="Line 8">
              <a:extLst>
                <a:ext uri="{FF2B5EF4-FFF2-40B4-BE49-F238E27FC236}">
                  <a16:creationId xmlns:a16="http://schemas.microsoft.com/office/drawing/2014/main" id="{BDAC8F4D-F1DE-6153-2CC4-20153870C0CA}"/>
                </a:ext>
              </a:extLst>
            </p:cNvPr>
            <p:cNvSpPr>
              <a:spLocks noChangeShapeType="1"/>
            </p:cNvSpPr>
            <p:nvPr/>
          </p:nvSpPr>
          <p:spPr bwMode="auto">
            <a:xfrm flipH="1">
              <a:off x="4002110" y="4503997"/>
              <a:ext cx="1103234" cy="0"/>
            </a:xfrm>
            <a:prstGeom prst="line">
              <a:avLst/>
            </a:prstGeom>
            <a:noFill/>
            <a:ln w="28575">
              <a:solidFill>
                <a:schemeClr val="accent2"/>
              </a:solidFill>
              <a:round/>
              <a:headEnd/>
              <a:tailEnd type="triangle" w="med" len="med"/>
            </a:ln>
          </p:spPr>
          <p:txBody>
            <a:bodyPr wrap="none" anchor="ctr"/>
            <a:lstStyle/>
            <a:p>
              <a:pPr eaLnBrk="1" fontAlgn="auto" hangingPunct="1">
                <a:spcBef>
                  <a:spcPts val="0"/>
                </a:spcBef>
                <a:spcAft>
                  <a:spcPts val="0"/>
                </a:spcAft>
                <a:defRPr/>
              </a:pPr>
              <a:endParaRPr lang="en-CA" sz="1800" kern="0" dirty="0">
                <a:solidFill>
                  <a:schemeClr val="tx2"/>
                </a:solidFill>
              </a:endParaRPr>
            </a:p>
          </p:txBody>
        </p:sp>
        <p:sp>
          <p:nvSpPr>
            <p:cNvPr id="15" name="Line 9">
              <a:extLst>
                <a:ext uri="{FF2B5EF4-FFF2-40B4-BE49-F238E27FC236}">
                  <a16:creationId xmlns:a16="http://schemas.microsoft.com/office/drawing/2014/main" id="{C4C56676-B9EF-C5D7-BB46-1160F16BB756}"/>
                </a:ext>
              </a:extLst>
            </p:cNvPr>
            <p:cNvSpPr>
              <a:spLocks noChangeShapeType="1"/>
            </p:cNvSpPr>
            <p:nvPr/>
          </p:nvSpPr>
          <p:spPr bwMode="auto">
            <a:xfrm>
              <a:off x="7694371" y="4494473"/>
              <a:ext cx="1015927" cy="0"/>
            </a:xfrm>
            <a:prstGeom prst="line">
              <a:avLst/>
            </a:prstGeom>
            <a:noFill/>
            <a:ln w="28575">
              <a:solidFill>
                <a:schemeClr val="accent2"/>
              </a:solidFill>
              <a:round/>
              <a:headEnd/>
              <a:tailEnd type="triangle" w="med" len="med"/>
            </a:ln>
          </p:spPr>
          <p:txBody>
            <a:bodyPr wrap="none" anchor="ctr"/>
            <a:lstStyle/>
            <a:p>
              <a:pPr eaLnBrk="1" fontAlgn="auto" hangingPunct="1">
                <a:spcBef>
                  <a:spcPts val="0"/>
                </a:spcBef>
                <a:spcAft>
                  <a:spcPts val="0"/>
                </a:spcAft>
                <a:defRPr/>
              </a:pPr>
              <a:endParaRPr lang="en-CA" sz="1800" kern="0" dirty="0">
                <a:solidFill>
                  <a:schemeClr val="tx2"/>
                </a:solidFill>
              </a:endParaRPr>
            </a:p>
          </p:txBody>
        </p:sp>
        <p:grpSp>
          <p:nvGrpSpPr>
            <p:cNvPr id="16" name="Group 3">
              <a:extLst>
                <a:ext uri="{FF2B5EF4-FFF2-40B4-BE49-F238E27FC236}">
                  <a16:creationId xmlns:a16="http://schemas.microsoft.com/office/drawing/2014/main" id="{4426179A-67B4-1258-9173-79E8EBBCAFAF}"/>
                </a:ext>
              </a:extLst>
            </p:cNvPr>
            <p:cNvGrpSpPr>
              <a:grpSpLocks/>
            </p:cNvGrpSpPr>
            <p:nvPr/>
          </p:nvGrpSpPr>
          <p:grpSpPr bwMode="auto">
            <a:xfrm>
              <a:off x="2603739" y="2593872"/>
              <a:ext cx="1309111" cy="905404"/>
              <a:chOff x="2577089" y="2587687"/>
              <a:chExt cx="1309111" cy="905404"/>
            </a:xfrm>
          </p:grpSpPr>
          <p:sp>
            <p:nvSpPr>
              <p:cNvPr id="30" name="Rectangle 5">
                <a:extLst>
                  <a:ext uri="{FF2B5EF4-FFF2-40B4-BE49-F238E27FC236}">
                    <a16:creationId xmlns:a16="http://schemas.microsoft.com/office/drawing/2014/main" id="{ABBF9CEB-9995-E94E-69ED-A15B6303945C}"/>
                  </a:ext>
                </a:extLst>
              </p:cNvPr>
              <p:cNvSpPr>
                <a:spLocks noChangeArrowheads="1"/>
              </p:cNvSpPr>
              <p:nvPr/>
            </p:nvSpPr>
            <p:spPr bwMode="auto">
              <a:xfrm>
                <a:off x="2577089" y="2587687"/>
                <a:ext cx="1309111" cy="757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spAutoFit/>
              </a:bodyPr>
              <a:lstStyle>
                <a:lvl1pPr>
                  <a:defRPr sz="2800">
                    <a:solidFill>
                      <a:schemeClr val="tx1"/>
                    </a:solidFill>
                    <a:latin typeface="Arial" panose="020B0604020202020204" pitchFamily="34" charset="0"/>
                    <a:cs typeface="Arial" panose="020B0604020202020204" pitchFamily="34" charset="0"/>
                  </a:defRPr>
                </a:lvl1pPr>
                <a:lvl2pPr marL="742950" indent="-285750">
                  <a:defRPr sz="2800">
                    <a:solidFill>
                      <a:schemeClr val="tx1"/>
                    </a:solidFill>
                    <a:latin typeface="Arial" panose="020B0604020202020204" pitchFamily="34" charset="0"/>
                    <a:cs typeface="Arial" panose="020B0604020202020204" pitchFamily="34" charset="0"/>
                  </a:defRPr>
                </a:lvl2pPr>
                <a:lvl3pPr marL="1143000" indent="-228600">
                  <a:defRPr sz="2800">
                    <a:solidFill>
                      <a:schemeClr val="tx1"/>
                    </a:solidFill>
                    <a:latin typeface="Arial" panose="020B0604020202020204" pitchFamily="34" charset="0"/>
                    <a:cs typeface="Arial" panose="020B0604020202020204" pitchFamily="34" charset="0"/>
                  </a:defRPr>
                </a:lvl3pPr>
                <a:lvl4pPr marL="1600200" indent="-228600">
                  <a:defRPr sz="2800">
                    <a:solidFill>
                      <a:schemeClr val="tx1"/>
                    </a:solidFill>
                    <a:latin typeface="Arial" panose="020B0604020202020204" pitchFamily="34" charset="0"/>
                    <a:cs typeface="Arial" panose="020B0604020202020204" pitchFamily="34" charset="0"/>
                  </a:defRPr>
                </a:lvl4pPr>
                <a:lvl5pPr marL="2057400" indent="-228600">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9pPr>
              </a:lstStyle>
              <a:p>
                <a:pPr algn="ctr"/>
                <a:r>
                  <a:rPr lang="en-US" altLang="en-US" sz="1400" b="1" dirty="0">
                    <a:solidFill>
                      <a:schemeClr val="accent2"/>
                    </a:solidFill>
                  </a:rPr>
                  <a:t>Unadjusted</a:t>
                </a:r>
              </a:p>
              <a:p>
                <a:pPr algn="ctr"/>
                <a:r>
                  <a:rPr lang="en-US" altLang="en-US" sz="1400" b="1" dirty="0">
                    <a:solidFill>
                      <a:schemeClr val="accent2"/>
                    </a:solidFill>
                  </a:rPr>
                  <a:t>Trial Balance</a:t>
                </a:r>
              </a:p>
            </p:txBody>
          </p:sp>
          <p:sp>
            <p:nvSpPr>
              <p:cNvPr id="31" name="Rounded Rectangle 30">
                <a:extLst>
                  <a:ext uri="{FF2B5EF4-FFF2-40B4-BE49-F238E27FC236}">
                    <a16:creationId xmlns:a16="http://schemas.microsoft.com/office/drawing/2014/main" id="{C34A74FF-5D95-A1E7-CCF4-05EE88EEB443}"/>
                  </a:ext>
                </a:extLst>
              </p:cNvPr>
              <p:cNvSpPr/>
              <p:nvPr/>
            </p:nvSpPr>
            <p:spPr>
              <a:xfrm>
                <a:off x="2732537" y="2588364"/>
                <a:ext cx="1066723" cy="904727"/>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grpSp>
        <p:sp>
          <p:nvSpPr>
            <p:cNvPr id="17" name="Line 9">
              <a:extLst>
                <a:ext uri="{FF2B5EF4-FFF2-40B4-BE49-F238E27FC236}">
                  <a16:creationId xmlns:a16="http://schemas.microsoft.com/office/drawing/2014/main" id="{3E9B6876-746A-97F0-9364-74C04C225F3B}"/>
                </a:ext>
              </a:extLst>
            </p:cNvPr>
            <p:cNvSpPr>
              <a:spLocks noChangeShapeType="1"/>
            </p:cNvSpPr>
            <p:nvPr/>
          </p:nvSpPr>
          <p:spPr bwMode="auto">
            <a:xfrm flipV="1">
              <a:off x="3825911" y="3078656"/>
              <a:ext cx="773057" cy="0"/>
            </a:xfrm>
            <a:prstGeom prst="line">
              <a:avLst/>
            </a:prstGeom>
            <a:noFill/>
            <a:ln w="28575">
              <a:solidFill>
                <a:schemeClr val="accent2"/>
              </a:solidFill>
              <a:round/>
              <a:headEnd/>
              <a:tailEnd type="triangle" w="med" len="med"/>
            </a:ln>
          </p:spPr>
          <p:txBody>
            <a:bodyPr wrap="none" anchor="ctr"/>
            <a:lstStyle/>
            <a:p>
              <a:pPr eaLnBrk="1" fontAlgn="auto" hangingPunct="1">
                <a:spcBef>
                  <a:spcPts val="0"/>
                </a:spcBef>
                <a:spcAft>
                  <a:spcPts val="0"/>
                </a:spcAft>
                <a:defRPr/>
              </a:pPr>
              <a:endParaRPr lang="en-CA" sz="1800" kern="0">
                <a:solidFill>
                  <a:srgbClr val="2F2B20"/>
                </a:solidFill>
                <a:latin typeface="Lucida Sans Unicode"/>
                <a:cs typeface="+mn-cs"/>
              </a:endParaRPr>
            </a:p>
          </p:txBody>
        </p:sp>
        <p:sp>
          <p:nvSpPr>
            <p:cNvPr id="18" name="Rectangle 2">
              <a:extLst>
                <a:ext uri="{FF2B5EF4-FFF2-40B4-BE49-F238E27FC236}">
                  <a16:creationId xmlns:a16="http://schemas.microsoft.com/office/drawing/2014/main" id="{69EFE207-39C1-4146-DF78-0C5FC4D9D3CA}"/>
                </a:ext>
              </a:extLst>
            </p:cNvPr>
            <p:cNvSpPr>
              <a:spLocks noChangeArrowheads="1"/>
            </p:cNvSpPr>
            <p:nvPr/>
          </p:nvSpPr>
          <p:spPr bwMode="auto">
            <a:xfrm>
              <a:off x="3840510" y="2500870"/>
              <a:ext cx="784018" cy="584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Arial" panose="020B0604020202020204" pitchFamily="34" charset="0"/>
                  <a:cs typeface="Arial" panose="020B0604020202020204" pitchFamily="34" charset="0"/>
                </a:defRPr>
              </a:lvl1pPr>
              <a:lvl2pPr marL="742950" indent="-285750">
                <a:defRPr sz="2800">
                  <a:solidFill>
                    <a:schemeClr val="tx1"/>
                  </a:solidFill>
                  <a:latin typeface="Arial" panose="020B0604020202020204" pitchFamily="34" charset="0"/>
                  <a:cs typeface="Arial" panose="020B0604020202020204" pitchFamily="34" charset="0"/>
                </a:defRPr>
              </a:lvl2pPr>
              <a:lvl3pPr marL="1143000" indent="-228600">
                <a:defRPr sz="2800">
                  <a:solidFill>
                    <a:schemeClr val="tx1"/>
                  </a:solidFill>
                  <a:latin typeface="Arial" panose="020B0604020202020204" pitchFamily="34" charset="0"/>
                  <a:cs typeface="Arial" panose="020B0604020202020204" pitchFamily="34" charset="0"/>
                </a:defRPr>
              </a:lvl3pPr>
              <a:lvl4pPr marL="1600200" indent="-228600">
                <a:defRPr sz="2800">
                  <a:solidFill>
                    <a:schemeClr val="tx1"/>
                  </a:solidFill>
                  <a:latin typeface="Arial" panose="020B0604020202020204" pitchFamily="34" charset="0"/>
                  <a:cs typeface="Arial" panose="020B0604020202020204" pitchFamily="34" charset="0"/>
                </a:defRPr>
              </a:lvl4pPr>
              <a:lvl5pPr marL="2057400" indent="-228600">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9pPr>
            </a:lstStyle>
            <a:p>
              <a:r>
                <a:rPr lang="en-US" altLang="en-US" sz="1600" b="1" dirty="0">
                  <a:solidFill>
                    <a:schemeClr val="accent2"/>
                  </a:solidFill>
                </a:rPr>
                <a:t>Apply </a:t>
              </a:r>
              <a:r>
                <a:rPr lang="en-US" altLang="en-US" sz="1600" b="1" dirty="0">
                  <a:solidFill>
                    <a:srgbClr val="FF0000"/>
                  </a:solidFill>
                </a:rPr>
                <a:t>AJEs</a:t>
              </a:r>
              <a:endParaRPr lang="en-CA" altLang="en-US" sz="1600" dirty="0">
                <a:solidFill>
                  <a:srgbClr val="FF0000"/>
                </a:solidFill>
              </a:endParaRPr>
            </a:p>
          </p:txBody>
        </p:sp>
        <p:grpSp>
          <p:nvGrpSpPr>
            <p:cNvPr id="19" name="Group 4">
              <a:extLst>
                <a:ext uri="{FF2B5EF4-FFF2-40B4-BE49-F238E27FC236}">
                  <a16:creationId xmlns:a16="http://schemas.microsoft.com/office/drawing/2014/main" id="{73EB18AC-FEEB-DAEC-14EC-4D81DEAA581B}"/>
                </a:ext>
              </a:extLst>
            </p:cNvPr>
            <p:cNvGrpSpPr>
              <a:grpSpLocks/>
            </p:cNvGrpSpPr>
            <p:nvPr/>
          </p:nvGrpSpPr>
          <p:grpSpPr bwMode="auto">
            <a:xfrm>
              <a:off x="4528373" y="2612008"/>
              <a:ext cx="1488161" cy="914250"/>
              <a:chOff x="5115563" y="2624897"/>
              <a:chExt cx="1590684" cy="902948"/>
            </a:xfrm>
          </p:grpSpPr>
          <p:sp>
            <p:nvSpPr>
              <p:cNvPr id="28" name="Rectangle 5">
                <a:extLst>
                  <a:ext uri="{FF2B5EF4-FFF2-40B4-BE49-F238E27FC236}">
                    <a16:creationId xmlns:a16="http://schemas.microsoft.com/office/drawing/2014/main" id="{9E1648CB-0EFF-46A2-8C3E-AF8BCFD652D3}"/>
                  </a:ext>
                </a:extLst>
              </p:cNvPr>
              <p:cNvSpPr>
                <a:spLocks noChangeArrowheads="1"/>
              </p:cNvSpPr>
              <p:nvPr/>
            </p:nvSpPr>
            <p:spPr bwMode="auto">
              <a:xfrm>
                <a:off x="5115563" y="2625035"/>
                <a:ext cx="1590684" cy="748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800">
                    <a:solidFill>
                      <a:schemeClr val="tx1"/>
                    </a:solidFill>
                    <a:latin typeface="Arial" panose="020B0604020202020204" pitchFamily="34" charset="0"/>
                    <a:cs typeface="Arial" panose="020B0604020202020204" pitchFamily="34" charset="0"/>
                  </a:defRPr>
                </a:lvl1pPr>
                <a:lvl2pPr marL="742950" indent="-285750">
                  <a:defRPr sz="2800">
                    <a:solidFill>
                      <a:schemeClr val="tx1"/>
                    </a:solidFill>
                    <a:latin typeface="Arial" panose="020B0604020202020204" pitchFamily="34" charset="0"/>
                    <a:cs typeface="Arial" panose="020B0604020202020204" pitchFamily="34" charset="0"/>
                  </a:defRPr>
                </a:lvl2pPr>
                <a:lvl3pPr marL="1143000" indent="-228600">
                  <a:defRPr sz="2800">
                    <a:solidFill>
                      <a:schemeClr val="tx1"/>
                    </a:solidFill>
                    <a:latin typeface="Arial" panose="020B0604020202020204" pitchFamily="34" charset="0"/>
                    <a:cs typeface="Arial" panose="020B0604020202020204" pitchFamily="34" charset="0"/>
                  </a:defRPr>
                </a:lvl3pPr>
                <a:lvl4pPr marL="1600200" indent="-228600">
                  <a:defRPr sz="2800">
                    <a:solidFill>
                      <a:schemeClr val="tx1"/>
                    </a:solidFill>
                    <a:latin typeface="Arial" panose="020B0604020202020204" pitchFamily="34" charset="0"/>
                    <a:cs typeface="Arial" panose="020B0604020202020204" pitchFamily="34" charset="0"/>
                  </a:defRPr>
                </a:lvl4pPr>
                <a:lvl5pPr marL="2057400" indent="-228600">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9pPr>
              </a:lstStyle>
              <a:p>
                <a:pPr algn="ctr"/>
                <a:r>
                  <a:rPr lang="en-US" altLang="en-US" sz="1400" b="1" dirty="0">
                    <a:solidFill>
                      <a:schemeClr val="accent2"/>
                    </a:solidFill>
                  </a:rPr>
                  <a:t>Adjusted</a:t>
                </a:r>
              </a:p>
              <a:p>
                <a:pPr algn="ctr"/>
                <a:r>
                  <a:rPr lang="en-US" altLang="en-US" sz="1400" b="1" dirty="0">
                    <a:solidFill>
                      <a:schemeClr val="accent2"/>
                    </a:solidFill>
                  </a:rPr>
                  <a:t>Trial </a:t>
                </a:r>
              </a:p>
              <a:p>
                <a:pPr algn="ctr"/>
                <a:r>
                  <a:rPr lang="en-US" altLang="en-US" sz="1400" b="1" dirty="0">
                    <a:solidFill>
                      <a:schemeClr val="accent2"/>
                    </a:solidFill>
                  </a:rPr>
                  <a:t>Balance</a:t>
                </a:r>
              </a:p>
            </p:txBody>
          </p:sp>
          <p:sp>
            <p:nvSpPr>
              <p:cNvPr id="29" name="Rounded Rectangle 28">
                <a:extLst>
                  <a:ext uri="{FF2B5EF4-FFF2-40B4-BE49-F238E27FC236}">
                    <a16:creationId xmlns:a16="http://schemas.microsoft.com/office/drawing/2014/main" id="{2C0DDEC4-9F14-56F1-6599-2AC42A5B3257}"/>
                  </a:ext>
                </a:extLst>
              </p:cNvPr>
              <p:cNvSpPr/>
              <p:nvPr/>
            </p:nvSpPr>
            <p:spPr>
              <a:xfrm>
                <a:off x="5333548" y="2624897"/>
                <a:ext cx="1219961" cy="902948"/>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grpSp>
        <p:sp>
          <p:nvSpPr>
            <p:cNvPr id="20" name="Line 9">
              <a:extLst>
                <a:ext uri="{FF2B5EF4-FFF2-40B4-BE49-F238E27FC236}">
                  <a16:creationId xmlns:a16="http://schemas.microsoft.com/office/drawing/2014/main" id="{BACDF832-45B1-6820-3E7E-3FC82450D23F}"/>
                </a:ext>
              </a:extLst>
            </p:cNvPr>
            <p:cNvSpPr>
              <a:spLocks noChangeShapeType="1"/>
            </p:cNvSpPr>
            <p:nvPr/>
          </p:nvSpPr>
          <p:spPr bwMode="auto">
            <a:xfrm>
              <a:off x="5873639" y="3043737"/>
              <a:ext cx="401608" cy="0"/>
            </a:xfrm>
            <a:prstGeom prst="line">
              <a:avLst/>
            </a:prstGeom>
            <a:noFill/>
            <a:ln w="28575">
              <a:solidFill>
                <a:schemeClr val="accent2"/>
              </a:solidFill>
              <a:round/>
              <a:headEnd/>
              <a:tailEnd type="triangle" w="med" len="med"/>
            </a:ln>
          </p:spPr>
          <p:txBody>
            <a:bodyPr wrap="none" anchor="ctr"/>
            <a:lstStyle/>
            <a:p>
              <a:pPr eaLnBrk="1" fontAlgn="auto" hangingPunct="1">
                <a:spcBef>
                  <a:spcPts val="0"/>
                </a:spcBef>
                <a:spcAft>
                  <a:spcPts val="0"/>
                </a:spcAft>
                <a:defRPr/>
              </a:pPr>
              <a:endParaRPr lang="en-CA" sz="1800" kern="0">
                <a:solidFill>
                  <a:srgbClr val="2F2B20"/>
                </a:solidFill>
                <a:latin typeface="Lucida Sans Unicode"/>
                <a:cs typeface="+mn-cs"/>
              </a:endParaRPr>
            </a:p>
          </p:txBody>
        </p:sp>
        <p:grpSp>
          <p:nvGrpSpPr>
            <p:cNvPr id="21" name="Group 42">
              <a:extLst>
                <a:ext uri="{FF2B5EF4-FFF2-40B4-BE49-F238E27FC236}">
                  <a16:creationId xmlns:a16="http://schemas.microsoft.com/office/drawing/2014/main" id="{3CD88D26-E69C-C029-21ED-E45A9B7BB3D9}"/>
                </a:ext>
              </a:extLst>
            </p:cNvPr>
            <p:cNvGrpSpPr>
              <a:grpSpLocks/>
            </p:cNvGrpSpPr>
            <p:nvPr/>
          </p:nvGrpSpPr>
          <p:grpSpPr bwMode="auto">
            <a:xfrm>
              <a:off x="6275052" y="2615183"/>
              <a:ext cx="1066922" cy="885679"/>
              <a:chOff x="5288401" y="2624742"/>
              <a:chExt cx="1265515" cy="904601"/>
            </a:xfrm>
          </p:grpSpPr>
          <p:sp>
            <p:nvSpPr>
              <p:cNvPr id="26" name="Rectangle 5">
                <a:extLst>
                  <a:ext uri="{FF2B5EF4-FFF2-40B4-BE49-F238E27FC236}">
                    <a16:creationId xmlns:a16="http://schemas.microsoft.com/office/drawing/2014/main" id="{9DEDDE88-ACE1-F006-31A9-E61B72539473}"/>
                  </a:ext>
                </a:extLst>
              </p:cNvPr>
              <p:cNvSpPr>
                <a:spLocks noChangeArrowheads="1"/>
              </p:cNvSpPr>
              <p:nvPr/>
            </p:nvSpPr>
            <p:spPr bwMode="auto">
              <a:xfrm>
                <a:off x="5288401" y="2784392"/>
                <a:ext cx="1249254" cy="54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800">
                    <a:solidFill>
                      <a:schemeClr val="tx1"/>
                    </a:solidFill>
                    <a:latin typeface="Arial" panose="020B0604020202020204" pitchFamily="34" charset="0"/>
                    <a:cs typeface="Arial" panose="020B0604020202020204" pitchFamily="34" charset="0"/>
                  </a:defRPr>
                </a:lvl1pPr>
                <a:lvl2pPr marL="742950" indent="-285750">
                  <a:defRPr sz="2800">
                    <a:solidFill>
                      <a:schemeClr val="tx1"/>
                    </a:solidFill>
                    <a:latin typeface="Arial" panose="020B0604020202020204" pitchFamily="34" charset="0"/>
                    <a:cs typeface="Arial" panose="020B0604020202020204" pitchFamily="34" charset="0"/>
                  </a:defRPr>
                </a:lvl2pPr>
                <a:lvl3pPr marL="1143000" indent="-228600">
                  <a:defRPr sz="2800">
                    <a:solidFill>
                      <a:schemeClr val="tx1"/>
                    </a:solidFill>
                    <a:latin typeface="Arial" panose="020B0604020202020204" pitchFamily="34" charset="0"/>
                    <a:cs typeface="Arial" panose="020B0604020202020204" pitchFamily="34" charset="0"/>
                  </a:defRPr>
                </a:lvl3pPr>
                <a:lvl4pPr marL="1600200" indent="-228600">
                  <a:defRPr sz="2800">
                    <a:solidFill>
                      <a:schemeClr val="tx1"/>
                    </a:solidFill>
                    <a:latin typeface="Arial" panose="020B0604020202020204" pitchFamily="34" charset="0"/>
                    <a:cs typeface="Arial" panose="020B0604020202020204" pitchFamily="34" charset="0"/>
                  </a:defRPr>
                </a:lvl4pPr>
                <a:lvl5pPr marL="2057400" indent="-228600">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9pPr>
              </a:lstStyle>
              <a:p>
                <a:pPr algn="ctr"/>
                <a:r>
                  <a:rPr lang="en-US" altLang="en-US" sz="1400" b="1" dirty="0">
                    <a:solidFill>
                      <a:schemeClr val="accent2"/>
                    </a:solidFill>
                  </a:rPr>
                  <a:t>Prepare F/S</a:t>
                </a:r>
              </a:p>
            </p:txBody>
          </p:sp>
          <p:sp>
            <p:nvSpPr>
              <p:cNvPr id="27" name="Rounded Rectangle 26">
                <a:extLst>
                  <a:ext uri="{FF2B5EF4-FFF2-40B4-BE49-F238E27FC236}">
                    <a16:creationId xmlns:a16="http://schemas.microsoft.com/office/drawing/2014/main" id="{7206BBE9-A6F0-EAA9-D0B3-76B61A0F61BB}"/>
                  </a:ext>
                </a:extLst>
              </p:cNvPr>
              <p:cNvSpPr/>
              <p:nvPr/>
            </p:nvSpPr>
            <p:spPr>
              <a:xfrm>
                <a:off x="5333824" y="2624742"/>
                <a:ext cx="1220092" cy="904601"/>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grpSp>
        <p:sp>
          <p:nvSpPr>
            <p:cNvPr id="22" name="Line 9">
              <a:extLst>
                <a:ext uri="{FF2B5EF4-FFF2-40B4-BE49-F238E27FC236}">
                  <a16:creationId xmlns:a16="http://schemas.microsoft.com/office/drawing/2014/main" id="{195AD4EB-D91F-23EC-3F05-37608353988F}"/>
                </a:ext>
              </a:extLst>
            </p:cNvPr>
            <p:cNvSpPr>
              <a:spLocks noChangeShapeType="1"/>
            </p:cNvSpPr>
            <p:nvPr/>
          </p:nvSpPr>
          <p:spPr bwMode="auto">
            <a:xfrm>
              <a:off x="7368957" y="3086593"/>
              <a:ext cx="330176" cy="0"/>
            </a:xfrm>
            <a:prstGeom prst="line">
              <a:avLst/>
            </a:prstGeom>
            <a:noFill/>
            <a:ln w="28575">
              <a:solidFill>
                <a:schemeClr val="accent2"/>
              </a:solidFill>
              <a:round/>
              <a:headEnd/>
              <a:tailEnd type="triangle" w="med" len="med"/>
            </a:ln>
          </p:spPr>
          <p:txBody>
            <a:bodyPr wrap="none" anchor="ctr"/>
            <a:lstStyle/>
            <a:p>
              <a:pPr eaLnBrk="1" fontAlgn="auto" hangingPunct="1">
                <a:spcBef>
                  <a:spcPts val="0"/>
                </a:spcBef>
                <a:spcAft>
                  <a:spcPts val="0"/>
                </a:spcAft>
                <a:defRPr/>
              </a:pPr>
              <a:endParaRPr lang="en-CA" sz="1800" kern="0">
                <a:solidFill>
                  <a:srgbClr val="2F2B20"/>
                </a:solidFill>
                <a:latin typeface="Lucida Sans Unicode"/>
                <a:cs typeface="+mn-cs"/>
              </a:endParaRPr>
            </a:p>
          </p:txBody>
        </p:sp>
        <p:grpSp>
          <p:nvGrpSpPr>
            <p:cNvPr id="23" name="Group 46">
              <a:extLst>
                <a:ext uri="{FF2B5EF4-FFF2-40B4-BE49-F238E27FC236}">
                  <a16:creationId xmlns:a16="http://schemas.microsoft.com/office/drawing/2014/main" id="{696ADCDC-2A48-CBA6-994C-68F4D79F7DDE}"/>
                </a:ext>
              </a:extLst>
            </p:cNvPr>
            <p:cNvGrpSpPr>
              <a:grpSpLocks/>
            </p:cNvGrpSpPr>
            <p:nvPr/>
          </p:nvGrpSpPr>
          <p:grpSpPr bwMode="auto">
            <a:xfrm>
              <a:off x="7708967" y="2623327"/>
              <a:ext cx="1040268" cy="928327"/>
              <a:chOff x="4821738" y="2566902"/>
              <a:chExt cx="1249255" cy="948160"/>
            </a:xfrm>
          </p:grpSpPr>
          <p:sp>
            <p:nvSpPr>
              <p:cNvPr id="24" name="Rectangle 5">
                <a:extLst>
                  <a:ext uri="{FF2B5EF4-FFF2-40B4-BE49-F238E27FC236}">
                    <a16:creationId xmlns:a16="http://schemas.microsoft.com/office/drawing/2014/main" id="{6177E8A5-046F-95C5-C9B3-6914E01B3BC4}"/>
                  </a:ext>
                </a:extLst>
              </p:cNvPr>
              <p:cNvSpPr>
                <a:spLocks noChangeArrowheads="1"/>
              </p:cNvSpPr>
              <p:nvPr/>
            </p:nvSpPr>
            <p:spPr bwMode="auto">
              <a:xfrm>
                <a:off x="4821738" y="2566902"/>
                <a:ext cx="1249255" cy="773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800">
                    <a:solidFill>
                      <a:schemeClr val="tx1"/>
                    </a:solidFill>
                    <a:latin typeface="Arial" panose="020B0604020202020204" pitchFamily="34" charset="0"/>
                    <a:cs typeface="Arial" panose="020B0604020202020204" pitchFamily="34" charset="0"/>
                  </a:defRPr>
                </a:lvl1pPr>
                <a:lvl2pPr marL="742950" indent="-285750">
                  <a:defRPr sz="2800">
                    <a:solidFill>
                      <a:schemeClr val="tx1"/>
                    </a:solidFill>
                    <a:latin typeface="Arial" panose="020B0604020202020204" pitchFamily="34" charset="0"/>
                    <a:cs typeface="Arial" panose="020B0604020202020204" pitchFamily="34" charset="0"/>
                  </a:defRPr>
                </a:lvl2pPr>
                <a:lvl3pPr marL="1143000" indent="-228600">
                  <a:defRPr sz="2800">
                    <a:solidFill>
                      <a:schemeClr val="tx1"/>
                    </a:solidFill>
                    <a:latin typeface="Arial" panose="020B0604020202020204" pitchFamily="34" charset="0"/>
                    <a:cs typeface="Arial" panose="020B0604020202020204" pitchFamily="34" charset="0"/>
                  </a:defRPr>
                </a:lvl3pPr>
                <a:lvl4pPr marL="1600200" indent="-228600">
                  <a:defRPr sz="2800">
                    <a:solidFill>
                      <a:schemeClr val="tx1"/>
                    </a:solidFill>
                    <a:latin typeface="Arial" panose="020B0604020202020204" pitchFamily="34" charset="0"/>
                    <a:cs typeface="Arial" panose="020B0604020202020204" pitchFamily="34" charset="0"/>
                  </a:defRPr>
                </a:lvl4pPr>
                <a:lvl5pPr marL="2057400" indent="-228600">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9pPr>
              </a:lstStyle>
              <a:p>
                <a:pPr algn="ctr"/>
                <a:r>
                  <a:rPr lang="en-US" altLang="en-US" sz="1400" b="1" dirty="0">
                    <a:solidFill>
                      <a:schemeClr val="accent2"/>
                    </a:solidFill>
                  </a:rPr>
                  <a:t>Prepare Closing Entries</a:t>
                </a:r>
              </a:p>
            </p:txBody>
          </p:sp>
          <p:sp>
            <p:nvSpPr>
              <p:cNvPr id="25" name="Rounded Rectangle 24">
                <a:extLst>
                  <a:ext uri="{FF2B5EF4-FFF2-40B4-BE49-F238E27FC236}">
                    <a16:creationId xmlns:a16="http://schemas.microsoft.com/office/drawing/2014/main" id="{5B20B619-164B-3FFA-918C-40C7E53D6E52}"/>
                  </a:ext>
                </a:extLst>
              </p:cNvPr>
              <p:cNvSpPr/>
              <p:nvPr/>
            </p:nvSpPr>
            <p:spPr>
              <a:xfrm>
                <a:off x="4836617" y="2610461"/>
                <a:ext cx="1220025" cy="904601"/>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grpSp>
      </p:grpSp>
      <p:sp>
        <p:nvSpPr>
          <p:cNvPr id="32" name="Left Brace 31">
            <a:extLst>
              <a:ext uri="{FF2B5EF4-FFF2-40B4-BE49-F238E27FC236}">
                <a16:creationId xmlns:a16="http://schemas.microsoft.com/office/drawing/2014/main" id="{FAB95AE3-8C85-11C5-A912-066EC8121411}"/>
              </a:ext>
            </a:extLst>
          </p:cNvPr>
          <p:cNvSpPr/>
          <p:nvPr/>
        </p:nvSpPr>
        <p:spPr>
          <a:xfrm rot="5400000">
            <a:off x="1840290" y="1594933"/>
            <a:ext cx="289868" cy="3426869"/>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33" name="Left Brace 32">
            <a:extLst>
              <a:ext uri="{FF2B5EF4-FFF2-40B4-BE49-F238E27FC236}">
                <a16:creationId xmlns:a16="http://schemas.microsoft.com/office/drawing/2014/main" id="{234F4D5A-D38F-FA4F-635A-2427AC99F0DE}"/>
              </a:ext>
            </a:extLst>
          </p:cNvPr>
          <p:cNvSpPr/>
          <p:nvPr/>
        </p:nvSpPr>
        <p:spPr>
          <a:xfrm rot="5400000">
            <a:off x="6088774" y="881046"/>
            <a:ext cx="292033" cy="4836732"/>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34" name="Rectangle 5">
            <a:extLst>
              <a:ext uri="{FF2B5EF4-FFF2-40B4-BE49-F238E27FC236}">
                <a16:creationId xmlns:a16="http://schemas.microsoft.com/office/drawing/2014/main" id="{42686978-EAD7-BDBC-26B7-0CE647D9CB24}"/>
              </a:ext>
            </a:extLst>
          </p:cNvPr>
          <p:cNvSpPr>
            <a:spLocks noChangeArrowheads="1"/>
          </p:cNvSpPr>
          <p:nvPr/>
        </p:nvSpPr>
        <p:spPr bwMode="auto">
          <a:xfrm>
            <a:off x="1721263" y="2792487"/>
            <a:ext cx="74700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800">
                <a:solidFill>
                  <a:schemeClr val="tx1"/>
                </a:solidFill>
                <a:latin typeface="Arial" panose="020B0604020202020204" pitchFamily="34" charset="0"/>
                <a:cs typeface="Arial" panose="020B0604020202020204" pitchFamily="34" charset="0"/>
              </a:defRPr>
            </a:lvl1pPr>
            <a:lvl2pPr marL="742950" indent="-285750">
              <a:defRPr sz="2800">
                <a:solidFill>
                  <a:schemeClr val="tx1"/>
                </a:solidFill>
                <a:latin typeface="Arial" panose="020B0604020202020204" pitchFamily="34" charset="0"/>
                <a:cs typeface="Arial" panose="020B0604020202020204" pitchFamily="34" charset="0"/>
              </a:defRPr>
            </a:lvl2pPr>
            <a:lvl3pPr marL="1143000" indent="-228600">
              <a:defRPr sz="2800">
                <a:solidFill>
                  <a:schemeClr val="tx1"/>
                </a:solidFill>
                <a:latin typeface="Arial" panose="020B0604020202020204" pitchFamily="34" charset="0"/>
                <a:cs typeface="Arial" panose="020B0604020202020204" pitchFamily="34" charset="0"/>
              </a:defRPr>
            </a:lvl3pPr>
            <a:lvl4pPr marL="1600200" indent="-228600">
              <a:defRPr sz="2800">
                <a:solidFill>
                  <a:schemeClr val="tx1"/>
                </a:solidFill>
                <a:latin typeface="Arial" panose="020B0604020202020204" pitchFamily="34" charset="0"/>
                <a:cs typeface="Arial" panose="020B0604020202020204" pitchFamily="34" charset="0"/>
              </a:defRPr>
            </a:lvl4pPr>
            <a:lvl5pPr marL="2057400" indent="-228600">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9pPr>
          </a:lstStyle>
          <a:p>
            <a:pPr algn="ctr"/>
            <a:r>
              <a:rPr lang="en-US" altLang="en-US" sz="1800" b="1" dirty="0">
                <a:solidFill>
                  <a:srgbClr val="FF0000"/>
                </a:solidFill>
              </a:rPr>
              <a:t>Ch. 2</a:t>
            </a:r>
          </a:p>
        </p:txBody>
      </p:sp>
      <p:sp>
        <p:nvSpPr>
          <p:cNvPr id="35" name="Rectangle 5">
            <a:extLst>
              <a:ext uri="{FF2B5EF4-FFF2-40B4-BE49-F238E27FC236}">
                <a16:creationId xmlns:a16="http://schemas.microsoft.com/office/drawing/2014/main" id="{A32DAFDB-DAFA-D788-FE35-D62E19D82963}"/>
              </a:ext>
            </a:extLst>
          </p:cNvPr>
          <p:cNvSpPr>
            <a:spLocks noChangeArrowheads="1"/>
          </p:cNvSpPr>
          <p:nvPr/>
        </p:nvSpPr>
        <p:spPr bwMode="auto">
          <a:xfrm>
            <a:off x="5842412" y="2786185"/>
            <a:ext cx="74700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800">
                <a:solidFill>
                  <a:schemeClr val="tx1"/>
                </a:solidFill>
                <a:latin typeface="Arial" panose="020B0604020202020204" pitchFamily="34" charset="0"/>
                <a:cs typeface="Arial" panose="020B0604020202020204" pitchFamily="34" charset="0"/>
              </a:defRPr>
            </a:lvl1pPr>
            <a:lvl2pPr marL="742950" indent="-285750">
              <a:defRPr sz="2800">
                <a:solidFill>
                  <a:schemeClr val="tx1"/>
                </a:solidFill>
                <a:latin typeface="Arial" panose="020B0604020202020204" pitchFamily="34" charset="0"/>
                <a:cs typeface="Arial" panose="020B0604020202020204" pitchFamily="34" charset="0"/>
              </a:defRPr>
            </a:lvl2pPr>
            <a:lvl3pPr marL="1143000" indent="-228600">
              <a:defRPr sz="2800">
                <a:solidFill>
                  <a:schemeClr val="tx1"/>
                </a:solidFill>
                <a:latin typeface="Arial" panose="020B0604020202020204" pitchFamily="34" charset="0"/>
                <a:cs typeface="Arial" panose="020B0604020202020204" pitchFamily="34" charset="0"/>
              </a:defRPr>
            </a:lvl3pPr>
            <a:lvl4pPr marL="1600200" indent="-228600">
              <a:defRPr sz="2800">
                <a:solidFill>
                  <a:schemeClr val="tx1"/>
                </a:solidFill>
                <a:latin typeface="Arial" panose="020B0604020202020204" pitchFamily="34" charset="0"/>
                <a:cs typeface="Arial" panose="020B0604020202020204" pitchFamily="34" charset="0"/>
              </a:defRPr>
            </a:lvl4pPr>
            <a:lvl5pPr marL="2057400" indent="-228600">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9pPr>
          </a:lstStyle>
          <a:p>
            <a:pPr algn="ctr"/>
            <a:r>
              <a:rPr lang="en-US" altLang="en-US" sz="1800" b="1" dirty="0">
                <a:solidFill>
                  <a:srgbClr val="FF0000"/>
                </a:solidFill>
              </a:rPr>
              <a:t>Ch. 3</a:t>
            </a:r>
          </a:p>
        </p:txBody>
      </p:sp>
      <p:sp>
        <p:nvSpPr>
          <p:cNvPr id="36" name="Down Arrow 35">
            <a:extLst>
              <a:ext uri="{FF2B5EF4-FFF2-40B4-BE49-F238E27FC236}">
                <a16:creationId xmlns:a16="http://schemas.microsoft.com/office/drawing/2014/main" id="{9716E08F-1D9F-FCD7-0003-06BFCADFC2EC}"/>
              </a:ext>
            </a:extLst>
          </p:cNvPr>
          <p:cNvSpPr/>
          <p:nvPr/>
        </p:nvSpPr>
        <p:spPr>
          <a:xfrm>
            <a:off x="5014409" y="2613323"/>
            <a:ext cx="345849" cy="100609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274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Learning Objective Four</a:t>
            </a:r>
          </a:p>
        </p:txBody>
      </p:sp>
      <p:sp>
        <p:nvSpPr>
          <p:cNvPr id="5" name="Subtitle 4"/>
          <p:cNvSpPr>
            <a:spLocks noGrp="1"/>
          </p:cNvSpPr>
          <p:nvPr>
            <p:ph type="subTitle" idx="1"/>
          </p:nvPr>
        </p:nvSpPr>
        <p:spPr/>
        <p:txBody>
          <a:bodyPr/>
          <a:lstStyle/>
          <a:p>
            <a:r>
              <a:rPr lang="en-US" altLang="en-US" b="1" dirty="0">
                <a:ea typeface="ＭＳ Ｐゴシック" pitchFamily="34" charset="-128"/>
              </a:rPr>
              <a:t>Prepare</a:t>
            </a:r>
            <a:r>
              <a:rPr lang="en-US" altLang="en-US" dirty="0">
                <a:ea typeface="ＭＳ Ｐゴシック" pitchFamily="34" charset="-128"/>
              </a:rPr>
              <a:t> the financial statements</a:t>
            </a:r>
            <a:endParaRPr lang="en-US" dirty="0"/>
          </a:p>
        </p:txBody>
      </p:sp>
    </p:spTree>
    <p:extLst>
      <p:ext uri="{BB962C8B-B14F-4D97-AF65-F5344CB8AC3E}">
        <p14:creationId xmlns:p14="http://schemas.microsoft.com/office/powerpoint/2010/main" val="1889026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Financial Statements</a:t>
            </a:r>
            <a:endParaRPr lang="en-US" dirty="0"/>
          </a:p>
        </p:txBody>
      </p:sp>
      <p:sp>
        <p:nvSpPr>
          <p:cNvPr id="3" name="Content Placeholder 2"/>
          <p:cNvSpPr>
            <a:spLocks noGrp="1"/>
          </p:cNvSpPr>
          <p:nvPr>
            <p:ph idx="1"/>
          </p:nvPr>
        </p:nvSpPr>
        <p:spPr/>
        <p:txBody>
          <a:bodyPr>
            <a:normAutofit/>
          </a:bodyPr>
          <a:lstStyle/>
          <a:p>
            <a:pPr marL="0" indent="0">
              <a:buNone/>
            </a:pPr>
            <a:r>
              <a:rPr lang="en-US" b="1" dirty="0"/>
              <a:t>Income Statement</a:t>
            </a:r>
          </a:p>
          <a:p>
            <a:pPr lvl="1"/>
            <a:r>
              <a:rPr lang="en-US" dirty="0">
                <a:ea typeface="ＭＳ Ｐゴシック" pitchFamily="34" charset="-128"/>
              </a:rPr>
              <a:t>Lists revenues and expenses</a:t>
            </a:r>
          </a:p>
          <a:p>
            <a:pPr lvl="1"/>
            <a:r>
              <a:rPr lang="en-US" dirty="0">
                <a:ea typeface="ＭＳ Ｐゴシック" pitchFamily="34" charset="-128"/>
              </a:rPr>
              <a:t>Reports net income (or net loss)</a:t>
            </a:r>
          </a:p>
          <a:p>
            <a:pPr marL="0" lvl="0" indent="0">
              <a:buNone/>
            </a:pPr>
            <a:r>
              <a:rPr lang="en-US" b="1" dirty="0"/>
              <a:t>Statement of Retained Earnings</a:t>
            </a:r>
          </a:p>
          <a:p>
            <a:pPr lvl="1"/>
            <a:r>
              <a:rPr lang="en-US" dirty="0">
                <a:ea typeface="ＭＳ Ｐゴシック" pitchFamily="34" charset="-128"/>
              </a:rPr>
              <a:t>Shows changes in retained earnings</a:t>
            </a:r>
          </a:p>
          <a:p>
            <a:pPr marL="0" lvl="0" indent="0">
              <a:buNone/>
            </a:pPr>
            <a:r>
              <a:rPr lang="en-US" b="1" dirty="0"/>
              <a:t>Balance Sheet</a:t>
            </a:r>
          </a:p>
          <a:p>
            <a:pPr lvl="1"/>
            <a:r>
              <a:rPr lang="en-US" dirty="0">
                <a:ea typeface="ＭＳ Ｐゴシック" pitchFamily="34" charset="-128"/>
              </a:rPr>
              <a:t>Reports assets, liabilities, and shareholders’ equity</a:t>
            </a:r>
            <a:endParaRPr lang="en-US" b="1" dirty="0"/>
          </a:p>
          <a:p>
            <a:pPr marL="0" lvl="0" indent="0">
              <a:buNone/>
            </a:pPr>
            <a:r>
              <a:rPr lang="en-US" b="1" dirty="0"/>
              <a:t>See Exhibit 3-6, 7 and 8 on page 136 for examples</a:t>
            </a:r>
          </a:p>
          <a:p>
            <a:pPr marL="0" lvl="0" indent="0">
              <a:buNone/>
            </a:pPr>
            <a:endParaRPr lang="en-US" dirty="0">
              <a:ea typeface="ＭＳ Ｐゴシック" pitchFamily="34" charset="-128"/>
            </a:endParaRPr>
          </a:p>
        </p:txBody>
      </p:sp>
    </p:spTree>
    <p:extLst>
      <p:ext uri="{BB962C8B-B14F-4D97-AF65-F5344CB8AC3E}">
        <p14:creationId xmlns:p14="http://schemas.microsoft.com/office/powerpoint/2010/main" val="4133369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6880" y="474680"/>
            <a:ext cx="8229600" cy="622828"/>
          </a:xfrm>
        </p:spPr>
        <p:txBody>
          <a:bodyPr/>
          <a:lstStyle/>
          <a:p>
            <a:pPr algn="ctr"/>
            <a:r>
              <a:rPr lang="en-US" dirty="0">
                <a:solidFill>
                  <a:schemeClr val="accent2"/>
                </a:solidFill>
              </a:rPr>
              <a:t>Flow of Data in Financial Statements</a:t>
            </a:r>
            <a:endParaRPr lang="en-US" b="0" dirty="0">
              <a:solidFill>
                <a:schemeClr val="accent2"/>
              </a:solidFill>
            </a:endParaRPr>
          </a:p>
        </p:txBody>
      </p:sp>
      <p:sp>
        <p:nvSpPr>
          <p:cNvPr id="3" name="Rectangle 2"/>
          <p:cNvSpPr/>
          <p:nvPr/>
        </p:nvSpPr>
        <p:spPr>
          <a:xfrm>
            <a:off x="35560" y="1371600"/>
            <a:ext cx="9032240" cy="4422108"/>
          </a:xfrm>
          <a:prstGeom prst="rect">
            <a:avLst/>
          </a:prstGeom>
        </p:spPr>
        <p:txBody>
          <a:bodyPr wrap="square">
            <a:spAutoFit/>
          </a:bodyPr>
          <a:lstStyle/>
          <a:p>
            <a:pPr marL="342900" indent="-342900" algn="just">
              <a:lnSpc>
                <a:spcPct val="150000"/>
              </a:lnSpc>
              <a:spcBef>
                <a:spcPts val="600"/>
              </a:spcBef>
              <a:buClr>
                <a:schemeClr val="accent2"/>
              </a:buClr>
              <a:buSzPct val="100000"/>
              <a:buFont typeface="Arial" panose="020B0604020202020204" pitchFamily="34" charset="0"/>
              <a:buChar char="•"/>
              <a:defRPr/>
            </a:pPr>
            <a:r>
              <a:rPr lang="en-US" altLang="en-US" sz="2000" dirty="0">
                <a:solidFill>
                  <a:schemeClr val="accent2"/>
                </a:solidFill>
              </a:rPr>
              <a:t>Why is the Income Statement prepared first and the Balance Sheet last?</a:t>
            </a:r>
          </a:p>
          <a:p>
            <a:pPr marL="800100" lvl="1" indent="-342900" algn="just">
              <a:lnSpc>
                <a:spcPct val="150000"/>
              </a:lnSpc>
              <a:spcBef>
                <a:spcPts val="600"/>
              </a:spcBef>
              <a:buClr>
                <a:schemeClr val="accent2"/>
              </a:buClr>
              <a:buSzPct val="100000"/>
              <a:buFont typeface="Wingdings" panose="05000000000000000000" pitchFamily="2" charset="2"/>
              <a:buChar char="§"/>
              <a:defRPr/>
            </a:pPr>
            <a:r>
              <a:rPr lang="en-US" altLang="en-US" sz="2000" dirty="0">
                <a:solidFill>
                  <a:schemeClr val="accent2"/>
                </a:solidFill>
              </a:rPr>
              <a:t>The Income Statement is prepared first because it reports net income or net loss (revenues-expenses), which is needed to prepare the statement of Retained Earnings.</a:t>
            </a:r>
          </a:p>
          <a:p>
            <a:pPr marL="800100" lvl="1" indent="-342900" algn="just">
              <a:lnSpc>
                <a:spcPct val="150000"/>
              </a:lnSpc>
              <a:spcBef>
                <a:spcPts val="600"/>
              </a:spcBef>
              <a:buClr>
                <a:schemeClr val="accent2"/>
              </a:buClr>
              <a:buSzPct val="100000"/>
              <a:buFont typeface="Wingdings" panose="05000000000000000000" pitchFamily="2" charset="2"/>
              <a:buChar char="§"/>
              <a:defRPr/>
            </a:pPr>
            <a:r>
              <a:rPr lang="en-US" sz="2000" dirty="0">
                <a:solidFill>
                  <a:schemeClr val="accent2"/>
                </a:solidFill>
              </a:rPr>
              <a:t>The Balance Sheet is prepared last because it needs the ending balance from the Statement of Retained Earnings to complete the Shareholders’ Equity section of the Balance Sheet.</a:t>
            </a:r>
          </a:p>
          <a:p>
            <a:pPr marL="342900" indent="-342900" algn="just">
              <a:lnSpc>
                <a:spcPct val="150000"/>
              </a:lnSpc>
              <a:spcBef>
                <a:spcPts val="600"/>
              </a:spcBef>
              <a:buClr>
                <a:schemeClr val="accent2"/>
              </a:buClr>
              <a:buSzPct val="100000"/>
              <a:buFont typeface="Arial" panose="020B0604020202020204" pitchFamily="34" charset="0"/>
              <a:buChar char="•"/>
              <a:defRPr/>
            </a:pPr>
            <a:r>
              <a:rPr lang="en-US" sz="2000" dirty="0">
                <a:solidFill>
                  <a:schemeClr val="accent2"/>
                </a:solidFill>
              </a:rPr>
              <a:t>Note that statement of cash flow is not prepared from the Adjusted Trial Balance. Why? We will cover this in Ch. 10!</a:t>
            </a:r>
          </a:p>
        </p:txBody>
      </p:sp>
    </p:spTree>
    <p:extLst>
      <p:ext uri="{BB962C8B-B14F-4D97-AF65-F5344CB8AC3E}">
        <p14:creationId xmlns:p14="http://schemas.microsoft.com/office/powerpoint/2010/main" val="1602787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458200" cy="1097280"/>
          </a:xfrm>
        </p:spPr>
        <p:txBody>
          <a:bodyPr/>
          <a:lstStyle/>
          <a:p>
            <a:r>
              <a:rPr lang="en-US" dirty="0"/>
              <a:t>Flow of Data in Financial Statements </a:t>
            </a:r>
            <a:r>
              <a:rPr lang="en-US" sz="2000" b="0" dirty="0"/>
              <a:t>(1 of 2)</a:t>
            </a:r>
            <a:endParaRPr lang="en-US" b="0" dirty="0"/>
          </a:p>
        </p:txBody>
      </p:sp>
      <p:graphicFrame>
        <p:nvGraphicFramePr>
          <p:cNvPr id="4" name="Table 3"/>
          <p:cNvGraphicFramePr>
            <a:graphicFrameLocks noGrp="1"/>
          </p:cNvGraphicFramePr>
          <p:nvPr/>
        </p:nvGraphicFramePr>
        <p:xfrm>
          <a:off x="1905000" y="1828800"/>
          <a:ext cx="5715000" cy="1482724"/>
        </p:xfrm>
        <a:graphic>
          <a:graphicData uri="http://schemas.openxmlformats.org/drawingml/2006/table">
            <a:tbl>
              <a:tblPr firstRow="1" bandRow="1">
                <a:tableStyleId>{2D5ABB26-0587-4C30-8999-92F81FD0307C}</a:tableStyleId>
              </a:tblPr>
              <a:tblGrid>
                <a:gridCol w="4214812">
                  <a:extLst>
                    <a:ext uri="{9D8B030D-6E8A-4147-A177-3AD203B41FA5}">
                      <a16:colId xmlns:a16="http://schemas.microsoft.com/office/drawing/2014/main" val="20000"/>
                    </a:ext>
                  </a:extLst>
                </a:gridCol>
                <a:gridCol w="1500188">
                  <a:extLst>
                    <a:ext uri="{9D8B030D-6E8A-4147-A177-3AD203B41FA5}">
                      <a16:colId xmlns:a16="http://schemas.microsoft.com/office/drawing/2014/main" val="20001"/>
                    </a:ext>
                  </a:extLst>
                </a:gridCol>
              </a:tblGrid>
              <a:tr h="370681">
                <a:tc gridSpan="2">
                  <a:txBody>
                    <a:bodyPr/>
                    <a:lstStyle/>
                    <a:p>
                      <a:pPr algn="ctr"/>
                      <a:r>
                        <a:rPr lang="en-US" sz="1800" b="1" dirty="0"/>
                        <a:t>Income Statement</a:t>
                      </a:r>
                    </a:p>
                  </a:txBody>
                  <a:tcPr marT="45700" marB="457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endParaRPr lang="en-US" dirty="0"/>
                    </a:p>
                  </a:txBody>
                  <a:tcPr/>
                </a:tc>
                <a:extLst>
                  <a:ext uri="{0D108BD9-81ED-4DB2-BD59-A6C34878D82A}">
                    <a16:rowId xmlns:a16="http://schemas.microsoft.com/office/drawing/2014/main" val="10000"/>
                  </a:ext>
                </a:extLst>
              </a:tr>
              <a:tr h="370681">
                <a:tc>
                  <a:txBody>
                    <a:bodyPr/>
                    <a:lstStyle/>
                    <a:p>
                      <a:r>
                        <a:rPr lang="en-US" sz="1800" dirty="0"/>
                        <a:t>Revenues</a:t>
                      </a:r>
                    </a:p>
                  </a:txBody>
                  <a:tcPr marT="45700" marB="457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sz="1800" dirty="0"/>
                        <a:t> $$,$$$</a:t>
                      </a:r>
                    </a:p>
                  </a:txBody>
                  <a:tcPr marT="45700" marB="457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681">
                <a:tc>
                  <a:txBody>
                    <a:bodyPr/>
                    <a:lstStyle/>
                    <a:p>
                      <a:r>
                        <a:rPr lang="en-US" sz="1800" dirty="0"/>
                        <a:t>Less: Expenses</a:t>
                      </a:r>
                    </a:p>
                  </a:txBody>
                  <a:tcPr marT="45700" marB="457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sz="1800" dirty="0"/>
                        <a:t>($$,$$$)</a:t>
                      </a:r>
                    </a:p>
                  </a:txBody>
                  <a:tcPr marT="45700" marB="457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681">
                <a:tc>
                  <a:txBody>
                    <a:bodyPr/>
                    <a:lstStyle/>
                    <a:p>
                      <a:r>
                        <a:rPr lang="en-US" sz="1800" dirty="0"/>
                        <a:t>Net Income</a:t>
                      </a:r>
                    </a:p>
                  </a:txBody>
                  <a:tcPr marT="45700" marB="457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sz="1800" dirty="0"/>
                        <a:t>$$,$$$</a:t>
                      </a:r>
                    </a:p>
                  </a:txBody>
                  <a:tcPr marT="45700" marB="457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5" name="Table 4"/>
          <p:cNvGraphicFramePr>
            <a:graphicFrameLocks noGrp="1"/>
          </p:cNvGraphicFramePr>
          <p:nvPr/>
        </p:nvGraphicFramePr>
        <p:xfrm>
          <a:off x="1905000" y="3816750"/>
          <a:ext cx="5715000" cy="1849439"/>
        </p:xfrm>
        <a:graphic>
          <a:graphicData uri="http://schemas.openxmlformats.org/drawingml/2006/table">
            <a:tbl>
              <a:tblPr firstRow="1" bandRow="1">
                <a:tableStyleId>{2D5ABB26-0587-4C30-8999-92F81FD0307C}</a:tableStyleId>
              </a:tblPr>
              <a:tblGrid>
                <a:gridCol w="4214812">
                  <a:extLst>
                    <a:ext uri="{9D8B030D-6E8A-4147-A177-3AD203B41FA5}">
                      <a16:colId xmlns:a16="http://schemas.microsoft.com/office/drawing/2014/main" val="20000"/>
                    </a:ext>
                  </a:extLst>
                </a:gridCol>
                <a:gridCol w="1500188">
                  <a:extLst>
                    <a:ext uri="{9D8B030D-6E8A-4147-A177-3AD203B41FA5}">
                      <a16:colId xmlns:a16="http://schemas.microsoft.com/office/drawing/2014/main" val="20001"/>
                    </a:ext>
                  </a:extLst>
                </a:gridCol>
              </a:tblGrid>
              <a:tr h="365823">
                <a:tc gridSpan="2">
                  <a:txBody>
                    <a:bodyPr/>
                    <a:lstStyle/>
                    <a:p>
                      <a:pPr algn="ctr"/>
                      <a:r>
                        <a:rPr lang="en-US" sz="1800" b="1" dirty="0"/>
                        <a:t>Statement of Retained</a:t>
                      </a:r>
                      <a:r>
                        <a:rPr lang="en-US" sz="1800" b="1" baseline="0" dirty="0"/>
                        <a:t> Earnings</a:t>
                      </a:r>
                      <a:endParaRPr lang="en-US" sz="1800" b="1" dirty="0"/>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endParaRPr lang="en-US" dirty="0"/>
                    </a:p>
                  </a:txBody>
                  <a:tcPr/>
                </a:tc>
                <a:extLst>
                  <a:ext uri="{0D108BD9-81ED-4DB2-BD59-A6C34878D82A}">
                    <a16:rowId xmlns:a16="http://schemas.microsoft.com/office/drawing/2014/main" val="10000"/>
                  </a:ext>
                </a:extLst>
              </a:tr>
              <a:tr h="370904">
                <a:tc>
                  <a:txBody>
                    <a:bodyPr/>
                    <a:lstStyle/>
                    <a:p>
                      <a:r>
                        <a:rPr lang="en-US" sz="1800" dirty="0"/>
                        <a:t>Retained earnings, beginning balance</a:t>
                      </a:r>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sz="1800" dirty="0"/>
                        <a:t> $$,$$$</a:t>
                      </a:r>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904">
                <a:tc>
                  <a:txBody>
                    <a:bodyPr/>
                    <a:lstStyle/>
                    <a:p>
                      <a:r>
                        <a:rPr lang="en-US" sz="1800" dirty="0"/>
                        <a:t>Plus: Net income</a:t>
                      </a:r>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sz="1800" dirty="0"/>
                        <a:t>$$,$$$</a:t>
                      </a:r>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904">
                <a:tc>
                  <a:txBody>
                    <a:bodyPr/>
                    <a:lstStyle/>
                    <a:p>
                      <a:r>
                        <a:rPr lang="en-US" sz="1800" dirty="0"/>
                        <a:t>Less: Dividends</a:t>
                      </a:r>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sz="1800" dirty="0"/>
                        <a:t>($,$$$)</a:t>
                      </a:r>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90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Retained earnings, ending balance</a:t>
                      </a:r>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sz="1800" dirty="0"/>
                        <a:t>$$,$$$</a:t>
                      </a:r>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Curved Left Arrow 5" descr="Curved Left Arrow "/>
          <p:cNvSpPr/>
          <p:nvPr/>
        </p:nvSpPr>
        <p:spPr>
          <a:xfrm>
            <a:off x="7620000" y="3043175"/>
            <a:ext cx="609600" cy="1828800"/>
          </a:xfrm>
          <a:prstGeom prst="curvedLeftArrow">
            <a:avLst/>
          </a:prstGeom>
          <a:solidFill>
            <a:srgbClr val="007FA3"/>
          </a:solidFill>
        </p:spPr>
        <p:style>
          <a:lnRef idx="1">
            <a:schemeClr val="accent2"/>
          </a:lnRef>
          <a:fillRef idx="3">
            <a:schemeClr val="accent2"/>
          </a:fillRef>
          <a:effectRef idx="2">
            <a:schemeClr val="accent2"/>
          </a:effectRef>
          <a:fontRef idx="minor">
            <a:schemeClr val="lt1"/>
          </a:fontRef>
        </p:style>
        <p:txBody>
          <a:bodyPr anchor="ctr"/>
          <a:lstStyle/>
          <a:p>
            <a:pPr algn="ctr" eaLnBrk="1" hangingPunct="1">
              <a:defRPr/>
            </a:pPr>
            <a:endParaRPr lang="en-US" dirty="0">
              <a:solidFill>
                <a:schemeClr val="tx1"/>
              </a:solidFill>
            </a:endParaRPr>
          </a:p>
        </p:txBody>
      </p:sp>
    </p:spTree>
    <p:extLst>
      <p:ext uri="{BB962C8B-B14F-4D97-AF65-F5344CB8AC3E}">
        <p14:creationId xmlns:p14="http://schemas.microsoft.com/office/powerpoint/2010/main" val="1986182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667C42F-7A36-433E-BD12-A3711F810988}"/>
              </a:ext>
            </a:extLst>
          </p:cNvPr>
          <p:cNvSpPr>
            <a:spLocks noGrp="1"/>
          </p:cNvSpPr>
          <p:nvPr>
            <p:ph type="title"/>
          </p:nvPr>
        </p:nvSpPr>
        <p:spPr>
          <a:xfrm>
            <a:off x="457200" y="215372"/>
            <a:ext cx="8458200" cy="1097280"/>
          </a:xfrm>
        </p:spPr>
        <p:txBody>
          <a:bodyPr/>
          <a:lstStyle/>
          <a:p>
            <a:r>
              <a:rPr lang="en-US" dirty="0"/>
              <a:t>Flow of Data in Financial Statements </a:t>
            </a:r>
            <a:r>
              <a:rPr lang="en-US" sz="2000" b="0" dirty="0"/>
              <a:t>(2 of 2)</a:t>
            </a:r>
            <a:endParaRPr lang="en-AU" dirty="0"/>
          </a:p>
        </p:txBody>
      </p:sp>
      <p:graphicFrame>
        <p:nvGraphicFramePr>
          <p:cNvPr id="7" name="Table 7">
            <a:extLst>
              <a:ext uri="{FF2B5EF4-FFF2-40B4-BE49-F238E27FC236}">
                <a16:creationId xmlns:a16="http://schemas.microsoft.com/office/drawing/2014/main" id="{EA3AD287-4532-4414-99CB-7E95F30AAE0F}"/>
              </a:ext>
            </a:extLst>
          </p:cNvPr>
          <p:cNvGraphicFramePr>
            <a:graphicFrameLocks noGrp="1"/>
          </p:cNvGraphicFramePr>
          <p:nvPr>
            <p:ph idx="1"/>
          </p:nvPr>
        </p:nvGraphicFramePr>
        <p:xfrm>
          <a:off x="990600" y="1567264"/>
          <a:ext cx="7162800" cy="1854200"/>
        </p:xfrm>
        <a:graphic>
          <a:graphicData uri="http://schemas.openxmlformats.org/drawingml/2006/table">
            <a:tbl>
              <a:tblPr firstRow="1" bandRow="1">
                <a:tableStyleId>{3B4B98B0-60AC-42C2-AFA5-B58CD77FA1E5}</a:tableStyleId>
              </a:tblPr>
              <a:tblGrid>
                <a:gridCol w="5334000">
                  <a:extLst>
                    <a:ext uri="{9D8B030D-6E8A-4147-A177-3AD203B41FA5}">
                      <a16:colId xmlns:a16="http://schemas.microsoft.com/office/drawing/2014/main" val="996829605"/>
                    </a:ext>
                  </a:extLst>
                </a:gridCol>
                <a:gridCol w="1828800">
                  <a:extLst>
                    <a:ext uri="{9D8B030D-6E8A-4147-A177-3AD203B41FA5}">
                      <a16:colId xmlns:a16="http://schemas.microsoft.com/office/drawing/2014/main" val="1720917900"/>
                    </a:ext>
                  </a:extLst>
                </a:gridCol>
              </a:tblGrid>
              <a:tr h="370840">
                <a:tc gridSpan="2">
                  <a:txBody>
                    <a:bodyPr/>
                    <a:lstStyle/>
                    <a:p>
                      <a:pPr algn="ctr"/>
                      <a:r>
                        <a:rPr lang="en-US" sz="1800" b="1" dirty="0"/>
                        <a:t>Statement of Retained</a:t>
                      </a:r>
                      <a:r>
                        <a:rPr lang="en-US" sz="1800" b="1" baseline="0" dirty="0"/>
                        <a:t> Earnings</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AU" dirty="0"/>
                    </a:p>
                  </a:txBody>
                  <a:tcPr/>
                </a:tc>
                <a:extLst>
                  <a:ext uri="{0D108BD9-81ED-4DB2-BD59-A6C34878D82A}">
                    <a16:rowId xmlns:a16="http://schemas.microsoft.com/office/drawing/2014/main" val="1326362909"/>
                  </a:ext>
                </a:extLst>
              </a:tr>
              <a:tr h="370840">
                <a:tc>
                  <a:txBody>
                    <a:bodyPr/>
                    <a:lstStyle/>
                    <a:p>
                      <a:r>
                        <a:rPr lang="en-US" sz="1800" dirty="0"/>
                        <a:t>Retained earnings, beginning balance</a:t>
                      </a:r>
                    </a:p>
                  </a:txBody>
                  <a:tcPr marT="45728" marB="457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sz="1800" dirty="0"/>
                        <a:t> $$,$$$</a:t>
                      </a:r>
                    </a:p>
                  </a:txBody>
                  <a:tcPr marT="45728" marB="457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71658260"/>
                  </a:ext>
                </a:extLst>
              </a:tr>
              <a:tr h="370840">
                <a:tc>
                  <a:txBody>
                    <a:bodyPr/>
                    <a:lstStyle/>
                    <a:p>
                      <a:r>
                        <a:rPr lang="en-US" sz="1800" dirty="0"/>
                        <a:t>Plus: Net income</a:t>
                      </a:r>
                    </a:p>
                  </a:txBody>
                  <a:tcPr marT="45728" marB="457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sz="1800" dirty="0"/>
                        <a:t>$$,$$$</a:t>
                      </a:r>
                    </a:p>
                  </a:txBody>
                  <a:tcPr marT="45728" marB="457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8483901"/>
                  </a:ext>
                </a:extLst>
              </a:tr>
              <a:tr h="370840">
                <a:tc>
                  <a:txBody>
                    <a:bodyPr/>
                    <a:lstStyle/>
                    <a:p>
                      <a:r>
                        <a:rPr lang="en-US" sz="1800" dirty="0"/>
                        <a:t>Less: Dividends</a:t>
                      </a:r>
                    </a:p>
                  </a:txBody>
                  <a:tcPr marT="45728" marB="457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sz="1800" i="0" dirty="0"/>
                        <a:t>($,$$$)</a:t>
                      </a:r>
                    </a:p>
                  </a:txBody>
                  <a:tcPr marT="45728" marB="457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025496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Retained earnings, ending balance</a:t>
                      </a:r>
                    </a:p>
                  </a:txBody>
                  <a:tcPr marT="45728" marB="457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sz="1800" dirty="0"/>
                        <a:t>$$,$$$</a:t>
                      </a:r>
                    </a:p>
                  </a:txBody>
                  <a:tcPr marT="45728" marB="457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8552344"/>
                  </a:ext>
                </a:extLst>
              </a:tr>
            </a:tbl>
          </a:graphicData>
        </a:graphic>
      </p:graphicFrame>
      <p:graphicFrame>
        <p:nvGraphicFramePr>
          <p:cNvPr id="9" name="Table 9">
            <a:extLst>
              <a:ext uri="{FF2B5EF4-FFF2-40B4-BE49-F238E27FC236}">
                <a16:creationId xmlns:a16="http://schemas.microsoft.com/office/drawing/2014/main" id="{BE0E4CFD-AC93-4840-B050-9D5921CE6F65}"/>
              </a:ext>
            </a:extLst>
          </p:cNvPr>
          <p:cNvGraphicFramePr>
            <a:graphicFrameLocks noGrp="1"/>
          </p:cNvGraphicFramePr>
          <p:nvPr>
            <p:ph idx="13"/>
          </p:nvPr>
        </p:nvGraphicFramePr>
        <p:xfrm>
          <a:off x="990600" y="3676076"/>
          <a:ext cx="7162800" cy="2123480"/>
        </p:xfrm>
        <a:graphic>
          <a:graphicData uri="http://schemas.openxmlformats.org/drawingml/2006/table">
            <a:tbl>
              <a:tblPr firstRow="1" bandRow="1">
                <a:tableStyleId>{3B4B98B0-60AC-42C2-AFA5-B58CD77FA1E5}</a:tableStyleId>
              </a:tblPr>
              <a:tblGrid>
                <a:gridCol w="1790700">
                  <a:extLst>
                    <a:ext uri="{9D8B030D-6E8A-4147-A177-3AD203B41FA5}">
                      <a16:colId xmlns:a16="http://schemas.microsoft.com/office/drawing/2014/main" val="4240243193"/>
                    </a:ext>
                  </a:extLst>
                </a:gridCol>
                <a:gridCol w="1104900">
                  <a:extLst>
                    <a:ext uri="{9D8B030D-6E8A-4147-A177-3AD203B41FA5}">
                      <a16:colId xmlns:a16="http://schemas.microsoft.com/office/drawing/2014/main" val="1357224712"/>
                    </a:ext>
                  </a:extLst>
                </a:gridCol>
                <a:gridCol w="2476500">
                  <a:extLst>
                    <a:ext uri="{9D8B030D-6E8A-4147-A177-3AD203B41FA5}">
                      <a16:colId xmlns:a16="http://schemas.microsoft.com/office/drawing/2014/main" val="1349541008"/>
                    </a:ext>
                  </a:extLst>
                </a:gridCol>
                <a:gridCol w="1790700">
                  <a:extLst>
                    <a:ext uri="{9D8B030D-6E8A-4147-A177-3AD203B41FA5}">
                      <a16:colId xmlns:a16="http://schemas.microsoft.com/office/drawing/2014/main" val="1371394856"/>
                    </a:ext>
                  </a:extLst>
                </a:gridCol>
              </a:tblGrid>
              <a:tr h="370840">
                <a:tc gridSpan="4">
                  <a:txBody>
                    <a:bodyPr/>
                    <a:lstStyle/>
                    <a:p>
                      <a:pPr algn="ctr"/>
                      <a:r>
                        <a:rPr lang="en-US" altLang="en-US" sz="1800" b="1" kern="1200" dirty="0">
                          <a:solidFill>
                            <a:schemeClr val="tx1"/>
                          </a:solidFill>
                          <a:latin typeface="+mn-lt"/>
                          <a:ea typeface="+mn-ea"/>
                          <a:cs typeface="+mn-cs"/>
                        </a:rPr>
                        <a:t>Balance Sheet</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AU" dirty="0"/>
                    </a:p>
                  </a:txBody>
                  <a:tcPr/>
                </a:tc>
                <a:tc hMerge="1">
                  <a:txBody>
                    <a:bodyPr/>
                    <a:lstStyle/>
                    <a:p>
                      <a:endParaRPr lang="en-AU" dirty="0"/>
                    </a:p>
                  </a:txBody>
                  <a:tcPr/>
                </a:tc>
                <a:tc hMerge="1">
                  <a:txBody>
                    <a:bodyPr/>
                    <a:lstStyle/>
                    <a:p>
                      <a:endParaRPr lang="en-AU" dirty="0"/>
                    </a:p>
                  </a:txBody>
                  <a:tcPr/>
                </a:tc>
                <a:extLst>
                  <a:ext uri="{0D108BD9-81ED-4DB2-BD59-A6C34878D82A}">
                    <a16:rowId xmlns:a16="http://schemas.microsoft.com/office/drawing/2014/main" val="3869884128"/>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Current assets</a:t>
                      </a:r>
                    </a:p>
                  </a:txBody>
                  <a:tcPr marT="45740" marB="457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a:t>
                      </a:r>
                    </a:p>
                  </a:txBody>
                  <a:tcPr marT="45740" marB="457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Liabilities</a:t>
                      </a:r>
                    </a:p>
                  </a:txBody>
                  <a:tcPr marT="45740" marB="457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a:t>
                      </a:r>
                    </a:p>
                  </a:txBody>
                  <a:tcPr marT="45740" marB="4574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82627200"/>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Plant assets</a:t>
                      </a:r>
                    </a:p>
                  </a:txBody>
                  <a:tcPr marT="45740" marB="457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a:t>
                      </a:r>
                    </a:p>
                  </a:txBody>
                  <a:tcPr marT="45740" marB="457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9144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Common shares</a:t>
                      </a:r>
                    </a:p>
                  </a:txBody>
                  <a:tcPr marT="45740" marB="457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a:t>
                      </a:r>
                    </a:p>
                  </a:txBody>
                  <a:tcPr marT="45740" marB="4574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92317687"/>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Other assets</a:t>
                      </a:r>
                    </a:p>
                  </a:txBody>
                  <a:tcPr marT="45740" marB="457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a:t>
                      </a:r>
                    </a:p>
                  </a:txBody>
                  <a:tcPr marT="45740" marB="457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9144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Retained earnings</a:t>
                      </a:r>
                    </a:p>
                  </a:txBody>
                  <a:tcPr marT="45740" marB="457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a:t>
                      </a:r>
                    </a:p>
                  </a:txBody>
                  <a:tcPr marT="45740" marB="4574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74122381"/>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lang="en-US" altLang="en-US" sz="1800" kern="1200" dirty="0">
                        <a:solidFill>
                          <a:schemeClr val="tx1"/>
                        </a:solidFill>
                        <a:latin typeface="+mn-lt"/>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Total assets</a:t>
                      </a:r>
                    </a:p>
                  </a:txBody>
                  <a:tcPr marT="45740" marB="457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a:t>
                      </a:r>
                    </a:p>
                  </a:txBody>
                  <a:tcPr marT="45740" marB="4574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Total liabilities &amp; shareholders</a:t>
                      </a:r>
                      <a:r>
                        <a:rPr lang="ja-JP" altLang="en-US" sz="1800" kern="1200" dirty="0">
                          <a:solidFill>
                            <a:schemeClr val="tx1"/>
                          </a:solidFill>
                          <a:latin typeface="+mn-lt"/>
                          <a:ea typeface="+mn-ea"/>
                          <a:cs typeface="+mn-cs"/>
                        </a:rPr>
                        <a:t>’</a:t>
                      </a:r>
                      <a:r>
                        <a:rPr lang="en-US" altLang="ja-JP" sz="1800" kern="1200" dirty="0">
                          <a:solidFill>
                            <a:schemeClr val="tx1"/>
                          </a:solidFill>
                          <a:latin typeface="+mn-lt"/>
                          <a:ea typeface="+mn-ea"/>
                          <a:cs typeface="+mn-cs"/>
                        </a:rPr>
                        <a:t> equity</a:t>
                      </a:r>
                      <a:endParaRPr lang="en-US" altLang="en-US" sz="1800" kern="1200" dirty="0">
                        <a:solidFill>
                          <a:schemeClr val="tx1"/>
                        </a:solidFill>
                        <a:latin typeface="+mn-lt"/>
                        <a:ea typeface="+mn-ea"/>
                        <a:cs typeface="+mn-cs"/>
                      </a:endParaRPr>
                    </a:p>
                  </a:txBody>
                  <a:tcPr marT="45740" marB="457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800" kern="1200" dirty="0">
                        <a:solidFill>
                          <a:schemeClr val="tx1"/>
                        </a:solidFill>
                        <a:latin typeface="+mn-lt"/>
                        <a:ea typeface="+mn-ea"/>
                        <a:cs typeface="+mn-cs"/>
                      </a:endParaRPr>
                    </a:p>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a:t>
                      </a:r>
                    </a:p>
                  </a:txBody>
                  <a:tcPr marT="45740" marB="4574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70739878"/>
                  </a:ext>
                </a:extLst>
              </a:tr>
            </a:tbl>
          </a:graphicData>
        </a:graphic>
      </p:graphicFrame>
      <p:sp>
        <p:nvSpPr>
          <p:cNvPr id="11" name="Curved Left Arrow 4" descr="Curved Left Arrow">
            <a:extLst>
              <a:ext uri="{FF2B5EF4-FFF2-40B4-BE49-F238E27FC236}">
                <a16:creationId xmlns:a16="http://schemas.microsoft.com/office/drawing/2014/main" id="{51FAFC5E-56D7-46C0-A3C6-7F2DC38F8F37}"/>
              </a:ext>
            </a:extLst>
          </p:cNvPr>
          <p:cNvSpPr/>
          <p:nvPr/>
        </p:nvSpPr>
        <p:spPr>
          <a:xfrm>
            <a:off x="8158681" y="3200400"/>
            <a:ext cx="528119" cy="1942162"/>
          </a:xfrm>
          <a:prstGeom prst="curvedLeftArrow">
            <a:avLst/>
          </a:prstGeom>
          <a:solidFill>
            <a:srgbClr val="007FA3"/>
          </a:solidFill>
        </p:spPr>
        <p:style>
          <a:lnRef idx="1">
            <a:schemeClr val="accent2"/>
          </a:lnRef>
          <a:fillRef idx="3">
            <a:schemeClr val="accent2"/>
          </a:fillRef>
          <a:effectRef idx="2">
            <a:schemeClr val="accent2"/>
          </a:effectRef>
          <a:fontRef idx="minor">
            <a:schemeClr val="lt1"/>
          </a:fontRef>
        </p:style>
        <p:txBody>
          <a:bodyPr anchor="ctr"/>
          <a:lstStyle/>
          <a:p>
            <a:pPr algn="ctr" eaLnBrk="1" hangingPunct="1">
              <a:defRPr/>
            </a:pPr>
            <a:endParaRPr lang="en-US" dirty="0">
              <a:solidFill>
                <a:schemeClr val="tx1"/>
              </a:solidFill>
            </a:endParaRPr>
          </a:p>
        </p:txBody>
      </p:sp>
    </p:spTree>
    <p:extLst>
      <p:ext uri="{BB962C8B-B14F-4D97-AF65-F5344CB8AC3E}">
        <p14:creationId xmlns:p14="http://schemas.microsoft.com/office/powerpoint/2010/main" val="7520579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0871"/>
            <a:ext cx="8229600" cy="1097280"/>
          </a:xfrm>
        </p:spPr>
        <p:txBody>
          <a:bodyPr/>
          <a:lstStyle/>
          <a:p>
            <a:r>
              <a:rPr lang="en-US" altLang="en-US" dirty="0"/>
              <a:t>Balance Sheet Formats</a:t>
            </a:r>
            <a:endParaRPr lang="en-US" dirty="0"/>
          </a:p>
        </p:txBody>
      </p:sp>
      <p:sp>
        <p:nvSpPr>
          <p:cNvPr id="3" name="Text Placeholder 2"/>
          <p:cNvSpPr>
            <a:spLocks noGrp="1"/>
          </p:cNvSpPr>
          <p:nvPr>
            <p:ph type="body" idx="1"/>
          </p:nvPr>
        </p:nvSpPr>
        <p:spPr>
          <a:xfrm>
            <a:off x="457200" y="1671575"/>
            <a:ext cx="4040982" cy="457200"/>
          </a:xfrm>
          <a:solidFill>
            <a:srgbClr val="C5F3FF"/>
          </a:solidFill>
          <a:ln>
            <a:solidFill>
              <a:srgbClr val="007FA3"/>
            </a:solidFill>
          </a:ln>
        </p:spPr>
        <p:txBody>
          <a:bodyPr anchor="ctr"/>
          <a:lstStyle/>
          <a:p>
            <a:pPr algn="ctr">
              <a:defRPr/>
            </a:pPr>
            <a:r>
              <a:rPr lang="en-US" sz="2000" b="1" dirty="0"/>
              <a:t>Report Format</a:t>
            </a:r>
          </a:p>
        </p:txBody>
      </p:sp>
      <p:sp>
        <p:nvSpPr>
          <p:cNvPr id="4" name="Content Placeholder 3"/>
          <p:cNvSpPr>
            <a:spLocks noGrp="1"/>
          </p:cNvSpPr>
          <p:nvPr>
            <p:ph sz="half" idx="2"/>
          </p:nvPr>
        </p:nvSpPr>
        <p:spPr>
          <a:xfrm>
            <a:off x="457200" y="2143760"/>
            <a:ext cx="4040982" cy="3684588"/>
          </a:xfrm>
        </p:spPr>
        <p:txBody>
          <a:bodyPr/>
          <a:lstStyle/>
          <a:p>
            <a:r>
              <a:rPr lang="en-US" altLang="en-US" dirty="0">
                <a:ea typeface="ＭＳ Ｐゴシック" pitchFamily="34" charset="-128"/>
              </a:rPr>
              <a:t>Assets listed at the top</a:t>
            </a:r>
          </a:p>
          <a:p>
            <a:r>
              <a:rPr lang="en-US" altLang="en-US" dirty="0">
                <a:ea typeface="ＭＳ Ｐゴシック" pitchFamily="34" charset="-128"/>
              </a:rPr>
              <a:t>Liabilities and equity beneath</a:t>
            </a:r>
          </a:p>
          <a:p>
            <a:r>
              <a:rPr lang="en-US" dirty="0">
                <a:ea typeface="ＭＳ Ｐゴシック" pitchFamily="34" charset="-128"/>
              </a:rPr>
              <a:t>Most popular</a:t>
            </a:r>
            <a:endParaRPr lang="en-US" dirty="0"/>
          </a:p>
        </p:txBody>
      </p:sp>
      <p:sp>
        <p:nvSpPr>
          <p:cNvPr id="5" name="Text Placeholder 4"/>
          <p:cNvSpPr>
            <a:spLocks noGrp="1"/>
          </p:cNvSpPr>
          <p:nvPr>
            <p:ph type="body" sz="quarter" idx="3"/>
          </p:nvPr>
        </p:nvSpPr>
        <p:spPr>
          <a:xfrm>
            <a:off x="4629150" y="1671575"/>
            <a:ext cx="4057650" cy="457200"/>
          </a:xfrm>
          <a:solidFill>
            <a:srgbClr val="C5F3FF"/>
          </a:solidFill>
          <a:ln>
            <a:solidFill>
              <a:srgbClr val="007FA3"/>
            </a:solidFill>
          </a:ln>
        </p:spPr>
        <p:txBody>
          <a:bodyPr anchor="ctr"/>
          <a:lstStyle/>
          <a:p>
            <a:pPr algn="ctr">
              <a:defRPr/>
            </a:pPr>
            <a:r>
              <a:rPr lang="en-US" sz="2000" b="1" dirty="0"/>
              <a:t>Account Format</a:t>
            </a:r>
          </a:p>
        </p:txBody>
      </p:sp>
      <p:sp>
        <p:nvSpPr>
          <p:cNvPr id="6" name="Content Placeholder 5"/>
          <p:cNvSpPr>
            <a:spLocks noGrp="1"/>
          </p:cNvSpPr>
          <p:nvPr>
            <p:ph sz="quarter" idx="4"/>
          </p:nvPr>
        </p:nvSpPr>
        <p:spPr>
          <a:xfrm>
            <a:off x="4629150" y="2143760"/>
            <a:ext cx="4057650" cy="3684588"/>
          </a:xfrm>
        </p:spPr>
        <p:txBody>
          <a:bodyPr/>
          <a:lstStyle/>
          <a:p>
            <a:r>
              <a:rPr lang="en-US" altLang="en-US" dirty="0">
                <a:ea typeface="ＭＳ Ｐゴシック" pitchFamily="34" charset="-128"/>
              </a:rPr>
              <a:t>Assets on the left</a:t>
            </a:r>
          </a:p>
          <a:p>
            <a:r>
              <a:rPr lang="en-US" altLang="en-US" dirty="0">
                <a:ea typeface="ＭＳ Ｐゴシック" pitchFamily="34" charset="-128"/>
              </a:rPr>
              <a:t>Liabilities and equity on the right</a:t>
            </a:r>
            <a:endParaRPr lang="en-US" dirty="0"/>
          </a:p>
        </p:txBody>
      </p:sp>
    </p:spTree>
    <p:extLst>
      <p:ext uri="{BB962C8B-B14F-4D97-AF65-F5344CB8AC3E}">
        <p14:creationId xmlns:p14="http://schemas.microsoft.com/office/powerpoint/2010/main" val="2258638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9AB119A-C8DB-4012-A963-8EE6D5CBB0F1}"/>
              </a:ext>
            </a:extLst>
          </p:cNvPr>
          <p:cNvSpPr>
            <a:spLocks noGrp="1"/>
          </p:cNvSpPr>
          <p:nvPr>
            <p:ph type="title"/>
          </p:nvPr>
        </p:nvSpPr>
        <p:spPr/>
        <p:txBody>
          <a:bodyPr/>
          <a:lstStyle/>
          <a:p>
            <a:r>
              <a:rPr lang="en-US" altLang="en-US" dirty="0"/>
              <a:t>Classifying Assets and Liabilities</a:t>
            </a:r>
            <a:r>
              <a:rPr lang="en-US" altLang="en-US" sz="2000" b="0" dirty="0"/>
              <a:t> (1 of 2)</a:t>
            </a:r>
            <a:endParaRPr lang="en-AU" sz="2000" b="0" dirty="0"/>
          </a:p>
        </p:txBody>
      </p:sp>
      <p:sp>
        <p:nvSpPr>
          <p:cNvPr id="5" name="Content Placeholder 4">
            <a:extLst>
              <a:ext uri="{FF2B5EF4-FFF2-40B4-BE49-F238E27FC236}">
                <a16:creationId xmlns:a16="http://schemas.microsoft.com/office/drawing/2014/main" id="{4FFB5738-FAD4-4C50-A081-F9C5B3583CAF}"/>
              </a:ext>
            </a:extLst>
          </p:cNvPr>
          <p:cNvSpPr>
            <a:spLocks noGrp="1"/>
          </p:cNvSpPr>
          <p:nvPr>
            <p:ph idx="1"/>
          </p:nvPr>
        </p:nvSpPr>
        <p:spPr>
          <a:xfrm>
            <a:off x="457200" y="1600201"/>
            <a:ext cx="8229600" cy="990600"/>
          </a:xfrm>
        </p:spPr>
        <p:txBody>
          <a:bodyPr/>
          <a:lstStyle/>
          <a:p>
            <a:r>
              <a:rPr lang="en-US" altLang="en-US" dirty="0">
                <a:ea typeface="ＭＳ Ｐゴシック" pitchFamily="34" charset="-128"/>
              </a:rPr>
              <a:t>Classified as current or long-term based on liquidity</a:t>
            </a:r>
          </a:p>
          <a:p>
            <a:pPr lvl="1"/>
            <a:r>
              <a:rPr lang="en-US" altLang="en-US" dirty="0">
                <a:ea typeface="ＭＳ Ｐゴシック" pitchFamily="34" charset="-128"/>
              </a:rPr>
              <a:t>How quickly an item can be converted to cash</a:t>
            </a:r>
            <a:endParaRPr lang="en-AU" dirty="0"/>
          </a:p>
        </p:txBody>
      </p:sp>
      <p:graphicFrame>
        <p:nvGraphicFramePr>
          <p:cNvPr id="7" name="Table 7">
            <a:extLst>
              <a:ext uri="{FF2B5EF4-FFF2-40B4-BE49-F238E27FC236}">
                <a16:creationId xmlns:a16="http://schemas.microsoft.com/office/drawing/2014/main" id="{3F2CCEF9-803A-437C-B283-DFE2B3326300}"/>
              </a:ext>
            </a:extLst>
          </p:cNvPr>
          <p:cNvGraphicFramePr>
            <a:graphicFrameLocks noGrp="1"/>
          </p:cNvGraphicFramePr>
          <p:nvPr>
            <p:ph idx="13"/>
          </p:nvPr>
        </p:nvGraphicFramePr>
        <p:xfrm>
          <a:off x="1219200" y="3022283"/>
          <a:ext cx="6477000" cy="1483360"/>
        </p:xfrm>
        <a:graphic>
          <a:graphicData uri="http://schemas.openxmlformats.org/drawingml/2006/table">
            <a:tbl>
              <a:tblPr firstRow="1" bandRow="1">
                <a:tableStyleId>{3B4B98B0-60AC-42C2-AFA5-B58CD77FA1E5}</a:tableStyleId>
              </a:tblPr>
              <a:tblGrid>
                <a:gridCol w="3238500">
                  <a:extLst>
                    <a:ext uri="{9D8B030D-6E8A-4147-A177-3AD203B41FA5}">
                      <a16:colId xmlns:a16="http://schemas.microsoft.com/office/drawing/2014/main" val="2676215861"/>
                    </a:ext>
                  </a:extLst>
                </a:gridCol>
                <a:gridCol w="3238500">
                  <a:extLst>
                    <a:ext uri="{9D8B030D-6E8A-4147-A177-3AD203B41FA5}">
                      <a16:colId xmlns:a16="http://schemas.microsoft.com/office/drawing/2014/main" val="825576085"/>
                    </a:ext>
                  </a:extLst>
                </a:gridCol>
              </a:tblGrid>
              <a:tr h="370840">
                <a:tc>
                  <a:txBody>
                    <a:bodyPr/>
                    <a:lstStyle/>
                    <a:p>
                      <a:r>
                        <a:rPr lang="en-US" sz="1800" b="0" dirty="0"/>
                        <a:t>Cash</a:t>
                      </a:r>
                    </a:p>
                  </a:txBody>
                  <a:tcPr marT="45708" marB="457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800" b="0" dirty="0"/>
                        <a:t>Most liquid</a:t>
                      </a:r>
                    </a:p>
                  </a:txBody>
                  <a:tcPr marT="45708" marB="457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8490083"/>
                  </a:ext>
                </a:extLst>
              </a:tr>
              <a:tr h="370840">
                <a:tc>
                  <a:txBody>
                    <a:bodyPr/>
                    <a:lstStyle/>
                    <a:p>
                      <a:r>
                        <a:rPr lang="en-US" sz="1800" dirty="0"/>
                        <a:t>Accounts receivable</a:t>
                      </a:r>
                    </a:p>
                  </a:txBody>
                  <a:tcPr marT="45708" marB="457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800" dirty="0"/>
                        <a:t>Very liquid</a:t>
                      </a:r>
                    </a:p>
                  </a:txBody>
                  <a:tcPr marT="45708" marB="457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32418614"/>
                  </a:ext>
                </a:extLst>
              </a:tr>
              <a:tr h="370840">
                <a:tc>
                  <a:txBody>
                    <a:bodyPr/>
                    <a:lstStyle/>
                    <a:p>
                      <a:r>
                        <a:rPr lang="en-US" sz="1800" dirty="0"/>
                        <a:t>Inventory</a:t>
                      </a:r>
                    </a:p>
                  </a:txBody>
                  <a:tcPr marT="45708" marB="457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800" dirty="0"/>
                        <a:t>Somewhat liquid</a:t>
                      </a:r>
                    </a:p>
                  </a:txBody>
                  <a:tcPr marT="45708" marB="457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40730593"/>
                  </a:ext>
                </a:extLst>
              </a:tr>
              <a:tr h="370840">
                <a:tc>
                  <a:txBody>
                    <a:bodyPr/>
                    <a:lstStyle/>
                    <a:p>
                      <a:r>
                        <a:rPr lang="en-US" sz="1800" dirty="0"/>
                        <a:t>Non-current assets</a:t>
                      </a:r>
                    </a:p>
                  </a:txBody>
                  <a:tcPr marT="45708" marB="457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800" dirty="0"/>
                        <a:t>Not liquid</a:t>
                      </a:r>
                    </a:p>
                  </a:txBody>
                  <a:tcPr marT="45708" marB="457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16290969"/>
                  </a:ext>
                </a:extLst>
              </a:tr>
            </a:tbl>
          </a:graphicData>
        </a:graphic>
      </p:graphicFrame>
    </p:spTree>
    <p:extLst>
      <p:ext uri="{BB962C8B-B14F-4D97-AF65-F5344CB8AC3E}">
        <p14:creationId xmlns:p14="http://schemas.microsoft.com/office/powerpoint/2010/main" val="20821149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CFDE5-5D72-4DF8-ACA9-00DA073A6C16}"/>
              </a:ext>
            </a:extLst>
          </p:cNvPr>
          <p:cNvSpPr>
            <a:spLocks noGrp="1"/>
          </p:cNvSpPr>
          <p:nvPr>
            <p:ph type="title"/>
          </p:nvPr>
        </p:nvSpPr>
        <p:spPr/>
        <p:txBody>
          <a:bodyPr/>
          <a:lstStyle/>
          <a:p>
            <a:r>
              <a:rPr lang="en-US" altLang="en-US" dirty="0"/>
              <a:t>Classifying Assets and Liabilities</a:t>
            </a:r>
            <a:r>
              <a:rPr lang="en-US" altLang="en-US" sz="2000" b="0" dirty="0"/>
              <a:t> (2 of 2)</a:t>
            </a:r>
            <a:endParaRPr lang="en-AU" sz="2000" dirty="0"/>
          </a:p>
        </p:txBody>
      </p:sp>
      <p:graphicFrame>
        <p:nvGraphicFramePr>
          <p:cNvPr id="4" name="Table 4">
            <a:extLst>
              <a:ext uri="{FF2B5EF4-FFF2-40B4-BE49-F238E27FC236}">
                <a16:creationId xmlns:a16="http://schemas.microsoft.com/office/drawing/2014/main" id="{6594E11A-C2EE-4254-A42A-1A7720F6BE0F}"/>
              </a:ext>
            </a:extLst>
          </p:cNvPr>
          <p:cNvGraphicFramePr>
            <a:graphicFrameLocks noGrp="1"/>
          </p:cNvGraphicFramePr>
          <p:nvPr>
            <p:ph idx="1"/>
          </p:nvPr>
        </p:nvGraphicFramePr>
        <p:xfrm>
          <a:off x="486508" y="2286000"/>
          <a:ext cx="8229600" cy="2567844"/>
        </p:xfrm>
        <a:graphic>
          <a:graphicData uri="http://schemas.openxmlformats.org/drawingml/2006/table">
            <a:tbl>
              <a:tblPr firstRow="1" bandRow="1">
                <a:tableStyleId>{3B4B98B0-60AC-42C2-AFA5-B58CD77FA1E5}</a:tableStyleId>
              </a:tblPr>
              <a:tblGrid>
                <a:gridCol w="2895600">
                  <a:extLst>
                    <a:ext uri="{9D8B030D-6E8A-4147-A177-3AD203B41FA5}">
                      <a16:colId xmlns:a16="http://schemas.microsoft.com/office/drawing/2014/main" val="4113767912"/>
                    </a:ext>
                  </a:extLst>
                </a:gridCol>
                <a:gridCol w="5334000">
                  <a:extLst>
                    <a:ext uri="{9D8B030D-6E8A-4147-A177-3AD203B41FA5}">
                      <a16:colId xmlns:a16="http://schemas.microsoft.com/office/drawing/2014/main" val="3336464738"/>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Current assets</a:t>
                      </a:r>
                    </a:p>
                  </a:txBody>
                  <a:tcPr marT="45708" marB="457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256032" marR="0" lvl="0" indent="-256032" algn="l" defTabSz="914400" rtl="0" eaLnBrk="1" fontAlgn="auto" latinLnBrk="0" hangingPunct="1">
                        <a:lnSpc>
                          <a:spcPct val="100000"/>
                        </a:lnSpc>
                        <a:spcBef>
                          <a:spcPts val="1500"/>
                        </a:spcBef>
                        <a:spcAft>
                          <a:spcPts val="0"/>
                        </a:spcAft>
                        <a:buClr>
                          <a:srgbClr val="007FA3"/>
                        </a:buClr>
                        <a:buSzTx/>
                        <a:buFont typeface="Arial" panose="020B0604020202020204" pitchFamily="34" charset="0"/>
                        <a:buChar char="•"/>
                        <a:tabLst/>
                        <a:defRPr/>
                      </a:pPr>
                      <a:r>
                        <a:rPr lang="en-US" b="0" dirty="0"/>
                        <a:t>Converted to cash, sold or consumed in the next year</a:t>
                      </a:r>
                      <a:endParaRPr lang="en-US" sz="1800" b="0" dirty="0"/>
                    </a:p>
                  </a:txBody>
                  <a:tcPr marT="45708" marB="457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229937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Non-current assets</a:t>
                      </a:r>
                    </a:p>
                  </a:txBody>
                  <a:tcPr marT="45708" marB="457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256032" lvl="0" indent="-256032">
                        <a:spcBef>
                          <a:spcPts val="1500"/>
                        </a:spcBef>
                        <a:buClr>
                          <a:srgbClr val="007FA3"/>
                        </a:buClr>
                        <a:buFont typeface="Arial" panose="020B0604020202020204" pitchFamily="34" charset="0"/>
                        <a:buChar char="•"/>
                      </a:pPr>
                      <a:r>
                        <a:rPr lang="en-US" dirty="0"/>
                        <a:t>Held for longer than one year</a:t>
                      </a:r>
                    </a:p>
                    <a:p>
                      <a:pPr marL="256032" lvl="0" indent="-256032">
                        <a:spcBef>
                          <a:spcPts val="1500"/>
                        </a:spcBef>
                        <a:buClr>
                          <a:srgbClr val="007FA3"/>
                        </a:buClr>
                        <a:buFont typeface="Arial" panose="020B0604020202020204" pitchFamily="34" charset="0"/>
                        <a:buChar char="•"/>
                      </a:pPr>
                      <a:r>
                        <a:rPr lang="en-US" dirty="0"/>
                        <a:t>Include long-term, tangible assets</a:t>
                      </a:r>
                    </a:p>
                  </a:txBody>
                  <a:tcPr marT="45708" marB="457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7339767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Current liabilities</a:t>
                      </a:r>
                    </a:p>
                  </a:txBody>
                  <a:tcPr marT="45708" marB="457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256032" marR="0" lvl="0" indent="-256032" algn="l" defTabSz="914400" rtl="0" eaLnBrk="1" fontAlgn="auto" latinLnBrk="0" hangingPunct="1">
                        <a:lnSpc>
                          <a:spcPct val="100000"/>
                        </a:lnSpc>
                        <a:spcBef>
                          <a:spcPts val="1500"/>
                        </a:spcBef>
                        <a:spcAft>
                          <a:spcPts val="0"/>
                        </a:spcAft>
                        <a:buClr>
                          <a:srgbClr val="007FA3"/>
                        </a:buClr>
                        <a:buSzTx/>
                        <a:buFont typeface="Arial" panose="020B0604020202020204" pitchFamily="34" charset="0"/>
                        <a:buChar char="•"/>
                        <a:tabLst/>
                        <a:defRPr/>
                      </a:pPr>
                      <a:r>
                        <a:rPr lang="en-US" dirty="0"/>
                        <a:t>Must be paid within one year</a:t>
                      </a:r>
                      <a:endParaRPr lang="en-US" sz="1800" dirty="0"/>
                    </a:p>
                  </a:txBody>
                  <a:tcPr marT="45708" marB="457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2500951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Non-current liabilities</a:t>
                      </a:r>
                    </a:p>
                  </a:txBody>
                  <a:tcPr marT="45708" marB="457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256032" marR="0" lvl="0" indent="-256032" algn="l" defTabSz="914400" rtl="0" eaLnBrk="1" fontAlgn="auto" latinLnBrk="0" hangingPunct="1">
                        <a:lnSpc>
                          <a:spcPct val="100000"/>
                        </a:lnSpc>
                        <a:spcBef>
                          <a:spcPts val="1500"/>
                        </a:spcBef>
                        <a:spcAft>
                          <a:spcPts val="0"/>
                        </a:spcAft>
                        <a:buClr>
                          <a:srgbClr val="007FA3"/>
                        </a:buClr>
                        <a:buSzTx/>
                        <a:buFont typeface="Arial" panose="020B0604020202020204" pitchFamily="34" charset="0"/>
                        <a:buChar char="•"/>
                        <a:tabLst/>
                        <a:defRPr/>
                      </a:pPr>
                      <a:r>
                        <a:rPr lang="en-US" dirty="0"/>
                        <a:t>Due date more than one year from balance sheet date</a:t>
                      </a:r>
                      <a:endParaRPr lang="en-US" sz="1800" dirty="0"/>
                    </a:p>
                  </a:txBody>
                  <a:tcPr marT="45708" marB="457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3729321"/>
                  </a:ext>
                </a:extLst>
              </a:tr>
            </a:tbl>
          </a:graphicData>
        </a:graphic>
      </p:graphicFrame>
    </p:spTree>
    <p:extLst>
      <p:ext uri="{BB962C8B-B14F-4D97-AF65-F5344CB8AC3E}">
        <p14:creationId xmlns:p14="http://schemas.microsoft.com/office/powerpoint/2010/main" val="499136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Classified Balance Sheet</a:t>
            </a:r>
            <a:endParaRPr lang="en-US" dirty="0"/>
          </a:p>
        </p:txBody>
      </p:sp>
      <p:sp>
        <p:nvSpPr>
          <p:cNvPr id="3" name="Content Placeholder 2"/>
          <p:cNvSpPr>
            <a:spLocks noGrp="1"/>
          </p:cNvSpPr>
          <p:nvPr>
            <p:ph idx="1"/>
          </p:nvPr>
        </p:nvSpPr>
        <p:spPr>
          <a:xfrm>
            <a:off x="457200" y="1600201"/>
            <a:ext cx="8229600" cy="838200"/>
          </a:xfrm>
        </p:spPr>
        <p:txBody>
          <a:bodyPr/>
          <a:lstStyle/>
          <a:p>
            <a:r>
              <a:rPr lang="en-US" altLang="en-US" dirty="0">
                <a:ea typeface="ＭＳ Ｐゴシック" pitchFamily="34" charset="-128"/>
              </a:rPr>
              <a:t>Categorizes and subtotals assets and liabilities</a:t>
            </a:r>
            <a:endParaRPr lang="en-US" dirty="0"/>
          </a:p>
        </p:txBody>
      </p:sp>
      <p:graphicFrame>
        <p:nvGraphicFramePr>
          <p:cNvPr id="4" name="Table 3"/>
          <p:cNvGraphicFramePr>
            <a:graphicFrameLocks noGrp="1"/>
          </p:cNvGraphicFramePr>
          <p:nvPr/>
        </p:nvGraphicFramePr>
        <p:xfrm>
          <a:off x="1066800" y="2725950"/>
          <a:ext cx="7010400" cy="2220912"/>
        </p:xfrm>
        <a:graphic>
          <a:graphicData uri="http://schemas.openxmlformats.org/drawingml/2006/table">
            <a:tbl>
              <a:tblPr firstRow="1" bandRow="1">
                <a:tableStyleId>{2D5ABB26-0587-4C30-8999-92F81FD0307C}</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tblGrid>
              <a:tr h="365917">
                <a:tc>
                  <a:txBody>
                    <a:bodyPr/>
                    <a:lstStyle/>
                    <a:p>
                      <a:r>
                        <a:rPr lang="en-US" sz="1800" b="1" dirty="0"/>
                        <a:t>Assets</a:t>
                      </a:r>
                    </a:p>
                  </a:txBody>
                  <a:tcPr marT="45740" marB="457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b="1" dirty="0"/>
                        <a:t>Liabilities</a:t>
                      </a:r>
                    </a:p>
                  </a:txBody>
                  <a:tcPr marT="45740" marB="457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999">
                <a:tc>
                  <a:txBody>
                    <a:bodyPr/>
                    <a:lstStyle/>
                    <a:p>
                      <a:r>
                        <a:rPr lang="en-US" sz="1800" dirty="0"/>
                        <a:t>Current</a:t>
                      </a:r>
                      <a:r>
                        <a:rPr lang="en-US" sz="1800" baseline="0" dirty="0"/>
                        <a:t> assets</a:t>
                      </a:r>
                      <a:endParaRPr lang="en-US" sz="1800" dirty="0"/>
                    </a:p>
                  </a:txBody>
                  <a:tcPr marT="45740" marB="457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dirty="0"/>
                        <a:t>Current liabilities</a:t>
                      </a:r>
                    </a:p>
                  </a:txBody>
                  <a:tcPr marT="45740" marB="457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999">
                <a:tc>
                  <a:txBody>
                    <a:bodyPr/>
                    <a:lstStyle/>
                    <a:p>
                      <a:r>
                        <a:rPr lang="en-US" sz="1800" dirty="0"/>
                        <a:t>Long-term</a:t>
                      </a:r>
                      <a:r>
                        <a:rPr lang="en-US" sz="1800" baseline="0" dirty="0"/>
                        <a:t> investments</a:t>
                      </a:r>
                      <a:endParaRPr lang="en-US" sz="1800" dirty="0"/>
                    </a:p>
                  </a:txBody>
                  <a:tcPr marT="45740" marB="457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dirty="0"/>
                        <a:t>Non-current liabilities</a:t>
                      </a:r>
                    </a:p>
                  </a:txBody>
                  <a:tcPr marT="45740" marB="457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999">
                <a:tc>
                  <a:txBody>
                    <a:bodyPr/>
                    <a:lstStyle/>
                    <a:p>
                      <a:r>
                        <a:rPr lang="en-US" sz="1800" dirty="0"/>
                        <a:t>Property, plant, and equipment</a:t>
                      </a:r>
                    </a:p>
                  </a:txBody>
                  <a:tcPr marT="45740" marB="457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sz="1800" dirty="0"/>
                    </a:p>
                  </a:txBody>
                  <a:tcPr marT="45740" marB="457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99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Intangible assets</a:t>
                      </a:r>
                    </a:p>
                  </a:txBody>
                  <a:tcPr marT="45740" marB="457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sz="1800" dirty="0"/>
                    </a:p>
                  </a:txBody>
                  <a:tcPr marT="45740" marB="457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99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Other assets</a:t>
                      </a:r>
                    </a:p>
                  </a:txBody>
                  <a:tcPr marT="45740" marB="457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sz="1800" dirty="0"/>
                    </a:p>
                  </a:txBody>
                  <a:tcPr marT="45740" marB="457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420180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0871"/>
            <a:ext cx="8229600" cy="1097280"/>
          </a:xfrm>
        </p:spPr>
        <p:txBody>
          <a:bodyPr/>
          <a:lstStyle/>
          <a:p>
            <a:r>
              <a:rPr lang="en-US" altLang="en-US" dirty="0"/>
              <a:t>Income Statement Formats</a:t>
            </a:r>
            <a:endParaRPr lang="en-US" dirty="0"/>
          </a:p>
        </p:txBody>
      </p:sp>
      <p:sp>
        <p:nvSpPr>
          <p:cNvPr id="3" name="Text Placeholder 2"/>
          <p:cNvSpPr>
            <a:spLocks noGrp="1"/>
          </p:cNvSpPr>
          <p:nvPr>
            <p:ph type="body" idx="1"/>
          </p:nvPr>
        </p:nvSpPr>
        <p:spPr>
          <a:xfrm>
            <a:off x="457200" y="1671575"/>
            <a:ext cx="4040982" cy="457200"/>
          </a:xfrm>
          <a:solidFill>
            <a:srgbClr val="C5F3FF"/>
          </a:solidFill>
          <a:ln>
            <a:solidFill>
              <a:srgbClr val="007FA3"/>
            </a:solidFill>
          </a:ln>
        </p:spPr>
        <p:txBody>
          <a:bodyPr anchor="ctr"/>
          <a:lstStyle/>
          <a:p>
            <a:pPr algn="ctr">
              <a:defRPr/>
            </a:pPr>
            <a:r>
              <a:rPr lang="en-US" sz="2000" b="1" dirty="0"/>
              <a:t>Single-Step</a:t>
            </a:r>
          </a:p>
        </p:txBody>
      </p:sp>
      <p:sp>
        <p:nvSpPr>
          <p:cNvPr id="4" name="Content Placeholder 3"/>
          <p:cNvSpPr>
            <a:spLocks noGrp="1"/>
          </p:cNvSpPr>
          <p:nvPr>
            <p:ph sz="half" idx="2"/>
          </p:nvPr>
        </p:nvSpPr>
        <p:spPr>
          <a:xfrm>
            <a:off x="457200" y="2143760"/>
            <a:ext cx="4040982" cy="3684588"/>
          </a:xfrm>
        </p:spPr>
        <p:txBody>
          <a:bodyPr/>
          <a:lstStyle/>
          <a:p>
            <a:r>
              <a:rPr lang="en-US" altLang="en-US" dirty="0">
                <a:ea typeface="ＭＳ Ｐゴシック" pitchFamily="34" charset="-128"/>
              </a:rPr>
              <a:t>All revenues grouped together</a:t>
            </a:r>
          </a:p>
          <a:p>
            <a:r>
              <a:rPr lang="en-US" altLang="en-US" dirty="0">
                <a:ea typeface="ＭＳ Ｐゴシック" pitchFamily="34" charset="-128"/>
              </a:rPr>
              <a:t>All expenses grouped together</a:t>
            </a:r>
          </a:p>
        </p:txBody>
      </p:sp>
      <p:sp>
        <p:nvSpPr>
          <p:cNvPr id="5" name="Text Placeholder 4"/>
          <p:cNvSpPr>
            <a:spLocks noGrp="1"/>
          </p:cNvSpPr>
          <p:nvPr>
            <p:ph type="body" sz="quarter" idx="3"/>
          </p:nvPr>
        </p:nvSpPr>
        <p:spPr>
          <a:xfrm>
            <a:off x="4629150" y="1671575"/>
            <a:ext cx="4057650" cy="457200"/>
          </a:xfrm>
          <a:solidFill>
            <a:srgbClr val="C5F3FF"/>
          </a:solidFill>
          <a:ln>
            <a:solidFill>
              <a:srgbClr val="007FA3"/>
            </a:solidFill>
          </a:ln>
        </p:spPr>
        <p:txBody>
          <a:bodyPr anchor="ctr"/>
          <a:lstStyle/>
          <a:p>
            <a:pPr algn="ctr">
              <a:defRPr/>
            </a:pPr>
            <a:r>
              <a:rPr lang="en-US" sz="2000" b="1" dirty="0"/>
              <a:t>Multi-Step</a:t>
            </a:r>
          </a:p>
        </p:txBody>
      </p:sp>
      <p:sp>
        <p:nvSpPr>
          <p:cNvPr id="6" name="Content Placeholder 5"/>
          <p:cNvSpPr>
            <a:spLocks noGrp="1"/>
          </p:cNvSpPr>
          <p:nvPr>
            <p:ph sz="quarter" idx="4"/>
          </p:nvPr>
        </p:nvSpPr>
        <p:spPr>
          <a:xfrm>
            <a:off x="4629150" y="2143760"/>
            <a:ext cx="4057650" cy="3684588"/>
          </a:xfrm>
        </p:spPr>
        <p:txBody>
          <a:bodyPr/>
          <a:lstStyle/>
          <a:p>
            <a:r>
              <a:rPr lang="en-US" altLang="en-US" dirty="0">
                <a:ea typeface="ＭＳ Ｐゴシック" pitchFamily="34" charset="-128"/>
              </a:rPr>
              <a:t>Shows subtotals to emphasize relationships</a:t>
            </a:r>
          </a:p>
          <a:p>
            <a:r>
              <a:rPr lang="en-US" altLang="en-US" dirty="0">
                <a:ea typeface="ＭＳ Ｐゴシック" pitchFamily="34" charset="-128"/>
              </a:rPr>
              <a:t>Includes </a:t>
            </a:r>
          </a:p>
          <a:p>
            <a:pPr lvl="1"/>
            <a:r>
              <a:rPr lang="en-US" altLang="en-US" dirty="0">
                <a:ea typeface="ＭＳ Ｐゴシック" pitchFamily="34" charset="-128"/>
              </a:rPr>
              <a:t>Gross profit</a:t>
            </a:r>
          </a:p>
          <a:p>
            <a:pPr lvl="1"/>
            <a:r>
              <a:rPr lang="en-US" altLang="en-US" dirty="0">
                <a:ea typeface="ＭＳ Ｐゴシック" pitchFamily="34" charset="-128"/>
              </a:rPr>
              <a:t>Income from operations</a:t>
            </a:r>
          </a:p>
          <a:p>
            <a:pPr lvl="1"/>
            <a:r>
              <a:rPr lang="en-US" altLang="en-US" dirty="0">
                <a:ea typeface="ＭＳ Ｐゴシック" pitchFamily="34" charset="-128"/>
              </a:rPr>
              <a:t>Income before taxes</a:t>
            </a:r>
          </a:p>
          <a:p>
            <a:pPr lvl="1"/>
            <a:r>
              <a:rPr lang="en-US" altLang="en-US" dirty="0">
                <a:ea typeface="ＭＳ Ｐゴシック" pitchFamily="34" charset="-128"/>
              </a:rPr>
              <a:t>Net income</a:t>
            </a:r>
            <a:endParaRPr lang="en-US" dirty="0"/>
          </a:p>
        </p:txBody>
      </p:sp>
    </p:spTree>
    <p:extLst>
      <p:ext uri="{BB962C8B-B14F-4D97-AF65-F5344CB8AC3E}">
        <p14:creationId xmlns:p14="http://schemas.microsoft.com/office/powerpoint/2010/main" val="2010213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Five</a:t>
            </a:r>
          </a:p>
        </p:txBody>
      </p:sp>
      <p:sp>
        <p:nvSpPr>
          <p:cNvPr id="3" name="Content Placeholder 2"/>
          <p:cNvSpPr>
            <a:spLocks noGrp="1"/>
          </p:cNvSpPr>
          <p:nvPr>
            <p:ph type="subTitle" idx="1"/>
          </p:nvPr>
        </p:nvSpPr>
        <p:spPr/>
        <p:txBody>
          <a:bodyPr/>
          <a:lstStyle/>
          <a:p>
            <a:r>
              <a:rPr lang="en-US" altLang="en-US" b="1" dirty="0">
                <a:ea typeface="ＭＳ Ｐゴシック" pitchFamily="34" charset="-128"/>
              </a:rPr>
              <a:t>Record</a:t>
            </a:r>
            <a:r>
              <a:rPr lang="en-US" altLang="en-US" dirty="0">
                <a:ea typeface="ＭＳ Ｐゴシック" pitchFamily="34" charset="-128"/>
              </a:rPr>
              <a:t> closing journal entries</a:t>
            </a:r>
            <a:endParaRPr lang="en-US" dirty="0"/>
          </a:p>
        </p:txBody>
      </p:sp>
    </p:spTree>
    <p:extLst>
      <p:ext uri="{BB962C8B-B14F-4D97-AF65-F5344CB8AC3E}">
        <p14:creationId xmlns:p14="http://schemas.microsoft.com/office/powerpoint/2010/main" val="955986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Closing Entries </a:t>
            </a:r>
            <a:r>
              <a:rPr lang="en-US" altLang="en-US" sz="2000" b="0" dirty="0"/>
              <a:t>(1 of 2)</a:t>
            </a:r>
            <a:endParaRPr lang="en-US" b="0" dirty="0"/>
          </a:p>
        </p:txBody>
      </p:sp>
      <p:sp>
        <p:nvSpPr>
          <p:cNvPr id="3" name="Content Placeholder 2"/>
          <p:cNvSpPr>
            <a:spLocks noGrp="1"/>
          </p:cNvSpPr>
          <p:nvPr>
            <p:ph idx="1"/>
          </p:nvPr>
        </p:nvSpPr>
        <p:spPr/>
        <p:txBody>
          <a:bodyPr/>
          <a:lstStyle/>
          <a:p>
            <a:r>
              <a:rPr lang="en-US" altLang="en-US" dirty="0">
                <a:ea typeface="ＭＳ Ｐゴシック" pitchFamily="34" charset="-128"/>
              </a:rPr>
              <a:t>Prepares the accounts for next period</a:t>
            </a:r>
          </a:p>
          <a:p>
            <a:r>
              <a:rPr lang="en-US" altLang="en-US" dirty="0">
                <a:ea typeface="ＭＳ Ｐゴシック" pitchFamily="34" charset="-128"/>
              </a:rPr>
              <a:t>Sets revenues, expenses, and dividends to zero</a:t>
            </a:r>
            <a:endParaRPr lang="en-US" dirty="0"/>
          </a:p>
        </p:txBody>
      </p:sp>
    </p:spTree>
    <p:extLst>
      <p:ext uri="{BB962C8B-B14F-4D97-AF65-F5344CB8AC3E}">
        <p14:creationId xmlns:p14="http://schemas.microsoft.com/office/powerpoint/2010/main" val="1197589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3251"/>
            <a:ext cx="8229600" cy="1097280"/>
          </a:xfrm>
        </p:spPr>
        <p:txBody>
          <a:bodyPr/>
          <a:lstStyle/>
          <a:p>
            <a:r>
              <a:rPr lang="en-US" altLang="en-US" dirty="0"/>
              <a:t>Closing Entries </a:t>
            </a:r>
            <a:r>
              <a:rPr lang="en-US" altLang="en-US" sz="2000" b="0" dirty="0"/>
              <a:t>(2 of 2)</a:t>
            </a:r>
            <a:endParaRPr lang="en-US" b="0" dirty="0"/>
          </a:p>
        </p:txBody>
      </p:sp>
      <p:sp>
        <p:nvSpPr>
          <p:cNvPr id="3" name="Text Placeholder 2"/>
          <p:cNvSpPr>
            <a:spLocks noGrp="1"/>
          </p:cNvSpPr>
          <p:nvPr>
            <p:ph type="body" idx="1"/>
          </p:nvPr>
        </p:nvSpPr>
        <p:spPr>
          <a:xfrm>
            <a:off x="457200" y="1671575"/>
            <a:ext cx="4040982" cy="457200"/>
          </a:xfrm>
          <a:solidFill>
            <a:srgbClr val="C5F3FF"/>
          </a:solidFill>
          <a:ln>
            <a:solidFill>
              <a:srgbClr val="007FA3"/>
            </a:solidFill>
          </a:ln>
        </p:spPr>
        <p:txBody>
          <a:bodyPr anchor="ctr"/>
          <a:lstStyle/>
          <a:p>
            <a:pPr lvl="0" algn="ctr">
              <a:defRPr/>
            </a:pPr>
            <a:r>
              <a:rPr lang="en-US" dirty="0"/>
              <a:t>Temporary Accounts</a:t>
            </a:r>
          </a:p>
        </p:txBody>
      </p:sp>
      <p:sp>
        <p:nvSpPr>
          <p:cNvPr id="4" name="Content Placeholder 3"/>
          <p:cNvSpPr>
            <a:spLocks noGrp="1"/>
          </p:cNvSpPr>
          <p:nvPr>
            <p:ph sz="half" idx="2"/>
          </p:nvPr>
        </p:nvSpPr>
        <p:spPr>
          <a:xfrm>
            <a:off x="457200" y="2138680"/>
            <a:ext cx="4040982" cy="3684588"/>
          </a:xfrm>
        </p:spPr>
        <p:txBody>
          <a:bodyPr/>
          <a:lstStyle/>
          <a:p>
            <a:pPr lvl="0"/>
            <a:r>
              <a:rPr lang="en-US" b="1" dirty="0"/>
              <a:t>Closed</a:t>
            </a:r>
          </a:p>
          <a:p>
            <a:pPr lvl="0">
              <a:spcBef>
                <a:spcPts val="2400"/>
              </a:spcBef>
              <a:buClr>
                <a:schemeClr val="accent2"/>
              </a:buClr>
            </a:pPr>
            <a:r>
              <a:rPr lang="en-US" sz="2000" dirty="0">
                <a:solidFill>
                  <a:schemeClr val="accent2"/>
                </a:solidFill>
                <a:ea typeface="ＭＳ Ｐゴシック" pitchFamily="34" charset="-128"/>
              </a:rPr>
              <a:t>Expenses and revenues that are reported on the income statement are closed at the end of each reporting period.</a:t>
            </a:r>
          </a:p>
          <a:p>
            <a:pPr lvl="0">
              <a:spcBef>
                <a:spcPts val="2400"/>
              </a:spcBef>
              <a:buClr>
                <a:schemeClr val="accent2"/>
              </a:buClr>
            </a:pPr>
            <a:r>
              <a:rPr lang="en-US" sz="2000" dirty="0">
                <a:solidFill>
                  <a:schemeClr val="accent2"/>
                </a:solidFill>
                <a:ea typeface="ＭＳ Ｐゴシック" pitchFamily="34" charset="-128"/>
              </a:rPr>
              <a:t>Dividend account is also closed at the end of each reporting period</a:t>
            </a:r>
            <a:endParaRPr lang="en-US" dirty="0"/>
          </a:p>
        </p:txBody>
      </p:sp>
      <p:sp>
        <p:nvSpPr>
          <p:cNvPr id="5" name="Text Placeholder 4"/>
          <p:cNvSpPr>
            <a:spLocks noGrp="1"/>
          </p:cNvSpPr>
          <p:nvPr>
            <p:ph type="body" sz="quarter" idx="3"/>
          </p:nvPr>
        </p:nvSpPr>
        <p:spPr>
          <a:xfrm>
            <a:off x="4629150" y="1671575"/>
            <a:ext cx="4057650" cy="457200"/>
          </a:xfrm>
          <a:solidFill>
            <a:srgbClr val="C5F3FF"/>
          </a:solidFill>
          <a:ln>
            <a:solidFill>
              <a:srgbClr val="007FA3"/>
            </a:solidFill>
          </a:ln>
        </p:spPr>
        <p:txBody>
          <a:bodyPr anchor="ctr">
            <a:normAutofit fontScale="92500" lnSpcReduction="10000"/>
          </a:bodyPr>
          <a:lstStyle/>
          <a:p>
            <a:pPr lvl="0" algn="ctr">
              <a:defRPr/>
            </a:pPr>
            <a:r>
              <a:rPr lang="en-US" dirty="0"/>
              <a:t>Permanent Accounts</a:t>
            </a:r>
            <a:endParaRPr lang="en-US" b="1" dirty="0"/>
          </a:p>
        </p:txBody>
      </p:sp>
      <p:sp>
        <p:nvSpPr>
          <p:cNvPr id="6" name="Content Placeholder 5"/>
          <p:cNvSpPr>
            <a:spLocks noGrp="1"/>
          </p:cNvSpPr>
          <p:nvPr>
            <p:ph sz="quarter" idx="4"/>
          </p:nvPr>
        </p:nvSpPr>
        <p:spPr>
          <a:xfrm>
            <a:off x="4629150" y="2143760"/>
            <a:ext cx="4057650" cy="3978744"/>
          </a:xfrm>
        </p:spPr>
        <p:txBody>
          <a:bodyPr>
            <a:noAutofit/>
          </a:bodyPr>
          <a:lstStyle/>
          <a:p>
            <a:pPr lvl="0"/>
            <a:r>
              <a:rPr lang="en-US" b="1" dirty="0"/>
              <a:t>NOT closed</a:t>
            </a:r>
          </a:p>
          <a:p>
            <a:pPr>
              <a:spcBef>
                <a:spcPts val="2400"/>
              </a:spcBef>
              <a:buClr>
                <a:schemeClr val="accent2"/>
              </a:buClr>
            </a:pPr>
            <a:r>
              <a:rPr lang="en-US" dirty="0">
                <a:solidFill>
                  <a:schemeClr val="accent2"/>
                </a:solidFill>
                <a:ea typeface="ＭＳ Ｐゴシック" pitchFamily="34" charset="-128"/>
              </a:rPr>
              <a:t>Assets, liabilities, and equity accounts that are reported on the balance sheet are never closed.</a:t>
            </a:r>
          </a:p>
          <a:p>
            <a:pPr>
              <a:spcBef>
                <a:spcPts val="2400"/>
              </a:spcBef>
              <a:buClr>
                <a:schemeClr val="accent2"/>
              </a:buClr>
            </a:pPr>
            <a:r>
              <a:rPr lang="en-US" dirty="0">
                <a:solidFill>
                  <a:schemeClr val="accent2"/>
                </a:solidFill>
                <a:ea typeface="ＭＳ Ｐゴシック" pitchFamily="34" charset="-128"/>
              </a:rPr>
              <a:t>Their balances carry forward from one reporting period to another (balances at the end of one period are the beginning balances of the next period).</a:t>
            </a:r>
          </a:p>
        </p:txBody>
      </p:sp>
    </p:spTree>
    <p:extLst>
      <p:ext uri="{BB962C8B-B14F-4D97-AF65-F5344CB8AC3E}">
        <p14:creationId xmlns:p14="http://schemas.microsoft.com/office/powerpoint/2010/main" val="3777316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Closing Journal Entries</a:t>
            </a:r>
            <a:endParaRPr lang="en-US" dirty="0"/>
          </a:p>
        </p:txBody>
      </p:sp>
      <p:graphicFrame>
        <p:nvGraphicFramePr>
          <p:cNvPr id="4" name="Table 3"/>
          <p:cNvGraphicFramePr>
            <a:graphicFrameLocks noGrp="1"/>
          </p:cNvGraphicFramePr>
          <p:nvPr/>
        </p:nvGraphicFramePr>
        <p:xfrm>
          <a:off x="1219201" y="1899920"/>
          <a:ext cx="6705599" cy="767080"/>
        </p:xfrm>
        <a:graphic>
          <a:graphicData uri="http://schemas.openxmlformats.org/drawingml/2006/table">
            <a:tbl>
              <a:tblPr firstRow="1" bandRow="1">
                <a:tableStyleId>{2D5ABB26-0587-4C30-8999-92F81FD0307C}</a:tableStyleId>
              </a:tblPr>
              <a:tblGrid>
                <a:gridCol w="3352800">
                  <a:extLst>
                    <a:ext uri="{9D8B030D-6E8A-4147-A177-3AD203B41FA5}">
                      <a16:colId xmlns:a16="http://schemas.microsoft.com/office/drawing/2014/main" val="20000"/>
                    </a:ext>
                  </a:extLst>
                </a:gridCol>
                <a:gridCol w="3352799">
                  <a:extLst>
                    <a:ext uri="{9D8B030D-6E8A-4147-A177-3AD203B41FA5}">
                      <a16:colId xmlns:a16="http://schemas.microsoft.com/office/drawing/2014/main" val="20001"/>
                    </a:ext>
                  </a:extLst>
                </a:gridCol>
              </a:tblGrid>
              <a:tr h="37084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t>Close Revenues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Debit each revenue account</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Credit Retained Earnings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7" name="Down Arrow 6" descr="Down Arrow"/>
          <p:cNvSpPr/>
          <p:nvPr/>
        </p:nvSpPr>
        <p:spPr>
          <a:xfrm>
            <a:off x="4229100" y="2667000"/>
            <a:ext cx="685800" cy="533400"/>
          </a:xfrm>
          <a:prstGeom prst="downArrow">
            <a:avLst/>
          </a:prstGeom>
          <a:solidFill>
            <a:srgbClr val="007F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graphicFrame>
        <p:nvGraphicFramePr>
          <p:cNvPr id="5" name="Table 4"/>
          <p:cNvGraphicFramePr>
            <a:graphicFrameLocks noGrp="1"/>
          </p:cNvGraphicFramePr>
          <p:nvPr/>
        </p:nvGraphicFramePr>
        <p:xfrm>
          <a:off x="1219200" y="3213900"/>
          <a:ext cx="6705600" cy="767080"/>
        </p:xfrm>
        <a:graphic>
          <a:graphicData uri="http://schemas.openxmlformats.org/drawingml/2006/table">
            <a:tbl>
              <a:tblPr firstRow="1" bandRow="1">
                <a:tableStyleId>{2D5ABB26-0587-4C30-8999-92F81FD0307C}</a:tableStyleId>
              </a:tblPr>
              <a:tblGrid>
                <a:gridCol w="3352800">
                  <a:extLst>
                    <a:ext uri="{9D8B030D-6E8A-4147-A177-3AD203B41FA5}">
                      <a16:colId xmlns:a16="http://schemas.microsoft.com/office/drawing/2014/main" val="20000"/>
                    </a:ext>
                  </a:extLst>
                </a:gridCol>
                <a:gridCol w="3352800">
                  <a:extLst>
                    <a:ext uri="{9D8B030D-6E8A-4147-A177-3AD203B41FA5}">
                      <a16:colId xmlns:a16="http://schemas.microsoft.com/office/drawing/2014/main" val="20001"/>
                    </a:ext>
                  </a:extLst>
                </a:gridCol>
              </a:tblGrid>
              <a:tr h="37084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Close Expenses</a:t>
                      </a:r>
                      <a:endParaRPr lang="en-US" sz="2000" b="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lvl="0"/>
                      <a:r>
                        <a:rPr lang="en-US" dirty="0"/>
                        <a:t>Debit Retained Earnings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lvl="0"/>
                      <a:r>
                        <a:rPr lang="en-US" dirty="0"/>
                        <a:t>Credit each expense account</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8" name="Down Arrow 7" descr="Down Arrow"/>
          <p:cNvSpPr/>
          <p:nvPr/>
        </p:nvSpPr>
        <p:spPr>
          <a:xfrm>
            <a:off x="4229100" y="3994225"/>
            <a:ext cx="685800" cy="533400"/>
          </a:xfrm>
          <a:prstGeom prst="downArrow">
            <a:avLst/>
          </a:prstGeom>
          <a:solidFill>
            <a:srgbClr val="007F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graphicFrame>
        <p:nvGraphicFramePr>
          <p:cNvPr id="6" name="Table 5"/>
          <p:cNvGraphicFramePr>
            <a:graphicFrameLocks noGrp="1"/>
          </p:cNvGraphicFramePr>
          <p:nvPr/>
        </p:nvGraphicFramePr>
        <p:xfrm>
          <a:off x="1219200" y="4539200"/>
          <a:ext cx="6705600" cy="767080"/>
        </p:xfrm>
        <a:graphic>
          <a:graphicData uri="http://schemas.openxmlformats.org/drawingml/2006/table">
            <a:tbl>
              <a:tblPr firstRow="1" bandRow="1">
                <a:tableStyleId>{2D5ABB26-0587-4C30-8999-92F81FD0307C}</a:tableStyleId>
              </a:tblPr>
              <a:tblGrid>
                <a:gridCol w="3352800">
                  <a:extLst>
                    <a:ext uri="{9D8B030D-6E8A-4147-A177-3AD203B41FA5}">
                      <a16:colId xmlns:a16="http://schemas.microsoft.com/office/drawing/2014/main" val="20000"/>
                    </a:ext>
                  </a:extLst>
                </a:gridCol>
                <a:gridCol w="3352800">
                  <a:extLst>
                    <a:ext uri="{9D8B030D-6E8A-4147-A177-3AD203B41FA5}">
                      <a16:colId xmlns:a16="http://schemas.microsoft.com/office/drawing/2014/main" val="20001"/>
                    </a:ext>
                  </a:extLst>
                </a:gridCol>
              </a:tblGrid>
              <a:tr h="37084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Close Dividends</a:t>
                      </a:r>
                      <a:endParaRPr lang="en-US" sz="2000" b="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lvl="0"/>
                      <a:r>
                        <a:rPr lang="en-US" dirty="0"/>
                        <a:t>Debit Retained Earnings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Credit Dividends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194009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7679" y="564107"/>
            <a:ext cx="8229600" cy="550652"/>
          </a:xfrm>
        </p:spPr>
        <p:txBody>
          <a:bodyPr>
            <a:normAutofit fontScale="90000"/>
          </a:bodyPr>
          <a:lstStyle/>
          <a:p>
            <a:pPr algn="ctr"/>
            <a:r>
              <a:rPr lang="en-US" altLang="en-US" dirty="0">
                <a:solidFill>
                  <a:srgbClr val="C00000"/>
                </a:solidFill>
              </a:rPr>
              <a:t>Exercise 3-26 </a:t>
            </a:r>
            <a:r>
              <a:rPr lang="en-US" altLang="en-US" b="0" dirty="0">
                <a:solidFill>
                  <a:srgbClr val="C00000"/>
                </a:solidFill>
              </a:rPr>
              <a:t>(page 164)</a:t>
            </a:r>
            <a:endParaRPr lang="en-US" b="0" dirty="0">
              <a:solidFill>
                <a:srgbClr val="C00000"/>
              </a:solidFill>
            </a:endParaRPr>
          </a:p>
        </p:txBody>
      </p:sp>
      <p:sp>
        <p:nvSpPr>
          <p:cNvPr id="5" name="TextBox 4">
            <a:extLst>
              <a:ext uri="{FF2B5EF4-FFF2-40B4-BE49-F238E27FC236}">
                <a16:creationId xmlns:a16="http://schemas.microsoft.com/office/drawing/2014/main" id="{BCF405B5-3A27-A23B-2E5F-363AC1AD4569}"/>
              </a:ext>
            </a:extLst>
          </p:cNvPr>
          <p:cNvSpPr txBox="1"/>
          <p:nvPr/>
        </p:nvSpPr>
        <p:spPr>
          <a:xfrm>
            <a:off x="583096" y="1298713"/>
            <a:ext cx="7765774" cy="707886"/>
          </a:xfrm>
          <a:prstGeom prst="rect">
            <a:avLst/>
          </a:prstGeom>
          <a:noFill/>
        </p:spPr>
        <p:txBody>
          <a:bodyPr wrap="square" rtlCol="0">
            <a:spAutoFit/>
          </a:bodyPr>
          <a:lstStyle/>
          <a:p>
            <a:r>
              <a:rPr lang="en-US" sz="2000" dirty="0"/>
              <a:t>Prepare the required closing entries for the following accounts from the records of </a:t>
            </a:r>
            <a:r>
              <a:rPr lang="en-US" sz="2000" dirty="0" err="1"/>
              <a:t>SouthWest</a:t>
            </a:r>
            <a:r>
              <a:rPr lang="en-US" sz="2000" dirty="0"/>
              <a:t> Transport Inc. at Dec. 31, 20XX</a:t>
            </a:r>
          </a:p>
        </p:txBody>
      </p:sp>
      <p:sp>
        <p:nvSpPr>
          <p:cNvPr id="6" name="TextBox 5">
            <a:extLst>
              <a:ext uri="{FF2B5EF4-FFF2-40B4-BE49-F238E27FC236}">
                <a16:creationId xmlns:a16="http://schemas.microsoft.com/office/drawing/2014/main" id="{5C77F83C-6F5E-4D72-0D1C-B1ED2DAF8799}"/>
              </a:ext>
            </a:extLst>
          </p:cNvPr>
          <p:cNvSpPr txBox="1"/>
          <p:nvPr/>
        </p:nvSpPr>
        <p:spPr>
          <a:xfrm>
            <a:off x="344557" y="2345066"/>
            <a:ext cx="4359965" cy="1614353"/>
          </a:xfrm>
          <a:prstGeom prst="rect">
            <a:avLst/>
          </a:prstGeom>
          <a:noFill/>
        </p:spPr>
        <p:txBody>
          <a:bodyPr wrap="square" rtlCol="0">
            <a:spAutoFit/>
          </a:bodyPr>
          <a:lstStyle/>
          <a:p>
            <a:pPr algn="just">
              <a:lnSpc>
                <a:spcPct val="150000"/>
              </a:lnSpc>
            </a:pPr>
            <a:r>
              <a:rPr lang="en-US" sz="1700" dirty="0"/>
              <a:t>Cost of services sold	$11,600</a:t>
            </a:r>
          </a:p>
          <a:p>
            <a:pPr algn="just">
              <a:lnSpc>
                <a:spcPct val="150000"/>
              </a:lnSpc>
            </a:pPr>
            <a:r>
              <a:rPr lang="en-US" sz="1700" dirty="0"/>
              <a:t>Accumulated depreciation	$17,800</a:t>
            </a:r>
          </a:p>
          <a:p>
            <a:pPr algn="just">
              <a:lnSpc>
                <a:spcPct val="150000"/>
              </a:lnSpc>
            </a:pPr>
            <a:r>
              <a:rPr lang="en-US" sz="1700" dirty="0"/>
              <a:t>SG&amp;A Expenses		$6,900</a:t>
            </a:r>
          </a:p>
          <a:p>
            <a:pPr algn="just">
              <a:lnSpc>
                <a:spcPct val="150000"/>
              </a:lnSpc>
            </a:pPr>
            <a:r>
              <a:rPr lang="en-US" sz="1700" dirty="0"/>
              <a:t>Retained earnings, opening	   $,900</a:t>
            </a:r>
          </a:p>
        </p:txBody>
      </p:sp>
      <p:sp>
        <p:nvSpPr>
          <p:cNvPr id="7" name="TextBox 6">
            <a:extLst>
              <a:ext uri="{FF2B5EF4-FFF2-40B4-BE49-F238E27FC236}">
                <a16:creationId xmlns:a16="http://schemas.microsoft.com/office/drawing/2014/main" id="{CDD6C544-5799-77F5-50D5-0978DD75C5B7}"/>
              </a:ext>
            </a:extLst>
          </p:cNvPr>
          <p:cNvSpPr txBox="1"/>
          <p:nvPr/>
        </p:nvSpPr>
        <p:spPr>
          <a:xfrm>
            <a:off x="4704522" y="2345066"/>
            <a:ext cx="3951799" cy="2399183"/>
          </a:xfrm>
          <a:prstGeom prst="rect">
            <a:avLst/>
          </a:prstGeom>
          <a:noFill/>
        </p:spPr>
        <p:txBody>
          <a:bodyPr wrap="square" rtlCol="0">
            <a:spAutoFit/>
          </a:bodyPr>
          <a:lstStyle/>
          <a:p>
            <a:pPr algn="just">
              <a:lnSpc>
                <a:spcPct val="150000"/>
              </a:lnSpc>
            </a:pPr>
            <a:r>
              <a:rPr lang="en-US" sz="1700" dirty="0"/>
              <a:t>Service Revenue		$23,600</a:t>
            </a:r>
          </a:p>
          <a:p>
            <a:pPr algn="just">
              <a:lnSpc>
                <a:spcPct val="150000"/>
              </a:lnSpc>
            </a:pPr>
            <a:r>
              <a:rPr lang="en-US" sz="1700" dirty="0"/>
              <a:t>Depreciation Expense	$4,100</a:t>
            </a:r>
          </a:p>
          <a:p>
            <a:pPr algn="just">
              <a:lnSpc>
                <a:spcPct val="150000"/>
              </a:lnSpc>
            </a:pPr>
            <a:r>
              <a:rPr lang="en-US" sz="1700" dirty="0"/>
              <a:t>Other revenue		$600</a:t>
            </a:r>
          </a:p>
          <a:p>
            <a:pPr algn="just">
              <a:lnSpc>
                <a:spcPct val="150000"/>
              </a:lnSpc>
            </a:pPr>
            <a:r>
              <a:rPr lang="en-US" sz="1700" dirty="0"/>
              <a:t>Income tax expense	$400</a:t>
            </a:r>
          </a:p>
          <a:p>
            <a:pPr algn="just">
              <a:lnSpc>
                <a:spcPct val="150000"/>
              </a:lnSpc>
            </a:pPr>
            <a:r>
              <a:rPr lang="en-US" sz="1700" dirty="0"/>
              <a:t>Dividends		$400</a:t>
            </a:r>
          </a:p>
          <a:p>
            <a:pPr algn="just">
              <a:lnSpc>
                <a:spcPct val="150000"/>
              </a:lnSpc>
            </a:pPr>
            <a:r>
              <a:rPr lang="en-US" sz="1700" dirty="0"/>
              <a:t>Income tax payable	$300</a:t>
            </a:r>
          </a:p>
        </p:txBody>
      </p:sp>
    </p:spTree>
    <p:extLst>
      <p:ext uri="{BB962C8B-B14F-4D97-AF65-F5344CB8AC3E}">
        <p14:creationId xmlns:p14="http://schemas.microsoft.com/office/powerpoint/2010/main" val="1962668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Learning Objective Six</a:t>
            </a:r>
          </a:p>
        </p:txBody>
      </p:sp>
      <p:sp>
        <p:nvSpPr>
          <p:cNvPr id="5" name="Subtitle 4"/>
          <p:cNvSpPr>
            <a:spLocks noGrp="1"/>
          </p:cNvSpPr>
          <p:nvPr>
            <p:ph type="subTitle" idx="1"/>
          </p:nvPr>
        </p:nvSpPr>
        <p:spPr/>
        <p:txBody>
          <a:bodyPr>
            <a:normAutofit lnSpcReduction="10000"/>
          </a:bodyPr>
          <a:lstStyle/>
          <a:p>
            <a:r>
              <a:rPr lang="en-US" altLang="en-US" b="1" dirty="0"/>
              <a:t>Analyze</a:t>
            </a:r>
            <a:r>
              <a:rPr lang="en-US" altLang="en-US" dirty="0"/>
              <a:t> and evaluate a company</a:t>
            </a:r>
            <a:r>
              <a:rPr lang="ja-JP" altLang="en-US" dirty="0"/>
              <a:t>’</a:t>
            </a:r>
            <a:r>
              <a:rPr lang="en-US" altLang="ja-JP" dirty="0"/>
              <a:t>s debt-paying ability</a:t>
            </a:r>
            <a:endParaRPr lang="en-US" dirty="0"/>
          </a:p>
        </p:txBody>
      </p:sp>
      <p:sp>
        <p:nvSpPr>
          <p:cNvPr id="2" name="Subtitle 4">
            <a:extLst>
              <a:ext uri="{FF2B5EF4-FFF2-40B4-BE49-F238E27FC236}">
                <a16:creationId xmlns:a16="http://schemas.microsoft.com/office/drawing/2014/main" id="{1CBACD27-0310-5385-BFDF-078FD3C9AA8D}"/>
              </a:ext>
            </a:extLst>
          </p:cNvPr>
          <p:cNvSpPr txBox="1">
            <a:spLocks/>
          </p:cNvSpPr>
          <p:nvPr/>
        </p:nvSpPr>
        <p:spPr>
          <a:xfrm>
            <a:off x="339555" y="2799031"/>
            <a:ext cx="7638254" cy="1259937"/>
          </a:xfrm>
          <a:prstGeom prst="rect">
            <a:avLst/>
          </a:prstGeom>
        </p:spPr>
        <p:txBody>
          <a:bodyPr vert="horz" lIns="0" tIns="45720" rIns="91440" bIns="45720" rtlCol="0" anchor="t">
            <a:normAutofit/>
          </a:bodyPr>
          <a:lstStyle>
            <a:lvl1pPr marL="0" indent="0" algn="l" defTabSz="914377" rtl="0" eaLnBrk="1" latinLnBrk="0" hangingPunct="1">
              <a:lnSpc>
                <a:spcPct val="100000"/>
              </a:lnSpc>
              <a:spcBef>
                <a:spcPts val="800"/>
              </a:spcBef>
              <a:spcAft>
                <a:spcPts val="800"/>
              </a:spcAft>
              <a:buClr>
                <a:schemeClr val="tx1"/>
              </a:buClr>
              <a:buSzPct val="85000"/>
              <a:buFont typeface="Wingdings" charset="2"/>
              <a:buNone/>
              <a:defRPr sz="2000" b="0" kern="1200">
                <a:solidFill>
                  <a:schemeClr val="tx1">
                    <a:lumMod val="50000"/>
                    <a:lumOff val="50000"/>
                  </a:schemeClr>
                </a:solidFill>
                <a:latin typeface="+mn-lt"/>
                <a:ea typeface="+mn-ea"/>
                <a:cs typeface="+mn-cs"/>
              </a:defRPr>
            </a:lvl1pPr>
            <a:lvl2pPr marL="457189" indent="0" algn="ctr" defTabSz="914377" rtl="0" eaLnBrk="1" latinLnBrk="0" hangingPunct="1">
              <a:lnSpc>
                <a:spcPct val="100000"/>
              </a:lnSpc>
              <a:spcBef>
                <a:spcPts val="800"/>
              </a:spcBef>
              <a:spcAft>
                <a:spcPts val="800"/>
              </a:spcAft>
              <a:buClr>
                <a:schemeClr val="tx1"/>
              </a:buClr>
              <a:buSzPct val="85000"/>
              <a:buFont typeface="Wingdings" charset="2"/>
              <a:buNone/>
              <a:defRPr sz="2000" kern="1200">
                <a:solidFill>
                  <a:schemeClr val="tx1"/>
                </a:solidFill>
                <a:latin typeface="+mn-lt"/>
                <a:ea typeface="+mn-ea"/>
                <a:cs typeface="+mn-cs"/>
              </a:defRPr>
            </a:lvl2pPr>
            <a:lvl3pPr marL="914377" indent="0" algn="ctr" defTabSz="914377" rtl="0" eaLnBrk="1" latinLnBrk="0" hangingPunct="1">
              <a:lnSpc>
                <a:spcPct val="100000"/>
              </a:lnSpc>
              <a:spcBef>
                <a:spcPts val="800"/>
              </a:spcBef>
              <a:spcAft>
                <a:spcPts val="800"/>
              </a:spcAft>
              <a:buClr>
                <a:schemeClr val="tx1"/>
              </a:buClr>
              <a:buSzPct val="85000"/>
              <a:buFont typeface="Wingdings" charset="2"/>
              <a:buNone/>
              <a:defRPr sz="1800" kern="1200">
                <a:solidFill>
                  <a:schemeClr val="tx1"/>
                </a:solidFill>
                <a:latin typeface="+mn-lt"/>
                <a:ea typeface="+mn-ea"/>
                <a:cs typeface="+mn-cs"/>
              </a:defRPr>
            </a:lvl3pPr>
            <a:lvl4pPr marL="1371566" indent="0" algn="ctr" defTabSz="914377" rtl="0" eaLnBrk="1" latinLnBrk="0" hangingPunct="1">
              <a:lnSpc>
                <a:spcPct val="100000"/>
              </a:lnSpc>
              <a:spcBef>
                <a:spcPts val="800"/>
              </a:spcBef>
              <a:spcAft>
                <a:spcPts val="800"/>
              </a:spcAft>
              <a:buClr>
                <a:schemeClr val="tx1"/>
              </a:buClr>
              <a:buSzPct val="85000"/>
              <a:buFont typeface="Wingdings" charset="2"/>
              <a:buNone/>
              <a:defRPr sz="1600" kern="1200">
                <a:solidFill>
                  <a:schemeClr val="tx1"/>
                </a:solidFill>
                <a:latin typeface="+mn-lt"/>
                <a:ea typeface="+mn-ea"/>
                <a:cs typeface="+mn-cs"/>
              </a:defRPr>
            </a:lvl4pPr>
            <a:lvl5pPr marL="1828754" indent="0" algn="ctr" defTabSz="914377" rtl="0" eaLnBrk="1" latinLnBrk="0" hangingPunct="1">
              <a:lnSpc>
                <a:spcPct val="100000"/>
              </a:lnSpc>
              <a:spcBef>
                <a:spcPts val="800"/>
              </a:spcBef>
              <a:spcAft>
                <a:spcPts val="800"/>
              </a:spcAft>
              <a:buClr>
                <a:schemeClr val="tx1"/>
              </a:buClr>
              <a:buSzPct val="85000"/>
              <a:buFont typeface="Wingdings" charset="2"/>
              <a:buNone/>
              <a:defRPr sz="1600" kern="1200">
                <a:solidFill>
                  <a:schemeClr val="tx1"/>
                </a:solidFill>
                <a:latin typeface="+mn-lt"/>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CA" b="1" dirty="0">
                <a:solidFill>
                  <a:srgbClr val="C00000"/>
                </a:solidFill>
              </a:rPr>
              <a:t>These slides are here for your information only at this point in the course.  </a:t>
            </a:r>
          </a:p>
          <a:p>
            <a:pPr algn="ctr"/>
            <a:r>
              <a:rPr lang="en-CA" b="1" dirty="0">
                <a:solidFill>
                  <a:srgbClr val="C00000"/>
                </a:solidFill>
              </a:rPr>
              <a:t>We will look at these ratios in detail in Chapter 10.</a:t>
            </a:r>
            <a:endParaRPr lang="en-US" b="1" dirty="0">
              <a:solidFill>
                <a:srgbClr val="C00000"/>
              </a:solidFill>
            </a:endParaRPr>
          </a:p>
        </p:txBody>
      </p:sp>
    </p:spTree>
    <p:extLst>
      <p:ext uri="{BB962C8B-B14F-4D97-AF65-F5344CB8AC3E}">
        <p14:creationId xmlns:p14="http://schemas.microsoft.com/office/powerpoint/2010/main" val="2075448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Net Working Capital</a:t>
            </a:r>
            <a:endParaRPr lang="en-US" dirty="0"/>
          </a:p>
        </p:txBody>
      </p:sp>
      <p:pic>
        <p:nvPicPr>
          <p:cNvPr id="5" name="Picture 4" descr="Current assets minus current liabilities.">
            <a:extLst>
              <a:ext uri="{FF2B5EF4-FFF2-40B4-BE49-F238E27FC236}">
                <a16:creationId xmlns:a16="http://schemas.microsoft.com/office/drawing/2014/main" id="{C5CD657F-8361-44D1-B1D8-52FE6603B9C2}"/>
              </a:ext>
            </a:extLst>
          </p:cNvPr>
          <p:cNvPicPr>
            <a:picLocks noChangeAspect="1"/>
          </p:cNvPicPr>
          <p:nvPr/>
        </p:nvPicPr>
        <p:blipFill>
          <a:blip r:embed="rId3"/>
          <a:stretch>
            <a:fillRect/>
          </a:stretch>
        </p:blipFill>
        <p:spPr>
          <a:xfrm>
            <a:off x="2407612" y="2590800"/>
            <a:ext cx="4328775" cy="1134533"/>
          </a:xfrm>
          <a:prstGeom prst="rect">
            <a:avLst/>
          </a:prstGeom>
        </p:spPr>
      </p:pic>
      <p:sp>
        <p:nvSpPr>
          <p:cNvPr id="3" name="Rectangle 2"/>
          <p:cNvSpPr/>
          <p:nvPr/>
        </p:nvSpPr>
        <p:spPr>
          <a:xfrm>
            <a:off x="1896973" y="4392929"/>
            <a:ext cx="5350054" cy="523220"/>
          </a:xfrm>
          <a:prstGeom prst="rect">
            <a:avLst/>
          </a:prstGeom>
        </p:spPr>
        <p:txBody>
          <a:bodyPr wrap="none">
            <a:spAutoFit/>
          </a:bodyPr>
          <a:lstStyle/>
          <a:p>
            <a:r>
              <a:rPr lang="en-US" sz="2800" dirty="0">
                <a:solidFill>
                  <a:schemeClr val="tx2">
                    <a:lumMod val="75000"/>
                  </a:schemeClr>
                </a:solidFill>
                <a:latin typeface="Arial" charset="0"/>
                <a:cs typeface="Arial" charset="0"/>
              </a:rPr>
              <a:t>Measures a company’s liquidity </a:t>
            </a:r>
            <a:endParaRPr lang="en-CA" sz="2800" dirty="0"/>
          </a:p>
        </p:txBody>
      </p:sp>
    </p:spTree>
    <p:extLst>
      <p:ext uri="{BB962C8B-B14F-4D97-AF65-F5344CB8AC3E}">
        <p14:creationId xmlns:p14="http://schemas.microsoft.com/office/powerpoint/2010/main" val="3323440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Current Ratio</a:t>
            </a:r>
            <a:endParaRPr lang="en-US" dirty="0"/>
          </a:p>
        </p:txBody>
      </p:sp>
      <p:pic>
        <p:nvPicPr>
          <p:cNvPr id="3" name="Picture 2" descr="Current assets over current liabilities.">
            <a:extLst>
              <a:ext uri="{FF2B5EF4-FFF2-40B4-BE49-F238E27FC236}">
                <a16:creationId xmlns:a16="http://schemas.microsoft.com/office/drawing/2014/main" id="{84663B21-4AE9-43C6-A5E9-CAC43EB95514}"/>
              </a:ext>
            </a:extLst>
          </p:cNvPr>
          <p:cNvPicPr>
            <a:picLocks noChangeAspect="1"/>
          </p:cNvPicPr>
          <p:nvPr/>
        </p:nvPicPr>
        <p:blipFill>
          <a:blip r:embed="rId3"/>
          <a:stretch>
            <a:fillRect/>
          </a:stretch>
        </p:blipFill>
        <p:spPr>
          <a:xfrm>
            <a:off x="3047090" y="2448933"/>
            <a:ext cx="3049819" cy="893333"/>
          </a:xfrm>
          <a:prstGeom prst="rect">
            <a:avLst/>
          </a:prstGeom>
        </p:spPr>
      </p:pic>
      <p:sp>
        <p:nvSpPr>
          <p:cNvPr id="6" name="Content Placeholder 5"/>
          <p:cNvSpPr>
            <a:spLocks noGrp="1"/>
          </p:cNvSpPr>
          <p:nvPr>
            <p:ph idx="13"/>
          </p:nvPr>
        </p:nvSpPr>
        <p:spPr>
          <a:xfrm>
            <a:off x="457200" y="3962401"/>
            <a:ext cx="8229600" cy="1295400"/>
          </a:xfrm>
        </p:spPr>
        <p:txBody>
          <a:bodyPr/>
          <a:lstStyle/>
          <a:p>
            <a:pPr marL="0" indent="0" algn="ctr">
              <a:buNone/>
            </a:pPr>
            <a:r>
              <a:rPr lang="en-US" sz="2800" dirty="0">
                <a:solidFill>
                  <a:schemeClr val="tx2">
                    <a:lumMod val="75000"/>
                  </a:schemeClr>
                </a:solidFill>
                <a:latin typeface="Arial" charset="0"/>
                <a:cs typeface="Arial" charset="0"/>
              </a:rPr>
              <a:t>Measures ability to pay current liabilities</a:t>
            </a:r>
          </a:p>
          <a:p>
            <a:pPr marL="0" indent="0" algn="ctr">
              <a:buNone/>
            </a:pPr>
            <a:r>
              <a:rPr lang="en-US" sz="2800" dirty="0">
                <a:solidFill>
                  <a:schemeClr val="tx2">
                    <a:lumMod val="75000"/>
                  </a:schemeClr>
                </a:solidFill>
                <a:latin typeface="Arial" charset="0"/>
                <a:cs typeface="Arial" charset="0"/>
              </a:rPr>
              <a:t>Strong current ratio = 1.50</a:t>
            </a:r>
            <a:endParaRPr lang="en-US" sz="2800" dirty="0"/>
          </a:p>
        </p:txBody>
      </p:sp>
    </p:spTree>
    <p:extLst>
      <p:ext uri="{BB962C8B-B14F-4D97-AF65-F5344CB8AC3E}">
        <p14:creationId xmlns:p14="http://schemas.microsoft.com/office/powerpoint/2010/main" val="9083013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Debt Ratio</a:t>
            </a:r>
            <a:endParaRPr lang="en-US" dirty="0"/>
          </a:p>
        </p:txBody>
      </p:sp>
      <p:pic>
        <p:nvPicPr>
          <p:cNvPr id="3" name="Picture 2" descr="Total liabilities over Total assets.">
            <a:extLst>
              <a:ext uri="{FF2B5EF4-FFF2-40B4-BE49-F238E27FC236}">
                <a16:creationId xmlns:a16="http://schemas.microsoft.com/office/drawing/2014/main" id="{47563930-253C-435F-A1E6-2D2BC2B3CD4B}"/>
              </a:ext>
            </a:extLst>
          </p:cNvPr>
          <p:cNvPicPr>
            <a:picLocks noChangeAspect="1"/>
          </p:cNvPicPr>
          <p:nvPr/>
        </p:nvPicPr>
        <p:blipFill>
          <a:blip r:embed="rId3"/>
          <a:stretch>
            <a:fillRect/>
          </a:stretch>
        </p:blipFill>
        <p:spPr>
          <a:xfrm>
            <a:off x="3275156" y="2190859"/>
            <a:ext cx="2593688" cy="893333"/>
          </a:xfrm>
          <a:prstGeom prst="rect">
            <a:avLst/>
          </a:prstGeom>
        </p:spPr>
      </p:pic>
      <p:sp>
        <p:nvSpPr>
          <p:cNvPr id="6" name="Content Placeholder 5"/>
          <p:cNvSpPr>
            <a:spLocks noGrp="1"/>
          </p:cNvSpPr>
          <p:nvPr>
            <p:ph idx="13"/>
          </p:nvPr>
        </p:nvSpPr>
        <p:spPr>
          <a:xfrm>
            <a:off x="457200" y="3962401"/>
            <a:ext cx="8229600" cy="1447800"/>
          </a:xfrm>
        </p:spPr>
        <p:txBody>
          <a:bodyPr/>
          <a:lstStyle/>
          <a:p>
            <a:pPr marL="0" indent="0" algn="ctr">
              <a:buNone/>
            </a:pPr>
            <a:r>
              <a:rPr lang="en-US" sz="2800" dirty="0">
                <a:solidFill>
                  <a:srgbClr val="007FA3"/>
                </a:solidFill>
                <a:latin typeface="Arial" charset="0"/>
                <a:cs typeface="Arial" charset="0"/>
              </a:rPr>
              <a:t>Measures ability to pay all liabilities</a:t>
            </a:r>
          </a:p>
          <a:p>
            <a:pPr marL="0" indent="0" algn="ctr">
              <a:buNone/>
            </a:pPr>
            <a:r>
              <a:rPr lang="en-US" sz="2800" dirty="0">
                <a:solidFill>
                  <a:srgbClr val="007FA3"/>
                </a:solidFill>
                <a:latin typeface="Arial" charset="0"/>
                <a:cs typeface="Arial" charset="0"/>
              </a:rPr>
              <a:t>Low debt ratio is safer than high debt ratio</a:t>
            </a:r>
            <a:endParaRPr lang="en-US" sz="2800" dirty="0">
              <a:solidFill>
                <a:srgbClr val="007FA3"/>
              </a:solidFill>
            </a:endParaRPr>
          </a:p>
        </p:txBody>
      </p:sp>
    </p:spTree>
    <p:extLst>
      <p:ext uri="{BB962C8B-B14F-4D97-AF65-F5344CB8AC3E}">
        <p14:creationId xmlns:p14="http://schemas.microsoft.com/office/powerpoint/2010/main" val="6916102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Transaction Effects on Ratios</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Increase revenue and decrease costs</a:t>
            </a:r>
          </a:p>
          <a:p>
            <a:pPr lvl="1"/>
            <a:r>
              <a:rPr lang="en-US" altLang="en-US" dirty="0">
                <a:ea typeface="ＭＳ Ｐゴシック" pitchFamily="34" charset="-128"/>
              </a:rPr>
              <a:t>Results in increase in current assets and net income</a:t>
            </a:r>
          </a:p>
          <a:p>
            <a:r>
              <a:rPr lang="en-US" altLang="en-US" dirty="0">
                <a:ea typeface="ＭＳ Ｐゴシック" pitchFamily="34" charset="-128"/>
              </a:rPr>
              <a:t>Sell shares</a:t>
            </a:r>
          </a:p>
          <a:p>
            <a:pPr lvl="1"/>
            <a:r>
              <a:rPr lang="en-US" altLang="en-US" dirty="0">
                <a:ea typeface="ＭＳ Ｐゴシック" pitchFamily="34" charset="-128"/>
              </a:rPr>
              <a:t>Increases cash and equity</a:t>
            </a:r>
          </a:p>
          <a:p>
            <a:r>
              <a:rPr lang="en-US" altLang="en-US" dirty="0">
                <a:ea typeface="ＭＳ Ｐゴシック" pitchFamily="34" charset="-128"/>
              </a:rPr>
              <a:t>Borrow less money</a:t>
            </a:r>
          </a:p>
          <a:p>
            <a:pPr lvl="1"/>
            <a:r>
              <a:rPr lang="en-US" altLang="en-US" dirty="0">
                <a:ea typeface="ＭＳ Ｐゴシック" pitchFamily="34" charset="-128"/>
              </a:rPr>
              <a:t>Decreases liabilities</a:t>
            </a:r>
            <a:endParaRPr lang="en-US" dirty="0"/>
          </a:p>
        </p:txBody>
      </p:sp>
    </p:spTree>
    <p:extLst>
      <p:ext uri="{BB962C8B-B14F-4D97-AF65-F5344CB8AC3E}">
        <p14:creationId xmlns:p14="http://schemas.microsoft.com/office/powerpoint/2010/main" val="3686214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Learning Objective Seven</a:t>
            </a:r>
          </a:p>
        </p:txBody>
      </p:sp>
      <p:sp>
        <p:nvSpPr>
          <p:cNvPr id="5" name="Subtitle 4"/>
          <p:cNvSpPr>
            <a:spLocks noGrp="1"/>
          </p:cNvSpPr>
          <p:nvPr>
            <p:ph type="subTitle" idx="1"/>
          </p:nvPr>
        </p:nvSpPr>
        <p:spPr/>
        <p:txBody>
          <a:bodyPr>
            <a:normAutofit lnSpcReduction="10000"/>
          </a:bodyPr>
          <a:lstStyle/>
          <a:p>
            <a:r>
              <a:rPr lang="en-CA" b="1" dirty="0"/>
              <a:t>Identify</a:t>
            </a:r>
            <a:r>
              <a:rPr lang="en-CA" dirty="0"/>
              <a:t> patterns and trends using data visualization</a:t>
            </a:r>
            <a:endParaRPr lang="en-US" dirty="0"/>
          </a:p>
        </p:txBody>
      </p:sp>
      <p:sp>
        <p:nvSpPr>
          <p:cNvPr id="2" name="Subtitle 4">
            <a:extLst>
              <a:ext uri="{FF2B5EF4-FFF2-40B4-BE49-F238E27FC236}">
                <a16:creationId xmlns:a16="http://schemas.microsoft.com/office/drawing/2014/main" id="{C7BFDD0D-BE0A-2435-2363-013B18FBF060}"/>
              </a:ext>
            </a:extLst>
          </p:cNvPr>
          <p:cNvSpPr txBox="1">
            <a:spLocks/>
          </p:cNvSpPr>
          <p:nvPr/>
        </p:nvSpPr>
        <p:spPr>
          <a:xfrm>
            <a:off x="339555" y="2799031"/>
            <a:ext cx="7638254" cy="1259937"/>
          </a:xfrm>
          <a:prstGeom prst="rect">
            <a:avLst/>
          </a:prstGeom>
        </p:spPr>
        <p:txBody>
          <a:bodyPr vert="horz" lIns="0" tIns="45720" rIns="91440" bIns="45720" rtlCol="0" anchor="t">
            <a:normAutofit/>
          </a:bodyPr>
          <a:lstStyle>
            <a:lvl1pPr marL="0" indent="0" algn="l" defTabSz="914377" rtl="0" eaLnBrk="1" latinLnBrk="0" hangingPunct="1">
              <a:lnSpc>
                <a:spcPct val="100000"/>
              </a:lnSpc>
              <a:spcBef>
                <a:spcPts val="800"/>
              </a:spcBef>
              <a:spcAft>
                <a:spcPts val="800"/>
              </a:spcAft>
              <a:buClr>
                <a:schemeClr val="tx1"/>
              </a:buClr>
              <a:buSzPct val="85000"/>
              <a:buFont typeface="Wingdings" charset="2"/>
              <a:buNone/>
              <a:defRPr sz="2000" b="0" kern="1200">
                <a:solidFill>
                  <a:schemeClr val="tx1">
                    <a:lumMod val="50000"/>
                    <a:lumOff val="50000"/>
                  </a:schemeClr>
                </a:solidFill>
                <a:latin typeface="+mn-lt"/>
                <a:ea typeface="+mn-ea"/>
                <a:cs typeface="+mn-cs"/>
              </a:defRPr>
            </a:lvl1pPr>
            <a:lvl2pPr marL="457189" indent="0" algn="ctr" defTabSz="914377" rtl="0" eaLnBrk="1" latinLnBrk="0" hangingPunct="1">
              <a:lnSpc>
                <a:spcPct val="100000"/>
              </a:lnSpc>
              <a:spcBef>
                <a:spcPts val="800"/>
              </a:spcBef>
              <a:spcAft>
                <a:spcPts val="800"/>
              </a:spcAft>
              <a:buClr>
                <a:schemeClr val="tx1"/>
              </a:buClr>
              <a:buSzPct val="85000"/>
              <a:buFont typeface="Wingdings" charset="2"/>
              <a:buNone/>
              <a:defRPr sz="2000" kern="1200">
                <a:solidFill>
                  <a:schemeClr val="tx1"/>
                </a:solidFill>
                <a:latin typeface="+mn-lt"/>
                <a:ea typeface="+mn-ea"/>
                <a:cs typeface="+mn-cs"/>
              </a:defRPr>
            </a:lvl2pPr>
            <a:lvl3pPr marL="914377" indent="0" algn="ctr" defTabSz="914377" rtl="0" eaLnBrk="1" latinLnBrk="0" hangingPunct="1">
              <a:lnSpc>
                <a:spcPct val="100000"/>
              </a:lnSpc>
              <a:spcBef>
                <a:spcPts val="800"/>
              </a:spcBef>
              <a:spcAft>
                <a:spcPts val="800"/>
              </a:spcAft>
              <a:buClr>
                <a:schemeClr val="tx1"/>
              </a:buClr>
              <a:buSzPct val="85000"/>
              <a:buFont typeface="Wingdings" charset="2"/>
              <a:buNone/>
              <a:defRPr sz="1800" kern="1200">
                <a:solidFill>
                  <a:schemeClr val="tx1"/>
                </a:solidFill>
                <a:latin typeface="+mn-lt"/>
                <a:ea typeface="+mn-ea"/>
                <a:cs typeface="+mn-cs"/>
              </a:defRPr>
            </a:lvl3pPr>
            <a:lvl4pPr marL="1371566" indent="0" algn="ctr" defTabSz="914377" rtl="0" eaLnBrk="1" latinLnBrk="0" hangingPunct="1">
              <a:lnSpc>
                <a:spcPct val="100000"/>
              </a:lnSpc>
              <a:spcBef>
                <a:spcPts val="800"/>
              </a:spcBef>
              <a:spcAft>
                <a:spcPts val="800"/>
              </a:spcAft>
              <a:buClr>
                <a:schemeClr val="tx1"/>
              </a:buClr>
              <a:buSzPct val="85000"/>
              <a:buFont typeface="Wingdings" charset="2"/>
              <a:buNone/>
              <a:defRPr sz="1600" kern="1200">
                <a:solidFill>
                  <a:schemeClr val="tx1"/>
                </a:solidFill>
                <a:latin typeface="+mn-lt"/>
                <a:ea typeface="+mn-ea"/>
                <a:cs typeface="+mn-cs"/>
              </a:defRPr>
            </a:lvl4pPr>
            <a:lvl5pPr marL="1828754" indent="0" algn="ctr" defTabSz="914377" rtl="0" eaLnBrk="1" latinLnBrk="0" hangingPunct="1">
              <a:lnSpc>
                <a:spcPct val="100000"/>
              </a:lnSpc>
              <a:spcBef>
                <a:spcPts val="800"/>
              </a:spcBef>
              <a:spcAft>
                <a:spcPts val="800"/>
              </a:spcAft>
              <a:buClr>
                <a:schemeClr val="tx1"/>
              </a:buClr>
              <a:buSzPct val="85000"/>
              <a:buFont typeface="Wingdings" charset="2"/>
              <a:buNone/>
              <a:defRPr sz="1600" kern="1200">
                <a:solidFill>
                  <a:schemeClr val="tx1"/>
                </a:solidFill>
                <a:latin typeface="+mn-lt"/>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CA" b="1" dirty="0">
                <a:solidFill>
                  <a:srgbClr val="C00000"/>
                </a:solidFill>
              </a:rPr>
              <a:t>These slides are here for your information only at this point in the course.  </a:t>
            </a:r>
          </a:p>
          <a:p>
            <a:pPr algn="ctr"/>
            <a:r>
              <a:rPr lang="en-CA" b="1" dirty="0">
                <a:solidFill>
                  <a:srgbClr val="C00000"/>
                </a:solidFill>
              </a:rPr>
              <a:t>We will look at these ratios in detail in Chapter 10.</a:t>
            </a:r>
            <a:endParaRPr lang="en-US" b="1" dirty="0">
              <a:solidFill>
                <a:srgbClr val="C00000"/>
              </a:solidFill>
            </a:endParaRPr>
          </a:p>
        </p:txBody>
      </p:sp>
    </p:spTree>
    <p:extLst>
      <p:ext uri="{BB962C8B-B14F-4D97-AF65-F5344CB8AC3E}">
        <p14:creationId xmlns:p14="http://schemas.microsoft.com/office/powerpoint/2010/main" val="3124546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a:t>Data Visualization Makes It Easier to Spot Patterns and Trends </a:t>
            </a:r>
            <a:r>
              <a:rPr lang="en-US" altLang="en-US" sz="2000" b="0" dirty="0"/>
              <a:t>(1 of 5)</a:t>
            </a:r>
            <a:endParaRPr lang="en-CA" sz="2000" dirty="0"/>
          </a:p>
        </p:txBody>
      </p:sp>
      <p:sp>
        <p:nvSpPr>
          <p:cNvPr id="3" name="Content Placeholder 2"/>
          <p:cNvSpPr>
            <a:spLocks noGrp="1"/>
          </p:cNvSpPr>
          <p:nvPr>
            <p:ph idx="1"/>
          </p:nvPr>
        </p:nvSpPr>
        <p:spPr/>
        <p:txBody>
          <a:bodyPr/>
          <a:lstStyle/>
          <a:p>
            <a:pPr marL="0" indent="0">
              <a:buNone/>
            </a:pPr>
            <a:r>
              <a:rPr lang="en-CA" dirty="0"/>
              <a:t>As of the 20X5 fiscal year-end, the current ratios for companies in the hospitality industry are: </a:t>
            </a:r>
          </a:p>
          <a:p>
            <a:r>
              <a:rPr lang="en-CA" dirty="0"/>
              <a:t>Premium Hotels International, Inc.: 0.73 </a:t>
            </a:r>
          </a:p>
          <a:p>
            <a:r>
              <a:rPr lang="en-CA" dirty="0"/>
              <a:t>Khan Worldwide Holdings Inc.: 0.73 </a:t>
            </a:r>
          </a:p>
          <a:p>
            <a:r>
              <a:rPr lang="en-CA" dirty="0"/>
              <a:t>Fulton Hotels Corporation: 1.57 </a:t>
            </a:r>
          </a:p>
          <a:p>
            <a:r>
              <a:rPr lang="en-CA"/>
              <a:t>Harriett </a:t>
            </a:r>
            <a:r>
              <a:rPr lang="en-CA" dirty="0"/>
              <a:t>International, Inc.: 0.4</a:t>
            </a:r>
          </a:p>
        </p:txBody>
      </p:sp>
    </p:spTree>
    <p:extLst>
      <p:ext uri="{BB962C8B-B14F-4D97-AF65-F5344CB8AC3E}">
        <p14:creationId xmlns:p14="http://schemas.microsoft.com/office/powerpoint/2010/main" val="3409089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a:t>Data Visualization Makes It Easier to Spot Patterns and Trends </a:t>
            </a:r>
            <a:r>
              <a:rPr lang="en-US" altLang="en-US" sz="2000" b="0" dirty="0"/>
              <a:t>(2 of 5)</a:t>
            </a:r>
            <a:endParaRPr lang="en-CA" sz="2000" dirty="0"/>
          </a:p>
        </p:txBody>
      </p:sp>
      <p:sp>
        <p:nvSpPr>
          <p:cNvPr id="3" name="Content Placeholder 2"/>
          <p:cNvSpPr>
            <a:spLocks noGrp="1"/>
          </p:cNvSpPr>
          <p:nvPr>
            <p:ph idx="1"/>
          </p:nvPr>
        </p:nvSpPr>
        <p:spPr>
          <a:xfrm>
            <a:off x="457200" y="1646237"/>
            <a:ext cx="8229600" cy="4525963"/>
          </a:xfrm>
        </p:spPr>
        <p:txBody>
          <a:bodyPr/>
          <a:lstStyle/>
          <a:p>
            <a:pPr marL="0" indent="0">
              <a:buNone/>
            </a:pPr>
            <a:r>
              <a:rPr lang="en-CA" dirty="0"/>
              <a:t>We can see that Fulton’s current ratio is the highest of the four companies. While we can scan those ratios to find the highest, we can also prepare a bar chart (or column chart) to compare the data.</a:t>
            </a:r>
          </a:p>
        </p:txBody>
      </p:sp>
    </p:spTree>
    <p:extLst>
      <p:ext uri="{BB962C8B-B14F-4D97-AF65-F5344CB8AC3E}">
        <p14:creationId xmlns:p14="http://schemas.microsoft.com/office/powerpoint/2010/main" val="1476723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a:t>Data Visualization Makes It Easier to Spot Patterns and Trends </a:t>
            </a:r>
            <a:r>
              <a:rPr lang="en-US" altLang="en-US" sz="2000" b="0" dirty="0"/>
              <a:t>(3 of 5)</a:t>
            </a:r>
            <a:endParaRPr lang="en-CA" dirty="0"/>
          </a:p>
        </p:txBody>
      </p:sp>
      <p:sp>
        <p:nvSpPr>
          <p:cNvPr id="3" name="Content Placeholder 2"/>
          <p:cNvSpPr>
            <a:spLocks noGrp="1"/>
          </p:cNvSpPr>
          <p:nvPr>
            <p:ph idx="1"/>
          </p:nvPr>
        </p:nvSpPr>
        <p:spPr>
          <a:xfrm>
            <a:off x="457200" y="1600201"/>
            <a:ext cx="8229600" cy="1219200"/>
          </a:xfrm>
        </p:spPr>
        <p:txBody>
          <a:bodyPr>
            <a:normAutofit lnSpcReduction="10000"/>
          </a:bodyPr>
          <a:lstStyle/>
          <a:p>
            <a:pPr marL="0" indent="0">
              <a:buNone/>
            </a:pPr>
            <a:r>
              <a:rPr lang="en-CA" dirty="0"/>
              <a:t>On the bar chart, Fulton’s current ratio easily stands out as the highest of the group, with a value more than double the next highest.</a:t>
            </a:r>
          </a:p>
          <a:p>
            <a:pPr marL="0" indent="0">
              <a:buNone/>
            </a:pPr>
            <a:endParaRPr lang="en-CA" dirty="0"/>
          </a:p>
        </p:txBody>
      </p:sp>
      <p:pic>
        <p:nvPicPr>
          <p:cNvPr id="6" name="Picture 5" descr="A vertical bar chart titled, current ratios as of fiscal 20 X 5 year end.">
            <a:extLst>
              <a:ext uri="{FF2B5EF4-FFF2-40B4-BE49-F238E27FC236}">
                <a16:creationId xmlns:a16="http://schemas.microsoft.com/office/drawing/2014/main" id="{139C709B-8F3B-41C3-52A4-5B626949E5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6450" y="3074064"/>
            <a:ext cx="4991100" cy="3144393"/>
          </a:xfrm>
          <a:prstGeom prst="rect">
            <a:avLst/>
          </a:prstGeom>
        </p:spPr>
      </p:pic>
    </p:spTree>
    <p:extLst>
      <p:ext uri="{BB962C8B-B14F-4D97-AF65-F5344CB8AC3E}">
        <p14:creationId xmlns:p14="http://schemas.microsoft.com/office/powerpoint/2010/main" val="2698401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a:t>Data Visualization Makes It Easier to Spot Patterns and Trends </a:t>
            </a:r>
            <a:r>
              <a:rPr lang="en-US" altLang="en-US" sz="2000" b="0" dirty="0"/>
              <a:t>(4 of 5)</a:t>
            </a:r>
            <a:endParaRPr lang="en-CA" dirty="0"/>
          </a:p>
        </p:txBody>
      </p:sp>
      <p:sp>
        <p:nvSpPr>
          <p:cNvPr id="3" name="Content Placeholder 2"/>
          <p:cNvSpPr>
            <a:spLocks noGrp="1"/>
          </p:cNvSpPr>
          <p:nvPr>
            <p:ph idx="1"/>
          </p:nvPr>
        </p:nvSpPr>
        <p:spPr>
          <a:xfrm>
            <a:off x="457200" y="1600201"/>
            <a:ext cx="8229600" cy="1219199"/>
          </a:xfrm>
        </p:spPr>
        <p:txBody>
          <a:bodyPr/>
          <a:lstStyle/>
          <a:p>
            <a:pPr marL="0" indent="0">
              <a:buNone/>
            </a:pPr>
            <a:r>
              <a:rPr lang="en-CA" sz="2400" dirty="0"/>
              <a:t>Line charts make trends or patterns more easily recognizable than rows or columns of numbers. Here is a line chart of Fulton’s current ratios for the past five years:</a:t>
            </a:r>
          </a:p>
        </p:txBody>
      </p:sp>
      <p:pic>
        <p:nvPicPr>
          <p:cNvPr id="8" name="Picture 7" descr="A line chart titled, Fulton Hotels Corporation Current Ratio depicts the data as follows. 20 X 1, 1.02. 20 X 2, 1.23. 20 X 3, 1.34. 20 X 4, 1.27. 20 X 5, 1.57.">
            <a:extLst>
              <a:ext uri="{FF2B5EF4-FFF2-40B4-BE49-F238E27FC236}">
                <a16:creationId xmlns:a16="http://schemas.microsoft.com/office/drawing/2014/main" id="{0D4D2381-81C5-1104-0120-D69E7EC662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0300" y="2872941"/>
            <a:ext cx="4343400" cy="2553920"/>
          </a:xfrm>
          <a:prstGeom prst="rect">
            <a:avLst/>
          </a:prstGeom>
        </p:spPr>
      </p:pic>
      <p:sp>
        <p:nvSpPr>
          <p:cNvPr id="6" name="TextBox 5">
            <a:extLst>
              <a:ext uri="{FF2B5EF4-FFF2-40B4-BE49-F238E27FC236}">
                <a16:creationId xmlns:a16="http://schemas.microsoft.com/office/drawing/2014/main" id="{FFCB48D2-02E7-C317-1AC0-284C9E2030EF}"/>
              </a:ext>
            </a:extLst>
          </p:cNvPr>
          <p:cNvSpPr txBox="1"/>
          <p:nvPr/>
        </p:nvSpPr>
        <p:spPr>
          <a:xfrm>
            <a:off x="457200" y="5480402"/>
            <a:ext cx="8229600" cy="830997"/>
          </a:xfrm>
          <a:prstGeom prst="rect">
            <a:avLst/>
          </a:prstGeom>
          <a:noFill/>
        </p:spPr>
        <p:txBody>
          <a:bodyPr wrap="square">
            <a:spAutoFit/>
          </a:bodyPr>
          <a:lstStyle/>
          <a:p>
            <a:r>
              <a:rPr lang="en-CA" sz="2400" dirty="0"/>
              <a:t>We can see that Fulton’s current ratio has been trending up over the past five years, with a slight dip down in 20X4.</a:t>
            </a:r>
            <a:endParaRPr lang="en-IN" sz="2400" dirty="0"/>
          </a:p>
        </p:txBody>
      </p:sp>
    </p:spTree>
    <p:extLst>
      <p:ext uri="{BB962C8B-B14F-4D97-AF65-F5344CB8AC3E}">
        <p14:creationId xmlns:p14="http://schemas.microsoft.com/office/powerpoint/2010/main" val="738627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a:t>Data Visualization Makes It Easier to Spot Patterns and Trends </a:t>
            </a:r>
            <a:r>
              <a:rPr lang="en-US" altLang="en-US" sz="2000" b="0" dirty="0"/>
              <a:t>(5 of 5)</a:t>
            </a:r>
            <a:endParaRPr lang="en-CA" dirty="0"/>
          </a:p>
        </p:txBody>
      </p:sp>
      <p:sp>
        <p:nvSpPr>
          <p:cNvPr id="3" name="Content Placeholder 2"/>
          <p:cNvSpPr>
            <a:spLocks noGrp="1"/>
          </p:cNvSpPr>
          <p:nvPr>
            <p:ph idx="1"/>
          </p:nvPr>
        </p:nvSpPr>
        <p:spPr>
          <a:xfrm>
            <a:off x="457200" y="1600201"/>
            <a:ext cx="8229600" cy="762000"/>
          </a:xfrm>
        </p:spPr>
        <p:txBody>
          <a:bodyPr>
            <a:normAutofit fontScale="92500"/>
          </a:bodyPr>
          <a:lstStyle/>
          <a:p>
            <a:pPr marL="0" indent="0">
              <a:buNone/>
            </a:pPr>
            <a:r>
              <a:rPr lang="en-CA" sz="2400" dirty="0"/>
              <a:t>Line charts are also a good way of seeing trends over time for more than one company, allowing for easier comparison.</a:t>
            </a:r>
          </a:p>
        </p:txBody>
      </p:sp>
      <p:pic>
        <p:nvPicPr>
          <p:cNvPr id="8" name="Picture 7" descr="A line chart lists the data for current ratios, for 20 X 1 to 20 X 5.">
            <a:extLst>
              <a:ext uri="{FF2B5EF4-FFF2-40B4-BE49-F238E27FC236}">
                <a16:creationId xmlns:a16="http://schemas.microsoft.com/office/drawing/2014/main" id="{FC8D1ED6-8ADF-B27E-9EEF-AA07804029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6500" y="2567068"/>
            <a:ext cx="4191000" cy="2610993"/>
          </a:xfrm>
          <a:prstGeom prst="rect">
            <a:avLst/>
          </a:prstGeom>
        </p:spPr>
      </p:pic>
      <p:sp>
        <p:nvSpPr>
          <p:cNvPr id="6" name="TextBox 5">
            <a:extLst>
              <a:ext uri="{FF2B5EF4-FFF2-40B4-BE49-F238E27FC236}">
                <a16:creationId xmlns:a16="http://schemas.microsoft.com/office/drawing/2014/main" id="{92D1E4DA-B14B-318E-AA84-B8224E0F4013}"/>
              </a:ext>
            </a:extLst>
          </p:cNvPr>
          <p:cNvSpPr txBox="1"/>
          <p:nvPr/>
        </p:nvSpPr>
        <p:spPr>
          <a:xfrm>
            <a:off x="457200" y="5410200"/>
            <a:ext cx="8229600" cy="830997"/>
          </a:xfrm>
          <a:prstGeom prst="rect">
            <a:avLst/>
          </a:prstGeom>
          <a:noFill/>
        </p:spPr>
        <p:txBody>
          <a:bodyPr wrap="square">
            <a:spAutoFit/>
          </a:bodyPr>
          <a:lstStyle/>
          <a:p>
            <a:r>
              <a:rPr lang="en-CA" sz="2400" dirty="0"/>
              <a:t>Fulton’s liquidity is by far the best of the group, both at the end of 20X5 and over the preceding five years.</a:t>
            </a:r>
            <a:endParaRPr lang="en-IN" sz="2400" dirty="0"/>
          </a:p>
        </p:txBody>
      </p:sp>
    </p:spTree>
    <p:extLst>
      <p:ext uri="{BB962C8B-B14F-4D97-AF65-F5344CB8AC3E}">
        <p14:creationId xmlns:p14="http://schemas.microsoft.com/office/powerpoint/2010/main" val="810635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pPr algn="ctr"/>
            <a:r>
              <a:rPr lang="en-US" dirty="0"/>
              <a:t>End of Chapter Three</a:t>
            </a:r>
          </a:p>
        </p:txBody>
      </p:sp>
    </p:spTree>
    <p:extLst>
      <p:ext uri="{BB962C8B-B14F-4D97-AF65-F5344CB8AC3E}">
        <p14:creationId xmlns:p14="http://schemas.microsoft.com/office/powerpoint/2010/main" val="2135570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ofWaterloo_WhiteBkgrd">
  <a:themeElements>
    <a:clrScheme name="Waterloo2016">
      <a:dk1>
        <a:sysClr val="windowText" lastClr="000000"/>
      </a:dk1>
      <a:lt1>
        <a:sysClr val="window" lastClr="FFFFFF"/>
      </a:lt1>
      <a:dk2>
        <a:srgbClr val="757575"/>
      </a:dk2>
      <a:lt2>
        <a:srgbClr val="D6D6D6"/>
      </a:lt2>
      <a:accent1>
        <a:srgbClr val="FFD54F"/>
      </a:accent1>
      <a:accent2>
        <a:srgbClr val="0C0C0C"/>
      </a:accent2>
      <a:accent3>
        <a:srgbClr val="AEAEAE"/>
      </a:accent3>
      <a:accent4>
        <a:srgbClr val="B71233"/>
      </a:accent4>
      <a:accent5>
        <a:srgbClr val="7F7F7F"/>
      </a:accent5>
      <a:accent6>
        <a:srgbClr val="0073CE"/>
      </a:accent6>
      <a:hlink>
        <a:srgbClr val="353535"/>
      </a:hlink>
      <a:folHlink>
        <a:srgbClr val="595959"/>
      </a:folHlink>
    </a:clrScheme>
    <a:fontScheme name="Impact + Georgia">
      <a:majorFont>
        <a:latin typeface="Impact"/>
        <a:ea typeface=""/>
        <a:cs typeface=""/>
      </a:majorFont>
      <a:minorFont>
        <a:latin typeface="Georg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F Branded PP template" id="{79A68145-D4B9-4631-BEF4-7B0E61A80215}" vid="{A743BFCA-C575-4814-BD09-89D271A30E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3AE4299700E724EB4A3A9F30476384C" ma:contentTypeVersion="12" ma:contentTypeDescription="Create a new document." ma:contentTypeScope="" ma:versionID="65e170e0dbbae92946b14002ab1c17d9">
  <xsd:schema xmlns:xsd="http://www.w3.org/2001/XMLSchema" xmlns:xs="http://www.w3.org/2001/XMLSchema" xmlns:p="http://schemas.microsoft.com/office/2006/metadata/properties" xmlns:ns2="9a5288b5-dab3-4678-90e6-28176b4bed68" xmlns:ns3="baf01252-53fa-40dd-aec5-420f8d6c2b25" targetNamespace="http://schemas.microsoft.com/office/2006/metadata/properties" ma:root="true" ma:fieldsID="b84896b0ee1e3d4f230a2605d71c901a" ns2:_="" ns3:_="">
    <xsd:import namespace="9a5288b5-dab3-4678-90e6-28176b4bed68"/>
    <xsd:import namespace="baf01252-53fa-40dd-aec5-420f8d6c2b2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5288b5-dab3-4678-90e6-28176b4bed6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af01252-53fa-40dd-aec5-420f8d6c2b2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4D800B5-A7C7-4A38-A875-53B18BAC9D5C}">
  <ds:schemaRefs>
    <ds:schemaRef ds:uri="http://schemas.microsoft.com/office/2006/metadata/properties"/>
    <ds:schemaRef ds:uri="9a5288b5-dab3-4678-90e6-28176b4bed68"/>
    <ds:schemaRef ds:uri="http://purl.org/dc/elements/1.1/"/>
    <ds:schemaRef ds:uri="http://schemas.openxmlformats.org/package/2006/metadata/core-properties"/>
    <ds:schemaRef ds:uri="http://schemas.microsoft.com/office/2006/documentManagement/types"/>
    <ds:schemaRef ds:uri="http://purl.org/dc/dcmitype/"/>
    <ds:schemaRef ds:uri="http://purl.org/dc/terms/"/>
    <ds:schemaRef ds:uri="http://schemas.microsoft.com/office/infopath/2007/PartnerControls"/>
    <ds:schemaRef ds:uri="baf01252-53fa-40dd-aec5-420f8d6c2b25"/>
    <ds:schemaRef ds:uri="http://www.w3.org/XML/1998/namespace"/>
  </ds:schemaRefs>
</ds:datastoreItem>
</file>

<file path=customXml/itemProps2.xml><?xml version="1.0" encoding="utf-8"?>
<ds:datastoreItem xmlns:ds="http://schemas.openxmlformats.org/officeDocument/2006/customXml" ds:itemID="{FC53BC54-77E2-46DB-97BE-8E2381514324}">
  <ds:schemaRefs>
    <ds:schemaRef ds:uri="http://schemas.microsoft.com/sharepoint/v3/contenttype/forms"/>
  </ds:schemaRefs>
</ds:datastoreItem>
</file>

<file path=customXml/itemProps3.xml><?xml version="1.0" encoding="utf-8"?>
<ds:datastoreItem xmlns:ds="http://schemas.openxmlformats.org/officeDocument/2006/customXml" ds:itemID="{347C08A3-8C0C-4780-AE19-8EFD012A61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a5288b5-dab3-4678-90e6-28176b4bed68"/>
    <ds:schemaRef ds:uri="baf01252-53fa-40dd-aec5-420f8d6c2b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a9ee03e0-b78c-4998-8bf4-79b266b85105}" enabled="1" method="Standard" siteId="{723a5a87-f39a-4a22-9247-3fc240c01396}" removed="0"/>
</clbl:labelList>
</file>

<file path=docProps/app.xml><?xml version="1.0" encoding="utf-8"?>
<Properties xmlns="http://schemas.openxmlformats.org/officeDocument/2006/extended-properties" xmlns:vt="http://schemas.openxmlformats.org/officeDocument/2006/docPropsVTypes">
  <Template>SAF Branded PP template</Template>
  <TotalTime>6122</TotalTime>
  <Words>8136</Words>
  <Application>Microsoft Macintosh PowerPoint</Application>
  <PresentationFormat>On-screen Show (4:3)</PresentationFormat>
  <Paragraphs>874</Paragraphs>
  <Slides>76</Slides>
  <Notes>69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76</vt:i4>
      </vt:variant>
    </vt:vector>
  </HeadingPairs>
  <TitlesOfParts>
    <vt:vector size="86" baseType="lpstr">
      <vt:lpstr>ＭＳ Ｐゴシック</vt:lpstr>
      <vt:lpstr>Arial</vt:lpstr>
      <vt:lpstr>Calibri</vt:lpstr>
      <vt:lpstr>Georgia</vt:lpstr>
      <vt:lpstr>Impact</vt:lpstr>
      <vt:lpstr>Lucida Sans Unicode</vt:lpstr>
      <vt:lpstr>Verdana</vt:lpstr>
      <vt:lpstr>Wingdings</vt:lpstr>
      <vt:lpstr>Wingdings 3</vt:lpstr>
      <vt:lpstr>UofWaterloo_WhiteBkgrd</vt:lpstr>
      <vt:lpstr>Chapter 3 Accrual Accounting and the Financial Statements</vt:lpstr>
      <vt:lpstr>PowerPoint Presentation</vt:lpstr>
      <vt:lpstr>Accounting Cycle – Timeline</vt:lpstr>
      <vt:lpstr>Learning Objective One</vt:lpstr>
      <vt:lpstr>Accrual vs. Cash-Basis Accounting</vt:lpstr>
      <vt:lpstr>Accrual Accounting</vt:lpstr>
      <vt:lpstr>Accrual vs. Cash-basis Accounting – Example 1</vt:lpstr>
      <vt:lpstr>Accrual vs. Cash-basis Accounting – Example 2</vt:lpstr>
      <vt:lpstr>Exercise 3-13 (page 161)</vt:lpstr>
      <vt:lpstr>Learning Objective Two</vt:lpstr>
      <vt:lpstr>Accrual Accounting – Two Principles</vt:lpstr>
      <vt:lpstr>PowerPoint Presentation</vt:lpstr>
      <vt:lpstr>Revenue Definition based on accounting equation</vt:lpstr>
      <vt:lpstr>Revenue Recognition Principle – 3 Conditions</vt:lpstr>
      <vt:lpstr>Revenue Recognition Principle – Example 1</vt:lpstr>
      <vt:lpstr>Revenue Recognition Principle – Example 2</vt:lpstr>
      <vt:lpstr>Expenses Definition</vt:lpstr>
      <vt:lpstr>The Matching Principle</vt:lpstr>
      <vt:lpstr>Expense Recognition Conditions</vt:lpstr>
      <vt:lpstr>Matching Principle – Example 1</vt:lpstr>
      <vt:lpstr>Matching Principle – Example 2</vt:lpstr>
      <vt:lpstr>Exercise 3-15 (page 161)</vt:lpstr>
      <vt:lpstr>Learning Objective Three</vt:lpstr>
      <vt:lpstr>Adjusting the Accounts</vt:lpstr>
      <vt:lpstr>Categories of Adjustments</vt:lpstr>
      <vt:lpstr>Deferrals</vt:lpstr>
      <vt:lpstr>Prepaid Expenses (1 of 2)</vt:lpstr>
      <vt:lpstr>Prepaid Expenses (2 of 2)</vt:lpstr>
      <vt:lpstr>Prepaid Rent</vt:lpstr>
      <vt:lpstr>Supplies</vt:lpstr>
      <vt:lpstr>Unearned Revenue (1 of 2)</vt:lpstr>
      <vt:lpstr>Unearned Revenue (2 of 2)</vt:lpstr>
      <vt:lpstr>Depreciation (1 of 3)</vt:lpstr>
      <vt:lpstr>Depreciation (2 of 3)</vt:lpstr>
      <vt:lpstr>Depreciation (3 of 3)</vt:lpstr>
      <vt:lpstr>Accumulated Depreciation</vt:lpstr>
      <vt:lpstr>Carrying Amount</vt:lpstr>
      <vt:lpstr>Accruals</vt:lpstr>
      <vt:lpstr>Accrued Expenses</vt:lpstr>
      <vt:lpstr>Accrued Salaries (1 of 3)</vt:lpstr>
      <vt:lpstr>Accrued Salaries (2 of 3)</vt:lpstr>
      <vt:lpstr>Accrued Salaries (3 of 3)</vt:lpstr>
      <vt:lpstr>Accrued Revenue</vt:lpstr>
      <vt:lpstr>Prepaids and Accruals</vt:lpstr>
      <vt:lpstr>Summary of the Adjusting Process</vt:lpstr>
      <vt:lpstr>Summary of Adjusting Entries</vt:lpstr>
      <vt:lpstr>Exercise 3-20 (page 162)</vt:lpstr>
      <vt:lpstr>Exercise 3-20 (cont’d)</vt:lpstr>
      <vt:lpstr>The Adjusted Trial Balance</vt:lpstr>
      <vt:lpstr>Learning Objective Four</vt:lpstr>
      <vt:lpstr>The Financial Statements</vt:lpstr>
      <vt:lpstr>Flow of Data in Financial Statements</vt:lpstr>
      <vt:lpstr>Flow of Data in Financial Statements (1 of 2)</vt:lpstr>
      <vt:lpstr>Flow of Data in Financial Statements (2 of 2)</vt:lpstr>
      <vt:lpstr>Balance Sheet Formats</vt:lpstr>
      <vt:lpstr>Classifying Assets and Liabilities (1 of 2)</vt:lpstr>
      <vt:lpstr>Classifying Assets and Liabilities (2 of 2)</vt:lpstr>
      <vt:lpstr>Classified Balance Sheet</vt:lpstr>
      <vt:lpstr>Income Statement Formats</vt:lpstr>
      <vt:lpstr>Learning Objective Five</vt:lpstr>
      <vt:lpstr>Closing Entries (1 of 2)</vt:lpstr>
      <vt:lpstr>Closing Entries (2 of 2)</vt:lpstr>
      <vt:lpstr>Closing Journal Entries</vt:lpstr>
      <vt:lpstr>Exercise 3-26 (page 164)</vt:lpstr>
      <vt:lpstr>Learning Objective Six</vt:lpstr>
      <vt:lpstr>Net Working Capital</vt:lpstr>
      <vt:lpstr>Current Ratio</vt:lpstr>
      <vt:lpstr>Debt Ratio</vt:lpstr>
      <vt:lpstr>Transaction Effects on Ratios</vt:lpstr>
      <vt:lpstr>Learning Objective Seven</vt:lpstr>
      <vt:lpstr>Data Visualization Makes It Easier to Spot Patterns and Trends (1 of 5)</vt:lpstr>
      <vt:lpstr>Data Visualization Makes It Easier to Spot Patterns and Trends (2 of 5)</vt:lpstr>
      <vt:lpstr>Data Visualization Makes It Easier to Spot Patterns and Trends (3 of 5)</vt:lpstr>
      <vt:lpstr>Data Visualization Makes It Easier to Spot Patterns and Trends (4 of 5)</vt:lpstr>
      <vt:lpstr>Data Visualization Makes It Easier to Spot Patterns and Trends (5 of 5)</vt:lpstr>
      <vt:lpstr>End of Chapter Three</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AFM 111 – Professional Pathways and Problem Solving</dc:title>
  <dc:creator>Tracy Hilpert</dc:creator>
  <cp:lastModifiedBy>Lynn Carty</cp:lastModifiedBy>
  <cp:revision>16</cp:revision>
  <dcterms:created xsi:type="dcterms:W3CDTF">2020-07-10T19:47:04Z</dcterms:created>
  <dcterms:modified xsi:type="dcterms:W3CDTF">2025-09-11T20:13:16Z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0x010100F3AE4299700E724EB4A3A9F30476384C</vt:lpwstr>
  </property>
</Properties>
</file>