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63"/>
  </p:notesMasterIdLst>
  <p:sldIdLst>
    <p:sldId id="256" r:id="rId5"/>
    <p:sldId id="379" r:id="rId6"/>
    <p:sldId id="267" r:id="rId7"/>
    <p:sldId id="268" r:id="rId8"/>
    <p:sldId id="269" r:id="rId9"/>
    <p:sldId id="380" r:id="rId10"/>
    <p:sldId id="318" r:id="rId11"/>
    <p:sldId id="272" r:id="rId12"/>
    <p:sldId id="273" r:id="rId13"/>
    <p:sldId id="274" r:id="rId14"/>
    <p:sldId id="275" r:id="rId15"/>
    <p:sldId id="319" r:id="rId16"/>
    <p:sldId id="277" r:id="rId17"/>
    <p:sldId id="278" r:id="rId18"/>
    <p:sldId id="279" r:id="rId19"/>
    <p:sldId id="333" r:id="rId20"/>
    <p:sldId id="280" r:id="rId21"/>
    <p:sldId id="281" r:id="rId22"/>
    <p:sldId id="282" r:id="rId23"/>
    <p:sldId id="334" r:id="rId24"/>
    <p:sldId id="335" r:id="rId25"/>
    <p:sldId id="388" r:id="rId26"/>
    <p:sldId id="389" r:id="rId27"/>
    <p:sldId id="285" r:id="rId28"/>
    <p:sldId id="286" r:id="rId29"/>
    <p:sldId id="287" r:id="rId30"/>
    <p:sldId id="320" r:id="rId31"/>
    <p:sldId id="288" r:id="rId32"/>
    <p:sldId id="289" r:id="rId33"/>
    <p:sldId id="321" r:id="rId34"/>
    <p:sldId id="322" r:id="rId35"/>
    <p:sldId id="290" r:id="rId36"/>
    <p:sldId id="291" r:id="rId37"/>
    <p:sldId id="331" r:id="rId38"/>
    <p:sldId id="293" r:id="rId39"/>
    <p:sldId id="324" r:id="rId40"/>
    <p:sldId id="295" r:id="rId41"/>
    <p:sldId id="296" r:id="rId42"/>
    <p:sldId id="323" r:id="rId43"/>
    <p:sldId id="336" r:id="rId44"/>
    <p:sldId id="299" r:id="rId45"/>
    <p:sldId id="341" r:id="rId46"/>
    <p:sldId id="306" r:id="rId47"/>
    <p:sldId id="390" r:id="rId48"/>
    <p:sldId id="325" r:id="rId49"/>
    <p:sldId id="300" r:id="rId50"/>
    <p:sldId id="338" r:id="rId51"/>
    <p:sldId id="337" r:id="rId52"/>
    <p:sldId id="303" r:id="rId53"/>
    <p:sldId id="342" r:id="rId54"/>
    <p:sldId id="391" r:id="rId55"/>
    <p:sldId id="311" r:id="rId56"/>
    <p:sldId id="313" r:id="rId57"/>
    <p:sldId id="326" r:id="rId58"/>
    <p:sldId id="314" r:id="rId59"/>
    <p:sldId id="339" r:id="rId60"/>
    <p:sldId id="340" r:id="rId61"/>
    <p:sldId id="328" r:id="rId6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B429"/>
    <a:srgbClr val="FFD54F"/>
    <a:srgbClr val="FFEA3D"/>
    <a:srgbClr val="FFFFAA"/>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F8882A-7115-9F47-B5C3-25382842AD98}" v="2" dt="2024-09-17T15:32:00.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351" autoAdjust="0"/>
    <p:restoredTop sz="75549" autoAdjust="0"/>
  </p:normalViewPr>
  <p:slideViewPr>
    <p:cSldViewPr snapToGrid="0">
      <p:cViewPr>
        <p:scale>
          <a:sx n="101" d="100"/>
          <a:sy n="101" d="100"/>
        </p:scale>
        <p:origin x="16" y="144"/>
      </p:cViewPr>
      <p:guideLst>
        <p:guide orient="horz" pos="2160"/>
        <p:guide pos="2880"/>
      </p:guideLst>
    </p:cSldViewPr>
  </p:slideViewPr>
  <p:notesTextViewPr>
    <p:cViewPr>
      <p:scale>
        <a:sx n="1" d="1"/>
        <a:sy n="1" d="1"/>
      </p:scale>
      <p:origin x="0" y="0"/>
    </p:cViewPr>
  </p:notesTextViewPr>
  <p:sorterViewPr>
    <p:cViewPr>
      <p:scale>
        <a:sx n="108" d="100"/>
        <a:sy n="108"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B78E97C-1779-4CEE-80D0-5BBB1AC4023D}" type="datetimeFigureOut">
              <a:rPr lang="en-US" smtClean="0"/>
              <a:t>9/23/25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1</a:t>
            </a:fld>
            <a:endParaRPr lang="en-US"/>
          </a:p>
        </p:txBody>
      </p:sp>
    </p:spTree>
    <p:extLst>
      <p:ext uri="{BB962C8B-B14F-4D97-AF65-F5344CB8AC3E}">
        <p14:creationId xmlns:p14="http://schemas.microsoft.com/office/powerpoint/2010/main" val="673943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45566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first learning objective is to report </a:t>
            </a:r>
            <a:r>
              <a:rPr lang="en-US" altLang="en-US" dirty="0">
                <a:ea typeface="ＭＳ Ｐゴシック" pitchFamily="34" charset="-128"/>
              </a:rPr>
              <a:t>cash on the balance sheet</a:t>
            </a:r>
            <a:r>
              <a:rPr lang="en-US" altLang="en-US" dirty="0">
                <a:latin typeface="Arial" pitchFamily="34" charset="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2861947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Most companies have numerous bank accounts, but they usually combine all cash amounts into a single total called “Cash and Cash Equivalents.” Cash equivalents include liquid assets such as treasury bills, commercial paper, and money market funds. These are interest-bearing accounts that can be withdrawn with no penalty, or interest-bearing securities. Slightly less liquid than cash, cash equivalents are sufficiently similar to be reported along with cash.</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2783000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second learning objective is to prepare a bank reconciliation.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534358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530953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Cash is the most liquid asset because it’s the medium of exchange. Cash is easy to conceal and relatively easy to steal. As a result, most businesses create specific controls for cash. Keeping cash in a bank account helps control cash because banks have established practices for safeguarding customers’ money. The documents used to control a bank account include the:</a:t>
            </a:r>
          </a:p>
          <a:p>
            <a:r>
              <a:rPr lang="en-US" altLang="en-US" dirty="0">
                <a:latin typeface="Arial" pitchFamily="34" charset="0"/>
                <a:ea typeface="ＭＳ Ｐゴシック" pitchFamily="34" charset="-128"/>
              </a:rPr>
              <a:t>■ Signature card - Banks require each person authorized to sign on an account to provide a signature card. This protects against forgery. Banks will not cash cheques that don’t bear an authorized signature and for cheques presented at the bank in person will often check the signature against the one on file</a:t>
            </a:r>
          </a:p>
          <a:p>
            <a:r>
              <a:rPr lang="en-US" altLang="en-US" dirty="0">
                <a:latin typeface="Arial" pitchFamily="34" charset="0"/>
                <a:ea typeface="ＭＳ Ｐゴシック" pitchFamily="34" charset="-128"/>
              </a:rPr>
              <a:t>■ Deposit slip - Banks supply standard forms such as deposit slips. The customer fills in the amount of each deposit and lists the detailed amounts of each cheque being deposited and the amount of cash included in the deposit. As proof of the transaction, the customer keeps a deposit receipt</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 Cheque - To pay cash, the depositor can write a cheque, which tells the bank to pay the designated party a specified amount. There are three parties to a cheque:</a:t>
            </a:r>
          </a:p>
          <a:p>
            <a:r>
              <a:rPr lang="en-US" altLang="en-US" dirty="0">
                <a:latin typeface="Arial" pitchFamily="34" charset="0"/>
                <a:ea typeface="ＭＳ Ｐゴシック" pitchFamily="34" charset="-128"/>
              </a:rPr>
              <a:t>1. the maker, who signs the cheque</a:t>
            </a:r>
          </a:p>
          <a:p>
            <a:r>
              <a:rPr lang="en-US" altLang="en-US" dirty="0">
                <a:latin typeface="Arial" pitchFamily="34" charset="0"/>
                <a:ea typeface="ＭＳ Ｐゴシック" pitchFamily="34" charset="-128"/>
              </a:rPr>
              <a:t>2. the payee, to whom the cheque is paid</a:t>
            </a:r>
          </a:p>
          <a:p>
            <a:r>
              <a:rPr lang="en-US" altLang="en-US" dirty="0">
                <a:latin typeface="Arial" pitchFamily="34" charset="0"/>
                <a:ea typeface="ＭＳ Ｐゴシック" pitchFamily="34" charset="-128"/>
              </a:rPr>
              <a:t>3. the bank on which the cheque is drawn</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Cheques written by companies often have a stub attached, called a remittance advice, that tells the payee the purpose of the payment. The payee is required to endorse the back of the cheque when cashing it as proof that only the authorized payee received the funds.</a:t>
            </a:r>
            <a:endParaRPr lang="en-US" dirty="0"/>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 Bank statement</a:t>
            </a:r>
          </a:p>
          <a:p>
            <a:r>
              <a:rPr lang="en-US" altLang="en-US" dirty="0">
                <a:latin typeface="Arial" pitchFamily="34" charset="0"/>
                <a:ea typeface="ＭＳ Ｐゴシック" pitchFamily="34" charset="-128"/>
              </a:rPr>
              <a:t>■ Bank reconciliation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2999398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Banks send monthly statements to customers. A bank statement reports what the bank did with the customer’s cash. The statement shows the account’s beginning and ending balances, cash receipts, and payments. Included with the statement are copies of the maker’s canceled cheques (or the actual paid cheques). Electronic funds transfer (EFT) moves cash by electronic communication. It is cheaper to pay without having to mail a cheque, so many people pay their mortgage, rent, utilities, and insurance by EFT. Companies also pay bills using EFT because it enables them to control their cash more closely by knowing exactly when the money will leave the bank account.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2028578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There are two records of a business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s cash:</a:t>
            </a:r>
          </a:p>
          <a:p>
            <a:pPr>
              <a:buFontTx/>
              <a:buAutoNum type="arabicPeriod"/>
            </a:pPr>
            <a:r>
              <a:rPr lang="en-US" altLang="en-US" dirty="0">
                <a:latin typeface="Arial" pitchFamily="34" charset="0"/>
                <a:ea typeface="ＭＳ Ｐゴシック" pitchFamily="34" charset="-128"/>
              </a:rPr>
              <a:t>The Cash account in the company</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s general ledger.</a:t>
            </a:r>
          </a:p>
          <a:p>
            <a:pPr>
              <a:buFontTx/>
              <a:buAutoNum type="arabicPeriod"/>
            </a:pPr>
            <a:r>
              <a:rPr lang="en-US" altLang="en-US" dirty="0">
                <a:latin typeface="Arial" pitchFamily="34" charset="0"/>
                <a:ea typeface="ＭＳ Ｐゴシック" pitchFamily="34" charset="-128"/>
              </a:rPr>
              <a:t>The bank statement, which shows the cash receipts and payments transacted through the bank.</a:t>
            </a:r>
          </a:p>
          <a:p>
            <a:r>
              <a:rPr lang="en-US" altLang="en-US" dirty="0">
                <a:latin typeface="Arial" pitchFamily="34" charset="0"/>
                <a:ea typeface="ＭＳ Ｐゴシック" pitchFamily="34" charset="-128"/>
              </a:rPr>
              <a:t>The books and the bank statement usually show different cash balances. Differences arise because of a time lag in recording transactions—two examples:</a:t>
            </a:r>
          </a:p>
          <a:p>
            <a:r>
              <a:rPr lang="en-US" altLang="en-US" dirty="0">
                <a:latin typeface="Arial" pitchFamily="34" charset="0"/>
                <a:ea typeface="ＭＳ Ｐゴシック" pitchFamily="34" charset="-128"/>
              </a:rPr>
              <a:t>When you write a cheque, you immediately deduct it in your chequebook. But the  bank does not subtract the cheque from your account until the bank pays the cheque a few days later. And you immediately add the cash receipt for all your deposits. But it may take a day or two for the bank to add deposits to your balance. Your EFT payments and cash receipts are recorded by the bank before you learn of them. The most likely transactions to not have cleared the bank by the bank statement date are those completed near or at the end of the month.</a:t>
            </a:r>
          </a:p>
          <a:p>
            <a:r>
              <a:rPr lang="en-US" altLang="en-US" dirty="0">
                <a:latin typeface="Arial" pitchFamily="34" charset="0"/>
                <a:ea typeface="ＭＳ Ｐゴシック" pitchFamily="34" charset="-128"/>
              </a:rPr>
              <a:t>To ensure accurate cash records, you need to update your cash record—either online or after you receive your bank statement. The result of this updating process creates a bank reconciliation, which you must prepare. The bank reconciliation explains all differences between your cash records and your bank balance. As an internal control over cash, the person who prepares the bank reconciliation should have no other cash duties. Otherwise, they can steal cash and manipulate the reconciliation to conceal the theft.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509837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latin typeface="Arial" pitchFamily="34" charset="0"/>
                <a:ea typeface="ＭＳ Ｐゴシック" pitchFamily="34" charset="-128"/>
              </a:rPr>
              <a:t>Here are the items that appear on a bank reconciliation. They are all caused by differences between the bank balance and the book balance. </a:t>
            </a:r>
          </a:p>
          <a:p>
            <a:r>
              <a:rPr lang="en-US" altLang="en-US" sz="1200" dirty="0">
                <a:latin typeface="Arial" pitchFamily="34" charset="0"/>
                <a:ea typeface="ＭＳ Ｐゴシック" pitchFamily="34" charset="-128"/>
              </a:rPr>
              <a:t>1. Items to show on the Bank side of the bank reconciliation include:</a:t>
            </a:r>
          </a:p>
          <a:p>
            <a:r>
              <a:rPr lang="en-US" altLang="en-US" sz="1200" dirty="0">
                <a:latin typeface="Arial" pitchFamily="34" charset="0"/>
                <a:ea typeface="ＭＳ Ｐゴシック" pitchFamily="34" charset="-128"/>
              </a:rPr>
              <a:t>a. Deposits in transit (outstanding deposits). You have recorded these deposits in the general ledger, but the bank has not cleared the deposit yet through your bank account. Add deposits in transit on the bank reconciliation.</a:t>
            </a:r>
          </a:p>
          <a:p>
            <a:r>
              <a:rPr lang="en-US" altLang="en-US" sz="1200" dirty="0">
                <a:latin typeface="Arial" pitchFamily="34" charset="0"/>
                <a:ea typeface="ＭＳ Ｐゴシック" pitchFamily="34" charset="-128"/>
              </a:rPr>
              <a:t>b. Outstanding cheques. You have recorded these cheques, but the bank has not yet paid them because they haven’t been presented for payment by the payee or the payee’s bank. Subtract outstanding cheques.</a:t>
            </a:r>
          </a:p>
          <a:p>
            <a:r>
              <a:rPr lang="en-US" altLang="en-US" sz="1200" dirty="0">
                <a:latin typeface="Arial" pitchFamily="34" charset="0"/>
                <a:ea typeface="ＭＳ Ｐゴシック" pitchFamily="34" charset="-128"/>
              </a:rPr>
              <a:t>c. Bank errors. Correct all bank errors on the Bank side of the reconciliation. For example, the bank may erroneously subtract from your account a cheque written by someone else or it may transpose numbers in recording a deposit to your account. Also make sure to contact the bank about correcting the error so it has been cleared up by the next bank statement date.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4083904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1200" dirty="0">
                <a:latin typeface="Arial" pitchFamily="34" charset="0"/>
                <a:ea typeface="ＭＳ Ｐゴシック" pitchFamily="34" charset="-128"/>
              </a:rPr>
              <a:t>Items to show on the Book side of the bank reconciliation:</a:t>
            </a:r>
          </a:p>
          <a:p>
            <a:pPr>
              <a:lnSpc>
                <a:spcPct val="80000"/>
              </a:lnSpc>
            </a:pPr>
            <a:r>
              <a:rPr lang="en-US" altLang="en-US" sz="1200" dirty="0">
                <a:latin typeface="Arial" pitchFamily="34" charset="0"/>
                <a:ea typeface="ＭＳ Ｐゴシック" pitchFamily="34" charset="-128"/>
              </a:rPr>
              <a:t>a. Bank collections. Bank collections are cash receipts that the bank has recorded for your account. But you haven</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t recorded the cash receipt yet. Many businesses have their customers pay directly to their bank. This is called a lock-box system and reduces theft. An example is a bank collecting an account receivable for you. Add bank collections on the bank reconciliation.</a:t>
            </a:r>
          </a:p>
          <a:p>
            <a:pPr>
              <a:lnSpc>
                <a:spcPct val="80000"/>
              </a:lnSpc>
            </a:pPr>
            <a:r>
              <a:rPr lang="en-US" altLang="en-US" sz="1200" dirty="0">
                <a:latin typeface="Arial" pitchFamily="34" charset="0"/>
                <a:ea typeface="ＭＳ Ｐゴシック" pitchFamily="34" charset="-128"/>
              </a:rPr>
              <a:t>b. Electronic funds transfers. The bank may receive or pay cash on your behalf. An EFT may be a cash receipt or a cash payment. Add EFT receipts and subtract EFT payments.</a:t>
            </a:r>
          </a:p>
          <a:p>
            <a:pPr>
              <a:lnSpc>
                <a:spcPct val="80000"/>
              </a:lnSpc>
            </a:pPr>
            <a:r>
              <a:rPr lang="en-US" altLang="en-US" sz="1200" dirty="0">
                <a:latin typeface="Arial" pitchFamily="34" charset="0"/>
                <a:ea typeface="ＭＳ Ｐゴシック" pitchFamily="34" charset="-128"/>
              </a:rPr>
              <a:t>c. Service charge. This cash payment is the bank</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s fee for processing your transactions. Subtract service charges or any other charges the bank makes against your account for the cost of goods or services associated with your account.</a:t>
            </a:r>
          </a:p>
          <a:p>
            <a:pPr>
              <a:lnSpc>
                <a:spcPct val="80000"/>
              </a:lnSpc>
            </a:pPr>
            <a:r>
              <a:rPr lang="en-US" altLang="en-US" sz="1200" dirty="0">
                <a:latin typeface="Arial" pitchFamily="34" charset="0"/>
                <a:ea typeface="ＭＳ Ｐゴシック" pitchFamily="34" charset="-128"/>
              </a:rPr>
              <a:t>d. Interest income on your chequing account. On certain types of bank accounts, you earn interest if you keep enough cash in your account. The bank statement tells you of this cash receipt. Add interest income.</a:t>
            </a:r>
          </a:p>
          <a:p>
            <a:pPr>
              <a:lnSpc>
                <a:spcPct val="80000"/>
              </a:lnSpc>
            </a:pPr>
            <a:r>
              <a:rPr lang="en-US" altLang="en-US" sz="1200" dirty="0">
                <a:latin typeface="Arial" pitchFamily="34" charset="0"/>
                <a:ea typeface="ＭＳ Ｐゴシック" pitchFamily="34" charset="-128"/>
              </a:rPr>
              <a:t>e. Nonsufficient funds (NSF) cheques are cash receipts from customers for which there are not sufficient funds in the bank to cover the amount. NSF cheques (sometimes called hot, bounced, or bad cheques) are treated as cash payments on your bank reconciliation. Subtract NSF cheques. If possible, you should attempt to collect the cash receipt again from the maker, but requiring a form of payment such as a money order or cash is advisable.</a:t>
            </a:r>
          </a:p>
          <a:p>
            <a:pPr>
              <a:lnSpc>
                <a:spcPct val="80000"/>
              </a:lnSpc>
            </a:pPr>
            <a:r>
              <a:rPr lang="en-US" altLang="en-US" sz="1200" dirty="0">
                <a:latin typeface="Arial" pitchFamily="34" charset="0"/>
                <a:ea typeface="ＭＳ Ｐゴシック" pitchFamily="34" charset="-128"/>
              </a:rPr>
              <a:t>f. The cost of printed cheques. This cash payment is handled like a service charge. Subtract this cost.</a:t>
            </a:r>
          </a:p>
          <a:p>
            <a:pPr>
              <a:lnSpc>
                <a:spcPct val="80000"/>
              </a:lnSpc>
            </a:pPr>
            <a:r>
              <a:rPr lang="en-US" altLang="en-US" sz="1200" dirty="0">
                <a:latin typeface="Arial" pitchFamily="34" charset="0"/>
                <a:ea typeface="ＭＳ Ｐゴシック" pitchFamily="34" charset="-128"/>
              </a:rPr>
              <a:t>g. Book errors. Correct all book errors on the Book side of the reconciliation. For example, you may have recorded a $150 cheque that you wrote as $510.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710730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dirty="0">
                <a:latin typeface="Arial" pitchFamily="34" charset="0"/>
                <a:ea typeface="ＭＳ Ｐゴシック" pitchFamily="34" charset="-128"/>
              </a:rPr>
              <a:t>The book’s cash balance of $3,294.21 does not agree with the bank’s cash balance of $5,931.51. A bank reconciliation will determine why there is a difference.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2216028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Tx/>
              <a:buAutoNum type="arabicPeriod"/>
            </a:pPr>
            <a:r>
              <a:rPr lang="en-CA" altLang="en-US" dirty="0">
                <a:latin typeface="Arial" pitchFamily="34" charset="0"/>
                <a:ea typeface="ＭＳ Ｐゴシック" pitchFamily="34" charset="-128"/>
              </a:rPr>
              <a:t>Nixon Partners have deposited $1,591.63 late on January 31, but the bank will not learn of this until they open its overnight deposit box on February 1.</a:t>
            </a:r>
          </a:p>
          <a:p>
            <a:pPr marL="228600" indent="-228600">
              <a:buFontTx/>
              <a:buAutoNum type="arabicPeriod"/>
            </a:pPr>
            <a:r>
              <a:rPr lang="en-CA" altLang="en-US" dirty="0">
                <a:latin typeface="Arial" pitchFamily="34" charset="0"/>
                <a:ea typeface="ＭＳ Ｐゴシック" pitchFamily="34" charset="-128"/>
              </a:rPr>
              <a:t>The bank should not have recorded a withdrawal.</a:t>
            </a:r>
          </a:p>
          <a:p>
            <a:pPr marL="228600" indent="-228600">
              <a:buFontTx/>
              <a:buAutoNum type="arabicPeriod"/>
            </a:pPr>
            <a:r>
              <a:rPr lang="en-CA" altLang="en-US" dirty="0">
                <a:latin typeface="Arial" pitchFamily="34" charset="0"/>
                <a:ea typeface="ＭＳ Ｐゴシック" pitchFamily="34" charset="-128"/>
              </a:rPr>
              <a:t>Nixon Partners has written cheques totalling $1,350.14, but the bank is not aware of this yet.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889025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dirty="0">
                <a:latin typeface="Arial" pitchFamily="34" charset="0"/>
                <a:ea typeface="ＭＳ Ｐゴシック" pitchFamily="34" charset="-128"/>
              </a:rPr>
              <a:t>To “correct” the bank’s balance, the deposit in transit and cheque error are added to the balance the bank reported, and the outstanding cheques amount is subtracted.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14173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4. An automatic payment of $904.03 has been deposited into Nixon’s account that it has not recorded yet.</a:t>
            </a:r>
          </a:p>
          <a:p>
            <a:r>
              <a:rPr lang="en-CA" altLang="en-US" dirty="0">
                <a:latin typeface="Arial" pitchFamily="34" charset="0"/>
                <a:ea typeface="ＭＳ Ｐゴシック" pitchFamily="34" charset="-128"/>
              </a:rPr>
              <a:t>5. A note receivable has matured and the cash has been deposited into Nixon’s account. That is the $1,900.00 principle and $214.00 interest.</a:t>
            </a:r>
          </a:p>
          <a:p>
            <a:r>
              <a:rPr lang="en-CA" altLang="en-US" dirty="0">
                <a:latin typeface="Arial" pitchFamily="34" charset="0"/>
                <a:ea typeface="ＭＳ Ｐゴシック" pitchFamily="34" charset="-128"/>
              </a:rPr>
              <a:t>6. The bank has paid you $28.01 interest on the cash in Nixon’s account.</a:t>
            </a:r>
          </a:p>
          <a:p>
            <a:r>
              <a:rPr lang="en-CA" altLang="en-US" dirty="0">
                <a:latin typeface="Arial" pitchFamily="34" charset="0"/>
                <a:ea typeface="ＭＳ Ｐゴシック" pitchFamily="34" charset="-128"/>
              </a:rPr>
              <a:t>7. Nixon recorded a $510 decrease in its cash account when it wrote a cheque for $150.00. That was $360 too much.</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672369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8. The bank charged Nixon $14.25 for the services it provided.</a:t>
            </a:r>
          </a:p>
          <a:p>
            <a:r>
              <a:rPr lang="en-CA" altLang="en-US" dirty="0">
                <a:latin typeface="Arial" pitchFamily="34" charset="0"/>
                <a:ea typeface="ＭＳ Ｐゴシック" pitchFamily="34" charset="-128"/>
              </a:rPr>
              <a:t>9. Nixon recorded an increase of $52.00 cash when it thought it had received payment from a customer. The customer did not have sufficient funds to cover the cheque that was submitted, so Nixon did not receive any cash.</a:t>
            </a:r>
          </a:p>
          <a:p>
            <a:r>
              <a:rPr lang="en-CA" altLang="en-US" dirty="0">
                <a:latin typeface="Arial" pitchFamily="34" charset="0"/>
                <a:ea typeface="ＭＳ Ｐゴシック" pitchFamily="34" charset="-128"/>
              </a:rPr>
              <a:t>10. The insurance company withdrew $361.00 from Nixon’s account that was owed to them.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867395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To the Nixon’s book cash balance</a:t>
            </a:r>
          </a:p>
          <a:p>
            <a:r>
              <a:rPr lang="en-CA" altLang="en-US" dirty="0">
                <a:latin typeface="Arial" pitchFamily="34" charset="0"/>
                <a:ea typeface="ＭＳ Ｐゴシック" pitchFamily="34" charset="-128"/>
              </a:rPr>
              <a:t>Add:</a:t>
            </a:r>
          </a:p>
          <a:p>
            <a:r>
              <a:rPr lang="en-CA" altLang="en-US" dirty="0">
                <a:latin typeface="Arial" pitchFamily="34" charset="0"/>
                <a:ea typeface="ＭＳ Ｐゴシック" pitchFamily="34" charset="-128"/>
              </a:rPr>
              <a:t>ETF rent revenue		$ 904.03</a:t>
            </a:r>
          </a:p>
          <a:p>
            <a:r>
              <a:rPr lang="en-CA" altLang="en-US" dirty="0">
                <a:latin typeface="Arial" pitchFamily="34" charset="0"/>
                <a:ea typeface="ＭＳ Ｐゴシック" pitchFamily="34" charset="-128"/>
              </a:rPr>
              <a:t>Collection of note receivable	2,114.00</a:t>
            </a:r>
          </a:p>
          <a:p>
            <a:r>
              <a:rPr lang="en-CA" altLang="en-US" dirty="0">
                <a:latin typeface="Arial" pitchFamily="34" charset="0"/>
                <a:ea typeface="ＭＳ Ｐゴシック" pitchFamily="34" charset="-128"/>
              </a:rPr>
              <a:t>Collection of interest on bank account	     28.01</a:t>
            </a:r>
          </a:p>
          <a:p>
            <a:r>
              <a:rPr lang="en-CA" altLang="en-US" dirty="0">
                <a:latin typeface="Arial" pitchFamily="34" charset="0"/>
                <a:ea typeface="ＭＳ Ｐゴシック" pitchFamily="34" charset="-128"/>
              </a:rPr>
              <a:t>Correction of book error		   360.00</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Subtract:</a:t>
            </a:r>
          </a:p>
          <a:p>
            <a:r>
              <a:rPr lang="en-CA" altLang="en-US" dirty="0">
                <a:latin typeface="Arial" pitchFamily="34" charset="0"/>
                <a:ea typeface="ＭＳ Ｐゴシック" pitchFamily="34" charset="-128"/>
              </a:rPr>
              <a:t>Payment of service charge		$   14.25</a:t>
            </a:r>
          </a:p>
          <a:p>
            <a:r>
              <a:rPr lang="en-CA" altLang="en-US" dirty="0">
                <a:latin typeface="Arial" pitchFamily="34" charset="0"/>
                <a:ea typeface="ＭＳ Ｐゴシック" pitchFamily="34" charset="-128"/>
              </a:rPr>
              <a:t>NSF cheque			     52.00</a:t>
            </a:r>
          </a:p>
          <a:p>
            <a:r>
              <a:rPr lang="en-CA" altLang="en-US" dirty="0">
                <a:latin typeface="Arial" pitchFamily="34" charset="0"/>
                <a:ea typeface="ＭＳ Ｐゴシック" pitchFamily="34" charset="-128"/>
              </a:rPr>
              <a:t>Payment of insurance expense	 	  361.00</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Adjusted book balance equals adjusted bank balance of $6,273.00.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602894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This table summarizes the items on a bank reconciliation – on which side they appear and if they are added or subtracted.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6603527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bank reconciliation is an accountant’s tool separate from the journals and ledgers. It does not account for transactions in the journal. To get the transactions into the accounts, we must make journal entries and post to the ledger. All items on the Book side of the bank reconciliation require journal entries.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21636586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Some entries that typically result from a bank reconciliation are shown above. </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EFT collections will usually be credited to an appropriate revenue account or a receivable.</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If there is a company error, cash can be either debited or credited. The other account in the entry is the account debited or credited when the error was made. </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 </a:t>
            </a:r>
            <a:endParaRPr lang="en-US" dirty="0"/>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6480295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Notice that the NSF cheque is debited to Accounts Receivable. This is because the company will attempt to collect the amount from the customer who wrote the “bad” cheque.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Arial" pitchFamily="34" charset="0"/>
              <a:ea typeface="ＭＳ Ｐゴシック" pitchFamily="34"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EFT payments will be debited to an appropriate expense account or a payable as the other side of the cash transaction. </a:t>
            </a:r>
            <a:endParaRPr lang="en-US" dirty="0"/>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11505804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third learning objective is to account for accounts receivable.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2664736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Receivables are the third most liquid asset—after cash and short-term investments. Receivables are monetary claims against others. Receivables are acquired mainly by selling goods and services (accounts receivable) and by lending money (notes receivable).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2740762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 business’s accounts receivable are the amounts collectible from customers from the sale of goods and services on account. Accounts receivable, which are current assets, are sometimes called trade receivables or merely receivables. The Accounts Receivable account in the general ledger serves as a control account that summarizes the total amount receivable from all customers. Companies also keep a subsidiary record of accounts receivable with a separate account for each customer.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652810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These T-accounts illustrate the control account, Accounts Receivable, in the general ledger and the individual customer accounts in the subsidiary ledger. The subsidiary ledger provides the detail of the accounts receivable balance.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Notes receivable are more formal contracts than accounts receivable. For a note, the borrower signs a written promise to pay the lender a definite sum at the maturity date, plus interest. This is why notes are also called promissory notes. The note may require the borrower to pledge security for the loan. This means that the borrower gives the lender permission to claim certain assets, called collateral, if the borrower fails to pay the amount due.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41379740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By selling on credit, companies run the risk of not collecting some receivables. Unfortunately, some customers don’t pay their debts. The prospect of failing to collect from a customer provides the biggest challenge in accounting for receivables. Here are the management issues a company faces when it extends credit to customers.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63342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fourth learning objective is to e</a:t>
            </a:r>
            <a:r>
              <a:rPr lang="en-US" altLang="en-US" b="0" dirty="0">
                <a:ea typeface="ＭＳ Ｐゴシック" pitchFamily="34" charset="-128"/>
              </a:rPr>
              <a:t>valuate</a:t>
            </a:r>
            <a:r>
              <a:rPr lang="en-US" altLang="en-US" b="1" dirty="0">
                <a:ea typeface="ＭＳ Ｐゴシック" pitchFamily="34" charset="-128"/>
              </a:rPr>
              <a:t> </a:t>
            </a:r>
            <a:r>
              <a:rPr lang="en-US" altLang="en-US" dirty="0">
                <a:ea typeface="ＭＳ Ｐゴシック" pitchFamily="34" charset="-128"/>
              </a:rPr>
              <a:t>collectability using the allowance for uncollectible accounts.</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030667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A company gets an account receivable only when it sells its product or service on credit (on account)</a:t>
            </a:r>
            <a:r>
              <a:rPr lang="en-US" altLang="en-US" dirty="0">
                <a:solidFill>
                  <a:srgbClr val="FF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Ideally, the company would collect cash for all of its receivables. However, companies rarely collect all of their accounts receivables. So companies must account for their uncollectible accounts.</a:t>
            </a:r>
          </a:p>
          <a:p>
            <a:r>
              <a:rPr lang="en-US" altLang="en-US" dirty="0">
                <a:latin typeface="Arial" pitchFamily="34" charset="0"/>
                <a:ea typeface="ＭＳ Ｐゴシック" pitchFamily="34" charset="-128"/>
              </a:rPr>
              <a:t>Selling on credit creates both a benefit and a cost:</a:t>
            </a:r>
          </a:p>
          <a:p>
            <a:r>
              <a:rPr lang="en-US" altLang="en-US" dirty="0">
                <a:latin typeface="Arial" pitchFamily="34" charset="0"/>
                <a:ea typeface="ＭＳ Ｐゴシック" pitchFamily="34" charset="-128"/>
              </a:rPr>
              <a:t>■ Benefit: Customers who cannot pay cash immediately can buy on credit, so sales and profits increase.</a:t>
            </a:r>
          </a:p>
          <a:p>
            <a:r>
              <a:rPr lang="en-US" altLang="en-US" dirty="0">
                <a:latin typeface="Arial" pitchFamily="34" charset="0"/>
                <a:ea typeface="ＭＳ Ｐゴシック" pitchFamily="34" charset="-128"/>
              </a:rPr>
              <a:t>■ Cost: The company cannot collect from some customers. Accountants label this cost uncollectible-account expense, doubtful-account expense, or bad-debt expense.</a:t>
            </a:r>
          </a:p>
          <a:p>
            <a:r>
              <a:rPr lang="en-US" altLang="en-US" dirty="0">
                <a:latin typeface="Arial" pitchFamily="34" charset="0"/>
                <a:ea typeface="ＭＳ Ｐゴシック" pitchFamily="34" charset="-128"/>
              </a:rPr>
              <a:t>Uncollectible-account expense is an operating expense in the selling, general and administrative category along with salaries, depreciation, rent, and utilities.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best way to measure bad debts is by the allowance method. This method records collection losses based on estimates developed from the company’s collection experience. A company doesn’t wait to see which customers will not pay. Instead, it records the estimated amount as Bad Debt Expense and also sets up Allowance for Uncollectible Accounts. Other titles for this account are Allowance for Doubtful Accounts and Allowance for Bad Debts. This is a contra-account to Accounts Receivable. The allowance shows the amount of the receivables the business expects not to collect. The allowance shows how much of the receivable has been expensed.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40196563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Accounts receivable are reported at net realizable value on the balance sheet. This is the balance of Accounts Receivable less the Allowance for Uncollectible Accounts. This is the amount the  company expects to collect from its customers. The allowance can be shown as a separate line item on the balance sheet, as shown in the top figure. Or it can be combined into one line item shown at the net balance.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9884621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cs typeface="Arial" pitchFamily="34" charset="0"/>
              </a:rPr>
              <a:t>The best way to estimate uncollectibles uses the company’s history of collections from customers.  This is called the Aging-of-receivables method. </a:t>
            </a:r>
            <a:r>
              <a:rPr lang="en-US" altLang="en-US" dirty="0">
                <a:latin typeface="Arial" pitchFamily="34" charset="0"/>
                <a:ea typeface="ＭＳ Ｐゴシック" pitchFamily="34" charset="-128"/>
              </a:rPr>
              <a:t>The aging method is a balance-sheet approach.</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Aging-of-receivables is a balance-sheet approach because it focuses on what should be the most relevant and faithful representation of accounts receivable as of the balance sheet date. In the aging method, individual receivables from specific customers are analyzed based on how long they have been outstanding.</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20085267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Above is an example of an abbreviated aging schedule. Customer account balances are grouped by days outstanding. A percent uncollectible is estimated for each category—the older the account, the less likely payment will be received. The totals of the columns come to $6,156. This is the amount the Allowance account should equal after adjustment. Assume the Allowance account had a beginning balance of $346. An adjustment of $5,810 would be needed.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551729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dirty="0">
                <a:latin typeface="Arial" pitchFamily="34" charset="0"/>
                <a:ea typeface="ＭＳ Ｐゴシック" pitchFamily="34" charset="-128"/>
              </a:rPr>
              <a:t>Account balances from slide 33.</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24211653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42922233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When a specific customer account is deemed uncollectible, the Allowance account is reduced for the amount of the customer account. Accounts receivable is credited to remove the customer’s account from the books.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27934307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write-off of uncollectibles has no effect on a company’s total assets, no effect on current assets, and no effect on net accounts receivable. There is no effect on net income either. Why is there no effect on net income? Net income is unaffected because the write-off of uncollectibles does not affect an expense account. If the company uses the allowance method as discussed in the previous section, expenses would have been properly recognized in the period they were incurred, which is the same period in which the related sales took place.</a:t>
            </a:r>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5774242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 company earns income and then collects the cash from customers. For most companies, there is a time lag between earning the income and collecting the cash. Collections from customers are the single most important source of cash for any business. </a:t>
            </a:r>
          </a:p>
          <a:p>
            <a:r>
              <a:rPr lang="en-US" altLang="en-US" dirty="0">
                <a:latin typeface="Arial" pitchFamily="34" charset="0"/>
                <a:ea typeface="ＭＳ Ｐゴシック" pitchFamily="34" charset="-128"/>
              </a:rPr>
              <a:t>You can compute a company’s collections from customers by analyzing its Accounts Receivable account. Receivables typically hold only five items, as reflected in the five elements of the following Accounts Receivable account balance. Suppose  you know all these amounts except collections from customers. You can compute collections by solving for ? in the T-account.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7765511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All companies want speedy cash receipts. Rapid cash flow means companies have the ability to pay off current liabilities faster, as well as to finance new products, research, and development. Thus, companies develop strategies to shorten the credit cycle and collect cash more quickly. A common strategy has been to emphasize credit card or debit card sales.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3147343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 merchant sells merchandise and lets the customer pay with a credit card, such as VISA or MasterCard, or a company credit card such as HBC (Hudson’s Bay Company). This strategy may dramatically increase sales, but the added revenue comes at a cost, which is typically about 2% to 3% of the total amount of the sale. Let’s see how credit cards and debit cards work from the seller’s perspective. Suppose a company sells a product for $500, and the customer pays with a MasterCard, which charges a 3% fee. The entry to record the sale is shown in this slide.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18595477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fifth learning objective is to account for notes receivable</a:t>
            </a:r>
            <a:r>
              <a:rPr lang="en-US" altLang="en-US" baseline="0" dirty="0">
                <a:latin typeface="Arial" pitchFamily="34" charset="0"/>
                <a:ea typeface="ＭＳ Ｐゴシック" pitchFamily="34" charset="-128"/>
              </a:rPr>
              <a:t> and interest revenue.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33494910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Notes receivable are more formal than accounts receivable. Notes receivable due within one year or less are current assets. Notes due beyond one year are long-term receivables and are reported as long-term assets. Some notes receivable are collected in installments. The portion due within one year is a current asset and the remainder is long term.</a:t>
            </a:r>
          </a:p>
          <a:p>
            <a:r>
              <a:rPr lang="en-US" altLang="en-US" dirty="0">
                <a:latin typeface="Arial" pitchFamily="34" charset="0"/>
                <a:ea typeface="ＭＳ Ｐゴシック" pitchFamily="34" charset="-128"/>
              </a:rPr>
              <a:t>Let’s define some key terms:</a:t>
            </a:r>
          </a:p>
          <a:p>
            <a:r>
              <a:rPr lang="en-US" altLang="en-US" b="1" dirty="0">
                <a:latin typeface="Arial" pitchFamily="34" charset="0"/>
                <a:ea typeface="ＭＳ Ｐゴシック" pitchFamily="34" charset="-128"/>
              </a:rPr>
              <a:t>Creditor. </a:t>
            </a:r>
            <a:r>
              <a:rPr lang="en-US" altLang="en-US" dirty="0">
                <a:latin typeface="Arial" pitchFamily="34" charset="0"/>
                <a:ea typeface="ＭＳ Ｐゴシック" pitchFamily="34" charset="-128"/>
              </a:rPr>
              <a:t>The party to whom money is owed. The creditor is also called the lender.</a:t>
            </a:r>
          </a:p>
          <a:p>
            <a:r>
              <a:rPr lang="en-US" altLang="en-US" b="1" dirty="0">
                <a:latin typeface="Arial" pitchFamily="34" charset="0"/>
                <a:ea typeface="ＭＳ Ｐゴシック" pitchFamily="34" charset="-128"/>
              </a:rPr>
              <a:t>Debtor. </a:t>
            </a:r>
            <a:r>
              <a:rPr lang="en-US" altLang="en-US" dirty="0">
                <a:latin typeface="Arial" pitchFamily="34" charset="0"/>
                <a:ea typeface="ＭＳ Ｐゴシック" pitchFamily="34" charset="-128"/>
              </a:rPr>
              <a:t>The party that borrowed and owes money on the note. The debtor is also called the maker of the note or the borrower.</a:t>
            </a:r>
          </a:p>
          <a:p>
            <a:r>
              <a:rPr lang="en-US" altLang="en-US" b="1" dirty="0">
                <a:latin typeface="Arial" pitchFamily="34" charset="0"/>
                <a:ea typeface="ＭＳ Ｐゴシック" pitchFamily="34" charset="-128"/>
              </a:rPr>
              <a:t>Interest. </a:t>
            </a:r>
            <a:r>
              <a:rPr lang="en-US" altLang="en-US" dirty="0">
                <a:latin typeface="Arial" pitchFamily="34" charset="0"/>
                <a:ea typeface="ＭＳ Ｐゴシック" pitchFamily="34" charset="-128"/>
              </a:rPr>
              <a:t>Interest is the cost of borrowing money. The interest is stated in an annual percentage rate. </a:t>
            </a:r>
          </a:p>
          <a:p>
            <a:r>
              <a:rPr lang="en-US" altLang="en-US" b="1" dirty="0">
                <a:latin typeface="Arial" pitchFamily="34" charset="0"/>
                <a:ea typeface="ＭＳ Ｐゴシック" pitchFamily="34" charset="-128"/>
              </a:rPr>
              <a:t>Maturity date. </a:t>
            </a:r>
            <a:r>
              <a:rPr lang="en-US" altLang="en-US" dirty="0">
                <a:latin typeface="Arial" pitchFamily="34" charset="0"/>
                <a:ea typeface="ＭＳ Ｐゴシック" pitchFamily="34" charset="-128"/>
              </a:rPr>
              <a:t>The date on which the debtor must pay the note.</a:t>
            </a:r>
          </a:p>
          <a:p>
            <a:r>
              <a:rPr lang="en-US" altLang="en-US" b="1" dirty="0">
                <a:latin typeface="Arial" pitchFamily="34" charset="0"/>
                <a:ea typeface="ＭＳ Ｐゴシック" pitchFamily="34" charset="-128"/>
              </a:rPr>
              <a:t>Principal. </a:t>
            </a:r>
            <a:r>
              <a:rPr lang="en-US" altLang="en-US" dirty="0">
                <a:latin typeface="Arial" pitchFamily="34" charset="0"/>
                <a:ea typeface="ＭＳ Ｐゴシック" pitchFamily="34" charset="-128"/>
              </a:rPr>
              <a:t>The amount of money borrowed by the debtor.</a:t>
            </a:r>
          </a:p>
          <a:p>
            <a:r>
              <a:rPr lang="en-US" altLang="en-US" b="1" dirty="0">
                <a:latin typeface="Arial" pitchFamily="34" charset="0"/>
                <a:ea typeface="ＭＳ Ｐゴシック" pitchFamily="34" charset="-128"/>
              </a:rPr>
              <a:t>Term.</a:t>
            </a:r>
            <a:r>
              <a:rPr lang="en-US" altLang="en-US" dirty="0">
                <a:latin typeface="Arial" pitchFamily="34" charset="0"/>
                <a:ea typeface="ＭＳ Ｐゴシック" pitchFamily="34" charset="-128"/>
              </a:rPr>
              <a:t> The length of time from when the note was signed by the debtor to when the debtor must pay the note.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21566346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There are two parties to a note:</a:t>
            </a:r>
          </a:p>
          <a:p>
            <a:r>
              <a:rPr lang="en-US" altLang="en-US" dirty="0">
                <a:latin typeface="Arial" pitchFamily="34" charset="0"/>
                <a:ea typeface="ＭＳ Ｐゴシック" pitchFamily="34" charset="-128"/>
              </a:rPr>
              <a:t>■ The creditor accepts a note receivable.</a:t>
            </a:r>
          </a:p>
          <a:p>
            <a:r>
              <a:rPr lang="en-US" altLang="en-US" dirty="0">
                <a:latin typeface="Arial" pitchFamily="34" charset="0"/>
                <a:ea typeface="ＭＳ Ｐゴシック" pitchFamily="34" charset="-128"/>
              </a:rPr>
              <a:t>■ The debtor issues a note payable.</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The figure above is a typical promissory note. The principal amount of the note ($1,000) is the amount borrowed by the debtor, lent by the creditor. This 6-month note receivable runs from July 1, 20XX to December 31, 20XX, when Lauren Holland (the maker) promises to pay Canadian Western Bank (the creditor) the principal of $1,000 plus 9% interest. Interest is revenue to the creditor and expense to the debtor.</a:t>
            </a:r>
            <a:endParaRPr lang="en-US" dirty="0"/>
          </a:p>
          <a:p>
            <a:endParaRPr lang="en-CA"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39849167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Using the promissory note on the previous slide, we will record entries for transactions related to the note in the accounting records of Canadian Western Bank.</a:t>
            </a:r>
          </a:p>
          <a:p>
            <a:r>
              <a:rPr lang="en-US" altLang="en-US" dirty="0">
                <a:latin typeface="Arial" pitchFamily="34" charset="0"/>
                <a:ea typeface="ＭＳ Ｐゴシック" pitchFamily="34" charset="-128"/>
              </a:rPr>
              <a:t>After Lauren Holland signs the note, Canadian Western Bank gives her $1,000 cash. The bank’s entry on July 1 would show an increase to Notes Receivable and a decrease to Cash.  </a:t>
            </a:r>
          </a:p>
          <a:p>
            <a:r>
              <a:rPr lang="en-US" altLang="en-US" dirty="0">
                <a:latin typeface="Arial" pitchFamily="34" charset="0"/>
                <a:ea typeface="ＭＳ Ｐゴシック" pitchFamily="34" charset="-128"/>
              </a:rPr>
              <a:t>Canadian Western Bank earns interest on the note from July to October (year-end). At October 31, the bank accrues interest at 9% for 4 months. Interest Receivable is debited and Interest Revenue is credited for the amount of $30 ($1,000 × 9% × 4/12).</a:t>
            </a:r>
          </a:p>
          <a:p>
            <a:r>
              <a:rPr lang="en-US" altLang="en-US" dirty="0">
                <a:latin typeface="Arial" pitchFamily="34" charset="0"/>
                <a:ea typeface="ＭＳ Ｐゴシック" pitchFamily="34" charset="-128"/>
              </a:rPr>
              <a:t>The bank collects the note on December 31 and records the receipt of cash.  Three accounts are credited: Notes Receivable for the principal, Interest Receivable to zero out the amount recorded in the adjusting entry, and Interest Revenue to record the amount earned from November 1 to December 31.</a:t>
            </a:r>
            <a:endParaRPr lang="en-US" dirty="0"/>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8626415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You should remember some specific items about interest. Interest rates are usually expressed as annual percentage rate. Therefore, if interest is being accrued for a period less than a year, a fraction is used in the formula. For example, if a note receivable was signed on November 1 and the term is expressed in months, the year-end accrual would use 2/12 in the formula. Often, interest is computed by days, instead of months, if the term is expressed in days. In this situation, the denominator of the fraction would be 365—the number of days in a year.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49</a:t>
            </a:fld>
            <a:endParaRPr lang="en-US" dirty="0"/>
          </a:p>
        </p:txBody>
      </p:sp>
    </p:spTree>
    <p:extLst>
      <p:ext uri="{BB962C8B-B14F-4D97-AF65-F5344CB8AC3E}">
        <p14:creationId xmlns:p14="http://schemas.microsoft.com/office/powerpoint/2010/main" val="28607937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50</a:t>
            </a:fld>
            <a:endParaRPr lang="en-US" dirty="0"/>
          </a:p>
        </p:txBody>
      </p:sp>
    </p:spTree>
    <p:extLst>
      <p:ext uri="{BB962C8B-B14F-4D97-AF65-F5344CB8AC3E}">
        <p14:creationId xmlns:p14="http://schemas.microsoft.com/office/powerpoint/2010/main" val="40863720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sixth learning objective is to evaluate</a:t>
            </a:r>
            <a:r>
              <a:rPr lang="en-US" altLang="en-US" baseline="0" dirty="0">
                <a:latin typeface="Arial" pitchFamily="34" charset="0"/>
                <a:ea typeface="ＭＳ Ｐゴシック" pitchFamily="34" charset="-128"/>
              </a:rPr>
              <a:t> </a:t>
            </a:r>
            <a:r>
              <a:rPr lang="en-US" altLang="en-US" dirty="0">
                <a:latin typeface="Arial" pitchFamily="34" charset="0"/>
                <a:ea typeface="ＭＳ Ｐゴシック" pitchFamily="34" charset="-128"/>
              </a:rPr>
              <a:t>liquidity using ratios.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52</a:t>
            </a:fld>
            <a:endParaRPr lang="en-US" dirty="0"/>
          </a:p>
        </p:txBody>
      </p:sp>
    </p:spTree>
    <p:extLst>
      <p:ext uri="{BB962C8B-B14F-4D97-AF65-F5344CB8AC3E}">
        <p14:creationId xmlns:p14="http://schemas.microsoft.com/office/powerpoint/2010/main" val="38702715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Berkeley-Book" charset="0"/>
                <a:ea typeface="ＭＳ Ｐゴシック" pitchFamily="34" charset="-128"/>
              </a:rPr>
              <a:t>The balance sheet lists assets in the order of relative liquidity:</a:t>
            </a:r>
          </a:p>
          <a:p>
            <a:r>
              <a:rPr lang="en-US" altLang="en-US" dirty="0">
                <a:latin typeface="Berkeley-Bold" charset="0"/>
                <a:ea typeface="ＭＳ Ｐゴシック" pitchFamily="34" charset="-128"/>
              </a:rPr>
              <a:t>1.</a:t>
            </a:r>
            <a:r>
              <a:rPr lang="en-US" altLang="en-US" dirty="0">
                <a:latin typeface="Berkeley-Book" charset="0"/>
                <a:ea typeface="ＭＳ Ｐゴシック" pitchFamily="34" charset="-128"/>
              </a:rPr>
              <a:t>Cash and cash equivalents</a:t>
            </a:r>
          </a:p>
          <a:p>
            <a:r>
              <a:rPr lang="en-US" altLang="en-US" dirty="0">
                <a:latin typeface="Berkeley-Bold" charset="0"/>
                <a:ea typeface="ＭＳ Ｐゴシック" pitchFamily="34" charset="-128"/>
              </a:rPr>
              <a:t>2.</a:t>
            </a:r>
            <a:r>
              <a:rPr lang="en-US" altLang="en-US" dirty="0">
                <a:latin typeface="Berkeley-Book" charset="0"/>
                <a:ea typeface="ＭＳ Ｐゴシック" pitchFamily="34" charset="-128"/>
              </a:rPr>
              <a:t>Short-term investments</a:t>
            </a:r>
          </a:p>
          <a:p>
            <a:r>
              <a:rPr lang="en-US" altLang="en-US" dirty="0">
                <a:latin typeface="Berkeley-Bold" charset="0"/>
                <a:ea typeface="ＭＳ Ｐゴシック" pitchFamily="34" charset="-128"/>
              </a:rPr>
              <a:t>3.</a:t>
            </a:r>
            <a:r>
              <a:rPr lang="en-US" altLang="en-US" dirty="0">
                <a:latin typeface="Berkeley-Book" charset="0"/>
                <a:ea typeface="ＭＳ Ｐゴシック" pitchFamily="34" charset="-128"/>
              </a:rPr>
              <a:t>Accounts (or notes) receivable</a:t>
            </a:r>
          </a:p>
          <a:p>
            <a:r>
              <a:rPr lang="en-US" altLang="en-US" dirty="0">
                <a:latin typeface="Berkeley-Book" charset="0"/>
                <a:ea typeface="ＭＳ Ｐゴシック" pitchFamily="34" charset="-128"/>
              </a:rPr>
              <a:t>4. Merchandise inventory</a:t>
            </a:r>
          </a:p>
          <a:p>
            <a:r>
              <a:rPr lang="en-US" altLang="en-US" dirty="0">
                <a:latin typeface="Berkeley-Book" charset="0"/>
                <a:ea typeface="ＭＳ Ｐゴシック" pitchFamily="34" charset="-128"/>
              </a:rPr>
              <a:t>5. Prepaid expenses</a:t>
            </a:r>
          </a:p>
          <a:p>
            <a:endParaRPr lang="en-US" altLang="en-US" dirty="0">
              <a:latin typeface="Berkeley-Book" charset="0"/>
              <a:ea typeface="ＭＳ Ｐゴシック" pitchFamily="34" charset="-128"/>
            </a:endParaRPr>
          </a:p>
          <a:p>
            <a:r>
              <a:rPr lang="en-US" altLang="en-US" dirty="0">
                <a:latin typeface="Berkeley-Book" charset="0"/>
                <a:ea typeface="ＭＳ Ｐゴシック" pitchFamily="34" charset="-128"/>
              </a:rPr>
              <a:t>Managers, shareholders, and creditors care about the liquidity of a company’s assets. The current ratio measures ability to pay current liabilities with current assets.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53</a:t>
            </a:fld>
            <a:endParaRPr lang="en-US" dirty="0"/>
          </a:p>
        </p:txBody>
      </p:sp>
    </p:spTree>
    <p:extLst>
      <p:ext uri="{BB962C8B-B14F-4D97-AF65-F5344CB8AC3E}">
        <p14:creationId xmlns:p14="http://schemas.microsoft.com/office/powerpoint/2010/main" val="40851016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Berkeley-Book" charset="0"/>
                <a:ea typeface="ＭＳ Ｐゴシック" pitchFamily="34" charset="-128"/>
              </a:rPr>
              <a:t>A more stringent measure of ability to pay current liabilities is the acid-test (or quick) ratio. The higher the quick ratio</a:t>
            </a:r>
            <a:r>
              <a:rPr lang="en-US" altLang="en-US" dirty="0">
                <a:latin typeface="Arial" pitchFamily="34" charset="0"/>
                <a:ea typeface="ＭＳ Ｐゴシック" pitchFamily="34" charset="-128"/>
              </a:rPr>
              <a:t>, the easier it is to pay current liabilities. The quick ratio excludes inventory and prepaid expenses, which may not be as liquid as needed to meet current liability requirements. Traditionally, companies have wanted an acid-test ratio of at least 1.0 to be safe. The ratio needs to be high enough for safety, but not too high. After all, cash and the other liquid assets don’t earn very high rates of return, as inventory and plant assets do.</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54</a:t>
            </a:fld>
            <a:endParaRPr lang="en-US" dirty="0"/>
          </a:p>
        </p:txBody>
      </p:sp>
    </p:spTree>
    <p:extLst>
      <p:ext uri="{BB962C8B-B14F-4D97-AF65-F5344CB8AC3E}">
        <p14:creationId xmlns:p14="http://schemas.microsoft.com/office/powerpoint/2010/main" val="40851016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After a business makes a credit sale, the next step is collecting the receivable. Days’ sales in receivables, also called the days sales outstanding (DSO) or the collection period, tells a company how long it takes to collect its average level of receivables. Shorter is better because cash is coming in quickly. The longer the collection period, the less cash is available to pay bills and expand. Days’ sales in receivables can be computed in two logical steps. </a:t>
            </a:r>
          </a:p>
          <a:p>
            <a:r>
              <a:rPr lang="en-US" altLang="en-US" dirty="0">
                <a:latin typeface="Arial" pitchFamily="34" charset="0"/>
                <a:ea typeface="ＭＳ Ｐゴシック" pitchFamily="34" charset="-128"/>
              </a:rPr>
              <a:t>First, compute average daily sales (or average revenue for one day). Then divide average daily sales into average receivables for the period. Net sales come from the income statement, and the receivables amounts are taken from the balance sheet. Average receivables is the simple average of the beginning and ending balance. Companies watch their collection periods closely. Whenever collections slow down, the business must find other sources of financing, such as borrowing or selling receivables. During recessions, customers pay more slowly, and a longer collection period may be unavoidable.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55</a:t>
            </a:fld>
            <a:endParaRPr lang="en-US" dirty="0"/>
          </a:p>
        </p:txBody>
      </p:sp>
    </p:spTree>
    <p:extLst>
      <p:ext uri="{BB962C8B-B14F-4D97-AF65-F5344CB8AC3E}">
        <p14:creationId xmlns:p14="http://schemas.microsoft.com/office/powerpoint/2010/main" val="19108270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seventh learning objective is to a</a:t>
            </a:r>
            <a:r>
              <a:rPr lang="en-US" altLang="en-US" sz="1200" b="0" dirty="0">
                <a:ea typeface="ＭＳ Ｐゴシック" pitchFamily="34" charset="-128"/>
              </a:rPr>
              <a:t>nalyze</a:t>
            </a:r>
            <a:r>
              <a:rPr lang="en-US" altLang="en-US" sz="1200" b="1" dirty="0">
                <a:ea typeface="ＭＳ Ｐゴシック" pitchFamily="34" charset="-128"/>
              </a:rPr>
              <a:t> </a:t>
            </a:r>
            <a:r>
              <a:rPr lang="en-US" altLang="en-US" sz="1200" dirty="0">
                <a:ea typeface="ＭＳ Ｐゴシック" pitchFamily="34" charset="-128"/>
              </a:rPr>
              <a:t>receivables collectability using an aging schedule created with an Excel pivot table.</a:t>
            </a:r>
            <a:endParaRPr lang="en-US" sz="1200" dirty="0"/>
          </a:p>
          <a:p>
            <a:endParaRPr lang="en-US" altLang="en-US" dirty="0">
              <a:latin typeface="Arial" pitchFamily="34" charset="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56</a:t>
            </a:fld>
            <a:endParaRPr lang="en-US" dirty="0"/>
          </a:p>
        </p:txBody>
      </p:sp>
    </p:spTree>
    <p:extLst>
      <p:ext uri="{BB962C8B-B14F-4D97-AF65-F5344CB8AC3E}">
        <p14:creationId xmlns:p14="http://schemas.microsoft.com/office/powerpoint/2010/main" val="7796706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This concludes Chapter Four.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58</a:t>
            </a:fld>
            <a:endParaRPr lang="en-US" dirty="0"/>
          </a:p>
        </p:txBody>
      </p:sp>
    </p:spTree>
    <p:extLst>
      <p:ext uri="{BB962C8B-B14F-4D97-AF65-F5344CB8AC3E}">
        <p14:creationId xmlns:p14="http://schemas.microsoft.com/office/powerpoint/2010/main" val="26902738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5" y="4266824"/>
            <a:ext cx="5112661"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5958"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9/23/25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643069D2-FAC5-B540-938A-D5C004FC4D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457200" y="5791200"/>
            <a:ext cx="5432996" cy="722376"/>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9/23/25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4" name="Picture 23">
            <a:extLst>
              <a:ext uri="{FF2B5EF4-FFF2-40B4-BE49-F238E27FC236}">
                <a16:creationId xmlns:a16="http://schemas.microsoft.com/office/drawing/2014/main" id="{61D60701-02B4-D540-911A-B01AC4D2CAEF}"/>
              </a:ext>
            </a:extLst>
          </p:cNvPr>
          <p:cNvPicPr>
            <a:picLocks noChangeAspect="1"/>
          </p:cNvPicPr>
          <p:nvPr userDrawn="1"/>
        </p:nvPicPr>
        <p:blipFill>
          <a:blip r:embed="rId2"/>
          <a:stretch>
            <a:fillRect/>
          </a:stretch>
        </p:blipFill>
        <p:spPr>
          <a:xfrm>
            <a:off x="6827793" y="6147742"/>
            <a:ext cx="2060466" cy="527423"/>
          </a:xfrm>
          <a:prstGeom prst="rect">
            <a:avLst/>
          </a:prstGeom>
        </p:spPr>
      </p:pic>
      <p:pic>
        <p:nvPicPr>
          <p:cNvPr id="25" name="Picture 24">
            <a:extLst>
              <a:ext uri="{FF2B5EF4-FFF2-40B4-BE49-F238E27FC236}">
                <a16:creationId xmlns:a16="http://schemas.microsoft.com/office/drawing/2014/main" id="{91D4C5F0-5180-6746-A503-097869B289A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9/23/25</a:t>
            </a:fld>
            <a:endParaRPr lang="en-US" dirty="0"/>
          </a:p>
        </p:txBody>
      </p:sp>
      <p:grpSp>
        <p:nvGrpSpPr>
          <p:cNvPr id="17" name="Group 16"/>
          <p:cNvGrpSpPr/>
          <p:nvPr userDrawn="1"/>
        </p:nvGrpSpPr>
        <p:grpSpPr>
          <a:xfrm>
            <a:off x="0" y="0"/>
            <a:ext cx="9144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E043A7D3-71BA-0D4D-8606-264CCB5C2EA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45440" y="5907024"/>
            <a:ext cx="5101781" cy="722376"/>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9/23/25</a:t>
            </a:fld>
            <a:endParaRPr lang="en-US" dirty="0"/>
          </a:p>
        </p:txBody>
      </p:sp>
      <p:grpSp>
        <p:nvGrpSpPr>
          <p:cNvPr id="15" name="Group 14"/>
          <p:cNvGrpSpPr/>
          <p:nvPr userDrawn="1"/>
        </p:nvGrpSpPr>
        <p:grpSpPr>
          <a:xfrm>
            <a:off x="0" y="0"/>
            <a:ext cx="9144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5" name="Picture 24">
            <a:extLst>
              <a:ext uri="{FF2B5EF4-FFF2-40B4-BE49-F238E27FC236}">
                <a16:creationId xmlns:a16="http://schemas.microsoft.com/office/drawing/2014/main" id="{CA074264-89A3-EE45-B1CD-741D4DBB62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75921" y="5907024"/>
            <a:ext cx="4145280" cy="58694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5555773"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6681169"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7806565" y="685060"/>
            <a:ext cx="1065644" cy="286052"/>
          </a:xfrm>
        </p:spPr>
        <p:txBody>
          <a:bodyPr anchor="ctr">
            <a:noAutofit/>
          </a:bodyPr>
          <a:lstStyle>
            <a:lvl1pPr marL="0" indent="0" algn="ctr">
              <a:buNone/>
              <a:defRPr sz="10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4" name="Title 3"/>
          <p:cNvSpPr>
            <a:spLocks noGrp="1"/>
          </p:cNvSpPr>
          <p:nvPr>
            <p:ph type="title"/>
          </p:nvPr>
        </p:nvSpPr>
        <p:spPr>
          <a:xfrm>
            <a:off x="194914" y="434111"/>
            <a:ext cx="5284561" cy="895927"/>
          </a:xfrm>
        </p:spPr>
        <p:txBody>
          <a:bodyPr tIns="182880"/>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3" y="1709741"/>
            <a:ext cx="7049630" cy="2852737"/>
          </a:xfrm>
        </p:spPr>
        <p:txBody>
          <a:bodyPr anchor="b">
            <a:normAutofit/>
          </a:bodyPr>
          <a:lstStyle>
            <a:lvl1pPr algn="l">
              <a:defRPr sz="4000"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94913" y="4589466"/>
            <a:ext cx="7049630" cy="1500187"/>
          </a:xfrm>
        </p:spPr>
        <p:txBody>
          <a:bodyPr>
            <a:normAutofit/>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392" y="3727927"/>
            <a:ext cx="6577965" cy="1212056"/>
          </a:xfrm>
        </p:spPr>
        <p:txBody>
          <a:bodyPr anchor="b">
            <a:noAutofit/>
          </a:bodyPr>
          <a:lstStyle>
            <a:lvl1pPr algn="l">
              <a:defRPr sz="4000"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720392" y="4947816"/>
            <a:ext cx="6577965" cy="666549"/>
          </a:xfrm>
        </p:spPr>
        <p:txBody>
          <a:bodyPr anchor="t">
            <a:normAutofit/>
          </a:bodyPr>
          <a:lstStyle>
            <a:lvl1pPr marL="0" indent="0" algn="l">
              <a:buNone/>
              <a:defRPr sz="240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grpSp>
        <p:nvGrpSpPr>
          <p:cNvPr id="16" name="Group 15"/>
          <p:cNvGrpSpPr/>
          <p:nvPr userDrawn="1"/>
        </p:nvGrpSpPr>
        <p:grpSpPr>
          <a:xfrm>
            <a:off x="0" y="0"/>
            <a:ext cx="9144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F031D293-784B-194D-B017-C76342FBDC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619761" y="1925320"/>
            <a:ext cx="8280400" cy="1100969"/>
          </a:xfrm>
          <a:prstGeom prst="rect">
            <a:avLst/>
          </a:prstGeom>
        </p:spPr>
      </p:pic>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4" y="434111"/>
            <a:ext cx="8677297" cy="895927"/>
          </a:xfrm>
        </p:spPr>
        <p:txBody>
          <a:bodyPr/>
          <a:lstStyle/>
          <a:p>
            <a:r>
              <a:rPr lang="en-US" dirty="0"/>
              <a:t>CLICK TO EDIT MASTER TITLE STYLE</a:t>
            </a:r>
          </a:p>
        </p:txBody>
      </p:sp>
      <p:sp>
        <p:nvSpPr>
          <p:cNvPr id="3" name="Content Placeholder 2"/>
          <p:cNvSpPr>
            <a:spLocks noGrp="1"/>
          </p:cNvSpPr>
          <p:nvPr>
            <p:ph sz="half" idx="1"/>
          </p:nvPr>
        </p:nvSpPr>
        <p:spPr>
          <a:xfrm>
            <a:off x="194913" y="1413164"/>
            <a:ext cx="4190141"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8245" y="1413164"/>
            <a:ext cx="4243965"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912" y="1396192"/>
            <a:ext cx="4214718" cy="670270"/>
          </a:xfrm>
        </p:spPr>
        <p:txBody>
          <a:bodyPr anchor="b">
            <a:noAutofit/>
          </a:bodyPr>
          <a:lstStyle>
            <a:lvl1pPr marL="0" indent="0">
              <a:buNone/>
              <a:defRPr sz="2800" b="1" baseline="0">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94912" y="2184402"/>
            <a:ext cx="4214718"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77115" y="1396192"/>
            <a:ext cx="4195094" cy="670270"/>
          </a:xfrm>
        </p:spPr>
        <p:txBody>
          <a:bodyPr anchor="b">
            <a:normAutofit/>
          </a:bodyPr>
          <a:lstStyle>
            <a:lvl1pPr marL="0" indent="0">
              <a:buNone/>
              <a:defRPr sz="2800" b="1">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77115" y="2184402"/>
            <a:ext cx="4195094"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94914" y="434111"/>
            <a:ext cx="8677297" cy="895927"/>
          </a:xfrm>
        </p:spPr>
        <p:txBody>
          <a:bodyPr/>
          <a:lstStyle/>
          <a:p>
            <a:r>
              <a:rPr lang="en-US" dirty="0"/>
              <a:t>CLICK TO EDIT MASTER TITLE STYLE</a:t>
            </a:r>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47555"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cxnSp>
        <p:nvCxnSpPr>
          <p:cNvPr id="12" name="Straight Connector 11"/>
          <p:cNvCxnSpPr/>
          <p:nvPr userDrawn="1"/>
        </p:nvCxnSpPr>
        <p:spPr>
          <a:xfrm>
            <a:off x="2947556"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2947556"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95300" y="2420360"/>
            <a:ext cx="81534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2947556"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4762714" y="495661"/>
            <a:ext cx="4080486" cy="5757360"/>
          </a:xfrm>
        </p:spPr>
        <p:txBody>
          <a:bodyPr/>
          <a:lstStyle/>
          <a:p>
            <a:r>
              <a:rPr lang="en-US"/>
              <a:t>Click icon to add picture</a:t>
            </a:r>
          </a:p>
        </p:txBody>
      </p:sp>
      <p:sp>
        <p:nvSpPr>
          <p:cNvPr id="2" name="Title 1"/>
          <p:cNvSpPr>
            <a:spLocks noGrp="1"/>
          </p:cNvSpPr>
          <p:nvPr>
            <p:ph type="title" hasCustomPrompt="1"/>
          </p:nvPr>
        </p:nvSpPr>
        <p:spPr>
          <a:xfrm>
            <a:off x="640773"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2915434" cy="250337"/>
          </a:xfrm>
          <a:prstGeom prst="rect">
            <a:avLst/>
          </a:prstGeom>
        </p:spPr>
        <p:txBody>
          <a:bodyPr/>
          <a:lstStyle/>
          <a:p>
            <a:r>
              <a:rPr lang="en-US"/>
              <a:t>PRESENTATION TITLE</a:t>
            </a:r>
            <a:endParaRPr lang="en-US" dirty="0"/>
          </a:p>
        </p:txBody>
      </p:sp>
      <p:sp>
        <p:nvSpPr>
          <p:cNvPr id="15" name="Text Placeholder 14"/>
          <p:cNvSpPr>
            <a:spLocks noGrp="1"/>
          </p:cNvSpPr>
          <p:nvPr>
            <p:ph type="body" sz="quarter" idx="13"/>
          </p:nvPr>
        </p:nvSpPr>
        <p:spPr>
          <a:xfrm>
            <a:off x="408708" y="2409026"/>
            <a:ext cx="3713021"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640773"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640774"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640774"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solidFill>
                  <a:schemeClr val="bg1"/>
                </a:solidFill>
              </a:defRPr>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lvl1pPr>
              <a:defRPr>
                <a:solidFill>
                  <a:schemeClr val="bg1"/>
                </a:solidFill>
              </a:defRPr>
            </a:lvl1pPr>
          </a:lstStyle>
          <a:p>
            <a:r>
              <a:rPr lang="en-US"/>
              <a:t>PRESENTATION TITLE</a:t>
            </a:r>
            <a:endParaRPr lang="en-US" dirty="0"/>
          </a:p>
        </p:txBody>
      </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10" name="Footer Placeholder 9"/>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8" name="Group 7"/>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8EF7CDFE-4AD1-C042-9B69-C29262BF44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2857" y="411480"/>
            <a:ext cx="5683943" cy="4160520"/>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ALT">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7" name="Footer Placeholder 6"/>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10" name="Group 9"/>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7"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bg1"/>
                </a:solidFill>
                <a:latin typeface="Verdana" charset="0"/>
                <a:ea typeface="Verdana" charset="0"/>
                <a:cs typeface="Verdana" charset="0"/>
              </a:defRPr>
            </a:lvl1pPr>
          </a:lstStyle>
          <a:p>
            <a:pPr marL="0" lvl="0" algn="ctr">
              <a:lnSpc>
                <a:spcPct val="75000"/>
              </a:lnSpc>
            </a:pPr>
            <a:r>
              <a:rPr lang="en-US" dirty="0"/>
              <a:t>click to edit master closing slide</a:t>
            </a:r>
          </a:p>
        </p:txBody>
      </p:sp>
      <p:pic>
        <p:nvPicPr>
          <p:cNvPr id="18" name="Picture 17">
            <a:extLst>
              <a:ext uri="{FF2B5EF4-FFF2-40B4-BE49-F238E27FC236}">
                <a16:creationId xmlns:a16="http://schemas.microsoft.com/office/drawing/2014/main" id="{710C154A-5454-7D48-9F68-2CA0B87496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22120" y="355600"/>
            <a:ext cx="5683943" cy="4160520"/>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a:xfrm>
            <a:off x="93969" y="6172200"/>
            <a:ext cx="8595360" cy="533400"/>
          </a:xfrm>
        </p:spPr>
        <p:txBody>
          <a:bodyPr/>
          <a:lstStyle>
            <a:lvl1pPr>
              <a:buFont typeface="Arial" pitchFamily="34" charset="0"/>
              <a:buNone/>
              <a:defRPr/>
            </a:lvl1pPr>
          </a:lstStyle>
          <a:p>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9/23/25</a:t>
            </a:fld>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Tree>
    <p:extLst>
      <p:ext uri="{BB962C8B-B14F-4D97-AF65-F5344CB8AC3E}">
        <p14:creationId xmlns:p14="http://schemas.microsoft.com/office/powerpoint/2010/main" val="449820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9/23/25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247675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4"/>
          <a:stretch>
            <a:fillRect/>
          </a:stretch>
        </p:blipFill>
        <p:spPr>
          <a:xfrm>
            <a:off x="6827793" y="6147742"/>
            <a:ext cx="2060466" cy="527423"/>
          </a:xfrm>
          <a:prstGeom prst="rect">
            <a:avLst/>
          </a:prstGeom>
        </p:spPr>
      </p:pic>
      <p:sp>
        <p:nvSpPr>
          <p:cNvPr id="2" name="Title Placeholder 1"/>
          <p:cNvSpPr>
            <a:spLocks noGrp="1"/>
          </p:cNvSpPr>
          <p:nvPr>
            <p:ph type="title"/>
          </p:nvPr>
        </p:nvSpPr>
        <p:spPr>
          <a:xfrm>
            <a:off x="194914" y="434111"/>
            <a:ext cx="8677297" cy="895927"/>
          </a:xfrm>
          <a:prstGeom prst="rect">
            <a:avLst/>
          </a:prstGeom>
        </p:spPr>
        <p:txBody>
          <a:bodyPr vert="horz" lIns="91440" tIns="9144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913" y="1413166"/>
            <a:ext cx="8677297"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5" name="Group 14"/>
          <p:cNvGrpSpPr/>
          <p:nvPr userDrawn="1"/>
        </p:nvGrpSpPr>
        <p:grpSpPr>
          <a:xfrm>
            <a:off x="0" y="0"/>
            <a:ext cx="9144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4" name="Picture 13">
            <a:extLst>
              <a:ext uri="{FF2B5EF4-FFF2-40B4-BE49-F238E27FC236}">
                <a16:creationId xmlns:a16="http://schemas.microsoft.com/office/drawing/2014/main" id="{1DEEB02D-A9CE-7C41-A3A6-27E44A035530}"/>
              </a:ext>
            </a:extLst>
          </p:cNvPr>
          <p:cNvPicPr>
            <a:picLocks noChangeAspect="1"/>
          </p:cNvPicPr>
          <p:nvPr userDrawn="1"/>
        </p:nvPicPr>
        <p:blipFill rotWithShape="1">
          <a:blip r:embed="rId25">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3"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p:titleStyle>
    <p:body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10.wmf"/></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1.xml"/><Relationship Id="rId1" Type="http://schemas.openxmlformats.org/officeDocument/2006/relationships/slideLayout" Target="../slideLayouts/slideLayout5.xml"/><Relationship Id="rId6" Type="http://schemas.openxmlformats.org/officeDocument/2006/relationships/image" Target="../media/image12.wmf"/><Relationship Id="rId5" Type="http://schemas.openxmlformats.org/officeDocument/2006/relationships/oleObject" Target="../embeddings/oleObject3.bin"/><Relationship Id="rId4" Type="http://schemas.openxmlformats.org/officeDocument/2006/relationships/image" Target="../media/image11.w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557" y="585927"/>
            <a:ext cx="8262905" cy="1917132"/>
          </a:xfrm>
        </p:spPr>
        <p:txBody>
          <a:bodyPr/>
          <a:lstStyle/>
          <a:p>
            <a:r>
              <a:rPr lang="en-US" sz="4400" dirty="0"/>
              <a:t>Chapter 4</a:t>
            </a:r>
            <a:br>
              <a:rPr lang="en-US" sz="4400" dirty="0"/>
            </a:br>
            <a:r>
              <a:rPr lang="en-US" sz="4400" dirty="0"/>
              <a:t>Cash and Receivables</a:t>
            </a:r>
          </a:p>
        </p:txBody>
      </p:sp>
      <p:sp>
        <p:nvSpPr>
          <p:cNvPr id="5" name="Subtitle 4">
            <a:extLst>
              <a:ext uri="{FF2B5EF4-FFF2-40B4-BE49-F238E27FC236}">
                <a16:creationId xmlns:a16="http://schemas.microsoft.com/office/drawing/2014/main" id="{3AB1265F-E421-DD47-06F2-8D87649E73A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Text Placeholder 3"/>
          <p:cNvSpPr>
            <a:spLocks noGrp="1"/>
          </p:cNvSpPr>
          <p:nvPr>
            <p:ph type="body" sz="quarter" idx="4294967295"/>
          </p:nvPr>
        </p:nvSpPr>
        <p:spPr>
          <a:xfrm>
            <a:off x="0" y="1524000"/>
            <a:ext cx="8686800" cy="4648200"/>
          </a:xfrm>
        </p:spPr>
        <p:txBody>
          <a:bodyPr>
            <a:normAutofit lnSpcReduction="10000"/>
          </a:bodyPr>
          <a:lstStyle/>
          <a:p>
            <a:pPr marL="457200" indent="-457200">
              <a:buFont typeface="+mj-lt"/>
              <a:buAutoNum type="arabicPeriod"/>
            </a:pPr>
            <a:r>
              <a:rPr lang="en-US" altLang="en-US" b="1" dirty="0">
                <a:ea typeface="ＭＳ Ｐゴシック" pitchFamily="34" charset="-128"/>
              </a:rPr>
              <a:t>Report </a:t>
            </a:r>
            <a:r>
              <a:rPr lang="en-US" altLang="en-US" dirty="0">
                <a:ea typeface="ＭＳ Ｐゴシック" pitchFamily="34" charset="-128"/>
              </a:rPr>
              <a:t>cash on the balance sheet</a:t>
            </a:r>
            <a:endParaRPr lang="en-US" dirty="0"/>
          </a:p>
          <a:p>
            <a:pPr marL="457200" indent="-457200">
              <a:buFont typeface="+mj-lt"/>
              <a:buAutoNum type="arabicPeriod"/>
            </a:pPr>
            <a:r>
              <a:rPr lang="en-US" altLang="en-US" b="1" dirty="0">
                <a:ea typeface="ＭＳ Ｐゴシック" pitchFamily="34" charset="-128"/>
              </a:rPr>
              <a:t>Prepare</a:t>
            </a:r>
            <a:r>
              <a:rPr lang="en-US" altLang="en-US" dirty="0">
                <a:ea typeface="ＭＳ Ｐゴシック" pitchFamily="34" charset="-128"/>
              </a:rPr>
              <a:t> a bank reconciliation</a:t>
            </a:r>
            <a:endParaRPr lang="en-US" dirty="0"/>
          </a:p>
          <a:p>
            <a:pPr marL="212732" indent="-457200">
              <a:buFont typeface="+mj-lt"/>
              <a:buAutoNum type="arabicPeriod"/>
            </a:pPr>
            <a:r>
              <a:rPr lang="en-US" altLang="en-US" b="1" dirty="0">
                <a:ea typeface="ＭＳ Ｐゴシック" pitchFamily="34" charset="-128"/>
              </a:rPr>
              <a:t>Account </a:t>
            </a:r>
            <a:r>
              <a:rPr lang="en-US" altLang="en-US" dirty="0">
                <a:ea typeface="ＭＳ Ｐゴシック" pitchFamily="34" charset="-128"/>
              </a:rPr>
              <a:t>for accounts receivable</a:t>
            </a:r>
          </a:p>
          <a:p>
            <a:pPr marL="457200" indent="-457200">
              <a:buFont typeface="+mj-lt"/>
              <a:buAutoNum type="arabicPeriod"/>
            </a:pPr>
            <a:r>
              <a:rPr lang="en-US" altLang="en-US" b="1" dirty="0">
                <a:ea typeface="ＭＳ Ｐゴシック" pitchFamily="34" charset="-128"/>
              </a:rPr>
              <a:t>Evaluate </a:t>
            </a:r>
            <a:r>
              <a:rPr lang="en-US" altLang="en-US" dirty="0">
                <a:ea typeface="ＭＳ Ｐゴシック" pitchFamily="34" charset="-128"/>
              </a:rPr>
              <a:t>collectability using the allowance for uncollectible accounts</a:t>
            </a:r>
            <a:endParaRPr lang="en-US" dirty="0"/>
          </a:p>
          <a:p>
            <a:pPr marL="457200" indent="-457200">
              <a:buFont typeface="+mj-lt"/>
              <a:buAutoNum type="arabicPeriod"/>
            </a:pPr>
            <a:r>
              <a:rPr lang="en-US" altLang="en-US" b="1" dirty="0">
                <a:ea typeface="ＭＳ Ｐゴシック" pitchFamily="34" charset="-128"/>
              </a:rPr>
              <a:t>Account </a:t>
            </a:r>
            <a:r>
              <a:rPr lang="en-US" altLang="en-US" dirty="0">
                <a:ea typeface="ＭＳ Ｐゴシック" pitchFamily="34" charset="-128"/>
              </a:rPr>
              <a:t>for</a:t>
            </a:r>
            <a:r>
              <a:rPr lang="en-US" altLang="en-US" b="1" dirty="0">
                <a:ea typeface="ＭＳ Ｐゴシック" pitchFamily="34" charset="-128"/>
              </a:rPr>
              <a:t> </a:t>
            </a:r>
            <a:r>
              <a:rPr lang="en-US" altLang="en-US" dirty="0">
                <a:ea typeface="ＭＳ Ｐゴシック" pitchFamily="34" charset="-128"/>
              </a:rPr>
              <a:t>notes receivable and interest revenue</a:t>
            </a:r>
            <a:endParaRPr lang="en-US" dirty="0"/>
          </a:p>
          <a:p>
            <a:pPr marL="457200" indent="-457200">
              <a:buFont typeface="+mj-lt"/>
              <a:buAutoNum type="arabicPeriod"/>
            </a:pPr>
            <a:r>
              <a:rPr lang="en-US" altLang="en-US" b="1" dirty="0">
                <a:ea typeface="ＭＳ Ｐゴシック" pitchFamily="34" charset="-128"/>
              </a:rPr>
              <a:t>Evaluate</a:t>
            </a:r>
            <a:r>
              <a:rPr lang="en-US" altLang="en-US" dirty="0">
                <a:ea typeface="ＭＳ Ｐゴシック" pitchFamily="34" charset="-128"/>
              </a:rPr>
              <a:t> liquidity using ratios</a:t>
            </a:r>
          </a:p>
          <a:p>
            <a:pPr marL="457200" indent="-457200">
              <a:buFont typeface="+mj-lt"/>
              <a:buAutoNum type="arabicPeriod"/>
            </a:pPr>
            <a:r>
              <a:rPr lang="en-US" b="1" dirty="0">
                <a:ea typeface="ＭＳ Ｐゴシック" pitchFamily="34" charset="-128"/>
              </a:rPr>
              <a:t>Analyze </a:t>
            </a:r>
            <a:r>
              <a:rPr lang="en-US" dirty="0">
                <a:ea typeface="ＭＳ Ｐゴシック" pitchFamily="34" charset="-128"/>
              </a:rPr>
              <a:t>receivables collectability using an aging schedule created with an Excel pivot table</a:t>
            </a:r>
            <a:endParaRPr lang="en-US" b="1" dirty="0"/>
          </a:p>
          <a:p>
            <a:endParaRPr lang="en-US" sz="2400" dirty="0"/>
          </a:p>
        </p:txBody>
      </p:sp>
      <p:sp>
        <p:nvSpPr>
          <p:cNvPr id="6" name="Text Placeholder 5"/>
          <p:cNvSpPr>
            <a:spLocks noGrp="1"/>
          </p:cNvSpPr>
          <p:nvPr>
            <p:ph type="body" sz="quarter" idx="4294967295"/>
          </p:nvPr>
        </p:nvSpPr>
        <p:spPr>
          <a:xfrm>
            <a:off x="5486400" y="6400800"/>
            <a:ext cx="3657600" cy="201613"/>
          </a:xfrm>
        </p:spPr>
        <p:txBody>
          <a:bodyPr/>
          <a:lstStyle/>
          <a:p>
            <a:pPr>
              <a:defRPr/>
            </a:pPr>
            <a:r>
              <a:rPr lang="en-US" altLang="en-US" sz="700" dirty="0"/>
              <a:t>.</a:t>
            </a:r>
          </a:p>
        </p:txBody>
      </p:sp>
      <p:sp>
        <p:nvSpPr>
          <p:cNvPr id="2" name="Rectangle 1"/>
          <p:cNvSpPr/>
          <p:nvPr/>
        </p:nvSpPr>
        <p:spPr>
          <a:xfrm>
            <a:off x="1127788" y="533400"/>
            <a:ext cx="6888425" cy="584775"/>
          </a:xfrm>
          <a:prstGeom prst="rect">
            <a:avLst/>
          </a:prstGeom>
        </p:spPr>
        <p:txBody>
          <a:bodyPr wrap="none">
            <a:spAutoFit/>
          </a:bodyPr>
          <a:lstStyle/>
          <a:p>
            <a:pPr algn="ctr"/>
            <a:r>
              <a:rPr lang="en-CA" sz="3200" b="1" dirty="0">
                <a:solidFill>
                  <a:schemeClr val="accent2"/>
                </a:solidFill>
              </a:rPr>
              <a:t>Chapter 4’s Learning Objectives</a:t>
            </a:r>
          </a:p>
        </p:txBody>
      </p:sp>
    </p:spTree>
    <p:extLst>
      <p:ext uri="{BB962C8B-B14F-4D97-AF65-F5344CB8AC3E}">
        <p14:creationId xmlns:p14="http://schemas.microsoft.com/office/powerpoint/2010/main" val="39902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One</a:t>
            </a:r>
          </a:p>
        </p:txBody>
      </p:sp>
      <p:sp>
        <p:nvSpPr>
          <p:cNvPr id="5" name="Subtitle 4"/>
          <p:cNvSpPr>
            <a:spLocks noGrp="1"/>
          </p:cNvSpPr>
          <p:nvPr>
            <p:ph type="subTitle" idx="1"/>
          </p:nvPr>
        </p:nvSpPr>
        <p:spPr/>
        <p:txBody>
          <a:bodyPr/>
          <a:lstStyle/>
          <a:p>
            <a:r>
              <a:rPr lang="en-US" altLang="en-US" sz="2400" b="1" dirty="0">
                <a:ea typeface="ＭＳ Ｐゴシック" pitchFamily="34" charset="-128"/>
              </a:rPr>
              <a:t>Report </a:t>
            </a:r>
            <a:r>
              <a:rPr lang="en-US" altLang="en-US" sz="2400" dirty="0">
                <a:ea typeface="ＭＳ Ｐゴシック" pitchFamily="34" charset="-128"/>
              </a:rPr>
              <a:t>cash on the balance sheet</a:t>
            </a:r>
            <a:endParaRPr lang="en-US" sz="2400" dirty="0"/>
          </a:p>
        </p:txBody>
      </p:sp>
    </p:spTree>
    <p:extLst>
      <p:ext uri="{BB962C8B-B14F-4D97-AF65-F5344CB8AC3E}">
        <p14:creationId xmlns:p14="http://schemas.microsoft.com/office/powerpoint/2010/main" val="2789815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Accounting for Cash </a:t>
            </a:r>
            <a:endParaRPr lang="en-US" dirty="0"/>
          </a:p>
        </p:txBody>
      </p:sp>
      <p:sp>
        <p:nvSpPr>
          <p:cNvPr id="3" name="Content Placeholder 2"/>
          <p:cNvSpPr>
            <a:spLocks noGrp="1"/>
          </p:cNvSpPr>
          <p:nvPr>
            <p:ph idx="1"/>
          </p:nvPr>
        </p:nvSpPr>
        <p:spPr/>
        <p:txBody>
          <a:bodyPr/>
          <a:lstStyle/>
          <a:p>
            <a:pPr algn="just">
              <a:lnSpc>
                <a:spcPct val="110000"/>
              </a:lnSpc>
              <a:buClr>
                <a:schemeClr val="accent2"/>
              </a:buClr>
            </a:pPr>
            <a:r>
              <a:rPr lang="en-US" altLang="en-US" sz="2200" dirty="0">
                <a:solidFill>
                  <a:schemeClr val="accent2"/>
                </a:solidFill>
                <a:ea typeface="ＭＳ Ｐゴシック" pitchFamily="34" charset="-128"/>
              </a:rPr>
              <a:t>Companies usually combine all cash amounts into a single total the balance sheet called “</a:t>
            </a:r>
            <a:r>
              <a:rPr lang="en-US" altLang="en-US" sz="2200" b="1" dirty="0">
                <a:solidFill>
                  <a:schemeClr val="accent2"/>
                </a:solidFill>
                <a:ea typeface="ＭＳ Ｐゴシック" pitchFamily="34" charset="-128"/>
              </a:rPr>
              <a:t>Cash &amp; Cash Equivalents</a:t>
            </a:r>
            <a:r>
              <a:rPr lang="en-US" altLang="en-US" sz="2200" dirty="0">
                <a:solidFill>
                  <a:schemeClr val="accent2"/>
                </a:solidFill>
                <a:ea typeface="ＭＳ Ｐゴシック" pitchFamily="34" charset="-128"/>
              </a:rPr>
              <a:t>”.</a:t>
            </a:r>
          </a:p>
          <a:p>
            <a:pPr lvl="1" algn="just">
              <a:lnSpc>
                <a:spcPct val="110000"/>
              </a:lnSpc>
              <a:spcBef>
                <a:spcPts val="1800"/>
              </a:spcBef>
              <a:buClr>
                <a:schemeClr val="accent2"/>
              </a:buClr>
              <a:buFont typeface="Wingdings" panose="05000000000000000000" pitchFamily="2" charset="2"/>
              <a:buChar char="§"/>
            </a:pPr>
            <a:r>
              <a:rPr lang="en-US" altLang="en-US" sz="2200" b="1" dirty="0">
                <a:solidFill>
                  <a:schemeClr val="accent2"/>
                </a:solidFill>
                <a:ea typeface="ＭＳ Ｐゴシック" pitchFamily="34" charset="-128"/>
              </a:rPr>
              <a:t>Cash</a:t>
            </a:r>
            <a:r>
              <a:rPr lang="en-US" altLang="en-US" sz="2200" dirty="0">
                <a:solidFill>
                  <a:schemeClr val="accent2"/>
                </a:solidFill>
                <a:ea typeface="ＭＳ Ｐゴシック" pitchFamily="34" charset="-128"/>
              </a:rPr>
              <a:t> is the most liquid asset because it is the medium of exchange and used for paying bills, employees’ salaries, repaying loans, buying equipment, and etc. </a:t>
            </a:r>
          </a:p>
          <a:p>
            <a:pPr lvl="1" algn="just">
              <a:lnSpc>
                <a:spcPct val="110000"/>
              </a:lnSpc>
              <a:buClr>
                <a:schemeClr val="accent2"/>
              </a:buClr>
              <a:buFont typeface="Wingdings" panose="05000000000000000000" pitchFamily="2" charset="2"/>
              <a:buChar char="§"/>
            </a:pPr>
            <a:r>
              <a:rPr lang="en-US" altLang="en-US" sz="2200" b="1" dirty="0">
                <a:solidFill>
                  <a:schemeClr val="accent2"/>
                </a:solidFill>
                <a:ea typeface="ＭＳ Ｐゴシック" pitchFamily="34" charset="-128"/>
              </a:rPr>
              <a:t>Cash equivalents</a:t>
            </a:r>
            <a:r>
              <a:rPr lang="en-US" altLang="en-US" sz="2200" dirty="0">
                <a:solidFill>
                  <a:schemeClr val="accent2"/>
                </a:solidFill>
                <a:ea typeface="ＭＳ Ｐゴシック" pitchFamily="34" charset="-128"/>
              </a:rPr>
              <a:t> include liquid assets such as treasury bills, commercial papers, and money market funds, which are interest bearing accounts with less </a:t>
            </a:r>
            <a:r>
              <a:rPr lang="en-US" altLang="en-US" sz="2200" b="1" u="sng" dirty="0">
                <a:solidFill>
                  <a:schemeClr val="accent2"/>
                </a:solidFill>
                <a:ea typeface="ＭＳ Ｐゴシック" pitchFamily="34" charset="-128"/>
              </a:rPr>
              <a:t>than 3 months maturity</a:t>
            </a:r>
            <a:endParaRPr lang="en-US" dirty="0"/>
          </a:p>
        </p:txBody>
      </p:sp>
    </p:spTree>
    <p:extLst>
      <p:ext uri="{BB962C8B-B14F-4D97-AF65-F5344CB8AC3E}">
        <p14:creationId xmlns:p14="http://schemas.microsoft.com/office/powerpoint/2010/main" val="168346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Two</a:t>
            </a:r>
          </a:p>
        </p:txBody>
      </p:sp>
      <p:sp>
        <p:nvSpPr>
          <p:cNvPr id="5" name="Subtitle 4"/>
          <p:cNvSpPr>
            <a:spLocks noGrp="1"/>
          </p:cNvSpPr>
          <p:nvPr>
            <p:ph type="subTitle" idx="1"/>
          </p:nvPr>
        </p:nvSpPr>
        <p:spPr/>
        <p:txBody>
          <a:bodyPr/>
          <a:lstStyle/>
          <a:p>
            <a:r>
              <a:rPr lang="en-US" altLang="en-US" sz="2400" b="1" dirty="0">
                <a:ea typeface="ＭＳ Ｐゴシック" pitchFamily="34" charset="-128"/>
              </a:rPr>
              <a:t>Prepare</a:t>
            </a:r>
            <a:r>
              <a:rPr lang="en-US" altLang="en-US" sz="2400" dirty="0">
                <a:ea typeface="ＭＳ Ｐゴシック" pitchFamily="34" charset="-128"/>
              </a:rPr>
              <a:t> a bank reconciliation</a:t>
            </a:r>
            <a:endParaRPr lang="en-US" sz="2400" dirty="0"/>
          </a:p>
        </p:txBody>
      </p:sp>
    </p:spTree>
    <p:extLst>
      <p:ext uri="{BB962C8B-B14F-4D97-AF65-F5344CB8AC3E}">
        <p14:creationId xmlns:p14="http://schemas.microsoft.com/office/powerpoint/2010/main" val="2910544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19908"/>
          </a:xfrm>
        </p:spPr>
        <p:txBody>
          <a:bodyPr>
            <a:normAutofit/>
          </a:bodyPr>
          <a:lstStyle/>
          <a:p>
            <a:pPr algn="ctr"/>
            <a:r>
              <a:rPr lang="en-US" altLang="en-US" sz="3200" b="1" dirty="0">
                <a:solidFill>
                  <a:schemeClr val="accent2"/>
                </a:solidFill>
                <a:latin typeface="+mn-lt"/>
              </a:rPr>
              <a:t>The Need to Control Cash</a:t>
            </a:r>
            <a:endParaRPr lang="en-US" sz="3200" b="1" dirty="0">
              <a:solidFill>
                <a:schemeClr val="accent2"/>
              </a:solidFill>
              <a:latin typeface="+mn-lt"/>
            </a:endParaRPr>
          </a:p>
        </p:txBody>
      </p:sp>
      <p:sp>
        <p:nvSpPr>
          <p:cNvPr id="3" name="Content Placeholder 2"/>
          <p:cNvSpPr>
            <a:spLocks noGrp="1"/>
          </p:cNvSpPr>
          <p:nvPr>
            <p:ph idx="1"/>
          </p:nvPr>
        </p:nvSpPr>
        <p:spPr>
          <a:xfrm>
            <a:off x="114300" y="914400"/>
            <a:ext cx="8877300" cy="5638800"/>
          </a:xfrm>
        </p:spPr>
        <p:txBody>
          <a:bodyPr>
            <a:normAutofit fontScale="92500" lnSpcReduction="10000"/>
          </a:bodyPr>
          <a:lstStyle/>
          <a:p>
            <a:pPr>
              <a:lnSpc>
                <a:spcPct val="150000"/>
              </a:lnSpc>
              <a:spcBef>
                <a:spcPts val="0"/>
              </a:spcBef>
              <a:buClr>
                <a:schemeClr val="accent2"/>
              </a:buClr>
            </a:pPr>
            <a:r>
              <a:rPr lang="en-US" altLang="en-US" sz="2100" dirty="0">
                <a:solidFill>
                  <a:schemeClr val="accent2"/>
                </a:solidFill>
                <a:ea typeface="ＭＳ Ｐゴシック" pitchFamily="34" charset="-128"/>
              </a:rPr>
              <a:t>Cash is the most liquid asset but it is easy to </a:t>
            </a:r>
            <a:r>
              <a:rPr lang="en-US" altLang="en-US" sz="2100" b="1" dirty="0">
                <a:solidFill>
                  <a:schemeClr val="accent2"/>
                </a:solidFill>
                <a:ea typeface="ＭＳ Ｐゴシック" pitchFamily="34" charset="-128"/>
              </a:rPr>
              <a:t>conceal</a:t>
            </a:r>
            <a:r>
              <a:rPr lang="en-US" altLang="en-US" sz="2100" dirty="0">
                <a:solidFill>
                  <a:schemeClr val="accent2"/>
                </a:solidFill>
                <a:ea typeface="ＭＳ Ｐゴシック" pitchFamily="34" charset="-128"/>
              </a:rPr>
              <a:t> and relatively easy to </a:t>
            </a:r>
            <a:r>
              <a:rPr lang="en-US" altLang="en-US" sz="2100" b="1" dirty="0">
                <a:solidFill>
                  <a:schemeClr val="accent2"/>
                </a:solidFill>
                <a:ea typeface="ＭＳ Ｐゴシック" pitchFamily="34" charset="-128"/>
              </a:rPr>
              <a:t>steal</a:t>
            </a:r>
            <a:r>
              <a:rPr lang="en-US" altLang="en-US" sz="2100" dirty="0">
                <a:solidFill>
                  <a:schemeClr val="accent2"/>
                </a:solidFill>
                <a:ea typeface="ＭＳ Ｐゴシック" pitchFamily="34" charset="-128"/>
              </a:rPr>
              <a:t>. </a:t>
            </a:r>
          </a:p>
          <a:p>
            <a:pPr>
              <a:lnSpc>
                <a:spcPct val="150000"/>
              </a:lnSpc>
              <a:spcBef>
                <a:spcPts val="0"/>
              </a:spcBef>
              <a:buClr>
                <a:schemeClr val="accent2"/>
              </a:buClr>
            </a:pPr>
            <a:r>
              <a:rPr lang="en-US" altLang="en-US" sz="2100" dirty="0">
                <a:solidFill>
                  <a:schemeClr val="accent2"/>
                </a:solidFill>
                <a:ea typeface="ＭＳ Ｐゴシック" pitchFamily="34" charset="-128"/>
              </a:rPr>
              <a:t>Most businesses create specific controls for cash:</a:t>
            </a:r>
          </a:p>
          <a:p>
            <a:pPr marL="914400" lvl="1" indent="-457200">
              <a:lnSpc>
                <a:spcPct val="150000"/>
              </a:lnSpc>
              <a:buClr>
                <a:schemeClr val="accent2"/>
              </a:buClr>
              <a:buSzPct val="100000"/>
              <a:buFont typeface="Calibri" panose="020F0502020204030204" pitchFamily="34" charset="0"/>
              <a:buAutoNum type="arabicPeriod"/>
            </a:pPr>
            <a:r>
              <a:rPr lang="en-CA" altLang="en-US" sz="2100" b="1" dirty="0">
                <a:solidFill>
                  <a:schemeClr val="accent2"/>
                </a:solidFill>
                <a:latin typeface="Arial" panose="020B0604020202020204" pitchFamily="34" charset="0"/>
                <a:cs typeface="Arial" panose="020B0604020202020204" pitchFamily="34" charset="0"/>
              </a:rPr>
              <a:t>Keep cash in a bank account.</a:t>
            </a:r>
          </a:p>
          <a:p>
            <a:pPr marL="914400" lvl="1" indent="-457200">
              <a:lnSpc>
                <a:spcPct val="150000"/>
              </a:lnSpc>
              <a:buClr>
                <a:schemeClr val="accent2"/>
              </a:buClr>
              <a:buSzPct val="100000"/>
              <a:buFont typeface="Calibri" panose="020F0502020204030204" pitchFamily="34" charset="0"/>
              <a:buAutoNum type="arabicPeriod"/>
            </a:pPr>
            <a:r>
              <a:rPr lang="en-CA" altLang="en-US" sz="2100" dirty="0">
                <a:solidFill>
                  <a:schemeClr val="accent2"/>
                </a:solidFill>
                <a:latin typeface="Arial" panose="020B0604020202020204" pitchFamily="34" charset="0"/>
                <a:cs typeface="Arial" panose="020B0604020202020204" pitchFamily="34" charset="0"/>
              </a:rPr>
              <a:t>Separation of duties (the person handling cash should not be responsible for recording cash transactions). </a:t>
            </a:r>
          </a:p>
          <a:p>
            <a:pPr marL="914400" lvl="1" indent="-457200">
              <a:lnSpc>
                <a:spcPct val="150000"/>
              </a:lnSpc>
              <a:buClr>
                <a:schemeClr val="accent2"/>
              </a:buClr>
              <a:buSzPct val="100000"/>
              <a:buFont typeface="Calibri" panose="020F0502020204030204" pitchFamily="34" charset="0"/>
              <a:buAutoNum type="arabicPeriod"/>
            </a:pPr>
            <a:r>
              <a:rPr lang="en-CA" altLang="en-US" sz="2100" dirty="0">
                <a:solidFill>
                  <a:schemeClr val="accent2"/>
                </a:solidFill>
                <a:latin typeface="Arial" panose="020B0604020202020204" pitchFamily="34" charset="0"/>
                <a:cs typeface="Arial" panose="020B0604020202020204" pitchFamily="34" charset="0"/>
              </a:rPr>
              <a:t>Proper authorization for purchases.</a:t>
            </a:r>
          </a:p>
          <a:p>
            <a:pPr marL="914400" lvl="1" indent="-457200">
              <a:lnSpc>
                <a:spcPct val="150000"/>
              </a:lnSpc>
              <a:buClr>
                <a:schemeClr val="accent2"/>
              </a:buClr>
              <a:buSzPct val="100000"/>
              <a:buFont typeface="Calibri" panose="020F0502020204030204" pitchFamily="34" charset="0"/>
              <a:buAutoNum type="arabicPeriod" startAt="3"/>
            </a:pPr>
            <a:r>
              <a:rPr lang="en-CA" altLang="en-US" sz="2100" dirty="0">
                <a:solidFill>
                  <a:schemeClr val="accent2"/>
                </a:solidFill>
                <a:latin typeface="Arial" panose="020B0604020202020204" pitchFamily="34" charset="0"/>
                <a:cs typeface="Arial" panose="020B0604020202020204" pitchFamily="34" charset="0"/>
              </a:rPr>
              <a:t> Proper authorization for cash payments. </a:t>
            </a:r>
          </a:p>
          <a:p>
            <a:pPr marL="914400" lvl="1" indent="-457200">
              <a:lnSpc>
                <a:spcPct val="150000"/>
              </a:lnSpc>
              <a:buClr>
                <a:schemeClr val="accent2"/>
              </a:buClr>
              <a:buSzPct val="100000"/>
              <a:buFont typeface="Calibri" panose="020F0502020204030204" pitchFamily="34" charset="0"/>
              <a:buAutoNum type="arabicPeriod" startAt="3"/>
            </a:pPr>
            <a:r>
              <a:rPr lang="en-CA" altLang="en-US" sz="2100" dirty="0">
                <a:solidFill>
                  <a:schemeClr val="accent2"/>
                </a:solidFill>
                <a:latin typeface="Arial" panose="020B0604020202020204" pitchFamily="34" charset="0"/>
                <a:cs typeface="Arial" panose="020B0604020202020204" pitchFamily="34" charset="0"/>
              </a:rPr>
              <a:t>Authorize a limited number of people to sign cheques.</a:t>
            </a:r>
          </a:p>
          <a:p>
            <a:pPr marL="914400" lvl="1" indent="-457200">
              <a:lnSpc>
                <a:spcPct val="150000"/>
              </a:lnSpc>
              <a:buClr>
                <a:schemeClr val="accent2"/>
              </a:buClr>
              <a:buSzPct val="100000"/>
              <a:buFont typeface="Calibri" panose="020F0502020204030204" pitchFamily="34" charset="0"/>
              <a:buAutoNum type="arabicPeriod" startAt="3"/>
            </a:pPr>
            <a:r>
              <a:rPr lang="en-CA" altLang="en-US" sz="2100" dirty="0">
                <a:solidFill>
                  <a:schemeClr val="accent2"/>
                </a:solidFill>
                <a:latin typeface="Arial" panose="020B0604020202020204" pitchFamily="34" charset="0"/>
                <a:cs typeface="Arial" panose="020B0604020202020204" pitchFamily="34" charset="0"/>
              </a:rPr>
              <a:t>Require daily deposits of cash receipts.</a:t>
            </a:r>
            <a:endParaRPr lang="en-US" altLang="en-US" sz="2100" dirty="0">
              <a:solidFill>
                <a:schemeClr val="accent2"/>
              </a:solidFill>
              <a:latin typeface="Arial" panose="020B0604020202020204" pitchFamily="34" charset="0"/>
              <a:cs typeface="Arial" panose="020B0604020202020204" pitchFamily="34" charset="0"/>
            </a:endParaRPr>
          </a:p>
          <a:p>
            <a:pPr marL="0" indent="0" algn="just">
              <a:lnSpc>
                <a:spcPct val="150000"/>
              </a:lnSpc>
              <a:spcBef>
                <a:spcPts val="0"/>
              </a:spcBef>
              <a:buClr>
                <a:schemeClr val="accent2"/>
              </a:buClr>
              <a:buNone/>
            </a:pPr>
            <a:endParaRPr lang="en-US" altLang="en-US" sz="2100" dirty="0">
              <a:solidFill>
                <a:schemeClr val="accent2"/>
              </a:solidFill>
              <a:ea typeface="ＭＳ Ｐゴシック" pitchFamily="34" charset="-128"/>
            </a:endParaRPr>
          </a:p>
          <a:p>
            <a:pPr marL="457200" lvl="1" indent="0" algn="just">
              <a:lnSpc>
                <a:spcPct val="150000"/>
              </a:lnSpc>
              <a:spcBef>
                <a:spcPts val="0"/>
              </a:spcBef>
              <a:buClr>
                <a:schemeClr val="accent2"/>
              </a:buClr>
              <a:buNone/>
            </a:pPr>
            <a:endParaRPr lang="en-US" sz="2100" dirty="0">
              <a:solidFill>
                <a:schemeClr val="accent2"/>
              </a:solidFill>
              <a:ea typeface="ＭＳ Ｐゴシック" pitchFamily="34" charset="-128"/>
            </a:endParaRPr>
          </a:p>
        </p:txBody>
      </p:sp>
    </p:spTree>
    <p:extLst>
      <p:ext uri="{BB962C8B-B14F-4D97-AF65-F5344CB8AC3E}">
        <p14:creationId xmlns:p14="http://schemas.microsoft.com/office/powerpoint/2010/main" val="236528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3444"/>
            <a:ext cx="8229600" cy="1097280"/>
          </a:xfrm>
        </p:spPr>
        <p:txBody>
          <a:bodyPr/>
          <a:lstStyle/>
          <a:p>
            <a:r>
              <a:rPr lang="en-US" altLang="en-US" dirty="0"/>
              <a:t>Bank Account as Control Device</a:t>
            </a:r>
            <a:endParaRPr lang="en-US" dirty="0"/>
          </a:p>
        </p:txBody>
      </p:sp>
      <p:sp>
        <p:nvSpPr>
          <p:cNvPr id="4" name="Text Placeholder 3"/>
          <p:cNvSpPr>
            <a:spLocks noGrp="1"/>
          </p:cNvSpPr>
          <p:nvPr>
            <p:ph type="body" idx="1"/>
          </p:nvPr>
        </p:nvSpPr>
        <p:spPr>
          <a:xfrm>
            <a:off x="272000" y="2130552"/>
            <a:ext cx="2743200" cy="1828800"/>
          </a:xfrm>
        </p:spPr>
        <p:txBody>
          <a:bodyPr/>
          <a:lstStyle/>
          <a:p>
            <a:r>
              <a:rPr lang="en-US" sz="2800" dirty="0"/>
              <a:t>Signature card</a:t>
            </a:r>
          </a:p>
          <a:p>
            <a:r>
              <a:rPr lang="en-US" sz="1600" dirty="0"/>
              <a:t>Protects against forgery</a:t>
            </a:r>
          </a:p>
        </p:txBody>
      </p:sp>
      <p:sp>
        <p:nvSpPr>
          <p:cNvPr id="5" name="Content Placeholder 4"/>
          <p:cNvSpPr>
            <a:spLocks noGrp="1"/>
          </p:cNvSpPr>
          <p:nvPr>
            <p:ph sz="half" idx="2"/>
          </p:nvPr>
        </p:nvSpPr>
        <p:spPr>
          <a:xfrm>
            <a:off x="1669620" y="4338707"/>
            <a:ext cx="2743200" cy="1828800"/>
          </a:xfrm>
        </p:spPr>
        <p:txBody>
          <a:bodyPr/>
          <a:lstStyle/>
          <a:p>
            <a:pPr marL="0" lvl="0" indent="0"/>
            <a:r>
              <a:rPr lang="en-US" sz="2800" dirty="0"/>
              <a:t>Bank statement</a:t>
            </a:r>
          </a:p>
        </p:txBody>
      </p:sp>
      <p:sp>
        <p:nvSpPr>
          <p:cNvPr id="6" name="Text Placeholder 5"/>
          <p:cNvSpPr>
            <a:spLocks noGrp="1"/>
          </p:cNvSpPr>
          <p:nvPr>
            <p:ph type="body" sz="quarter" idx="3"/>
          </p:nvPr>
        </p:nvSpPr>
        <p:spPr>
          <a:xfrm>
            <a:off x="3183222" y="2130552"/>
            <a:ext cx="2743200" cy="1828800"/>
          </a:xfrm>
        </p:spPr>
        <p:txBody>
          <a:bodyPr/>
          <a:lstStyle/>
          <a:p>
            <a:pPr lvl="0"/>
            <a:r>
              <a:rPr lang="en-US" sz="2800" dirty="0"/>
              <a:t>Deposit slip</a:t>
            </a:r>
          </a:p>
          <a:p>
            <a:pPr lvl="0"/>
            <a:r>
              <a:rPr lang="en-US" sz="1600" dirty="0"/>
              <a:t>Proof of transaction</a:t>
            </a:r>
          </a:p>
        </p:txBody>
      </p:sp>
      <p:sp>
        <p:nvSpPr>
          <p:cNvPr id="7" name="Content Placeholder 6"/>
          <p:cNvSpPr>
            <a:spLocks noGrp="1"/>
          </p:cNvSpPr>
          <p:nvPr>
            <p:ph sz="quarter" idx="4"/>
          </p:nvPr>
        </p:nvSpPr>
        <p:spPr>
          <a:xfrm>
            <a:off x="4730278" y="4338707"/>
            <a:ext cx="2743200" cy="1828800"/>
          </a:xfrm>
        </p:spPr>
        <p:txBody>
          <a:bodyPr/>
          <a:lstStyle/>
          <a:p>
            <a:pPr marL="0" lvl="0" indent="0"/>
            <a:r>
              <a:rPr lang="en-US" sz="2800" dirty="0"/>
              <a:t>Bank reconciliation</a:t>
            </a:r>
          </a:p>
        </p:txBody>
      </p:sp>
      <p:sp>
        <p:nvSpPr>
          <p:cNvPr id="8" name="Content Placeholder 7"/>
          <p:cNvSpPr>
            <a:spLocks noGrp="1"/>
          </p:cNvSpPr>
          <p:nvPr>
            <p:ph sz="half" idx="13"/>
          </p:nvPr>
        </p:nvSpPr>
        <p:spPr>
          <a:xfrm>
            <a:off x="6101878" y="2130552"/>
            <a:ext cx="2743200" cy="1828800"/>
          </a:xfrm>
        </p:spPr>
        <p:txBody>
          <a:bodyPr>
            <a:normAutofit/>
          </a:bodyPr>
          <a:lstStyle/>
          <a:p>
            <a:pPr marL="0" lvl="0" indent="0"/>
            <a:r>
              <a:rPr lang="en-US" sz="2800" dirty="0"/>
              <a:t>Cheque</a:t>
            </a:r>
          </a:p>
          <a:p>
            <a:pPr marL="0" lvl="0" indent="0"/>
            <a:r>
              <a:rPr lang="en-US" sz="1700" dirty="0"/>
              <a:t>3 parties: maker, payee, bank where funds drawn</a:t>
            </a:r>
          </a:p>
        </p:txBody>
      </p:sp>
    </p:spTree>
    <p:extLst>
      <p:ext uri="{BB962C8B-B14F-4D97-AF65-F5344CB8AC3E}">
        <p14:creationId xmlns:p14="http://schemas.microsoft.com/office/powerpoint/2010/main" val="2906578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Bank Statement</a:t>
            </a:r>
            <a:endParaRPr lang="en-US" dirty="0"/>
          </a:p>
        </p:txBody>
      </p:sp>
      <p:sp>
        <p:nvSpPr>
          <p:cNvPr id="3" name="Content Placeholder 2"/>
          <p:cNvSpPr>
            <a:spLocks noGrp="1"/>
          </p:cNvSpPr>
          <p:nvPr>
            <p:ph idx="1"/>
          </p:nvPr>
        </p:nvSpPr>
        <p:spPr>
          <a:xfrm>
            <a:off x="457200" y="1600199"/>
            <a:ext cx="3733800" cy="2514601"/>
          </a:xfrm>
        </p:spPr>
        <p:txBody>
          <a:bodyPr>
            <a:normAutofit lnSpcReduction="10000"/>
          </a:bodyPr>
          <a:lstStyle/>
          <a:p>
            <a:r>
              <a:rPr lang="en-US" altLang="en-US" dirty="0">
                <a:ea typeface="ＭＳ Ｐゴシック" pitchFamily="34" charset="-128"/>
              </a:rPr>
              <a:t>Reports:</a:t>
            </a:r>
          </a:p>
          <a:p>
            <a:pPr marL="409575" lvl="1" indent="0">
              <a:buFont typeface="Georgia" pitchFamily="18" charset="0"/>
              <a:buNone/>
            </a:pPr>
            <a:r>
              <a:rPr lang="en-US" altLang="en-US" dirty="0">
                <a:ea typeface="ＭＳ Ｐゴシック" pitchFamily="34" charset="-128"/>
              </a:rPr>
              <a:t>Activity in a bank account</a:t>
            </a:r>
          </a:p>
          <a:p>
            <a:r>
              <a:rPr lang="en-US" altLang="en-US" dirty="0">
                <a:ea typeface="ＭＳ Ｐゴシック" pitchFamily="34" charset="-128"/>
              </a:rPr>
              <a:t>Electronic Funds Transfer (EFT)</a:t>
            </a:r>
          </a:p>
          <a:p>
            <a:pPr marL="409575" lvl="1" indent="0">
              <a:buFont typeface="Georgia" pitchFamily="18" charset="0"/>
              <a:buNone/>
            </a:pPr>
            <a:r>
              <a:rPr lang="en-US" altLang="en-US" dirty="0">
                <a:ea typeface="ＭＳ Ｐゴシック" pitchFamily="34" charset="-128"/>
              </a:rPr>
              <a:t>Make payments by electronic communication</a:t>
            </a:r>
          </a:p>
        </p:txBody>
      </p:sp>
      <p:pic>
        <p:nvPicPr>
          <p:cNvPr id="6" name="Picture 5" descr="A bank statement lists beginning balance, total deposits, total withdrawals, service charges, and ending balance. The statement lists deposits, with dates and amounts, charges, with cheques and balances, including numbers, dates, and amounts.">
            <a:extLst>
              <a:ext uri="{FF2B5EF4-FFF2-40B4-BE49-F238E27FC236}">
                <a16:creationId xmlns:a16="http://schemas.microsoft.com/office/drawing/2014/main" id="{3F3DFC02-32C3-5B20-343E-9DF3F92BE750}"/>
              </a:ext>
            </a:extLst>
          </p:cNvPr>
          <p:cNvPicPr>
            <a:picLocks noChangeAspect="1"/>
          </p:cNvPicPr>
          <p:nvPr/>
        </p:nvPicPr>
        <p:blipFill rotWithShape="1">
          <a:blip r:embed="rId3">
            <a:extLst>
              <a:ext uri="{28A0092B-C50C-407E-A947-70E740481C1C}">
                <a14:useLocalDpi xmlns:a14="http://schemas.microsoft.com/office/drawing/2010/main" val="0"/>
              </a:ext>
            </a:extLst>
          </a:blip>
          <a:srcRect r="16250"/>
          <a:stretch/>
        </p:blipFill>
        <p:spPr>
          <a:xfrm>
            <a:off x="4058397" y="1600199"/>
            <a:ext cx="4618878" cy="4572000"/>
          </a:xfrm>
          <a:prstGeom prst="rect">
            <a:avLst/>
          </a:prstGeom>
        </p:spPr>
      </p:pic>
    </p:spTree>
    <p:extLst>
      <p:ext uri="{BB962C8B-B14F-4D97-AF65-F5344CB8AC3E}">
        <p14:creationId xmlns:p14="http://schemas.microsoft.com/office/powerpoint/2010/main" val="3503073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Bank Reconciliation</a:t>
            </a:r>
            <a:endParaRPr lang="en-US" dirty="0"/>
          </a:p>
        </p:txBody>
      </p:sp>
      <p:sp>
        <p:nvSpPr>
          <p:cNvPr id="5" name="Content Placeholder 4">
            <a:extLst>
              <a:ext uri="{FF2B5EF4-FFF2-40B4-BE49-F238E27FC236}">
                <a16:creationId xmlns:a16="http://schemas.microsoft.com/office/drawing/2014/main" id="{75611102-50E8-EE2E-F35A-AB65DBA6182F}"/>
              </a:ext>
            </a:extLst>
          </p:cNvPr>
          <p:cNvSpPr>
            <a:spLocks noGrp="1"/>
          </p:cNvSpPr>
          <p:nvPr>
            <p:ph idx="1"/>
          </p:nvPr>
        </p:nvSpPr>
        <p:spPr/>
        <p:txBody>
          <a:bodyPr/>
          <a:lstStyle/>
          <a:p>
            <a:r>
              <a:rPr lang="en-US" altLang="en-US" dirty="0">
                <a:ea typeface="ＭＳ Ｐゴシック" pitchFamily="34" charset="-128"/>
              </a:rPr>
              <a:t>Two records of a business’s cash</a:t>
            </a:r>
          </a:p>
          <a:p>
            <a:pPr marL="914389" lvl="1" indent="-457200">
              <a:buFont typeface="+mj-lt"/>
              <a:buAutoNum type="arabicPeriod"/>
            </a:pPr>
            <a:r>
              <a:rPr lang="en-US" altLang="en-US" dirty="0">
                <a:ea typeface="ＭＳ Ｐゴシック" pitchFamily="34" charset="-128"/>
              </a:rPr>
              <a:t>The Cash account in the General Ledger (the “</a:t>
            </a:r>
            <a:r>
              <a:rPr lang="en-US" altLang="en-US" b="1" u="sng" dirty="0">
                <a:ea typeface="ＭＳ Ｐゴシック" pitchFamily="34" charset="-128"/>
              </a:rPr>
              <a:t>Books</a:t>
            </a:r>
            <a:r>
              <a:rPr lang="en-US" altLang="en-US" dirty="0">
                <a:ea typeface="ＭＳ Ｐゴシック" pitchFamily="34" charset="-128"/>
              </a:rPr>
              <a:t>”)</a:t>
            </a:r>
          </a:p>
          <a:p>
            <a:pPr marL="914389" lvl="1" indent="-457200">
              <a:buFont typeface="+mj-lt"/>
              <a:buAutoNum type="arabicPeriod"/>
            </a:pPr>
            <a:r>
              <a:rPr lang="en-US" altLang="en-US" dirty="0">
                <a:ea typeface="ＭＳ Ｐゴシック" pitchFamily="34" charset="-128"/>
              </a:rPr>
              <a:t>The </a:t>
            </a:r>
            <a:r>
              <a:rPr lang="en-US" altLang="en-US" b="1" u="sng" dirty="0">
                <a:ea typeface="ＭＳ Ｐゴシック" pitchFamily="34" charset="-128"/>
              </a:rPr>
              <a:t>Bank</a:t>
            </a:r>
            <a:r>
              <a:rPr lang="en-US" altLang="en-US" dirty="0">
                <a:ea typeface="ＭＳ Ｐゴシック" pitchFamily="34" charset="-128"/>
              </a:rPr>
              <a:t> Statement</a:t>
            </a:r>
          </a:p>
          <a:p>
            <a:r>
              <a:rPr lang="en-US" altLang="en-US" dirty="0">
                <a:ea typeface="ＭＳ Ｐゴシック" pitchFamily="34" charset="-128"/>
              </a:rPr>
              <a:t>Amounts are usually different</a:t>
            </a:r>
          </a:p>
          <a:p>
            <a:pPr lvl="1"/>
            <a:r>
              <a:rPr lang="en-US" altLang="en-US" dirty="0">
                <a:ea typeface="ＭＳ Ｐゴシック" pitchFamily="34" charset="-128"/>
              </a:rPr>
              <a:t>Time lags in recording transactions, missing items, recording errors</a:t>
            </a:r>
          </a:p>
          <a:p>
            <a:r>
              <a:rPr lang="en-US" altLang="en-US" dirty="0">
                <a:ea typeface="ＭＳ Ｐゴシック" pitchFamily="34" charset="-128"/>
              </a:rPr>
              <a:t>The Bank Reconciliation explains differences between: </a:t>
            </a:r>
          </a:p>
          <a:p>
            <a:pPr marL="914389" lvl="1" indent="-457200">
              <a:buFont typeface="+mj-lt"/>
              <a:buAutoNum type="arabicPeriod"/>
            </a:pPr>
            <a:r>
              <a:rPr lang="en-US" altLang="en-US" dirty="0">
                <a:ea typeface="ＭＳ Ｐゴシック" pitchFamily="34" charset="-128"/>
              </a:rPr>
              <a:t>The balance on the </a:t>
            </a:r>
            <a:r>
              <a:rPr lang="en-US" altLang="en-US" b="1" u="sng" dirty="0">
                <a:ea typeface="ＭＳ Ｐゴシック" pitchFamily="34" charset="-128"/>
              </a:rPr>
              <a:t>Bank</a:t>
            </a:r>
            <a:r>
              <a:rPr lang="en-US" altLang="en-US" dirty="0">
                <a:ea typeface="ＭＳ Ｐゴシック" pitchFamily="34" charset="-128"/>
              </a:rPr>
              <a:t> Statement and</a:t>
            </a:r>
          </a:p>
          <a:p>
            <a:pPr marL="914389" lvl="1" indent="-457200">
              <a:buFont typeface="+mj-lt"/>
              <a:buAutoNum type="arabicPeriod"/>
            </a:pPr>
            <a:r>
              <a:rPr lang="en-US" altLang="en-US" dirty="0">
                <a:ea typeface="ＭＳ Ｐゴシック" pitchFamily="34" charset="-128"/>
              </a:rPr>
              <a:t>The balance of the Cash account in the General Ledger (“</a:t>
            </a:r>
            <a:r>
              <a:rPr lang="en-US" altLang="en-US" b="1" u="sng" dirty="0">
                <a:ea typeface="ＭＳ Ｐゴシック" pitchFamily="34" charset="-128"/>
              </a:rPr>
              <a:t>Books</a:t>
            </a:r>
            <a:r>
              <a:rPr lang="en-US" altLang="en-US" dirty="0">
                <a:ea typeface="ＭＳ Ｐゴシック" pitchFamily="34" charset="-128"/>
              </a:rPr>
              <a:t>”)</a:t>
            </a:r>
            <a:endParaRPr lang="en-US" dirty="0"/>
          </a:p>
        </p:txBody>
      </p:sp>
    </p:spTree>
    <p:extLst>
      <p:ext uri="{BB962C8B-B14F-4D97-AF65-F5344CB8AC3E}">
        <p14:creationId xmlns:p14="http://schemas.microsoft.com/office/powerpoint/2010/main" val="1390537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Bank Side of the Reconciliation</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Deposits in transit (outstanding deposits)</a:t>
            </a:r>
          </a:p>
          <a:p>
            <a:r>
              <a:rPr lang="en-US" altLang="en-US" dirty="0">
                <a:ea typeface="ＭＳ Ｐゴシック" pitchFamily="34" charset="-128"/>
              </a:rPr>
              <a:t>Outstanding cheques</a:t>
            </a:r>
          </a:p>
          <a:p>
            <a:r>
              <a:rPr lang="en-US" altLang="en-US" dirty="0">
                <a:ea typeface="ＭＳ Ｐゴシック" pitchFamily="34" charset="-128"/>
              </a:rPr>
              <a:t>Bank errors</a:t>
            </a:r>
            <a:endParaRPr lang="en-US" dirty="0"/>
          </a:p>
        </p:txBody>
      </p:sp>
    </p:spTree>
    <p:extLst>
      <p:ext uri="{BB962C8B-B14F-4D97-AF65-F5344CB8AC3E}">
        <p14:creationId xmlns:p14="http://schemas.microsoft.com/office/powerpoint/2010/main" val="238946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Book Side of the Reconciliation</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Bank collections</a:t>
            </a:r>
          </a:p>
          <a:p>
            <a:r>
              <a:rPr lang="en-US" altLang="en-US" dirty="0">
                <a:ea typeface="ＭＳ Ｐゴシック" pitchFamily="34" charset="-128"/>
              </a:rPr>
              <a:t>Electronic funds transfers (EFT)</a:t>
            </a:r>
          </a:p>
          <a:p>
            <a:r>
              <a:rPr lang="en-US" altLang="en-US" dirty="0">
                <a:ea typeface="ＭＳ Ｐゴシック" pitchFamily="34" charset="-128"/>
              </a:rPr>
              <a:t>Service charges</a:t>
            </a:r>
          </a:p>
          <a:p>
            <a:r>
              <a:rPr lang="en-US" altLang="en-US" dirty="0">
                <a:ea typeface="ＭＳ Ｐゴシック" pitchFamily="34" charset="-128"/>
              </a:rPr>
              <a:t>Interest income</a:t>
            </a:r>
          </a:p>
          <a:p>
            <a:r>
              <a:rPr lang="en-US" altLang="en-US" dirty="0">
                <a:ea typeface="ＭＳ Ｐゴシック" pitchFamily="34" charset="-128"/>
              </a:rPr>
              <a:t>Nonsufficient funds (NSF) cheques</a:t>
            </a:r>
          </a:p>
          <a:p>
            <a:r>
              <a:rPr lang="en-US" altLang="en-US" dirty="0">
                <a:ea typeface="ＭＳ Ｐゴシック" pitchFamily="34" charset="-128"/>
              </a:rPr>
              <a:t>Cost of printed cheques</a:t>
            </a:r>
          </a:p>
          <a:p>
            <a:r>
              <a:rPr lang="en-US" altLang="en-US" dirty="0">
                <a:ea typeface="ＭＳ Ｐゴシック" pitchFamily="34" charset="-128"/>
              </a:rPr>
              <a:t>Book errors</a:t>
            </a:r>
            <a:endParaRPr lang="en-US" dirty="0"/>
          </a:p>
        </p:txBody>
      </p:sp>
    </p:spTree>
    <p:extLst>
      <p:ext uri="{BB962C8B-B14F-4D97-AF65-F5344CB8AC3E}">
        <p14:creationId xmlns:p14="http://schemas.microsoft.com/office/powerpoint/2010/main" val="2934945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Bank Reconciliation Example</a:t>
            </a:r>
            <a:endParaRPr lang="en-US" dirty="0"/>
          </a:p>
        </p:txBody>
      </p:sp>
      <p:sp>
        <p:nvSpPr>
          <p:cNvPr id="7" name="Content Placeholder 6"/>
          <p:cNvSpPr>
            <a:spLocks noGrp="1"/>
          </p:cNvSpPr>
          <p:nvPr>
            <p:ph idx="1"/>
          </p:nvPr>
        </p:nvSpPr>
        <p:spPr/>
        <p:txBody>
          <a:bodyPr anchor="ctr"/>
          <a:lstStyle/>
          <a:p>
            <a:pPr marL="0" indent="0" algn="ctr">
              <a:spcBef>
                <a:spcPts val="0"/>
              </a:spcBef>
              <a:spcAft>
                <a:spcPts val="1500"/>
              </a:spcAft>
              <a:buNone/>
            </a:pPr>
            <a:r>
              <a:rPr lang="en-US" altLang="en-US" sz="2400" dirty="0"/>
              <a:t>The bank statement of Nixon Partners Inc.,</a:t>
            </a:r>
          </a:p>
          <a:p>
            <a:pPr marL="0" indent="0" algn="ctr">
              <a:spcBef>
                <a:spcPts val="0"/>
              </a:spcBef>
              <a:spcAft>
                <a:spcPts val="1500"/>
              </a:spcAft>
              <a:buNone/>
            </a:pPr>
            <a:r>
              <a:rPr lang="en-US" altLang="en-US" sz="2400" dirty="0"/>
              <a:t>shows a balance of $5,931.51 on January 31.</a:t>
            </a:r>
          </a:p>
          <a:p>
            <a:pPr marL="0" indent="0" algn="ctr">
              <a:spcBef>
                <a:spcPts val="0"/>
              </a:spcBef>
              <a:spcAft>
                <a:spcPts val="1500"/>
              </a:spcAft>
              <a:buNone/>
            </a:pPr>
            <a:r>
              <a:rPr lang="en-US" altLang="en-US" sz="2400" dirty="0"/>
              <a:t>The company Cash account on the</a:t>
            </a:r>
          </a:p>
          <a:p>
            <a:pPr marL="0" indent="0" algn="ctr">
              <a:spcBef>
                <a:spcPts val="0"/>
              </a:spcBef>
              <a:spcAft>
                <a:spcPts val="1500"/>
              </a:spcAft>
              <a:buNone/>
            </a:pPr>
            <a:r>
              <a:rPr lang="en-US" altLang="en-US" sz="2400" dirty="0"/>
              <a:t>books has a balance of $3,294.21.</a:t>
            </a:r>
          </a:p>
          <a:p>
            <a:pPr marL="0" indent="0" algn="ctr">
              <a:spcBef>
                <a:spcPts val="0"/>
              </a:spcBef>
              <a:spcAft>
                <a:spcPts val="1500"/>
              </a:spcAft>
              <a:buNone/>
            </a:pPr>
            <a:r>
              <a:rPr lang="en-US" altLang="en-US" sz="2400" dirty="0"/>
              <a:t>The following reconciling items</a:t>
            </a:r>
          </a:p>
          <a:p>
            <a:pPr marL="0" indent="0" algn="ctr">
              <a:spcBef>
                <a:spcPts val="0"/>
              </a:spcBef>
              <a:spcAft>
                <a:spcPts val="1500"/>
              </a:spcAft>
              <a:buNone/>
            </a:pPr>
            <a:r>
              <a:rPr lang="en-US" altLang="en-US" sz="2400" dirty="0"/>
              <a:t>explain why the two balances differ:</a:t>
            </a:r>
            <a:endParaRPr lang="en-US" sz="2400" dirty="0"/>
          </a:p>
        </p:txBody>
      </p:sp>
    </p:spTree>
    <p:extLst>
      <p:ext uri="{BB962C8B-B14F-4D97-AF65-F5344CB8AC3E}">
        <p14:creationId xmlns:p14="http://schemas.microsoft.com/office/powerpoint/2010/main" val="394717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Bank Reconciliation Example, </a:t>
            </a:r>
            <a:r>
              <a:rPr lang="en-US" altLang="en-US" u="sng" dirty="0"/>
              <a:t>Bank</a:t>
            </a:r>
            <a:r>
              <a:rPr lang="en-US" altLang="en-US" dirty="0"/>
              <a:t> Side</a:t>
            </a:r>
            <a:endParaRPr lang="en-US" dirty="0"/>
          </a:p>
        </p:txBody>
      </p:sp>
      <p:sp>
        <p:nvSpPr>
          <p:cNvPr id="3" name="Content Placeholder 2"/>
          <p:cNvSpPr>
            <a:spLocks noGrp="1"/>
          </p:cNvSpPr>
          <p:nvPr>
            <p:ph idx="1"/>
          </p:nvPr>
        </p:nvSpPr>
        <p:spPr>
          <a:xfrm>
            <a:off x="457200" y="1600200"/>
            <a:ext cx="8229600" cy="2285999"/>
          </a:xfrm>
        </p:spPr>
        <p:txBody>
          <a:bodyPr>
            <a:normAutofit lnSpcReduction="10000"/>
          </a:bodyPr>
          <a:lstStyle/>
          <a:p>
            <a:pPr marL="402336" indent="-402336">
              <a:buFont typeface="+mj-lt"/>
              <a:buAutoNum type="arabicPeriod"/>
            </a:pPr>
            <a:r>
              <a:rPr lang="en-US" altLang="en-US" sz="2500" dirty="0"/>
              <a:t>Deposit in transit: $1,591.63</a:t>
            </a:r>
          </a:p>
          <a:p>
            <a:pPr marL="402336" indent="-402336">
              <a:buFont typeface="+mj-lt"/>
              <a:buAutoNum type="arabicPeriod"/>
            </a:pPr>
            <a:r>
              <a:rPr lang="en-US" altLang="en-US" sz="2500" dirty="0"/>
              <a:t>Bank error: the bank deducted $100.00 for a cheque written by another company. Add $100.00 to the bank balance.</a:t>
            </a:r>
          </a:p>
          <a:p>
            <a:pPr marL="402336" indent="-402336">
              <a:buFont typeface="+mj-lt"/>
              <a:buAutoNum type="arabicPeriod"/>
            </a:pPr>
            <a:r>
              <a:rPr lang="en-US" altLang="en-US" sz="2500" dirty="0"/>
              <a:t>Outstanding cheques – total of $1,350.14</a:t>
            </a:r>
            <a:endParaRPr lang="en-US" sz="2500" dirty="0"/>
          </a:p>
        </p:txBody>
      </p:sp>
      <p:graphicFrame>
        <p:nvGraphicFramePr>
          <p:cNvPr id="4" name="Table 3"/>
          <p:cNvGraphicFramePr>
            <a:graphicFrameLocks noGrp="1"/>
          </p:cNvGraphicFramePr>
          <p:nvPr/>
        </p:nvGraphicFramePr>
        <p:xfrm>
          <a:off x="1485900" y="3962401"/>
          <a:ext cx="6172200" cy="2362199"/>
        </p:xfrm>
        <a:graphic>
          <a:graphicData uri="http://schemas.openxmlformats.org/drawingml/2006/table">
            <a:tbl>
              <a:tblPr firstRow="1" bandRow="1">
                <a:tableStyleId>{2D5ABB26-0587-4C30-8999-92F81FD0307C}</a:tableStyleId>
              </a:tblPr>
              <a:tblGrid>
                <a:gridCol w="2197100">
                  <a:extLst>
                    <a:ext uri="{9D8B030D-6E8A-4147-A177-3AD203B41FA5}">
                      <a16:colId xmlns:a16="http://schemas.microsoft.com/office/drawing/2014/main" val="20000"/>
                    </a:ext>
                  </a:extLst>
                </a:gridCol>
                <a:gridCol w="17653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tblGrid>
              <a:tr h="337457">
                <a:tc>
                  <a:txBody>
                    <a:bodyPr/>
                    <a:lstStyle/>
                    <a:p>
                      <a:pPr algn="ctr" fontAlgn="base">
                        <a:spcAft>
                          <a:spcPts val="0"/>
                        </a:spcAft>
                      </a:pPr>
                      <a:r>
                        <a:rPr lang="en-US" u="none" dirty="0"/>
                        <a:t>Cheque No.</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base">
                        <a:spcAft>
                          <a:spcPts val="0"/>
                        </a:spcAft>
                      </a:pPr>
                      <a:r>
                        <a:rPr lang="en-US" u="none" dirty="0"/>
                        <a:t>Date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base">
                        <a:spcAft>
                          <a:spcPts val="0"/>
                        </a:spcAft>
                      </a:pPr>
                      <a:r>
                        <a:rPr lang="en-US" u="none" dirty="0"/>
                        <a:t>Amount</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7457">
                <a:tc>
                  <a:txBody>
                    <a:bodyPr/>
                    <a:lstStyle/>
                    <a:p>
                      <a:pPr algn="ctr" fontAlgn="base">
                        <a:spcAft>
                          <a:spcPts val="0"/>
                        </a:spcAft>
                      </a:pPr>
                      <a:r>
                        <a:rPr lang="en-US" dirty="0"/>
                        <a:t>337</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dirty="0"/>
                        <a:t>Jan. 27</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dirty="0"/>
                        <a:t>$  286.00</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7457">
                <a:tc>
                  <a:txBody>
                    <a:bodyPr/>
                    <a:lstStyle/>
                    <a:p>
                      <a:pPr algn="ctr" fontAlgn="base">
                        <a:spcAft>
                          <a:spcPts val="0"/>
                        </a:spcAft>
                      </a:pPr>
                      <a:r>
                        <a:rPr lang="en-US" dirty="0"/>
                        <a:t>338</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dirty="0"/>
                        <a:t>28</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dirty="0"/>
                        <a:t>319.47</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7457">
                <a:tc>
                  <a:txBody>
                    <a:bodyPr/>
                    <a:lstStyle/>
                    <a:p>
                      <a:pPr algn="ctr" fontAlgn="base">
                        <a:spcAft>
                          <a:spcPts val="0"/>
                        </a:spcAft>
                      </a:pPr>
                      <a:r>
                        <a:rPr lang="en-US" dirty="0"/>
                        <a:t>339</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dirty="0"/>
                        <a:t>28</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dirty="0"/>
                        <a:t>83.00</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37457">
                <a:tc>
                  <a:txBody>
                    <a:bodyPr/>
                    <a:lstStyle/>
                    <a:p>
                      <a:pPr algn="ctr" fontAlgn="base">
                        <a:spcAft>
                          <a:spcPts val="0"/>
                        </a:spcAft>
                      </a:pPr>
                      <a:r>
                        <a:rPr lang="en-US" dirty="0"/>
                        <a:t>340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dirty="0"/>
                        <a:t>29</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dirty="0"/>
                        <a:t>203.14</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37457">
                <a:tc>
                  <a:txBody>
                    <a:bodyPr/>
                    <a:lstStyle/>
                    <a:p>
                      <a:pPr algn="ctr" fontAlgn="base">
                        <a:spcAft>
                          <a:spcPts val="0"/>
                        </a:spcAft>
                      </a:pPr>
                      <a:r>
                        <a:rPr lang="en-US" dirty="0"/>
                        <a:t>341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dirty="0"/>
                        <a:t>30</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u="none" dirty="0"/>
                        <a:t>458.53</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37457">
                <a:tc>
                  <a:txBody>
                    <a:bodyPr/>
                    <a:lstStyle/>
                    <a:p>
                      <a:pPr algn="ctr" fontAlgn="base">
                        <a:spcAft>
                          <a:spcPts val="0"/>
                        </a:spcAft>
                      </a:pPr>
                      <a:r>
                        <a:rPr lang="en-US" dirty="0"/>
                        <a:t>Total</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dirty="0"/>
                        <a:t> </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ase">
                        <a:spcAft>
                          <a:spcPts val="0"/>
                        </a:spcAft>
                      </a:pPr>
                      <a:r>
                        <a:rPr lang="en-US" u="dbl" baseline="0" dirty="0"/>
                        <a:t>$1,350.14</a:t>
                      </a:r>
                    </a:p>
                  </a:txBody>
                  <a:tcPr marL="0" marR="4572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37818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Bank Reconciliation Example</a:t>
            </a:r>
            <a:endParaRPr lang="en-US" b="0" dirty="0"/>
          </a:p>
        </p:txBody>
      </p:sp>
      <p:graphicFrame>
        <p:nvGraphicFramePr>
          <p:cNvPr id="4" name="Table 3"/>
          <p:cNvGraphicFramePr>
            <a:graphicFrameLocks noGrp="1"/>
          </p:cNvGraphicFramePr>
          <p:nvPr/>
        </p:nvGraphicFramePr>
        <p:xfrm>
          <a:off x="1219200" y="1828800"/>
          <a:ext cx="6705600" cy="2024742"/>
        </p:xfrm>
        <a:graphic>
          <a:graphicData uri="http://schemas.openxmlformats.org/drawingml/2006/table">
            <a:tbl>
              <a:tblPr firstRow="1" bandRow="1">
                <a:tableStyleId>{2D5ABB26-0587-4C30-8999-92F81FD0307C}</a:tableStyleId>
              </a:tblPr>
              <a:tblGrid>
                <a:gridCol w="42672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tblGrid>
              <a:tr h="337457">
                <a:tc>
                  <a:txBody>
                    <a:bodyPr/>
                    <a:lstStyle/>
                    <a:p>
                      <a:pPr marL="91440" algn="l" fontAlgn="base">
                        <a:spcAft>
                          <a:spcPts val="0"/>
                        </a:spcAft>
                      </a:pPr>
                      <a:r>
                        <a:rPr lang="en-US" altLang="en-US" dirty="0"/>
                        <a:t>Balance per </a:t>
                      </a:r>
                      <a:r>
                        <a:rPr lang="en-US" altLang="en-US" i="1" dirty="0">
                          <a:solidFill>
                            <a:srgbClr val="007FA3"/>
                          </a:solidFill>
                        </a:rPr>
                        <a:t>bank</a:t>
                      </a:r>
                      <a:r>
                        <a:rPr lang="en-US" altLang="en-US" dirty="0"/>
                        <a:t>, January 31</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indent="0" algn="r" defTabSz="914400" rtl="0" eaLnBrk="1" fontAlgn="base" latinLnBrk="0" hangingPunct="1">
                        <a:lnSpc>
                          <a:spcPct val="100000"/>
                        </a:lnSpc>
                        <a:spcBef>
                          <a:spcPts val="0"/>
                        </a:spcBef>
                        <a:spcAft>
                          <a:spcPts val="0"/>
                        </a:spcAft>
                        <a:buClrTx/>
                        <a:buSzTx/>
                        <a:buFontTx/>
                        <a:buNone/>
                        <a:tabLst/>
                        <a:defRPr/>
                      </a:pPr>
                      <a:r>
                        <a:rPr lang="en-US" altLang="en-US" sz="1800" kern="1200" dirty="0">
                          <a:solidFill>
                            <a:schemeClr val="tx1"/>
                          </a:solidFill>
                          <a:latin typeface="+mn-lt"/>
                          <a:ea typeface="+mn-ea"/>
                          <a:cs typeface="+mn-cs"/>
                        </a:rPr>
                        <a:t>$5,931.51</a:t>
                      </a:r>
                      <a:endParaRPr lang="en-US" sz="1800" kern="1200" dirty="0">
                        <a:solidFill>
                          <a:schemeClr val="tx1"/>
                        </a:solidFill>
                        <a:latin typeface="+mn-lt"/>
                        <a:ea typeface="+mn-ea"/>
                        <a:cs typeface="+mn-cs"/>
                      </a:endParaRPr>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37457">
                <a:tc>
                  <a:txBody>
                    <a:bodyPr/>
                    <a:lstStyle/>
                    <a:p>
                      <a:pPr marL="91440" algn="l" fontAlgn="base">
                        <a:spcAft>
                          <a:spcPts val="0"/>
                        </a:spcAft>
                      </a:pPr>
                      <a:r>
                        <a:rPr lang="en-US" altLang="en-US" dirty="0"/>
                        <a:t>Add deposit in transit</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indent="0" algn="r" defTabSz="914400" rtl="0" eaLnBrk="1" fontAlgn="base" latinLnBrk="0" hangingPunct="1">
                        <a:lnSpc>
                          <a:spcPct val="100000"/>
                        </a:lnSpc>
                        <a:spcBef>
                          <a:spcPts val="0"/>
                        </a:spcBef>
                        <a:spcAft>
                          <a:spcPts val="0"/>
                        </a:spcAft>
                        <a:buClrTx/>
                        <a:buSzTx/>
                        <a:buFontTx/>
                        <a:buNone/>
                        <a:tabLst/>
                        <a:defRPr/>
                      </a:pPr>
                      <a:r>
                        <a:rPr lang="en-US" altLang="en-US" dirty="0"/>
                        <a:t>1,591.63</a:t>
                      </a: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37457">
                <a:tc>
                  <a:txBody>
                    <a:bodyPr/>
                    <a:lstStyle/>
                    <a:p>
                      <a:pPr marL="91440" algn="l" fontAlgn="base">
                        <a:spcAft>
                          <a:spcPts val="0"/>
                        </a:spcAft>
                      </a:pPr>
                      <a:r>
                        <a:rPr lang="en-US" altLang="en-US" dirty="0"/>
                        <a:t>Cheque erroneously charged</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indent="0" algn="r" defTabSz="914400" rtl="0" eaLnBrk="1" fontAlgn="base" latinLnBrk="0" hangingPunct="1">
                        <a:lnSpc>
                          <a:spcPct val="100000"/>
                        </a:lnSpc>
                        <a:spcBef>
                          <a:spcPts val="0"/>
                        </a:spcBef>
                        <a:spcAft>
                          <a:spcPts val="0"/>
                        </a:spcAft>
                        <a:buClrTx/>
                        <a:buSzTx/>
                        <a:buFontTx/>
                        <a:buNone/>
                        <a:tabLst/>
                        <a:defRPr/>
                      </a:pPr>
                      <a:r>
                        <a:rPr lang="en-US" altLang="en-US" dirty="0"/>
                        <a:t>100.00</a:t>
                      </a: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37457">
                <a:tc>
                  <a:txBody>
                    <a:bodyPr/>
                    <a:lstStyle/>
                    <a:p>
                      <a:pPr marL="91440" algn="l"/>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fontAlgn="base">
                        <a:spcAft>
                          <a:spcPts val="0"/>
                        </a:spcAft>
                      </a:pPr>
                      <a:r>
                        <a:rPr lang="en-US" altLang="en-US" dirty="0"/>
                        <a:t>$7,623.14</a:t>
                      </a: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37457">
                <a:tc>
                  <a:txBody>
                    <a:bodyPr/>
                    <a:lstStyle/>
                    <a:p>
                      <a:pPr marL="91440" algn="l" fontAlgn="base">
                        <a:spcAft>
                          <a:spcPts val="0"/>
                        </a:spcAft>
                      </a:pPr>
                      <a:r>
                        <a:rPr lang="en-US" altLang="en-US" dirty="0"/>
                        <a:t>Less outstanding cheques</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fontAlgn="base">
                        <a:spcAft>
                          <a:spcPts val="0"/>
                        </a:spcAft>
                      </a:pPr>
                      <a:r>
                        <a:rPr lang="en-US" altLang="en-US" dirty="0"/>
                        <a:t>–1,350.14</a:t>
                      </a: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37457">
                <a:tc>
                  <a:txBody>
                    <a:bodyPr/>
                    <a:lstStyle/>
                    <a:p>
                      <a:pPr marL="91440" algn="l" fontAlgn="base">
                        <a:spcAft>
                          <a:spcPts val="0"/>
                        </a:spcAft>
                      </a:pPr>
                      <a:r>
                        <a:rPr lang="en-US" altLang="en-US" dirty="0"/>
                        <a:t>Adjusted bank balance</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fontAlgn="base">
                        <a:spcAft>
                          <a:spcPts val="0"/>
                        </a:spcAft>
                      </a:pPr>
                      <a:r>
                        <a:rPr lang="en-US" altLang="en-US" u="dbl" baseline="0" dirty="0"/>
                        <a:t>$6,273.00</a:t>
                      </a:r>
                      <a:endParaRPr lang="en-US" u="dbl" baseline="0"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6676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Bank Reconciliation Example, </a:t>
            </a:r>
            <a:r>
              <a:rPr lang="en-US" altLang="en-US" u="sng" dirty="0"/>
              <a:t>Book</a:t>
            </a:r>
            <a:r>
              <a:rPr lang="en-US" altLang="en-US" dirty="0"/>
              <a:t> Side</a:t>
            </a:r>
            <a:endParaRPr lang="en-US" sz="2000" dirty="0"/>
          </a:p>
        </p:txBody>
      </p:sp>
      <p:sp>
        <p:nvSpPr>
          <p:cNvPr id="3" name="Content Placeholder 2"/>
          <p:cNvSpPr>
            <a:spLocks noGrp="1"/>
          </p:cNvSpPr>
          <p:nvPr>
            <p:ph idx="1"/>
          </p:nvPr>
        </p:nvSpPr>
        <p:spPr/>
        <p:txBody>
          <a:bodyPr/>
          <a:lstStyle/>
          <a:p>
            <a:pPr marL="402336" indent="-402336">
              <a:buFont typeface="+mj-lt"/>
              <a:buAutoNum type="arabicPeriod" startAt="4"/>
            </a:pPr>
            <a:r>
              <a:rPr lang="en-US" dirty="0">
                <a:cs typeface="Arial" charset="0"/>
              </a:rPr>
              <a:t>EFT receipt of your rent revenue earned on an investment: $904.03.</a:t>
            </a:r>
          </a:p>
          <a:p>
            <a:pPr marL="402336" indent="-402336">
              <a:buFont typeface="+mj-lt"/>
              <a:buAutoNum type="arabicPeriod" startAt="4"/>
              <a:defRPr/>
            </a:pPr>
            <a:r>
              <a:rPr lang="en-US" dirty="0">
                <a:cs typeface="Arial" charset="0"/>
              </a:rPr>
              <a:t>Bank collection of your note receivable including interest of $2114.00: $2114.00.</a:t>
            </a:r>
          </a:p>
          <a:p>
            <a:pPr marL="402336" indent="-402336">
              <a:buFont typeface="+mj-lt"/>
              <a:buAutoNum type="arabicPeriod" startAt="4"/>
            </a:pPr>
            <a:r>
              <a:rPr lang="en-US" dirty="0">
                <a:cs typeface="Arial" charset="0"/>
              </a:rPr>
              <a:t>Interest revenue earned on your bank balance: $28.01</a:t>
            </a:r>
          </a:p>
          <a:p>
            <a:pPr marL="402336" indent="-402336">
              <a:buFont typeface="+mj-lt"/>
              <a:buAutoNum type="arabicPeriod" startAt="4"/>
              <a:defRPr/>
            </a:pPr>
            <a:r>
              <a:rPr lang="en-US" dirty="0">
                <a:cs typeface="Arial" charset="0"/>
              </a:rPr>
              <a:t>Book error: You recorded cheque no. 333 for $510. The amount you actually paid on account was $150.00. Add $360 to book balance.</a:t>
            </a:r>
          </a:p>
        </p:txBody>
      </p:sp>
    </p:spTree>
    <p:extLst>
      <p:ext uri="{BB962C8B-B14F-4D97-AF65-F5344CB8AC3E}">
        <p14:creationId xmlns:p14="http://schemas.microsoft.com/office/powerpoint/2010/main" val="81767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The Bank Reconciliation Example, Book Side</a:t>
            </a:r>
            <a:endParaRPr lang="en-US" sz="2000" b="0" dirty="0"/>
          </a:p>
        </p:txBody>
      </p:sp>
      <p:sp>
        <p:nvSpPr>
          <p:cNvPr id="3" name="Content Placeholder 2"/>
          <p:cNvSpPr>
            <a:spLocks noGrp="1"/>
          </p:cNvSpPr>
          <p:nvPr>
            <p:ph idx="1"/>
          </p:nvPr>
        </p:nvSpPr>
        <p:spPr/>
        <p:txBody>
          <a:bodyPr/>
          <a:lstStyle/>
          <a:p>
            <a:pPr marL="457200" indent="-457200">
              <a:buFont typeface="+mj-lt"/>
              <a:buAutoNum type="arabicPeriod" startAt="8"/>
              <a:defRPr/>
            </a:pPr>
            <a:r>
              <a:rPr lang="en-US" dirty="0">
                <a:cs typeface="Arial" charset="0"/>
              </a:rPr>
              <a:t>Bank service charge: $14.25.</a:t>
            </a:r>
          </a:p>
          <a:p>
            <a:pPr marL="457200" indent="-457200">
              <a:buFont typeface="+mj-lt"/>
              <a:buAutoNum type="arabicPeriod" startAt="8"/>
              <a:defRPr/>
            </a:pPr>
            <a:r>
              <a:rPr lang="en-US" dirty="0">
                <a:cs typeface="Arial" charset="0"/>
              </a:rPr>
              <a:t>NSF cheque from a customer: $52.00. Subtract $52.00 from your book balance.</a:t>
            </a:r>
          </a:p>
          <a:p>
            <a:pPr marL="457200" indent="-457200">
              <a:buFont typeface="+mj-lt"/>
              <a:buAutoNum type="arabicPeriod" startAt="8"/>
            </a:pPr>
            <a:r>
              <a:rPr lang="en-US" dirty="0">
                <a:cs typeface="Arial" charset="0"/>
              </a:rPr>
              <a:t>EFT payment of insurance expense: $361.00.</a:t>
            </a:r>
            <a:endParaRPr lang="en-US" dirty="0"/>
          </a:p>
        </p:txBody>
      </p:sp>
    </p:spTree>
    <p:extLst>
      <p:ext uri="{BB962C8B-B14F-4D97-AF65-F5344CB8AC3E}">
        <p14:creationId xmlns:p14="http://schemas.microsoft.com/office/powerpoint/2010/main" val="1364714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The Bank Reconciliation </a:t>
            </a:r>
            <a:r>
              <a:rPr lang="en-US" altLang="en-US" dirty="0"/>
              <a:t>Example</a:t>
            </a:r>
            <a:endParaRPr lang="en-US" b="0" dirty="0"/>
          </a:p>
        </p:txBody>
      </p:sp>
      <p:graphicFrame>
        <p:nvGraphicFramePr>
          <p:cNvPr id="4" name="Table 3"/>
          <p:cNvGraphicFramePr>
            <a:graphicFrameLocks noGrp="1"/>
          </p:cNvGraphicFramePr>
          <p:nvPr/>
        </p:nvGraphicFramePr>
        <p:xfrm>
          <a:off x="852488" y="1828800"/>
          <a:ext cx="7439025" cy="3374570"/>
        </p:xfrm>
        <a:graphic>
          <a:graphicData uri="http://schemas.openxmlformats.org/drawingml/2006/table">
            <a:tbl>
              <a:tblPr firstRow="1" bandRow="1">
                <a:tableStyleId>{2D5ABB26-0587-4C30-8999-92F81FD0307C}</a:tableStyleId>
              </a:tblPr>
              <a:tblGrid>
                <a:gridCol w="3790763">
                  <a:extLst>
                    <a:ext uri="{9D8B030D-6E8A-4147-A177-3AD203B41FA5}">
                      <a16:colId xmlns:a16="http://schemas.microsoft.com/office/drawing/2014/main" val="20000"/>
                    </a:ext>
                  </a:extLst>
                </a:gridCol>
                <a:gridCol w="2048062">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37457">
                <a:tc>
                  <a:txBody>
                    <a:bodyPr/>
                    <a:lstStyle/>
                    <a:p>
                      <a:pPr marL="91440" algn="l" fontAlgn="base">
                        <a:spcAft>
                          <a:spcPts val="0"/>
                        </a:spcAft>
                      </a:pPr>
                      <a:r>
                        <a:rPr lang="en-US" altLang="en-US" dirty="0"/>
                        <a:t>Balance per </a:t>
                      </a:r>
                      <a:r>
                        <a:rPr lang="en-US" altLang="en-US" i="1" dirty="0">
                          <a:solidFill>
                            <a:srgbClr val="007FA3"/>
                          </a:solidFill>
                        </a:rPr>
                        <a:t>books</a:t>
                      </a:r>
                      <a:r>
                        <a:rPr lang="en-US" altLang="en-US" dirty="0"/>
                        <a:t>, January 31</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r" defTabSz="914400" rtl="0" eaLnBrk="1" fontAlgn="base" latinLnBrk="0" hangingPunct="1">
                        <a:lnSpc>
                          <a:spcPct val="100000"/>
                        </a:lnSpc>
                        <a:spcBef>
                          <a:spcPts val="0"/>
                        </a:spcBef>
                        <a:spcAft>
                          <a:spcPts val="0"/>
                        </a:spcAft>
                        <a:buClrTx/>
                        <a:buSzTx/>
                        <a:buFontTx/>
                        <a:buNone/>
                        <a:tabLst/>
                        <a:defRPr/>
                      </a:pP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r" defTabSz="914400" rtl="0" eaLnBrk="1" fontAlgn="base" latinLnBrk="0" hangingPunct="1">
                        <a:lnSpc>
                          <a:spcPct val="100000"/>
                        </a:lnSpc>
                        <a:spcBef>
                          <a:spcPts val="0"/>
                        </a:spcBef>
                        <a:spcAft>
                          <a:spcPts val="0"/>
                        </a:spcAft>
                        <a:buClrTx/>
                        <a:buSzTx/>
                        <a:buFontTx/>
                        <a:buNone/>
                        <a:tabLst/>
                        <a:defRPr/>
                      </a:pPr>
                      <a:r>
                        <a:rPr lang="en-US" altLang="en-US" dirty="0"/>
                        <a:t>$3,294.21</a:t>
                      </a: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7457">
                <a:tc>
                  <a:txBody>
                    <a:bodyPr/>
                    <a:lstStyle/>
                    <a:p>
                      <a:pPr marL="91440" algn="l" fontAlgn="base">
                        <a:spcAft>
                          <a:spcPts val="0"/>
                        </a:spcAft>
                      </a:pPr>
                      <a:r>
                        <a:rPr lang="en-US" altLang="en-US" dirty="0"/>
                        <a:t>Add: ETF receipt of rent revenue</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r" defTabSz="914400" rtl="0" eaLnBrk="1" fontAlgn="base" latinLnBrk="0" hangingPunct="1">
                        <a:lnSpc>
                          <a:spcPct val="100000"/>
                        </a:lnSpc>
                        <a:spcBef>
                          <a:spcPts val="0"/>
                        </a:spcBef>
                        <a:spcAft>
                          <a:spcPts val="0"/>
                        </a:spcAft>
                        <a:buClrTx/>
                        <a:buSzTx/>
                        <a:buFontTx/>
                        <a:buNone/>
                        <a:tabLst/>
                        <a:defRPr/>
                      </a:pP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r" defTabSz="914400" rtl="0" eaLnBrk="1" fontAlgn="base" latinLnBrk="0" hangingPunct="1">
                        <a:lnSpc>
                          <a:spcPct val="100000"/>
                        </a:lnSpc>
                        <a:spcBef>
                          <a:spcPts val="0"/>
                        </a:spcBef>
                        <a:spcAft>
                          <a:spcPts val="0"/>
                        </a:spcAft>
                        <a:buClrTx/>
                        <a:buSzTx/>
                        <a:buFontTx/>
                        <a:buNone/>
                        <a:tabLst/>
                        <a:defRPr/>
                      </a:pPr>
                      <a:r>
                        <a:rPr lang="en-US" altLang="en-US" dirty="0"/>
                        <a:t>904.03</a:t>
                      </a: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7457">
                <a:tc>
                  <a:txBody>
                    <a:bodyPr/>
                    <a:lstStyle/>
                    <a:p>
                      <a:pPr marL="91440" algn="l" fontAlgn="base">
                        <a:spcAft>
                          <a:spcPts val="0"/>
                        </a:spcAft>
                      </a:pPr>
                      <a:r>
                        <a:rPr lang="en-US" altLang="en-US" dirty="0"/>
                        <a:t>Collection of note receivable</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r" defTabSz="914400" rtl="0" eaLnBrk="1" fontAlgn="base" latinLnBrk="0" hangingPunct="1">
                        <a:lnSpc>
                          <a:spcPct val="100000"/>
                        </a:lnSpc>
                        <a:spcBef>
                          <a:spcPts val="0"/>
                        </a:spcBef>
                        <a:spcAft>
                          <a:spcPts val="0"/>
                        </a:spcAft>
                        <a:buClrTx/>
                        <a:buSzTx/>
                        <a:buFontTx/>
                        <a:buNone/>
                        <a:tabLst/>
                        <a:defRPr/>
                      </a:pP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r" defTabSz="914400" rtl="0" eaLnBrk="1" fontAlgn="base" latinLnBrk="0" hangingPunct="1">
                        <a:lnSpc>
                          <a:spcPct val="100000"/>
                        </a:lnSpc>
                        <a:spcBef>
                          <a:spcPts val="0"/>
                        </a:spcBef>
                        <a:spcAft>
                          <a:spcPts val="0"/>
                        </a:spcAft>
                        <a:buClrTx/>
                        <a:buSzTx/>
                        <a:buFontTx/>
                        <a:buNone/>
                        <a:tabLst/>
                        <a:defRPr/>
                      </a:pPr>
                      <a:r>
                        <a:rPr lang="en-US" altLang="en-US" dirty="0"/>
                        <a:t>2,114.00</a:t>
                      </a: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7457">
                <a:tc>
                  <a:txBody>
                    <a:bodyPr/>
                    <a:lstStyle/>
                    <a:p>
                      <a:pPr marL="91440" algn="l"/>
                      <a:r>
                        <a:rPr lang="en-US" altLang="en-US" dirty="0"/>
                        <a:t>Interest revenue earned	</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fontAlgn="base">
                        <a:spcAft>
                          <a:spcPts val="0"/>
                        </a:spcAft>
                      </a:pP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fontAlgn="base">
                        <a:spcAft>
                          <a:spcPts val="0"/>
                        </a:spcAft>
                      </a:pPr>
                      <a:r>
                        <a:rPr lang="en-US" altLang="en-US" dirty="0"/>
                        <a:t> 28.01</a:t>
                      </a: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37457">
                <a:tc>
                  <a:txBody>
                    <a:bodyPr/>
                    <a:lstStyle/>
                    <a:p>
                      <a:pPr marL="91440" algn="l" fontAlgn="base">
                        <a:spcAft>
                          <a:spcPts val="0"/>
                        </a:spcAft>
                      </a:pPr>
                      <a:r>
                        <a:rPr lang="en-US" altLang="en-US" dirty="0"/>
                        <a:t>Correction of book error</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fontAlgn="base">
                        <a:spcAft>
                          <a:spcPts val="0"/>
                        </a:spcAft>
                      </a:pP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fontAlgn="base">
                        <a:spcAft>
                          <a:spcPts val="0"/>
                        </a:spcAft>
                      </a:pPr>
                      <a:r>
                        <a:rPr lang="en-US" altLang="en-US" dirty="0"/>
                        <a:t>360.00</a:t>
                      </a: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37457">
                <a:tc>
                  <a:txBody>
                    <a:bodyPr/>
                    <a:lstStyle/>
                    <a:p>
                      <a:pPr marL="91440" algn="l" fontAlgn="base">
                        <a:spcAft>
                          <a:spcPts val="0"/>
                        </a:spcAft>
                      </a:pP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fontAlgn="base">
                        <a:spcAft>
                          <a:spcPts val="0"/>
                        </a:spcAft>
                      </a:pP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fontAlgn="base" latinLnBrk="0" hangingPunct="1">
                        <a:spcAft>
                          <a:spcPts val="0"/>
                        </a:spcAft>
                      </a:pPr>
                      <a:r>
                        <a:rPr lang="en-US" altLang="en-US" sz="1800" kern="1200" dirty="0">
                          <a:solidFill>
                            <a:schemeClr val="tx1"/>
                          </a:solidFill>
                          <a:latin typeface="+mn-lt"/>
                          <a:ea typeface="+mn-ea"/>
                          <a:cs typeface="+mn-cs"/>
                        </a:rPr>
                        <a:t>$6,700.25</a:t>
                      </a:r>
                      <a:endParaRPr lang="en-US" sz="1800" kern="1200" dirty="0">
                        <a:solidFill>
                          <a:schemeClr val="tx1"/>
                        </a:solidFill>
                        <a:latin typeface="+mn-lt"/>
                        <a:ea typeface="+mn-ea"/>
                        <a:cs typeface="+mn-cs"/>
                      </a:endParaRPr>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37457">
                <a:tc>
                  <a:txBody>
                    <a:bodyPr/>
                    <a:lstStyle/>
                    <a:p>
                      <a:pPr marL="91440" algn="l" fontAlgn="base">
                        <a:spcAft>
                          <a:spcPts val="0"/>
                        </a:spcAft>
                      </a:pPr>
                      <a:r>
                        <a:rPr lang="en-US" altLang="en-US" dirty="0"/>
                        <a:t>Less: Service charge</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fontAlgn="base" latinLnBrk="0" hangingPunct="1">
                        <a:spcAft>
                          <a:spcPts val="0"/>
                        </a:spcAft>
                      </a:pPr>
                      <a:r>
                        <a:rPr lang="en-US" altLang="en-US" sz="1800" kern="1200" dirty="0">
                          <a:solidFill>
                            <a:schemeClr val="tx1"/>
                          </a:solidFill>
                          <a:latin typeface="+mn-lt"/>
                          <a:ea typeface="+mn-ea"/>
                          <a:cs typeface="+mn-cs"/>
                        </a:rPr>
                        <a:t>$ 14.25</a:t>
                      </a:r>
                      <a:endParaRPr lang="en-US" sz="1800" kern="1200" dirty="0">
                        <a:solidFill>
                          <a:schemeClr val="tx1"/>
                        </a:solidFill>
                        <a:latin typeface="+mn-lt"/>
                        <a:ea typeface="+mn-ea"/>
                        <a:cs typeface="+mn-cs"/>
                      </a:endParaRPr>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37457">
                <a:tc>
                  <a:txBody>
                    <a:bodyPr/>
                    <a:lstStyle/>
                    <a:p>
                      <a:pPr marL="91440" algn="l" fontAlgn="base">
                        <a:spcAft>
                          <a:spcPts val="0"/>
                        </a:spcAft>
                      </a:pPr>
                      <a:r>
                        <a:rPr lang="en-US" altLang="en-US" dirty="0"/>
                        <a:t>NSF cheque</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fontAlgn="base" latinLnBrk="0" hangingPunct="1">
                        <a:spcAft>
                          <a:spcPts val="0"/>
                        </a:spcAft>
                      </a:pPr>
                      <a:r>
                        <a:rPr lang="en-US" altLang="en-US" sz="1800" kern="1200" dirty="0">
                          <a:solidFill>
                            <a:schemeClr val="tx1"/>
                          </a:solidFill>
                          <a:latin typeface="+mn-lt"/>
                          <a:ea typeface="+mn-ea"/>
                          <a:cs typeface="+mn-cs"/>
                        </a:rPr>
                        <a:t> 52.00</a:t>
                      </a:r>
                      <a:endParaRPr lang="en-US" sz="1800" kern="1200" dirty="0">
                        <a:solidFill>
                          <a:schemeClr val="tx1"/>
                        </a:solidFill>
                        <a:latin typeface="+mn-lt"/>
                        <a:ea typeface="+mn-ea"/>
                        <a:cs typeface="+mn-cs"/>
                      </a:endParaRPr>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37457">
                <a:tc>
                  <a:txBody>
                    <a:bodyPr/>
                    <a:lstStyle/>
                    <a:p>
                      <a:pPr marL="91440" algn="l" fontAlgn="base">
                        <a:spcAft>
                          <a:spcPts val="0"/>
                        </a:spcAft>
                      </a:pPr>
                      <a:r>
                        <a:rPr lang="en-US" altLang="en-US" dirty="0"/>
                        <a:t>Payment of insurance expense</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fontAlgn="base" latinLnBrk="0" hangingPunct="1">
                        <a:spcAft>
                          <a:spcPts val="0"/>
                        </a:spcAft>
                      </a:pPr>
                      <a:r>
                        <a:rPr lang="en-US" altLang="en-US" sz="1800" kern="1200" dirty="0">
                          <a:solidFill>
                            <a:schemeClr val="tx1"/>
                          </a:solidFill>
                          <a:latin typeface="+mn-lt"/>
                          <a:ea typeface="+mn-ea"/>
                          <a:cs typeface="+mn-cs"/>
                        </a:rPr>
                        <a:t> 361.00</a:t>
                      </a:r>
                      <a:endParaRPr lang="en-US" sz="1800" kern="1200" dirty="0">
                        <a:solidFill>
                          <a:schemeClr val="tx1"/>
                        </a:solidFill>
                        <a:latin typeface="+mn-lt"/>
                        <a:ea typeface="+mn-ea"/>
                        <a:cs typeface="+mn-cs"/>
                      </a:endParaRPr>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r" defTabSz="914400" rtl="0" eaLnBrk="1" fontAlgn="base" latinLnBrk="0" hangingPunct="1">
                        <a:spcAft>
                          <a:spcPts val="0"/>
                        </a:spcAft>
                      </a:pPr>
                      <a:r>
                        <a:rPr lang="en-US" altLang="en-US" sz="1800" kern="1200" dirty="0">
                          <a:solidFill>
                            <a:schemeClr val="tx1"/>
                          </a:solidFill>
                          <a:latin typeface="+mn-lt"/>
                          <a:ea typeface="+mn-ea"/>
                          <a:cs typeface="+mn-cs"/>
                        </a:rPr>
                        <a:t>– 427.25</a:t>
                      </a:r>
                      <a:endParaRPr lang="en-US" sz="1800" kern="1200" dirty="0">
                        <a:solidFill>
                          <a:schemeClr val="tx1"/>
                        </a:solidFill>
                        <a:latin typeface="+mn-lt"/>
                        <a:ea typeface="+mn-ea"/>
                        <a:cs typeface="+mn-cs"/>
                      </a:endParaRPr>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37457">
                <a:tc>
                  <a:txBody>
                    <a:bodyPr/>
                    <a:lstStyle/>
                    <a:p>
                      <a:pPr marL="91440" algn="l" fontAlgn="base">
                        <a:spcAft>
                          <a:spcPts val="0"/>
                        </a:spcAft>
                      </a:pPr>
                      <a:r>
                        <a:rPr lang="en-US" altLang="en-US" dirty="0"/>
                        <a:t>Adjusted book balance</a:t>
                      </a:r>
                      <a:endParaRPr lang="en-US"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fontAlgn="base">
                        <a:spcAft>
                          <a:spcPts val="0"/>
                        </a:spcAft>
                      </a:pPr>
                      <a:endParaRPr lang="en-US" dirty="0"/>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fontAlgn="base">
                        <a:spcAft>
                          <a:spcPts val="0"/>
                        </a:spcAft>
                      </a:pPr>
                      <a:r>
                        <a:rPr lang="en-US" altLang="en-US" sz="1800" u="dbl" kern="1200" baseline="0" dirty="0">
                          <a:solidFill>
                            <a:schemeClr val="tx1"/>
                          </a:solidFill>
                          <a:latin typeface="+mn-lt"/>
                          <a:ea typeface="+mn-ea"/>
                          <a:cs typeface="+mn-cs"/>
                        </a:rPr>
                        <a:t>$6,273.00</a:t>
                      </a:r>
                      <a:endParaRPr lang="en-US" sz="1800" u="dbl" kern="1200" baseline="0" dirty="0">
                        <a:solidFill>
                          <a:schemeClr val="tx1"/>
                        </a:solidFill>
                        <a:latin typeface="+mn-lt"/>
                        <a:ea typeface="+mn-ea"/>
                        <a:cs typeface="+mn-cs"/>
                      </a:endParaRPr>
                    </a:p>
                  </a:txBody>
                  <a:tcPr marL="0" marR="1828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05666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of Reconciling Items</a:t>
            </a:r>
            <a:endParaRPr lang="en-US" dirty="0"/>
          </a:p>
        </p:txBody>
      </p:sp>
      <p:graphicFrame>
        <p:nvGraphicFramePr>
          <p:cNvPr id="5" name="Table 4"/>
          <p:cNvGraphicFramePr>
            <a:graphicFrameLocks noGrp="1"/>
          </p:cNvGraphicFramePr>
          <p:nvPr/>
        </p:nvGraphicFramePr>
        <p:xfrm>
          <a:off x="457200" y="1828800"/>
          <a:ext cx="8229600" cy="2551113"/>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12929">
                <a:tc>
                  <a:txBody>
                    <a:bodyPr/>
                    <a:lstStyle/>
                    <a:p>
                      <a:pPr algn="ctr"/>
                      <a:r>
                        <a:rPr lang="en-US" sz="1800" b="1" dirty="0"/>
                        <a:t>BANK BALANCE - ALWAYS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b="1" dirty="0"/>
                        <a:t>BOOK BALANCE</a:t>
                      </a:r>
                      <a:r>
                        <a:rPr lang="en-US" sz="1800" b="1" baseline="0" dirty="0"/>
                        <a:t> - ALWAYS</a:t>
                      </a:r>
                      <a:endParaRPr lang="en-US" sz="1800" b="1"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12728">
                <a:tc>
                  <a:txBody>
                    <a:bodyPr/>
                    <a:lstStyle/>
                    <a:p>
                      <a:r>
                        <a:rPr lang="en-US" sz="1800" i="1" dirty="0"/>
                        <a:t>Add</a:t>
                      </a:r>
                      <a:r>
                        <a:rPr lang="en-US" sz="1800" baseline="0" dirty="0"/>
                        <a:t> deposits in transit</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i="1" dirty="0"/>
                        <a:t>Add</a:t>
                      </a:r>
                      <a:r>
                        <a:rPr lang="en-US" sz="1800" baseline="0" dirty="0"/>
                        <a:t> bank collections, interest revenue, and EFT receipts</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12728">
                <a:tc>
                  <a:txBody>
                    <a:bodyPr/>
                    <a:lstStyle/>
                    <a:p>
                      <a:r>
                        <a:rPr lang="en-US" sz="1800" i="1" dirty="0"/>
                        <a:t>Subtract</a:t>
                      </a:r>
                      <a:r>
                        <a:rPr lang="en-US" sz="1800" dirty="0"/>
                        <a:t> outstanding cheques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i="1" dirty="0"/>
                        <a:t>Subtract</a:t>
                      </a:r>
                      <a:r>
                        <a:rPr lang="en-US" sz="1800" baseline="0" dirty="0"/>
                        <a:t> services charges, NSF cheques, EFT payments</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12728">
                <a:tc>
                  <a:txBody>
                    <a:bodyPr/>
                    <a:lstStyle/>
                    <a:p>
                      <a:r>
                        <a:rPr lang="en-US" sz="1800" i="1" dirty="0"/>
                        <a:t>Add</a:t>
                      </a:r>
                      <a:r>
                        <a:rPr lang="en-US" sz="1800" dirty="0"/>
                        <a:t> or </a:t>
                      </a:r>
                      <a:r>
                        <a:rPr lang="en-US" sz="1800" i="1" dirty="0"/>
                        <a:t>subtract</a:t>
                      </a:r>
                      <a:r>
                        <a:rPr lang="en-US" sz="1800" dirty="0"/>
                        <a:t> correction of bank errors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i="1" dirty="0"/>
                        <a:t>Add</a:t>
                      </a:r>
                      <a:r>
                        <a:rPr lang="en-US" sz="1800" dirty="0"/>
                        <a:t> or </a:t>
                      </a:r>
                      <a:r>
                        <a:rPr lang="en-US" sz="1800" i="1" dirty="0"/>
                        <a:t>subtract</a:t>
                      </a:r>
                      <a:r>
                        <a:rPr lang="en-US" sz="1800" dirty="0"/>
                        <a:t> correction of book errors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44982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Journalizing Bank Reconciliation Items </a:t>
            </a:r>
            <a:r>
              <a:rPr lang="en-US" altLang="en-US" sz="2000" b="0" dirty="0"/>
              <a:t>(1 of 3)</a:t>
            </a:r>
            <a:endParaRPr lang="en-US" sz="2000" b="0" dirty="0"/>
          </a:p>
        </p:txBody>
      </p:sp>
      <p:sp>
        <p:nvSpPr>
          <p:cNvPr id="3" name="Content Placeholder 2"/>
          <p:cNvSpPr>
            <a:spLocks noGrp="1"/>
          </p:cNvSpPr>
          <p:nvPr>
            <p:ph idx="1"/>
          </p:nvPr>
        </p:nvSpPr>
        <p:spPr/>
        <p:txBody>
          <a:bodyPr/>
          <a:lstStyle/>
          <a:p>
            <a:r>
              <a:rPr lang="en-US" altLang="en-US" dirty="0">
                <a:ea typeface="ＭＳ Ｐゴシック" pitchFamily="34" charset="-128"/>
              </a:rPr>
              <a:t>All items on the </a:t>
            </a:r>
            <a:r>
              <a:rPr lang="en-US" altLang="en-US" u="sng" dirty="0">
                <a:ea typeface="ＭＳ Ｐゴシック" pitchFamily="34" charset="-128"/>
              </a:rPr>
              <a:t>book</a:t>
            </a:r>
            <a:r>
              <a:rPr lang="en-US" altLang="en-US" dirty="0">
                <a:ea typeface="ＭＳ Ｐゴシック" pitchFamily="34" charset="-128"/>
              </a:rPr>
              <a:t> side of the bank reconciliation require journal entries</a:t>
            </a:r>
          </a:p>
          <a:p>
            <a:r>
              <a:rPr lang="en-US" altLang="en-US" dirty="0">
                <a:ea typeface="ＭＳ Ｐゴシック" pitchFamily="34" charset="-128"/>
              </a:rPr>
              <a:t>If the item is added to book side</a:t>
            </a:r>
          </a:p>
          <a:p>
            <a:pPr lvl="1"/>
            <a:r>
              <a:rPr lang="en-US" altLang="en-US" dirty="0">
                <a:ea typeface="ＭＳ Ｐゴシック" pitchFamily="34" charset="-128"/>
              </a:rPr>
              <a:t>Debit Cash</a:t>
            </a:r>
          </a:p>
          <a:p>
            <a:r>
              <a:rPr lang="en-US" altLang="en-US" dirty="0">
                <a:ea typeface="ＭＳ Ｐゴシック" pitchFamily="34" charset="-128"/>
              </a:rPr>
              <a:t>If the items is subtracted from the book side</a:t>
            </a:r>
          </a:p>
          <a:p>
            <a:pPr lvl="1"/>
            <a:r>
              <a:rPr lang="en-US" altLang="en-US" dirty="0">
                <a:ea typeface="ＭＳ Ｐゴシック" pitchFamily="34" charset="-128"/>
              </a:rPr>
              <a:t>Credit Cash</a:t>
            </a:r>
            <a:endParaRPr lang="en-US" dirty="0"/>
          </a:p>
        </p:txBody>
      </p:sp>
    </p:spTree>
    <p:extLst>
      <p:ext uri="{BB962C8B-B14F-4D97-AF65-F5344CB8AC3E}">
        <p14:creationId xmlns:p14="http://schemas.microsoft.com/office/powerpoint/2010/main" val="279227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D073A-8920-49FC-9392-6FBCACCC5198}"/>
              </a:ext>
            </a:extLst>
          </p:cNvPr>
          <p:cNvSpPr>
            <a:spLocks noGrp="1"/>
          </p:cNvSpPr>
          <p:nvPr>
            <p:ph type="title"/>
          </p:nvPr>
        </p:nvSpPr>
        <p:spPr/>
        <p:txBody>
          <a:bodyPr/>
          <a:lstStyle/>
          <a:p>
            <a:r>
              <a:rPr lang="en-US" altLang="en-US" dirty="0"/>
              <a:t>Journalizing Bank Reconciliation Items</a:t>
            </a:r>
            <a:r>
              <a:rPr lang="en-US" altLang="en-US" sz="2000" b="0" dirty="0"/>
              <a:t> (2 of 3)</a:t>
            </a:r>
            <a:endParaRPr lang="en-AU" sz="2000" b="0" dirty="0"/>
          </a:p>
        </p:txBody>
      </p:sp>
      <p:graphicFrame>
        <p:nvGraphicFramePr>
          <p:cNvPr id="6" name="Table 6">
            <a:extLst>
              <a:ext uri="{FF2B5EF4-FFF2-40B4-BE49-F238E27FC236}">
                <a16:creationId xmlns:a16="http://schemas.microsoft.com/office/drawing/2014/main" id="{C7F32D75-0298-4C44-B4F0-6D28DF579F75}"/>
              </a:ext>
            </a:extLst>
          </p:cNvPr>
          <p:cNvGraphicFramePr>
            <a:graphicFrameLocks noGrp="1"/>
          </p:cNvGraphicFramePr>
          <p:nvPr>
            <p:ph idx="1"/>
          </p:nvPr>
        </p:nvGraphicFramePr>
        <p:xfrm>
          <a:off x="457200" y="1447800"/>
          <a:ext cx="8229600" cy="4846376"/>
        </p:xfrm>
        <a:graphic>
          <a:graphicData uri="http://schemas.openxmlformats.org/drawingml/2006/table">
            <a:tbl>
              <a:tblPr firstRow="1" bandRow="1">
                <a:tableStyleId>{3B4B98B0-60AC-42C2-AFA5-B58CD77FA1E5}</a:tableStyleId>
              </a:tblPr>
              <a:tblGrid>
                <a:gridCol w="685800">
                  <a:extLst>
                    <a:ext uri="{9D8B030D-6E8A-4147-A177-3AD203B41FA5}">
                      <a16:colId xmlns:a16="http://schemas.microsoft.com/office/drawing/2014/main" val="581477054"/>
                    </a:ext>
                  </a:extLst>
                </a:gridCol>
                <a:gridCol w="4800600">
                  <a:extLst>
                    <a:ext uri="{9D8B030D-6E8A-4147-A177-3AD203B41FA5}">
                      <a16:colId xmlns:a16="http://schemas.microsoft.com/office/drawing/2014/main" val="4191668643"/>
                    </a:ext>
                  </a:extLst>
                </a:gridCol>
                <a:gridCol w="1371600">
                  <a:extLst>
                    <a:ext uri="{9D8B030D-6E8A-4147-A177-3AD203B41FA5}">
                      <a16:colId xmlns:a16="http://schemas.microsoft.com/office/drawing/2014/main" val="1294833370"/>
                    </a:ext>
                  </a:extLst>
                </a:gridCol>
                <a:gridCol w="1371600">
                  <a:extLst>
                    <a:ext uri="{9D8B030D-6E8A-4147-A177-3AD203B41FA5}">
                      <a16:colId xmlns:a16="http://schemas.microsoft.com/office/drawing/2014/main" val="1914137436"/>
                    </a:ext>
                  </a:extLst>
                </a:gridCol>
              </a:tblGrid>
              <a:tr h="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JOURNAL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543764186"/>
                  </a:ext>
                </a:extLst>
              </a:tr>
              <a:tr h="0">
                <a:tc>
                  <a:txBody>
                    <a:bodyPr/>
                    <a:lstStyle/>
                    <a:p>
                      <a:r>
                        <a:rPr lang="en-US" sz="1500" dirty="0"/>
                        <a:t>Item</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i="0" dirty="0"/>
                        <a:t>Accounts and explanation</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dirty="0"/>
                        <a:t>Debit</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dirty="0"/>
                        <a:t>Credit</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1915938"/>
                  </a:ext>
                </a:extLst>
              </a:tr>
              <a:tr h="0">
                <a:tc>
                  <a:txBody>
                    <a:bodyPr/>
                    <a:lstStyle/>
                    <a:p>
                      <a:r>
                        <a:rPr lang="en-US" sz="1500" dirty="0"/>
                        <a:t>4</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500" dirty="0"/>
                        <a:t>Cash</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500" dirty="0"/>
                        <a:t>904.03</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1616021"/>
                  </a:ext>
                </a:extLst>
              </a:tr>
              <a:tr h="0">
                <a:tc>
                  <a:txBody>
                    <a:bodyPr/>
                    <a:lstStyle/>
                    <a:p>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500" dirty="0"/>
                        <a:t>Interest Revenue</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500" dirty="0"/>
                        <a:t>904.03</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7316684"/>
                  </a:ext>
                </a:extLst>
              </a:tr>
              <a:tr h="0">
                <a:tc>
                  <a:txBody>
                    <a:bodyPr/>
                    <a:lstStyle/>
                    <a:p>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1440"/>
                      <a:r>
                        <a:rPr lang="en-US" sz="1500" i="1" dirty="0"/>
                        <a:t>To</a:t>
                      </a:r>
                      <a:r>
                        <a:rPr lang="en-US" sz="1500" i="1" baseline="0" dirty="0"/>
                        <a:t> record interest earned on the bank statement</a:t>
                      </a:r>
                      <a:endParaRPr lang="en-US" sz="1500" i="1"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47630582"/>
                  </a:ext>
                </a:extLst>
              </a:tr>
              <a:tr h="0">
                <a:tc>
                  <a:txBody>
                    <a:bodyPr/>
                    <a:lstStyle/>
                    <a:p>
                      <a:r>
                        <a:rPr lang="en-US" sz="1500" dirty="0"/>
                        <a:t>5</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500" i="0" dirty="0"/>
                        <a:t>Cash</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500" dirty="0"/>
                        <a:t>2,114.00</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2571684"/>
                  </a:ext>
                </a:extLst>
              </a:tr>
              <a:tr h="0">
                <a:tc>
                  <a:txBody>
                    <a:bodyPr/>
                    <a:lstStyle/>
                    <a:p>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500" kern="1200" dirty="0">
                          <a:solidFill>
                            <a:schemeClr val="tx1"/>
                          </a:solidFill>
                          <a:latin typeface="+mn-lt"/>
                          <a:ea typeface="+mn-ea"/>
                          <a:cs typeface="+mn-cs"/>
                        </a:rPr>
                        <a:t>Note Receivable</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500" dirty="0"/>
                        <a:t>1,900.00</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2089659"/>
                  </a:ext>
                </a:extLst>
              </a:tr>
              <a:tr h="0">
                <a:tc>
                  <a:txBody>
                    <a:bodyPr/>
                    <a:lstStyle/>
                    <a:p>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500" kern="1200" dirty="0">
                          <a:solidFill>
                            <a:schemeClr val="tx1"/>
                          </a:solidFill>
                          <a:latin typeface="+mn-lt"/>
                          <a:ea typeface="+mn-ea"/>
                          <a:cs typeface="+mn-cs"/>
                        </a:rPr>
                        <a:t>Interest Revenue</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500" dirty="0"/>
                        <a:t>214.00</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4827906"/>
                  </a:ext>
                </a:extLst>
              </a:tr>
              <a:tr h="0">
                <a:tc>
                  <a:txBody>
                    <a:bodyPr/>
                    <a:lstStyle/>
                    <a:p>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1440" algn="l" defTabSz="914400" rtl="0" eaLnBrk="1" latinLnBrk="0" hangingPunct="1"/>
                      <a:r>
                        <a:rPr lang="en-US" sz="1500" i="1" kern="1200" dirty="0">
                          <a:solidFill>
                            <a:schemeClr val="tx1"/>
                          </a:solidFill>
                          <a:latin typeface="+mn-lt"/>
                          <a:ea typeface="+mn-ea"/>
                          <a:cs typeface="+mn-cs"/>
                        </a:rPr>
                        <a:t>Note receivable collected by bank</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3853946"/>
                  </a:ext>
                </a:extLst>
              </a:tr>
              <a:tr h="0">
                <a:tc>
                  <a:txBody>
                    <a:bodyPr/>
                    <a:lstStyle/>
                    <a:p>
                      <a:r>
                        <a:rPr lang="en-US" sz="1500" dirty="0"/>
                        <a:t>6</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500" dirty="0"/>
                        <a:t>Cash</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500" dirty="0"/>
                        <a:t>28.01</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1016004"/>
                  </a:ext>
                </a:extLst>
              </a:tr>
              <a:tr h="0">
                <a:tc>
                  <a:txBody>
                    <a:bodyPr/>
                    <a:lstStyle/>
                    <a:p>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500" kern="1200" dirty="0">
                          <a:solidFill>
                            <a:schemeClr val="tx1"/>
                          </a:solidFill>
                          <a:latin typeface="+mn-lt"/>
                          <a:ea typeface="+mn-ea"/>
                          <a:cs typeface="+mn-cs"/>
                        </a:rPr>
                        <a:t>Interest Revenue</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500" dirty="0"/>
                        <a:t>28.01</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53722094"/>
                  </a:ext>
                </a:extLst>
              </a:tr>
              <a:tr h="0">
                <a:tc>
                  <a:txBody>
                    <a:bodyPr/>
                    <a:lstStyle/>
                    <a:p>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1440" algn="l" defTabSz="914400" rtl="0" eaLnBrk="1" latinLnBrk="0" hangingPunct="1"/>
                      <a:r>
                        <a:rPr lang="en-US" sz="1500" i="1" kern="1200" dirty="0">
                          <a:solidFill>
                            <a:schemeClr val="tx1"/>
                          </a:solidFill>
                          <a:latin typeface="+mn-lt"/>
                          <a:ea typeface="+mn-ea"/>
                          <a:cs typeface="+mn-cs"/>
                        </a:rPr>
                        <a:t>Interest earned on bank balance</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9507640"/>
                  </a:ext>
                </a:extLst>
              </a:tr>
              <a:tr h="0">
                <a:tc>
                  <a:txBody>
                    <a:bodyPr/>
                    <a:lstStyle/>
                    <a:p>
                      <a:r>
                        <a:rPr lang="en-US" sz="1500" dirty="0"/>
                        <a:t>7</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500" dirty="0"/>
                        <a:t>Cash</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500" dirty="0"/>
                        <a:t>360.00</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120691"/>
                  </a:ext>
                </a:extLst>
              </a:tr>
              <a:tr h="0">
                <a:tc>
                  <a:txBody>
                    <a:bodyPr/>
                    <a:lstStyle/>
                    <a:p>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500" kern="1200" dirty="0">
                          <a:solidFill>
                            <a:schemeClr val="tx1"/>
                          </a:solidFill>
                          <a:latin typeface="+mn-lt"/>
                          <a:ea typeface="+mn-ea"/>
                          <a:cs typeface="+mn-cs"/>
                        </a:rPr>
                        <a:t>Accounts Payable</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500" dirty="0"/>
                        <a:t>360.00</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6177754"/>
                  </a:ext>
                </a:extLst>
              </a:tr>
              <a:tr h="0">
                <a:tc>
                  <a:txBody>
                    <a:bodyPr/>
                    <a:lstStyle/>
                    <a:p>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1" kern="1200" dirty="0">
                          <a:solidFill>
                            <a:schemeClr val="tx1"/>
                          </a:solidFill>
                          <a:latin typeface="+mn-lt"/>
                          <a:ea typeface="+mn-ea"/>
                          <a:cs typeface="+mn-cs"/>
                        </a:rPr>
                        <a:t>Correction of cheque no. 333</a:t>
                      </a:r>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500" dirty="0"/>
                    </a:p>
                  </a:txBody>
                  <a:tcPr marT="45722" marB="4572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6075450"/>
                  </a:ext>
                </a:extLst>
              </a:tr>
            </a:tbl>
          </a:graphicData>
        </a:graphic>
      </p:graphicFrame>
    </p:spTree>
    <p:extLst>
      <p:ext uri="{BB962C8B-B14F-4D97-AF65-F5344CB8AC3E}">
        <p14:creationId xmlns:p14="http://schemas.microsoft.com/office/powerpoint/2010/main" val="106579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F9DA7-E018-4B19-8DEF-A003B46E88E0}"/>
              </a:ext>
            </a:extLst>
          </p:cNvPr>
          <p:cNvSpPr>
            <a:spLocks noGrp="1"/>
          </p:cNvSpPr>
          <p:nvPr>
            <p:ph type="title"/>
          </p:nvPr>
        </p:nvSpPr>
        <p:spPr/>
        <p:txBody>
          <a:bodyPr/>
          <a:lstStyle/>
          <a:p>
            <a:r>
              <a:rPr lang="en-US" altLang="en-US" dirty="0"/>
              <a:t>Journalizing Bank Reconciliation Items</a:t>
            </a:r>
            <a:r>
              <a:rPr lang="en-US" altLang="en-US" sz="2000" b="0" dirty="0"/>
              <a:t> (3 of 3)</a:t>
            </a:r>
            <a:endParaRPr lang="en-AU" sz="2000" dirty="0"/>
          </a:p>
        </p:txBody>
      </p:sp>
      <p:graphicFrame>
        <p:nvGraphicFramePr>
          <p:cNvPr id="4" name="Table 4">
            <a:extLst>
              <a:ext uri="{FF2B5EF4-FFF2-40B4-BE49-F238E27FC236}">
                <a16:creationId xmlns:a16="http://schemas.microsoft.com/office/drawing/2014/main" id="{7DD7E5F8-4AD4-4EBF-ABBC-F8F4008A30DE}"/>
              </a:ext>
            </a:extLst>
          </p:cNvPr>
          <p:cNvGraphicFramePr>
            <a:graphicFrameLocks noGrp="1"/>
          </p:cNvGraphicFramePr>
          <p:nvPr>
            <p:ph idx="1"/>
          </p:nvPr>
        </p:nvGraphicFramePr>
        <p:xfrm>
          <a:off x="457200" y="1711960"/>
          <a:ext cx="8229600" cy="4079240"/>
        </p:xfrm>
        <a:graphic>
          <a:graphicData uri="http://schemas.openxmlformats.org/drawingml/2006/table">
            <a:tbl>
              <a:tblPr firstRow="1" bandRow="1">
                <a:tableStyleId>{3B4B98B0-60AC-42C2-AFA5-B58CD77FA1E5}</a:tableStyleId>
              </a:tblPr>
              <a:tblGrid>
                <a:gridCol w="762000">
                  <a:extLst>
                    <a:ext uri="{9D8B030D-6E8A-4147-A177-3AD203B41FA5}">
                      <a16:colId xmlns:a16="http://schemas.microsoft.com/office/drawing/2014/main" val="1019985601"/>
                    </a:ext>
                  </a:extLst>
                </a:gridCol>
                <a:gridCol w="5105400">
                  <a:extLst>
                    <a:ext uri="{9D8B030D-6E8A-4147-A177-3AD203B41FA5}">
                      <a16:colId xmlns:a16="http://schemas.microsoft.com/office/drawing/2014/main" val="354113756"/>
                    </a:ext>
                  </a:extLst>
                </a:gridCol>
                <a:gridCol w="1219200">
                  <a:extLst>
                    <a:ext uri="{9D8B030D-6E8A-4147-A177-3AD203B41FA5}">
                      <a16:colId xmlns:a16="http://schemas.microsoft.com/office/drawing/2014/main" val="2299626310"/>
                    </a:ext>
                  </a:extLst>
                </a:gridCol>
                <a:gridCol w="1143000">
                  <a:extLst>
                    <a:ext uri="{9D8B030D-6E8A-4147-A177-3AD203B41FA5}">
                      <a16:colId xmlns:a16="http://schemas.microsoft.com/office/drawing/2014/main" val="1509710662"/>
                    </a:ext>
                  </a:extLst>
                </a:gridCol>
              </a:tblGrid>
              <a:tr h="370840">
                <a:tc gridSpan="4">
                  <a:txBody>
                    <a:bodyPr/>
                    <a:lstStyle/>
                    <a:p>
                      <a:pPr algn="ctr"/>
                      <a:r>
                        <a:rPr lang="en-US" altLang="en-US" sz="1800" b="1" kern="1200" dirty="0">
                          <a:solidFill>
                            <a:schemeClr val="tx1"/>
                          </a:solidFill>
                          <a:latin typeface="+mn-lt"/>
                          <a:ea typeface="+mn-ea"/>
                          <a:cs typeface="+mn-cs"/>
                        </a:rPr>
                        <a:t>JOURNAL</a:t>
                      </a:r>
                      <a:endParaRPr lang="en-AU"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668863406"/>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Item</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Accounts and explanation</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Debit</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Credit</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1742966"/>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8</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Bank Charge Expense</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14.25</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0971831"/>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auto" latinLnBrk="0" hangingPunct="1">
                        <a:lnSpc>
                          <a:spcPct val="100000"/>
                        </a:lnSpc>
                        <a:spcBef>
                          <a:spcPts val="0"/>
                        </a:spcBef>
                        <a:spcAft>
                          <a:spcPts val="0"/>
                        </a:spcAft>
                        <a:buClrTx/>
                        <a:buSzTx/>
                        <a:buFontTx/>
                        <a:buNone/>
                        <a:tabLst/>
                        <a:defRPr/>
                      </a:pPr>
                      <a:r>
                        <a:rPr lang="en-US" altLang="en-US" sz="1800" kern="1200" dirty="0">
                          <a:solidFill>
                            <a:schemeClr val="tx1"/>
                          </a:solidFill>
                          <a:latin typeface="+mn-lt"/>
                          <a:ea typeface="+mn-ea"/>
                          <a:cs typeface="+mn-cs"/>
                        </a:rPr>
                        <a:t>Cash</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14.25</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1792041"/>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91440" marR="0" lvl="0" indent="0" algn="l" defTabSz="914400" rtl="0" eaLnBrk="1" fontAlgn="base" latinLnBrk="0" hangingPunct="1">
                        <a:lnSpc>
                          <a:spcPct val="100000"/>
                        </a:lnSpc>
                        <a:spcBef>
                          <a:spcPct val="0"/>
                        </a:spcBef>
                        <a:spcAft>
                          <a:spcPct val="0"/>
                        </a:spcAft>
                        <a:buClrTx/>
                        <a:buSzTx/>
                        <a:buFontTx/>
                        <a:buNone/>
                        <a:tabLst/>
                      </a:pPr>
                      <a:r>
                        <a:rPr lang="en-US" altLang="en-US" sz="1800" i="1" kern="1200" dirty="0">
                          <a:solidFill>
                            <a:schemeClr val="tx1"/>
                          </a:solidFill>
                          <a:latin typeface="+mn-lt"/>
                          <a:ea typeface="+mn-ea"/>
                          <a:cs typeface="+mn-cs"/>
                        </a:rPr>
                        <a:t>Bank service charge</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8532959"/>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9</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Accounts Receivable – L. Ross</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52.00</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2228807"/>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auto" latinLnBrk="0" hangingPunct="1">
                        <a:lnSpc>
                          <a:spcPct val="100000"/>
                        </a:lnSpc>
                        <a:spcBef>
                          <a:spcPts val="0"/>
                        </a:spcBef>
                        <a:spcAft>
                          <a:spcPts val="0"/>
                        </a:spcAft>
                        <a:buClrTx/>
                        <a:buSzTx/>
                        <a:buFontTx/>
                        <a:buNone/>
                        <a:tabLst/>
                        <a:defRPr/>
                      </a:pPr>
                      <a:r>
                        <a:rPr lang="en-US" altLang="en-US" sz="1800" kern="1200" dirty="0">
                          <a:solidFill>
                            <a:schemeClr val="tx1"/>
                          </a:solidFill>
                          <a:latin typeface="+mn-lt"/>
                          <a:ea typeface="+mn-ea"/>
                          <a:cs typeface="+mn-cs"/>
                        </a:rPr>
                        <a:t>Cash</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52.00</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6797396"/>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91440" marR="0" lvl="0" indent="0" algn="l" defTabSz="914400" rtl="0" eaLnBrk="1" fontAlgn="base" latinLnBrk="0" hangingPunct="1">
                        <a:lnSpc>
                          <a:spcPct val="100000"/>
                        </a:lnSpc>
                        <a:spcBef>
                          <a:spcPct val="0"/>
                        </a:spcBef>
                        <a:spcAft>
                          <a:spcPct val="0"/>
                        </a:spcAft>
                        <a:buClrTx/>
                        <a:buSzTx/>
                        <a:buFontTx/>
                        <a:buNone/>
                        <a:tabLst/>
                      </a:pPr>
                      <a:r>
                        <a:rPr lang="en-US" altLang="en-US" sz="1800" i="1" kern="1200" dirty="0">
                          <a:solidFill>
                            <a:schemeClr val="tx1"/>
                          </a:solidFill>
                          <a:latin typeface="+mn-lt"/>
                          <a:ea typeface="+mn-ea"/>
                          <a:cs typeface="+mn-cs"/>
                        </a:rPr>
                        <a:t>NSF customer cheque returned by bank</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520155"/>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10</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Insurance Expense</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361.00</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5098909"/>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auto" latinLnBrk="0" hangingPunct="1">
                        <a:lnSpc>
                          <a:spcPct val="100000"/>
                        </a:lnSpc>
                        <a:spcBef>
                          <a:spcPts val="0"/>
                        </a:spcBef>
                        <a:spcAft>
                          <a:spcPts val="0"/>
                        </a:spcAft>
                        <a:buClrTx/>
                        <a:buSzTx/>
                        <a:buFontTx/>
                        <a:buNone/>
                        <a:tabLst/>
                        <a:defRPr/>
                      </a:pPr>
                      <a:r>
                        <a:rPr lang="en-US" altLang="en-US" sz="1800" kern="1200" dirty="0">
                          <a:solidFill>
                            <a:schemeClr val="tx1"/>
                          </a:solidFill>
                          <a:latin typeface="+mn-lt"/>
                          <a:ea typeface="+mn-ea"/>
                          <a:cs typeface="+mn-cs"/>
                        </a:rPr>
                        <a:t>Cash</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361.00</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64666551"/>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91440" marR="0" lvl="0" indent="0" algn="l" defTabSz="914400" rtl="0" eaLnBrk="1" fontAlgn="base" latinLnBrk="0" hangingPunct="1">
                        <a:lnSpc>
                          <a:spcPct val="100000"/>
                        </a:lnSpc>
                        <a:spcBef>
                          <a:spcPct val="0"/>
                        </a:spcBef>
                        <a:spcAft>
                          <a:spcPct val="0"/>
                        </a:spcAft>
                        <a:buClrTx/>
                        <a:buSzTx/>
                        <a:buFontTx/>
                        <a:buNone/>
                        <a:tabLst/>
                      </a:pPr>
                      <a:r>
                        <a:rPr lang="en-US" altLang="en-US" sz="1800" i="1" kern="1200" dirty="0">
                          <a:solidFill>
                            <a:schemeClr val="tx1"/>
                          </a:solidFill>
                          <a:latin typeface="+mn-lt"/>
                          <a:ea typeface="+mn-ea"/>
                          <a:cs typeface="+mn-cs"/>
                        </a:rPr>
                        <a:t>Payment of monthly insurance</a:t>
                      </a: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706" marB="45706"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39337"/>
                  </a:ext>
                </a:extLst>
              </a:tr>
            </a:tbl>
          </a:graphicData>
        </a:graphic>
      </p:graphicFrame>
    </p:spTree>
    <p:extLst>
      <p:ext uri="{BB962C8B-B14F-4D97-AF65-F5344CB8AC3E}">
        <p14:creationId xmlns:p14="http://schemas.microsoft.com/office/powerpoint/2010/main" val="2334822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2BC0A-5435-347B-2977-F58120D7BC16}"/>
              </a:ext>
            </a:extLst>
          </p:cNvPr>
          <p:cNvSpPr>
            <a:spLocks noGrp="1"/>
          </p:cNvSpPr>
          <p:nvPr>
            <p:ph type="title"/>
          </p:nvPr>
        </p:nvSpPr>
        <p:spPr/>
        <p:txBody>
          <a:bodyPr/>
          <a:lstStyle/>
          <a:p>
            <a:r>
              <a:rPr lang="en-US" dirty="0"/>
              <a:t>Short Exercise 4-4</a:t>
            </a:r>
          </a:p>
        </p:txBody>
      </p:sp>
      <p:sp>
        <p:nvSpPr>
          <p:cNvPr id="3" name="Content Placeholder 2">
            <a:extLst>
              <a:ext uri="{FF2B5EF4-FFF2-40B4-BE49-F238E27FC236}">
                <a16:creationId xmlns:a16="http://schemas.microsoft.com/office/drawing/2014/main" id="{3F2604E0-B53C-DDBB-917C-C5CFD10D43D9}"/>
              </a:ext>
            </a:extLst>
          </p:cNvPr>
          <p:cNvSpPr>
            <a:spLocks noGrp="1"/>
          </p:cNvSpPr>
          <p:nvPr>
            <p:ph idx="1"/>
          </p:nvPr>
        </p:nvSpPr>
        <p:spPr/>
        <p:txBody>
          <a:bodyPr>
            <a:normAutofit lnSpcReduction="10000"/>
          </a:bodyPr>
          <a:lstStyle/>
          <a:p>
            <a:pPr marL="0" indent="0">
              <a:buNone/>
            </a:pPr>
            <a:r>
              <a:rPr lang="en-US" dirty="0">
                <a:cs typeface="Arial" panose="020B0604020202020204" pitchFamily="34" charset="0"/>
              </a:rPr>
              <a:t>The Cash account of Switzer Ltd reported a balance of $2,500 at Aug 31, 20XX.  Included were outstanding cheques </a:t>
            </a:r>
            <a:r>
              <a:rPr lang="en-US" dirty="0" err="1">
                <a:cs typeface="Arial" panose="020B0604020202020204" pitchFamily="34" charset="0"/>
              </a:rPr>
              <a:t>totalling</a:t>
            </a:r>
            <a:r>
              <a:rPr lang="en-US" dirty="0">
                <a:cs typeface="Arial" panose="020B0604020202020204" pitchFamily="34" charset="0"/>
              </a:rPr>
              <a:t> $900 and an Aug 31 deposit of $500 that did not appear on the bank statement.  </a:t>
            </a:r>
          </a:p>
          <a:p>
            <a:pPr marL="0" indent="0">
              <a:buNone/>
            </a:pPr>
            <a:r>
              <a:rPr lang="en-US" dirty="0">
                <a:cs typeface="Arial" panose="020B0604020202020204" pitchFamily="34" charset="0"/>
              </a:rPr>
              <a:t>The bank statement listed an Aug 31, 20XX balance of $3,405.  Included in the bank balance was an August 30 collection of $550 on account from a customer who pays the bank directly.  The bank statement also shows a $20 service charge, $10 of interest revenue that Switzer earned on its bank balance, and an NSF cheque for $35.</a:t>
            </a:r>
          </a:p>
          <a:p>
            <a:pPr marL="0" indent="0">
              <a:buNone/>
            </a:pPr>
            <a:r>
              <a:rPr lang="en-US" dirty="0"/>
              <a:t>Prepare a bank reconciliation to determine the Aug 31, 20XX cash balance</a:t>
            </a:r>
          </a:p>
          <a:p>
            <a:pPr marL="0" indent="0">
              <a:buNone/>
            </a:pPr>
            <a:endParaRPr lang="en-US" dirty="0">
              <a:cs typeface="Arial" panose="020B0604020202020204" pitchFamily="34" charset="0"/>
            </a:endParaRPr>
          </a:p>
        </p:txBody>
      </p:sp>
    </p:spTree>
    <p:extLst>
      <p:ext uri="{BB962C8B-B14F-4D97-AF65-F5344CB8AC3E}">
        <p14:creationId xmlns:p14="http://schemas.microsoft.com/office/powerpoint/2010/main" val="4033517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2BC0A-5435-347B-2977-F58120D7BC16}"/>
              </a:ext>
            </a:extLst>
          </p:cNvPr>
          <p:cNvSpPr>
            <a:spLocks noGrp="1"/>
          </p:cNvSpPr>
          <p:nvPr>
            <p:ph type="title"/>
          </p:nvPr>
        </p:nvSpPr>
        <p:spPr/>
        <p:txBody>
          <a:bodyPr/>
          <a:lstStyle/>
          <a:p>
            <a:r>
              <a:rPr lang="en-US" dirty="0"/>
              <a:t>Short Exercise 4-5</a:t>
            </a:r>
          </a:p>
        </p:txBody>
      </p:sp>
      <p:sp>
        <p:nvSpPr>
          <p:cNvPr id="3" name="Content Placeholder 2">
            <a:extLst>
              <a:ext uri="{FF2B5EF4-FFF2-40B4-BE49-F238E27FC236}">
                <a16:creationId xmlns:a16="http://schemas.microsoft.com/office/drawing/2014/main" id="{3F2604E0-B53C-DDBB-917C-C5CFD10D43D9}"/>
              </a:ext>
            </a:extLst>
          </p:cNvPr>
          <p:cNvSpPr>
            <a:spLocks noGrp="1"/>
          </p:cNvSpPr>
          <p:nvPr>
            <p:ph idx="1"/>
          </p:nvPr>
        </p:nvSpPr>
        <p:spPr/>
        <p:txBody>
          <a:bodyPr>
            <a:normAutofit/>
          </a:bodyPr>
          <a:lstStyle/>
          <a:p>
            <a:pPr marL="0" indent="0">
              <a:buNone/>
            </a:pPr>
            <a:r>
              <a:rPr lang="en-US" dirty="0">
                <a:cs typeface="Arial" panose="020B0604020202020204" pitchFamily="34" charset="0"/>
              </a:rPr>
              <a:t>After preparing the Switzer Ltd. Bank reconciliation in S4-4, make the company’s journal entries for transactions that arise from the bank reconciliation.  Include an explanation with each entry.</a:t>
            </a:r>
            <a:endParaRPr lang="en-US" dirty="0"/>
          </a:p>
          <a:p>
            <a:pPr marL="0" indent="0">
              <a:buNone/>
            </a:pPr>
            <a:endParaRPr lang="en-US" dirty="0">
              <a:cs typeface="Arial" panose="020B0604020202020204" pitchFamily="34" charset="0"/>
            </a:endParaRPr>
          </a:p>
        </p:txBody>
      </p:sp>
    </p:spTree>
    <p:extLst>
      <p:ext uri="{BB962C8B-B14F-4D97-AF65-F5344CB8AC3E}">
        <p14:creationId xmlns:p14="http://schemas.microsoft.com/office/powerpoint/2010/main" val="2504305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Three</a:t>
            </a:r>
          </a:p>
        </p:txBody>
      </p:sp>
      <p:sp>
        <p:nvSpPr>
          <p:cNvPr id="5" name="Subtitle 4"/>
          <p:cNvSpPr>
            <a:spLocks noGrp="1"/>
          </p:cNvSpPr>
          <p:nvPr>
            <p:ph type="subTitle" idx="1"/>
          </p:nvPr>
        </p:nvSpPr>
        <p:spPr/>
        <p:txBody>
          <a:bodyPr/>
          <a:lstStyle/>
          <a:p>
            <a:pPr marL="44450"/>
            <a:r>
              <a:rPr lang="en-US" altLang="en-US" sz="2400" b="1" dirty="0">
                <a:ea typeface="ＭＳ Ｐゴシック" pitchFamily="34" charset="-128"/>
              </a:rPr>
              <a:t>Account </a:t>
            </a:r>
            <a:r>
              <a:rPr lang="en-US" altLang="en-US" sz="2400" dirty="0">
                <a:ea typeface="ＭＳ Ｐゴシック" pitchFamily="34" charset="-128"/>
              </a:rPr>
              <a:t>for accounts receivable</a:t>
            </a:r>
          </a:p>
        </p:txBody>
      </p:sp>
    </p:spTree>
    <p:extLst>
      <p:ext uri="{BB962C8B-B14F-4D97-AF65-F5344CB8AC3E}">
        <p14:creationId xmlns:p14="http://schemas.microsoft.com/office/powerpoint/2010/main" val="126926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Receivables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Third most liquid asset</a:t>
            </a:r>
          </a:p>
          <a:p>
            <a:r>
              <a:rPr lang="en-US" altLang="en-US" dirty="0">
                <a:ea typeface="ＭＳ Ｐゴシック" pitchFamily="34" charset="-128"/>
              </a:rPr>
              <a:t>Monetary claims against others</a:t>
            </a:r>
          </a:p>
          <a:p>
            <a:r>
              <a:rPr lang="en-US" altLang="en-US" dirty="0">
                <a:ea typeface="ＭＳ Ｐゴシック" pitchFamily="34" charset="-128"/>
              </a:rPr>
              <a:t>Acquired mainly by:</a:t>
            </a:r>
          </a:p>
          <a:p>
            <a:pPr lvl="1"/>
            <a:r>
              <a:rPr lang="en-US" altLang="en-US" dirty="0">
                <a:ea typeface="ＭＳ Ｐゴシック" pitchFamily="34" charset="-128"/>
              </a:rPr>
              <a:t>selling goods and services (accounts receivable)</a:t>
            </a:r>
          </a:p>
          <a:p>
            <a:pPr lvl="1"/>
            <a:r>
              <a:rPr lang="en-US" altLang="en-US" dirty="0">
                <a:ea typeface="ＭＳ Ｐゴシック" pitchFamily="34" charset="-128"/>
              </a:rPr>
              <a:t>lending money (notes receivable)</a:t>
            </a:r>
            <a:endParaRPr lang="en-US" dirty="0"/>
          </a:p>
        </p:txBody>
      </p:sp>
    </p:spTree>
    <p:extLst>
      <p:ext uri="{BB962C8B-B14F-4D97-AF65-F5344CB8AC3E}">
        <p14:creationId xmlns:p14="http://schemas.microsoft.com/office/powerpoint/2010/main" val="156919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Accounts Receivable</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Amounts collectible from customers</a:t>
            </a:r>
          </a:p>
          <a:p>
            <a:r>
              <a:rPr lang="en-US" altLang="en-US" dirty="0">
                <a:ea typeface="ＭＳ Ｐゴシック" pitchFamily="34" charset="-128"/>
              </a:rPr>
              <a:t>Balance in general ledger</a:t>
            </a:r>
          </a:p>
          <a:p>
            <a:pPr lvl="1"/>
            <a:r>
              <a:rPr lang="en-US" altLang="en-US" dirty="0">
                <a:ea typeface="ＭＳ Ｐゴシック" pitchFamily="34" charset="-128"/>
              </a:rPr>
              <a:t>Control account: summarizes total amount due from all customers</a:t>
            </a:r>
          </a:p>
          <a:p>
            <a:r>
              <a:rPr lang="en-US" altLang="en-US" dirty="0">
                <a:ea typeface="ＭＳ Ｐゴシック" pitchFamily="34" charset="-128"/>
              </a:rPr>
              <a:t>Subsidiary ledger</a:t>
            </a:r>
          </a:p>
          <a:p>
            <a:pPr lvl="1"/>
            <a:r>
              <a:rPr lang="en-US" altLang="en-US" dirty="0">
                <a:ea typeface="ＭＳ Ｐゴシック" pitchFamily="34" charset="-128"/>
              </a:rPr>
              <a:t>Separate account for each customer</a:t>
            </a:r>
            <a:endParaRPr lang="en-US" dirty="0"/>
          </a:p>
        </p:txBody>
      </p:sp>
    </p:spTree>
    <p:extLst>
      <p:ext uri="{BB962C8B-B14F-4D97-AF65-F5344CB8AC3E}">
        <p14:creationId xmlns:p14="http://schemas.microsoft.com/office/powerpoint/2010/main" val="1790141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407413" y="381000"/>
            <a:ext cx="8229600" cy="626852"/>
          </a:xfrm>
        </p:spPr>
        <p:txBody>
          <a:bodyPr/>
          <a:lstStyle/>
          <a:p>
            <a:r>
              <a:rPr lang="en-US" altLang="en-US" dirty="0"/>
              <a:t>Control Account and Subsidiary Ledger</a:t>
            </a:r>
            <a:endParaRPr lang="en-US" dirty="0"/>
          </a:p>
        </p:txBody>
      </p:sp>
      <p:sp>
        <p:nvSpPr>
          <p:cNvPr id="5" name="Text Placeholder 4"/>
          <p:cNvSpPr>
            <a:spLocks noGrp="1"/>
          </p:cNvSpPr>
          <p:nvPr>
            <p:ph type="body" idx="1"/>
          </p:nvPr>
        </p:nvSpPr>
        <p:spPr>
          <a:xfrm>
            <a:off x="457200" y="1233488"/>
            <a:ext cx="4040982" cy="823912"/>
          </a:xfrm>
        </p:spPr>
        <p:txBody>
          <a:bodyPr anchor="ctr"/>
          <a:lstStyle/>
          <a:p>
            <a:pPr algn="ctr"/>
            <a:r>
              <a:rPr lang="en-US" altLang="en-US" b="1" dirty="0"/>
              <a:t>General Ledger</a:t>
            </a:r>
            <a:endParaRPr lang="en-US" dirty="0"/>
          </a:p>
        </p:txBody>
      </p:sp>
      <p:sp>
        <p:nvSpPr>
          <p:cNvPr id="6" name="Text Placeholder 5"/>
          <p:cNvSpPr>
            <a:spLocks noGrp="1"/>
          </p:cNvSpPr>
          <p:nvPr>
            <p:ph type="body" sz="quarter" idx="3"/>
          </p:nvPr>
        </p:nvSpPr>
        <p:spPr>
          <a:xfrm>
            <a:off x="4629150" y="1233488"/>
            <a:ext cx="4057650" cy="823912"/>
          </a:xfrm>
        </p:spPr>
        <p:txBody>
          <a:bodyPr anchor="ctr">
            <a:normAutofit fontScale="92500" lnSpcReduction="10000"/>
          </a:bodyPr>
          <a:lstStyle/>
          <a:p>
            <a:pPr algn="ctr"/>
            <a:r>
              <a:rPr lang="en-US" altLang="en-US" b="1" dirty="0"/>
              <a:t>Accounts Receivable Subsidiary Ledger</a:t>
            </a:r>
            <a:endParaRPr lang="en-US" dirty="0"/>
          </a:p>
        </p:txBody>
      </p:sp>
      <p:graphicFrame>
        <p:nvGraphicFramePr>
          <p:cNvPr id="109" name="Table 108"/>
          <p:cNvGraphicFramePr>
            <a:graphicFrameLocks noGrp="1"/>
          </p:cNvGraphicFramePr>
          <p:nvPr/>
        </p:nvGraphicFramePr>
        <p:xfrm>
          <a:off x="457200" y="2245360"/>
          <a:ext cx="3810000" cy="736600"/>
        </p:xfrm>
        <a:graphic>
          <a:graphicData uri="http://schemas.openxmlformats.org/drawingml/2006/table">
            <a:tbl>
              <a:tblPr firstRow="1" bandRow="1">
                <a:tableStyleId>{2D5ABB26-0587-4C30-8999-92F81FD0307C}</a:tableStyleId>
              </a:tblPr>
              <a:tblGrid>
                <a:gridCol w="1897380">
                  <a:extLst>
                    <a:ext uri="{9D8B030D-6E8A-4147-A177-3AD203B41FA5}">
                      <a16:colId xmlns:a16="http://schemas.microsoft.com/office/drawing/2014/main" val="20000"/>
                    </a:ext>
                  </a:extLst>
                </a:gridCol>
                <a:gridCol w="1912620">
                  <a:extLst>
                    <a:ext uri="{9D8B030D-6E8A-4147-A177-3AD203B41FA5}">
                      <a16:colId xmlns:a16="http://schemas.microsoft.com/office/drawing/2014/main" val="20001"/>
                    </a:ext>
                  </a:extLst>
                </a:gridCol>
              </a:tblGrid>
              <a:tr h="30480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Accounts Receivable</a:t>
                      </a:r>
                      <a:endParaRPr lang="en-US" sz="1800" dirty="0"/>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Balance    9,000</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aphicFrame>
        <p:nvGraphicFramePr>
          <p:cNvPr id="16" name="Table 15"/>
          <p:cNvGraphicFramePr>
            <a:graphicFrameLocks noGrp="1"/>
          </p:cNvGraphicFramePr>
          <p:nvPr/>
        </p:nvGraphicFramePr>
        <p:xfrm>
          <a:off x="4876800" y="2242851"/>
          <a:ext cx="3810000" cy="736600"/>
        </p:xfrm>
        <a:graphic>
          <a:graphicData uri="http://schemas.openxmlformats.org/drawingml/2006/table">
            <a:tbl>
              <a:tblPr firstRow="1" bandRow="1">
                <a:tableStyleId>{2D5ABB26-0587-4C30-8999-92F81FD0307C}</a:tableStyleId>
              </a:tblPr>
              <a:tblGrid>
                <a:gridCol w="1897380">
                  <a:extLst>
                    <a:ext uri="{9D8B030D-6E8A-4147-A177-3AD203B41FA5}">
                      <a16:colId xmlns:a16="http://schemas.microsoft.com/office/drawing/2014/main" val="20000"/>
                    </a:ext>
                  </a:extLst>
                </a:gridCol>
                <a:gridCol w="1912620">
                  <a:extLst>
                    <a:ext uri="{9D8B030D-6E8A-4147-A177-3AD203B41FA5}">
                      <a16:colId xmlns:a16="http://schemas.microsoft.com/office/drawing/2014/main" val="20001"/>
                    </a:ext>
                  </a:extLst>
                </a:gridCol>
              </a:tblGrid>
              <a:tr h="30480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Customer A</a:t>
                      </a:r>
                      <a:endParaRPr lang="en-US" sz="1800" dirty="0"/>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Balance    5,000</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nvGraphicFramePr>
        <p:xfrm>
          <a:off x="4876800" y="3682143"/>
          <a:ext cx="3810000" cy="736600"/>
        </p:xfrm>
        <a:graphic>
          <a:graphicData uri="http://schemas.openxmlformats.org/drawingml/2006/table">
            <a:tbl>
              <a:tblPr firstRow="1" bandRow="1">
                <a:tableStyleId>{2D5ABB26-0587-4C30-8999-92F81FD0307C}</a:tableStyleId>
              </a:tblPr>
              <a:tblGrid>
                <a:gridCol w="1897380">
                  <a:extLst>
                    <a:ext uri="{9D8B030D-6E8A-4147-A177-3AD203B41FA5}">
                      <a16:colId xmlns:a16="http://schemas.microsoft.com/office/drawing/2014/main" val="20000"/>
                    </a:ext>
                  </a:extLst>
                </a:gridCol>
                <a:gridCol w="1912620">
                  <a:extLst>
                    <a:ext uri="{9D8B030D-6E8A-4147-A177-3AD203B41FA5}">
                      <a16:colId xmlns:a16="http://schemas.microsoft.com/office/drawing/2014/main" val="20001"/>
                    </a:ext>
                  </a:extLst>
                </a:gridCol>
              </a:tblGrid>
              <a:tr h="30480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Customer B</a:t>
                      </a:r>
                      <a:endParaRPr lang="en-US" sz="1800" dirty="0"/>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Balance    1,000</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aphicFrame>
        <p:nvGraphicFramePr>
          <p:cNvPr id="21" name="Table 20"/>
          <p:cNvGraphicFramePr>
            <a:graphicFrameLocks noGrp="1"/>
          </p:cNvGraphicFramePr>
          <p:nvPr/>
        </p:nvGraphicFramePr>
        <p:xfrm>
          <a:off x="4876800" y="5140960"/>
          <a:ext cx="3810000" cy="736600"/>
        </p:xfrm>
        <a:graphic>
          <a:graphicData uri="http://schemas.openxmlformats.org/drawingml/2006/table">
            <a:tbl>
              <a:tblPr firstRow="1" bandRow="1">
                <a:tableStyleId>{2D5ABB26-0587-4C30-8999-92F81FD0307C}</a:tableStyleId>
              </a:tblPr>
              <a:tblGrid>
                <a:gridCol w="1897380">
                  <a:extLst>
                    <a:ext uri="{9D8B030D-6E8A-4147-A177-3AD203B41FA5}">
                      <a16:colId xmlns:a16="http://schemas.microsoft.com/office/drawing/2014/main" val="20000"/>
                    </a:ext>
                  </a:extLst>
                </a:gridCol>
                <a:gridCol w="1912620">
                  <a:extLst>
                    <a:ext uri="{9D8B030D-6E8A-4147-A177-3AD203B41FA5}">
                      <a16:colId xmlns:a16="http://schemas.microsoft.com/office/drawing/2014/main" val="20001"/>
                    </a:ext>
                  </a:extLst>
                </a:gridCol>
              </a:tblGrid>
              <a:tr h="30480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Customer C</a:t>
                      </a:r>
                      <a:endParaRPr lang="en-US" sz="1800" dirty="0"/>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Balance    3,000</a:t>
                      </a:r>
                      <a:endParaRPr lang="en-US" sz="1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sp>
        <p:nvSpPr>
          <p:cNvPr id="22" name="Left Brace 21">
            <a:extLst>
              <a:ext uri="{C183D7F6-B498-43B3-948B-1728B52AA6E4}">
                <adec:decorative xmlns:adec="http://schemas.microsoft.com/office/drawing/2017/decorative" val="1"/>
              </a:ext>
            </a:extLst>
          </p:cNvPr>
          <p:cNvSpPr>
            <a:spLocks/>
          </p:cNvSpPr>
          <p:nvPr/>
        </p:nvSpPr>
        <p:spPr bwMode="auto">
          <a:xfrm>
            <a:off x="4522213" y="2514600"/>
            <a:ext cx="328174" cy="3810000"/>
          </a:xfrm>
          <a:prstGeom prst="leftBrace">
            <a:avLst>
              <a:gd name="adj1" fmla="val 8333"/>
              <a:gd name="adj2" fmla="val 50000"/>
            </a:avLst>
          </a:prstGeom>
          <a:noFill/>
          <a:ln w="19050">
            <a:solidFill>
              <a:srgbClr val="007FA3"/>
            </a:solidFill>
            <a:round/>
            <a:headEnd/>
            <a:tailEnd/>
          </a:ln>
          <a:effectLst>
            <a:outerShdw blurRad="51500" dist="25400" dir="5400000" rotWithShape="0">
              <a:srgbClr val="808080">
                <a:alpha val="39998"/>
              </a:srgbClr>
            </a:outerShdw>
          </a:effectLst>
          <a:extLst>
            <a:ext uri="{909E8E84-426E-40DD-AFC4-6F175D3DCCD1}">
              <a14:hiddenFill xmlns:a14="http://schemas.microsoft.com/office/drawing/2010/main">
                <a:solidFill>
                  <a:srgbClr val="FFFFFF"/>
                </a:solidFill>
              </a14:hiddenFill>
            </a:ext>
          </a:extLst>
        </p:spPr>
        <p:txBody>
          <a:bodyPr anchor="ctr"/>
          <a:lstStyle/>
          <a:p>
            <a:pPr algn="ctr" eaLnBrk="1" hangingPunct="1">
              <a:defRPr/>
            </a:pPr>
            <a:endParaRPr lang="en-US" dirty="0">
              <a:ea typeface="+mn-ea"/>
              <a:cs typeface="Arial" pitchFamily="34" charset="0"/>
            </a:endParaRPr>
          </a:p>
        </p:txBody>
      </p:sp>
      <p:sp>
        <p:nvSpPr>
          <p:cNvPr id="10" name="Content Placeholder 9">
            <a:extLst>
              <a:ext uri="{C183D7F6-B498-43B3-948B-1728B52AA6E4}">
                <adec:decorative xmlns:adec="http://schemas.microsoft.com/office/drawing/2017/decorative" val="1"/>
              </a:ext>
            </a:extLst>
          </p:cNvPr>
          <p:cNvSpPr>
            <a:spLocks noGrp="1"/>
          </p:cNvSpPr>
          <p:nvPr>
            <p:ph sz="half" idx="2"/>
          </p:nvPr>
        </p:nvSpPr>
        <p:spPr>
          <a:xfrm>
            <a:off x="3429000" y="4038600"/>
            <a:ext cx="1069182" cy="976086"/>
          </a:xfrm>
        </p:spPr>
        <p:txBody>
          <a:bodyPr/>
          <a:lstStyle/>
          <a:p>
            <a:pPr marL="0" indent="0" algn="ctr">
              <a:spcBef>
                <a:spcPts val="0"/>
              </a:spcBef>
              <a:buNone/>
            </a:pPr>
            <a:r>
              <a:rPr lang="en-US" altLang="en-US" dirty="0"/>
              <a:t>Total</a:t>
            </a:r>
          </a:p>
          <a:p>
            <a:pPr marL="0" indent="0" algn="ctr">
              <a:spcBef>
                <a:spcPts val="0"/>
              </a:spcBef>
              <a:buNone/>
            </a:pPr>
            <a:r>
              <a:rPr lang="en-US" altLang="en-US" dirty="0"/>
              <a:t>$9,000</a:t>
            </a:r>
            <a:endParaRPr lang="en-US" dirty="0"/>
          </a:p>
        </p:txBody>
      </p:sp>
      <p:cxnSp>
        <p:nvCxnSpPr>
          <p:cNvPr id="24" name="Straight Connector 23">
            <a:extLst>
              <a:ext uri="{C183D7F6-B498-43B3-948B-1728B52AA6E4}">
                <adec:decorative xmlns:adec="http://schemas.microsoft.com/office/drawing/2017/decorative" val="1"/>
              </a:ext>
            </a:extLst>
          </p:cNvPr>
          <p:cNvCxnSpPr>
            <a:cxnSpLocks noChangeShapeType="1"/>
          </p:cNvCxnSpPr>
          <p:nvPr/>
        </p:nvCxnSpPr>
        <p:spPr bwMode="auto">
          <a:xfrm>
            <a:off x="1752600" y="4347065"/>
            <a:ext cx="1524000" cy="0"/>
          </a:xfrm>
          <a:prstGeom prst="line">
            <a:avLst/>
          </a:prstGeom>
          <a:noFill/>
          <a:ln w="31750">
            <a:solidFill>
              <a:srgbClr val="007FA3"/>
            </a:solidFill>
            <a:round/>
            <a:headEnd/>
            <a:tailEnd/>
          </a:ln>
          <a:effectLst>
            <a:outerShdw blurRad="50800" dist="254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23" name="Straight Arrow Connector 22">
            <a:extLst>
              <a:ext uri="{C183D7F6-B498-43B3-948B-1728B52AA6E4}">
                <adec:decorative xmlns:adec="http://schemas.microsoft.com/office/drawing/2017/decorative" val="1"/>
              </a:ext>
            </a:extLst>
          </p:cNvPr>
          <p:cNvCxnSpPr>
            <a:cxnSpLocks noChangeShapeType="1"/>
          </p:cNvCxnSpPr>
          <p:nvPr/>
        </p:nvCxnSpPr>
        <p:spPr bwMode="auto">
          <a:xfrm flipV="1">
            <a:off x="1752600" y="3051665"/>
            <a:ext cx="0" cy="1295400"/>
          </a:xfrm>
          <a:prstGeom prst="straightConnector1">
            <a:avLst/>
          </a:prstGeom>
          <a:noFill/>
          <a:ln w="31750">
            <a:solidFill>
              <a:srgbClr val="007FA3"/>
            </a:solidFill>
            <a:round/>
            <a:headEnd/>
            <a:tailEnd type="arrow" w="med" len="med"/>
          </a:ln>
          <a:effectLst>
            <a:outerShdw blurRad="51500" dist="25400" dir="5400000" rotWithShape="0">
              <a:srgbClr val="808080">
                <a:alpha val="39998"/>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38717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Notes Receivable</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More formal than accounts receivable</a:t>
            </a:r>
          </a:p>
          <a:p>
            <a:r>
              <a:rPr lang="en-US" altLang="en-US" dirty="0">
                <a:ea typeface="ＭＳ Ｐゴシック" pitchFamily="34" charset="-128"/>
              </a:rPr>
              <a:t>Written promise to pay a sum at the maturity date</a:t>
            </a:r>
          </a:p>
          <a:p>
            <a:pPr lvl="1"/>
            <a:r>
              <a:rPr lang="en-US" altLang="en-US" dirty="0">
                <a:ea typeface="ＭＳ Ｐゴシック" pitchFamily="34" charset="-128"/>
              </a:rPr>
              <a:t>Plus interest</a:t>
            </a:r>
          </a:p>
          <a:p>
            <a:r>
              <a:rPr lang="en-US" altLang="en-US" dirty="0">
                <a:ea typeface="ＭＳ Ｐゴシック" pitchFamily="34" charset="-128"/>
              </a:rPr>
              <a:t>Also called </a:t>
            </a:r>
            <a:r>
              <a:rPr lang="en-US" altLang="en-US" b="1" dirty="0">
                <a:solidFill>
                  <a:schemeClr val="accent2"/>
                </a:solidFill>
                <a:ea typeface="ＭＳ Ｐゴシック" pitchFamily="34" charset="-128"/>
              </a:rPr>
              <a:t>promissory notes</a:t>
            </a:r>
            <a:endParaRPr lang="en-US" dirty="0"/>
          </a:p>
        </p:txBody>
      </p:sp>
    </p:spTree>
    <p:extLst>
      <p:ext uri="{BB962C8B-B14F-4D97-AF65-F5344CB8AC3E}">
        <p14:creationId xmlns:p14="http://schemas.microsoft.com/office/powerpoint/2010/main" val="4121874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Risks of Selling on Credit</a:t>
            </a:r>
            <a:endParaRPr lang="en-US" dirty="0"/>
          </a:p>
        </p:txBody>
      </p:sp>
      <p:graphicFrame>
        <p:nvGraphicFramePr>
          <p:cNvPr id="8" name="Table 8">
            <a:extLst>
              <a:ext uri="{FF2B5EF4-FFF2-40B4-BE49-F238E27FC236}">
                <a16:creationId xmlns:a16="http://schemas.microsoft.com/office/drawing/2014/main" id="{591142E0-1237-4470-B282-3CC0B50D0E23}"/>
              </a:ext>
            </a:extLst>
          </p:cNvPr>
          <p:cNvGraphicFramePr>
            <a:graphicFrameLocks noGrp="1"/>
          </p:cNvGraphicFramePr>
          <p:nvPr>
            <p:ph idx="1"/>
          </p:nvPr>
        </p:nvGraphicFramePr>
        <p:xfrm>
          <a:off x="431515" y="2438400"/>
          <a:ext cx="8229600" cy="2316424"/>
        </p:xfrm>
        <a:graphic>
          <a:graphicData uri="http://schemas.openxmlformats.org/drawingml/2006/table">
            <a:tbl>
              <a:tblPr firstRow="1" bandRow="1">
                <a:tableStyleId>{3B4B98B0-60AC-42C2-AFA5-B58CD77FA1E5}</a:tableStyleId>
              </a:tblPr>
              <a:tblGrid>
                <a:gridCol w="4114800">
                  <a:extLst>
                    <a:ext uri="{9D8B030D-6E8A-4147-A177-3AD203B41FA5}">
                      <a16:colId xmlns:a16="http://schemas.microsoft.com/office/drawing/2014/main" val="3838477076"/>
                    </a:ext>
                  </a:extLst>
                </a:gridCol>
                <a:gridCol w="4114800">
                  <a:extLst>
                    <a:ext uri="{9D8B030D-6E8A-4147-A177-3AD203B41FA5}">
                      <a16:colId xmlns:a16="http://schemas.microsoft.com/office/drawing/2014/main" val="2314227894"/>
                    </a:ext>
                  </a:extLst>
                </a:gridCol>
              </a:tblGrid>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2000" b="1" kern="1200" dirty="0">
                          <a:solidFill>
                            <a:schemeClr val="tx1"/>
                          </a:solidFill>
                          <a:latin typeface="+mn-lt"/>
                          <a:ea typeface="ＭＳ Ｐゴシック" pitchFamily="34" charset="-128"/>
                          <a:cs typeface="+mn-cs"/>
                        </a:rPr>
                        <a:t>Decision</a:t>
                      </a:r>
                    </a:p>
                  </a:txBody>
                  <a:tcPr marT="45713" marB="4571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2000" b="1" kern="1200" dirty="0">
                          <a:solidFill>
                            <a:schemeClr val="tx1"/>
                          </a:solidFill>
                          <a:latin typeface="+mn-lt"/>
                          <a:ea typeface="ＭＳ Ｐゴシック" pitchFamily="34" charset="-128"/>
                          <a:cs typeface="+mn-cs"/>
                        </a:rPr>
                        <a:t>Guidelines</a:t>
                      </a:r>
                    </a:p>
                  </a:txBody>
                  <a:tcPr marT="45713" marB="4571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2716707"/>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What are the benefits and costs of  extending credit to customers?</a:t>
                      </a:r>
                    </a:p>
                  </a:txBody>
                  <a:tcPr marT="45713" marB="4571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Benefit – increase in sales</a:t>
                      </a:r>
                    </a:p>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Cost – risk of not collecting</a:t>
                      </a:r>
                    </a:p>
                  </a:txBody>
                  <a:tcPr marT="45713" marB="4571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85951235"/>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1800" kern="1200" dirty="0">
                          <a:solidFill>
                            <a:schemeClr val="tx1"/>
                          </a:solidFill>
                          <a:latin typeface="+mn-lt"/>
                          <a:ea typeface="ＭＳ Ｐゴシック" pitchFamily="34" charset="-128"/>
                          <a:cs typeface="+mn-cs"/>
                        </a:rPr>
                        <a:t>Extend credit to only creditworthy customers.</a:t>
                      </a:r>
                    </a:p>
                  </a:txBody>
                  <a:tcPr marT="45713" marB="4571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1800" kern="1200" dirty="0">
                          <a:solidFill>
                            <a:schemeClr val="tx1"/>
                          </a:solidFill>
                          <a:latin typeface="+mn-lt"/>
                          <a:ea typeface="ＭＳ Ｐゴシック" pitchFamily="34" charset="-128"/>
                          <a:cs typeface="+mn-cs"/>
                        </a:rPr>
                        <a:t>Run a credit check on prospective customers.</a:t>
                      </a:r>
                    </a:p>
                  </a:txBody>
                  <a:tcPr marT="45713" marB="4571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52596718"/>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Pursue collection from customers to maximize cash flow.</a:t>
                      </a:r>
                    </a:p>
                  </a:txBody>
                  <a:tcPr marT="45713" marB="4571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Keep a close eye on customer</a:t>
                      </a:r>
                      <a:r>
                        <a:rPr lang="en-US" altLang="en-US" sz="1800" kern="1200" baseline="0" dirty="0">
                          <a:solidFill>
                            <a:schemeClr val="tx1"/>
                          </a:solidFill>
                          <a:latin typeface="+mn-lt"/>
                          <a:ea typeface="ＭＳ Ｐゴシック" pitchFamily="34" charset="-128"/>
                          <a:cs typeface="+mn-cs"/>
                        </a:rPr>
                        <a:t> paying habits.</a:t>
                      </a:r>
                      <a:r>
                        <a:rPr lang="en-US" altLang="en-US" sz="1800" kern="1200" dirty="0">
                          <a:solidFill>
                            <a:schemeClr val="tx1"/>
                          </a:solidFill>
                          <a:latin typeface="+mn-lt"/>
                          <a:ea typeface="ＭＳ Ｐゴシック" pitchFamily="34" charset="-128"/>
                          <a:cs typeface="+mn-cs"/>
                        </a:rPr>
                        <a:t> </a:t>
                      </a:r>
                    </a:p>
                  </a:txBody>
                  <a:tcPr marT="45713" marB="4571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5747313"/>
                  </a:ext>
                </a:extLst>
              </a:tr>
            </a:tbl>
          </a:graphicData>
        </a:graphic>
      </p:graphicFrame>
    </p:spTree>
    <p:extLst>
      <p:ext uri="{BB962C8B-B14F-4D97-AF65-F5344CB8AC3E}">
        <p14:creationId xmlns:p14="http://schemas.microsoft.com/office/powerpoint/2010/main" val="2832351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Four</a:t>
            </a:r>
          </a:p>
        </p:txBody>
      </p:sp>
      <p:sp>
        <p:nvSpPr>
          <p:cNvPr id="3" name="Subtitle 2"/>
          <p:cNvSpPr>
            <a:spLocks noGrp="1"/>
          </p:cNvSpPr>
          <p:nvPr>
            <p:ph type="subTitle" idx="1"/>
          </p:nvPr>
        </p:nvSpPr>
        <p:spPr/>
        <p:txBody>
          <a:bodyPr>
            <a:normAutofit fontScale="92500" lnSpcReduction="20000"/>
          </a:bodyPr>
          <a:lstStyle/>
          <a:p>
            <a:r>
              <a:rPr lang="en-US" altLang="en-US" sz="2400" b="1" dirty="0">
                <a:ea typeface="ＭＳ Ｐゴシック" pitchFamily="34" charset="-128"/>
              </a:rPr>
              <a:t>Evaluate </a:t>
            </a:r>
            <a:r>
              <a:rPr lang="en-US" altLang="en-US" sz="2400" dirty="0">
                <a:ea typeface="ＭＳ Ｐゴシック" pitchFamily="34" charset="-128"/>
              </a:rPr>
              <a:t>collectability using the allowance for uncollectible accounts</a:t>
            </a:r>
            <a:endParaRPr lang="en-US" sz="2400" dirty="0"/>
          </a:p>
        </p:txBody>
      </p:sp>
    </p:spTree>
    <p:extLst>
      <p:ext uri="{BB962C8B-B14F-4D97-AF65-F5344CB8AC3E}">
        <p14:creationId xmlns:p14="http://schemas.microsoft.com/office/powerpoint/2010/main" val="3578119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296"/>
            <a:ext cx="8229600" cy="1097280"/>
          </a:xfrm>
        </p:spPr>
        <p:txBody>
          <a:bodyPr/>
          <a:lstStyle/>
          <a:p>
            <a:r>
              <a:rPr lang="en-US" altLang="en-US" dirty="0"/>
              <a:t>Uncollectible Receivables</a:t>
            </a:r>
            <a:endParaRPr lang="en-US" dirty="0"/>
          </a:p>
        </p:txBody>
      </p:sp>
      <p:sp>
        <p:nvSpPr>
          <p:cNvPr id="3" name="Text Placeholder 2"/>
          <p:cNvSpPr>
            <a:spLocks noGrp="1"/>
          </p:cNvSpPr>
          <p:nvPr>
            <p:ph type="body" idx="1"/>
          </p:nvPr>
        </p:nvSpPr>
        <p:spPr>
          <a:xfrm>
            <a:off x="457200" y="1671575"/>
            <a:ext cx="4040982" cy="457200"/>
          </a:xfrm>
          <a:solidFill>
            <a:srgbClr val="C5F3FF"/>
          </a:solidFill>
          <a:ln>
            <a:solidFill>
              <a:srgbClr val="007FA3"/>
            </a:solidFill>
          </a:ln>
        </p:spPr>
        <p:txBody>
          <a:bodyPr anchor="ctr"/>
          <a:lstStyle/>
          <a:p>
            <a:pPr algn="ctr">
              <a:defRPr/>
            </a:pPr>
            <a:r>
              <a:rPr lang="en-US" sz="2000" b="1" dirty="0"/>
              <a:t>Benefit of selling on credit</a:t>
            </a:r>
          </a:p>
        </p:txBody>
      </p:sp>
      <p:sp>
        <p:nvSpPr>
          <p:cNvPr id="4" name="Content Placeholder 3"/>
          <p:cNvSpPr>
            <a:spLocks noGrp="1"/>
          </p:cNvSpPr>
          <p:nvPr>
            <p:ph sz="half" idx="2"/>
          </p:nvPr>
        </p:nvSpPr>
        <p:spPr>
          <a:xfrm>
            <a:off x="457200" y="2259012"/>
            <a:ext cx="4040982" cy="3684588"/>
          </a:xfrm>
        </p:spPr>
        <p:txBody>
          <a:bodyPr/>
          <a:lstStyle/>
          <a:p>
            <a:r>
              <a:rPr lang="en-US" altLang="en-US" dirty="0">
                <a:ea typeface="ＭＳ Ｐゴシック" pitchFamily="34" charset="-128"/>
              </a:rPr>
              <a:t>Customers that do not have cash available can buy on credit</a:t>
            </a:r>
          </a:p>
          <a:p>
            <a:r>
              <a:rPr lang="en-US" altLang="en-US" dirty="0">
                <a:ea typeface="ＭＳ Ｐゴシック" pitchFamily="34" charset="-128"/>
              </a:rPr>
              <a:t>Sales and profits increase</a:t>
            </a:r>
            <a:endParaRPr lang="en-US" dirty="0"/>
          </a:p>
        </p:txBody>
      </p:sp>
      <p:sp>
        <p:nvSpPr>
          <p:cNvPr id="5" name="Text Placeholder 4"/>
          <p:cNvSpPr>
            <a:spLocks noGrp="1"/>
          </p:cNvSpPr>
          <p:nvPr>
            <p:ph type="body" sz="quarter" idx="3"/>
          </p:nvPr>
        </p:nvSpPr>
        <p:spPr>
          <a:xfrm>
            <a:off x="4629150" y="1671575"/>
            <a:ext cx="4057650" cy="457200"/>
          </a:xfrm>
          <a:solidFill>
            <a:srgbClr val="C5F3FF"/>
          </a:solidFill>
          <a:ln>
            <a:solidFill>
              <a:srgbClr val="007FA3"/>
            </a:solidFill>
          </a:ln>
        </p:spPr>
        <p:txBody>
          <a:bodyPr anchor="ctr"/>
          <a:lstStyle/>
          <a:p>
            <a:pPr algn="ctr">
              <a:defRPr/>
            </a:pPr>
            <a:r>
              <a:rPr lang="en-US" sz="2000" b="1" dirty="0"/>
              <a:t>Cost of selling on credit</a:t>
            </a:r>
          </a:p>
        </p:txBody>
      </p:sp>
      <p:sp>
        <p:nvSpPr>
          <p:cNvPr id="6" name="Content Placeholder 5"/>
          <p:cNvSpPr>
            <a:spLocks noGrp="1"/>
          </p:cNvSpPr>
          <p:nvPr>
            <p:ph sz="quarter" idx="4"/>
          </p:nvPr>
        </p:nvSpPr>
        <p:spPr>
          <a:xfrm>
            <a:off x="4629150" y="2259012"/>
            <a:ext cx="4057650" cy="3684588"/>
          </a:xfrm>
        </p:spPr>
        <p:txBody>
          <a:bodyPr/>
          <a:lstStyle/>
          <a:p>
            <a:r>
              <a:rPr lang="en-US" altLang="en-US" dirty="0">
                <a:ea typeface="ＭＳ Ｐゴシック" pitchFamily="34" charset="-128"/>
              </a:rPr>
              <a:t>Company cannot collect from some customers</a:t>
            </a:r>
          </a:p>
          <a:p>
            <a:r>
              <a:rPr lang="en-US" altLang="en-US" dirty="0">
                <a:ea typeface="ＭＳ Ｐゴシック" pitchFamily="34" charset="-128"/>
              </a:rPr>
              <a:t>This cost is called “uncollectible-account expense,” “doubtful-account expense,” or “bad debt expense”</a:t>
            </a:r>
            <a:endParaRPr lang="en-US" dirty="0"/>
          </a:p>
        </p:txBody>
      </p:sp>
    </p:spTree>
    <p:extLst>
      <p:ext uri="{BB962C8B-B14F-4D97-AF65-F5344CB8AC3E}">
        <p14:creationId xmlns:p14="http://schemas.microsoft.com/office/powerpoint/2010/main" val="108225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Allowance Method</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Records collection losses based on company’s collection experience</a:t>
            </a:r>
          </a:p>
          <a:p>
            <a:r>
              <a:rPr lang="en-US" altLang="en-US" dirty="0">
                <a:ea typeface="ＭＳ Ｐゴシック" pitchFamily="34" charset="-128"/>
              </a:rPr>
              <a:t>Estimates Bad Debt Expense</a:t>
            </a:r>
          </a:p>
          <a:p>
            <a:r>
              <a:rPr lang="en-US" altLang="en-US" dirty="0">
                <a:ea typeface="ＭＳ Ｐゴシック" pitchFamily="34" charset="-128"/>
              </a:rPr>
              <a:t>Also sets up </a:t>
            </a:r>
            <a:r>
              <a:rPr lang="en-US" altLang="en-US" b="1" dirty="0">
                <a:solidFill>
                  <a:srgbClr val="007FA3"/>
                </a:solidFill>
                <a:ea typeface="ＭＳ Ｐゴシック" pitchFamily="34" charset="-128"/>
              </a:rPr>
              <a:t>Allowance for Uncollectible Accounts</a:t>
            </a:r>
          </a:p>
          <a:p>
            <a:pPr lvl="1"/>
            <a:r>
              <a:rPr lang="en-US" altLang="en-US" dirty="0">
                <a:ea typeface="ＭＳ Ｐゴシック" pitchFamily="34" charset="-128"/>
              </a:rPr>
              <a:t>Contra-account to Accounts Receivable</a:t>
            </a:r>
          </a:p>
          <a:p>
            <a:pPr lvl="1"/>
            <a:r>
              <a:rPr lang="en-US" altLang="en-US" dirty="0">
                <a:ea typeface="ＭＳ Ｐゴシック" pitchFamily="34" charset="-128"/>
              </a:rPr>
              <a:t>Shows amount of receivables expected </a:t>
            </a:r>
            <a:r>
              <a:rPr lang="en-US" altLang="en-US" u="sng" dirty="0">
                <a:ea typeface="ＭＳ Ｐゴシック" pitchFamily="34" charset="-128"/>
              </a:rPr>
              <a:t>not</a:t>
            </a:r>
            <a:r>
              <a:rPr lang="en-US" altLang="en-US" dirty="0">
                <a:ea typeface="ＭＳ Ｐゴシック" pitchFamily="34" charset="-128"/>
              </a:rPr>
              <a:t> to be collected</a:t>
            </a:r>
            <a:endParaRPr lang="en-US" dirty="0">
              <a:ea typeface="ＭＳ Ｐゴシック" pitchFamily="34" charset="-128"/>
            </a:endParaRPr>
          </a:p>
        </p:txBody>
      </p:sp>
    </p:spTree>
    <p:extLst>
      <p:ext uri="{BB962C8B-B14F-4D97-AF65-F5344CB8AC3E}">
        <p14:creationId xmlns:p14="http://schemas.microsoft.com/office/powerpoint/2010/main" val="3730302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Net Realizable Value</a:t>
            </a:r>
            <a:endParaRPr lang="en-US" dirty="0"/>
          </a:p>
        </p:txBody>
      </p:sp>
      <p:sp>
        <p:nvSpPr>
          <p:cNvPr id="3" name="Content Placeholder 2"/>
          <p:cNvSpPr>
            <a:spLocks noGrp="1"/>
          </p:cNvSpPr>
          <p:nvPr>
            <p:ph idx="1"/>
          </p:nvPr>
        </p:nvSpPr>
        <p:spPr>
          <a:xfrm>
            <a:off x="838200" y="4114800"/>
            <a:ext cx="685800" cy="685800"/>
          </a:xfrm>
        </p:spPr>
        <p:txBody>
          <a:bodyPr>
            <a:normAutofit fontScale="92500"/>
          </a:bodyPr>
          <a:lstStyle/>
          <a:p>
            <a:pPr marL="0" indent="0">
              <a:buNone/>
            </a:pPr>
            <a:r>
              <a:rPr lang="en-US" altLang="en-US" sz="3600" dirty="0">
                <a:solidFill>
                  <a:srgbClr val="007FA3"/>
                </a:solidFill>
              </a:rPr>
              <a:t>Or</a:t>
            </a:r>
            <a:endParaRPr lang="en-US" sz="3600" dirty="0">
              <a:solidFill>
                <a:srgbClr val="007FA3"/>
              </a:solidFill>
            </a:endParaRPr>
          </a:p>
        </p:txBody>
      </p:sp>
      <p:graphicFrame>
        <p:nvGraphicFramePr>
          <p:cNvPr id="6" name="Table 5"/>
          <p:cNvGraphicFramePr>
            <a:graphicFrameLocks noGrp="1"/>
          </p:cNvGraphicFramePr>
          <p:nvPr/>
        </p:nvGraphicFramePr>
        <p:xfrm>
          <a:off x="1676400" y="1828800"/>
          <a:ext cx="6248400" cy="1893890"/>
        </p:xfrm>
        <a:graphic>
          <a:graphicData uri="http://schemas.openxmlformats.org/drawingml/2006/table">
            <a:tbl>
              <a:tblPr firstRow="1" bandRow="1">
                <a:tableStyleId>{2D5ABB26-0587-4C30-8999-92F81FD0307C}</a:tableStyleId>
              </a:tblPr>
              <a:tblGrid>
                <a:gridCol w="4859867">
                  <a:extLst>
                    <a:ext uri="{9D8B030D-6E8A-4147-A177-3AD203B41FA5}">
                      <a16:colId xmlns:a16="http://schemas.microsoft.com/office/drawing/2014/main" val="20000"/>
                    </a:ext>
                  </a:extLst>
                </a:gridCol>
                <a:gridCol w="1388533">
                  <a:extLst>
                    <a:ext uri="{9D8B030D-6E8A-4147-A177-3AD203B41FA5}">
                      <a16:colId xmlns:a16="http://schemas.microsoft.com/office/drawing/2014/main" val="20001"/>
                    </a:ext>
                  </a:extLst>
                </a:gridCol>
              </a:tblGrid>
              <a:tr h="378778">
                <a:tc gridSpan="2">
                  <a:txBody>
                    <a:bodyPr/>
                    <a:lstStyle/>
                    <a:p>
                      <a:pPr algn="ctr"/>
                      <a:r>
                        <a:rPr lang="en-US" sz="1800" b="1" dirty="0"/>
                        <a:t>Partial Balance Sheet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78778">
                <a:tc>
                  <a:txBody>
                    <a:bodyPr/>
                    <a:lstStyle/>
                    <a:p>
                      <a:r>
                        <a:rPr lang="en-US" sz="1800" dirty="0"/>
                        <a:t>Current assets: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8778">
                <a:tc>
                  <a:txBody>
                    <a:bodyPr/>
                    <a:lstStyle/>
                    <a:p>
                      <a:r>
                        <a:rPr lang="en-US" sz="1800" dirty="0"/>
                        <a:t> Accounts receivable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$100,000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8778">
                <a:tc>
                  <a:txBody>
                    <a:bodyPr/>
                    <a:lstStyle/>
                    <a:p>
                      <a:r>
                        <a:rPr lang="en-US" sz="1800" dirty="0"/>
                        <a:t> Less: Allowance for uncollectible accounts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(5,000)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8778">
                <a:tc>
                  <a:txBody>
                    <a:bodyPr/>
                    <a:lstStyle/>
                    <a:p>
                      <a:r>
                        <a:rPr lang="en-US" sz="1800" dirty="0"/>
                        <a:t> Accounts</a:t>
                      </a:r>
                      <a:r>
                        <a:rPr lang="en-US" sz="1800" baseline="0" dirty="0"/>
                        <a:t> receivable, net</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$95,000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1676400" y="4114800"/>
          <a:ext cx="6248400" cy="1136649"/>
        </p:xfrm>
        <a:graphic>
          <a:graphicData uri="http://schemas.openxmlformats.org/drawingml/2006/table">
            <a:tbl>
              <a:tblPr firstRow="1" bandRow="1">
                <a:tableStyleId>{2D5ABB26-0587-4C30-8999-92F81FD0307C}</a:tableStyleId>
              </a:tblPr>
              <a:tblGrid>
                <a:gridCol w="4859867">
                  <a:extLst>
                    <a:ext uri="{9D8B030D-6E8A-4147-A177-3AD203B41FA5}">
                      <a16:colId xmlns:a16="http://schemas.microsoft.com/office/drawing/2014/main" val="20000"/>
                    </a:ext>
                  </a:extLst>
                </a:gridCol>
                <a:gridCol w="1388533">
                  <a:extLst>
                    <a:ext uri="{9D8B030D-6E8A-4147-A177-3AD203B41FA5}">
                      <a16:colId xmlns:a16="http://schemas.microsoft.com/office/drawing/2014/main" val="20001"/>
                    </a:ext>
                  </a:extLst>
                </a:gridCol>
              </a:tblGrid>
              <a:tr h="378883">
                <a:tc gridSpan="2">
                  <a:txBody>
                    <a:bodyPr/>
                    <a:lstStyle/>
                    <a:p>
                      <a:pPr algn="ctr"/>
                      <a:r>
                        <a:rPr lang="en-US" sz="1800" b="1" dirty="0"/>
                        <a:t>Partial Balance Sheet</a:t>
                      </a:r>
                    </a:p>
                  </a:txBody>
                  <a:tcPr marT="45733" marB="4573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78883">
                <a:tc>
                  <a:txBody>
                    <a:bodyPr/>
                    <a:lstStyle/>
                    <a:p>
                      <a:r>
                        <a:rPr lang="en-US" sz="1800" dirty="0"/>
                        <a:t>Current assets:</a:t>
                      </a:r>
                    </a:p>
                  </a:txBody>
                  <a:tcPr marT="45733" marB="4573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33" marB="4573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8883">
                <a:tc>
                  <a:txBody>
                    <a:bodyPr/>
                    <a:lstStyle/>
                    <a:p>
                      <a:r>
                        <a:rPr lang="en-US" sz="1800" dirty="0"/>
                        <a:t>Accounts receivable, less allowance of $5,000</a:t>
                      </a:r>
                    </a:p>
                  </a:txBody>
                  <a:tcPr marT="45733" marB="4573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$95,000</a:t>
                      </a:r>
                    </a:p>
                  </a:txBody>
                  <a:tcPr marT="45733" marB="4573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38514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296"/>
            <a:ext cx="8229600" cy="1097280"/>
          </a:xfrm>
        </p:spPr>
        <p:txBody>
          <a:bodyPr/>
          <a:lstStyle/>
          <a:p>
            <a:r>
              <a:rPr lang="en-US" altLang="en-US" dirty="0"/>
              <a:t>Method to Estimate Uncollectibles</a:t>
            </a:r>
            <a:endParaRPr lang="en-US" dirty="0"/>
          </a:p>
        </p:txBody>
      </p:sp>
      <p:sp>
        <p:nvSpPr>
          <p:cNvPr id="3" name="Text Placeholder 2"/>
          <p:cNvSpPr>
            <a:spLocks noGrp="1"/>
          </p:cNvSpPr>
          <p:nvPr>
            <p:ph type="body" idx="1"/>
          </p:nvPr>
        </p:nvSpPr>
        <p:spPr>
          <a:xfrm>
            <a:off x="457200" y="1671574"/>
            <a:ext cx="8229600" cy="614425"/>
          </a:xfrm>
          <a:solidFill>
            <a:srgbClr val="C5F3FF"/>
          </a:solidFill>
          <a:ln>
            <a:solidFill>
              <a:srgbClr val="007FA3"/>
            </a:solidFill>
          </a:ln>
        </p:spPr>
        <p:txBody>
          <a:bodyPr anchor="ctr"/>
          <a:lstStyle/>
          <a:p>
            <a:pPr algn="ctr">
              <a:defRPr/>
            </a:pPr>
            <a:r>
              <a:rPr lang="en-US" b="1" dirty="0"/>
              <a:t>Aging-of-Receivables Method</a:t>
            </a:r>
          </a:p>
        </p:txBody>
      </p:sp>
      <p:sp>
        <p:nvSpPr>
          <p:cNvPr id="4" name="Content Placeholder 3"/>
          <p:cNvSpPr>
            <a:spLocks noGrp="1"/>
          </p:cNvSpPr>
          <p:nvPr>
            <p:ph sz="half" idx="2"/>
          </p:nvPr>
        </p:nvSpPr>
        <p:spPr>
          <a:xfrm>
            <a:off x="457200" y="2368189"/>
            <a:ext cx="8229600" cy="3684588"/>
          </a:xfrm>
        </p:spPr>
        <p:txBody>
          <a:bodyPr/>
          <a:lstStyle/>
          <a:p>
            <a:r>
              <a:rPr lang="en-US" dirty="0"/>
              <a:t>Balance-sheet approach</a:t>
            </a:r>
          </a:p>
        </p:txBody>
      </p:sp>
    </p:spTree>
    <p:extLst>
      <p:ext uri="{BB962C8B-B14F-4D97-AF65-F5344CB8AC3E}">
        <p14:creationId xmlns:p14="http://schemas.microsoft.com/office/powerpoint/2010/main" val="3789319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Aging-of-Receivables</a:t>
            </a:r>
            <a:r>
              <a:rPr lang="en-US" altLang="en-US" sz="2000" b="0" dirty="0"/>
              <a:t> (1 of 2)</a:t>
            </a:r>
            <a:r>
              <a:rPr lang="en-US" altLang="en-US" sz="2000" dirty="0"/>
              <a:t> </a:t>
            </a:r>
            <a:endParaRPr lang="en-US" sz="2000" b="0" dirty="0"/>
          </a:p>
        </p:txBody>
      </p:sp>
      <p:sp>
        <p:nvSpPr>
          <p:cNvPr id="3" name="Content Placeholder 2"/>
          <p:cNvSpPr>
            <a:spLocks noGrp="1"/>
          </p:cNvSpPr>
          <p:nvPr>
            <p:ph idx="1"/>
          </p:nvPr>
        </p:nvSpPr>
        <p:spPr/>
        <p:txBody>
          <a:bodyPr/>
          <a:lstStyle/>
          <a:p>
            <a:r>
              <a:rPr lang="en-US" altLang="en-US" dirty="0">
                <a:ea typeface="ＭＳ Ｐゴシック" pitchFamily="34" charset="-128"/>
              </a:rPr>
              <a:t>Focuses on proper valuation of accounts receivable on the balance sheet</a:t>
            </a:r>
          </a:p>
          <a:p>
            <a:r>
              <a:rPr lang="en-US" altLang="en-US" dirty="0">
                <a:ea typeface="ＭＳ Ｐゴシック" pitchFamily="34" charset="-128"/>
              </a:rPr>
              <a:t>Individual customer balances analyzed based on time outstanding</a:t>
            </a:r>
          </a:p>
          <a:p>
            <a:pPr lvl="1"/>
            <a:r>
              <a:rPr lang="en-US" altLang="en-US" dirty="0">
                <a:ea typeface="ＭＳ Ｐゴシック" pitchFamily="34" charset="-128"/>
              </a:rPr>
              <a:t>Aging schedule</a:t>
            </a:r>
          </a:p>
          <a:p>
            <a:r>
              <a:rPr lang="en-US" altLang="en-US" dirty="0">
                <a:ea typeface="ＭＳ Ｐゴシック" pitchFamily="34" charset="-128"/>
              </a:rPr>
              <a:t>Allowance for Uncollectible Accounts adjusted to equal amount from aging schedule</a:t>
            </a:r>
            <a:endParaRPr lang="en-US" dirty="0"/>
          </a:p>
        </p:txBody>
      </p:sp>
    </p:spTree>
    <p:extLst>
      <p:ext uri="{BB962C8B-B14F-4D97-AF65-F5344CB8AC3E}">
        <p14:creationId xmlns:p14="http://schemas.microsoft.com/office/powerpoint/2010/main" val="2187107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6F0E014-F899-4D0D-84F9-8AE7A6279BE4}"/>
              </a:ext>
            </a:extLst>
          </p:cNvPr>
          <p:cNvSpPr>
            <a:spLocks noGrp="1"/>
          </p:cNvSpPr>
          <p:nvPr>
            <p:ph type="title"/>
          </p:nvPr>
        </p:nvSpPr>
        <p:spPr/>
        <p:txBody>
          <a:bodyPr/>
          <a:lstStyle/>
          <a:p>
            <a:r>
              <a:rPr lang="en-US" altLang="en-US" dirty="0"/>
              <a:t>Aging-of-Receivables</a:t>
            </a:r>
            <a:r>
              <a:rPr lang="en-US" altLang="en-US" sz="2000" b="0" dirty="0"/>
              <a:t> (2 of 2)</a:t>
            </a:r>
            <a:r>
              <a:rPr lang="en-US" altLang="en-US" sz="2000" dirty="0"/>
              <a:t> </a:t>
            </a:r>
            <a:endParaRPr lang="en-US" sz="2000" b="0" dirty="0"/>
          </a:p>
        </p:txBody>
      </p:sp>
      <p:graphicFrame>
        <p:nvGraphicFramePr>
          <p:cNvPr id="9" name="Table 4">
            <a:extLst>
              <a:ext uri="{FF2B5EF4-FFF2-40B4-BE49-F238E27FC236}">
                <a16:creationId xmlns:a16="http://schemas.microsoft.com/office/drawing/2014/main" id="{514A3F39-0362-417D-9F3F-8F6F11AFE483}"/>
              </a:ext>
            </a:extLst>
          </p:cNvPr>
          <p:cNvGraphicFramePr>
            <a:graphicFrameLocks noGrp="1"/>
          </p:cNvGraphicFramePr>
          <p:nvPr>
            <p:ph idx="1"/>
            <p:extLst>
              <p:ext uri="{D42A27DB-BD31-4B8C-83A1-F6EECF244321}">
                <p14:modId xmlns:p14="http://schemas.microsoft.com/office/powerpoint/2010/main" val="1880921927"/>
              </p:ext>
            </p:extLst>
          </p:nvPr>
        </p:nvGraphicFramePr>
        <p:xfrm>
          <a:off x="457200" y="1168392"/>
          <a:ext cx="8229600" cy="3403618"/>
        </p:xfrm>
        <a:graphic>
          <a:graphicData uri="http://schemas.openxmlformats.org/drawingml/2006/table">
            <a:tbl>
              <a:tblPr firstRow="1" bandRow="1">
                <a:tableStyleId>{3B4B98B0-60AC-42C2-AFA5-B58CD77FA1E5}</a:tableStyleId>
              </a:tblPr>
              <a:tblGrid>
                <a:gridCol w="2362200">
                  <a:extLst>
                    <a:ext uri="{9D8B030D-6E8A-4147-A177-3AD203B41FA5}">
                      <a16:colId xmlns:a16="http://schemas.microsoft.com/office/drawing/2014/main" val="2809214428"/>
                    </a:ext>
                  </a:extLst>
                </a:gridCol>
                <a:gridCol w="1143000">
                  <a:extLst>
                    <a:ext uri="{9D8B030D-6E8A-4147-A177-3AD203B41FA5}">
                      <a16:colId xmlns:a16="http://schemas.microsoft.com/office/drawing/2014/main" val="1944965857"/>
                    </a:ext>
                  </a:extLst>
                </a:gridCol>
                <a:gridCol w="1143000">
                  <a:extLst>
                    <a:ext uri="{9D8B030D-6E8A-4147-A177-3AD203B41FA5}">
                      <a16:colId xmlns:a16="http://schemas.microsoft.com/office/drawing/2014/main" val="2062083756"/>
                    </a:ext>
                  </a:extLst>
                </a:gridCol>
                <a:gridCol w="1143000">
                  <a:extLst>
                    <a:ext uri="{9D8B030D-6E8A-4147-A177-3AD203B41FA5}">
                      <a16:colId xmlns:a16="http://schemas.microsoft.com/office/drawing/2014/main" val="1146312967"/>
                    </a:ext>
                  </a:extLst>
                </a:gridCol>
                <a:gridCol w="1219200">
                  <a:extLst>
                    <a:ext uri="{9D8B030D-6E8A-4147-A177-3AD203B41FA5}">
                      <a16:colId xmlns:a16="http://schemas.microsoft.com/office/drawing/2014/main" val="3656544774"/>
                    </a:ext>
                  </a:extLst>
                </a:gridCol>
                <a:gridCol w="1219200">
                  <a:extLst>
                    <a:ext uri="{9D8B030D-6E8A-4147-A177-3AD203B41FA5}">
                      <a16:colId xmlns:a16="http://schemas.microsoft.com/office/drawing/2014/main" val="107462939"/>
                    </a:ext>
                  </a:extLst>
                </a:gridCol>
              </a:tblGrid>
              <a:tr h="370840">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800" b="1" kern="1200" dirty="0">
                          <a:solidFill>
                            <a:schemeClr val="tx1"/>
                          </a:solidFill>
                          <a:latin typeface="+mn-lt"/>
                          <a:ea typeface="ＭＳ Ｐゴシック" pitchFamily="34" charset="-128"/>
                          <a:cs typeface="+mn-cs"/>
                        </a:rPr>
                        <a:t>Age of Account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700547597"/>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b="1" kern="1200" dirty="0">
                          <a:solidFill>
                            <a:schemeClr val="tx1"/>
                          </a:solidFill>
                          <a:latin typeface="+mn-lt"/>
                          <a:ea typeface="ＭＳ Ｐゴシック" pitchFamily="34" charset="-128"/>
                          <a:cs typeface="+mn-cs"/>
                        </a:rPr>
                        <a:t>Customer</a:t>
                      </a:r>
                    </a:p>
                  </a:txBody>
                  <a:tcPr marT="45723" marB="45723" anchor="b"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1-30</a:t>
                      </a:r>
                      <a:br>
                        <a:rPr lang="en-US" altLang="en-US" sz="1800" kern="1200" dirty="0">
                          <a:solidFill>
                            <a:schemeClr val="tx1"/>
                          </a:solidFill>
                          <a:latin typeface="+mn-lt"/>
                          <a:ea typeface="ＭＳ Ｐゴシック" pitchFamily="34" charset="-128"/>
                          <a:cs typeface="+mn-cs"/>
                        </a:rPr>
                      </a:br>
                      <a:r>
                        <a:rPr lang="en-US" altLang="en-US" sz="1800" kern="1200" dirty="0">
                          <a:solidFill>
                            <a:schemeClr val="tx1"/>
                          </a:solidFill>
                          <a:latin typeface="+mn-lt"/>
                          <a:ea typeface="ＭＳ Ｐゴシック" pitchFamily="34" charset="-128"/>
                          <a:cs typeface="+mn-cs"/>
                        </a:rPr>
                        <a:t>days</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31-60</a:t>
                      </a:r>
                      <a:br>
                        <a:rPr lang="en-US" altLang="en-US" sz="1800" kern="1200" dirty="0">
                          <a:solidFill>
                            <a:schemeClr val="tx1"/>
                          </a:solidFill>
                          <a:latin typeface="+mn-lt"/>
                          <a:ea typeface="ＭＳ Ｐゴシック" pitchFamily="34" charset="-128"/>
                          <a:cs typeface="+mn-cs"/>
                        </a:rPr>
                      </a:br>
                      <a:r>
                        <a:rPr lang="en-US" altLang="en-US" sz="1800" kern="1200" dirty="0">
                          <a:solidFill>
                            <a:schemeClr val="tx1"/>
                          </a:solidFill>
                          <a:latin typeface="+mn-lt"/>
                          <a:ea typeface="ＭＳ Ｐゴシック" pitchFamily="34" charset="-128"/>
                          <a:cs typeface="+mn-cs"/>
                        </a:rPr>
                        <a:t>days</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61-90</a:t>
                      </a:r>
                      <a:br>
                        <a:rPr lang="en-US" altLang="en-US" sz="1800" kern="1200" dirty="0">
                          <a:solidFill>
                            <a:schemeClr val="tx1"/>
                          </a:solidFill>
                          <a:latin typeface="+mn-lt"/>
                          <a:ea typeface="ＭＳ Ｐゴシック" pitchFamily="34" charset="-128"/>
                          <a:cs typeface="+mn-cs"/>
                        </a:rPr>
                      </a:br>
                      <a:r>
                        <a:rPr lang="en-US" altLang="en-US" sz="1800" kern="1200" dirty="0">
                          <a:solidFill>
                            <a:schemeClr val="tx1"/>
                          </a:solidFill>
                          <a:latin typeface="+mn-lt"/>
                          <a:ea typeface="ＭＳ Ｐゴシック" pitchFamily="34" charset="-128"/>
                          <a:cs typeface="+mn-cs"/>
                        </a:rPr>
                        <a:t>days</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Over 90 days</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Total Balance</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5218209"/>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Customer A</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$1,500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$1,000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    2,500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$5,000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3015129"/>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Customer B</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66,070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57,000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10,300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133,370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8792924"/>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Totals</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$67,570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  58,000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  10,300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$ 2,500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u="dbl" kern="1200" baseline="0" dirty="0">
                          <a:solidFill>
                            <a:schemeClr val="tx1"/>
                          </a:solidFill>
                          <a:latin typeface="+mn-lt"/>
                          <a:ea typeface="ＭＳ Ｐゴシック" pitchFamily="34" charset="-128"/>
                          <a:cs typeface="+mn-cs"/>
                        </a:rPr>
                        <a:t>$138,370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8630140"/>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Est. % uncollectible</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  2%</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   5%</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    10%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  35%</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ＭＳ Ｐゴシック" pitchFamily="34" charset="-128"/>
                        <a:cs typeface="+mn-cs"/>
                      </a:endParaRP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2151103"/>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Allowance balance should be:</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$1,351</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$2,900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$1,030</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ＭＳ Ｐゴシック" pitchFamily="34" charset="-128"/>
                          <a:cs typeface="+mn-cs"/>
                        </a:rPr>
                        <a:t>$875</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b="1" kern="1200" dirty="0">
                          <a:solidFill>
                            <a:schemeClr val="tx1"/>
                          </a:solidFill>
                          <a:latin typeface="+mn-lt"/>
                          <a:ea typeface="ＭＳ Ｐゴシック" pitchFamily="34" charset="-128"/>
                          <a:cs typeface="+mn-cs"/>
                        </a:rPr>
                        <a:t>$6,156</a:t>
                      </a:r>
                    </a:p>
                  </a:txBody>
                  <a:tcPr marT="45723" marB="45723"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869048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628211152"/>
              </p:ext>
            </p:extLst>
          </p:nvPr>
        </p:nvGraphicFramePr>
        <p:xfrm>
          <a:off x="152400" y="4726556"/>
          <a:ext cx="8839200" cy="1493520"/>
        </p:xfrm>
        <a:graphic>
          <a:graphicData uri="http://schemas.openxmlformats.org/drawingml/2006/table">
            <a:tbl>
              <a:tblPr firstRow="1" bandRow="1">
                <a:tableStyleId>{2D5ABB26-0587-4C30-8999-92F81FD0307C}</a:tableStyleId>
              </a:tblPr>
              <a:tblGrid>
                <a:gridCol w="2964180">
                  <a:extLst>
                    <a:ext uri="{9D8B030D-6E8A-4147-A177-3AD203B41FA5}">
                      <a16:colId xmlns:a16="http://schemas.microsoft.com/office/drawing/2014/main" val="20000"/>
                    </a:ext>
                  </a:extLst>
                </a:gridCol>
                <a:gridCol w="922020">
                  <a:extLst>
                    <a:ext uri="{9D8B030D-6E8A-4147-A177-3AD203B41FA5}">
                      <a16:colId xmlns:a16="http://schemas.microsoft.com/office/drawing/2014/main" val="20001"/>
                    </a:ext>
                  </a:extLst>
                </a:gridCol>
                <a:gridCol w="944880">
                  <a:extLst>
                    <a:ext uri="{9D8B030D-6E8A-4147-A177-3AD203B41FA5}">
                      <a16:colId xmlns:a16="http://schemas.microsoft.com/office/drawing/2014/main" val="20002"/>
                    </a:ext>
                  </a:extLst>
                </a:gridCol>
                <a:gridCol w="4008120">
                  <a:extLst>
                    <a:ext uri="{9D8B030D-6E8A-4147-A177-3AD203B41FA5}">
                      <a16:colId xmlns:a16="http://schemas.microsoft.com/office/drawing/2014/main" val="20003"/>
                    </a:ext>
                  </a:extLst>
                </a:gridCol>
              </a:tblGrid>
              <a:tr h="276753">
                <a:tc gridSpan="4">
                  <a:txBody>
                    <a:bodyPr/>
                    <a:lstStyle/>
                    <a:p>
                      <a:pPr algn="ctr"/>
                      <a:r>
                        <a:rPr lang="en-US" altLang="en-US" sz="2000" dirty="0"/>
                        <a:t>Allowance for Uncollectible Accounts</a:t>
                      </a:r>
                      <a:endParaRPr lang="en-US" sz="20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pPr algn="ct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tc hMerge="1">
                  <a:txBody>
                    <a:bodyPr/>
                    <a:lstStyle/>
                    <a:p>
                      <a:pPr algn="ct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675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Balance before adjustment</a:t>
                      </a:r>
                      <a:endParaRPr lang="en-US" sz="1800" dirty="0"/>
                    </a:p>
                  </a:txBody>
                  <a:tcPr>
                    <a:lnR w="381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81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dirty="0"/>
                        <a:t>346</a:t>
                      </a:r>
                      <a:endParaRPr lang="en-US" sz="1800" dirty="0"/>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endParaRPr lang="en-US" dirty="0"/>
                    </a:p>
                  </a:txBody>
                  <a:tcPr>
                    <a:lnL w="3175" cap="flat" cmpd="sng" algn="ctr">
                      <a:no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7675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8100" cap="flat" cmpd="sng" algn="ctr">
                      <a:no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81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dirty="0"/>
                        <a:t>5,810</a:t>
                      </a:r>
                      <a:endParaRPr lang="en-US" sz="1800" dirty="0"/>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Adjustment needed</a:t>
                      </a:r>
                      <a:endParaRPr lang="en-US" sz="1800" dirty="0"/>
                    </a:p>
                  </a:txBody>
                  <a:tcPr>
                    <a:lnL w="3175" cap="flat" cmpd="sng" algn="ctr">
                      <a:noFill/>
                      <a:prstDash val="solid"/>
                      <a:round/>
                      <a:headEnd type="none" w="med" len="med"/>
                      <a:tailEnd type="none" w="med" len="med"/>
                    </a:lnL>
                  </a:tcPr>
                </a:tc>
                <a:extLst>
                  <a:ext uri="{0D108BD9-81ED-4DB2-BD59-A6C34878D82A}">
                    <a16:rowId xmlns:a16="http://schemas.microsoft.com/office/drawing/2014/main" val="10002"/>
                  </a:ext>
                </a:extLst>
              </a:tr>
              <a:tr h="16034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R w="38100" cap="flat" cmpd="sng" algn="ctr">
                      <a:no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81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800" dirty="0"/>
                        <a:t>6,156</a:t>
                      </a:r>
                      <a:endParaRPr lang="en-US" sz="1800" dirty="0"/>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Ending balance equals aging schedule</a:t>
                      </a:r>
                      <a:endParaRPr lang="en-US" sz="1800" dirty="0"/>
                    </a:p>
                  </a:txBody>
                  <a:tcPr>
                    <a:lnL w="3175" cap="flat" cmpd="sng" algn="ctr">
                      <a:noFill/>
                      <a:prstDash val="solid"/>
                      <a:round/>
                      <a:headEnd type="none" w="med" len="med"/>
                      <a:tailEnd type="none" w="med" len="med"/>
                    </a:lnL>
                  </a:tcPr>
                </a:tc>
                <a:extLst>
                  <a:ext uri="{0D108BD9-81ED-4DB2-BD59-A6C34878D82A}">
                    <a16:rowId xmlns:a16="http://schemas.microsoft.com/office/drawing/2014/main" val="10003"/>
                  </a:ext>
                </a:extLst>
              </a:tr>
            </a:tbl>
          </a:graphicData>
        </a:graphic>
      </p:graphicFrame>
      <p:cxnSp>
        <p:nvCxnSpPr>
          <p:cNvPr id="11" name="Straight Arrow Connector 10"/>
          <p:cNvCxnSpPr/>
          <p:nvPr/>
        </p:nvCxnSpPr>
        <p:spPr>
          <a:xfrm>
            <a:off x="3057052" y="5158460"/>
            <a:ext cx="1331128" cy="0"/>
          </a:xfrm>
          <a:prstGeom prst="straightConnector1">
            <a:avLst/>
          </a:prstGeom>
          <a:ln w="25400">
            <a:solidFill>
              <a:srgbClr val="007FA3"/>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H="1">
            <a:off x="4885768" y="4267200"/>
            <a:ext cx="2962832" cy="1600200"/>
          </a:xfrm>
          <a:prstGeom prst="straightConnector1">
            <a:avLst/>
          </a:prstGeom>
          <a:ln w="25400">
            <a:solidFill>
              <a:srgbClr val="007FA3"/>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014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Aging of Accounts Receivable </a:t>
            </a:r>
            <a:r>
              <a:rPr lang="en-US" altLang="en-US" sz="2000" b="0" dirty="0"/>
              <a:t>(1 of 2)</a:t>
            </a:r>
            <a:endParaRPr lang="en-US" b="0" dirty="0"/>
          </a:p>
        </p:txBody>
      </p:sp>
      <p:sp>
        <p:nvSpPr>
          <p:cNvPr id="3" name="Content Placeholder 2"/>
          <p:cNvSpPr>
            <a:spLocks noGrp="1"/>
          </p:cNvSpPr>
          <p:nvPr>
            <p:ph idx="1"/>
          </p:nvPr>
        </p:nvSpPr>
        <p:spPr>
          <a:xfrm>
            <a:off x="457200" y="1600201"/>
            <a:ext cx="8229600" cy="457200"/>
          </a:xfrm>
        </p:spPr>
        <p:txBody>
          <a:bodyPr>
            <a:normAutofit fontScale="92500" lnSpcReduction="10000"/>
          </a:bodyPr>
          <a:lstStyle/>
          <a:p>
            <a:pPr marL="0" indent="0" algn="ctr">
              <a:buNone/>
            </a:pPr>
            <a:r>
              <a:rPr lang="en-US" altLang="en-US" sz="2800" dirty="0"/>
              <a:t>Accounts before the year-end adjustment:</a:t>
            </a:r>
            <a:endParaRPr lang="en-US" sz="2800" dirty="0"/>
          </a:p>
        </p:txBody>
      </p:sp>
      <p:graphicFrame>
        <p:nvGraphicFramePr>
          <p:cNvPr id="4" name="Table 3"/>
          <p:cNvGraphicFramePr>
            <a:graphicFrameLocks noGrp="1"/>
          </p:cNvGraphicFramePr>
          <p:nvPr/>
        </p:nvGraphicFramePr>
        <p:xfrm>
          <a:off x="762000" y="2669739"/>
          <a:ext cx="3607118" cy="1115774"/>
        </p:xfrm>
        <a:graphic>
          <a:graphicData uri="http://schemas.openxmlformats.org/drawingml/2006/table">
            <a:tbl>
              <a:tblPr firstRow="1" bandRow="1">
                <a:tableStyleId>{2D5ABB26-0587-4C30-8999-92F81FD0307C}</a:tableStyleId>
              </a:tblPr>
              <a:tblGrid>
                <a:gridCol w="2354517">
                  <a:extLst>
                    <a:ext uri="{9D8B030D-6E8A-4147-A177-3AD203B41FA5}">
                      <a16:colId xmlns:a16="http://schemas.microsoft.com/office/drawing/2014/main" val="20000"/>
                    </a:ext>
                  </a:extLst>
                </a:gridCol>
                <a:gridCol w="1252601">
                  <a:extLst>
                    <a:ext uri="{9D8B030D-6E8A-4147-A177-3AD203B41FA5}">
                      <a16:colId xmlns:a16="http://schemas.microsoft.com/office/drawing/2014/main" val="20001"/>
                    </a:ext>
                  </a:extLst>
                </a:gridCol>
              </a:tblGrid>
              <a:tr h="557887">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800" dirty="0"/>
                        <a:t>Accounts Receivable</a:t>
                      </a:r>
                      <a:endParaRPr lang="en-US" sz="2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788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800" dirty="0"/>
                        <a:t>Bal. 138,370</a:t>
                      </a:r>
                      <a:endParaRPr lang="en-US" sz="2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nvGraphicFramePr>
        <p:xfrm>
          <a:off x="4724400" y="2467066"/>
          <a:ext cx="3844671" cy="1335024"/>
        </p:xfrm>
        <a:graphic>
          <a:graphicData uri="http://schemas.openxmlformats.org/drawingml/2006/table">
            <a:tbl>
              <a:tblPr firstRow="1" bandRow="1">
                <a:tableStyleId>{2D5ABB26-0587-4C30-8999-92F81FD0307C}</a:tableStyleId>
              </a:tblPr>
              <a:tblGrid>
                <a:gridCol w="1529080">
                  <a:extLst>
                    <a:ext uri="{9D8B030D-6E8A-4147-A177-3AD203B41FA5}">
                      <a16:colId xmlns:a16="http://schemas.microsoft.com/office/drawing/2014/main" val="20000"/>
                    </a:ext>
                  </a:extLst>
                </a:gridCol>
                <a:gridCol w="2315591">
                  <a:extLst>
                    <a:ext uri="{9D8B030D-6E8A-4147-A177-3AD203B41FA5}">
                      <a16:colId xmlns:a16="http://schemas.microsoft.com/office/drawing/2014/main" val="20001"/>
                    </a:ext>
                  </a:extLst>
                </a:gridCol>
              </a:tblGrid>
              <a:tr h="666661">
                <a:tc gridSpan="2">
                  <a:txBody>
                    <a:bodyPr/>
                    <a:lstStyle/>
                    <a:p>
                      <a:pPr algn="ctr">
                        <a:lnSpc>
                          <a:spcPct val="85000"/>
                        </a:lnSpc>
                      </a:pPr>
                      <a:r>
                        <a:rPr lang="en-US" altLang="en-US" sz="2800" dirty="0"/>
                        <a:t>Allowance for</a:t>
                      </a:r>
                    </a:p>
                    <a:p>
                      <a:pPr algn="ctr">
                        <a:lnSpc>
                          <a:spcPct val="85000"/>
                        </a:lnSpc>
                      </a:pPr>
                      <a:r>
                        <a:rPr lang="en-US" altLang="en-US" sz="2800" dirty="0"/>
                        <a:t>Uncollectible Accounts</a:t>
                      </a:r>
                      <a:endParaRPr lang="en-US" sz="2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2288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800" dirty="0"/>
                        <a:t>346</a:t>
                      </a:r>
                      <a:endParaRPr lang="en-US" sz="2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810458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Aging of Accounts Receivable </a:t>
            </a:r>
            <a:r>
              <a:rPr lang="en-US" altLang="en-US" sz="2000" b="0" dirty="0"/>
              <a:t>(2 of 2)</a:t>
            </a:r>
            <a:endParaRPr lang="en-US" b="0" dirty="0"/>
          </a:p>
        </p:txBody>
      </p:sp>
      <p:graphicFrame>
        <p:nvGraphicFramePr>
          <p:cNvPr id="4" name="Table 3"/>
          <p:cNvGraphicFramePr>
            <a:graphicFrameLocks noGrp="1"/>
          </p:cNvGraphicFramePr>
          <p:nvPr/>
        </p:nvGraphicFramePr>
        <p:xfrm>
          <a:off x="1072128" y="1828800"/>
          <a:ext cx="6999744" cy="1097280"/>
        </p:xfrm>
        <a:graphic>
          <a:graphicData uri="http://schemas.openxmlformats.org/drawingml/2006/table">
            <a:tbl>
              <a:tblPr firstRow="1" bandRow="1">
                <a:tableStyleId>{2D5ABB26-0587-4C30-8999-92F81FD0307C}</a:tableStyleId>
              </a:tblPr>
              <a:tblGrid>
                <a:gridCol w="4894580">
                  <a:extLst>
                    <a:ext uri="{9D8B030D-6E8A-4147-A177-3AD203B41FA5}">
                      <a16:colId xmlns:a16="http://schemas.microsoft.com/office/drawing/2014/main" val="20000"/>
                    </a:ext>
                  </a:extLst>
                </a:gridCol>
                <a:gridCol w="1052582">
                  <a:extLst>
                    <a:ext uri="{9D8B030D-6E8A-4147-A177-3AD203B41FA5}">
                      <a16:colId xmlns:a16="http://schemas.microsoft.com/office/drawing/2014/main" val="20001"/>
                    </a:ext>
                  </a:extLst>
                </a:gridCol>
                <a:gridCol w="1052582">
                  <a:extLst>
                    <a:ext uri="{9D8B030D-6E8A-4147-A177-3AD203B41FA5}">
                      <a16:colId xmlns:a16="http://schemas.microsoft.com/office/drawing/2014/main" val="20002"/>
                    </a:ext>
                  </a:extLst>
                </a:gridCol>
              </a:tblGrid>
              <a:tr h="203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Bad Debt Expense ($6,156 - $346)</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5,810</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03200">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Allowance for Uncollectible Accounts </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5,810</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3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Recorded expense for the year</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Content Placeholder 2"/>
          <p:cNvSpPr>
            <a:spLocks noGrp="1"/>
          </p:cNvSpPr>
          <p:nvPr>
            <p:ph idx="1"/>
          </p:nvPr>
        </p:nvSpPr>
        <p:spPr>
          <a:xfrm>
            <a:off x="457200" y="3091400"/>
            <a:ext cx="8229600" cy="685800"/>
          </a:xfrm>
        </p:spPr>
        <p:txBody>
          <a:bodyPr/>
          <a:lstStyle/>
          <a:p>
            <a:pPr marL="0" indent="0" algn="ctr">
              <a:buNone/>
            </a:pPr>
            <a:r>
              <a:rPr lang="en-US" altLang="en-US" sz="2800" dirty="0"/>
              <a:t>Accounts after the year-end adjustment:</a:t>
            </a:r>
            <a:endParaRPr lang="en-US" sz="2800" dirty="0"/>
          </a:p>
        </p:txBody>
      </p:sp>
      <p:graphicFrame>
        <p:nvGraphicFramePr>
          <p:cNvPr id="5" name="Table 4"/>
          <p:cNvGraphicFramePr>
            <a:graphicFrameLocks noGrp="1"/>
          </p:cNvGraphicFramePr>
          <p:nvPr/>
        </p:nvGraphicFramePr>
        <p:xfrm>
          <a:off x="685800" y="3976714"/>
          <a:ext cx="3607118" cy="1115774"/>
        </p:xfrm>
        <a:graphic>
          <a:graphicData uri="http://schemas.openxmlformats.org/drawingml/2006/table">
            <a:tbl>
              <a:tblPr firstRow="1" bandRow="1">
                <a:tableStyleId>{2D5ABB26-0587-4C30-8999-92F81FD0307C}</a:tableStyleId>
              </a:tblPr>
              <a:tblGrid>
                <a:gridCol w="2354517">
                  <a:extLst>
                    <a:ext uri="{9D8B030D-6E8A-4147-A177-3AD203B41FA5}">
                      <a16:colId xmlns:a16="http://schemas.microsoft.com/office/drawing/2014/main" val="20000"/>
                    </a:ext>
                  </a:extLst>
                </a:gridCol>
                <a:gridCol w="1252601">
                  <a:extLst>
                    <a:ext uri="{9D8B030D-6E8A-4147-A177-3AD203B41FA5}">
                      <a16:colId xmlns:a16="http://schemas.microsoft.com/office/drawing/2014/main" val="20001"/>
                    </a:ext>
                  </a:extLst>
                </a:gridCol>
              </a:tblGrid>
              <a:tr h="557887">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800" dirty="0"/>
                        <a:t>Accounts Receivable</a:t>
                      </a:r>
                      <a:endParaRPr lang="en-US" sz="28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788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800" dirty="0"/>
                        <a:t>Bal   138,370</a:t>
                      </a:r>
                      <a:endParaRPr lang="en-US" sz="2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aphicFrame>
        <p:nvGraphicFramePr>
          <p:cNvPr id="6" name="Table 5"/>
          <p:cNvGraphicFramePr>
            <a:graphicFrameLocks noGrp="1"/>
          </p:cNvGraphicFramePr>
          <p:nvPr/>
        </p:nvGraphicFramePr>
        <p:xfrm>
          <a:off x="4724400" y="3724656"/>
          <a:ext cx="3844671" cy="2371344"/>
        </p:xfrm>
        <a:graphic>
          <a:graphicData uri="http://schemas.openxmlformats.org/drawingml/2006/table">
            <a:tbl>
              <a:tblPr firstRow="1" bandRow="1">
                <a:tableStyleId>{2D5ABB26-0587-4C30-8999-92F81FD0307C}</a:tableStyleId>
              </a:tblPr>
              <a:tblGrid>
                <a:gridCol w="1529080">
                  <a:extLst>
                    <a:ext uri="{9D8B030D-6E8A-4147-A177-3AD203B41FA5}">
                      <a16:colId xmlns:a16="http://schemas.microsoft.com/office/drawing/2014/main" val="20000"/>
                    </a:ext>
                  </a:extLst>
                </a:gridCol>
                <a:gridCol w="2315591">
                  <a:extLst>
                    <a:ext uri="{9D8B030D-6E8A-4147-A177-3AD203B41FA5}">
                      <a16:colId xmlns:a16="http://schemas.microsoft.com/office/drawing/2014/main" val="20001"/>
                    </a:ext>
                  </a:extLst>
                </a:gridCol>
              </a:tblGrid>
              <a:tr h="666661">
                <a:tc gridSpan="2">
                  <a:txBody>
                    <a:bodyPr/>
                    <a:lstStyle/>
                    <a:p>
                      <a:pPr algn="ctr">
                        <a:lnSpc>
                          <a:spcPct val="85000"/>
                        </a:lnSpc>
                      </a:pPr>
                      <a:r>
                        <a:rPr lang="en-US" altLang="en-US" sz="2800" dirty="0"/>
                        <a:t>Allowance for</a:t>
                      </a:r>
                    </a:p>
                    <a:p>
                      <a:pPr algn="ctr">
                        <a:lnSpc>
                          <a:spcPct val="85000"/>
                        </a:lnSpc>
                      </a:pPr>
                      <a:r>
                        <a:rPr lang="en-US" altLang="en-US" sz="2800" dirty="0"/>
                        <a:t>Uncollectible Accounts</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2288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800" dirty="0"/>
                        <a:t>346</a:t>
                      </a:r>
                      <a:endParaRPr lang="en-US" sz="2800" dirty="0"/>
                    </a:p>
                  </a:txBody>
                  <a:tcPr marR="274320">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42288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lnR w="3175" cap="flat" cmpd="sng" algn="ctr">
                      <a:solidFill>
                        <a:schemeClr val="tx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800" dirty="0"/>
                        <a:t>Adj.	5,810</a:t>
                      </a:r>
                      <a:endParaRPr lang="en-US" sz="2800" dirty="0"/>
                    </a:p>
                  </a:txBody>
                  <a:tcPr marR="274320">
                    <a:lnL w="3175" cap="flat" cmpd="sng" algn="ctr">
                      <a:solidFill>
                        <a:schemeClr val="tx1"/>
                      </a:solidFill>
                      <a:prstDash val="solid"/>
                      <a:round/>
                      <a:headEnd type="none" w="med" len="med"/>
                      <a:tailEnd type="none" w="med" len="med"/>
                    </a:lnL>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288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lnR w="3175" cap="flat" cmpd="sng" algn="ctr">
                      <a:solidFill>
                        <a:schemeClr val="tx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800" dirty="0"/>
                        <a:t>6,156</a:t>
                      </a:r>
                      <a:endParaRPr lang="en-US" sz="2800" dirty="0"/>
                    </a:p>
                  </a:txBody>
                  <a:tcPr marR="274320">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52766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Writing Off Uncollectible Accounts</a:t>
            </a:r>
            <a:endParaRPr lang="en-US" dirty="0"/>
          </a:p>
        </p:txBody>
      </p:sp>
      <p:graphicFrame>
        <p:nvGraphicFramePr>
          <p:cNvPr id="8" name="Table 7"/>
          <p:cNvGraphicFramePr>
            <a:graphicFrameLocks noGrp="1"/>
          </p:cNvGraphicFramePr>
          <p:nvPr/>
        </p:nvGraphicFramePr>
        <p:xfrm>
          <a:off x="381000" y="1828800"/>
          <a:ext cx="8458200" cy="1849439"/>
        </p:xfrm>
        <a:graphic>
          <a:graphicData uri="http://schemas.openxmlformats.org/drawingml/2006/table">
            <a:tbl>
              <a:tblPr firstRow="1" bandRow="1">
                <a:tableStyleId>{2D5ABB26-0587-4C30-8999-92F81FD0307C}</a:tableStyleId>
              </a:tblPr>
              <a:tblGrid>
                <a:gridCol w="698383">
                  <a:extLst>
                    <a:ext uri="{9D8B030D-6E8A-4147-A177-3AD203B41FA5}">
                      <a16:colId xmlns:a16="http://schemas.microsoft.com/office/drawing/2014/main" val="20000"/>
                    </a:ext>
                  </a:extLst>
                </a:gridCol>
                <a:gridCol w="5276675">
                  <a:extLst>
                    <a:ext uri="{9D8B030D-6E8A-4147-A177-3AD203B41FA5}">
                      <a16:colId xmlns:a16="http://schemas.microsoft.com/office/drawing/2014/main" val="20001"/>
                    </a:ext>
                  </a:extLst>
                </a:gridCol>
                <a:gridCol w="1187742">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65823">
                <a:tc gridSpan="4">
                  <a:txBody>
                    <a:bodyPr/>
                    <a:lstStyle/>
                    <a:p>
                      <a:pPr algn="ctr"/>
                      <a:r>
                        <a:rPr lang="en-US" sz="1800" b="1" dirty="0"/>
                        <a:t>JOURNAL</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70904">
                <a:tc>
                  <a:txBody>
                    <a:bodyPr/>
                    <a:lstStyle/>
                    <a:p>
                      <a:r>
                        <a:rPr lang="en-US" sz="1800" dirty="0"/>
                        <a:t>Date</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Accounts and explanation</a:t>
                      </a:r>
                      <a:endParaRPr lang="en-US" sz="1800" i="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904">
                <a:tc>
                  <a:txBody>
                    <a:bodyPr/>
                    <a:lstStyle/>
                    <a:p>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Allowance for Uncollectible Accounts</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900</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904">
                <a:tc>
                  <a:txBody>
                    <a:bodyPr/>
                    <a:lstStyle/>
                    <a:p>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Accounts Receivable</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900</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904">
                <a:tc>
                  <a:txBody>
                    <a:bodyPr/>
                    <a:lstStyle/>
                    <a:p>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91440"/>
                      <a:r>
                        <a:rPr lang="en-US" i="1" dirty="0"/>
                        <a:t>Write off uncollectible receivable</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609600" y="4038601"/>
          <a:ext cx="3810000" cy="1709520"/>
        </p:xfrm>
        <a:graphic>
          <a:graphicData uri="http://schemas.openxmlformats.org/drawingml/2006/table">
            <a:tbl>
              <a:tblPr firstRow="1" bandRow="1">
                <a:tableStyleId>{2D5ABB26-0587-4C30-8999-92F81FD0307C}</a:tableStyleId>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56984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000" dirty="0"/>
                        <a:t>Accounts Receivable</a:t>
                      </a:r>
                      <a:endParaRPr lang="en-US" sz="20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69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000" dirty="0"/>
                        <a:t>Bal. 138,370</a:t>
                      </a:r>
                      <a:endParaRPr lang="en-US" sz="20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000" dirty="0"/>
                        <a:t>900</a:t>
                      </a:r>
                      <a:endParaRPr lang="en-US" sz="20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9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000" dirty="0"/>
                        <a:t>137,470</a:t>
                      </a:r>
                      <a:endParaRPr lang="en-US" sz="20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nvGraphicFramePr>
        <p:xfrm>
          <a:off x="4789025" y="3954570"/>
          <a:ext cx="3844671" cy="1512425"/>
        </p:xfrm>
        <a:graphic>
          <a:graphicData uri="http://schemas.openxmlformats.org/drawingml/2006/table">
            <a:tbl>
              <a:tblPr firstRow="1" bandRow="1">
                <a:tableStyleId>{2D5ABB26-0587-4C30-8999-92F81FD0307C}</a:tableStyleId>
              </a:tblPr>
              <a:tblGrid>
                <a:gridCol w="1529080">
                  <a:extLst>
                    <a:ext uri="{9D8B030D-6E8A-4147-A177-3AD203B41FA5}">
                      <a16:colId xmlns:a16="http://schemas.microsoft.com/office/drawing/2014/main" val="20000"/>
                    </a:ext>
                  </a:extLst>
                </a:gridCol>
                <a:gridCol w="2315591">
                  <a:extLst>
                    <a:ext uri="{9D8B030D-6E8A-4147-A177-3AD203B41FA5}">
                      <a16:colId xmlns:a16="http://schemas.microsoft.com/office/drawing/2014/main" val="20001"/>
                    </a:ext>
                  </a:extLst>
                </a:gridCol>
              </a:tblGrid>
              <a:tr h="666661">
                <a:tc gridSpan="2">
                  <a:txBody>
                    <a:bodyPr/>
                    <a:lstStyle/>
                    <a:p>
                      <a:pPr marL="0" marR="0" indent="0" algn="ctr" defTabSz="914400" rtl="0" eaLnBrk="1" fontAlgn="auto" latinLnBrk="0" hangingPunct="1">
                        <a:lnSpc>
                          <a:spcPct val="85000"/>
                        </a:lnSpc>
                        <a:spcBef>
                          <a:spcPts val="0"/>
                        </a:spcBef>
                        <a:spcAft>
                          <a:spcPts val="0"/>
                        </a:spcAft>
                        <a:buClrTx/>
                        <a:buSzTx/>
                        <a:buFontTx/>
                        <a:buNone/>
                        <a:tabLst/>
                        <a:defRPr/>
                      </a:pPr>
                      <a:r>
                        <a:rPr lang="en-US" altLang="en-US" sz="2000" dirty="0"/>
                        <a:t>Allowance for Uncollectible Accounts</a:t>
                      </a: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2288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000" dirty="0"/>
                        <a:t>900</a:t>
                      </a:r>
                      <a:endParaRPr lang="en-US" sz="2000" dirty="0"/>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000" dirty="0"/>
                        <a:t>6,156     Bal.</a:t>
                      </a:r>
                      <a:endParaRPr lang="en-US" sz="2000" dirty="0"/>
                    </a:p>
                  </a:txBody>
                  <a:tcPr marR="274320">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2288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000" dirty="0"/>
                        <a:t>5,256</a:t>
                      </a:r>
                      <a:endParaRPr lang="en-US" sz="2000" dirty="0"/>
                    </a:p>
                  </a:txBody>
                  <a:tcPr marR="274320">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11" name="Straight Arrow Connector 10"/>
          <p:cNvCxnSpPr/>
          <p:nvPr/>
        </p:nvCxnSpPr>
        <p:spPr>
          <a:xfrm flipH="1">
            <a:off x="3810000" y="3119720"/>
            <a:ext cx="4495800" cy="1752600"/>
          </a:xfrm>
          <a:prstGeom prst="straightConnector1">
            <a:avLst/>
          </a:prstGeom>
          <a:ln w="25400">
            <a:solidFill>
              <a:srgbClr val="007FA3"/>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5867400" y="2879545"/>
            <a:ext cx="1447800" cy="1981200"/>
          </a:xfrm>
          <a:prstGeom prst="straightConnector1">
            <a:avLst/>
          </a:prstGeom>
          <a:ln w="25400">
            <a:solidFill>
              <a:srgbClr val="007FA3"/>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6461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B1CE47-C57F-4676-9940-6D9A65D92F81}"/>
              </a:ext>
            </a:extLst>
          </p:cNvPr>
          <p:cNvSpPr>
            <a:spLocks noGrp="1"/>
          </p:cNvSpPr>
          <p:nvPr>
            <p:ph type="title"/>
          </p:nvPr>
        </p:nvSpPr>
        <p:spPr/>
        <p:txBody>
          <a:bodyPr/>
          <a:lstStyle/>
          <a:p>
            <a:r>
              <a:rPr lang="en-US" altLang="en-US" dirty="0"/>
              <a:t>Impact of Write-Off</a:t>
            </a:r>
            <a:endParaRPr lang="en-AU" dirty="0"/>
          </a:p>
        </p:txBody>
      </p:sp>
      <p:graphicFrame>
        <p:nvGraphicFramePr>
          <p:cNvPr id="7" name="Table 7">
            <a:extLst>
              <a:ext uri="{FF2B5EF4-FFF2-40B4-BE49-F238E27FC236}">
                <a16:creationId xmlns:a16="http://schemas.microsoft.com/office/drawing/2014/main" id="{2B730287-FBA1-4D13-8698-4D7920042D8F}"/>
              </a:ext>
            </a:extLst>
          </p:cNvPr>
          <p:cNvGraphicFramePr>
            <a:graphicFrameLocks noGrp="1"/>
          </p:cNvGraphicFramePr>
          <p:nvPr>
            <p:ph idx="1"/>
          </p:nvPr>
        </p:nvGraphicFramePr>
        <p:xfrm>
          <a:off x="457200" y="1600200"/>
          <a:ext cx="8229600" cy="1854200"/>
        </p:xfrm>
        <a:graphic>
          <a:graphicData uri="http://schemas.openxmlformats.org/drawingml/2006/table">
            <a:tbl>
              <a:tblPr firstRow="1" bandRow="1">
                <a:tableStyleId>{3B4B98B0-60AC-42C2-AFA5-B58CD77FA1E5}</a:tableStyleId>
              </a:tblPr>
              <a:tblGrid>
                <a:gridCol w="6629400">
                  <a:extLst>
                    <a:ext uri="{9D8B030D-6E8A-4147-A177-3AD203B41FA5}">
                      <a16:colId xmlns:a16="http://schemas.microsoft.com/office/drawing/2014/main" val="2936573717"/>
                    </a:ext>
                  </a:extLst>
                </a:gridCol>
                <a:gridCol w="1600200">
                  <a:extLst>
                    <a:ext uri="{9D8B030D-6E8A-4147-A177-3AD203B41FA5}">
                      <a16:colId xmlns:a16="http://schemas.microsoft.com/office/drawing/2014/main" val="1401005198"/>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800" b="1" kern="1200" dirty="0">
                          <a:solidFill>
                            <a:schemeClr val="tx1"/>
                          </a:solidFill>
                          <a:latin typeface="+mn-lt"/>
                          <a:ea typeface="+mn-ea"/>
                          <a:cs typeface="+mn-cs"/>
                        </a:rPr>
                        <a:t>Partial Balance Sheet – Before Write Off</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2299961178"/>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Current assets:</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2753794"/>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 Accounts receivable</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$138,370</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4027083"/>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 Less: Allowance for uncollectible accounts</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u="sng" kern="1200" baseline="0" dirty="0">
                          <a:solidFill>
                            <a:schemeClr val="tx1"/>
                          </a:solidFill>
                          <a:latin typeface="+mn-lt"/>
                          <a:ea typeface="+mn-ea"/>
                          <a:cs typeface="+mn-cs"/>
                        </a:rPr>
                        <a:t>     (6,156)</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6310567"/>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 Accounts receivable, net</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$132,214</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6242127"/>
                  </a:ext>
                </a:extLst>
              </a:tr>
            </a:tbl>
          </a:graphicData>
        </a:graphic>
      </p:graphicFrame>
      <p:graphicFrame>
        <p:nvGraphicFramePr>
          <p:cNvPr id="9" name="Table 7">
            <a:extLst>
              <a:ext uri="{FF2B5EF4-FFF2-40B4-BE49-F238E27FC236}">
                <a16:creationId xmlns:a16="http://schemas.microsoft.com/office/drawing/2014/main" id="{EBF6ADE6-404C-4E47-8AFF-D5AD83D60CE7}"/>
              </a:ext>
            </a:extLst>
          </p:cNvPr>
          <p:cNvGraphicFramePr>
            <a:graphicFrameLocks/>
          </p:cNvGraphicFramePr>
          <p:nvPr/>
        </p:nvGraphicFramePr>
        <p:xfrm>
          <a:off x="457200" y="3741948"/>
          <a:ext cx="8229600" cy="1854200"/>
        </p:xfrm>
        <a:graphic>
          <a:graphicData uri="http://schemas.openxmlformats.org/drawingml/2006/table">
            <a:tbl>
              <a:tblPr firstRow="1" bandRow="1">
                <a:tableStyleId>{3B4B98B0-60AC-42C2-AFA5-B58CD77FA1E5}</a:tableStyleId>
              </a:tblPr>
              <a:tblGrid>
                <a:gridCol w="6629400">
                  <a:extLst>
                    <a:ext uri="{9D8B030D-6E8A-4147-A177-3AD203B41FA5}">
                      <a16:colId xmlns:a16="http://schemas.microsoft.com/office/drawing/2014/main" val="2936573717"/>
                    </a:ext>
                  </a:extLst>
                </a:gridCol>
                <a:gridCol w="1600200">
                  <a:extLst>
                    <a:ext uri="{9D8B030D-6E8A-4147-A177-3AD203B41FA5}">
                      <a16:colId xmlns:a16="http://schemas.microsoft.com/office/drawing/2014/main" val="1401005198"/>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800" b="1" kern="1200" dirty="0">
                          <a:solidFill>
                            <a:schemeClr val="tx1"/>
                          </a:solidFill>
                          <a:latin typeface="+mn-lt"/>
                          <a:ea typeface="+mn-ea"/>
                          <a:cs typeface="+mn-cs"/>
                        </a:rPr>
                        <a:t>Partial Balance Sheet – After Write Off</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extLst>
                  <a:ext uri="{0D108BD9-81ED-4DB2-BD59-A6C34878D82A}">
                    <a16:rowId xmlns:a16="http://schemas.microsoft.com/office/drawing/2014/main" val="2299961178"/>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Current assets:</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2753794"/>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 Accounts receivable</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$137,470</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4027083"/>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 Less: Allowance for uncollectible accounts</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u="sng" kern="1200" baseline="0" dirty="0">
                          <a:solidFill>
                            <a:schemeClr val="tx1"/>
                          </a:solidFill>
                          <a:latin typeface="+mn-lt"/>
                          <a:ea typeface="+mn-ea"/>
                          <a:cs typeface="+mn-cs"/>
                        </a:rPr>
                        <a:t>     (5,256)</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6310567"/>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 Accounts receivable, net</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$132,214</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6242127"/>
                  </a:ext>
                </a:extLst>
              </a:tr>
            </a:tbl>
          </a:graphicData>
        </a:graphic>
      </p:graphicFrame>
    </p:spTree>
    <p:extLst>
      <p:ext uri="{BB962C8B-B14F-4D97-AF65-F5344CB8AC3E}">
        <p14:creationId xmlns:p14="http://schemas.microsoft.com/office/powerpoint/2010/main" val="33286818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t>Computing Cash Collections from Customers</a:t>
            </a:r>
            <a:endParaRPr lang="en-US" dirty="0"/>
          </a:p>
        </p:txBody>
      </p:sp>
      <p:graphicFrame>
        <p:nvGraphicFramePr>
          <p:cNvPr id="4" name="Table 3"/>
          <p:cNvGraphicFramePr>
            <a:graphicFrameLocks noGrp="1"/>
          </p:cNvGraphicFramePr>
          <p:nvPr/>
        </p:nvGraphicFramePr>
        <p:xfrm>
          <a:off x="558165" y="1828800"/>
          <a:ext cx="8027670" cy="2517854"/>
        </p:xfrm>
        <a:graphic>
          <a:graphicData uri="http://schemas.openxmlformats.org/drawingml/2006/table">
            <a:tbl>
              <a:tblPr firstRow="1" bandRow="1">
                <a:tableStyleId>{2D5ABB26-0587-4C30-8999-92F81FD0307C}</a:tableStyleId>
              </a:tblPr>
              <a:tblGrid>
                <a:gridCol w="1030605">
                  <a:extLst>
                    <a:ext uri="{9D8B030D-6E8A-4147-A177-3AD203B41FA5}">
                      <a16:colId xmlns:a16="http://schemas.microsoft.com/office/drawing/2014/main" val="20000"/>
                    </a:ext>
                  </a:extLst>
                </a:gridCol>
                <a:gridCol w="2345055">
                  <a:extLst>
                    <a:ext uri="{9D8B030D-6E8A-4147-A177-3AD203B41FA5}">
                      <a16:colId xmlns:a16="http://schemas.microsoft.com/office/drawing/2014/main" val="20001"/>
                    </a:ext>
                  </a:extLst>
                </a:gridCol>
                <a:gridCol w="3764280">
                  <a:extLst>
                    <a:ext uri="{9D8B030D-6E8A-4147-A177-3AD203B41FA5}">
                      <a16:colId xmlns:a16="http://schemas.microsoft.com/office/drawing/2014/main" val="20002"/>
                    </a:ext>
                  </a:extLst>
                </a:gridCol>
                <a:gridCol w="887730">
                  <a:extLst>
                    <a:ext uri="{9D8B030D-6E8A-4147-A177-3AD203B41FA5}">
                      <a16:colId xmlns:a16="http://schemas.microsoft.com/office/drawing/2014/main" val="20003"/>
                    </a:ext>
                  </a:extLst>
                </a:gridCol>
              </a:tblGrid>
              <a:tr h="55788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solidFill>
                          <a:schemeClr val="tx1"/>
                        </a:solidFill>
                      </a:endParaRPr>
                    </a:p>
                  </a:txBody>
                  <a:tcPr>
                    <a:lnB w="3175" cap="flat" cmpd="sng" algn="ctr">
                      <a:solidFill>
                        <a:schemeClr val="tx1"/>
                      </a:solidFill>
                      <a:prstDash val="solid"/>
                      <a:round/>
                      <a:headEnd type="none" w="med" len="med"/>
                      <a:tailEnd type="none" w="med" len="med"/>
                    </a:lnB>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400" b="1" dirty="0">
                          <a:solidFill>
                            <a:schemeClr val="tx2"/>
                          </a:solidFill>
                        </a:rPr>
                        <a:t>Accounts Receivable</a:t>
                      </a:r>
                      <a:endParaRPr lang="en-US" sz="2400" dirty="0">
                        <a:solidFill>
                          <a:schemeClr val="tx1"/>
                        </a:solidFill>
                      </a:endParaRPr>
                    </a:p>
                  </a:txBody>
                  <a:tcPr>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solidFill>
                          <a:schemeClr val="tx1"/>
                        </a:solidFill>
                      </a:endParaRPr>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7887">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000" dirty="0"/>
                        <a:t>200</a:t>
                      </a:r>
                      <a:endParaRPr lang="en-US" sz="2000" dirty="0"/>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000" dirty="0"/>
                        <a:t>Beginning balance</a:t>
                      </a:r>
                      <a:endParaRPr lang="en-US" sz="2000" dirty="0"/>
                    </a:p>
                  </a:txBody>
                  <a:tcPr>
                    <a:lnL w="285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Write-offs of uncollectibles</a:t>
                      </a:r>
                      <a:endParaRPr lang="en-US" sz="2000" dirty="0"/>
                    </a:p>
                  </a:txBody>
                  <a:tcPr>
                    <a:lnL w="31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000" dirty="0"/>
                        <a:t>100</a:t>
                      </a:r>
                      <a:endParaRPr lang="en-US" sz="2000" dirty="0"/>
                    </a:p>
                    <a:p>
                      <a:pPr marL="0" marR="0" indent="0" algn="r" defTabSz="914400" rtl="0" eaLnBrk="1" fontAlgn="auto" latinLnBrk="0" hangingPunct="1">
                        <a:lnSpc>
                          <a:spcPct val="100000"/>
                        </a:lnSpc>
                        <a:spcBef>
                          <a:spcPts val="0"/>
                        </a:spcBef>
                        <a:spcAft>
                          <a:spcPts val="0"/>
                        </a:spcAft>
                        <a:buClrTx/>
                        <a:buSzTx/>
                        <a:buFontTx/>
                        <a:buNone/>
                        <a:tabLst/>
                        <a:defRPr/>
                      </a:pPr>
                      <a:endParaRPr lang="en-US" sz="2000" dirty="0"/>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extLst>
                  <a:ext uri="{0D108BD9-81ED-4DB2-BD59-A6C34878D82A}">
                    <a16:rowId xmlns:a16="http://schemas.microsoft.com/office/drawing/2014/main" val="10001"/>
                  </a:ext>
                </a:extLst>
              </a:tr>
              <a:tr h="557887">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000" dirty="0"/>
                        <a:t>1,800</a:t>
                      </a:r>
                      <a:endParaRPr lang="en-US" sz="2000" dirty="0"/>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000" dirty="0"/>
                        <a:t>Sales on credit</a:t>
                      </a:r>
                      <a:endParaRPr lang="en-US" sz="2000" dirty="0"/>
                    </a:p>
                  </a:txBody>
                  <a:tcPr>
                    <a:lnL w="285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b="1" dirty="0">
                          <a:solidFill>
                            <a:srgbClr val="007FA3"/>
                          </a:solidFill>
                        </a:rPr>
                        <a:t>Collections from customers?</a:t>
                      </a:r>
                      <a:endParaRPr lang="en-US" sz="2000" dirty="0">
                        <a:solidFill>
                          <a:srgbClr val="007FA3"/>
                        </a:solidFill>
                      </a:endParaRPr>
                    </a:p>
                  </a:txBody>
                  <a:tcPr>
                    <a:lnL w="31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000" b="1" dirty="0">
                          <a:solidFill>
                            <a:srgbClr val="007FA3"/>
                          </a:solidFill>
                        </a:rPr>
                        <a:t>1,500</a:t>
                      </a:r>
                      <a:endParaRPr lang="en-US" sz="2000" dirty="0">
                        <a:solidFill>
                          <a:srgbClr val="007FA3"/>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57887">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000" dirty="0"/>
                        <a:t>400</a:t>
                      </a:r>
                      <a:endParaRPr lang="en-US" sz="2000" dirty="0"/>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2000" dirty="0"/>
                        <a:t>Ending balance</a:t>
                      </a:r>
                      <a:endParaRPr lang="en-US" sz="2000" dirty="0"/>
                    </a:p>
                  </a:txBody>
                  <a:tcPr>
                    <a:lnL w="285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p>
                  </a:txBody>
                  <a:tcPr>
                    <a:lnL w="31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62411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Speeding Up Cash Flow from Sales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Rapid cash flow allows companies to pay current liabilities faster and finance new projects</a:t>
            </a:r>
          </a:p>
          <a:p>
            <a:r>
              <a:rPr lang="en-US" altLang="en-US" dirty="0">
                <a:ea typeface="ＭＳ Ｐゴシック" pitchFamily="34" charset="-128"/>
              </a:rPr>
              <a:t>Strategies to shorten credit cycle and collect cash more quickly:</a:t>
            </a:r>
          </a:p>
          <a:p>
            <a:pPr lvl="1"/>
            <a:r>
              <a:rPr lang="en-US" altLang="en-US" dirty="0">
                <a:ea typeface="ＭＳ Ｐゴシック" pitchFamily="34" charset="-128"/>
              </a:rPr>
              <a:t>Offer sales discounts for early payment</a:t>
            </a:r>
          </a:p>
          <a:p>
            <a:pPr lvl="1"/>
            <a:r>
              <a:rPr lang="en-US" altLang="en-US" dirty="0">
                <a:ea typeface="ＭＳ Ｐゴシック" pitchFamily="34" charset="-128"/>
              </a:rPr>
              <a:t>Charge interest on overdue customer accounts</a:t>
            </a:r>
          </a:p>
          <a:p>
            <a:pPr lvl="1"/>
            <a:r>
              <a:rPr lang="en-US" altLang="en-US" dirty="0">
                <a:ea typeface="ＭＳ Ｐゴシック" pitchFamily="34" charset="-128"/>
              </a:rPr>
              <a:t>Credit card sales</a:t>
            </a:r>
          </a:p>
          <a:p>
            <a:pPr lvl="1"/>
            <a:r>
              <a:rPr lang="en-US" altLang="en-US" dirty="0">
                <a:ea typeface="ＭＳ Ｐゴシック" pitchFamily="34" charset="-128"/>
              </a:rPr>
              <a:t>Debit card sales</a:t>
            </a:r>
          </a:p>
        </p:txBody>
      </p:sp>
    </p:spTree>
    <p:extLst>
      <p:ext uri="{BB962C8B-B14F-4D97-AF65-F5344CB8AC3E}">
        <p14:creationId xmlns:p14="http://schemas.microsoft.com/office/powerpoint/2010/main" val="3021267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Credit Card (and Debit Card) Sales</a:t>
            </a:r>
            <a:endParaRPr lang="en-US" dirty="0"/>
          </a:p>
        </p:txBody>
      </p:sp>
      <p:sp>
        <p:nvSpPr>
          <p:cNvPr id="3" name="Content Placeholder 2"/>
          <p:cNvSpPr>
            <a:spLocks noGrp="1"/>
          </p:cNvSpPr>
          <p:nvPr>
            <p:ph idx="1"/>
          </p:nvPr>
        </p:nvSpPr>
        <p:spPr>
          <a:xfrm>
            <a:off x="457200" y="1600201"/>
            <a:ext cx="8229600" cy="1017599"/>
          </a:xfrm>
        </p:spPr>
        <p:txBody>
          <a:bodyPr>
            <a:normAutofit lnSpcReduction="10000"/>
          </a:bodyPr>
          <a:lstStyle/>
          <a:p>
            <a:r>
              <a:rPr lang="en-US" altLang="en-US" dirty="0">
                <a:ea typeface="ＭＳ Ｐゴシック" pitchFamily="34" charset="-128"/>
              </a:rPr>
              <a:t>Increases sales</a:t>
            </a:r>
          </a:p>
          <a:p>
            <a:r>
              <a:rPr lang="en-US" altLang="en-US" dirty="0">
                <a:ea typeface="ＭＳ Ｐゴシック" pitchFamily="34" charset="-128"/>
              </a:rPr>
              <a:t>Retailer is charged fee (an operating expense)</a:t>
            </a:r>
            <a:endParaRPr lang="en-US" dirty="0"/>
          </a:p>
        </p:txBody>
      </p:sp>
      <p:sp>
        <p:nvSpPr>
          <p:cNvPr id="4" name="Content Placeholder 3"/>
          <p:cNvSpPr>
            <a:spLocks noGrp="1"/>
          </p:cNvSpPr>
          <p:nvPr>
            <p:ph idx="13"/>
          </p:nvPr>
        </p:nvSpPr>
        <p:spPr>
          <a:xfrm>
            <a:off x="7010400" y="2694000"/>
            <a:ext cx="1676400" cy="533400"/>
          </a:xfrm>
          <a:solidFill>
            <a:srgbClr val="007FA3"/>
          </a:solidFill>
          <a:ln>
            <a:solidFill>
              <a:srgbClr val="007FA3"/>
            </a:solidFill>
          </a:ln>
        </p:spPr>
        <p:txBody>
          <a:bodyPr anchor="ctr"/>
          <a:lstStyle/>
          <a:p>
            <a:pPr marL="0" indent="0" algn="ctr">
              <a:buNone/>
            </a:pPr>
            <a:r>
              <a:rPr lang="en-US" dirty="0">
                <a:solidFill>
                  <a:schemeClr val="bg1"/>
                </a:solidFill>
              </a:rPr>
              <a:t>3% of sale</a:t>
            </a:r>
          </a:p>
        </p:txBody>
      </p:sp>
      <p:cxnSp>
        <p:nvCxnSpPr>
          <p:cNvPr id="6" name="Straight Arrow Connector 5"/>
          <p:cNvCxnSpPr/>
          <p:nvPr/>
        </p:nvCxnSpPr>
        <p:spPr>
          <a:xfrm flipH="1">
            <a:off x="7315519" y="3204636"/>
            <a:ext cx="585813" cy="1408839"/>
          </a:xfrm>
          <a:prstGeom prst="straightConnector1">
            <a:avLst/>
          </a:prstGeom>
          <a:ln w="38100">
            <a:solidFill>
              <a:srgbClr val="007FA3"/>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5" name="Table 4"/>
          <p:cNvGraphicFramePr>
            <a:graphicFrameLocks noGrp="1"/>
          </p:cNvGraphicFramePr>
          <p:nvPr/>
        </p:nvGraphicFramePr>
        <p:xfrm>
          <a:off x="438150" y="3303600"/>
          <a:ext cx="8267700" cy="2457452"/>
        </p:xfrm>
        <a:graphic>
          <a:graphicData uri="http://schemas.openxmlformats.org/drawingml/2006/table">
            <a:tbl>
              <a:tblPr firstRow="1" bandRow="1">
                <a:tableStyleId>{2D5ABB26-0587-4C30-8999-92F81FD0307C}</a:tableStyleId>
              </a:tblPr>
              <a:tblGrid>
                <a:gridCol w="838200">
                  <a:extLst>
                    <a:ext uri="{9D8B030D-6E8A-4147-A177-3AD203B41FA5}">
                      <a16:colId xmlns:a16="http://schemas.microsoft.com/office/drawing/2014/main" val="20000"/>
                    </a:ext>
                  </a:extLst>
                </a:gridCol>
                <a:gridCol w="49911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406952">
                <a:tc gridSpan="4">
                  <a:txBody>
                    <a:bodyPr/>
                    <a:lstStyle/>
                    <a:p>
                      <a:pPr algn="ctr"/>
                      <a:r>
                        <a:rPr lang="en-US" sz="1800" b="1" dirty="0"/>
                        <a:t>JOURNAL</a:t>
                      </a:r>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412605">
                <a:tc>
                  <a:txBody>
                    <a:bodyPr/>
                    <a:lstStyle/>
                    <a:p>
                      <a:r>
                        <a:rPr lang="en-US" sz="1800" dirty="0"/>
                        <a:t>Date</a:t>
                      </a:r>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Accounts and explanation</a:t>
                      </a:r>
                      <a:endParaRPr lang="en-US" sz="1800" i="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0080">
                <a:tc>
                  <a:txBody>
                    <a:bodyPr/>
                    <a:lstStyle/>
                    <a:p>
                      <a:endParaRPr lang="en-US" sz="180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Cash</a:t>
                      </a:r>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485</a:t>
                      </a:r>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12605">
                <a:tc>
                  <a:txBody>
                    <a:bodyPr/>
                    <a:lstStyle/>
                    <a:p>
                      <a:endParaRPr lang="en-US" sz="180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Credit</a:t>
                      </a:r>
                      <a:r>
                        <a:rPr lang="en-US" sz="1800" baseline="0" dirty="0"/>
                        <a:t> Card (or Debit Card) Expense</a:t>
                      </a:r>
                      <a:endParaRPr lang="en-US" sz="180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15</a:t>
                      </a:r>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12605">
                <a:tc>
                  <a:txBody>
                    <a:bodyPr/>
                    <a:lstStyle/>
                    <a:p>
                      <a:endParaRPr lang="en-US" sz="180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Sales Revenue</a:t>
                      </a:r>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500</a:t>
                      </a:r>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12605">
                <a:tc>
                  <a:txBody>
                    <a:bodyPr/>
                    <a:lstStyle/>
                    <a:p>
                      <a:endParaRPr lang="en-US" sz="180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91440" marR="0" indent="0" algn="l" defTabSz="914400" rtl="0" eaLnBrk="1" fontAlgn="auto" latinLnBrk="0" hangingPunct="1">
                        <a:lnSpc>
                          <a:spcPct val="100000"/>
                        </a:lnSpc>
                        <a:spcBef>
                          <a:spcPts val="0"/>
                        </a:spcBef>
                        <a:spcAft>
                          <a:spcPts val="0"/>
                        </a:spcAft>
                        <a:buClrTx/>
                        <a:buSzTx/>
                        <a:buFontTx/>
                        <a:buNone/>
                        <a:tabLst/>
                        <a:defRPr/>
                      </a:pPr>
                      <a:r>
                        <a:rPr kumimoji="0" lang="en-IN" sz="1800" i="1" kern="1200" baseline="0" dirty="0"/>
                        <a:t>Record credit card sale</a:t>
                      </a:r>
                      <a:endParaRPr lang="en-US" sz="1800" i="1"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36" marB="4573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433555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2BC0A-5435-347B-2977-F58120D7BC16}"/>
              </a:ext>
            </a:extLst>
          </p:cNvPr>
          <p:cNvSpPr>
            <a:spLocks noGrp="1"/>
          </p:cNvSpPr>
          <p:nvPr>
            <p:ph type="title"/>
          </p:nvPr>
        </p:nvSpPr>
        <p:spPr/>
        <p:txBody>
          <a:bodyPr/>
          <a:lstStyle/>
          <a:p>
            <a:r>
              <a:rPr lang="en-US" dirty="0"/>
              <a:t>Short Exercise 4-2</a:t>
            </a:r>
          </a:p>
        </p:txBody>
      </p:sp>
      <p:sp>
        <p:nvSpPr>
          <p:cNvPr id="3" name="Content Placeholder 2">
            <a:extLst>
              <a:ext uri="{FF2B5EF4-FFF2-40B4-BE49-F238E27FC236}">
                <a16:creationId xmlns:a16="http://schemas.microsoft.com/office/drawing/2014/main" id="{3F2604E0-B53C-DDBB-917C-C5CFD10D43D9}"/>
              </a:ext>
            </a:extLst>
          </p:cNvPr>
          <p:cNvSpPr>
            <a:spLocks noGrp="1"/>
          </p:cNvSpPr>
          <p:nvPr>
            <p:ph idx="1"/>
          </p:nvPr>
        </p:nvSpPr>
        <p:spPr/>
        <p:txBody>
          <a:bodyPr>
            <a:normAutofit fontScale="92500" lnSpcReduction="10000"/>
          </a:bodyPr>
          <a:lstStyle/>
          <a:p>
            <a:pPr marL="0" indent="0">
              <a:buNone/>
            </a:pPr>
            <a:r>
              <a:rPr lang="en-US" dirty="0"/>
              <a:t>At December 31, 20XX, before any year-end adjustments are made, White Corporation had a $50 million balance in Accounts Receivable and a $0.6 million debit balance in the Allowance for Uncollectible Accounts.</a:t>
            </a:r>
          </a:p>
          <a:p>
            <a:pPr marL="457200" indent="-457200">
              <a:buFont typeface="+mj-lt"/>
              <a:buAutoNum type="arabicPeriod"/>
            </a:pPr>
            <a:r>
              <a:rPr lang="en-US" dirty="0"/>
              <a:t>What is the normal balance in the Allowance for Uncollectible Accounts? What would cause this account to have a debit balance?</a:t>
            </a:r>
          </a:p>
          <a:p>
            <a:pPr marL="457200" indent="-457200">
              <a:buFont typeface="+mj-lt"/>
              <a:buAutoNum type="arabicPeriod"/>
            </a:pPr>
            <a:r>
              <a:rPr lang="en-US" dirty="0"/>
              <a:t>How does management determine the amount of uncollectible accounts?</a:t>
            </a:r>
          </a:p>
          <a:p>
            <a:pPr marL="457200" indent="-457200">
              <a:buFont typeface="+mj-lt"/>
              <a:buAutoNum type="arabicPeriod"/>
            </a:pPr>
            <a:r>
              <a:rPr lang="en-US" dirty="0"/>
              <a:t>The aging of receivables indicates that White Corporation will not collect $1.5 million of its accounts receivables. Prepare the journal entry to record the bad debt expense for 20XX.</a:t>
            </a:r>
          </a:p>
          <a:p>
            <a:pPr marL="0" indent="0">
              <a:buNone/>
            </a:pPr>
            <a:endParaRPr lang="en-US" dirty="0">
              <a:cs typeface="Arial" panose="020B0604020202020204" pitchFamily="34" charset="0"/>
            </a:endParaRPr>
          </a:p>
        </p:txBody>
      </p:sp>
    </p:spTree>
    <p:extLst>
      <p:ext uri="{BB962C8B-B14F-4D97-AF65-F5344CB8AC3E}">
        <p14:creationId xmlns:p14="http://schemas.microsoft.com/office/powerpoint/2010/main" val="2483809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Five</a:t>
            </a:r>
          </a:p>
        </p:txBody>
      </p:sp>
      <p:sp>
        <p:nvSpPr>
          <p:cNvPr id="3" name="Subtitle 2"/>
          <p:cNvSpPr>
            <a:spLocks noGrp="1"/>
          </p:cNvSpPr>
          <p:nvPr>
            <p:ph type="subTitle" idx="1"/>
          </p:nvPr>
        </p:nvSpPr>
        <p:spPr/>
        <p:txBody>
          <a:bodyPr>
            <a:normAutofit fontScale="92500" lnSpcReduction="20000"/>
          </a:bodyPr>
          <a:lstStyle/>
          <a:p>
            <a:r>
              <a:rPr lang="en-US" altLang="en-US" sz="2400" b="1" dirty="0">
                <a:ea typeface="ＭＳ Ｐゴシック" pitchFamily="34" charset="-128"/>
              </a:rPr>
              <a:t>Account </a:t>
            </a:r>
            <a:r>
              <a:rPr lang="en-US" altLang="en-US" sz="2400" dirty="0">
                <a:ea typeface="ＭＳ Ｐゴシック" pitchFamily="34" charset="-128"/>
              </a:rPr>
              <a:t>for</a:t>
            </a:r>
            <a:r>
              <a:rPr lang="en-US" altLang="en-US" sz="2400" b="1" dirty="0">
                <a:ea typeface="ＭＳ Ｐゴシック" pitchFamily="34" charset="-128"/>
              </a:rPr>
              <a:t> </a:t>
            </a:r>
            <a:r>
              <a:rPr lang="en-US" altLang="en-US" sz="2400" dirty="0">
                <a:ea typeface="ＭＳ Ｐゴシック" pitchFamily="34" charset="-128"/>
              </a:rPr>
              <a:t>notes receivable and interest revenue</a:t>
            </a:r>
            <a:endParaRPr lang="en-US" sz="2400" dirty="0"/>
          </a:p>
        </p:txBody>
      </p:sp>
    </p:spTree>
    <p:extLst>
      <p:ext uri="{BB962C8B-B14F-4D97-AF65-F5344CB8AC3E}">
        <p14:creationId xmlns:p14="http://schemas.microsoft.com/office/powerpoint/2010/main" val="3162043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Notes Receivable </a:t>
            </a:r>
            <a:r>
              <a:rPr lang="en-US" altLang="en-US" sz="2000" b="0" dirty="0"/>
              <a:t>(1 of 2)</a:t>
            </a:r>
            <a:endParaRPr lang="en-US" b="0" dirty="0"/>
          </a:p>
        </p:txBody>
      </p:sp>
      <p:sp>
        <p:nvSpPr>
          <p:cNvPr id="3" name="Content Placeholder 2"/>
          <p:cNvSpPr>
            <a:spLocks noGrp="1"/>
          </p:cNvSpPr>
          <p:nvPr>
            <p:ph idx="1"/>
          </p:nvPr>
        </p:nvSpPr>
        <p:spPr>
          <a:xfrm>
            <a:off x="457200" y="1600201"/>
            <a:ext cx="8229600" cy="990600"/>
          </a:xfrm>
        </p:spPr>
        <p:txBody>
          <a:bodyPr>
            <a:normAutofit lnSpcReduction="10000"/>
          </a:bodyPr>
          <a:lstStyle/>
          <a:p>
            <a:r>
              <a:rPr lang="en-US" altLang="en-US" dirty="0">
                <a:ea typeface="ＭＳ Ｐゴシック" pitchFamily="34" charset="-128"/>
              </a:rPr>
              <a:t>Can be current or long-term assets</a:t>
            </a:r>
          </a:p>
          <a:p>
            <a:r>
              <a:rPr lang="en-US" altLang="en-US" dirty="0">
                <a:ea typeface="ＭＳ Ｐゴシック" pitchFamily="34" charset="-128"/>
              </a:rPr>
              <a:t>Terms:</a:t>
            </a:r>
            <a:endParaRPr lang="en-US" dirty="0"/>
          </a:p>
        </p:txBody>
      </p:sp>
      <p:graphicFrame>
        <p:nvGraphicFramePr>
          <p:cNvPr id="5" name="Table 5">
            <a:extLst>
              <a:ext uri="{FF2B5EF4-FFF2-40B4-BE49-F238E27FC236}">
                <a16:creationId xmlns:a16="http://schemas.microsoft.com/office/drawing/2014/main" id="{3596514A-C098-4479-8131-6F8C128F3375}"/>
              </a:ext>
            </a:extLst>
          </p:cNvPr>
          <p:cNvGraphicFramePr>
            <a:graphicFrameLocks noGrp="1"/>
          </p:cNvGraphicFramePr>
          <p:nvPr/>
        </p:nvGraphicFramePr>
        <p:xfrm>
          <a:off x="457200" y="3053307"/>
          <a:ext cx="8229600" cy="2494290"/>
        </p:xfrm>
        <a:graphic>
          <a:graphicData uri="http://schemas.openxmlformats.org/drawingml/2006/table">
            <a:tbl>
              <a:tblPr firstRow="1" bandRow="1">
                <a:tableStyleId>{3B4B98B0-60AC-42C2-AFA5-B58CD77FA1E5}</a:tableStyleId>
              </a:tblPr>
              <a:tblGrid>
                <a:gridCol w="2263140">
                  <a:extLst>
                    <a:ext uri="{9D8B030D-6E8A-4147-A177-3AD203B41FA5}">
                      <a16:colId xmlns:a16="http://schemas.microsoft.com/office/drawing/2014/main" val="1941320665"/>
                    </a:ext>
                  </a:extLst>
                </a:gridCol>
                <a:gridCol w="5966460">
                  <a:extLst>
                    <a:ext uri="{9D8B030D-6E8A-4147-A177-3AD203B41FA5}">
                      <a16:colId xmlns:a16="http://schemas.microsoft.com/office/drawing/2014/main" val="1911159432"/>
                    </a:ext>
                  </a:extLst>
                </a:gridCol>
              </a:tblGrid>
              <a:tr h="370840">
                <a:tc>
                  <a:txBody>
                    <a:bodyPr/>
                    <a:lstStyle/>
                    <a:p>
                      <a:r>
                        <a:rPr lang="en-US" sz="1800" b="0" dirty="0"/>
                        <a:t>Creditor</a:t>
                      </a:r>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en-US" sz="1800" b="0" dirty="0"/>
                        <a:t>Party to whom money is owed; Lender</a:t>
                      </a:r>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23590083"/>
                  </a:ext>
                </a:extLst>
              </a:tr>
              <a:tr h="370840">
                <a:tc>
                  <a:txBody>
                    <a:bodyPr/>
                    <a:lstStyle/>
                    <a:p>
                      <a:r>
                        <a:rPr lang="en-US" sz="1800" dirty="0"/>
                        <a:t>Debtor</a:t>
                      </a:r>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en-US" sz="1800" dirty="0"/>
                        <a:t>Party that borrowed and owes money;  Maker,</a:t>
                      </a:r>
                      <a:r>
                        <a:rPr lang="en-US" sz="1800" baseline="0" dirty="0"/>
                        <a:t> borrower</a:t>
                      </a:r>
                      <a:endParaRPr lang="en-US" sz="1800" dirty="0"/>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6420063"/>
                  </a:ext>
                </a:extLst>
              </a:tr>
              <a:tr h="370840">
                <a:tc>
                  <a:txBody>
                    <a:bodyPr/>
                    <a:lstStyle/>
                    <a:p>
                      <a:r>
                        <a:rPr lang="en-US" sz="1800" dirty="0"/>
                        <a:t>Interest</a:t>
                      </a:r>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en-US" sz="1800" dirty="0"/>
                        <a:t>Cost of borrowing money; stated as annual percentage rate</a:t>
                      </a:r>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2632704"/>
                  </a:ext>
                </a:extLst>
              </a:tr>
              <a:tr h="370840">
                <a:tc>
                  <a:txBody>
                    <a:bodyPr/>
                    <a:lstStyle/>
                    <a:p>
                      <a:r>
                        <a:rPr lang="en-US" sz="1800" dirty="0"/>
                        <a:t>Maturity date</a:t>
                      </a:r>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en-US" sz="1800" dirty="0"/>
                        <a:t>Date</a:t>
                      </a:r>
                      <a:r>
                        <a:rPr lang="en-US" sz="1800" baseline="0" dirty="0"/>
                        <a:t> when debtor must pay note</a:t>
                      </a:r>
                      <a:endParaRPr lang="en-US" sz="1800" dirty="0"/>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83098339"/>
                  </a:ext>
                </a:extLst>
              </a:tr>
              <a:tr h="370840">
                <a:tc>
                  <a:txBody>
                    <a:bodyPr/>
                    <a:lstStyle/>
                    <a:p>
                      <a:r>
                        <a:rPr lang="en-US" sz="1800" dirty="0"/>
                        <a:t>Principal</a:t>
                      </a:r>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en-US" sz="1800" dirty="0"/>
                        <a:t>Amount borrowed by debtor</a:t>
                      </a:r>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690919"/>
                  </a:ext>
                </a:extLst>
              </a:tr>
              <a:tr h="370840">
                <a:tc>
                  <a:txBody>
                    <a:bodyPr/>
                    <a:lstStyle/>
                    <a:p>
                      <a:r>
                        <a:rPr lang="en-US" sz="1800" dirty="0"/>
                        <a:t>Term</a:t>
                      </a:r>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en-US" sz="1800" dirty="0"/>
                        <a:t>Length of time the debtor has to repay the note</a:t>
                      </a:r>
                    </a:p>
                  </a:txBody>
                  <a:tcPr marT="45725" marB="45725">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5435116"/>
                  </a:ext>
                </a:extLst>
              </a:tr>
            </a:tbl>
          </a:graphicData>
        </a:graphic>
      </p:graphicFrame>
    </p:spTree>
    <p:extLst>
      <p:ext uri="{BB962C8B-B14F-4D97-AF65-F5344CB8AC3E}">
        <p14:creationId xmlns:p14="http://schemas.microsoft.com/office/powerpoint/2010/main" val="201665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Notes Receivable </a:t>
            </a:r>
            <a:r>
              <a:rPr lang="en-US" altLang="en-US" sz="2000" b="0" dirty="0"/>
              <a:t>(2 of 2)</a:t>
            </a:r>
            <a:endParaRPr lang="en-CA" dirty="0"/>
          </a:p>
        </p:txBody>
      </p:sp>
      <p:sp>
        <p:nvSpPr>
          <p:cNvPr id="3" name="Content Placeholder 2"/>
          <p:cNvSpPr>
            <a:spLocks noGrp="1"/>
          </p:cNvSpPr>
          <p:nvPr>
            <p:ph idx="1"/>
          </p:nvPr>
        </p:nvSpPr>
        <p:spPr/>
        <p:txBody>
          <a:bodyPr/>
          <a:lstStyle/>
          <a:p>
            <a:pPr marL="0" indent="0">
              <a:buNone/>
            </a:pPr>
            <a:endParaRPr lang="en-CA" sz="2000" dirty="0"/>
          </a:p>
          <a:p>
            <a:pPr marL="0" indent="0">
              <a:buNone/>
            </a:pPr>
            <a:endParaRPr lang="en-CA" sz="2000" dirty="0"/>
          </a:p>
          <a:p>
            <a:pPr marL="0" indent="0">
              <a:buNone/>
            </a:pPr>
            <a:endParaRPr lang="en-CA" sz="2000" dirty="0"/>
          </a:p>
          <a:p>
            <a:pPr marL="0" indent="0">
              <a:buNone/>
            </a:pPr>
            <a:endParaRPr lang="en-CA" sz="2000" dirty="0"/>
          </a:p>
          <a:p>
            <a:pPr marL="0" indent="0">
              <a:buNone/>
            </a:pPr>
            <a:endParaRPr lang="en-CA" dirty="0"/>
          </a:p>
        </p:txBody>
      </p:sp>
      <p:pic>
        <p:nvPicPr>
          <p:cNvPr id="6" name="Picture 5" descr="The components of a promissory note.&#10;The components are as follows.&#10;Principal, in numbers, the amount of $1,000.00.&#10;Principal, in words, one thousand dollars and no cents.&#10;Interest period starts, date, July 1, 20 X X.&#10;Payee, creditor, Canadian Western Bank, Edmonton, Alberta.&#10;Interest period ends on the maturity date, December 31, 20 X X.&#10;Interest rate, plus interest at the annual rate of 9 percent.&#10;Maker, debtor, the signature of the debtor.&#10;">
            <a:extLst>
              <a:ext uri="{FF2B5EF4-FFF2-40B4-BE49-F238E27FC236}">
                <a16:creationId xmlns:a16="http://schemas.microsoft.com/office/drawing/2014/main" id="{4E0F4F28-97FC-73A0-888A-57ECD7C24F6E}"/>
              </a:ext>
            </a:extLst>
          </p:cNvPr>
          <p:cNvPicPr>
            <a:picLocks noChangeAspect="1"/>
          </p:cNvPicPr>
          <p:nvPr/>
        </p:nvPicPr>
        <p:blipFill rotWithShape="1">
          <a:blip r:embed="rId3">
            <a:extLst>
              <a:ext uri="{28A0092B-C50C-407E-A947-70E740481C1C}">
                <a14:useLocalDpi xmlns:a14="http://schemas.microsoft.com/office/drawing/2010/main" val="0"/>
              </a:ext>
            </a:extLst>
          </a:blip>
          <a:srcRect t="9353"/>
          <a:stretch/>
        </p:blipFill>
        <p:spPr>
          <a:xfrm>
            <a:off x="882316" y="2438399"/>
            <a:ext cx="7379368" cy="3177381"/>
          </a:xfrm>
          <a:prstGeom prst="rect">
            <a:avLst/>
          </a:prstGeom>
        </p:spPr>
      </p:pic>
    </p:spTree>
    <p:extLst>
      <p:ext uri="{BB962C8B-B14F-4D97-AF65-F5344CB8AC3E}">
        <p14:creationId xmlns:p14="http://schemas.microsoft.com/office/powerpoint/2010/main" val="1532208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5910D-55FE-437C-A154-DDE2187C7AB5}"/>
              </a:ext>
            </a:extLst>
          </p:cNvPr>
          <p:cNvSpPr>
            <a:spLocks noGrp="1"/>
          </p:cNvSpPr>
          <p:nvPr>
            <p:ph type="title"/>
          </p:nvPr>
        </p:nvSpPr>
        <p:spPr/>
        <p:txBody>
          <a:bodyPr/>
          <a:lstStyle/>
          <a:p>
            <a:r>
              <a:rPr lang="en-US" altLang="en-US" dirty="0"/>
              <a:t>Accounting for Notes Receivable</a:t>
            </a:r>
            <a:endParaRPr lang="en-AU" dirty="0"/>
          </a:p>
        </p:txBody>
      </p:sp>
      <p:graphicFrame>
        <p:nvGraphicFramePr>
          <p:cNvPr id="4" name="Table 4">
            <a:extLst>
              <a:ext uri="{FF2B5EF4-FFF2-40B4-BE49-F238E27FC236}">
                <a16:creationId xmlns:a16="http://schemas.microsoft.com/office/drawing/2014/main" id="{6A62621F-7E98-447B-BD25-5A8B5F91AA84}"/>
              </a:ext>
            </a:extLst>
          </p:cNvPr>
          <p:cNvGraphicFramePr>
            <a:graphicFrameLocks noGrp="1"/>
          </p:cNvGraphicFramePr>
          <p:nvPr>
            <p:ph idx="1"/>
          </p:nvPr>
        </p:nvGraphicFramePr>
        <p:xfrm>
          <a:off x="457200" y="1447800"/>
          <a:ext cx="8229600" cy="4800180"/>
        </p:xfrm>
        <a:graphic>
          <a:graphicData uri="http://schemas.openxmlformats.org/drawingml/2006/table">
            <a:tbl>
              <a:tblPr firstRow="1" bandRow="1">
                <a:tableStyleId>{3B4B98B0-60AC-42C2-AFA5-B58CD77FA1E5}</a:tableStyleId>
              </a:tblPr>
              <a:tblGrid>
                <a:gridCol w="1066800">
                  <a:extLst>
                    <a:ext uri="{9D8B030D-6E8A-4147-A177-3AD203B41FA5}">
                      <a16:colId xmlns:a16="http://schemas.microsoft.com/office/drawing/2014/main" val="1039135039"/>
                    </a:ext>
                  </a:extLst>
                </a:gridCol>
                <a:gridCol w="4953000">
                  <a:extLst>
                    <a:ext uri="{9D8B030D-6E8A-4147-A177-3AD203B41FA5}">
                      <a16:colId xmlns:a16="http://schemas.microsoft.com/office/drawing/2014/main" val="330432403"/>
                    </a:ext>
                  </a:extLst>
                </a:gridCol>
                <a:gridCol w="1143000">
                  <a:extLst>
                    <a:ext uri="{9D8B030D-6E8A-4147-A177-3AD203B41FA5}">
                      <a16:colId xmlns:a16="http://schemas.microsoft.com/office/drawing/2014/main" val="2750458244"/>
                    </a:ext>
                  </a:extLst>
                </a:gridCol>
                <a:gridCol w="1066800">
                  <a:extLst>
                    <a:ext uri="{9D8B030D-6E8A-4147-A177-3AD203B41FA5}">
                      <a16:colId xmlns:a16="http://schemas.microsoft.com/office/drawing/2014/main" val="4050797159"/>
                    </a:ext>
                  </a:extLst>
                </a:gridCol>
              </a:tblGrid>
              <a:tr h="0">
                <a:tc gridSpan="4">
                  <a:txBody>
                    <a:bodyPr/>
                    <a:lstStyle/>
                    <a:p>
                      <a:pPr algn="ctr"/>
                      <a:r>
                        <a:rPr lang="en-US" altLang="en-US" sz="1500" b="1" kern="1200" dirty="0">
                          <a:solidFill>
                            <a:schemeClr val="tx1"/>
                          </a:solidFill>
                          <a:latin typeface="+mn-lt"/>
                          <a:ea typeface="ＭＳ Ｐゴシック" pitchFamily="34" charset="-128"/>
                          <a:cs typeface="+mn-cs"/>
                        </a:rPr>
                        <a:t>JOURNAL</a:t>
                      </a:r>
                      <a:endParaRPr lang="en-AU" sz="15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3228269608"/>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Date</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Accounts and explanation</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Debit</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Credit</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094927"/>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20XX</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3349410"/>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July 1</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Notes Receivable—L. Holland</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1,000</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6472205"/>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Cash</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1,000</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4836692"/>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91440" marR="0" lvl="0" indent="0" algn="l" defTabSz="914400" rtl="0" eaLnBrk="1" fontAlgn="base" latinLnBrk="0" hangingPunct="1">
                        <a:lnSpc>
                          <a:spcPct val="100000"/>
                        </a:lnSpc>
                        <a:spcBef>
                          <a:spcPct val="0"/>
                        </a:spcBef>
                        <a:spcAft>
                          <a:spcPct val="0"/>
                        </a:spcAft>
                        <a:buClrTx/>
                        <a:buSzTx/>
                        <a:buFontTx/>
                        <a:buNone/>
                        <a:tabLst/>
                      </a:pPr>
                      <a:r>
                        <a:rPr lang="en-US" altLang="en-US" sz="1500" i="1" kern="1200" dirty="0">
                          <a:solidFill>
                            <a:schemeClr val="tx1"/>
                          </a:solidFill>
                          <a:latin typeface="+mn-lt"/>
                          <a:ea typeface="ＭＳ Ｐゴシック" pitchFamily="34" charset="-128"/>
                          <a:cs typeface="+mn-cs"/>
                        </a:rPr>
                        <a:t>Made a loan</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706566"/>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Oct 31</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Interest Receivable</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30</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345573"/>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Interest Revenue</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30</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301428"/>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91440" marR="0" lvl="0" indent="0" algn="l" defTabSz="914400" rtl="0" eaLnBrk="1" fontAlgn="base" latinLnBrk="0" hangingPunct="1">
                        <a:lnSpc>
                          <a:spcPct val="100000"/>
                        </a:lnSpc>
                        <a:spcBef>
                          <a:spcPct val="0"/>
                        </a:spcBef>
                        <a:spcAft>
                          <a:spcPct val="0"/>
                        </a:spcAft>
                        <a:buClrTx/>
                        <a:buSzTx/>
                        <a:buFontTx/>
                        <a:buNone/>
                        <a:tabLst/>
                      </a:pPr>
                      <a:r>
                        <a:rPr lang="en-US" altLang="en-US" sz="1500" i="1" kern="1200" dirty="0">
                          <a:solidFill>
                            <a:schemeClr val="tx1"/>
                          </a:solidFill>
                          <a:latin typeface="+mn-lt"/>
                          <a:ea typeface="ＭＳ Ｐゴシック" pitchFamily="34" charset="-128"/>
                          <a:cs typeface="+mn-cs"/>
                        </a:rPr>
                        <a:t>Accrued interest revenue at year end</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9153921"/>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0443300"/>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Dec 31</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Cash</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1,045</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4038090"/>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Notes Receivable—L. Holland</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1,000</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8812788"/>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Interest Receivable</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30</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84323858"/>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Interest  Revenue</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500" kern="1200" dirty="0">
                          <a:solidFill>
                            <a:schemeClr val="tx1"/>
                          </a:solidFill>
                          <a:latin typeface="+mn-lt"/>
                          <a:ea typeface="ＭＳ Ｐゴシック" pitchFamily="34" charset="-128"/>
                          <a:cs typeface="+mn-cs"/>
                        </a:rPr>
                        <a:t>15</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3389842"/>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91440" marR="0" lvl="0" indent="0" algn="l" defTabSz="914400" rtl="0" eaLnBrk="1" fontAlgn="base" latinLnBrk="0" hangingPunct="1">
                        <a:lnSpc>
                          <a:spcPct val="100000"/>
                        </a:lnSpc>
                        <a:spcBef>
                          <a:spcPct val="0"/>
                        </a:spcBef>
                        <a:spcAft>
                          <a:spcPct val="0"/>
                        </a:spcAft>
                        <a:buClrTx/>
                        <a:buSzTx/>
                        <a:buFontTx/>
                        <a:buNone/>
                        <a:tabLst/>
                      </a:pPr>
                      <a:r>
                        <a:rPr lang="en-US" altLang="en-US" sz="1500" i="1" kern="1200" dirty="0">
                          <a:solidFill>
                            <a:schemeClr val="tx1"/>
                          </a:solidFill>
                          <a:latin typeface="+mn-lt"/>
                          <a:ea typeface="ＭＳ Ｐゴシック" pitchFamily="34" charset="-128"/>
                          <a:cs typeface="+mn-cs"/>
                        </a:rPr>
                        <a:t>Collected note at maturity</a:t>
                      </a: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lang="en-US" altLang="en-US" sz="1500" kern="1200" dirty="0">
                        <a:solidFill>
                          <a:schemeClr val="tx1"/>
                        </a:solidFill>
                        <a:latin typeface="+mn-lt"/>
                        <a:ea typeface="ＭＳ Ｐゴシック" pitchFamily="34" charset="-128"/>
                        <a:cs typeface="+mn-cs"/>
                      </a:endParaRPr>
                    </a:p>
                  </a:txBody>
                  <a:tcPr marT="45705" marB="45705"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7463594"/>
                  </a:ext>
                </a:extLst>
              </a:tr>
            </a:tbl>
          </a:graphicData>
        </a:graphic>
      </p:graphicFrame>
    </p:spTree>
    <p:extLst>
      <p:ext uri="{BB962C8B-B14F-4D97-AF65-F5344CB8AC3E}">
        <p14:creationId xmlns:p14="http://schemas.microsoft.com/office/powerpoint/2010/main" val="1077848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Interest</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Interest rates are usually expressed as an annual percent</a:t>
            </a:r>
          </a:p>
          <a:p>
            <a:r>
              <a:rPr lang="en-US" altLang="en-US" dirty="0">
                <a:ea typeface="ＭＳ Ｐゴシック" pitchFamily="34" charset="-128"/>
              </a:rPr>
              <a:t>For time periods less than a year, a fraction is used</a:t>
            </a:r>
          </a:p>
          <a:p>
            <a:pPr lvl="1"/>
            <a:r>
              <a:rPr lang="en-US" altLang="en-US" dirty="0">
                <a:ea typeface="ＭＳ Ｐゴシック" pitchFamily="34" charset="-128"/>
              </a:rPr>
              <a:t>Months/12</a:t>
            </a:r>
          </a:p>
          <a:p>
            <a:r>
              <a:rPr lang="en-US" altLang="en-US" dirty="0">
                <a:ea typeface="ＭＳ Ｐゴシック" pitchFamily="34" charset="-128"/>
              </a:rPr>
              <a:t>Often interest is computed based on days</a:t>
            </a:r>
          </a:p>
          <a:p>
            <a:pPr lvl="1"/>
            <a:r>
              <a:rPr lang="en-US" altLang="en-US" dirty="0">
                <a:ea typeface="ＭＳ Ｐゴシック" pitchFamily="34" charset="-128"/>
              </a:rPr>
              <a:t>Denominator would be 365</a:t>
            </a:r>
            <a:endParaRPr lang="en-US" dirty="0"/>
          </a:p>
        </p:txBody>
      </p:sp>
    </p:spTree>
    <p:extLst>
      <p:ext uri="{BB962C8B-B14F-4D97-AF65-F5344CB8AC3E}">
        <p14:creationId xmlns:p14="http://schemas.microsoft.com/office/powerpoint/2010/main" val="57110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Reporting on the Statement of Cash Flows</a:t>
            </a:r>
            <a:endParaRPr lang="en-US" dirty="0"/>
          </a:p>
        </p:txBody>
      </p:sp>
      <p:sp>
        <p:nvSpPr>
          <p:cNvPr id="3" name="Content Placeholder 2"/>
          <p:cNvSpPr>
            <a:spLocks noGrp="1"/>
          </p:cNvSpPr>
          <p:nvPr>
            <p:ph idx="1"/>
          </p:nvPr>
        </p:nvSpPr>
        <p:spPr/>
        <p:txBody>
          <a:bodyPr/>
          <a:lstStyle/>
          <a:p>
            <a:r>
              <a:rPr lang="en-US" b="0" i="0" u="none" strike="noStrike" baseline="0" dirty="0"/>
              <a:t>Accounts receivable bring in cash when the business collects from customers</a:t>
            </a:r>
            <a:endParaRPr lang="en-US" altLang="en-US" dirty="0">
              <a:ea typeface="ＭＳ Ｐゴシック" pitchFamily="34" charset="-128"/>
            </a:endParaRPr>
          </a:p>
          <a:p>
            <a:pPr lvl="1"/>
            <a:r>
              <a:rPr lang="en-US" altLang="en-US" i="1" dirty="0">
                <a:ea typeface="ＭＳ Ｐゴシック" pitchFamily="34" charset="-128"/>
              </a:rPr>
              <a:t>Operating</a:t>
            </a:r>
            <a:r>
              <a:rPr lang="en-US" altLang="en-US" dirty="0">
                <a:ea typeface="ＭＳ Ｐゴシック" pitchFamily="34" charset="-128"/>
              </a:rPr>
              <a:t> activity on the statement of cash flows</a:t>
            </a:r>
          </a:p>
          <a:p>
            <a:r>
              <a:rPr lang="en-US" b="0" i="0" u="none" strike="noStrike" baseline="0" dirty="0"/>
              <a:t>Notes receivable bring in cash when debtors pay off notes</a:t>
            </a:r>
            <a:endParaRPr lang="en-US" altLang="en-US" dirty="0">
              <a:ea typeface="ＭＳ Ｐゴシック" pitchFamily="34" charset="-128"/>
            </a:endParaRPr>
          </a:p>
          <a:p>
            <a:pPr lvl="1"/>
            <a:r>
              <a:rPr lang="en-US" altLang="en-US" i="1" dirty="0">
                <a:ea typeface="ＭＳ Ｐゴシック" pitchFamily="34" charset="-128"/>
              </a:rPr>
              <a:t>Investing</a:t>
            </a:r>
            <a:r>
              <a:rPr lang="en-US" altLang="en-US" dirty="0">
                <a:ea typeface="ＭＳ Ｐゴシック" pitchFamily="34" charset="-128"/>
              </a:rPr>
              <a:t> activity on the statement of cash flows</a:t>
            </a:r>
          </a:p>
        </p:txBody>
      </p:sp>
    </p:spTree>
    <p:extLst>
      <p:ext uri="{BB962C8B-B14F-4D97-AF65-F5344CB8AC3E}">
        <p14:creationId xmlns:p14="http://schemas.microsoft.com/office/powerpoint/2010/main" val="349572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2BC0A-5435-347B-2977-F58120D7BC16}"/>
              </a:ext>
            </a:extLst>
          </p:cNvPr>
          <p:cNvSpPr>
            <a:spLocks noGrp="1"/>
          </p:cNvSpPr>
          <p:nvPr>
            <p:ph type="title"/>
          </p:nvPr>
        </p:nvSpPr>
        <p:spPr/>
        <p:txBody>
          <a:bodyPr/>
          <a:lstStyle/>
          <a:p>
            <a:r>
              <a:rPr lang="en-US" dirty="0"/>
              <a:t>Short Exercise 4-12</a:t>
            </a:r>
          </a:p>
        </p:txBody>
      </p:sp>
      <p:sp>
        <p:nvSpPr>
          <p:cNvPr id="3" name="Content Placeholder 2">
            <a:extLst>
              <a:ext uri="{FF2B5EF4-FFF2-40B4-BE49-F238E27FC236}">
                <a16:creationId xmlns:a16="http://schemas.microsoft.com/office/drawing/2014/main" id="{3F2604E0-B53C-DDBB-917C-C5CFD10D43D9}"/>
              </a:ext>
            </a:extLst>
          </p:cNvPr>
          <p:cNvSpPr>
            <a:spLocks noGrp="1"/>
          </p:cNvSpPr>
          <p:nvPr>
            <p:ph idx="1"/>
          </p:nvPr>
        </p:nvSpPr>
        <p:spPr/>
        <p:txBody>
          <a:bodyPr>
            <a:normAutofit/>
          </a:bodyPr>
          <a:lstStyle/>
          <a:p>
            <a:pPr marL="0" indent="0">
              <a:buNone/>
            </a:pPr>
            <a:r>
              <a:rPr lang="en-US" dirty="0">
                <a:cs typeface="Arial" panose="020B0604020202020204" pitchFamily="34" charset="0"/>
              </a:rPr>
              <a:t>Metro Credit Union in </a:t>
            </a:r>
            <a:r>
              <a:rPr lang="en-US" dirty="0" err="1">
                <a:cs typeface="Arial" panose="020B0604020202020204" pitchFamily="34" charset="0"/>
              </a:rPr>
              <a:t>Charlettown</a:t>
            </a:r>
            <a:r>
              <a:rPr lang="en-US" dirty="0">
                <a:cs typeface="Arial" panose="020B0604020202020204" pitchFamily="34" charset="0"/>
              </a:rPr>
              <a:t>, PEI loaned $90,000 to David Mann on a six-month, 8% note.  Record the following for Metro Credit Union:</a:t>
            </a:r>
          </a:p>
          <a:p>
            <a:pPr marL="457200" indent="-457200">
              <a:buFont typeface="+mj-lt"/>
              <a:buAutoNum type="alphaLcPeriod"/>
            </a:pPr>
            <a:r>
              <a:rPr lang="en-US" dirty="0">
                <a:cs typeface="Arial" panose="020B0604020202020204" pitchFamily="34" charset="0"/>
              </a:rPr>
              <a:t>Lending the money on March 6</a:t>
            </a:r>
          </a:p>
          <a:p>
            <a:pPr marL="457200" indent="-457200">
              <a:buFont typeface="+mj-lt"/>
              <a:buAutoNum type="alphaLcPeriod"/>
            </a:pPr>
            <a:r>
              <a:rPr lang="en-US" dirty="0">
                <a:cs typeface="Arial" panose="020B0604020202020204" pitchFamily="34" charset="0"/>
              </a:rPr>
              <a:t>Collecting the principal and interest at maturity.  Specify the date.  Explanations are not required.</a:t>
            </a:r>
            <a:endParaRPr lang="en-US" dirty="0"/>
          </a:p>
          <a:p>
            <a:pPr marL="0" indent="0">
              <a:buNone/>
            </a:pPr>
            <a:endParaRPr lang="en-US" dirty="0">
              <a:cs typeface="Arial" panose="020B0604020202020204" pitchFamily="34" charset="0"/>
            </a:endParaRPr>
          </a:p>
        </p:txBody>
      </p:sp>
    </p:spTree>
    <p:extLst>
      <p:ext uri="{BB962C8B-B14F-4D97-AF65-F5344CB8AC3E}">
        <p14:creationId xmlns:p14="http://schemas.microsoft.com/office/powerpoint/2010/main" val="671009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Six</a:t>
            </a:r>
          </a:p>
        </p:txBody>
      </p:sp>
      <p:sp>
        <p:nvSpPr>
          <p:cNvPr id="5" name="Subtitle 4"/>
          <p:cNvSpPr>
            <a:spLocks noGrp="1"/>
          </p:cNvSpPr>
          <p:nvPr>
            <p:ph type="subTitle" idx="1"/>
          </p:nvPr>
        </p:nvSpPr>
        <p:spPr/>
        <p:txBody>
          <a:bodyPr/>
          <a:lstStyle/>
          <a:p>
            <a:r>
              <a:rPr lang="en-US" altLang="en-US" sz="2400" b="1" dirty="0">
                <a:ea typeface="ＭＳ Ｐゴシック" pitchFamily="34" charset="-128"/>
              </a:rPr>
              <a:t>Evaluate</a:t>
            </a:r>
            <a:r>
              <a:rPr lang="en-US" altLang="en-US" sz="2400" dirty="0">
                <a:ea typeface="ＭＳ Ｐゴシック" pitchFamily="34" charset="-128"/>
              </a:rPr>
              <a:t> liquidity using ratios</a:t>
            </a:r>
            <a:endParaRPr lang="en-US" sz="2400" dirty="0"/>
          </a:p>
        </p:txBody>
      </p:sp>
    </p:spTree>
    <p:extLst>
      <p:ext uri="{BB962C8B-B14F-4D97-AF65-F5344CB8AC3E}">
        <p14:creationId xmlns:p14="http://schemas.microsoft.com/office/powerpoint/2010/main" val="2104804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Current Ratio</a:t>
            </a:r>
            <a:endParaRPr lang="en-US" dirty="0"/>
          </a:p>
        </p:txBody>
      </p:sp>
      <p:graphicFrame>
        <p:nvGraphicFramePr>
          <p:cNvPr id="10" name="Object 9" descr="Total current asset over total current liabilities">
            <a:extLst>
              <a:ext uri="{FF2B5EF4-FFF2-40B4-BE49-F238E27FC236}">
                <a16:creationId xmlns:a16="http://schemas.microsoft.com/office/drawing/2014/main" id="{9E2CA225-85E7-46D0-AF44-0819BD5FCD6B}"/>
              </a:ext>
            </a:extLst>
          </p:cNvPr>
          <p:cNvGraphicFramePr>
            <a:graphicFrameLocks noChangeAspect="1"/>
          </p:cNvGraphicFramePr>
          <p:nvPr/>
        </p:nvGraphicFramePr>
        <p:xfrm>
          <a:off x="3052763" y="2895600"/>
          <a:ext cx="3038475" cy="746125"/>
        </p:xfrm>
        <a:graphic>
          <a:graphicData uri="http://schemas.openxmlformats.org/presentationml/2006/ole">
            <mc:AlternateContent xmlns:mc="http://schemas.openxmlformats.org/markup-compatibility/2006">
              <mc:Choice xmlns:v="urn:schemas-microsoft-com:vml" Requires="v">
                <p:oleObj name="Equation" r:id="rId3" imgW="2539800" imgH="622080" progId="Equation.DSMT4">
                  <p:embed/>
                </p:oleObj>
              </mc:Choice>
              <mc:Fallback>
                <p:oleObj name="Equation" r:id="rId3" imgW="2539800" imgH="622080" progId="Equation.DSMT4">
                  <p:embed/>
                  <p:pic>
                    <p:nvPicPr>
                      <p:cNvPr id="10" name="Object 9" descr="Total current asset over total current liabilities">
                        <a:extLst>
                          <a:ext uri="{FF2B5EF4-FFF2-40B4-BE49-F238E27FC236}">
                            <a16:creationId xmlns:a16="http://schemas.microsoft.com/office/drawing/2014/main" id="{9E2CA225-85E7-46D0-AF44-0819BD5FCD6B}"/>
                          </a:ext>
                        </a:extLst>
                      </p:cNvPr>
                      <p:cNvPicPr>
                        <a:picLocks noChangeAspect="1" noChangeArrowheads="1"/>
                      </p:cNvPicPr>
                      <p:nvPr/>
                    </p:nvPicPr>
                    <p:blipFill>
                      <a:blip r:embed="rId4"/>
                      <a:srcRect/>
                      <a:stretch>
                        <a:fillRect/>
                      </a:stretch>
                    </p:blipFill>
                    <p:spPr bwMode="auto">
                      <a:xfrm>
                        <a:off x="3052763" y="2895600"/>
                        <a:ext cx="3038475"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49838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Acid-Test (or Quick) Ratio</a:t>
            </a:r>
            <a:endParaRPr lang="en-US" dirty="0"/>
          </a:p>
        </p:txBody>
      </p:sp>
      <mc:AlternateContent xmlns:mc="http://schemas.openxmlformats.org/markup-compatibility/2006" xmlns:a14="http://schemas.microsoft.com/office/drawing/2010/main">
        <mc:Choice Requires="a14">
          <p:sp>
            <p:nvSpPr>
              <p:cNvPr id="7" name="Object 6" descr="Start fraction cash + short term investments + net current receivables over total current liabilities end fraction">
                <a:extLst>
                  <a:ext uri="{FF2B5EF4-FFF2-40B4-BE49-F238E27FC236}">
                    <a16:creationId xmlns:a16="http://schemas.microsoft.com/office/drawing/2014/main" id="{1B4683FF-C456-4E4E-B772-156AE23C4626}"/>
                  </a:ext>
                </a:extLst>
              </p:cNvPr>
              <p:cNvSpPr txBox="1"/>
              <p:nvPr/>
            </p:nvSpPr>
            <p:spPr bwMode="auto">
              <a:xfrm>
                <a:off x="560388" y="3276600"/>
                <a:ext cx="8023225" cy="746125"/>
              </a:xfrm>
              <a:prstGeom prst="rect">
                <a:avLst/>
              </a:prstGeom>
              <a:noFill/>
            </p:spPr>
            <p:txBody>
              <a:bodyPr>
                <a:normAutofit fontScale="85000" lnSpcReduction="10000"/>
              </a:bodyPr>
              <a:lstStyle/>
              <a:p>
                <a:pPr/>
                <a14:m>
                  <m:oMathPara xmlns:m="http://schemas.openxmlformats.org/officeDocument/2006/math">
                    <m:oMathParaPr>
                      <m:jc m:val="center"/>
                    </m:oMathParaPr>
                    <m:oMath xmlns:m="http://schemas.openxmlformats.org/officeDocument/2006/math">
                      <m:f>
                        <m:fPr>
                          <m:ctrlPr>
                            <a:rPr lang="en-CA" sz="2400" i="1">
                              <a:solidFill>
                                <a:srgbClr val="000000"/>
                              </a:solidFill>
                              <a:latin typeface="Cambria Math" panose="02040503050406030204" pitchFamily="18" charset="0"/>
                            </a:rPr>
                          </m:ctrlPr>
                        </m:fPr>
                        <m:num>
                          <m:r>
                            <m:rPr>
                              <m:nor/>
                            </m:rPr>
                            <a:rPr lang="en-CA" sz="2400" i="0">
                              <a:solidFill>
                                <a:srgbClr val="000000"/>
                              </a:solidFill>
                            </a:rPr>
                            <m:t>Cash</m:t>
                          </m:r>
                          <m:r>
                            <m:rPr>
                              <m:nor/>
                            </m:rPr>
                            <a:rPr lang="en-CA" sz="2400" i="0">
                              <a:solidFill>
                                <a:srgbClr val="000000"/>
                              </a:solidFill>
                            </a:rPr>
                            <m:t> + </m:t>
                          </m:r>
                          <m:r>
                            <m:rPr>
                              <m:nor/>
                            </m:rPr>
                            <a:rPr lang="en-CA" sz="2400" i="0">
                              <a:solidFill>
                                <a:srgbClr val="000000"/>
                              </a:solidFill>
                            </a:rPr>
                            <m:t>Short</m:t>
                          </m:r>
                          <m:r>
                            <m:rPr>
                              <m:nor/>
                            </m:rPr>
                            <a:rPr lang="en-CA" sz="2400" b="0" i="0" smtClean="0">
                              <a:solidFill>
                                <a:srgbClr val="000000"/>
                              </a:solidFill>
                            </a:rPr>
                            <m:t>−</m:t>
                          </m:r>
                          <m:r>
                            <m:rPr>
                              <m:nor/>
                            </m:rPr>
                            <a:rPr lang="en-CA" sz="2400" i="0">
                              <a:solidFill>
                                <a:srgbClr val="000000"/>
                              </a:solidFill>
                            </a:rPr>
                            <m:t>term</m:t>
                          </m:r>
                          <m:r>
                            <m:rPr>
                              <m:nor/>
                            </m:rPr>
                            <a:rPr lang="en-CA" sz="2400" i="0">
                              <a:solidFill>
                                <a:srgbClr val="000000"/>
                              </a:solidFill>
                            </a:rPr>
                            <m:t> </m:t>
                          </m:r>
                          <m:r>
                            <m:rPr>
                              <m:nor/>
                            </m:rPr>
                            <a:rPr lang="en-CA" sz="2400" i="0">
                              <a:solidFill>
                                <a:srgbClr val="000000"/>
                              </a:solidFill>
                            </a:rPr>
                            <m:t>investments</m:t>
                          </m:r>
                          <m:r>
                            <m:rPr>
                              <m:nor/>
                            </m:rPr>
                            <a:rPr lang="en-CA" sz="2400" i="0">
                              <a:solidFill>
                                <a:srgbClr val="000000"/>
                              </a:solidFill>
                            </a:rPr>
                            <m:t> + </m:t>
                          </m:r>
                          <m:r>
                            <m:rPr>
                              <m:nor/>
                            </m:rPr>
                            <a:rPr lang="en-CA" sz="2400" i="0">
                              <a:solidFill>
                                <a:srgbClr val="000000"/>
                              </a:solidFill>
                            </a:rPr>
                            <m:t>Net</m:t>
                          </m:r>
                          <m:r>
                            <m:rPr>
                              <m:nor/>
                            </m:rPr>
                            <a:rPr lang="en-CA" sz="2400" i="0">
                              <a:solidFill>
                                <a:srgbClr val="000000"/>
                              </a:solidFill>
                            </a:rPr>
                            <m:t> </m:t>
                          </m:r>
                          <m:r>
                            <m:rPr>
                              <m:nor/>
                            </m:rPr>
                            <a:rPr lang="en-CA" sz="2400" i="0">
                              <a:solidFill>
                                <a:srgbClr val="000000"/>
                              </a:solidFill>
                            </a:rPr>
                            <m:t>current</m:t>
                          </m:r>
                          <m:r>
                            <m:rPr>
                              <m:nor/>
                            </m:rPr>
                            <a:rPr lang="en-CA" sz="2400" i="0">
                              <a:solidFill>
                                <a:srgbClr val="000000"/>
                              </a:solidFill>
                            </a:rPr>
                            <m:t> </m:t>
                          </m:r>
                          <m:r>
                            <m:rPr>
                              <m:nor/>
                            </m:rPr>
                            <a:rPr lang="en-CA" sz="2400" i="0">
                              <a:solidFill>
                                <a:srgbClr val="000000"/>
                              </a:solidFill>
                            </a:rPr>
                            <m:t>receivables</m:t>
                          </m:r>
                        </m:num>
                        <m:den>
                          <m:r>
                            <m:rPr>
                              <m:nor/>
                            </m:rPr>
                            <a:rPr lang="en-CA" sz="2400" i="0">
                              <a:solidFill>
                                <a:srgbClr val="000000"/>
                              </a:solidFill>
                            </a:rPr>
                            <m:t>Total</m:t>
                          </m:r>
                          <m:r>
                            <m:rPr>
                              <m:nor/>
                            </m:rPr>
                            <a:rPr lang="en-CA" sz="2400" i="0">
                              <a:solidFill>
                                <a:srgbClr val="000000"/>
                              </a:solidFill>
                            </a:rPr>
                            <m:t> </m:t>
                          </m:r>
                          <m:r>
                            <m:rPr>
                              <m:nor/>
                            </m:rPr>
                            <a:rPr lang="en-CA" sz="2400" i="0">
                              <a:solidFill>
                                <a:srgbClr val="000000"/>
                              </a:solidFill>
                            </a:rPr>
                            <m:t>current</m:t>
                          </m:r>
                          <m:r>
                            <m:rPr>
                              <m:nor/>
                            </m:rPr>
                            <a:rPr lang="en-CA" sz="2400" i="0">
                              <a:solidFill>
                                <a:srgbClr val="000000"/>
                              </a:solidFill>
                            </a:rPr>
                            <m:t> </m:t>
                          </m:r>
                          <m:r>
                            <m:rPr>
                              <m:nor/>
                            </m:rPr>
                            <a:rPr lang="en-CA" sz="2400" i="0">
                              <a:solidFill>
                                <a:srgbClr val="000000"/>
                              </a:solidFill>
                            </a:rPr>
                            <m:t>liabilities</m:t>
                          </m:r>
                        </m:den>
                      </m:f>
                    </m:oMath>
                  </m:oMathPara>
                </a14:m>
                <a:endParaRPr lang="en-CA" sz="2400" dirty="0"/>
              </a:p>
            </p:txBody>
          </p:sp>
        </mc:Choice>
        <mc:Fallback xmlns="">
          <p:sp>
            <p:nvSpPr>
              <p:cNvPr id="7" name="Object 6" descr="Start fraction cash + short term investments + net current receivables over total current liabilities end fraction">
                <a:extLst>
                  <a:ext uri="{FF2B5EF4-FFF2-40B4-BE49-F238E27FC236}">
                    <a16:creationId xmlns:a16="http://schemas.microsoft.com/office/drawing/2014/main" id="{1B4683FF-C456-4E4E-B772-156AE23C4626}"/>
                  </a:ext>
                </a:extLst>
              </p:cNvPr>
              <p:cNvSpPr txBox="1">
                <a:spLocks noRot="1" noChangeAspect="1" noMove="1" noResize="1" noEditPoints="1" noAdjustHandles="1" noChangeArrowheads="1" noChangeShapeType="1" noTextEdit="1"/>
              </p:cNvSpPr>
              <p:nvPr/>
            </p:nvSpPr>
            <p:spPr bwMode="auto">
              <a:xfrm>
                <a:off x="560388" y="3276600"/>
                <a:ext cx="8023225" cy="746125"/>
              </a:xfrm>
              <a:prstGeom prst="rect">
                <a:avLst/>
              </a:prstGeom>
              <a:blipFill>
                <a:blip r:embed="rId3"/>
                <a:stretch>
                  <a:fillRect t="-5085" b="-10169"/>
                </a:stretch>
              </a:blipFill>
            </p:spPr>
            <p:txBody>
              <a:bodyPr/>
              <a:lstStyle/>
              <a:p>
                <a:r>
                  <a:rPr lang="en-US">
                    <a:noFill/>
                  </a:rPr>
                  <a:t> </a:t>
                </a:r>
              </a:p>
            </p:txBody>
          </p:sp>
        </mc:Fallback>
      </mc:AlternateContent>
    </p:spTree>
    <p:extLst>
      <p:ext uri="{BB962C8B-B14F-4D97-AF65-F5344CB8AC3E}">
        <p14:creationId xmlns:p14="http://schemas.microsoft.com/office/powerpoint/2010/main" val="254117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Days’ Sales in Receivables </a:t>
            </a:r>
            <a:endParaRPr lang="en-US" b="0" dirty="0"/>
          </a:p>
        </p:txBody>
      </p:sp>
      <p:graphicFrame>
        <p:nvGraphicFramePr>
          <p:cNvPr id="13" name="Object 12" descr="Average daily sales = Net sales over 365 days">
            <a:extLst>
              <a:ext uri="{FF2B5EF4-FFF2-40B4-BE49-F238E27FC236}">
                <a16:creationId xmlns:a16="http://schemas.microsoft.com/office/drawing/2014/main" id="{55FF759A-8727-426B-B00B-912BB9C652F2}"/>
              </a:ext>
            </a:extLst>
          </p:cNvPr>
          <p:cNvGraphicFramePr>
            <a:graphicFrameLocks noChangeAspect="1"/>
          </p:cNvGraphicFramePr>
          <p:nvPr/>
        </p:nvGraphicFramePr>
        <p:xfrm>
          <a:off x="2133600" y="1828800"/>
          <a:ext cx="4375150" cy="808037"/>
        </p:xfrm>
        <a:graphic>
          <a:graphicData uri="http://schemas.openxmlformats.org/presentationml/2006/ole">
            <mc:AlternateContent xmlns:mc="http://schemas.openxmlformats.org/markup-compatibility/2006">
              <mc:Choice xmlns:v="urn:schemas-microsoft-com:vml" Requires="v">
                <p:oleObj name="Equation" r:id="rId3" imgW="3657600" imgH="672840" progId="Equation.DSMT4">
                  <p:embed/>
                </p:oleObj>
              </mc:Choice>
              <mc:Fallback>
                <p:oleObj name="Equation" r:id="rId3" imgW="3657600" imgH="672840" progId="Equation.DSMT4">
                  <p:embed/>
                  <p:pic>
                    <p:nvPicPr>
                      <p:cNvPr id="13" name="Object 12" descr="Average daily sales = Net sales over 365 days">
                        <a:extLst>
                          <a:ext uri="{FF2B5EF4-FFF2-40B4-BE49-F238E27FC236}">
                            <a16:creationId xmlns:a16="http://schemas.microsoft.com/office/drawing/2014/main" id="{55FF759A-8727-426B-B00B-912BB9C652F2}"/>
                          </a:ext>
                        </a:extLst>
                      </p:cNvPr>
                      <p:cNvPicPr>
                        <a:picLocks noChangeAspect="1" noChangeArrowheads="1"/>
                      </p:cNvPicPr>
                      <p:nvPr/>
                    </p:nvPicPr>
                    <p:blipFill>
                      <a:blip r:embed="rId4"/>
                      <a:srcRect/>
                      <a:stretch>
                        <a:fillRect/>
                      </a:stretch>
                    </p:blipFill>
                    <p:spPr bwMode="auto">
                      <a:xfrm>
                        <a:off x="2133600" y="1828800"/>
                        <a:ext cx="4375150" cy="808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8" name="Straight Arrow Connector 7"/>
          <p:cNvCxnSpPr>
            <a:cxnSpLocks noChangeShapeType="1"/>
          </p:cNvCxnSpPr>
          <p:nvPr/>
        </p:nvCxnSpPr>
        <p:spPr bwMode="auto">
          <a:xfrm>
            <a:off x="4041775" y="2670661"/>
            <a:ext cx="873125" cy="1139339"/>
          </a:xfrm>
          <a:prstGeom prst="straightConnector1">
            <a:avLst/>
          </a:prstGeom>
          <a:noFill/>
          <a:ln w="31750">
            <a:solidFill>
              <a:srgbClr val="007FA3"/>
            </a:solidFill>
            <a:round/>
            <a:headEnd/>
            <a:tailEnd type="arrow" w="med" len="med"/>
          </a:ln>
          <a:effectLst>
            <a:outerShdw blurRad="50800" dist="25400" dir="5400000" rotWithShape="0">
              <a:srgbClr val="808080">
                <a:alpha val="45000"/>
              </a:srgbClr>
            </a:outerShdw>
          </a:effectLst>
          <a:extLst>
            <a:ext uri="{909E8E84-426E-40DD-AFC4-6F175D3DCCD1}">
              <a14:hiddenFill xmlns:a14="http://schemas.microsoft.com/office/drawing/2010/main">
                <a:noFill/>
              </a14:hiddenFill>
            </a:ext>
          </a:extLst>
        </p:spPr>
      </p:cxnSp>
      <p:graphicFrame>
        <p:nvGraphicFramePr>
          <p:cNvPr id="14" name="Object 13" descr="Days’ sales in average receivables = Average receivables over average daily sales">
            <a:extLst>
              <a:ext uri="{FF2B5EF4-FFF2-40B4-BE49-F238E27FC236}">
                <a16:creationId xmlns:a16="http://schemas.microsoft.com/office/drawing/2014/main" id="{0E26E2F5-473E-4199-81F6-F467A24DDA84}"/>
              </a:ext>
            </a:extLst>
          </p:cNvPr>
          <p:cNvGraphicFramePr>
            <a:graphicFrameLocks noChangeAspect="1"/>
          </p:cNvGraphicFramePr>
          <p:nvPr/>
        </p:nvGraphicFramePr>
        <p:xfrm>
          <a:off x="323902" y="3885883"/>
          <a:ext cx="7929563" cy="808038"/>
        </p:xfrm>
        <a:graphic>
          <a:graphicData uri="http://schemas.openxmlformats.org/presentationml/2006/ole">
            <mc:AlternateContent xmlns:mc="http://schemas.openxmlformats.org/markup-compatibility/2006">
              <mc:Choice xmlns:v="urn:schemas-microsoft-com:vml" Requires="v">
                <p:oleObj name="Equation" r:id="rId5" imgW="6629400" imgH="672840" progId="Equation.DSMT4">
                  <p:embed/>
                </p:oleObj>
              </mc:Choice>
              <mc:Fallback>
                <p:oleObj name="Equation" r:id="rId5" imgW="6629400" imgH="672840" progId="Equation.DSMT4">
                  <p:embed/>
                  <p:pic>
                    <p:nvPicPr>
                      <p:cNvPr id="14" name="Object 13" descr="Days’ sales in average receivables = Average receivables over average daily sales">
                        <a:extLst>
                          <a:ext uri="{FF2B5EF4-FFF2-40B4-BE49-F238E27FC236}">
                            <a16:creationId xmlns:a16="http://schemas.microsoft.com/office/drawing/2014/main" id="{0E26E2F5-473E-4199-81F6-F467A24DDA84}"/>
                          </a:ext>
                        </a:extLst>
                      </p:cNvPr>
                      <p:cNvPicPr>
                        <a:picLocks noChangeAspect="1" noChangeArrowheads="1"/>
                      </p:cNvPicPr>
                      <p:nvPr/>
                    </p:nvPicPr>
                    <p:blipFill>
                      <a:blip r:embed="rId6"/>
                      <a:srcRect/>
                      <a:stretch>
                        <a:fillRect/>
                      </a:stretch>
                    </p:blipFill>
                    <p:spPr bwMode="auto">
                      <a:xfrm>
                        <a:off x="323902" y="3885883"/>
                        <a:ext cx="7929563"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p:cNvSpPr>
            <a:spLocks noGrp="1"/>
          </p:cNvSpPr>
          <p:nvPr>
            <p:ph idx="1"/>
          </p:nvPr>
        </p:nvSpPr>
        <p:spPr>
          <a:xfrm>
            <a:off x="762000" y="5181600"/>
            <a:ext cx="7467600" cy="808038"/>
          </a:xfrm>
          <a:solidFill>
            <a:srgbClr val="C5F3FF"/>
          </a:solidFill>
          <a:ln>
            <a:solidFill>
              <a:srgbClr val="007FA3"/>
            </a:solidFill>
          </a:ln>
        </p:spPr>
        <p:txBody>
          <a:bodyPr anchor="ctr">
            <a:normAutofit lnSpcReduction="10000"/>
          </a:bodyPr>
          <a:lstStyle/>
          <a:p>
            <a:pPr marL="0" indent="0" algn="ctr">
              <a:buNone/>
            </a:pPr>
            <a:r>
              <a:rPr lang="en-US" dirty="0">
                <a:solidFill>
                  <a:schemeClr val="dk1"/>
                </a:solidFill>
              </a:rPr>
              <a:t>(Beginning net receivables + Ending net receivables)/2</a:t>
            </a:r>
            <a:endParaRPr lang="en-US" dirty="0"/>
          </a:p>
        </p:txBody>
      </p:sp>
      <p:sp>
        <p:nvSpPr>
          <p:cNvPr id="7" name="Curved Left Arrow 6"/>
          <p:cNvSpPr/>
          <p:nvPr/>
        </p:nvSpPr>
        <p:spPr>
          <a:xfrm>
            <a:off x="8305800" y="4073816"/>
            <a:ext cx="419100" cy="1564984"/>
          </a:xfrm>
          <a:prstGeom prst="curvedLeftArrow">
            <a:avLst/>
          </a:prstGeom>
          <a:solidFill>
            <a:srgbClr val="007FA3"/>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defRPr/>
            </a:pPr>
            <a:endParaRPr lang="en-US" dirty="0">
              <a:solidFill>
                <a:schemeClr val="tx1"/>
              </a:solidFill>
            </a:endParaRPr>
          </a:p>
        </p:txBody>
      </p:sp>
    </p:spTree>
    <p:extLst>
      <p:ext uri="{BB962C8B-B14F-4D97-AF65-F5344CB8AC3E}">
        <p14:creationId xmlns:p14="http://schemas.microsoft.com/office/powerpoint/2010/main" val="2996567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Seven</a:t>
            </a:r>
          </a:p>
        </p:txBody>
      </p:sp>
      <p:sp>
        <p:nvSpPr>
          <p:cNvPr id="5" name="Subtitle 4"/>
          <p:cNvSpPr>
            <a:spLocks noGrp="1"/>
          </p:cNvSpPr>
          <p:nvPr>
            <p:ph type="subTitle" idx="1"/>
          </p:nvPr>
        </p:nvSpPr>
        <p:spPr/>
        <p:txBody>
          <a:bodyPr>
            <a:normAutofit fontScale="70000" lnSpcReduction="20000"/>
          </a:bodyPr>
          <a:lstStyle/>
          <a:p>
            <a:r>
              <a:rPr lang="en-US" altLang="en-US" sz="2400" b="1" dirty="0">
                <a:ea typeface="ＭＳ Ｐゴシック" pitchFamily="34" charset="-128"/>
              </a:rPr>
              <a:t>Analyze </a:t>
            </a:r>
            <a:r>
              <a:rPr lang="en-US" altLang="en-US" sz="2400" dirty="0">
                <a:ea typeface="ＭＳ Ｐゴシック" pitchFamily="34" charset="-128"/>
              </a:rPr>
              <a:t>receivables collectability using an aging schedule created with an Excel pivot table</a:t>
            </a:r>
            <a:endParaRPr lang="en-US" sz="2400" dirty="0"/>
          </a:p>
        </p:txBody>
      </p:sp>
    </p:spTree>
    <p:extLst>
      <p:ext uri="{BB962C8B-B14F-4D97-AF65-F5344CB8AC3E}">
        <p14:creationId xmlns:p14="http://schemas.microsoft.com/office/powerpoint/2010/main" val="225918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Excel Pivot Table</a:t>
            </a:r>
          </a:p>
        </p:txBody>
      </p:sp>
      <p:sp>
        <p:nvSpPr>
          <p:cNvPr id="3" name="Content Placeholder 2"/>
          <p:cNvSpPr>
            <a:spLocks noGrp="1"/>
          </p:cNvSpPr>
          <p:nvPr>
            <p:ph idx="1"/>
          </p:nvPr>
        </p:nvSpPr>
        <p:spPr>
          <a:xfrm>
            <a:off x="457200" y="1600201"/>
            <a:ext cx="8229600" cy="2133600"/>
          </a:xfrm>
        </p:spPr>
        <p:txBody>
          <a:bodyPr/>
          <a:lstStyle/>
          <a:p>
            <a:r>
              <a:rPr lang="en-CA" dirty="0">
                <a:ea typeface="ＭＳ Ｐゴシック" pitchFamily="34" charset="-128"/>
              </a:rPr>
              <a:t>Managers can use a pivot table feature in Excel to summarize invoices by the “Days past due” category</a:t>
            </a:r>
          </a:p>
          <a:p>
            <a:r>
              <a:rPr lang="en-CA" dirty="0"/>
              <a:t>They can then apply the estimated uncollectible percentages to the totals for each category to estimate total uncollectible accounts</a:t>
            </a:r>
          </a:p>
        </p:txBody>
      </p:sp>
      <p:pic>
        <p:nvPicPr>
          <p:cNvPr id="6" name="Picture 5" descr="A screenshot of a pivot table.">
            <a:extLst>
              <a:ext uri="{FF2B5EF4-FFF2-40B4-BE49-F238E27FC236}">
                <a16:creationId xmlns:a16="http://schemas.microsoft.com/office/drawing/2014/main" id="{90FA76C1-6154-39EE-90BF-A95A333F87A5}"/>
              </a:ext>
            </a:extLst>
          </p:cNvPr>
          <p:cNvPicPr>
            <a:picLocks noChangeAspect="1"/>
          </p:cNvPicPr>
          <p:nvPr/>
        </p:nvPicPr>
        <p:blipFill rotWithShape="1">
          <a:blip r:embed="rId2">
            <a:extLst>
              <a:ext uri="{28A0092B-C50C-407E-A947-70E740481C1C}">
                <a14:useLocalDpi xmlns:a14="http://schemas.microsoft.com/office/drawing/2010/main" val="0"/>
              </a:ext>
            </a:extLst>
          </a:blip>
          <a:srcRect l="6947" r="21365"/>
          <a:stretch/>
        </p:blipFill>
        <p:spPr>
          <a:xfrm>
            <a:off x="2378202" y="3886200"/>
            <a:ext cx="4387596" cy="2353056"/>
          </a:xfrm>
          <a:prstGeom prst="rect">
            <a:avLst/>
          </a:prstGeom>
        </p:spPr>
      </p:pic>
    </p:spTree>
    <p:extLst>
      <p:ext uri="{BB962C8B-B14F-4D97-AF65-F5344CB8AC3E}">
        <p14:creationId xmlns:p14="http://schemas.microsoft.com/office/powerpoint/2010/main" val="3760303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End of Chapter Four</a:t>
            </a:r>
          </a:p>
        </p:txBody>
      </p:sp>
    </p:spTree>
    <p:extLst>
      <p:ext uri="{BB962C8B-B14F-4D97-AF65-F5344CB8AC3E}">
        <p14:creationId xmlns:p14="http://schemas.microsoft.com/office/powerpoint/2010/main" val="4189339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Impact + Georgia">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F Branded PP template" id="{79A68145-D4B9-4631-BEF4-7B0E61A80215}" vid="{A743BFCA-C575-4814-BD09-89D271A30E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AE4299700E724EB4A3A9F30476384C" ma:contentTypeVersion="12" ma:contentTypeDescription="Create a new document." ma:contentTypeScope="" ma:versionID="65e170e0dbbae92946b14002ab1c17d9">
  <xsd:schema xmlns:xsd="http://www.w3.org/2001/XMLSchema" xmlns:xs="http://www.w3.org/2001/XMLSchema" xmlns:p="http://schemas.microsoft.com/office/2006/metadata/properties" xmlns:ns2="9a5288b5-dab3-4678-90e6-28176b4bed68" xmlns:ns3="baf01252-53fa-40dd-aec5-420f8d6c2b25" targetNamespace="http://schemas.microsoft.com/office/2006/metadata/properties" ma:root="true" ma:fieldsID="b84896b0ee1e3d4f230a2605d71c901a" ns2:_="" ns3:_="">
    <xsd:import namespace="9a5288b5-dab3-4678-90e6-28176b4bed68"/>
    <xsd:import namespace="baf01252-53fa-40dd-aec5-420f8d6c2b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5288b5-dab3-4678-90e6-28176b4be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f01252-53fa-40dd-aec5-420f8d6c2b2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C53BC54-77E2-46DB-97BE-8E2381514324}">
  <ds:schemaRefs>
    <ds:schemaRef ds:uri="http://schemas.microsoft.com/sharepoint/v3/contenttype/forms"/>
  </ds:schemaRefs>
</ds:datastoreItem>
</file>

<file path=customXml/itemProps2.xml><?xml version="1.0" encoding="utf-8"?>
<ds:datastoreItem xmlns:ds="http://schemas.openxmlformats.org/officeDocument/2006/customXml" ds:itemID="{347C08A3-8C0C-4780-AE19-8EFD012A61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5288b5-dab3-4678-90e6-28176b4bed68"/>
    <ds:schemaRef ds:uri="baf01252-53fa-40dd-aec5-420f8d6c2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D800B5-A7C7-4A38-A875-53B18BAC9D5C}">
  <ds:schemaRefs>
    <ds:schemaRef ds:uri="http://schemas.microsoft.com/office/2006/documentManagement/types"/>
    <ds:schemaRef ds:uri="baf01252-53fa-40dd-aec5-420f8d6c2b25"/>
    <ds:schemaRef ds:uri="http://purl.org/dc/dcmitype/"/>
    <ds:schemaRef ds:uri="http://purl.org/dc/elements/1.1/"/>
    <ds:schemaRef ds:uri="http://www.w3.org/XML/1998/namespace"/>
    <ds:schemaRef ds:uri="http://schemas.microsoft.com/office/2006/metadata/properties"/>
    <ds:schemaRef ds:uri="http://schemas.openxmlformats.org/package/2006/metadata/core-properties"/>
    <ds:schemaRef ds:uri="http://schemas.microsoft.com/office/infopath/2007/PartnerControls"/>
    <ds:schemaRef ds:uri="9a5288b5-dab3-4678-90e6-28176b4bed68"/>
    <ds:schemaRef ds:uri="http://purl.org/dc/terms/"/>
  </ds:schemaRefs>
</ds:datastoreItem>
</file>

<file path=docMetadata/LabelInfo.xml><?xml version="1.0" encoding="utf-8"?>
<clbl:labelList xmlns:clbl="http://schemas.microsoft.com/office/2020/mipLabelMetadata">
  <clbl:label id="{a9ee03e0-b78c-4998-8bf4-79b266b85105}" enabled="1" method="Standard" siteId="{723a5a87-f39a-4a22-9247-3fc240c01396}" contentBits="0" removed="0"/>
</clbl:labelList>
</file>

<file path=docProps/app.xml><?xml version="1.0" encoding="utf-8"?>
<Properties xmlns="http://schemas.openxmlformats.org/officeDocument/2006/extended-properties" xmlns:vt="http://schemas.openxmlformats.org/officeDocument/2006/docPropsVTypes">
  <Template>SAF Branded PP template</Template>
  <TotalTime>458</TotalTime>
  <Words>6531</Words>
  <Application>Microsoft Macintosh PowerPoint</Application>
  <PresentationFormat>On-screen Show (4:3)</PresentationFormat>
  <Paragraphs>694</Paragraphs>
  <Slides>58</Slides>
  <Notes>53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70" baseType="lpstr">
      <vt:lpstr>Berkeley-Bold</vt:lpstr>
      <vt:lpstr>Berkeley-Book</vt:lpstr>
      <vt:lpstr>ＭＳ Ｐゴシック</vt:lpstr>
      <vt:lpstr>Arial</vt:lpstr>
      <vt:lpstr>Calibri</vt:lpstr>
      <vt:lpstr>Cambria Math</vt:lpstr>
      <vt:lpstr>Georgia</vt:lpstr>
      <vt:lpstr>Impact</vt:lpstr>
      <vt:lpstr>Verdana</vt:lpstr>
      <vt:lpstr>Wingdings</vt:lpstr>
      <vt:lpstr>UofWaterloo_WhiteBkgrd</vt:lpstr>
      <vt:lpstr>Equation</vt:lpstr>
      <vt:lpstr>Chapter 4 Cash and Receivables</vt:lpstr>
      <vt:lpstr>PowerPoint Presentation</vt:lpstr>
      <vt:lpstr>Learning Objective One</vt:lpstr>
      <vt:lpstr>Accounting for Cash </vt:lpstr>
      <vt:lpstr>Learning Objective Two</vt:lpstr>
      <vt:lpstr>The Need to Control Cash</vt:lpstr>
      <vt:lpstr>Bank Account as Control Device</vt:lpstr>
      <vt:lpstr>Bank Statement</vt:lpstr>
      <vt:lpstr>Bank Reconciliation</vt:lpstr>
      <vt:lpstr>Bank Side of the Reconciliation</vt:lpstr>
      <vt:lpstr>Book Side of the Reconciliation</vt:lpstr>
      <vt:lpstr>Bank Reconciliation Example</vt:lpstr>
      <vt:lpstr>Bank Reconciliation Example, Bank Side</vt:lpstr>
      <vt:lpstr>The Bank Reconciliation Example</vt:lpstr>
      <vt:lpstr>Bank Reconciliation Example, Book Side</vt:lpstr>
      <vt:lpstr>The Bank Reconciliation Example, Book Side</vt:lpstr>
      <vt:lpstr>The Bank Reconciliation Example</vt:lpstr>
      <vt:lpstr>Summary of Reconciling Items</vt:lpstr>
      <vt:lpstr>Journalizing Bank Reconciliation Items (1 of 3)</vt:lpstr>
      <vt:lpstr>Journalizing Bank Reconciliation Items (2 of 3)</vt:lpstr>
      <vt:lpstr>Journalizing Bank Reconciliation Items (3 of 3)</vt:lpstr>
      <vt:lpstr>Short Exercise 4-4</vt:lpstr>
      <vt:lpstr>Short Exercise 4-5</vt:lpstr>
      <vt:lpstr>Learning Objective Three</vt:lpstr>
      <vt:lpstr>Receivables</vt:lpstr>
      <vt:lpstr>Accounts Receivable</vt:lpstr>
      <vt:lpstr>Control Account and Subsidiary Ledger</vt:lpstr>
      <vt:lpstr>Notes Receivable</vt:lpstr>
      <vt:lpstr>Risks of Selling on Credit</vt:lpstr>
      <vt:lpstr>Learning Objective Four</vt:lpstr>
      <vt:lpstr>Uncollectible Receivables</vt:lpstr>
      <vt:lpstr>The Allowance Method</vt:lpstr>
      <vt:lpstr>Net Realizable Value</vt:lpstr>
      <vt:lpstr>Method to Estimate Uncollectibles</vt:lpstr>
      <vt:lpstr>Aging-of-Receivables (1 of 2) </vt:lpstr>
      <vt:lpstr>Aging-of-Receivables (2 of 2) </vt:lpstr>
      <vt:lpstr>Aging of Accounts Receivable (1 of 2)</vt:lpstr>
      <vt:lpstr>Aging of Accounts Receivable (2 of 2)</vt:lpstr>
      <vt:lpstr>Writing Off Uncollectible Accounts</vt:lpstr>
      <vt:lpstr>Impact of Write-Off</vt:lpstr>
      <vt:lpstr>Computing Cash Collections from Customers</vt:lpstr>
      <vt:lpstr>Speeding Up Cash Flow from Sales</vt:lpstr>
      <vt:lpstr>Credit Card (and Debit Card) Sales</vt:lpstr>
      <vt:lpstr>Short Exercise 4-2</vt:lpstr>
      <vt:lpstr>Learning Objective Five</vt:lpstr>
      <vt:lpstr>Notes Receivable (1 of 2)</vt:lpstr>
      <vt:lpstr>Notes Receivable (2 of 2)</vt:lpstr>
      <vt:lpstr>Accounting for Notes Receivable</vt:lpstr>
      <vt:lpstr>Interest</vt:lpstr>
      <vt:lpstr>Reporting on the Statement of Cash Flows</vt:lpstr>
      <vt:lpstr>Short Exercise 4-12</vt:lpstr>
      <vt:lpstr>Learning Objective Six</vt:lpstr>
      <vt:lpstr>Current Ratio</vt:lpstr>
      <vt:lpstr>Acid-Test (or Quick) Ratio</vt:lpstr>
      <vt:lpstr>Days’ Sales in Receivables </vt:lpstr>
      <vt:lpstr>Learning Objective Seven</vt:lpstr>
      <vt:lpstr>Excel Pivot Table</vt:lpstr>
      <vt:lpstr>End of Chapter Four</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AFM 111 – Professional Pathways and Problem Solving</dc:title>
  <dc:creator>Tracy Hilpert</dc:creator>
  <cp:lastModifiedBy>Xiao Lu</cp:lastModifiedBy>
  <cp:revision>14</cp:revision>
  <cp:lastPrinted>2023-09-25T01:24:42Z</cp:lastPrinted>
  <dcterms:created xsi:type="dcterms:W3CDTF">2020-07-10T19:47:04Z</dcterms:created>
  <dcterms:modified xsi:type="dcterms:W3CDTF">2025-09-23T17:48:39Z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0x010100F3AE4299700E724EB4A3A9F30476384C</vt:lpwstr>
  </property>
</Properties>
</file>