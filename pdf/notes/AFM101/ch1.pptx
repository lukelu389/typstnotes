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0"/>
  </p:notesMasterIdLst>
  <p:sldIdLst>
    <p:sldId id="256" r:id="rId5"/>
    <p:sldId id="258" r:id="rId6"/>
    <p:sldId id="257" r:id="rId7"/>
    <p:sldId id="259" r:id="rId8"/>
    <p:sldId id="301" r:id="rId9"/>
    <p:sldId id="302" r:id="rId10"/>
    <p:sldId id="261" r:id="rId11"/>
    <p:sldId id="262" r:id="rId12"/>
    <p:sldId id="263" r:id="rId13"/>
    <p:sldId id="264" r:id="rId14"/>
    <p:sldId id="265" r:id="rId15"/>
    <p:sldId id="266" r:id="rId16"/>
    <p:sldId id="267" r:id="rId17"/>
    <p:sldId id="270" r:id="rId18"/>
    <p:sldId id="268" r:id="rId19"/>
    <p:sldId id="269" r:id="rId20"/>
    <p:sldId id="271" r:id="rId21"/>
    <p:sldId id="272" r:id="rId22"/>
    <p:sldId id="273" r:id="rId23"/>
    <p:sldId id="274" r:id="rId24"/>
    <p:sldId id="275" r:id="rId25"/>
    <p:sldId id="276" r:id="rId26"/>
    <p:sldId id="277" r:id="rId27"/>
    <p:sldId id="315" r:id="rId28"/>
    <p:sldId id="278" r:id="rId29"/>
    <p:sldId id="279" r:id="rId30"/>
    <p:sldId id="280" r:id="rId31"/>
    <p:sldId id="335" r:id="rId32"/>
    <p:sldId id="334" r:id="rId33"/>
    <p:sldId id="281" r:id="rId34"/>
    <p:sldId id="282" r:id="rId35"/>
    <p:sldId id="332" r:id="rId36"/>
    <p:sldId id="283" r:id="rId37"/>
    <p:sldId id="284" r:id="rId38"/>
    <p:sldId id="287" r:id="rId39"/>
    <p:sldId id="303" r:id="rId40"/>
    <p:sldId id="289" r:id="rId41"/>
    <p:sldId id="290" r:id="rId42"/>
    <p:sldId id="291" r:id="rId43"/>
    <p:sldId id="292" r:id="rId44"/>
    <p:sldId id="310" r:id="rId45"/>
    <p:sldId id="294" r:id="rId46"/>
    <p:sldId id="336" r:id="rId47"/>
    <p:sldId id="337" r:id="rId48"/>
    <p:sldId id="338" r:id="rId49"/>
    <p:sldId id="339" r:id="rId50"/>
    <p:sldId id="295" r:id="rId51"/>
    <p:sldId id="305" r:id="rId52"/>
    <p:sldId id="297" r:id="rId53"/>
    <p:sldId id="299" r:id="rId54"/>
    <p:sldId id="298" r:id="rId55"/>
    <p:sldId id="311" r:id="rId56"/>
    <p:sldId id="312" r:id="rId57"/>
    <p:sldId id="314" r:id="rId58"/>
    <p:sldId id="300"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7734FC-E03E-0246-B3C2-2881424D4BFD}" v="72" dt="2024-08-20T18:29:57.8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984" autoAdjust="0"/>
    <p:restoredTop sz="68032"/>
  </p:normalViewPr>
  <p:slideViewPr>
    <p:cSldViewPr snapToGrid="0">
      <p:cViewPr varScale="1">
        <p:scale>
          <a:sx n="80" d="100"/>
          <a:sy n="80" d="100"/>
        </p:scale>
        <p:origin x="1816" y="176"/>
      </p:cViewPr>
      <p:guideLst>
        <p:guide orient="horz" pos="2160"/>
        <p:guide pos="2880"/>
      </p:guideLst>
    </p:cSldViewPr>
  </p:slideViewPr>
  <p:notesTextViewPr>
    <p:cViewPr>
      <p:scale>
        <a:sx n="1" d="1"/>
        <a:sy n="1" d="1"/>
      </p:scale>
      <p:origin x="0" y="0"/>
    </p:cViewPr>
  </p:notesTextViewPr>
  <p:sorterViewPr>
    <p:cViewPr varScale="1">
      <p:scale>
        <a:sx n="133" d="100"/>
        <a:sy n="133"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9/4/25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first learning objective is to explain why accounting is the language of business.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Accounting is an information system. It measures business activities, processes data into reports, and communicates results to </a:t>
            </a:r>
            <a:r>
              <a:rPr lang="en-US" dirty="0">
                <a:solidFill>
                  <a:srgbClr val="000000"/>
                </a:solidFill>
                <a:latin typeface="Arial" pitchFamily="34" charset="0"/>
                <a:ea typeface="ＭＳ Ｐゴシック" pitchFamily="34" charset="-128"/>
              </a:rPr>
              <a:t>decision makers</a:t>
            </a:r>
            <a:r>
              <a:rPr lang="en-US" dirty="0">
                <a:solidFill>
                  <a:srgbClr val="FF0000"/>
                </a:solidFill>
                <a:latin typeface="Arial" pitchFamily="34" charset="0"/>
                <a:ea typeface="ＭＳ Ｐゴシック" pitchFamily="34" charset="-128"/>
              </a:rPr>
              <a:t>. </a:t>
            </a:r>
            <a:r>
              <a:rPr lang="en-US" dirty="0">
                <a:latin typeface="Arial" pitchFamily="34" charset="0"/>
                <a:ea typeface="ＭＳ Ｐゴシック" pitchFamily="34" charset="-128"/>
              </a:rPr>
              <a:t>Accounting is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the language of business.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The better you understand the language, the better you can manage your finances as well as those of your business. Accounting produces financial statements, which report information about a business entity. The financial statements measure performance and communicate where a business stands in financial terms.</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This diagram illustrates the flow of accounting information and helps illustrate accounting</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role in business. The accounting process begins and ends with people making decisions.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508405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dirty="0">
                <a:latin typeface="Arial" pitchFamily="34" charset="0"/>
                <a:ea typeface="ＭＳ Ｐゴシック" pitchFamily="34" charset="-128"/>
              </a:rPr>
              <a:t>Who uses accounting information? </a:t>
            </a:r>
          </a:p>
          <a:p>
            <a:pPr>
              <a:lnSpc>
                <a:spcPct val="90000"/>
              </a:lnSpc>
              <a:buFont typeface="Calibri" pitchFamily="34" charset="0"/>
              <a:buAutoNum type="arabicPeriod"/>
            </a:pPr>
            <a:r>
              <a:rPr lang="en-US" dirty="0">
                <a:latin typeface="Arial" pitchFamily="34" charset="0"/>
                <a:ea typeface="ＭＳ Ｐゴシック" pitchFamily="34" charset="-128"/>
              </a:rPr>
              <a:t> Managers need to make business decisions</a:t>
            </a:r>
          </a:p>
          <a:p>
            <a:pPr>
              <a:lnSpc>
                <a:spcPct val="90000"/>
              </a:lnSpc>
              <a:buFont typeface="Calibri" pitchFamily="34" charset="0"/>
              <a:buAutoNum type="arabicPeriod"/>
            </a:pPr>
            <a:r>
              <a:rPr lang="en-US" dirty="0">
                <a:latin typeface="Arial" pitchFamily="34" charset="0"/>
                <a:ea typeface="ＭＳ Ｐゴシック" pitchFamily="34" charset="-128"/>
              </a:rPr>
              <a:t> Investors and creditors provide the money to finance businesses. Investors want to know how much income they can expect to earn on an investment. Creditors want to know when and how a company is going to pay them back. These decisions also require accounting information.</a:t>
            </a:r>
          </a:p>
          <a:p>
            <a:pPr>
              <a:lnSpc>
                <a:spcPct val="90000"/>
              </a:lnSpc>
              <a:buFont typeface="Calibri" pitchFamily="34" charset="0"/>
              <a:buAutoNum type="arabicPeriod"/>
            </a:pPr>
            <a:r>
              <a:rPr lang="en-US" dirty="0">
                <a:latin typeface="Arial" pitchFamily="34" charset="0"/>
                <a:ea typeface="ＭＳ Ｐゴシック" pitchFamily="34" charset="-128"/>
              </a:rPr>
              <a:t> People manage their personal bank accounts, decide whether to rent an apartment or buy a house, and budget the monthly income and expenditures of their businesses. Accounting provides the necessary information to allow individuals to make these decisions.</a:t>
            </a:r>
          </a:p>
          <a:p>
            <a:pPr>
              <a:lnSpc>
                <a:spcPct val="90000"/>
              </a:lnSpc>
              <a:buFont typeface="Calibri" pitchFamily="34" charset="0"/>
              <a:buAutoNum type="arabicPeriod"/>
            </a:pPr>
            <a:r>
              <a:rPr lang="en-US" dirty="0">
                <a:latin typeface="Arial" pitchFamily="34" charset="0"/>
                <a:ea typeface="ＭＳ Ｐゴシック" pitchFamily="34" charset="-128"/>
              </a:rPr>
              <a:t> Governments require accounting information to determine if companies are paying the correct amount of tax. Provincial securities commissions, most notably The Ontario Securities Commission (OSC), require companies whose shares are traded publicly to provide them with many kinds of periodic financial reports. All of these reports contain accounting information.</a:t>
            </a:r>
          </a:p>
          <a:p>
            <a:pPr>
              <a:lnSpc>
                <a:spcPct val="90000"/>
              </a:lnSpc>
              <a:buFont typeface="Calibri" pitchFamily="34" charset="0"/>
              <a:buAutoNum type="arabicPeriod"/>
            </a:pPr>
            <a:r>
              <a:rPr lang="en-US" dirty="0">
                <a:latin typeface="Arial" pitchFamily="34" charset="0"/>
                <a:ea typeface="ＭＳ Ｐゴシック" pitchFamily="34" charset="-128"/>
              </a:rPr>
              <a:t> Not-for-profit organizations—churches, hospitals, and charities such as Habitat for Humanity and the Canadian Red Cross—base many of their operating decisions on accounting data. In addition, these organizations have to file periodic reports of their activities with the Canada Revenue Agency, even though they may owe no taxes.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721703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Both external and internal users of accounting information exist. We can therefore classify </a:t>
            </a:r>
            <a:r>
              <a:rPr lang="en-US" dirty="0">
                <a:solidFill>
                  <a:srgbClr val="000000"/>
                </a:solidFill>
                <a:latin typeface="Arial" pitchFamily="34" charset="0"/>
                <a:ea typeface="ＭＳ Ｐゴシック" pitchFamily="34" charset="-128"/>
              </a:rPr>
              <a:t>accounting i</a:t>
            </a:r>
            <a:r>
              <a:rPr lang="en-US" dirty="0">
                <a:latin typeface="Arial" pitchFamily="34" charset="0"/>
                <a:ea typeface="ＭＳ Ｐゴシック" pitchFamily="34" charset="-128"/>
              </a:rPr>
              <a:t>nto two branches.</a:t>
            </a:r>
          </a:p>
          <a:p>
            <a:r>
              <a:rPr lang="en-US" dirty="0">
                <a:latin typeface="Arial" pitchFamily="34" charset="0"/>
                <a:ea typeface="ＭＳ Ｐゴシック" pitchFamily="34" charset="-128"/>
              </a:rPr>
              <a:t>Financial accounting provides information for both internal and external decision makers such as managers, investors, creditors, government agencies, and the public. This information must be relevant for the needs of decision makers and must faithfully give an accurate picture of the entity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economic activities. </a:t>
            </a:r>
            <a:endParaRPr lang="en-US" dirty="0">
              <a:solidFill>
                <a:srgbClr val="FF0000"/>
              </a:solidFill>
              <a:latin typeface="Arial" pitchFamily="34" charset="0"/>
              <a:ea typeface="ＭＳ Ｐゴシック" pitchFamily="34" charset="-128"/>
            </a:endParaRPr>
          </a:p>
          <a:p>
            <a:r>
              <a:rPr lang="en-US" dirty="0">
                <a:latin typeface="Arial" pitchFamily="34" charset="0"/>
                <a:ea typeface="ＭＳ Ｐゴシック" pitchFamily="34" charset="-128"/>
              </a:rPr>
              <a:t>Management accounting provides information for internal decision makers only. Examples of management accounting information include budgets, forecasts, and projections that are used in making strategic decisions of the entity. Internal information must still be accurate and relevant.</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Arial" pitchFamily="34" charset="0"/>
                <a:ea typeface="ＭＳ Ｐゴシック" pitchFamily="34" charset="-128"/>
              </a:rPr>
              <a:t>Accounting is used in every type of business. A business generally takes one of the following forms:</a:t>
            </a:r>
          </a:p>
          <a:p>
            <a:r>
              <a:rPr lang="en-US" sz="1200" dirty="0">
                <a:latin typeface="Arial" pitchFamily="34" charset="0"/>
                <a:ea typeface="ＭＳ Ｐゴシック" pitchFamily="34" charset="-128"/>
              </a:rPr>
              <a:t>1) Proprietorship</a:t>
            </a:r>
          </a:p>
          <a:p>
            <a:r>
              <a:rPr lang="en-US" sz="1200" dirty="0">
                <a:latin typeface="Arial" pitchFamily="34" charset="0"/>
                <a:ea typeface="ＭＳ Ｐゴシック" pitchFamily="34" charset="-128"/>
              </a:rPr>
              <a:t>2) Partnership</a:t>
            </a:r>
          </a:p>
          <a:p>
            <a:r>
              <a:rPr lang="en-US" sz="1200" dirty="0">
                <a:latin typeface="Arial" pitchFamily="34" charset="0"/>
                <a:ea typeface="ＭＳ Ｐゴシック" pitchFamily="34" charset="-128"/>
              </a:rPr>
              <a:t>3) Corporation</a:t>
            </a:r>
          </a:p>
          <a:p>
            <a:r>
              <a:rPr lang="en-US" sz="1200" dirty="0">
                <a:latin typeface="Arial" pitchFamily="34" charset="0"/>
                <a:ea typeface="ＭＳ Ｐゴシック" pitchFamily="34" charset="-128"/>
              </a:rPr>
              <a:t>The table above shows the ownership and personal liability of each business form.</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 proprietorship has a single owner, called the proprietor. Proprietorships tend to be small retail stores or solo providers of professional services—physicians, attorneys, or accountants. Legally, the business is the proprietor, and the proprietor is personally liable for all the debts. But for accounting purposes, a proprietorship is a distinct entity, separate from its proprietor. Thus, the business records should not include the proprietor</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personal finances.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 partnership has two or more parties as co-owners, and each owner is a partner. Individuals, corporations, partnerships, or other types of entities can be partners. Income and loss of the partnership </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flows through</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to the partners, and they recognize it based on their agreed-upon percentage interest in the business. The partnership is not a taxpaying entity. Instead, each partner takes a proportionate share of the entity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taxable income and pays tax according to that partner</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individual or corporate rate.</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 corporation is a business owned by the shareholders, who own shares representing a share of ownership in the corporation. One of the major advantages of doing business in the corporate form is the ability to raise large sums of capital from issuance of shares to the public. All types of entities (individuals, partnerships, corporations, or other types) may be shareholders in a corporation. Even though proprietorships and partnerships are more numerous, corporations transact much more business and are larger in terms of assets, income, and number of employees. </a:t>
            </a:r>
          </a:p>
          <a:p>
            <a:r>
              <a:rPr lang="en-US" dirty="0">
                <a:latin typeface="Arial" pitchFamily="34" charset="0"/>
                <a:ea typeface="ＭＳ Ｐゴシック" pitchFamily="34" charset="-128"/>
              </a:rPr>
              <a:t>A corporation is formed under federal or provincial law. Unlike proprietorships and partnerships, a corporation is legally distinct from its owners. The corporation is like an artificial person and possesses many of the same rights that a person has.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However, unlike partnerships, a corporation pays a business income tax as well as many other types of taxes. Furthermore, the shareholders of a corporation are effectively taxed twice on distributions received from the corporation (called dividends). Thus, one of the major disadvantages of the corporate form of business is double taxation of distributed profits</a:t>
            </a:r>
            <a:r>
              <a:rPr lang="en-US" i="1" dirty="0">
                <a:latin typeface="Arial" pitchFamily="34" charset="0"/>
                <a:ea typeface="ＭＳ Ｐゴシック" pitchFamily="34" charset="-128"/>
              </a:rPr>
              <a:t>. </a:t>
            </a:r>
            <a:r>
              <a:rPr lang="en-US" i="0" dirty="0">
                <a:latin typeface="Arial" pitchFamily="34" charset="0"/>
                <a:ea typeface="ＭＳ Ｐゴシック" pitchFamily="34" charset="-128"/>
              </a:rPr>
              <a:t>However,</a:t>
            </a:r>
            <a:r>
              <a:rPr lang="en-US" i="0" baseline="0" dirty="0">
                <a:latin typeface="Arial" pitchFamily="34" charset="0"/>
                <a:ea typeface="ＭＳ Ｐゴシック" pitchFamily="34" charset="-128"/>
              </a:rPr>
              <a:t> Canadian income tax laws try to minimize the double taxation by lowering the tax rate on dividends. </a:t>
            </a:r>
            <a:r>
              <a:rPr lang="en-US" dirty="0">
                <a:latin typeface="Arial" pitchFamily="34" charset="0"/>
                <a:ea typeface="ＭＳ Ｐゴシック" pitchFamily="34" charset="-128"/>
              </a:rPr>
              <a:t>Ultimate control of a corporation rests with the shareholders, who generally get one vote for each share of stock they own. Shareholders elect the board of directors, which sets policy and appoints officers. The board elects a chairperson, who holds the most power in the corporation and often carries the title chief executive officer (CEO). The board also appoints the president as chief operating officer (COO). Corporations also have vice presidents in charge of sales, accounting, and finance (called the chief financial officer CFO), and other key areas.</a:t>
            </a:r>
          </a:p>
          <a:p>
            <a:endParaRPr lang="en-US" dirty="0">
              <a:latin typeface="Arial" pitchFamily="34" charset="0"/>
              <a:ea typeface="ＭＳ Ｐゴシック" pitchFamily="34" charset="-128"/>
            </a:endParaRPr>
          </a:p>
          <a:p>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second learning objective is to describe the purpose and explain the elements of each financial</a:t>
            </a:r>
            <a:r>
              <a:rPr lang="en-US" baseline="0" dirty="0">
                <a:latin typeface="Arial" pitchFamily="34" charset="0"/>
                <a:ea typeface="ＭＳ Ｐゴシック" pitchFamily="34" charset="-128"/>
              </a:rPr>
              <a:t> statement</a:t>
            </a:r>
            <a:r>
              <a:rPr lang="en-US" dirty="0">
                <a:latin typeface="Arial" pitchFamily="34" charset="0"/>
                <a:ea typeface="ＭＳ Ｐゴシック" pitchFamily="34" charset="-128"/>
              </a:rPr>
              <a:t>.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financial statements present a company to the public in financial terms. Each financial statement relates to a specific date or time period. What would investors want to know about a company at the end of its fiscal year? This table lists four questions that decision makers may ask. Each answer comes from one of the financial statements.</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Accountants prepare financial accounting information according to professional guidelines called generally accepted accounting principles (GAAP). GAAP specify the standards for how accountants must record, measure, and report financial information. </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In Canada, GAAP are established by the Chartered Professional Accountants (CPA). Publicly accountable enterprises must use IFRS, where private enterprises have the option of using IFRS or ASPE.</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income statement reports revenues and expenses for the period</a:t>
            </a:r>
            <a:r>
              <a:rPr lang="en-US" dirty="0">
                <a:solidFill>
                  <a:srgbClr val="FF0000"/>
                </a:solidFill>
                <a:latin typeface="Arial" pitchFamily="34" charset="0"/>
                <a:ea typeface="ＭＳ Ｐゴシック" pitchFamily="34" charset="-128"/>
              </a:rPr>
              <a:t>. </a:t>
            </a:r>
            <a:r>
              <a:rPr lang="en-US" dirty="0">
                <a:latin typeface="Arial" pitchFamily="34" charset="0"/>
                <a:ea typeface="ＭＳ Ｐゴシック" pitchFamily="34" charset="-128"/>
              </a:rPr>
              <a:t>The bottom line is net income or net loss for the period. In accounting, the word </a:t>
            </a:r>
            <a:r>
              <a:rPr lang="en-US" i="1" dirty="0">
                <a:latin typeface="Arial" pitchFamily="34" charset="0"/>
                <a:ea typeface="ＭＳ Ｐゴシック" pitchFamily="34" charset="-128"/>
              </a:rPr>
              <a:t>net</a:t>
            </a:r>
            <a:r>
              <a:rPr lang="en-US" dirty="0">
                <a:latin typeface="Arial" pitchFamily="34" charset="0"/>
                <a:ea typeface="ＭＳ Ｐゴシック" pitchFamily="34" charset="-128"/>
              </a:rPr>
              <a:t> refers to an amount after a subtraction. Income is both revenues and gains. </a:t>
            </a:r>
            <a:r>
              <a:rPr lang="en-US" i="1" dirty="0">
                <a:latin typeface="Arial" pitchFamily="34" charset="0"/>
                <a:ea typeface="ＭＳ Ｐゴシック" pitchFamily="34" charset="-128"/>
              </a:rPr>
              <a:t>Net</a:t>
            </a:r>
            <a:r>
              <a:rPr lang="en-US" dirty="0">
                <a:latin typeface="Arial" pitchFamily="34" charset="0"/>
                <a:ea typeface="ＭＳ Ｐゴシック" pitchFamily="34" charset="-128"/>
              </a:rPr>
              <a:t> income is the profit left over after subtracting expenses and losses from revenues and gains. Net income is the single most important item in the financial statements.</a:t>
            </a:r>
          </a:p>
          <a:p>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r>
              <a:rPr lang="en-US" dirty="0">
                <a:latin typeface="Arial" pitchFamily="34" charset="0"/>
                <a:ea typeface="ＭＳ Ｐゴシック" pitchFamily="34" charset="-128"/>
              </a:rPr>
              <a:t>An example of an income statement is shown above.</a:t>
            </a:r>
          </a:p>
          <a:p>
            <a:pPr>
              <a:lnSpc>
                <a:spcPct val="90000"/>
              </a:lnSpc>
            </a:pPr>
            <a:r>
              <a:rPr lang="en-US" dirty="0">
                <a:latin typeface="Arial" pitchFamily="34" charset="0"/>
                <a:ea typeface="ＭＳ Ｐゴシック" pitchFamily="34" charset="-128"/>
              </a:rPr>
              <a:t>This company has two kinds of revenue: Net sales and Other revenue. Revenues do not always carry the term </a:t>
            </a:r>
            <a:r>
              <a:rPr lang="en-US" i="1" dirty="0">
                <a:latin typeface="Arial" pitchFamily="34" charset="0"/>
                <a:ea typeface="ＭＳ Ｐゴシック" pitchFamily="34" charset="-128"/>
              </a:rPr>
              <a:t>revenue</a:t>
            </a:r>
            <a:r>
              <a:rPr lang="en-US" dirty="0">
                <a:latin typeface="Arial" pitchFamily="34" charset="0"/>
                <a:ea typeface="ＭＳ Ｐゴシック" pitchFamily="34" charset="-128"/>
              </a:rPr>
              <a:t> in their titles. For example, net sales revenue is often abbreviated as </a:t>
            </a:r>
            <a:r>
              <a:rPr lang="en-US" i="1" dirty="0">
                <a:latin typeface="Arial" pitchFamily="34" charset="0"/>
                <a:ea typeface="ＭＳ Ｐゴシック" pitchFamily="34" charset="-128"/>
              </a:rPr>
              <a:t>net sales</a:t>
            </a:r>
            <a:r>
              <a:rPr lang="en-US" dirty="0">
                <a:latin typeface="Arial" pitchFamily="34" charset="0"/>
                <a:ea typeface="ＭＳ Ｐゴシック" pitchFamily="34" charset="-128"/>
              </a:rPr>
              <a:t>. </a:t>
            </a:r>
            <a:r>
              <a:rPr lang="en-US" i="1" dirty="0">
                <a:latin typeface="Arial" pitchFamily="34" charset="0"/>
                <a:ea typeface="ＭＳ Ｐゴシック" pitchFamily="34" charset="-128"/>
              </a:rPr>
              <a:t>Net</a:t>
            </a:r>
            <a:r>
              <a:rPr lang="en-US" dirty="0">
                <a:latin typeface="Arial" pitchFamily="34" charset="0"/>
                <a:ea typeface="ＭＳ Ｐゴシック" pitchFamily="34" charset="-128"/>
              </a:rPr>
              <a:t> sales means sales revenue after subtracting all the goods customers have returned to the company. </a:t>
            </a:r>
          </a:p>
          <a:p>
            <a:pPr>
              <a:lnSpc>
                <a:spcPct val="90000"/>
              </a:lnSpc>
            </a:pPr>
            <a:r>
              <a:rPr lang="en-US" dirty="0">
                <a:latin typeface="Arial" pitchFamily="34" charset="0"/>
                <a:ea typeface="ＭＳ Ｐゴシック" pitchFamily="34" charset="-128"/>
              </a:rPr>
              <a:t>Not all expenses have the word expense in their title. For example, for many retailers the largest expense is for cost of goods sold. Another title of this expense is cost of sales. This expense represents the direct cost of making sales. This includes the cost of the merchandise sold to customers. </a:t>
            </a:r>
          </a:p>
          <a:p>
            <a:pPr>
              <a:lnSpc>
                <a:spcPct val="90000"/>
              </a:lnSpc>
            </a:pPr>
            <a:r>
              <a:rPr lang="en-US" dirty="0">
                <a:latin typeface="Arial" pitchFamily="34" charset="0"/>
                <a:ea typeface="ＭＳ Ｐゴシック" pitchFamily="34" charset="-128"/>
              </a:rPr>
              <a:t>Selling, general, and administrative expenses are the costs of everyday operations that are not directly related to merchandise purchases. Many expenses may be included in this category, including sales commissions paid to employees, catalogue production, mailing costs, warehousing expenses, depreciation, credit card fees, executive salaries, and other office expenses. </a:t>
            </a:r>
          </a:p>
          <a:p>
            <a:pPr>
              <a:lnSpc>
                <a:spcPct val="90000"/>
              </a:lnSpc>
            </a:pPr>
            <a:r>
              <a:rPr lang="en-US" dirty="0">
                <a:latin typeface="Arial" pitchFamily="34" charset="0"/>
                <a:ea typeface="ＭＳ Ｐゴシック" pitchFamily="34" charset="-128"/>
              </a:rPr>
              <a:t>Interest expense is the cost of borrowing money. Companies are allowed to offset items like interest income and interest expense against each other and show only the difference.</a:t>
            </a:r>
          </a:p>
          <a:p>
            <a:pPr>
              <a:lnSpc>
                <a:spcPct val="90000"/>
              </a:lnSpc>
            </a:pPr>
            <a:r>
              <a:rPr lang="en-US" dirty="0">
                <a:latin typeface="Arial" pitchFamily="34" charset="0"/>
                <a:ea typeface="ＭＳ Ｐゴシック" pitchFamily="34" charset="-128"/>
              </a:rPr>
              <a:t>Income tax expense is the expense levied on corporate income by the government as a percentage of income earned. This is often one of a corporation</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largest expenses.</a:t>
            </a:r>
            <a:endParaRPr 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Retained earnings means exactly what the term implies, that portion of net income the company has kept over a period of years. If, historically, revenue exceeds expenses, the result will be a positive balance in retained earnings. On the other hand, if, historically, expenses have exceeded sales revenues, the accumulation of these losses will result in an accumulated deficit in retained earnings (usually shown in parentheses). Net income or net loss flows from the income statement to the statement of retained earnings. </a:t>
            </a:r>
            <a:r>
              <a:rPr lang="en-AU" dirty="0">
                <a:latin typeface="Arial" pitchFamily="34" charset="0"/>
                <a:ea typeface="ＭＳ Ｐゴシック" pitchFamily="34" charset="-128"/>
              </a:rPr>
              <a:t>Net income increases retained earnings, and net losses and dividends decrease retained earnings. </a:t>
            </a:r>
            <a:endParaRPr lang="en-US" dirty="0">
              <a:latin typeface="Arial" pitchFamily="34" charset="0"/>
              <a:ea typeface="ＭＳ Ｐゴシック" pitchFamily="34" charset="-128"/>
            </a:endParaRPr>
          </a:p>
          <a:p>
            <a:endParaRPr lang="en-US" dirty="0">
              <a:latin typeface="Arial" pitchFamily="34" charset="0"/>
              <a:ea typeface="ＭＳ Ｐゴシック" pitchFamily="34" charset="-128"/>
            </a:endParaRPr>
          </a:p>
          <a:p>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statement of retained earnings:</a:t>
            </a:r>
          </a:p>
          <a:p>
            <a:r>
              <a:rPr lang="en-US" dirty="0">
                <a:latin typeface="Arial" pitchFamily="34" charset="0"/>
                <a:ea typeface="ＭＳ Ｐゴシック" pitchFamily="34" charset="-128"/>
              </a:rPr>
              <a:t>a. Opens with the beginning retained earnings balance.</a:t>
            </a:r>
          </a:p>
          <a:p>
            <a:r>
              <a:rPr lang="en-US" dirty="0">
                <a:latin typeface="Arial" pitchFamily="34" charset="0"/>
                <a:ea typeface="ＭＳ Ｐゴシック" pitchFamily="34" charset="-128"/>
              </a:rPr>
              <a:t>b. Adds net income (or subtracts net loss). Net income comes directly from the income statement.</a:t>
            </a:r>
          </a:p>
          <a:p>
            <a:r>
              <a:rPr lang="en-US" dirty="0">
                <a:latin typeface="Arial" pitchFamily="34" charset="0"/>
                <a:ea typeface="ＭＳ Ｐゴシック" pitchFamily="34" charset="-128"/>
              </a:rPr>
              <a:t>c. Subtracts dividends.</a:t>
            </a:r>
          </a:p>
          <a:p>
            <a:r>
              <a:rPr lang="en-US" dirty="0">
                <a:latin typeface="Arial" pitchFamily="34" charset="0"/>
                <a:ea typeface="ＭＳ Ｐゴシック" pitchFamily="34" charset="-128"/>
              </a:rPr>
              <a:t>d. Reports the retained earnings balance at the end of the year.</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 typical Statement of Retained Earnings shows the activity in the account. Net income increases retained earnings and dividends decrease it.</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A company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balance sheet reports three items: assets, liabilities, and owners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t>
            </a:r>
          </a:p>
          <a:p>
            <a:r>
              <a:rPr lang="en-US" dirty="0">
                <a:latin typeface="Arial" pitchFamily="34" charset="0"/>
                <a:ea typeface="ＭＳ Ｐゴシック" pitchFamily="34" charset="-128"/>
              </a:rPr>
              <a:t>a.</a:t>
            </a:r>
            <a:r>
              <a:rPr lang="en-US" b="1" dirty="0">
                <a:latin typeface="Arial" pitchFamily="34" charset="0"/>
                <a:ea typeface="ＭＳ Ｐゴシック" pitchFamily="34" charset="-128"/>
              </a:rPr>
              <a:t> </a:t>
            </a:r>
            <a:r>
              <a:rPr lang="en-US" dirty="0">
                <a:latin typeface="Arial" pitchFamily="34" charset="0"/>
                <a:ea typeface="ＭＳ Ｐゴシック" pitchFamily="34" charset="-128"/>
              </a:rPr>
              <a:t>Reports assets, liabilities, and owners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at the end of the year. </a:t>
            </a:r>
          </a:p>
          <a:p>
            <a:r>
              <a:rPr lang="en-US" dirty="0">
                <a:latin typeface="Arial" pitchFamily="34" charset="0"/>
                <a:ea typeface="ＭＳ Ｐゴシック" pitchFamily="34" charset="-128"/>
              </a:rPr>
              <a:t>b. Reports that assets equal the sum of liabilities plus owners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This balancing feature follows the accounting equation and gives the balance sheet its name.</a:t>
            </a:r>
          </a:p>
          <a:p>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80000"/>
              </a:lnSpc>
            </a:pPr>
            <a:r>
              <a:rPr lang="en-US" sz="1200" dirty="0">
                <a:latin typeface="Arial" pitchFamily="34" charset="0"/>
                <a:ea typeface="ＭＳ Ｐゴシック" pitchFamily="34" charset="-128"/>
              </a:rPr>
              <a:t>There are two main categories of assets: current and non-current. Current assets are assets that are expected to be converted to cash, sold, or consumed during the next 12 months or within the business</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operating cycle if longer than a year. Current assets include Cash and cash equivalents, Short-term investments, Accounts and Notes receivable, Merchandise inventory, and Prepaid expenses. Under IFRS, cash equivalents are referred to as short-term investments.</a:t>
            </a:r>
          </a:p>
          <a:p>
            <a:pPr>
              <a:lnSpc>
                <a:spcPct val="80000"/>
              </a:lnSpc>
            </a:pPr>
            <a:r>
              <a:rPr lang="en-US" sz="1200" dirty="0">
                <a:latin typeface="Arial" pitchFamily="34" charset="0"/>
                <a:ea typeface="ＭＳ Ｐゴシック" pitchFamily="34" charset="-128"/>
              </a:rPr>
              <a:t>All companies have cash. Cash is the liquid asset that</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the medium of exchange, and cash equivalents include money-market accounts or other financial instruments that are easily convertible to cash. </a:t>
            </a:r>
          </a:p>
          <a:p>
            <a:pPr>
              <a:lnSpc>
                <a:spcPct val="80000"/>
              </a:lnSpc>
            </a:pPr>
            <a:r>
              <a:rPr lang="en-US" sz="1200" dirty="0">
                <a:latin typeface="Arial" pitchFamily="34" charset="0"/>
                <a:ea typeface="ＭＳ Ｐゴシック" pitchFamily="34" charset="-128"/>
              </a:rPr>
              <a:t>Short-term investments include shares and bonds of other companies that the company intends to sell within the next year. Accounts receivable are amounts the company expects to collect from customers. Notes receivable are amounts a company expects to collect from a party who has signed a promissory note to that company and therefore owes it money. Merchandise inventory</a:t>
            </a:r>
            <a:r>
              <a:rPr lang="en-US" sz="1200" dirty="0">
                <a:solidFill>
                  <a:srgbClr val="FF0000"/>
                </a:solidFill>
                <a:latin typeface="Arial" pitchFamily="34" charset="0"/>
                <a:ea typeface="ＭＳ Ｐゴシック" pitchFamily="34" charset="-128"/>
              </a:rPr>
              <a:t> i</a:t>
            </a:r>
            <a:r>
              <a:rPr lang="en-US" sz="1200" dirty="0">
                <a:latin typeface="Arial" pitchFamily="34" charset="0"/>
                <a:ea typeface="ＭＳ Ｐゴシック" pitchFamily="34" charset="-128"/>
              </a:rPr>
              <a:t>s a retailer</a:t>
            </a:r>
            <a:r>
              <a:rPr lang="ja-JP" altLang="en-US" sz="1200" dirty="0">
                <a:latin typeface="Arial" pitchFamily="34" charset="0"/>
                <a:ea typeface="ＭＳ Ｐゴシック" pitchFamily="34" charset="-128"/>
              </a:rPr>
              <a:t>’</a:t>
            </a:r>
            <a:r>
              <a:rPr lang="en-US" altLang="ja-JP" sz="1200" dirty="0">
                <a:latin typeface="Arial" pitchFamily="34" charset="0"/>
                <a:ea typeface="ＭＳ Ｐゴシック" pitchFamily="34" charset="-128"/>
              </a:rPr>
              <a:t>s most important, and probably the largest, current asset. Prepaid expenses represent amounts paid in advance for advertisements, rent, insurance, and supplies. Prepaid expenses are current assets because the company will benefit from these expenditures in the next fiscal year. </a:t>
            </a:r>
          </a:p>
          <a:p>
            <a:pPr>
              <a:lnSpc>
                <a:spcPct val="80000"/>
              </a:lnSpc>
            </a:pPr>
            <a:r>
              <a:rPr lang="en-US" sz="1200" dirty="0">
                <a:latin typeface="Arial" pitchFamily="34" charset="0"/>
                <a:ea typeface="ＭＳ Ｐゴシック" pitchFamily="34" charset="-128"/>
              </a:rPr>
              <a:t>The main categories of non-current assets are Property and equipment (also called plant assets), and intangibles assets such as goodwill. Long-term assets may also include other investments that are expected to benefit the company for long periods of time.</a:t>
            </a:r>
          </a:p>
          <a:p>
            <a:pPr>
              <a:lnSpc>
                <a:spcPct val="80000"/>
              </a:lnSpc>
            </a:pPr>
            <a:r>
              <a:rPr lang="en-US" sz="1200" dirty="0">
                <a:latin typeface="Arial" pitchFamily="34" charset="0"/>
                <a:ea typeface="ＭＳ Ｐゴシック" pitchFamily="34" charset="-128"/>
              </a:rPr>
              <a:t>Property and equipment includes land, buildings, computers, store fixtures, and equipment. Intangibles are assets with no physical form, such as patents, trademarks, and goodwill. Long-term investments are those investments the company does not intend to sell within the next year. Other assets is a catchall category for assets that are difficult to classify.</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Liabilities are also divided into current and long-term categories. Current liabilities are debts payable within one year or within an operating cycle if longer than a year. Chief among the current liabilities are Current maturities of long-term debt, Accounts payable, Accrued expenses payable, Federal and provincial income taxes payable, and other liabilities like short-term notes payable.</a:t>
            </a:r>
            <a:r>
              <a:rPr lang="en-US" dirty="0">
                <a:solidFill>
                  <a:srgbClr val="FF0000"/>
                </a:solidFill>
                <a:latin typeface="Arial" pitchFamily="34" charset="0"/>
                <a:ea typeface="ＭＳ Ｐゴシック" pitchFamily="34" charset="-128"/>
              </a:rPr>
              <a:t> </a:t>
            </a:r>
            <a:r>
              <a:rPr lang="en-US" dirty="0">
                <a:latin typeface="Arial" pitchFamily="34" charset="0"/>
                <a:ea typeface="ＭＳ Ｐゴシック" pitchFamily="34" charset="-128"/>
              </a:rPr>
              <a:t>Long-term liabilities are payable after one year. </a:t>
            </a:r>
            <a:endParaRPr lang="en-US" dirty="0">
              <a:solidFill>
                <a:srgbClr val="FF0000"/>
              </a:solidFill>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assets (resources) and the liabilities (debts) of a company are fairly easy to understand. Owners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is harder to pin down. Owners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is simple to calculate, but what does it mean? A corporation calls its owners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Shareholders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and this title is descriptive. Remember that a company</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owners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equity represents the shareholders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ownership of the business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assets. A corporation</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equity consists of:</a:t>
            </a:r>
          </a:p>
          <a:p>
            <a:pPr>
              <a:buFontTx/>
              <a:buAutoNum type="arabicParenR"/>
            </a:pPr>
            <a:r>
              <a:rPr lang="en-US" dirty="0">
                <a:latin typeface="Arial" pitchFamily="34" charset="0"/>
                <a:ea typeface="ＭＳ Ｐゴシック" pitchFamily="34" charset="-128"/>
              </a:rPr>
              <a:t> Common shares, which is shares issued to shareholders . This amount represents the face amount of the shares. </a:t>
            </a:r>
          </a:p>
          <a:p>
            <a:r>
              <a:rPr lang="en-US" dirty="0">
                <a:latin typeface="Arial" pitchFamily="34" charset="0"/>
                <a:ea typeface="ＭＳ Ｐゴシック" pitchFamily="34" charset="-128"/>
              </a:rPr>
              <a:t>2) Retained earnings is the amount earned by income-producing activities and kept for use in the business. Retained earnings</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 final resting place is the balance sheet.</a:t>
            </a:r>
            <a:endParaRPr lang="en-US"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This is an example of a template for a corporate balance sheet</a:t>
            </a:r>
            <a:r>
              <a:rPr lang="en-US" dirty="0">
                <a:solidFill>
                  <a:srgbClr val="000000"/>
                </a:solidFill>
                <a:latin typeface="Arial" pitchFamily="34" charset="0"/>
                <a:ea typeface="ＭＳ Ｐゴシック" pitchFamily="34" charset="-128"/>
              </a:rPr>
              <a:t>. Each classification in the assets and liabilities is subtotaled and then the subtotals are combined to result in the total for the section. The total assets will always equal the total liabilities plus shareholders</a:t>
            </a:r>
            <a:r>
              <a:rPr lang="en-US" altLang="en-US" dirty="0">
                <a:solidFill>
                  <a:srgbClr val="000000"/>
                </a:solidFill>
                <a:latin typeface="Arial" pitchFamily="34" charset="0"/>
                <a:ea typeface="ＭＳ Ｐゴシック" pitchFamily="34" charset="-128"/>
              </a:rPr>
              <a:t>’</a:t>
            </a:r>
            <a:r>
              <a:rPr lang="en-US" dirty="0">
                <a:solidFill>
                  <a:srgbClr val="000000"/>
                </a:solidFill>
                <a:latin typeface="Arial" pitchFamily="34" charset="0"/>
                <a:ea typeface="ＭＳ Ｐゴシック" pitchFamily="34" charset="-128"/>
              </a:rPr>
              <a:t> equity.</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7000698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970256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Statement of Cash Flows measures cash receipts and cash payments</a:t>
            </a:r>
            <a:r>
              <a:rPr lang="en-US" dirty="0">
                <a:solidFill>
                  <a:srgbClr val="FF0000"/>
                </a:solidFill>
                <a:latin typeface="Arial" pitchFamily="34" charset="0"/>
                <a:ea typeface="ＭＳ Ｐゴシック" pitchFamily="34" charset="-128"/>
              </a:rPr>
              <a:t>. </a:t>
            </a:r>
            <a:r>
              <a:rPr lang="en-US" dirty="0">
                <a:latin typeface="Arial" pitchFamily="34" charset="0"/>
                <a:ea typeface="ＭＳ Ｐゴシック" pitchFamily="34" charset="-128"/>
              </a:rPr>
              <a:t>Companies engage in three types of activities: operating, investing, and financing.</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latin typeface="Arial" pitchFamily="34" charset="0"/>
                <a:ea typeface="ＭＳ Ｐゴシック" pitchFamily="34" charset="-128"/>
              </a:rPr>
              <a:t>Operating activities. </a:t>
            </a:r>
            <a:r>
              <a:rPr lang="en-US" dirty="0">
                <a:latin typeface="Arial" pitchFamily="34" charset="0"/>
                <a:ea typeface="ＭＳ Ｐゴシック" pitchFamily="34" charset="-128"/>
              </a:rPr>
              <a:t>Companies operate by selling goods and services to customers. Operating activities result in net income or net loss, and they either increase or decrease cash. The income statement tells whether the company is profitable. The statement of cash flows reports whether operations increased the company's cash balances. Operating activities are most important, and they should be the company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main source of cash. Continuing negative cash flow from operations can lead to bankruptcy.</a:t>
            </a:r>
          </a:p>
          <a:p>
            <a:r>
              <a:rPr lang="en-US" b="1" dirty="0">
                <a:latin typeface="Arial" pitchFamily="34" charset="0"/>
                <a:ea typeface="ＭＳ Ｐゴシック" pitchFamily="34" charset="-128"/>
              </a:rPr>
              <a:t>Investing activities. </a:t>
            </a:r>
            <a:r>
              <a:rPr lang="en-US" dirty="0">
                <a:latin typeface="Arial" pitchFamily="34" charset="0"/>
                <a:ea typeface="ＭＳ Ｐゴシック" pitchFamily="34" charset="-128"/>
              </a:rPr>
              <a:t>Companies invest in long-term assets. A company buys fixtures and equipment, and when these assets wear out, the company sells them. Both purchases and sales of long-term assets are investing cash flows. Investing cash flows are the next most important after operations.</a:t>
            </a:r>
          </a:p>
          <a:p>
            <a:r>
              <a:rPr lang="en-US" b="1" dirty="0">
                <a:latin typeface="Arial" pitchFamily="34" charset="0"/>
                <a:ea typeface="ＭＳ Ｐゴシック" pitchFamily="34" charset="-128"/>
              </a:rPr>
              <a:t>Financing activities. </a:t>
            </a:r>
            <a:r>
              <a:rPr lang="en-US" dirty="0">
                <a:latin typeface="Arial" pitchFamily="34" charset="0"/>
                <a:ea typeface="ＭＳ Ｐゴシック" pitchFamily="34" charset="-128"/>
              </a:rPr>
              <a:t>Companies need money for financing. Financing includes issuing shares, paying dividends, borrowing, and repayments of borrowed funds. The company may also pay loans and repurchase its own shares.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 CF</a:t>
            </a:r>
          </a:p>
          <a:p>
            <a:r>
              <a:rPr lang="en-US" dirty="0"/>
              <a:t>I RE</a:t>
            </a:r>
          </a:p>
          <a:p>
            <a:r>
              <a:rPr lang="en-US" dirty="0"/>
              <a:t>B B</a:t>
            </a:r>
          </a:p>
          <a:p>
            <a:r>
              <a:rPr lang="en-US" dirty="0"/>
              <a:t>I I</a:t>
            </a:r>
          </a:p>
          <a:p>
            <a:r>
              <a:rPr lang="en-US" dirty="0"/>
              <a:t>B I</a:t>
            </a:r>
          </a:p>
          <a:p>
            <a:r>
              <a:rPr lang="en-US" dirty="0"/>
              <a:t>CF B</a:t>
            </a:r>
          </a:p>
          <a:p>
            <a:r>
              <a:rPr lang="en-US" dirty="0"/>
              <a:t>I CF</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0236908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CA" dirty="0">
                <a:latin typeface="Arial" pitchFamily="34" charset="0"/>
                <a:ea typeface="ＭＳ Ｐゴシック" pitchFamily="34" charset="-128"/>
              </a:rPr>
              <a:t>At the bottom of each financial statement is this reminder to users: </a:t>
            </a:r>
            <a:r>
              <a:rPr lang="en-CA" i="1" dirty="0">
                <a:latin typeface="Arial" pitchFamily="34" charset="0"/>
                <a:ea typeface="ＭＳ Ｐゴシック" pitchFamily="34" charset="-128"/>
              </a:rPr>
              <a:t>The accompanying notes are an integral part of these consolidated financial statements. </a:t>
            </a:r>
            <a:endParaRPr lang="en-US" i="1"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a:latin typeface="Arial" pitchFamily="34" charset="0"/>
                <a:ea typeface="ＭＳ Ｐゴシック" pitchFamily="34" charset="-128"/>
              </a:rPr>
              <a:t>All publicly accountable enterprises in Canada must have their financial statements audited.</a:t>
            </a:r>
          </a:p>
          <a:p>
            <a:r>
              <a:rPr lang="en-CA" dirty="0">
                <a:latin typeface="Arial" pitchFamily="34" charset="0"/>
                <a:ea typeface="ＭＳ Ｐゴシック" pitchFamily="34" charset="-128"/>
              </a:rPr>
              <a:t>Many private companies are also required by government incorporation acts, creditors, or other financial statement users to have their financial statements audited. When financial statement users see an auditor</a:t>
            </a:r>
            <a:r>
              <a:rPr lang="en-CA" altLang="en-US" dirty="0">
                <a:latin typeface="Arial" pitchFamily="34" charset="0"/>
                <a:ea typeface="ＭＳ Ｐゴシック" pitchFamily="34" charset="-128"/>
              </a:rPr>
              <a:t>’</a:t>
            </a:r>
            <a:r>
              <a:rPr lang="en-CA" dirty="0">
                <a:latin typeface="Arial" pitchFamily="34" charset="0"/>
                <a:ea typeface="ＭＳ Ｐゴシック" pitchFamily="34" charset="-128"/>
              </a:rPr>
              <a:t>s report stating that the accompanying financial statements are fairly presented in accordance with GAAP, they have reasonable assurance they can rely on the financial information to make sound decisions.</a:t>
            </a:r>
          </a:p>
          <a:p>
            <a:endParaRPr lang="en-CA" dirty="0">
              <a:latin typeface="Arial" pitchFamily="34" charset="0"/>
              <a:ea typeface="ＭＳ Ｐゴシック" pitchFamily="34" charset="-128"/>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Arial" pitchFamily="34" charset="0"/>
                <a:ea typeface="ＭＳ Ｐゴシック" pitchFamily="34" charset="-128"/>
              </a:rPr>
              <a:t>The third learning objective is to prepare</a:t>
            </a:r>
            <a:r>
              <a:rPr lang="en-CA" dirty="0">
                <a:ea typeface="ＭＳ Ｐゴシック" pitchFamily="34" charset="-128"/>
              </a:rPr>
              <a:t> financial statements and analyze the relationships among them.</a:t>
            </a:r>
            <a:endParaRPr lang="en-US" dirty="0">
              <a:solidFill>
                <a:schemeClr val="tx1"/>
              </a:solidFil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following diagram shows how the data flow from one financial statement to the next. The order is important.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7494990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This slide shows how the net income from the Income Statement flows to the Statement of Retained Earnings.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ending retained earnings balance from the Statement of Retained Earnings flows to the Shareholders</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 Equity section of the Balance Sheet.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pitchFamily="34" charset="0"/>
                <a:ea typeface="ＭＳ Ｐゴシック" pitchFamily="34" charset="-128"/>
              </a:rPr>
              <a:t>The cash balance in the asset section of the Balance Sheet matches the ending cash balance in the Statement of Cash Flows.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fourth learning objective is to explain </a:t>
            </a:r>
            <a:r>
              <a:rPr lang="en-CA" dirty="0"/>
              <a:t>and </a:t>
            </a:r>
            <a:r>
              <a:rPr lang="en-CA" b="0" dirty="0"/>
              <a:t>apply</a:t>
            </a:r>
            <a:r>
              <a:rPr lang="en-CA" dirty="0"/>
              <a:t> underlying accounting concepts, assumptions, and principles. </a:t>
            </a:r>
            <a:endParaRPr lang="en-US"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itchFamily="34" charset="0"/>
                <a:ea typeface="ＭＳ Ｐゴシック" pitchFamily="34" charset="-128"/>
              </a:rPr>
              <a:t>This diagram gives an overview of the joint conceptual framework of accounting developed by the FASB and the IASB. Financial reporting standards, at the bottom, follow the conceptual framework. The overall objective of accounting is to provide financial information about the reporting entity that is useful to existing and potential investors, lenders, and other creditors in making decisions.</a:t>
            </a:r>
          </a:p>
          <a:p>
            <a:r>
              <a:rPr lang="en-US" sz="1200" dirty="0">
                <a:latin typeface="Arial" pitchFamily="34" charset="0"/>
                <a:ea typeface="ＭＳ Ｐゴシック" pitchFamily="34" charset="-128"/>
              </a:rPr>
              <a:t>To be useful, information must have the fundamental qualitative characteristics. Those include relevance and faithful representation.</a:t>
            </a:r>
          </a:p>
          <a:p>
            <a:r>
              <a:rPr lang="en-US" sz="1200" dirty="0">
                <a:latin typeface="Arial" pitchFamily="34" charset="0"/>
                <a:ea typeface="ＭＳ Ｐゴシック" pitchFamily="34" charset="-128"/>
              </a:rPr>
              <a:t>To be relevant, information must be capable of making a difference to the decision maker, having predictive or confirming value. In addition, the information must be material, which means it must be important enough to the informed user so that, if it were omitted or erroneous, it would make a difference in the user</a:t>
            </a:r>
            <a:r>
              <a:rPr lang="en-US" altLang="en-US" sz="1200" dirty="0">
                <a:latin typeface="Arial" pitchFamily="34" charset="0"/>
                <a:ea typeface="ＭＳ Ｐゴシック" pitchFamily="34" charset="-128"/>
              </a:rPr>
              <a:t>’</a:t>
            </a:r>
            <a:r>
              <a:rPr lang="en-US" sz="1200" dirty="0">
                <a:latin typeface="Arial" pitchFamily="34" charset="0"/>
                <a:ea typeface="ＭＳ Ｐゴシック" pitchFamily="34" charset="-128"/>
              </a:rPr>
              <a:t>s decision. To faithfully represent, the information must be complete, neutral (free from bias), and without material error (accurate). Accounting information must focus on the economic substance of a transaction, event, or circumstance, which may or may not always be the same as its legal form. Faithful representation makes the information reliable to users</a:t>
            </a:r>
            <a:r>
              <a:rPr lang="en-US" sz="1200" i="1" dirty="0">
                <a:latin typeface="Arial" pitchFamily="34" charset="0"/>
                <a:ea typeface="ＭＳ Ｐゴシック" pitchFamily="34" charset="-128"/>
              </a:rPr>
              <a:t>. </a:t>
            </a:r>
          </a:p>
          <a:p>
            <a:r>
              <a:rPr lang="en-US" sz="1200" dirty="0">
                <a:latin typeface="Arial" pitchFamily="34" charset="0"/>
                <a:ea typeface="ＭＳ Ｐゴシック" pitchFamily="34" charset="-128"/>
              </a:rPr>
              <a:t>Accounting information must also have a number of enhancing qualitative characteristics. These include comparability, verifiability, timeliness, and understandability.</a:t>
            </a:r>
          </a:p>
          <a:p>
            <a:r>
              <a:rPr lang="en-US" sz="1200" dirty="0">
                <a:latin typeface="Arial" pitchFamily="34" charset="0"/>
                <a:ea typeface="ＭＳ Ｐゴシック" pitchFamily="34" charset="-128"/>
              </a:rPr>
              <a:t>Comparability means that the accounting information for a company must be prepared in such a way as to be capable of being both compared with information from other companies in the same period and consistent with similar information for that company in previous periods. Verifiability means that the information must be capable of being checked for accuracy, completeness, and reliability. The process of verifying information is often done by internal as well as external auditors. Verifiability enhances the reliability of information, and thus makes the information more representative of economic reality. Timeliness means that the information must be made available to users early enough to help them make decisions, thus making the information more relevant to their needs. Understandability means that the information must be sufficiently transparent so that it makes sense to reasonably informed users of the information (investors, creditors, regulatory agencies, and managers).</a:t>
            </a:r>
          </a:p>
          <a:p>
            <a:r>
              <a:rPr lang="en-US" sz="1200" dirty="0">
                <a:latin typeface="Arial" pitchFamily="34" charset="0"/>
                <a:ea typeface="ＭＳ Ｐゴシック" pitchFamily="34" charset="-128"/>
              </a:rPr>
              <a:t>Accounting information is costly to produce. A primary constraint in the decision to disclose accounting information is that the cost of disclosure should not exceed the expected benefits to users. Management of an entity is primarily responsible for preparing accounting information. Managers must exercise judgment in determining whether the information is necessary for complete understanding of underlying economic facts and not excessively costly to provide.</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538505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latin typeface="Arial" pitchFamily="34" charset="0"/>
                <a:ea typeface="ＭＳ Ｐゴシック" pitchFamily="34" charset="-128"/>
              </a:rPr>
              <a:t>Going-Concern assumption. </a:t>
            </a:r>
            <a:r>
              <a:rPr lang="en-US" dirty="0">
                <a:latin typeface="Arial" pitchFamily="34" charset="0"/>
                <a:ea typeface="ＭＳ Ｐゴシック" pitchFamily="34" charset="-128"/>
              </a:rPr>
              <a:t>In measuring and reporting accounting information, we assume that the entity will continue to operate long enough to use existing assets—land, buildings, equipment, and supplies—for its intended purposes. This is called the continuity (going-concern) assumption. </a:t>
            </a:r>
          </a:p>
          <a:p>
            <a:r>
              <a:rPr lang="en-US" b="1" dirty="0">
                <a:latin typeface="Arial" pitchFamily="34" charset="0"/>
                <a:ea typeface="ＭＳ Ｐゴシック" pitchFamily="34" charset="-128"/>
              </a:rPr>
              <a:t>Separate-Entity assumption. </a:t>
            </a:r>
            <a:r>
              <a:rPr lang="en-US" dirty="0">
                <a:latin typeface="Arial" pitchFamily="34" charset="0"/>
                <a:ea typeface="ＭＳ Ｐゴシック" pitchFamily="34" charset="-128"/>
              </a:rPr>
              <a:t>The most basic accounting assumption is the entity, which is any organization that stands apart as a separate economic unit. Sharp boundaries are drawn around each entity so as not to confuse its affairs with those of others. </a:t>
            </a:r>
            <a:endParaRPr lang="en-US" dirty="0">
              <a:solidFill>
                <a:srgbClr val="FF0000"/>
              </a:solidFill>
              <a:latin typeface="Arial" pitchFamily="34" charset="0"/>
              <a:ea typeface="ＭＳ Ｐゴシック" pitchFamily="34" charset="-128"/>
            </a:endParaRPr>
          </a:p>
          <a:p>
            <a:r>
              <a:rPr lang="en-US" b="1" dirty="0">
                <a:latin typeface="Arial" pitchFamily="34" charset="0"/>
                <a:ea typeface="ＭＳ Ｐゴシック" pitchFamily="34" charset="-128"/>
              </a:rPr>
              <a:t>Historical-Cost principle.</a:t>
            </a:r>
            <a:r>
              <a:rPr lang="en-US" dirty="0">
                <a:latin typeface="Arial" pitchFamily="34" charset="0"/>
                <a:ea typeface="ＭＳ Ｐゴシック" pitchFamily="34" charset="-128"/>
              </a:rPr>
              <a:t> The historical cost principle states that assets should be recorded at their actual cost, measured on the date of purchase as the amount of cash paid plus the dollar value of all non-cash consideration (other assets, privileges, or rights) also given in exchange. The historical cost principle is not used as pervasively in Canada as it once was. Accounting is moving in the direction of reporting more and more assets and liabilities at their fair values. Fair value is the amount that the business could sell the asset for, or the amount that the business could pay to settle the liability.</a:t>
            </a:r>
          </a:p>
          <a:p>
            <a:r>
              <a:rPr lang="en-US" b="1" dirty="0">
                <a:latin typeface="Arial" pitchFamily="34" charset="0"/>
                <a:ea typeface="ＭＳ Ｐゴシック" pitchFamily="34" charset="-128"/>
              </a:rPr>
              <a:t>Stable monetary unit assumption. </a:t>
            </a:r>
            <a:r>
              <a:rPr lang="en-US" dirty="0">
                <a:latin typeface="Arial" pitchFamily="34" charset="0"/>
                <a:ea typeface="ＭＳ Ｐゴシック" pitchFamily="34" charset="-128"/>
              </a:rPr>
              <a:t>Under the stable monetary unit assumption, accountants assume that the dollar</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purchasing power is stable over time.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477272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257194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13843667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22149935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fifth learning objective is to </a:t>
            </a:r>
            <a:r>
              <a:rPr lang="en-US" dirty="0">
                <a:latin typeface="+mn-lt"/>
                <a:ea typeface="ＭＳ Ｐゴシック" pitchFamily="34" charset="-128"/>
              </a:rPr>
              <a:t>e</a:t>
            </a:r>
            <a:r>
              <a:rPr lang="en-US" dirty="0">
                <a:ea typeface="ＭＳ Ｐゴシック" pitchFamily="34" charset="-128"/>
              </a:rPr>
              <a:t>thically</a:t>
            </a:r>
            <a:r>
              <a:rPr lang="en-US" b="1" dirty="0">
                <a:ea typeface="ＭＳ Ｐゴシック" pitchFamily="34" charset="-128"/>
              </a:rPr>
              <a:t> </a:t>
            </a:r>
            <a:r>
              <a:rPr lang="en-US" b="0" dirty="0">
                <a:ea typeface="ＭＳ Ｐゴシック" pitchFamily="34" charset="-128"/>
              </a:rPr>
              <a:t>evaluate </a:t>
            </a:r>
            <a:r>
              <a:rPr lang="en-US" dirty="0">
                <a:ea typeface="ＭＳ Ｐゴシック" pitchFamily="34" charset="-128"/>
              </a:rPr>
              <a:t>business decisions.</a:t>
            </a:r>
            <a:endParaRPr lang="en-US"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34" charset="0"/>
                <a:ea typeface="ＭＳ Ｐゴシック" pitchFamily="34" charset="-128"/>
              </a:rPr>
              <a:t>Good business requires decision making, which in turn requires the exercise of good judgment, both at the individual and corporate levels. What are the factors that influence business and accounting decisions, and how should these factors be weighed? Generally, three factors influence business and accounting decisions: economic, legal, and ethical.</a:t>
            </a:r>
          </a:p>
          <a:p>
            <a:r>
              <a:rPr lang="en-US" dirty="0">
                <a:latin typeface="Arial" pitchFamily="34" charset="0"/>
                <a:ea typeface="ＭＳ Ｐゴシック" pitchFamily="34" charset="-128"/>
              </a:rPr>
              <a:t>The economic factor states that the decision being made should maximize the economic benefits to the decision maker. Based on economic theory, every rational person faced with a decision will choose the course of action that maximizes his or her own welfare, without regard to how that decision impacts others. In summary, the combined outcome of each person acting in his or her own self-interest will maximize the benefits to society as a whole.</a:t>
            </a:r>
          </a:p>
          <a:p>
            <a:r>
              <a:rPr lang="en-US" dirty="0">
                <a:latin typeface="Arial" pitchFamily="34" charset="0"/>
                <a:ea typeface="ＭＳ Ｐゴシック" pitchFamily="34" charset="-128"/>
              </a:rPr>
              <a:t>The legal factor is based on the proposition that free societies are governed by laws. Laws are written to provide clarity and to prevent abuse of the rights of individuals or society. Democratically enacted laws both contain and express society</a:t>
            </a:r>
            <a:r>
              <a:rPr lang="en-US" altLang="en-US" dirty="0">
                <a:latin typeface="Arial" pitchFamily="34" charset="0"/>
                <a:ea typeface="ＭＳ Ｐゴシック" pitchFamily="34" charset="-128"/>
              </a:rPr>
              <a:t>’</a:t>
            </a:r>
            <a:r>
              <a:rPr lang="en-US" dirty="0">
                <a:latin typeface="Arial" pitchFamily="34" charset="0"/>
                <a:ea typeface="ＭＳ Ｐゴシック" pitchFamily="34" charset="-128"/>
              </a:rPr>
              <a:t>s collective moral standards. Legal analysis involves applying the relevant laws to each decision, and then choosing the action that complies with those laws. A complicating factor for a global business may be that what is legal in one country might not be legal in another. In that case, it is usually best to abide by the laws of the most restrictive country.</a:t>
            </a:r>
          </a:p>
          <a:p>
            <a:r>
              <a:rPr lang="en-US" dirty="0">
                <a:latin typeface="Arial" pitchFamily="34" charset="0"/>
                <a:ea typeface="ＭＳ Ｐゴシック" pitchFamily="34" charset="-128"/>
              </a:rPr>
              <a:t>The ethical factor recognizes that while certain actions might be both economically profitable and legal, they may still not be right. Therefore, most companies, and many individuals, have established standards for themselves to enforce a higher level of conduct than that imposed by law. These standards govern how we treat others and the way we restrain our selfish desires. This behaviour and its underlying beliefs are the essence of ethics.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873109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latin typeface="Arial" pitchFamily="34" charset="0"/>
                <a:ea typeface="ＭＳ Ｐゴシック" pitchFamily="34" charset="-128"/>
              </a:rPr>
              <a:t>An ethical analysis is often needed to guide judgment when making business decisions. When performing an ethical analysis, our challenge is to identify our specific ethical responsibilities and the stakeholders to whom we owe these responsibilities.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Weighing tough ethical judgments in business and accounting requires a decision framework. Answering these four questions will guide you through tough decisions.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CA" dirty="0">
                <a:latin typeface="Arial" pitchFamily="34" charset="0"/>
                <a:ea typeface="ＭＳ Ｐゴシック" pitchFamily="34" charset="-128"/>
              </a:rPr>
              <a:t>Accountants must often use professional judgment when applying IFRS and ASPE because many accounting standards do not have clear-cut rules that specify how transactions or events should be accounted for. </a:t>
            </a:r>
          </a:p>
          <a:p>
            <a:pPr>
              <a:defRPr/>
            </a:pPr>
            <a:endParaRPr lang="en-CA" dirty="0">
              <a:latin typeface="Arial" pitchFamily="34" charset="0"/>
              <a:ea typeface="ＭＳ Ｐゴシック" pitchFamily="34" charset="-128"/>
            </a:endParaRPr>
          </a:p>
          <a:p>
            <a:pPr>
              <a:defRPr/>
            </a:pPr>
            <a:r>
              <a:rPr lang="en-CA" dirty="0"/>
              <a:t>Professional accountants are governed by rules of professional conduct, which provide guidance meant to ensure that ethical standards are upheld when applying professional judgment.</a:t>
            </a:r>
          </a:p>
          <a:p>
            <a:pPr>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The sixth learning objective is to i</a:t>
            </a:r>
            <a:r>
              <a:rPr lang="en-US" dirty="0">
                <a:ea typeface="ＭＳ Ｐゴシック" pitchFamily="34" charset="-128"/>
              </a:rPr>
              <a:t>dentify tools and technologies used in accounting and business</a:t>
            </a:r>
            <a:r>
              <a:rPr lang="en-US" dirty="0">
                <a:latin typeface="Arial" pitchFamily="34" charset="0"/>
                <a:ea typeface="ＭＳ Ｐゴシック" pitchFamily="34" charset="-128"/>
              </a:rPr>
              <a:t>.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1456010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5988007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1059144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This concludes Chapter One.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9/4/25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9/4/25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9/4/25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9/4/25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9/4/25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33192466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9/4/25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11201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Figures+Tabl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7" name="Content Placeholder 6"/>
          <p:cNvSpPr>
            <a:spLocks noGrp="1"/>
          </p:cNvSpPr>
          <p:nvPr>
            <p:ph sz="quarter" idx="14"/>
          </p:nvPr>
        </p:nvSpPr>
        <p:spPr>
          <a:xfrm>
            <a:off x="457200" y="5410200"/>
            <a:ext cx="8229600" cy="758952"/>
          </a:xfrm>
        </p:spPr>
        <p:txBody>
          <a:bodyPr/>
          <a:lstStyle>
            <a:lvl1pPr marL="0" indent="0">
              <a:buNone/>
              <a:defRPr/>
            </a:lvl1pPr>
          </a:lstStyle>
          <a:p>
            <a:pPr lvl="0"/>
            <a:endParaRPr lang="en-US" dirty="0"/>
          </a:p>
        </p:txBody>
      </p:sp>
      <p:sp>
        <p:nvSpPr>
          <p:cNvPr id="4" name="Content Placeholder 3"/>
          <p:cNvSpPr>
            <a:spLocks noGrp="1"/>
          </p:cNvSpPr>
          <p:nvPr>
            <p:ph sz="quarter" idx="13"/>
          </p:nvPr>
        </p:nvSpPr>
        <p:spPr>
          <a:xfrm>
            <a:off x="457200" y="4495800"/>
            <a:ext cx="8229600" cy="762000"/>
          </a:xfrm>
        </p:spPr>
        <p:txBody>
          <a:bodyPr/>
          <a:lstStyle>
            <a:lvl1pPr marL="0" indent="0">
              <a:buNone/>
              <a:defRPr/>
            </a:lvl1pPr>
          </a:lstStyle>
          <a:p>
            <a:pPr lvl="0"/>
            <a:endParaRPr lang="en-US" dirty="0"/>
          </a:p>
        </p:txBody>
      </p:sp>
      <p:sp>
        <p:nvSpPr>
          <p:cNvPr id="3" name="Content Placeholder 2"/>
          <p:cNvSpPr>
            <a:spLocks noGrp="1"/>
          </p:cNvSpPr>
          <p:nvPr>
            <p:ph idx="1"/>
          </p:nvPr>
        </p:nvSpPr>
        <p:spPr>
          <a:xfrm>
            <a:off x="457200" y="1600201"/>
            <a:ext cx="8229600" cy="762000"/>
          </a:xfrm>
        </p:spPr>
        <p:txBody>
          <a:bodyPr/>
          <a:lstStyle>
            <a:lvl1pPr marL="0" indent="0">
              <a:buClr>
                <a:srgbClr val="007FA3"/>
              </a:buClr>
              <a:buSzPct val="100000"/>
              <a:buNone/>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a:prstGeom prst="rect">
            <a:avLst/>
          </a:prstGeom>
        </p:spPr>
        <p:txBody>
          <a:bodyPr/>
          <a:lstStyle/>
          <a:p>
            <a:fld id="{A9DF6EFB-3F44-496C-A842-1E0B3D3B975A}" type="datetimeFigureOut">
              <a:rPr lang="en-US" smtClean="0"/>
              <a:pPr/>
              <a:t>9/4/25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517804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9/4/25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Slide Number Placeholder 4">
            <a:extLst>
              <a:ext uri="{FF2B5EF4-FFF2-40B4-BE49-F238E27FC236}">
                <a16:creationId xmlns:a16="http://schemas.microsoft.com/office/drawing/2014/main" id="{DFBC919D-1387-4E7F-9921-50D5CB185BC0}"/>
              </a:ext>
            </a:extLst>
          </p:cNvPr>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3" name="TextBox 2">
            <a:extLst>
              <a:ext uri="{FF2B5EF4-FFF2-40B4-BE49-F238E27FC236}">
                <a16:creationId xmlns:a16="http://schemas.microsoft.com/office/drawing/2014/main" id="{50A923B2-D959-D01D-540F-20374836ADC2}"/>
              </a:ext>
            </a:extLst>
          </p:cNvPr>
          <p:cNvSpPr txBox="1"/>
          <p:nvPr userDrawn="1"/>
        </p:nvSpPr>
        <p:spPr>
          <a:xfrm>
            <a:off x="1600200" y="6429345"/>
            <a:ext cx="6553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Canada Inc</a:t>
            </a:r>
            <a:r>
              <a:rPr lang="en-US" altLang="en-US" sz="700" b="1"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94108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6"/>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 id="2147483724" r:id="rId23"/>
    <p:sldLayoutId id="2147483725"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1</a:t>
            </a:r>
            <a:br>
              <a:rPr lang="en-US" sz="4400" dirty="0"/>
            </a:br>
            <a:r>
              <a:rPr lang="en-US" sz="4400" dirty="0"/>
              <a:t>The Financial Statements</a:t>
            </a:r>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p:txBody>
          <a:bodyPr/>
          <a:lstStyle/>
          <a:p>
            <a:r>
              <a:rPr lang="en-US" dirty="0"/>
              <a:t>Chapter 1 Learning Objectives</a:t>
            </a:r>
          </a:p>
        </p:txBody>
      </p:sp>
      <p:sp>
        <p:nvSpPr>
          <p:cNvPr id="3" name="Content Placeholder 2">
            <a:extLst>
              <a:ext uri="{FF2B5EF4-FFF2-40B4-BE49-F238E27FC236}">
                <a16:creationId xmlns:a16="http://schemas.microsoft.com/office/drawing/2014/main" id="{1F3005F3-EEB6-48A4-95A6-F8BE0481792D}"/>
              </a:ext>
            </a:extLst>
          </p:cNvPr>
          <p:cNvSpPr>
            <a:spLocks noGrp="1"/>
          </p:cNvSpPr>
          <p:nvPr>
            <p:ph idx="1"/>
          </p:nvPr>
        </p:nvSpPr>
        <p:spPr/>
        <p:txBody>
          <a:bodyPr/>
          <a:lstStyle/>
          <a:p>
            <a:pPr marL="457200" indent="-457200">
              <a:buFont typeface="+mj-lt"/>
              <a:buAutoNum type="arabicPeriod"/>
            </a:pPr>
            <a:r>
              <a:rPr lang="en-CA" b="1" dirty="0">
                <a:ea typeface="ＭＳ Ｐゴシック" pitchFamily="34" charset="-128"/>
              </a:rPr>
              <a:t>Explain </a:t>
            </a:r>
            <a:r>
              <a:rPr lang="en-CA" dirty="0">
                <a:ea typeface="ＭＳ Ｐゴシック" pitchFamily="34" charset="-128"/>
              </a:rPr>
              <a:t>why </a:t>
            </a:r>
            <a:r>
              <a:rPr lang="en-US" dirty="0">
                <a:solidFill>
                  <a:schemeClr val="accent2"/>
                </a:solidFill>
                <a:ea typeface="ＭＳ Ｐゴシック" pitchFamily="34" charset="-128"/>
              </a:rPr>
              <a:t>accounting is the language of business</a:t>
            </a:r>
            <a:endParaRPr lang="en-CA" b="1" dirty="0">
              <a:ea typeface="ＭＳ Ｐゴシック" pitchFamily="34" charset="-128"/>
            </a:endParaRPr>
          </a:p>
          <a:p>
            <a:pPr marL="514350" indent="-514350">
              <a:spcAft>
                <a:spcPts val="1500"/>
              </a:spcAft>
              <a:buClr>
                <a:schemeClr val="accent2"/>
              </a:buClr>
              <a:buFont typeface="+mj-lt"/>
              <a:buAutoNum type="arabicPeriod"/>
            </a:pPr>
            <a:r>
              <a:rPr lang="en-US" b="1" dirty="0">
                <a:solidFill>
                  <a:schemeClr val="accent2"/>
                </a:solidFill>
                <a:ea typeface="ＭＳ Ｐゴシック" pitchFamily="34" charset="-128"/>
              </a:rPr>
              <a:t>Describe</a:t>
            </a:r>
            <a:r>
              <a:rPr lang="en-US" dirty="0">
                <a:solidFill>
                  <a:schemeClr val="accent2"/>
                </a:solidFill>
                <a:ea typeface="ＭＳ Ｐゴシック" pitchFamily="34" charset="-128"/>
              </a:rPr>
              <a:t> the purpose and </a:t>
            </a:r>
            <a:r>
              <a:rPr lang="en-US" b="1" dirty="0">
                <a:solidFill>
                  <a:schemeClr val="accent2"/>
                </a:solidFill>
                <a:ea typeface="ＭＳ Ｐゴシック" pitchFamily="34" charset="-128"/>
              </a:rPr>
              <a:t>explain</a:t>
            </a:r>
            <a:r>
              <a:rPr lang="en-US" dirty="0">
                <a:solidFill>
                  <a:schemeClr val="accent2"/>
                </a:solidFill>
                <a:ea typeface="ＭＳ Ｐゴシック" pitchFamily="34" charset="-128"/>
              </a:rPr>
              <a:t> the elements of each financial statement </a:t>
            </a:r>
            <a:endParaRPr lang="en-CA" dirty="0">
              <a:solidFill>
                <a:schemeClr val="accent2"/>
              </a:solidFill>
              <a:ea typeface="ＭＳ Ｐゴシック" pitchFamily="34" charset="-128"/>
            </a:endParaRPr>
          </a:p>
          <a:p>
            <a:pPr marL="514350" indent="-514350">
              <a:spcAft>
                <a:spcPts val="1500"/>
              </a:spcAft>
              <a:buClr>
                <a:schemeClr val="accent2"/>
              </a:buClr>
              <a:buFont typeface="+mj-lt"/>
              <a:buAutoNum type="arabicPeriod"/>
            </a:pPr>
            <a:r>
              <a:rPr lang="en-US" b="1" dirty="0">
                <a:solidFill>
                  <a:schemeClr val="accent2"/>
                </a:solidFill>
                <a:ea typeface="ＭＳ Ｐゴシック" pitchFamily="34" charset="-128"/>
              </a:rPr>
              <a:t>Prepare</a:t>
            </a:r>
            <a:r>
              <a:rPr lang="en-US" dirty="0">
                <a:solidFill>
                  <a:schemeClr val="accent2"/>
                </a:solidFill>
                <a:ea typeface="ＭＳ Ｐゴシック" pitchFamily="34" charset="-128"/>
              </a:rPr>
              <a:t> financial statements and </a:t>
            </a:r>
            <a:r>
              <a:rPr lang="en-US" b="1" dirty="0">
                <a:solidFill>
                  <a:schemeClr val="accent2"/>
                </a:solidFill>
                <a:ea typeface="ＭＳ Ｐゴシック" pitchFamily="34" charset="-128"/>
              </a:rPr>
              <a:t>analyze</a:t>
            </a:r>
            <a:r>
              <a:rPr lang="en-US" dirty="0">
                <a:solidFill>
                  <a:schemeClr val="accent2"/>
                </a:solidFill>
                <a:ea typeface="ＭＳ Ｐゴシック" pitchFamily="34" charset="-128"/>
              </a:rPr>
              <a:t> the relationships among them</a:t>
            </a:r>
            <a:endParaRPr lang="en-CA" dirty="0">
              <a:solidFill>
                <a:schemeClr val="accent2"/>
              </a:solidFill>
              <a:ea typeface="ＭＳ Ｐゴシック" pitchFamily="34" charset="-128"/>
            </a:endParaRPr>
          </a:p>
          <a:p>
            <a:pPr marL="514350" indent="-514350">
              <a:spcAft>
                <a:spcPts val="1500"/>
              </a:spcAft>
              <a:buClr>
                <a:schemeClr val="accent2"/>
              </a:buClr>
              <a:buFont typeface="+mj-lt"/>
              <a:buAutoNum type="arabicPeriod"/>
            </a:pPr>
            <a:r>
              <a:rPr lang="en-US" b="1" dirty="0">
                <a:solidFill>
                  <a:schemeClr val="accent2"/>
                </a:solidFill>
                <a:ea typeface="ＭＳ Ｐゴシック" pitchFamily="34" charset="-128"/>
              </a:rPr>
              <a:t>Explain </a:t>
            </a:r>
            <a:r>
              <a:rPr lang="en-US" dirty="0">
                <a:solidFill>
                  <a:schemeClr val="accent2"/>
                </a:solidFill>
                <a:ea typeface="ＭＳ Ｐゴシック" pitchFamily="34" charset="-128"/>
              </a:rPr>
              <a:t>and </a:t>
            </a:r>
            <a:r>
              <a:rPr lang="en-US" b="1" dirty="0">
                <a:solidFill>
                  <a:schemeClr val="accent2"/>
                </a:solidFill>
                <a:ea typeface="ＭＳ Ｐゴシック" pitchFamily="34" charset="-128"/>
              </a:rPr>
              <a:t>apply </a:t>
            </a:r>
            <a:r>
              <a:rPr lang="en-US" dirty="0">
                <a:solidFill>
                  <a:schemeClr val="accent2"/>
                </a:solidFill>
                <a:ea typeface="ＭＳ Ｐゴシック" pitchFamily="34" charset="-128"/>
              </a:rPr>
              <a:t>underlying accounting concepts, assumptions and principles</a:t>
            </a:r>
            <a:endParaRPr lang="en-CA" dirty="0">
              <a:solidFill>
                <a:schemeClr val="accent2"/>
              </a:solidFill>
              <a:ea typeface="ＭＳ Ｐゴシック" pitchFamily="34" charset="-128"/>
            </a:endParaRPr>
          </a:p>
          <a:p>
            <a:pPr marL="514350" indent="-514350">
              <a:spcAft>
                <a:spcPts val="1500"/>
              </a:spcAft>
              <a:buClr>
                <a:schemeClr val="accent2"/>
              </a:buClr>
              <a:buFont typeface="+mj-lt"/>
              <a:buAutoNum type="arabicPeriod"/>
            </a:pPr>
            <a:r>
              <a:rPr lang="en-US" dirty="0">
                <a:solidFill>
                  <a:schemeClr val="accent2"/>
                </a:solidFill>
                <a:ea typeface="ＭＳ Ｐゴシック" pitchFamily="34" charset="-128"/>
              </a:rPr>
              <a:t>Ethically </a:t>
            </a:r>
            <a:r>
              <a:rPr lang="en-US" b="1" dirty="0">
                <a:solidFill>
                  <a:schemeClr val="accent2"/>
                </a:solidFill>
                <a:ea typeface="ＭＳ Ｐゴシック" pitchFamily="34" charset="-128"/>
              </a:rPr>
              <a:t>evaluate</a:t>
            </a:r>
            <a:r>
              <a:rPr lang="en-US" dirty="0">
                <a:solidFill>
                  <a:schemeClr val="accent2"/>
                </a:solidFill>
                <a:ea typeface="ＭＳ Ｐゴシック" pitchFamily="34" charset="-128"/>
              </a:rPr>
              <a:t> business decisions</a:t>
            </a: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43912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Content Placeholder 2"/>
          <p:cNvSpPr>
            <a:spLocks noGrp="1"/>
          </p:cNvSpPr>
          <p:nvPr>
            <p:ph type="subTitle" idx="1"/>
          </p:nvPr>
        </p:nvSpPr>
        <p:spPr/>
        <p:txBody>
          <a:bodyPr>
            <a:normAutofit lnSpcReduction="10000"/>
          </a:bodyPr>
          <a:lstStyle/>
          <a:p>
            <a:r>
              <a:rPr lang="en-US" b="1" dirty="0">
                <a:ea typeface="ＭＳ Ｐゴシック" pitchFamily="34" charset="-128"/>
              </a:rPr>
              <a:t>Explain </a:t>
            </a:r>
            <a:r>
              <a:rPr lang="en-US" dirty="0">
                <a:ea typeface="ＭＳ Ｐゴシック" pitchFamily="34" charset="-128"/>
              </a:rPr>
              <a:t>why accounting is the language of business</a:t>
            </a:r>
            <a:endParaRPr lang="en-US" dirty="0"/>
          </a:p>
        </p:txBody>
      </p:sp>
    </p:spTree>
    <p:extLst>
      <p:ext uri="{BB962C8B-B14F-4D97-AF65-F5344CB8AC3E}">
        <p14:creationId xmlns:p14="http://schemas.microsoft.com/office/powerpoint/2010/main" val="288140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Statements</a:t>
            </a:r>
          </a:p>
        </p:txBody>
      </p:sp>
      <p:sp>
        <p:nvSpPr>
          <p:cNvPr id="12" name="Text Placeholder 11"/>
          <p:cNvSpPr>
            <a:spLocks noGrp="1"/>
          </p:cNvSpPr>
          <p:nvPr>
            <p:ph type="body" sz="quarter" idx="18"/>
          </p:nvPr>
        </p:nvSpPr>
        <p:spPr>
          <a:xfrm>
            <a:off x="457200" y="1457450"/>
            <a:ext cx="8229600" cy="1590550"/>
          </a:xfrm>
        </p:spPr>
        <p:txBody>
          <a:bodyPr/>
          <a:lstStyle/>
          <a:p>
            <a:r>
              <a:rPr lang="en-US" dirty="0">
                <a:ea typeface="ＭＳ Ｐゴシック" pitchFamily="34" charset="-128"/>
              </a:rPr>
              <a:t>Financial statements are the business documents companies use to report the results of their activities to various user groups. The system of accounting produces the following statements. </a:t>
            </a:r>
            <a:r>
              <a:rPr lang="en-US" sz="2400" b="1" u="sng" dirty="0">
                <a:solidFill>
                  <a:schemeClr val="accent2"/>
                </a:solidFill>
                <a:ea typeface="ＭＳ Ｐゴシック" pitchFamily="34" charset="-128"/>
              </a:rPr>
              <a:t>Note the order!</a:t>
            </a:r>
            <a:endParaRPr lang="en-US" dirty="0"/>
          </a:p>
        </p:txBody>
      </p:sp>
      <p:sp>
        <p:nvSpPr>
          <p:cNvPr id="5" name="Text Placeholder 4"/>
          <p:cNvSpPr>
            <a:spLocks noGrp="1"/>
          </p:cNvSpPr>
          <p:nvPr>
            <p:ph type="body" idx="1"/>
          </p:nvPr>
        </p:nvSpPr>
        <p:spPr>
          <a:xfrm>
            <a:off x="356505" y="3110515"/>
            <a:ext cx="2103120" cy="1188720"/>
          </a:xfrm>
          <a:ln>
            <a:solidFill>
              <a:srgbClr val="007FA3"/>
            </a:solidFill>
          </a:ln>
        </p:spPr>
        <p:txBody>
          <a:bodyPr/>
          <a:lstStyle/>
          <a:p>
            <a:pPr algn="ctr">
              <a:spcBef>
                <a:spcPts val="600"/>
              </a:spcBef>
              <a:spcAft>
                <a:spcPts val="600"/>
              </a:spcAft>
            </a:pPr>
            <a:r>
              <a:rPr lang="en-US" sz="1800" dirty="0"/>
              <a:t>Income</a:t>
            </a:r>
          </a:p>
          <a:p>
            <a:pPr algn="ctr">
              <a:lnSpc>
                <a:spcPct val="85000"/>
              </a:lnSpc>
              <a:spcBef>
                <a:spcPts val="0"/>
              </a:spcBef>
            </a:pPr>
            <a:r>
              <a:rPr lang="en-US" sz="1800" dirty="0"/>
              <a:t>Statement</a:t>
            </a:r>
          </a:p>
        </p:txBody>
      </p:sp>
      <p:sp>
        <p:nvSpPr>
          <p:cNvPr id="4" name="Content Placeholder 3"/>
          <p:cNvSpPr>
            <a:spLocks noGrp="1"/>
          </p:cNvSpPr>
          <p:nvPr>
            <p:ph sz="half" idx="2"/>
          </p:nvPr>
        </p:nvSpPr>
        <p:spPr>
          <a:xfrm>
            <a:off x="2457900" y="3615940"/>
            <a:ext cx="2103120" cy="1188720"/>
          </a:xfrm>
        </p:spPr>
        <p:txBody>
          <a:bodyPr/>
          <a:lstStyle/>
          <a:p>
            <a:pPr marL="0" indent="0"/>
            <a:r>
              <a:rPr lang="en-US" sz="1800" dirty="0"/>
              <a:t>Statement of Retained Earnings</a:t>
            </a:r>
          </a:p>
        </p:txBody>
      </p:sp>
      <p:sp>
        <p:nvSpPr>
          <p:cNvPr id="3" name="Text Placeholder 2"/>
          <p:cNvSpPr>
            <a:spLocks noGrp="1"/>
          </p:cNvSpPr>
          <p:nvPr>
            <p:ph type="body" sz="quarter" idx="3"/>
          </p:nvPr>
        </p:nvSpPr>
        <p:spPr>
          <a:xfrm>
            <a:off x="4561900" y="4096870"/>
            <a:ext cx="2103120" cy="1188720"/>
          </a:xfrm>
        </p:spPr>
        <p:txBody>
          <a:bodyPr/>
          <a:lstStyle/>
          <a:p>
            <a:pPr>
              <a:spcBef>
                <a:spcPts val="600"/>
              </a:spcBef>
              <a:spcAft>
                <a:spcPts val="600"/>
              </a:spcAft>
            </a:pPr>
            <a:r>
              <a:rPr lang="en-US" sz="1800" dirty="0"/>
              <a:t>Balance Sheet</a:t>
            </a:r>
          </a:p>
        </p:txBody>
      </p:sp>
      <p:sp>
        <p:nvSpPr>
          <p:cNvPr id="6" name="Content Placeholder 5"/>
          <p:cNvSpPr>
            <a:spLocks noGrp="1"/>
          </p:cNvSpPr>
          <p:nvPr>
            <p:ph sz="quarter" idx="4"/>
          </p:nvPr>
        </p:nvSpPr>
        <p:spPr>
          <a:xfrm>
            <a:off x="6666510" y="4572000"/>
            <a:ext cx="2103120" cy="1188720"/>
          </a:xfrm>
          <a:ln>
            <a:solidFill>
              <a:srgbClr val="007FA3"/>
            </a:solidFill>
          </a:ln>
        </p:spPr>
        <p:txBody>
          <a:bodyPr/>
          <a:lstStyle/>
          <a:p>
            <a:pPr marL="0" indent="0">
              <a:spcBef>
                <a:spcPts val="600"/>
              </a:spcBef>
              <a:spcAft>
                <a:spcPts val="600"/>
              </a:spcAft>
            </a:pPr>
            <a:r>
              <a:rPr lang="en-US" sz="1800" dirty="0"/>
              <a:t>Statement of Cash Flows</a:t>
            </a:r>
          </a:p>
        </p:txBody>
      </p:sp>
      <p:sp>
        <p:nvSpPr>
          <p:cNvPr id="8" name="Bent Arrow 7">
            <a:extLst>
              <a:ext uri="{FF2B5EF4-FFF2-40B4-BE49-F238E27FC236}">
                <a16:creationId xmlns:a16="http://schemas.microsoft.com/office/drawing/2014/main" id="{8528C9C5-4361-2329-99AF-3D79D925C494}"/>
              </a:ext>
            </a:extLst>
          </p:cNvPr>
          <p:cNvSpPr/>
          <p:nvPr/>
        </p:nvSpPr>
        <p:spPr>
          <a:xfrm rot="10800000" flipH="1">
            <a:off x="1190374" y="4299235"/>
            <a:ext cx="1266036" cy="567940"/>
          </a:xfrm>
          <a:prstGeom prst="bentArrow">
            <a:avLst>
              <a:gd name="adj1" fmla="val 25000"/>
              <a:gd name="adj2" fmla="val 29104"/>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Bent Arrow 8">
            <a:extLst>
              <a:ext uri="{FF2B5EF4-FFF2-40B4-BE49-F238E27FC236}">
                <a16:creationId xmlns:a16="http://schemas.microsoft.com/office/drawing/2014/main" id="{3A793D43-3576-F0CC-AAE4-D1C7425C4FE7}"/>
              </a:ext>
            </a:extLst>
          </p:cNvPr>
          <p:cNvSpPr/>
          <p:nvPr/>
        </p:nvSpPr>
        <p:spPr>
          <a:xfrm rot="10800000" flipH="1">
            <a:off x="3290279" y="4791491"/>
            <a:ext cx="1266036" cy="567940"/>
          </a:xfrm>
          <a:prstGeom prst="bentArrow">
            <a:avLst>
              <a:gd name="adj1" fmla="val 25000"/>
              <a:gd name="adj2" fmla="val 29104"/>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Bent Arrow 9">
            <a:extLst>
              <a:ext uri="{FF2B5EF4-FFF2-40B4-BE49-F238E27FC236}">
                <a16:creationId xmlns:a16="http://schemas.microsoft.com/office/drawing/2014/main" id="{50FE1A36-88B7-655B-E7A3-D35B9ADC877D}"/>
              </a:ext>
            </a:extLst>
          </p:cNvPr>
          <p:cNvSpPr/>
          <p:nvPr/>
        </p:nvSpPr>
        <p:spPr>
          <a:xfrm rot="10800000" flipH="1">
            <a:off x="5399729" y="5285590"/>
            <a:ext cx="1266036" cy="567940"/>
          </a:xfrm>
          <a:prstGeom prst="bentArrow">
            <a:avLst>
              <a:gd name="adj1" fmla="val 25000"/>
              <a:gd name="adj2" fmla="val 29104"/>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34293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 of Accounting Information</a:t>
            </a:r>
          </a:p>
        </p:txBody>
      </p:sp>
      <p:sp>
        <p:nvSpPr>
          <p:cNvPr id="4" name="Text Placeholder 3"/>
          <p:cNvSpPr>
            <a:spLocks noGrp="1"/>
          </p:cNvSpPr>
          <p:nvPr>
            <p:ph type="body" idx="1"/>
          </p:nvPr>
        </p:nvSpPr>
        <p:spPr>
          <a:xfrm>
            <a:off x="743675" y="2515980"/>
            <a:ext cx="2011680" cy="1097280"/>
          </a:xfrm>
          <a:solidFill>
            <a:srgbClr val="C5F3FF"/>
          </a:solidFill>
        </p:spPr>
        <p:txBody>
          <a:bodyPr/>
          <a:lstStyle/>
          <a:p>
            <a:pPr lvl="0"/>
            <a:r>
              <a:rPr lang="en-US" sz="2000" dirty="0"/>
              <a:t>People make decisions</a:t>
            </a:r>
          </a:p>
        </p:txBody>
      </p:sp>
      <p:sp>
        <p:nvSpPr>
          <p:cNvPr id="17" name="Right Arrow 16"/>
          <p:cNvSpPr/>
          <p:nvPr/>
        </p:nvSpPr>
        <p:spPr>
          <a:xfrm>
            <a:off x="2955026" y="2796548"/>
            <a:ext cx="450824" cy="536145"/>
          </a:xfrm>
          <a:prstGeom prst="rightArrow">
            <a:avLst>
              <a:gd name="adj1" fmla="val 60000"/>
              <a:gd name="adj2" fmla="val 50000"/>
            </a:avLst>
          </a:prstGeom>
          <a:solidFill>
            <a:srgbClr val="007FA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U" dirty="0"/>
          </a:p>
        </p:txBody>
      </p:sp>
      <p:sp>
        <p:nvSpPr>
          <p:cNvPr id="5" name="Content Placeholder 4"/>
          <p:cNvSpPr>
            <a:spLocks noGrp="1"/>
          </p:cNvSpPr>
          <p:nvPr>
            <p:ph sz="half" idx="2"/>
          </p:nvPr>
        </p:nvSpPr>
        <p:spPr>
          <a:xfrm>
            <a:off x="3577589" y="2515980"/>
            <a:ext cx="2011680" cy="1097280"/>
          </a:xfrm>
        </p:spPr>
        <p:txBody>
          <a:bodyPr/>
          <a:lstStyle/>
          <a:p>
            <a:pPr marL="0" lvl="0" indent="0"/>
            <a:r>
              <a:rPr lang="en-US" sz="2000" dirty="0"/>
              <a:t>Business transactions occur</a:t>
            </a:r>
          </a:p>
        </p:txBody>
      </p:sp>
      <p:sp>
        <p:nvSpPr>
          <p:cNvPr id="20" name="Right Arrow 19"/>
          <p:cNvSpPr/>
          <p:nvPr/>
        </p:nvSpPr>
        <p:spPr>
          <a:xfrm>
            <a:off x="5774426" y="2796548"/>
            <a:ext cx="450824" cy="536145"/>
          </a:xfrm>
          <a:prstGeom prst="rightArrow">
            <a:avLst>
              <a:gd name="adj1" fmla="val 60000"/>
              <a:gd name="adj2" fmla="val 50000"/>
            </a:avLst>
          </a:prstGeom>
          <a:solidFill>
            <a:srgbClr val="007FA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U" dirty="0"/>
          </a:p>
        </p:txBody>
      </p:sp>
      <p:sp>
        <p:nvSpPr>
          <p:cNvPr id="6" name="Text Placeholder 5"/>
          <p:cNvSpPr>
            <a:spLocks noGrp="1"/>
          </p:cNvSpPr>
          <p:nvPr>
            <p:ph type="body" sz="quarter" idx="3"/>
          </p:nvPr>
        </p:nvSpPr>
        <p:spPr>
          <a:xfrm>
            <a:off x="6412955" y="2515980"/>
            <a:ext cx="2011680" cy="1097280"/>
          </a:xfrm>
        </p:spPr>
        <p:txBody>
          <a:bodyPr/>
          <a:lstStyle/>
          <a:p>
            <a:pPr lvl="0"/>
            <a:r>
              <a:rPr lang="en-US" sz="2000" dirty="0"/>
              <a:t>Companies report results</a:t>
            </a:r>
          </a:p>
        </p:txBody>
      </p:sp>
      <p:cxnSp>
        <p:nvCxnSpPr>
          <p:cNvPr id="22" name="Straight Connector 21"/>
          <p:cNvCxnSpPr/>
          <p:nvPr/>
        </p:nvCxnSpPr>
        <p:spPr>
          <a:xfrm>
            <a:off x="7677912" y="3666744"/>
            <a:ext cx="0" cy="685800"/>
          </a:xfrm>
          <a:prstGeom prst="line">
            <a:avLst/>
          </a:prstGeom>
          <a:ln w="38100">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1676400" y="4343400"/>
            <a:ext cx="6019800" cy="0"/>
          </a:xfrm>
          <a:prstGeom prst="line">
            <a:avLst/>
          </a:prstGeom>
          <a:ln w="38100">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694688" y="3657600"/>
            <a:ext cx="0" cy="685800"/>
          </a:xfrm>
          <a:prstGeom prst="straightConnector1">
            <a:avLst/>
          </a:prstGeom>
          <a:ln w="38100">
            <a:solidFill>
              <a:srgbClr val="007FA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158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Users of Accounting Information</a:t>
            </a:r>
          </a:p>
        </p:txBody>
      </p:sp>
      <p:sp>
        <p:nvSpPr>
          <p:cNvPr id="5" name="Text Placeholder 4"/>
          <p:cNvSpPr>
            <a:spLocks noGrp="1"/>
          </p:cNvSpPr>
          <p:nvPr>
            <p:ph type="body" idx="1"/>
          </p:nvPr>
        </p:nvSpPr>
        <p:spPr>
          <a:xfrm>
            <a:off x="457200" y="2142090"/>
            <a:ext cx="2560320" cy="1463040"/>
          </a:xfrm>
        </p:spPr>
        <p:txBody>
          <a:bodyPr/>
          <a:lstStyle/>
          <a:p>
            <a:pPr lvl="0"/>
            <a:r>
              <a:rPr lang="en-US" sz="2000" dirty="0"/>
              <a:t>Managers</a:t>
            </a:r>
          </a:p>
        </p:txBody>
      </p:sp>
      <p:sp>
        <p:nvSpPr>
          <p:cNvPr id="6" name="Content Placeholder 5"/>
          <p:cNvSpPr>
            <a:spLocks noGrp="1"/>
          </p:cNvSpPr>
          <p:nvPr>
            <p:ph sz="half" idx="2"/>
          </p:nvPr>
        </p:nvSpPr>
        <p:spPr>
          <a:xfrm>
            <a:off x="3291114" y="2144850"/>
            <a:ext cx="2560320" cy="1463040"/>
          </a:xfrm>
        </p:spPr>
        <p:txBody>
          <a:bodyPr/>
          <a:lstStyle/>
          <a:p>
            <a:pPr marL="0" indent="0"/>
            <a:r>
              <a:rPr lang="en-US" sz="2000" dirty="0"/>
              <a:t>Investors and Creditors</a:t>
            </a:r>
          </a:p>
        </p:txBody>
      </p:sp>
      <p:sp>
        <p:nvSpPr>
          <p:cNvPr id="8" name="Content Placeholder 7"/>
          <p:cNvSpPr>
            <a:spLocks noGrp="1"/>
          </p:cNvSpPr>
          <p:nvPr>
            <p:ph sz="quarter" idx="4"/>
          </p:nvPr>
        </p:nvSpPr>
        <p:spPr>
          <a:xfrm>
            <a:off x="6125028" y="2142090"/>
            <a:ext cx="2560320" cy="1463040"/>
          </a:xfrm>
        </p:spPr>
        <p:txBody>
          <a:bodyPr/>
          <a:lstStyle/>
          <a:p>
            <a:pPr marL="0" indent="0"/>
            <a:r>
              <a:rPr lang="en-US" sz="2000" dirty="0"/>
              <a:t>Government </a:t>
            </a:r>
            <a:br>
              <a:rPr lang="en-US" sz="2000" dirty="0"/>
            </a:br>
            <a:r>
              <a:rPr lang="en-US" sz="2000" dirty="0"/>
              <a:t>and Regulatory Bodies</a:t>
            </a:r>
          </a:p>
        </p:txBody>
      </p:sp>
      <p:sp>
        <p:nvSpPr>
          <p:cNvPr id="7" name="Text Placeholder 6"/>
          <p:cNvSpPr>
            <a:spLocks noGrp="1"/>
          </p:cNvSpPr>
          <p:nvPr>
            <p:ph type="body" sz="quarter" idx="3"/>
          </p:nvPr>
        </p:nvSpPr>
        <p:spPr>
          <a:xfrm>
            <a:off x="1727200" y="3857460"/>
            <a:ext cx="2560320" cy="1463040"/>
          </a:xfrm>
        </p:spPr>
        <p:txBody>
          <a:bodyPr/>
          <a:lstStyle/>
          <a:p>
            <a:r>
              <a:rPr lang="en-US" sz="2000" dirty="0"/>
              <a:t>Individuals</a:t>
            </a:r>
          </a:p>
        </p:txBody>
      </p:sp>
      <p:sp>
        <p:nvSpPr>
          <p:cNvPr id="9" name="Content Placeholder 8"/>
          <p:cNvSpPr>
            <a:spLocks noGrp="1"/>
          </p:cNvSpPr>
          <p:nvPr>
            <p:ph sz="half" idx="13"/>
          </p:nvPr>
        </p:nvSpPr>
        <p:spPr>
          <a:xfrm>
            <a:off x="4718230" y="3857460"/>
            <a:ext cx="2560320" cy="1463040"/>
          </a:xfrm>
        </p:spPr>
        <p:txBody>
          <a:bodyPr/>
          <a:lstStyle/>
          <a:p>
            <a:pPr marL="0" indent="0"/>
            <a:r>
              <a:rPr lang="en-US" sz="2000" dirty="0"/>
              <a:t>Not-For-Profit Organizations</a:t>
            </a:r>
          </a:p>
        </p:txBody>
      </p:sp>
    </p:spTree>
    <p:extLst>
      <p:ext uri="{BB962C8B-B14F-4D97-AF65-F5344CB8AC3E}">
        <p14:creationId xmlns:p14="http://schemas.microsoft.com/office/powerpoint/2010/main" val="2507350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Kinds of Accounting</a:t>
            </a:r>
            <a:endParaRPr lang="en-US" dirty="0"/>
          </a:p>
        </p:txBody>
      </p:sp>
      <p:sp>
        <p:nvSpPr>
          <p:cNvPr id="3" name="Text Placeholder 2"/>
          <p:cNvSpPr>
            <a:spLocks noGrp="1"/>
          </p:cNvSpPr>
          <p:nvPr>
            <p:ph type="body" idx="1"/>
          </p:nvPr>
        </p:nvSpPr>
        <p:spPr>
          <a:xfrm>
            <a:off x="457200" y="1676400"/>
            <a:ext cx="3733800" cy="491898"/>
          </a:xfrm>
          <a:noFill/>
          <a:ln>
            <a:noFill/>
          </a:ln>
        </p:spPr>
        <p:txBody>
          <a:bodyPr/>
          <a:lstStyle/>
          <a:p>
            <a:r>
              <a:rPr lang="en-US" sz="2400" b="1" dirty="0"/>
              <a:t>Financial Accounting</a:t>
            </a:r>
          </a:p>
        </p:txBody>
      </p:sp>
      <p:sp>
        <p:nvSpPr>
          <p:cNvPr id="4" name="Content Placeholder 3"/>
          <p:cNvSpPr>
            <a:spLocks noGrp="1"/>
          </p:cNvSpPr>
          <p:nvPr>
            <p:ph sz="half" idx="2"/>
          </p:nvPr>
        </p:nvSpPr>
        <p:spPr>
          <a:xfrm>
            <a:off x="452098" y="2286000"/>
            <a:ext cx="4040982" cy="3684588"/>
          </a:xfrm>
        </p:spPr>
        <p:txBody>
          <a:bodyPr/>
          <a:lstStyle/>
          <a:p>
            <a:r>
              <a:rPr lang="en-US" dirty="0">
                <a:ea typeface="ＭＳ Ｐゴシック" pitchFamily="34" charset="-128"/>
              </a:rPr>
              <a:t>Provides information for </a:t>
            </a:r>
            <a:r>
              <a:rPr lang="en-US" u="sng" dirty="0">
                <a:ea typeface="ＭＳ Ｐゴシック" pitchFamily="34" charset="-128"/>
              </a:rPr>
              <a:t>internal and external</a:t>
            </a:r>
            <a:r>
              <a:rPr lang="en-US" dirty="0">
                <a:ea typeface="ＭＳ Ｐゴシック" pitchFamily="34" charset="-128"/>
              </a:rPr>
              <a:t> users</a:t>
            </a:r>
          </a:p>
          <a:p>
            <a:pPr lvl="1"/>
            <a:r>
              <a:rPr lang="en-US" dirty="0">
                <a:ea typeface="ＭＳ Ｐゴシック" pitchFamily="34" charset="-128"/>
              </a:rPr>
              <a:t>Managers</a:t>
            </a:r>
          </a:p>
          <a:p>
            <a:pPr lvl="1"/>
            <a:r>
              <a:rPr lang="en-US" dirty="0">
                <a:ea typeface="ＭＳ Ｐゴシック" pitchFamily="34" charset="-128"/>
              </a:rPr>
              <a:t>Investors</a:t>
            </a:r>
          </a:p>
          <a:p>
            <a:pPr lvl="1"/>
            <a:r>
              <a:rPr lang="en-US" dirty="0">
                <a:ea typeface="ＭＳ Ｐゴシック" pitchFamily="34" charset="-128"/>
              </a:rPr>
              <a:t>Creditors</a:t>
            </a:r>
          </a:p>
          <a:p>
            <a:pPr lvl="1"/>
            <a:r>
              <a:rPr lang="en-US" dirty="0">
                <a:ea typeface="ＭＳ Ｐゴシック" pitchFamily="34" charset="-128"/>
              </a:rPr>
              <a:t>Government agencies</a:t>
            </a:r>
          </a:p>
          <a:p>
            <a:pPr lvl="1"/>
            <a:r>
              <a:rPr lang="en-US" dirty="0">
                <a:ea typeface="ＭＳ Ｐゴシック" pitchFamily="34" charset="-128"/>
              </a:rPr>
              <a:t>The public</a:t>
            </a:r>
          </a:p>
          <a:p>
            <a:r>
              <a:rPr lang="en-US" dirty="0"/>
              <a:t>AFM101</a:t>
            </a:r>
          </a:p>
        </p:txBody>
      </p:sp>
      <p:sp>
        <p:nvSpPr>
          <p:cNvPr id="5" name="Text Placeholder 4"/>
          <p:cNvSpPr>
            <a:spLocks noGrp="1"/>
          </p:cNvSpPr>
          <p:nvPr>
            <p:ph type="body" sz="quarter" idx="3"/>
          </p:nvPr>
        </p:nvSpPr>
        <p:spPr>
          <a:xfrm>
            <a:off x="4677117" y="1472884"/>
            <a:ext cx="4195094" cy="670270"/>
          </a:xfrm>
          <a:noFill/>
          <a:ln>
            <a:noFill/>
          </a:ln>
        </p:spPr>
        <p:txBody>
          <a:bodyPr>
            <a:normAutofit fontScale="85000" lnSpcReduction="10000"/>
          </a:bodyPr>
          <a:lstStyle/>
          <a:p>
            <a:r>
              <a:rPr lang="en-US" b="1" dirty="0"/>
              <a:t>Management Accounting</a:t>
            </a:r>
          </a:p>
        </p:txBody>
      </p:sp>
      <p:sp>
        <p:nvSpPr>
          <p:cNvPr id="6" name="Content Placeholder 5"/>
          <p:cNvSpPr>
            <a:spLocks noGrp="1"/>
          </p:cNvSpPr>
          <p:nvPr>
            <p:ph sz="quarter" idx="4"/>
          </p:nvPr>
        </p:nvSpPr>
        <p:spPr>
          <a:xfrm>
            <a:off x="4596284" y="2313999"/>
            <a:ext cx="4057650" cy="3684588"/>
          </a:xfrm>
        </p:spPr>
        <p:txBody>
          <a:bodyPr>
            <a:normAutofit/>
          </a:bodyPr>
          <a:lstStyle/>
          <a:p>
            <a:r>
              <a:rPr lang="en-US" dirty="0">
                <a:ea typeface="ＭＳ Ｐゴシック" pitchFamily="34" charset="-128"/>
              </a:rPr>
              <a:t>Provides information for </a:t>
            </a:r>
            <a:r>
              <a:rPr lang="en-US" u="sng" dirty="0">
                <a:ea typeface="ＭＳ Ｐゴシック" pitchFamily="34" charset="-128"/>
              </a:rPr>
              <a:t>internal</a:t>
            </a:r>
            <a:r>
              <a:rPr lang="en-US" dirty="0">
                <a:ea typeface="ＭＳ Ｐゴシック" pitchFamily="34" charset="-128"/>
              </a:rPr>
              <a:t> users only</a:t>
            </a:r>
          </a:p>
          <a:p>
            <a:r>
              <a:rPr lang="en-US" dirty="0">
                <a:ea typeface="ＭＳ Ｐゴシック" pitchFamily="34" charset="-128"/>
              </a:rPr>
              <a:t>Includes:</a:t>
            </a:r>
          </a:p>
          <a:p>
            <a:pPr lvl="1"/>
            <a:r>
              <a:rPr lang="en-US" dirty="0">
                <a:ea typeface="ＭＳ Ｐゴシック" pitchFamily="34" charset="-128"/>
              </a:rPr>
              <a:t>Budgets</a:t>
            </a:r>
          </a:p>
          <a:p>
            <a:pPr lvl="1"/>
            <a:r>
              <a:rPr lang="en-US" dirty="0">
                <a:ea typeface="ＭＳ Ｐゴシック" pitchFamily="34" charset="-128"/>
              </a:rPr>
              <a:t>Forecasts</a:t>
            </a:r>
          </a:p>
          <a:p>
            <a:pPr lvl="1"/>
            <a:r>
              <a:rPr lang="en-US" dirty="0">
                <a:ea typeface="ＭＳ Ｐゴシック" pitchFamily="34" charset="-128"/>
              </a:rPr>
              <a:t>Projections</a:t>
            </a:r>
          </a:p>
          <a:p>
            <a:r>
              <a:rPr lang="en-US" dirty="0">
                <a:ea typeface="ＭＳ Ｐゴシック" pitchFamily="34" charset="-128"/>
              </a:rPr>
              <a:t>AFM102</a:t>
            </a:r>
          </a:p>
          <a:p>
            <a:pPr marL="457189" lvl="1" indent="0">
              <a:buNone/>
            </a:pPr>
            <a:endParaRPr lang="en-US" dirty="0"/>
          </a:p>
          <a:p>
            <a:pPr lvl="1"/>
            <a:endParaRPr lang="en-US" dirty="0">
              <a:ea typeface="ＭＳ Ｐゴシック" pitchFamily="34" charset="-128"/>
            </a:endParaRPr>
          </a:p>
        </p:txBody>
      </p:sp>
    </p:spTree>
    <p:extLst>
      <p:ext uri="{BB962C8B-B14F-4D97-AF65-F5344CB8AC3E}">
        <p14:creationId xmlns:p14="http://schemas.microsoft.com/office/powerpoint/2010/main" val="2822463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Organizing a Business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123533859"/>
              </p:ext>
            </p:extLst>
          </p:nvPr>
        </p:nvGraphicFramePr>
        <p:xfrm>
          <a:off x="304800" y="2453640"/>
          <a:ext cx="8534400" cy="195072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370840">
                <a:tc>
                  <a:txBody>
                    <a:body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b="1" i="0" u="none" strike="noStrike" cap="none" normalizeH="0" baseline="0" dirty="0">
                          <a:ln>
                            <a:noFill/>
                          </a:ln>
                          <a:solidFill>
                            <a:schemeClr val="tx1"/>
                          </a:solidFill>
                          <a:effectLst/>
                          <a:latin typeface="+mn-lt"/>
                          <a:ea typeface="ＭＳ Ｐゴシック" pitchFamily="34" charset="-128"/>
                        </a:rPr>
                        <a:t>Proprietorship</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b="1" i="0" u="none" strike="noStrike" cap="none" normalizeH="0" baseline="0" dirty="0">
                          <a:ln>
                            <a:noFill/>
                          </a:ln>
                          <a:solidFill>
                            <a:schemeClr val="tx1"/>
                          </a:solidFill>
                          <a:effectLst/>
                          <a:latin typeface="+mn-lt"/>
                          <a:ea typeface="ＭＳ Ｐゴシック" pitchFamily="34" charset="-128"/>
                        </a:rPr>
                        <a:t>Partnership</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mn-lt"/>
                          <a:ea typeface="ＭＳ Ｐゴシック" pitchFamily="34" charset="-128"/>
                        </a:rPr>
                        <a:t>Corporation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Proprietor - 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Partners – two or more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Shareholders – usually many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kumimoji="0" lang="en-US" sz="1800" b="0" i="0" u="none" strike="noStrike" cap="none" normalizeH="0" baseline="0" dirty="0">
                          <a:ln>
                            <a:noFill/>
                          </a:ln>
                          <a:solidFill>
                            <a:srgbClr val="000000"/>
                          </a:solidFill>
                          <a:effectLst/>
                          <a:latin typeface="+mn-lt"/>
                          <a:ea typeface="ＭＳ Ｐゴシック" pitchFamily="34" charset="-128"/>
                        </a:rPr>
                        <a:t>Personal liability of owner(s) for business debts</a:t>
                      </a:r>
                      <a:endParaRPr lang="en-US" sz="1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Proprietor is personally liable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Partners are usually personally liable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rgbClr val="000000"/>
                          </a:solidFill>
                          <a:effectLst/>
                          <a:latin typeface="+mn-lt"/>
                          <a:ea typeface="ＭＳ Ｐゴシック" pitchFamily="34" charset="-128"/>
                        </a:rPr>
                        <a:t>Shareholders are NOT personally liable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1419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Proprietorships</a:t>
            </a:r>
          </a:p>
        </p:txBody>
      </p:sp>
      <p:sp>
        <p:nvSpPr>
          <p:cNvPr id="3" name="Content Placeholder 2"/>
          <p:cNvSpPr>
            <a:spLocks noGrp="1"/>
          </p:cNvSpPr>
          <p:nvPr>
            <p:ph idx="1"/>
          </p:nvPr>
        </p:nvSpPr>
        <p:spPr/>
        <p:txBody>
          <a:bodyPr/>
          <a:lstStyle/>
          <a:p>
            <a:r>
              <a:rPr lang="en-US" dirty="0"/>
              <a:t>Single owner</a:t>
            </a:r>
          </a:p>
          <a:p>
            <a:r>
              <a:rPr lang="en-US" dirty="0"/>
              <a:t>Common business form for small retail stores and professional service providers</a:t>
            </a:r>
          </a:p>
          <a:p>
            <a:r>
              <a:rPr lang="en-US" dirty="0"/>
              <a:t>Proprietor personally liable for business debts</a:t>
            </a:r>
          </a:p>
        </p:txBody>
      </p:sp>
    </p:spTree>
    <p:extLst>
      <p:ext uri="{BB962C8B-B14F-4D97-AF65-F5344CB8AC3E}">
        <p14:creationId xmlns:p14="http://schemas.microsoft.com/office/powerpoint/2010/main" val="162776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Partnerships</a:t>
            </a:r>
          </a:p>
        </p:txBody>
      </p:sp>
      <p:sp>
        <p:nvSpPr>
          <p:cNvPr id="5" name="Content Placeholder 4">
            <a:extLst>
              <a:ext uri="{FF2B5EF4-FFF2-40B4-BE49-F238E27FC236}">
                <a16:creationId xmlns:a16="http://schemas.microsoft.com/office/drawing/2014/main" id="{A37D5452-EAD8-BB00-9A6F-EAAD5336856B}"/>
              </a:ext>
            </a:extLst>
          </p:cNvPr>
          <p:cNvSpPr>
            <a:spLocks noGrp="1"/>
          </p:cNvSpPr>
          <p:nvPr>
            <p:ph idx="1"/>
          </p:nvPr>
        </p:nvSpPr>
        <p:spPr/>
        <p:txBody>
          <a:bodyPr/>
          <a:lstStyle/>
          <a:p>
            <a:r>
              <a:rPr lang="en-US" dirty="0"/>
              <a:t>Two or more parties as co-owners</a:t>
            </a:r>
          </a:p>
          <a:p>
            <a:r>
              <a:rPr lang="en-US" dirty="0"/>
              <a:t>Not a taxpaying entity</a:t>
            </a:r>
          </a:p>
          <a:p>
            <a:pPr lvl="1"/>
            <a:r>
              <a:rPr lang="en-US" dirty="0"/>
              <a:t>Income passes through to partners</a:t>
            </a:r>
          </a:p>
          <a:p>
            <a:r>
              <a:rPr lang="en-US" dirty="0"/>
              <a:t>Partners are usually personally liable</a:t>
            </a:r>
          </a:p>
          <a:p>
            <a:pPr lvl="1"/>
            <a:r>
              <a:rPr lang="en-US" dirty="0"/>
              <a:t>Limited liability partnerships lessen risk</a:t>
            </a:r>
          </a:p>
          <a:p>
            <a:endParaRPr lang="en-IN" dirty="0"/>
          </a:p>
        </p:txBody>
      </p:sp>
    </p:spTree>
    <p:extLst>
      <p:ext uri="{BB962C8B-B14F-4D97-AF65-F5344CB8AC3E}">
        <p14:creationId xmlns:p14="http://schemas.microsoft.com/office/powerpoint/2010/main" val="287454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Corporations </a:t>
            </a:r>
            <a:r>
              <a:rPr lang="en-US" sz="2000" b="0" dirty="0"/>
              <a:t>(1 of 2)</a:t>
            </a:r>
          </a:p>
        </p:txBody>
      </p:sp>
      <p:sp>
        <p:nvSpPr>
          <p:cNvPr id="3" name="Content Placeholder 2"/>
          <p:cNvSpPr>
            <a:spLocks noGrp="1"/>
          </p:cNvSpPr>
          <p:nvPr>
            <p:ph idx="1"/>
          </p:nvPr>
        </p:nvSpPr>
        <p:spPr/>
        <p:txBody>
          <a:bodyPr/>
          <a:lstStyle/>
          <a:p>
            <a:r>
              <a:rPr lang="en-US" dirty="0"/>
              <a:t>Owned by shareholders</a:t>
            </a:r>
          </a:p>
          <a:p>
            <a:pPr lvl="1"/>
            <a:r>
              <a:rPr lang="en-US" dirty="0"/>
              <a:t>Shares represents share of ownership</a:t>
            </a:r>
          </a:p>
          <a:p>
            <a:r>
              <a:rPr lang="en-US" dirty="0"/>
              <a:t>Ability to raise large sums of capital</a:t>
            </a:r>
          </a:p>
          <a:p>
            <a:r>
              <a:rPr lang="en-US" dirty="0"/>
              <a:t>Generally larger than proprietorships and partnerships (</a:t>
            </a:r>
            <a:r>
              <a:rPr lang="en-CA" dirty="0"/>
              <a:t>although small companies can be incorporated as well)</a:t>
            </a:r>
            <a:endParaRPr lang="en-US" dirty="0"/>
          </a:p>
          <a:p>
            <a:r>
              <a:rPr lang="en-US" dirty="0"/>
              <a:t>Formed under federal or provincial law</a:t>
            </a:r>
          </a:p>
          <a:p>
            <a:pPr lvl="1"/>
            <a:r>
              <a:rPr lang="en-US" dirty="0"/>
              <a:t>Legally distinct from its owners</a:t>
            </a:r>
          </a:p>
        </p:txBody>
      </p:sp>
    </p:spTree>
    <p:extLst>
      <p:ext uri="{BB962C8B-B14F-4D97-AF65-F5344CB8AC3E}">
        <p14:creationId xmlns:p14="http://schemas.microsoft.com/office/powerpoint/2010/main" val="402160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Corporations </a:t>
            </a:r>
            <a:r>
              <a:rPr lang="en-US" sz="2000" b="0" dirty="0"/>
              <a:t>(2 of 2)</a:t>
            </a:r>
          </a:p>
        </p:txBody>
      </p:sp>
      <p:sp>
        <p:nvSpPr>
          <p:cNvPr id="3" name="Content Placeholder 2"/>
          <p:cNvSpPr>
            <a:spLocks noGrp="1"/>
          </p:cNvSpPr>
          <p:nvPr>
            <p:ph idx="1"/>
          </p:nvPr>
        </p:nvSpPr>
        <p:spPr/>
        <p:txBody>
          <a:bodyPr/>
          <a:lstStyle/>
          <a:p>
            <a:r>
              <a:rPr lang="en-US" dirty="0"/>
              <a:t>Double taxation</a:t>
            </a:r>
          </a:p>
          <a:p>
            <a:pPr lvl="1"/>
            <a:r>
              <a:rPr lang="en-US" dirty="0"/>
              <a:t>Corporate income is taxed</a:t>
            </a:r>
          </a:p>
          <a:p>
            <a:pPr lvl="1"/>
            <a:r>
              <a:rPr lang="en-US" dirty="0"/>
              <a:t>Shareholders taxed on distributions of earnings (dividends) but Canada’s income tax laws attempt to minimize double taxation</a:t>
            </a:r>
          </a:p>
          <a:p>
            <a:r>
              <a:rPr lang="en-US" dirty="0"/>
              <a:t>Shareholders elect Board of Directors</a:t>
            </a:r>
          </a:p>
          <a:p>
            <a:pPr lvl="1"/>
            <a:r>
              <a:rPr lang="en-US" dirty="0"/>
              <a:t>Set policy and appoint officers</a:t>
            </a:r>
          </a:p>
        </p:txBody>
      </p:sp>
    </p:spTree>
    <p:extLst>
      <p:ext uri="{BB962C8B-B14F-4D97-AF65-F5344CB8AC3E}">
        <p14:creationId xmlns:p14="http://schemas.microsoft.com/office/powerpoint/2010/main" val="112955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Text Placeholder 2"/>
          <p:cNvSpPr>
            <a:spLocks noGrp="1"/>
          </p:cNvSpPr>
          <p:nvPr>
            <p:ph type="subTitle" idx="1"/>
          </p:nvPr>
        </p:nvSpPr>
        <p:spPr/>
        <p:txBody>
          <a:bodyPr>
            <a:normAutofit lnSpcReduction="10000"/>
          </a:bodyPr>
          <a:lstStyle/>
          <a:p>
            <a:r>
              <a:rPr lang="en-US" b="1" dirty="0">
                <a:solidFill>
                  <a:schemeClr val="tx1"/>
                </a:solidFill>
                <a:ea typeface="ＭＳ Ｐゴシック" pitchFamily="34" charset="-128"/>
              </a:rPr>
              <a:t>Describe</a:t>
            </a:r>
            <a:r>
              <a:rPr lang="en-US" dirty="0">
                <a:solidFill>
                  <a:schemeClr val="tx1"/>
                </a:solidFill>
                <a:ea typeface="ＭＳ Ｐゴシック" pitchFamily="34" charset="-128"/>
              </a:rPr>
              <a:t> the purpose and </a:t>
            </a:r>
            <a:r>
              <a:rPr lang="en-US" b="1" dirty="0">
                <a:solidFill>
                  <a:schemeClr val="tx1"/>
                </a:solidFill>
                <a:ea typeface="ＭＳ Ｐゴシック" pitchFamily="34" charset="-128"/>
              </a:rPr>
              <a:t>explain</a:t>
            </a:r>
            <a:r>
              <a:rPr lang="en-US" dirty="0">
                <a:solidFill>
                  <a:schemeClr val="tx1"/>
                </a:solidFill>
                <a:ea typeface="ＭＳ Ｐゴシック" pitchFamily="34" charset="-128"/>
              </a:rPr>
              <a:t> the elements of each financial statement</a:t>
            </a:r>
            <a:endParaRPr lang="en-US" dirty="0">
              <a:solidFill>
                <a:schemeClr val="tx1"/>
              </a:solidFill>
            </a:endParaRPr>
          </a:p>
        </p:txBody>
      </p:sp>
    </p:spTree>
    <p:extLst>
      <p:ext uri="{BB962C8B-B14F-4D97-AF65-F5344CB8AC3E}">
        <p14:creationId xmlns:p14="http://schemas.microsoft.com/office/powerpoint/2010/main" val="415280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Financial Statements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354029038"/>
              </p:ext>
            </p:extLst>
          </p:nvPr>
        </p:nvGraphicFramePr>
        <p:xfrm>
          <a:off x="271788" y="1149495"/>
          <a:ext cx="8425172" cy="4986052"/>
        </p:xfrm>
        <a:graphic>
          <a:graphicData uri="http://schemas.openxmlformats.org/drawingml/2006/table">
            <a:tbl>
              <a:tblPr firstRow="1" bandRow="1">
                <a:tableStyleId>{2D5ABB26-0587-4C30-8999-92F81FD0307C}</a:tableStyleId>
              </a:tblPr>
              <a:tblGrid>
                <a:gridCol w="2906500">
                  <a:extLst>
                    <a:ext uri="{9D8B030D-6E8A-4147-A177-3AD203B41FA5}">
                      <a16:colId xmlns:a16="http://schemas.microsoft.com/office/drawing/2014/main" val="20000"/>
                    </a:ext>
                  </a:extLst>
                </a:gridCol>
                <a:gridCol w="2281051">
                  <a:extLst>
                    <a:ext uri="{9D8B030D-6E8A-4147-A177-3AD203B41FA5}">
                      <a16:colId xmlns:a16="http://schemas.microsoft.com/office/drawing/2014/main" val="20001"/>
                    </a:ext>
                  </a:extLst>
                </a:gridCol>
                <a:gridCol w="3237621">
                  <a:extLst>
                    <a:ext uri="{9D8B030D-6E8A-4147-A177-3AD203B41FA5}">
                      <a16:colId xmlns:a16="http://schemas.microsoft.com/office/drawing/2014/main" val="20002"/>
                    </a:ext>
                  </a:extLst>
                </a:gridCol>
              </a:tblGrid>
              <a:tr h="6208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mn-lt"/>
                          <a:ea typeface="ＭＳ Ｐゴシック" pitchFamily="34" charset="-128"/>
                        </a:rPr>
                        <a:t>Question</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b="1" i="0" u="none" strike="noStrike" cap="none" normalizeH="0" baseline="0" dirty="0">
                          <a:ln>
                            <a:noFill/>
                          </a:ln>
                          <a:solidFill>
                            <a:schemeClr val="tx1"/>
                          </a:solidFill>
                          <a:effectLst/>
                          <a:latin typeface="+mn-lt"/>
                          <a:ea typeface="ＭＳ Ｐゴシック" pitchFamily="34" charset="-128"/>
                        </a:rPr>
                        <a:t>Financial Statement</a:t>
                      </a:r>
                      <a:endParaRPr lang="en-US" sz="1800" dirty="0">
                        <a:solidFill>
                          <a:schemeClr val="tx1"/>
                        </a:solidFill>
                        <a:latin typeface="+mn-lt"/>
                      </a:endParaRP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mn-lt"/>
                          <a:ea typeface="ＭＳ Ｐゴシック" pitchFamily="34" charset="-128"/>
                        </a:rPr>
                        <a:t>Answer</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869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CA" sz="1600" b="0" i="0" u="none" strike="noStrike" cap="none" normalizeH="0" baseline="0" dirty="0">
                          <a:ln>
                            <a:noFill/>
                          </a:ln>
                          <a:solidFill>
                            <a:srgbClr val="000000"/>
                          </a:solidFill>
                          <a:effectLst/>
                          <a:latin typeface="+mn-lt"/>
                          <a:ea typeface="+mn-ea"/>
                        </a:rPr>
                        <a:t>How much income did the company earn </a:t>
                      </a:r>
                      <a:r>
                        <a:rPr kumimoji="0" lang="en-CA" sz="1600" b="0" i="0" u="sng" strike="noStrike" cap="none" normalizeH="0" baseline="0" dirty="0">
                          <a:ln>
                            <a:noFill/>
                          </a:ln>
                          <a:solidFill>
                            <a:srgbClr val="000000"/>
                          </a:solidFill>
                          <a:effectLst/>
                          <a:latin typeface="+mn-lt"/>
                          <a:ea typeface="+mn-ea"/>
                        </a:rPr>
                        <a:t>during</a:t>
                      </a:r>
                      <a:r>
                        <a:rPr kumimoji="0" lang="en-CA" sz="1600" b="0" i="0" u="none" strike="noStrike" cap="none" normalizeH="0" baseline="0" dirty="0">
                          <a:ln>
                            <a:noFill/>
                          </a:ln>
                          <a:solidFill>
                            <a:srgbClr val="000000"/>
                          </a:solidFill>
                          <a:effectLst/>
                          <a:latin typeface="+mn-lt"/>
                          <a:ea typeface="+mn-ea"/>
                        </a:rPr>
                        <a:t> the year?</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mn-ea"/>
                        </a:rPr>
                        <a:t>Income statement</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Revenues + gains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mn-ea"/>
                        </a:rPr>
                        <a:t>−Expenses + losses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Net income or (net loss)</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190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Why did the company</a:t>
                      </a:r>
                      <a:r>
                        <a:rPr kumimoji="0" lang="ja-JP" altLang="en-US" sz="1600" b="0" i="0" u="none" strike="noStrike" cap="none" normalizeH="0" baseline="0">
                          <a:ln>
                            <a:noFill/>
                          </a:ln>
                          <a:solidFill>
                            <a:srgbClr val="000000"/>
                          </a:solidFill>
                          <a:effectLst/>
                          <a:latin typeface="+mn-lt"/>
                          <a:ea typeface="+mn-ea"/>
                        </a:rPr>
                        <a:t>’</a:t>
                      </a:r>
                      <a:r>
                        <a:rPr kumimoji="0" lang="en-US" altLang="ja-JP" sz="1600" b="0" i="0" u="none" strike="noStrike" cap="none" normalizeH="0" baseline="0" dirty="0">
                          <a:ln>
                            <a:noFill/>
                          </a:ln>
                          <a:solidFill>
                            <a:srgbClr val="000000"/>
                          </a:solidFill>
                          <a:effectLst/>
                          <a:latin typeface="+mn-lt"/>
                          <a:ea typeface="+mn-ea"/>
                        </a:rPr>
                        <a:t>s retained earnings change </a:t>
                      </a:r>
                      <a:r>
                        <a:rPr kumimoji="0" lang="en-US" altLang="ja-JP" sz="1600" b="0" i="0" u="sng" strike="noStrike" cap="none" normalizeH="0" baseline="0" dirty="0">
                          <a:ln>
                            <a:noFill/>
                          </a:ln>
                          <a:solidFill>
                            <a:srgbClr val="000000"/>
                          </a:solidFill>
                          <a:effectLst/>
                          <a:latin typeface="+mn-lt"/>
                          <a:ea typeface="+mn-ea"/>
                        </a:rPr>
                        <a:t>during</a:t>
                      </a:r>
                      <a:r>
                        <a:rPr kumimoji="0" lang="en-US" altLang="ja-JP" sz="1600" b="0" i="0" u="none" strike="noStrike" cap="none" normalizeH="0" baseline="0" dirty="0">
                          <a:ln>
                            <a:noFill/>
                          </a:ln>
                          <a:solidFill>
                            <a:srgbClr val="000000"/>
                          </a:solidFill>
                          <a:effectLst/>
                          <a:latin typeface="+mn-lt"/>
                          <a:ea typeface="+mn-ea"/>
                        </a:rPr>
                        <a:t> the year?</a:t>
                      </a:r>
                      <a:endParaRPr kumimoji="0" lang="en-US" sz="1600" b="0" i="0" u="none" strike="noStrike" cap="none" normalizeH="0" baseline="0" dirty="0">
                        <a:ln>
                          <a:noFill/>
                        </a:ln>
                        <a:solidFill>
                          <a:srgbClr val="000000"/>
                        </a:solidFill>
                        <a:effectLst/>
                        <a:latin typeface="+mn-lt"/>
                        <a:ea typeface="+mn-ea"/>
                      </a:endParaRP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Statement of retained earnings</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Beginning retained earnings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 Net Income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+Other comprehensive income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mn-ea"/>
                        </a:rPr>
                        <a:t>−Dividends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mn-ea"/>
                        </a:rPr>
                        <a:t>Ending retained earnings</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86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600" b="0" i="0" u="none" strike="noStrike" cap="none" normalizeH="0" baseline="0" dirty="0">
                          <a:ln>
                            <a:noFill/>
                          </a:ln>
                          <a:solidFill>
                            <a:srgbClr val="000000"/>
                          </a:solidFill>
                          <a:effectLst/>
                          <a:latin typeface="+mn-lt"/>
                          <a:ea typeface="+mn-ea"/>
                        </a:rPr>
                        <a:t>What is the company’s financial position </a:t>
                      </a:r>
                      <a:r>
                        <a:rPr kumimoji="0" lang="en-CA" sz="1600" b="0" i="0" u="sng" strike="noStrike" cap="none" normalizeH="0" baseline="0" dirty="0">
                          <a:ln>
                            <a:noFill/>
                          </a:ln>
                          <a:solidFill>
                            <a:srgbClr val="000000"/>
                          </a:solidFill>
                          <a:effectLst/>
                          <a:latin typeface="+mn-lt"/>
                          <a:ea typeface="+mn-ea"/>
                        </a:rPr>
                        <a:t>at the end</a:t>
                      </a:r>
                      <a:r>
                        <a:rPr kumimoji="0" lang="en-CA" sz="1600" b="0" i="0" u="none" strike="noStrike" cap="none" normalizeH="0" baseline="0" dirty="0">
                          <a:ln>
                            <a:noFill/>
                          </a:ln>
                          <a:solidFill>
                            <a:srgbClr val="000000"/>
                          </a:solidFill>
                          <a:effectLst/>
                          <a:latin typeface="+mn-lt"/>
                          <a:ea typeface="+mn-ea"/>
                        </a:rPr>
                        <a:t> of the year?</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mn-ea"/>
                        </a:rPr>
                        <a:t>Balance sheet</a:t>
                      </a:r>
                      <a:endParaRPr lang="en-US" sz="1600" dirty="0">
                        <a:solidFill>
                          <a:schemeClr val="tx1"/>
                        </a:solidFill>
                        <a:latin typeface="+mn-lt"/>
                        <a:ea typeface="+mn-ea"/>
                      </a:endParaRP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mn-ea"/>
                        </a:rPr>
                        <a:t>Assets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mn-ea"/>
                        </a:rPr>
                        <a:t>Liabilities + Owners</a:t>
                      </a:r>
                      <a:r>
                        <a:rPr kumimoji="0" lang="ja-JP" altLang="en-US" sz="1600" b="0" i="0" u="none" strike="noStrike" cap="none" normalizeH="0" baseline="0" dirty="0">
                          <a:ln>
                            <a:noFill/>
                          </a:ln>
                          <a:solidFill>
                            <a:srgbClr val="000000"/>
                          </a:solidFill>
                          <a:effectLst/>
                          <a:latin typeface="+mn-lt"/>
                          <a:ea typeface="+mn-ea"/>
                        </a:rPr>
                        <a:t>’ </a:t>
                      </a:r>
                      <a:r>
                        <a:rPr kumimoji="0" lang="en-US" altLang="ja-JP" sz="1600" b="0" i="0" u="none" strike="noStrike" cap="none" normalizeH="0" baseline="0" dirty="0">
                          <a:ln>
                            <a:noFill/>
                          </a:ln>
                          <a:solidFill>
                            <a:srgbClr val="000000"/>
                          </a:solidFill>
                          <a:effectLst/>
                          <a:latin typeface="+mn-lt"/>
                          <a:ea typeface="+mn-ea"/>
                        </a:rPr>
                        <a:t>equity</a:t>
                      </a:r>
                      <a:endParaRPr lang="en-US" sz="1600" dirty="0">
                        <a:solidFill>
                          <a:schemeClr val="tx1"/>
                        </a:solidFill>
                        <a:latin typeface="+mn-lt"/>
                        <a:ea typeface="+mn-ea"/>
                      </a:endParaRP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530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rgbClr val="000000"/>
                          </a:solidFill>
                          <a:effectLst/>
                          <a:latin typeface="+mn-lt"/>
                          <a:ea typeface="ＭＳ Ｐゴシック" pitchFamily="34" charset="-128"/>
                        </a:rPr>
                        <a:t>How much cash did the company generate and spend </a:t>
                      </a:r>
                      <a:r>
                        <a:rPr kumimoji="0" lang="en-US" sz="1600" b="0" i="0" u="sng" strike="noStrike" cap="none" normalizeH="0" baseline="0" dirty="0">
                          <a:ln>
                            <a:noFill/>
                          </a:ln>
                          <a:solidFill>
                            <a:srgbClr val="000000"/>
                          </a:solidFill>
                          <a:effectLst/>
                          <a:latin typeface="+mn-lt"/>
                          <a:ea typeface="ＭＳ Ｐゴシック" pitchFamily="34" charset="-128"/>
                        </a:rPr>
                        <a:t>during</a:t>
                      </a:r>
                      <a:r>
                        <a:rPr kumimoji="0" lang="en-US" sz="1600" b="0" i="0" u="none" strike="noStrike" cap="none" normalizeH="0" baseline="0" dirty="0">
                          <a:ln>
                            <a:noFill/>
                          </a:ln>
                          <a:solidFill>
                            <a:srgbClr val="000000"/>
                          </a:solidFill>
                          <a:effectLst/>
                          <a:latin typeface="+mn-lt"/>
                          <a:ea typeface="ＭＳ Ｐゴシック" pitchFamily="34" charset="-128"/>
                        </a:rPr>
                        <a:t> the year?</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600" b="0" i="0" u="none" strike="noStrike" cap="none" normalizeH="0" baseline="0" dirty="0">
                          <a:ln>
                            <a:noFill/>
                          </a:ln>
                          <a:solidFill>
                            <a:srgbClr val="000000"/>
                          </a:solidFill>
                          <a:effectLst/>
                          <a:latin typeface="+mn-lt"/>
                          <a:ea typeface="ＭＳ Ｐゴシック" pitchFamily="34" charset="-128"/>
                        </a:rPr>
                        <a:t>Statement of cash flows</a:t>
                      </a:r>
                      <a:endParaRPr lang="en-US" sz="1600" dirty="0">
                        <a:solidFill>
                          <a:schemeClr val="tx1"/>
                        </a:solidFill>
                        <a:latin typeface="+mn-lt"/>
                        <a:ea typeface="+mn-ea"/>
                      </a:endParaRP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Operating cash flows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 Investing cash flows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 Financing cash flows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Increase (decrease) in cash</a:t>
                      </a:r>
                    </a:p>
                  </a:txBody>
                  <a:tcPr marL="89777" marR="897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6854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Accounting Standards</a:t>
            </a:r>
            <a:endParaRPr lang="en-US" dirty="0"/>
          </a:p>
        </p:txBody>
      </p:sp>
      <p:sp>
        <p:nvSpPr>
          <p:cNvPr id="3" name="Content Placeholder 2"/>
          <p:cNvSpPr>
            <a:spLocks noGrp="1"/>
          </p:cNvSpPr>
          <p:nvPr>
            <p:ph idx="1"/>
          </p:nvPr>
        </p:nvSpPr>
        <p:spPr/>
        <p:txBody>
          <a:bodyPr anchor="ctr"/>
          <a:lstStyle/>
          <a:p>
            <a:pPr algn="ctr">
              <a:spcAft>
                <a:spcPts val="1500"/>
              </a:spcAft>
              <a:buNone/>
            </a:pPr>
            <a:r>
              <a:rPr lang="en-US" sz="2400" dirty="0">
                <a:solidFill>
                  <a:srgbClr val="000000"/>
                </a:solidFill>
                <a:effectLst>
                  <a:outerShdw blurRad="38100" dist="38100" dir="2700000" algn="tl">
                    <a:srgbClr val="FFFFFF"/>
                  </a:outerShdw>
                </a:effectLst>
                <a:ea typeface="ＭＳ Ｐゴシック" pitchFamily="34" charset="-128"/>
              </a:rPr>
              <a:t>Accountants follow professional guidelines.</a:t>
            </a:r>
          </a:p>
          <a:p>
            <a:pPr algn="ctr">
              <a:spcAft>
                <a:spcPts val="1500"/>
              </a:spcAft>
              <a:buNone/>
            </a:pPr>
            <a:r>
              <a:rPr lang="en-US" sz="2400" dirty="0">
                <a:solidFill>
                  <a:srgbClr val="000000"/>
                </a:solidFill>
                <a:ea typeface="ＭＳ Ｐゴシック" pitchFamily="34" charset="-128"/>
              </a:rPr>
              <a:t>The rules that govern accounting are called GAAP</a:t>
            </a:r>
          </a:p>
          <a:p>
            <a:pPr algn="ctr">
              <a:spcAft>
                <a:spcPts val="1500"/>
              </a:spcAft>
              <a:buNone/>
            </a:pPr>
            <a:r>
              <a:rPr lang="en-US" i="1" dirty="0">
                <a:solidFill>
                  <a:schemeClr val="tx2"/>
                </a:solidFill>
                <a:ea typeface="ＭＳ Ｐゴシック" pitchFamily="34" charset="-128"/>
              </a:rPr>
              <a:t>(generally accepted accounting principles)</a:t>
            </a:r>
            <a:r>
              <a:rPr lang="en-US" dirty="0">
                <a:solidFill>
                  <a:srgbClr val="000000"/>
                </a:solidFill>
                <a:ea typeface="ＭＳ Ｐゴシック" pitchFamily="34" charset="-128"/>
              </a:rPr>
              <a:t>.</a:t>
            </a:r>
          </a:p>
          <a:p>
            <a:pPr algn="ctr">
              <a:spcAft>
                <a:spcPts val="1500"/>
              </a:spcAft>
              <a:buNone/>
            </a:pPr>
            <a:r>
              <a:rPr lang="en-US" sz="2400" i="1" dirty="0">
                <a:solidFill>
                  <a:srgbClr val="111111"/>
                </a:solidFill>
                <a:ea typeface="ＭＳ Ｐゴシック" pitchFamily="34" charset="-128"/>
              </a:rPr>
              <a:t>CPA Handbook</a:t>
            </a:r>
            <a:r>
              <a:rPr lang="en-US" sz="2400" dirty="0">
                <a:solidFill>
                  <a:srgbClr val="111111"/>
                </a:solidFill>
                <a:ea typeface="ＭＳ Ｐゴシック" pitchFamily="34" charset="-128"/>
              </a:rPr>
              <a:t>: Official source of GAAP</a:t>
            </a:r>
            <a:endParaRPr lang="en-US" sz="2400" dirty="0">
              <a:solidFill>
                <a:srgbClr val="000000"/>
              </a:solidFill>
              <a:ea typeface="ＭＳ Ｐゴシック" pitchFamily="34" charset="-128"/>
            </a:endParaRPr>
          </a:p>
        </p:txBody>
      </p:sp>
    </p:spTree>
    <p:extLst>
      <p:ext uri="{BB962C8B-B14F-4D97-AF65-F5344CB8AC3E}">
        <p14:creationId xmlns:p14="http://schemas.microsoft.com/office/powerpoint/2010/main" val="198964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Sets of GAAP</a:t>
            </a:r>
          </a:p>
        </p:txBody>
      </p:sp>
      <p:sp>
        <p:nvSpPr>
          <p:cNvPr id="3" name="Content Placeholder 2"/>
          <p:cNvSpPr>
            <a:spLocks noGrp="1"/>
          </p:cNvSpPr>
          <p:nvPr>
            <p:ph idx="1"/>
          </p:nvPr>
        </p:nvSpPr>
        <p:spPr/>
        <p:txBody>
          <a:bodyPr anchor="ctr"/>
          <a:lstStyle/>
          <a:p>
            <a:pPr algn="ctr">
              <a:spcAft>
                <a:spcPts val="1500"/>
              </a:spcAft>
              <a:buNone/>
            </a:pPr>
            <a:r>
              <a:rPr lang="en-US" altLang="en-US" sz="2400" dirty="0">
                <a:ea typeface="ＭＳ Ｐゴシック" pitchFamily="34" charset="-128"/>
              </a:rPr>
              <a:t>International Financial Reporting Standards (IFRS):</a:t>
            </a:r>
          </a:p>
          <a:p>
            <a:pPr algn="ctr">
              <a:spcAft>
                <a:spcPts val="1500"/>
              </a:spcAft>
              <a:buNone/>
            </a:pPr>
            <a:r>
              <a:rPr lang="en-US" altLang="en-US" dirty="0">
                <a:ea typeface="ＭＳ Ｐゴシック" pitchFamily="34" charset="-128"/>
              </a:rPr>
              <a:t>For publicly accountable enterprises</a:t>
            </a:r>
          </a:p>
          <a:p>
            <a:pPr algn="ctr">
              <a:spcAft>
                <a:spcPts val="1500"/>
              </a:spcAft>
              <a:buNone/>
            </a:pPr>
            <a:r>
              <a:rPr lang="en-US" sz="2400" dirty="0">
                <a:ea typeface="ＭＳ Ｐゴシック" pitchFamily="34" charset="-128"/>
              </a:rPr>
              <a:t>Accounting Standards for Private Enterprises (ASPE):</a:t>
            </a:r>
          </a:p>
          <a:p>
            <a:pPr algn="ctr">
              <a:spcAft>
                <a:spcPts val="1500"/>
              </a:spcAft>
              <a:buNone/>
            </a:pPr>
            <a:r>
              <a:rPr lang="en-US" altLang="en-US" dirty="0">
                <a:ea typeface="ＭＳ Ｐゴシック" pitchFamily="34" charset="-128"/>
              </a:rPr>
              <a:t>For private enterprises</a:t>
            </a:r>
            <a:endParaRPr lang="en-US" dirty="0">
              <a:ea typeface="ＭＳ Ｐゴシック" pitchFamily="34" charset="-128"/>
            </a:endParaRPr>
          </a:p>
        </p:txBody>
      </p:sp>
    </p:spTree>
    <p:extLst>
      <p:ext uri="{BB962C8B-B14F-4D97-AF65-F5344CB8AC3E}">
        <p14:creationId xmlns:p14="http://schemas.microsoft.com/office/powerpoint/2010/main" val="226796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Income Statement </a:t>
            </a:r>
            <a:r>
              <a:rPr lang="en-US" sz="2000" b="0" dirty="0">
                <a:ea typeface="ＭＳ Ｐゴシック" pitchFamily="34" charset="-128"/>
              </a:rPr>
              <a:t>(1 of 2)</a:t>
            </a:r>
            <a:endParaRPr lang="en-US" sz="2000" b="0" dirty="0"/>
          </a:p>
        </p:txBody>
      </p:sp>
      <p:sp>
        <p:nvSpPr>
          <p:cNvPr id="3" name="Content Placeholder 2"/>
          <p:cNvSpPr>
            <a:spLocks noGrp="1"/>
          </p:cNvSpPr>
          <p:nvPr>
            <p:ph idx="1"/>
          </p:nvPr>
        </p:nvSpPr>
        <p:spPr/>
        <p:txBody>
          <a:bodyPr/>
          <a:lstStyle/>
          <a:p>
            <a:r>
              <a:rPr lang="en-US" dirty="0">
                <a:ea typeface="ＭＳ Ｐゴシック" pitchFamily="34" charset="-128"/>
              </a:rPr>
              <a:t>Also called the statement of profit and loss</a:t>
            </a:r>
          </a:p>
          <a:p>
            <a:r>
              <a:rPr lang="en-US" dirty="0">
                <a:ea typeface="ＭＳ Ｐゴシック" pitchFamily="34" charset="-128"/>
              </a:rPr>
              <a:t>Reports two main categories</a:t>
            </a:r>
          </a:p>
          <a:p>
            <a:pPr lvl="1"/>
            <a:r>
              <a:rPr lang="en-US" dirty="0">
                <a:ea typeface="ＭＳ Ｐゴシック" pitchFamily="34" charset="-128"/>
              </a:rPr>
              <a:t>Income (revenues and gains)</a:t>
            </a:r>
          </a:p>
          <a:p>
            <a:pPr lvl="1"/>
            <a:r>
              <a:rPr lang="en-US" dirty="0">
                <a:ea typeface="ＭＳ Ｐゴシック" pitchFamily="34" charset="-128"/>
              </a:rPr>
              <a:t>Expenses and losses</a:t>
            </a:r>
          </a:p>
          <a:p>
            <a:r>
              <a:rPr lang="en-US" dirty="0">
                <a:ea typeface="ＭＳ Ｐゴシック" pitchFamily="34" charset="-128"/>
              </a:rPr>
              <a:t>Shows the </a:t>
            </a:r>
            <a:r>
              <a:rPr lang="en-US" altLang="en-US" dirty="0">
                <a:ea typeface="ＭＳ Ｐゴシック" pitchFamily="34" charset="-128"/>
              </a:rPr>
              <a:t>“</a:t>
            </a:r>
            <a:r>
              <a:rPr lang="en-US" dirty="0">
                <a:ea typeface="ＭＳ Ｐゴシック" pitchFamily="34" charset="-128"/>
              </a:rPr>
              <a:t>bottom line</a:t>
            </a:r>
            <a:r>
              <a:rPr lang="en-US" altLang="en-US" dirty="0">
                <a:ea typeface="ＭＳ Ｐゴシック" pitchFamily="34" charset="-128"/>
              </a:rPr>
              <a:t>”</a:t>
            </a:r>
            <a:endParaRPr lang="en-US" dirty="0">
              <a:ea typeface="ＭＳ Ｐゴシック" pitchFamily="34" charset="-128"/>
            </a:endParaRPr>
          </a:p>
          <a:p>
            <a:pPr lvl="1"/>
            <a:r>
              <a:rPr lang="en-US" dirty="0">
                <a:ea typeface="ＭＳ Ｐゴシック" pitchFamily="34" charset="-128"/>
              </a:rPr>
              <a:t>Net income (if revenue &gt; expenses) or net loss (if revenue &lt; expenses) for the period</a:t>
            </a:r>
          </a:p>
          <a:p>
            <a:r>
              <a:rPr lang="en-US" dirty="0">
                <a:ea typeface="ＭＳ Ｐゴシック" pitchFamily="34" charset="-128"/>
              </a:rPr>
              <a:t>Net income is the most important item in the financial statements</a:t>
            </a:r>
          </a:p>
        </p:txBody>
      </p:sp>
    </p:spTree>
    <p:extLst>
      <p:ext uri="{BB962C8B-B14F-4D97-AF65-F5344CB8AC3E}">
        <p14:creationId xmlns:p14="http://schemas.microsoft.com/office/powerpoint/2010/main" val="29224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85800" y="457200"/>
            <a:ext cx="8229600" cy="563880"/>
          </a:xfrm>
        </p:spPr>
        <p:txBody>
          <a:bodyPr>
            <a:normAutofit fontScale="90000"/>
          </a:bodyPr>
          <a:lstStyle/>
          <a:p>
            <a:r>
              <a:rPr lang="en-US" dirty="0">
                <a:ea typeface="ＭＳ Ｐゴシック" pitchFamily="34" charset="-128"/>
              </a:rPr>
              <a:t>The Income Statement </a:t>
            </a:r>
            <a:r>
              <a:rPr lang="en-US" sz="2000" b="0" dirty="0">
                <a:ea typeface="ＭＳ Ｐゴシック" pitchFamily="34" charset="-128"/>
              </a:rPr>
              <a:t>(2 of 2)</a:t>
            </a:r>
            <a:endParaRPr lang="en-US" sz="2000" b="0" dirty="0"/>
          </a:p>
        </p:txBody>
      </p:sp>
      <p:sp>
        <p:nvSpPr>
          <p:cNvPr id="3" name="Content Placeholder 2"/>
          <p:cNvSpPr>
            <a:spLocks noGrp="1"/>
          </p:cNvSpPr>
          <p:nvPr>
            <p:ph idx="1"/>
          </p:nvPr>
        </p:nvSpPr>
        <p:spPr>
          <a:xfrm>
            <a:off x="685800" y="1146665"/>
            <a:ext cx="7772400" cy="1066800"/>
          </a:xfrm>
          <a:ln w="12700">
            <a:solidFill>
              <a:schemeClr val="tx1"/>
            </a:solidFill>
          </a:ln>
        </p:spPr>
        <p:txBody>
          <a:bodyPr>
            <a:normAutofit/>
          </a:bodyPr>
          <a:lstStyle/>
          <a:p>
            <a:pPr marL="0" lvl="0" indent="0" algn="ctr" fontAlgn="base">
              <a:spcBef>
                <a:spcPct val="0"/>
              </a:spcBef>
              <a:spcAft>
                <a:spcPct val="0"/>
              </a:spcAft>
              <a:buClrTx/>
              <a:buSzTx/>
              <a:buNone/>
            </a:pPr>
            <a:r>
              <a:rPr lang="en-US" sz="1800" b="1" dirty="0">
                <a:ea typeface="ＭＳ Ｐゴシック" pitchFamily="34" charset="-128"/>
              </a:rPr>
              <a:t>ABC Corporation </a:t>
            </a:r>
          </a:p>
          <a:p>
            <a:pPr marL="0" lvl="0" indent="0" algn="ctr" fontAlgn="base">
              <a:spcBef>
                <a:spcPct val="0"/>
              </a:spcBef>
              <a:spcAft>
                <a:spcPct val="0"/>
              </a:spcAft>
              <a:buClrTx/>
              <a:buSzTx/>
              <a:buNone/>
            </a:pPr>
            <a:r>
              <a:rPr lang="en-US" sz="1800" b="1" dirty="0">
                <a:ea typeface="ＭＳ Ｐゴシック" pitchFamily="34" charset="-128"/>
              </a:rPr>
              <a:t>Income Statement </a:t>
            </a:r>
          </a:p>
          <a:p>
            <a:pPr marL="0" lvl="0" indent="0" algn="ctr" fontAlgn="base">
              <a:spcBef>
                <a:spcPct val="0"/>
              </a:spcBef>
              <a:spcAft>
                <a:spcPct val="0"/>
              </a:spcAft>
              <a:buClrTx/>
              <a:buSzTx/>
              <a:buNone/>
            </a:pPr>
            <a:r>
              <a:rPr lang="en-IN" sz="1800" b="1" dirty="0">
                <a:ea typeface="ＭＳ Ｐゴシック" pitchFamily="34" charset="-128"/>
              </a:rPr>
              <a:t>For the Year Ended December 31, 20XX</a:t>
            </a:r>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2171051915"/>
              </p:ext>
            </p:extLst>
          </p:nvPr>
        </p:nvGraphicFramePr>
        <p:xfrm>
          <a:off x="688700" y="2257620"/>
          <a:ext cx="7772400" cy="3688102"/>
        </p:xfrm>
        <a:graphic>
          <a:graphicData uri="http://schemas.openxmlformats.org/drawingml/2006/table">
            <a:tbl>
              <a:tblPr firstRow="1" bandRow="1">
                <a:tableStyleId>{2D5ABB26-0587-4C30-8999-92F81FD0307C}</a:tableStyleId>
              </a:tblPr>
              <a:tblGrid>
                <a:gridCol w="5921829">
                  <a:extLst>
                    <a:ext uri="{9D8B030D-6E8A-4147-A177-3AD203B41FA5}">
                      <a16:colId xmlns:a16="http://schemas.microsoft.com/office/drawing/2014/main" val="20000"/>
                    </a:ext>
                  </a:extLst>
                </a:gridCol>
                <a:gridCol w="1850571">
                  <a:extLst>
                    <a:ext uri="{9D8B030D-6E8A-4147-A177-3AD203B41FA5}">
                      <a16:colId xmlns:a16="http://schemas.microsoft.com/office/drawing/2014/main" val="20001"/>
                    </a:ext>
                  </a:extLst>
                </a:gridCol>
              </a:tblGrid>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Net sales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Other revenue</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Total revenues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Cost of goods sold</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Gross margin</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Selling, general, and administrative expenses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Income from operations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Interest expense</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Income before income taxes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Income tax expense</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Net Income</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dbl" strike="noStrike" cap="none" normalizeH="0" baseline="0" dirty="0">
                          <a:ln>
                            <a:noFill/>
                          </a:ln>
                          <a:solidFill>
                            <a:srgbClr val="000000"/>
                          </a:solidFill>
                          <a:effectLst/>
                          <a:latin typeface="+mn-lt"/>
                          <a:ea typeface="ＭＳ Ｐゴシック" pitchFamily="34" charset="-128"/>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7" name="Rectangle 6">
            <a:extLst>
              <a:ext uri="{FF2B5EF4-FFF2-40B4-BE49-F238E27FC236}">
                <a16:creationId xmlns:a16="http://schemas.microsoft.com/office/drawing/2014/main" id="{1DEC424A-67A7-39DC-84EE-E3BCC7D43FEA}"/>
              </a:ext>
            </a:extLst>
          </p:cNvPr>
          <p:cNvSpPr/>
          <p:nvPr/>
        </p:nvSpPr>
        <p:spPr>
          <a:xfrm>
            <a:off x="666023" y="1336123"/>
            <a:ext cx="1650184"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FF0000"/>
                </a:solidFill>
                <a:effectLst/>
                <a:uLnTx/>
                <a:uFillTx/>
                <a:latin typeface="Arial"/>
                <a:ea typeface="ＭＳ Ｐゴシック" pitchFamily="34" charset="-128"/>
                <a:cs typeface="+mn-cs"/>
              </a:rPr>
              <a:t>Pay attention to the heading</a:t>
            </a:r>
            <a:endParaRPr kumimoji="0" lang="en-CA" sz="1600" b="0" i="0" u="none" strike="noStrike" kern="1200" cap="none" spc="0" normalizeH="0" baseline="0" noProof="0" dirty="0">
              <a:ln>
                <a:noFill/>
              </a:ln>
              <a:solidFill>
                <a:srgbClr val="FF0000"/>
              </a:solidFill>
              <a:effectLst/>
              <a:uLnTx/>
              <a:uFillTx/>
              <a:latin typeface="Arial"/>
              <a:ea typeface="+mn-ea"/>
              <a:cs typeface="+mn-cs"/>
            </a:endParaRPr>
          </a:p>
        </p:txBody>
      </p:sp>
      <p:sp>
        <p:nvSpPr>
          <p:cNvPr id="8" name="Left Brace 7">
            <a:extLst>
              <a:ext uri="{FF2B5EF4-FFF2-40B4-BE49-F238E27FC236}">
                <a16:creationId xmlns:a16="http://schemas.microsoft.com/office/drawing/2014/main" id="{4B0CDCE1-7F85-10D3-66D7-43BD21CDD3EE}"/>
              </a:ext>
            </a:extLst>
          </p:cNvPr>
          <p:cNvSpPr/>
          <p:nvPr/>
        </p:nvSpPr>
        <p:spPr>
          <a:xfrm>
            <a:off x="2104708" y="1235213"/>
            <a:ext cx="211499" cy="92333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Left Brace 8">
            <a:extLst>
              <a:ext uri="{FF2B5EF4-FFF2-40B4-BE49-F238E27FC236}">
                <a16:creationId xmlns:a16="http://schemas.microsoft.com/office/drawing/2014/main" id="{FC663BEC-1CAA-7886-AAC0-7594CB471A06}"/>
              </a:ext>
            </a:extLst>
          </p:cNvPr>
          <p:cNvSpPr/>
          <p:nvPr/>
        </p:nvSpPr>
        <p:spPr>
          <a:xfrm>
            <a:off x="454524" y="2213465"/>
            <a:ext cx="211499" cy="92333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84923EFA-4BA8-D1D8-3CA3-FEB6691E5B87}"/>
              </a:ext>
            </a:extLst>
          </p:cNvPr>
          <p:cNvSpPr/>
          <p:nvPr/>
        </p:nvSpPr>
        <p:spPr>
          <a:xfrm rot="16200000">
            <a:off x="-328681" y="2450962"/>
            <a:ext cx="1150112"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FF0000"/>
                </a:solidFill>
                <a:effectLst/>
                <a:uLnTx/>
                <a:uFillTx/>
                <a:latin typeface="Arial"/>
                <a:ea typeface="ＭＳ Ｐゴシック" pitchFamily="34" charset="-128"/>
                <a:cs typeface="+mn-cs"/>
              </a:rPr>
              <a:t>Revenues</a:t>
            </a:r>
            <a:endParaRPr kumimoji="0" lang="en-CA"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216D662-20D6-CC26-9E06-51A6505ADD36}"/>
              </a:ext>
            </a:extLst>
          </p:cNvPr>
          <p:cNvSpPr/>
          <p:nvPr/>
        </p:nvSpPr>
        <p:spPr>
          <a:xfrm rot="16200000">
            <a:off x="-446990" y="4383815"/>
            <a:ext cx="1401583"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FF0000"/>
                </a:solidFill>
                <a:effectLst/>
                <a:uLnTx/>
                <a:uFillTx/>
                <a:latin typeface="Arial"/>
                <a:ea typeface="ＭＳ Ｐゴシック" pitchFamily="34" charset="-128"/>
                <a:cs typeface="+mn-cs"/>
              </a:rPr>
              <a:t>Expenses</a:t>
            </a:r>
            <a:endParaRPr kumimoji="0" lang="en-CA" sz="1400" b="0" i="0" u="none" strike="noStrike" kern="1200" cap="none" spc="0" normalizeH="0" baseline="0" noProof="0" dirty="0">
              <a:ln>
                <a:noFill/>
              </a:ln>
              <a:solidFill>
                <a:srgbClr val="FF0000"/>
              </a:solidFill>
              <a:effectLst/>
              <a:uLnTx/>
              <a:uFillTx/>
              <a:latin typeface="Arial"/>
              <a:cs typeface="+mn-cs"/>
            </a:endParaRPr>
          </a:p>
        </p:txBody>
      </p:sp>
      <p:sp>
        <p:nvSpPr>
          <p:cNvPr id="12" name="Left Brace 11">
            <a:extLst>
              <a:ext uri="{FF2B5EF4-FFF2-40B4-BE49-F238E27FC236}">
                <a16:creationId xmlns:a16="http://schemas.microsoft.com/office/drawing/2014/main" id="{D9380548-1499-959C-97A5-DC6F1A08ABBF}"/>
              </a:ext>
            </a:extLst>
          </p:cNvPr>
          <p:cNvSpPr/>
          <p:nvPr/>
        </p:nvSpPr>
        <p:spPr>
          <a:xfrm>
            <a:off x="400264" y="3332135"/>
            <a:ext cx="211499" cy="221806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35344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Statement of Retained Earnings </a:t>
            </a:r>
            <a:r>
              <a:rPr lang="en-US" sz="2000" b="0" dirty="0">
                <a:ea typeface="ＭＳ Ｐゴシック" pitchFamily="34" charset="-128"/>
              </a:rPr>
              <a:t>(1 of 3)</a:t>
            </a:r>
            <a:endParaRPr lang="en-US" sz="2000" b="0" dirty="0"/>
          </a:p>
        </p:txBody>
      </p:sp>
      <p:sp>
        <p:nvSpPr>
          <p:cNvPr id="3" name="Content Placeholder 2"/>
          <p:cNvSpPr>
            <a:spLocks noGrp="1"/>
          </p:cNvSpPr>
          <p:nvPr>
            <p:ph idx="1"/>
          </p:nvPr>
        </p:nvSpPr>
        <p:spPr>
          <a:xfrm>
            <a:off x="457200" y="1600200"/>
            <a:ext cx="8229600" cy="4571999"/>
          </a:xfrm>
        </p:spPr>
        <p:txBody>
          <a:bodyPr/>
          <a:lstStyle/>
          <a:p>
            <a:r>
              <a:rPr lang="en-US" dirty="0">
                <a:ea typeface="ＭＳ Ｐゴシック" pitchFamily="34" charset="-128"/>
              </a:rPr>
              <a:t>Retained earnings is the portion of net income a company has kept over a period of years</a:t>
            </a:r>
          </a:p>
          <a:p>
            <a:r>
              <a:rPr lang="en-US" dirty="0">
                <a:ea typeface="ＭＳ Ｐゴシック" pitchFamily="34" charset="-128"/>
              </a:rPr>
              <a:t>Positive balance indicates revenues exceeded expenses</a:t>
            </a:r>
          </a:p>
          <a:p>
            <a:r>
              <a:rPr lang="en-US" dirty="0">
                <a:ea typeface="ＭＳ Ｐゴシック" pitchFamily="34" charset="-128"/>
              </a:rPr>
              <a:t>Accumulated deficit indicates expenses have exceeded revenues</a:t>
            </a:r>
          </a:p>
          <a:p>
            <a:r>
              <a:rPr lang="en-US" dirty="0">
                <a:ea typeface="ＭＳ Ｐゴシック" pitchFamily="34" charset="-128"/>
              </a:rPr>
              <a:t>Net income (or net loss) flows from the Income Statement to the Statement of Retained Earnings</a:t>
            </a:r>
          </a:p>
        </p:txBody>
      </p:sp>
    </p:spTree>
    <p:extLst>
      <p:ext uri="{BB962C8B-B14F-4D97-AF65-F5344CB8AC3E}">
        <p14:creationId xmlns:p14="http://schemas.microsoft.com/office/powerpoint/2010/main" val="4081677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Statement of Retained Earnings </a:t>
            </a:r>
            <a:r>
              <a:rPr lang="en-US" sz="2000" b="0" dirty="0">
                <a:ea typeface="ＭＳ Ｐゴシック" pitchFamily="34" charset="-128"/>
              </a:rPr>
              <a:t>(2 of 3)</a:t>
            </a:r>
            <a:endParaRPr lang="en-US" sz="2000" b="0" dirty="0"/>
          </a:p>
        </p:txBody>
      </p:sp>
      <p:sp>
        <p:nvSpPr>
          <p:cNvPr id="3" name="Content Placeholder 2"/>
          <p:cNvSpPr>
            <a:spLocks noGrp="1"/>
          </p:cNvSpPr>
          <p:nvPr>
            <p:ph idx="1"/>
          </p:nvPr>
        </p:nvSpPr>
        <p:spPr/>
        <p:txBody>
          <a:bodyPr/>
          <a:lstStyle/>
          <a:p>
            <a:r>
              <a:rPr lang="en-US" dirty="0">
                <a:ea typeface="ＭＳ Ｐゴシック" pitchFamily="34" charset="-128"/>
              </a:rPr>
              <a:t>Opens with beginning retained earnings balance</a:t>
            </a:r>
          </a:p>
          <a:p>
            <a:r>
              <a:rPr lang="en-US" dirty="0">
                <a:ea typeface="ＭＳ Ｐゴシック" pitchFamily="34" charset="-128"/>
              </a:rPr>
              <a:t>Adds net income (or subtracts net loss) </a:t>
            </a:r>
          </a:p>
          <a:p>
            <a:pPr lvl="1"/>
            <a:r>
              <a:rPr lang="en-US" dirty="0">
                <a:ea typeface="ＭＳ Ｐゴシック" pitchFamily="34" charset="-128"/>
              </a:rPr>
              <a:t>Which flows from the Income Statement</a:t>
            </a:r>
          </a:p>
          <a:p>
            <a:r>
              <a:rPr lang="en-US" dirty="0">
                <a:ea typeface="ＭＳ Ｐゴシック" pitchFamily="34" charset="-128"/>
              </a:rPr>
              <a:t>Subtracts dividends</a:t>
            </a:r>
          </a:p>
          <a:p>
            <a:r>
              <a:rPr lang="en-US" dirty="0">
                <a:ea typeface="ＭＳ Ｐゴシック" pitchFamily="34" charset="-128"/>
              </a:rPr>
              <a:t>Reports ending retained earnings balance</a:t>
            </a:r>
            <a:endParaRPr lang="en-US" dirty="0"/>
          </a:p>
        </p:txBody>
      </p:sp>
    </p:spTree>
    <p:extLst>
      <p:ext uri="{BB962C8B-B14F-4D97-AF65-F5344CB8AC3E}">
        <p14:creationId xmlns:p14="http://schemas.microsoft.com/office/powerpoint/2010/main" val="280186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15372"/>
            <a:ext cx="8229600" cy="1097280"/>
          </a:xfrm>
        </p:spPr>
        <p:txBody>
          <a:bodyPr/>
          <a:lstStyle/>
          <a:p>
            <a:r>
              <a:rPr lang="en-US" dirty="0">
                <a:ea typeface="ＭＳ Ｐゴシック" pitchFamily="34" charset="-128"/>
              </a:rPr>
              <a:t>Statement of Retained Earnings </a:t>
            </a:r>
            <a:r>
              <a:rPr lang="en-US" sz="2000" b="0" dirty="0">
                <a:ea typeface="ＭＳ Ｐゴシック" pitchFamily="34" charset="-128"/>
              </a:rPr>
              <a:t>(3 of 3)</a:t>
            </a:r>
            <a:endParaRPr lang="en-US" sz="2000" b="0" dirty="0"/>
          </a:p>
        </p:txBody>
      </p:sp>
      <p:sp>
        <p:nvSpPr>
          <p:cNvPr id="3" name="Content Placeholder 2"/>
          <p:cNvSpPr>
            <a:spLocks noGrp="1"/>
          </p:cNvSpPr>
          <p:nvPr>
            <p:ph idx="1"/>
          </p:nvPr>
        </p:nvSpPr>
        <p:spPr>
          <a:xfrm>
            <a:off x="685800" y="1866900"/>
            <a:ext cx="7772400" cy="1333500"/>
          </a:xfrm>
          <a:ln w="12700">
            <a:solidFill>
              <a:schemeClr val="tx1"/>
            </a:solidFill>
          </a:ln>
        </p:spPr>
        <p:txBody>
          <a:bodyPr>
            <a:normAutofit/>
          </a:bodyPr>
          <a:lstStyle/>
          <a:p>
            <a:pPr marL="0" lvl="0" indent="0" algn="ctr" fontAlgn="base">
              <a:spcBef>
                <a:spcPct val="0"/>
              </a:spcBef>
              <a:spcAft>
                <a:spcPct val="0"/>
              </a:spcAft>
              <a:buClrTx/>
              <a:buSzTx/>
              <a:buNone/>
            </a:pPr>
            <a:r>
              <a:rPr lang="en-US" sz="1800" b="1" dirty="0">
                <a:ea typeface="ＭＳ Ｐゴシック" pitchFamily="34" charset="-128"/>
              </a:rPr>
              <a:t>ABC Corporation </a:t>
            </a:r>
          </a:p>
          <a:p>
            <a:pPr marL="0" lvl="0" indent="0" algn="ctr" fontAlgn="base">
              <a:spcBef>
                <a:spcPct val="0"/>
              </a:spcBef>
              <a:spcAft>
                <a:spcPct val="0"/>
              </a:spcAft>
              <a:buClrTx/>
              <a:buSzTx/>
              <a:buNone/>
            </a:pPr>
            <a:r>
              <a:rPr lang="en-US" sz="1800" b="1" dirty="0">
                <a:ea typeface="ＭＳ Ｐゴシック" pitchFamily="34" charset="-128"/>
              </a:rPr>
              <a:t>Statement of Retained Earnings</a:t>
            </a:r>
          </a:p>
          <a:p>
            <a:pPr marL="0" lvl="0" indent="0" algn="ctr" fontAlgn="base">
              <a:spcBef>
                <a:spcPct val="0"/>
              </a:spcBef>
              <a:spcAft>
                <a:spcPct val="0"/>
              </a:spcAft>
              <a:buClrTx/>
              <a:buSzTx/>
              <a:buNone/>
            </a:pPr>
            <a:r>
              <a:rPr lang="en-IN" sz="1800" b="1" dirty="0">
                <a:ea typeface="ＭＳ Ｐゴシック" pitchFamily="34" charset="-128"/>
              </a:rPr>
              <a:t>For the Year Ended December 31, 20X2</a:t>
            </a:r>
            <a:endParaRPr lang="en-US" sz="1800" dirty="0"/>
          </a:p>
        </p:txBody>
      </p:sp>
      <p:graphicFrame>
        <p:nvGraphicFramePr>
          <p:cNvPr id="2" name="Table 1"/>
          <p:cNvGraphicFramePr>
            <a:graphicFrameLocks noGrp="1"/>
          </p:cNvGraphicFramePr>
          <p:nvPr>
            <p:extLst>
              <p:ext uri="{D42A27DB-BD31-4B8C-83A1-F6EECF244321}">
                <p14:modId xmlns:p14="http://schemas.microsoft.com/office/powerpoint/2010/main" val="1512109035"/>
              </p:ext>
            </p:extLst>
          </p:nvPr>
        </p:nvGraphicFramePr>
        <p:xfrm>
          <a:off x="685800" y="3276600"/>
          <a:ext cx="7772400" cy="1526964"/>
        </p:xfrm>
        <a:graphic>
          <a:graphicData uri="http://schemas.openxmlformats.org/drawingml/2006/table">
            <a:tbl>
              <a:tblPr firstRow="1" bandRow="1">
                <a:tableStyleId>{2D5ABB26-0587-4C30-8999-92F81FD0307C}</a:tableStyleId>
              </a:tblPr>
              <a:tblGrid>
                <a:gridCol w="5921829">
                  <a:extLst>
                    <a:ext uri="{9D8B030D-6E8A-4147-A177-3AD203B41FA5}">
                      <a16:colId xmlns:a16="http://schemas.microsoft.com/office/drawing/2014/main" val="20000"/>
                    </a:ext>
                  </a:extLst>
                </a:gridCol>
                <a:gridCol w="1850571">
                  <a:extLst>
                    <a:ext uri="{9D8B030D-6E8A-4147-A177-3AD203B41FA5}">
                      <a16:colId xmlns:a16="http://schemas.microsoft.com/office/drawing/2014/main" val="20001"/>
                    </a:ext>
                  </a:extLst>
                </a:gridCol>
              </a:tblGrid>
              <a:tr h="3972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Retained earnings, December 31, 20X1</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72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Plus: Net income</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72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Less: Dividends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621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Retained earnings, December 31, 20X2</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44B10CC-E3B8-10B9-EA28-006516D12E0E}"/>
              </a:ext>
            </a:extLst>
          </p:cNvPr>
          <p:cNvSpPr/>
          <p:nvPr/>
        </p:nvSpPr>
        <p:spPr>
          <a:xfrm>
            <a:off x="685800" y="1853505"/>
            <a:ext cx="1401583"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a:ea typeface="ＭＳ Ｐゴシック" pitchFamily="34" charset="-128"/>
                <a:cs typeface="+mn-cs"/>
              </a:rPr>
              <a:t>Pay attention to the heading</a:t>
            </a:r>
            <a:endParaRPr kumimoji="0" lang="en-CA"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6" name="Left Brace 5">
            <a:extLst>
              <a:ext uri="{FF2B5EF4-FFF2-40B4-BE49-F238E27FC236}">
                <a16:creationId xmlns:a16="http://schemas.microsoft.com/office/drawing/2014/main" id="{0DBBA201-4C4F-3322-8D8E-03B64107717C}"/>
              </a:ext>
            </a:extLst>
          </p:cNvPr>
          <p:cNvSpPr/>
          <p:nvPr/>
        </p:nvSpPr>
        <p:spPr>
          <a:xfrm>
            <a:off x="1973083" y="1952030"/>
            <a:ext cx="228600" cy="83820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Rectangle 6">
            <a:extLst>
              <a:ext uri="{FF2B5EF4-FFF2-40B4-BE49-F238E27FC236}">
                <a16:creationId xmlns:a16="http://schemas.microsoft.com/office/drawing/2014/main" id="{E5B538DE-73FB-C0C2-DDCB-2C4997B8B79C}"/>
              </a:ext>
            </a:extLst>
          </p:cNvPr>
          <p:cNvSpPr/>
          <p:nvPr/>
        </p:nvSpPr>
        <p:spPr>
          <a:xfrm rot="16200000">
            <a:off x="-416675" y="3781143"/>
            <a:ext cx="137841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a:ea typeface="ＭＳ Ｐゴシック" pitchFamily="34" charset="-128"/>
                <a:cs typeface="+mn-cs"/>
              </a:rPr>
              <a:t>Elements</a:t>
            </a:r>
            <a:endParaRPr kumimoji="0" lang="en-CA"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8" name="Left Brace 7">
            <a:extLst>
              <a:ext uri="{FF2B5EF4-FFF2-40B4-BE49-F238E27FC236}">
                <a16:creationId xmlns:a16="http://schemas.microsoft.com/office/drawing/2014/main" id="{5DE1B812-5404-58C2-B433-3E61F8839B0C}"/>
              </a:ext>
            </a:extLst>
          </p:cNvPr>
          <p:cNvSpPr/>
          <p:nvPr/>
        </p:nvSpPr>
        <p:spPr>
          <a:xfrm>
            <a:off x="457200" y="3288048"/>
            <a:ext cx="228600" cy="1526963"/>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val 9">
            <a:extLst>
              <a:ext uri="{FF2B5EF4-FFF2-40B4-BE49-F238E27FC236}">
                <a16:creationId xmlns:a16="http://schemas.microsoft.com/office/drawing/2014/main" id="{10B2FB8E-F54D-90E6-ED7E-B4B82D01677D}"/>
              </a:ext>
            </a:extLst>
          </p:cNvPr>
          <p:cNvSpPr/>
          <p:nvPr/>
        </p:nvSpPr>
        <p:spPr>
          <a:xfrm>
            <a:off x="3726712" y="4464778"/>
            <a:ext cx="762000" cy="380479"/>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err="1">
              <a:ln>
                <a:noFill/>
              </a:ln>
              <a:solidFill>
                <a:prstClr val="black"/>
              </a:solidFill>
              <a:effectLst/>
              <a:uLnTx/>
              <a:uFillTx/>
              <a:latin typeface="Arial"/>
              <a:ea typeface="+mn-ea"/>
              <a:cs typeface="+mn-cs"/>
            </a:endParaRPr>
          </a:p>
        </p:txBody>
      </p:sp>
      <p:sp>
        <p:nvSpPr>
          <p:cNvPr id="11" name="Oval 10">
            <a:extLst>
              <a:ext uri="{FF2B5EF4-FFF2-40B4-BE49-F238E27FC236}">
                <a16:creationId xmlns:a16="http://schemas.microsoft.com/office/drawing/2014/main" id="{8840D4CE-34F8-3A50-D4AA-D8C795E5383A}"/>
              </a:ext>
            </a:extLst>
          </p:cNvPr>
          <p:cNvSpPr/>
          <p:nvPr/>
        </p:nvSpPr>
        <p:spPr>
          <a:xfrm>
            <a:off x="3726712" y="3276600"/>
            <a:ext cx="762000" cy="380479"/>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err="1">
              <a:ln>
                <a:noFill/>
              </a:ln>
              <a:solidFill>
                <a:prstClr val="black"/>
              </a:solidFill>
              <a:effectLst/>
              <a:uLnTx/>
              <a:uFillTx/>
              <a:latin typeface="Arial"/>
              <a:ea typeface="+mn-ea"/>
              <a:cs typeface="+mn-cs"/>
            </a:endParaRPr>
          </a:p>
        </p:txBody>
      </p:sp>
      <p:sp>
        <p:nvSpPr>
          <p:cNvPr id="12" name="TextBox 11">
            <a:extLst>
              <a:ext uri="{FF2B5EF4-FFF2-40B4-BE49-F238E27FC236}">
                <a16:creationId xmlns:a16="http://schemas.microsoft.com/office/drawing/2014/main" id="{F30FCB79-EAAB-F271-7646-2CF194FA42C3}"/>
              </a:ext>
            </a:extLst>
          </p:cNvPr>
          <p:cNvSpPr txBox="1"/>
          <p:nvPr/>
        </p:nvSpPr>
        <p:spPr>
          <a:xfrm>
            <a:off x="6270798" y="5151217"/>
            <a:ext cx="2724346" cy="1077218"/>
          </a:xfrm>
          <a:prstGeom prst="rect">
            <a:avLst/>
          </a:prstGeom>
          <a:noFill/>
        </p:spPr>
        <p:txBody>
          <a:bodyPr wrap="square">
            <a:spAutoFit/>
          </a:bodyPr>
          <a:lstStyle/>
          <a:p>
            <a:r>
              <a:rPr kumimoji="0" lang="en-US" sz="1600" b="0" i="0" u="none" strike="noStrike" kern="1200" cap="none" spc="0" normalizeH="0" baseline="0" noProof="0" dirty="0">
                <a:ln>
                  <a:noFill/>
                </a:ln>
                <a:solidFill>
                  <a:srgbClr val="FF0000"/>
                </a:solidFill>
                <a:effectLst/>
                <a:uLnTx/>
                <a:uFillTx/>
                <a:latin typeface="Arial"/>
                <a:ea typeface="ＭＳ Ｐゴシック" pitchFamily="34" charset="-128"/>
                <a:cs typeface="+mn-cs"/>
              </a:rPr>
              <a:t>This balance is carried forward to the shareholders’ equity section of the balance sheet</a:t>
            </a:r>
            <a:endParaRPr lang="en-US" sz="1600" dirty="0"/>
          </a:p>
        </p:txBody>
      </p:sp>
      <p:cxnSp>
        <p:nvCxnSpPr>
          <p:cNvPr id="13" name="Straight Arrow Connector 12">
            <a:extLst>
              <a:ext uri="{FF2B5EF4-FFF2-40B4-BE49-F238E27FC236}">
                <a16:creationId xmlns:a16="http://schemas.microsoft.com/office/drawing/2014/main" id="{605AF633-A9DA-EF7F-DECC-F274632E33CB}"/>
              </a:ext>
            </a:extLst>
          </p:cNvPr>
          <p:cNvCxnSpPr>
            <a:cxnSpLocks/>
          </p:cNvCxnSpPr>
          <p:nvPr/>
        </p:nvCxnSpPr>
        <p:spPr>
          <a:xfrm>
            <a:off x="7852930" y="4803564"/>
            <a:ext cx="0" cy="4572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8378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Balance Sheet</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Also called the Statement of Financial Position</a:t>
            </a:r>
          </a:p>
          <a:p>
            <a:r>
              <a:rPr lang="en-US" dirty="0">
                <a:ea typeface="ＭＳ Ｐゴシック" pitchFamily="34" charset="-128"/>
              </a:rPr>
              <a:t>Reports assets, liabilities and owners</a:t>
            </a:r>
            <a:r>
              <a:rPr lang="en-US" altLang="en-US" dirty="0">
                <a:ea typeface="ＭＳ Ｐゴシック" pitchFamily="34" charset="-128"/>
              </a:rPr>
              <a:t>’</a:t>
            </a:r>
            <a:r>
              <a:rPr lang="en-US" dirty="0">
                <a:ea typeface="ＭＳ Ｐゴシック" pitchFamily="34" charset="-128"/>
              </a:rPr>
              <a:t> equity</a:t>
            </a:r>
          </a:p>
          <a:p>
            <a:r>
              <a:rPr lang="en-US" dirty="0">
                <a:ea typeface="ＭＳ Ｐゴシック" pitchFamily="34" charset="-128"/>
              </a:rPr>
              <a:t>Shows that </a:t>
            </a:r>
            <a:r>
              <a:rPr lang="en-US" b="1" dirty="0">
                <a:ea typeface="ＭＳ Ｐゴシック" pitchFamily="34" charset="-128"/>
              </a:rPr>
              <a:t>Assets = Liabilities + Owners</a:t>
            </a:r>
            <a:r>
              <a:rPr lang="en-US" altLang="en-US" b="1" dirty="0">
                <a:ea typeface="ＭＳ Ｐゴシック" pitchFamily="34" charset="-128"/>
              </a:rPr>
              <a:t>’</a:t>
            </a:r>
            <a:r>
              <a:rPr lang="en-US" b="1" dirty="0">
                <a:ea typeface="ＭＳ Ｐゴシック" pitchFamily="34" charset="-128"/>
              </a:rPr>
              <a:t> Equity</a:t>
            </a:r>
          </a:p>
          <a:p>
            <a:endParaRPr lang="en-US" b="1" dirty="0">
              <a:ea typeface="ＭＳ Ｐゴシック" pitchFamily="34" charset="-128"/>
            </a:endParaRPr>
          </a:p>
          <a:p>
            <a:pPr marL="0" indent="0">
              <a:buNone/>
            </a:pPr>
            <a:endParaRPr lang="en-US" b="1" dirty="0">
              <a:ea typeface="ＭＳ Ｐゴシック" pitchFamily="34" charset="-128"/>
            </a:endParaRPr>
          </a:p>
          <a:p>
            <a:r>
              <a:rPr lang="en-US" dirty="0">
                <a:ea typeface="ＭＳ Ｐゴシック" pitchFamily="34" charset="-128"/>
              </a:rPr>
              <a:t>Reports retained earnings, which comes from the statement of retained earnings</a:t>
            </a:r>
          </a:p>
        </p:txBody>
      </p:sp>
      <p:sp>
        <p:nvSpPr>
          <p:cNvPr id="4" name="TextBox 3">
            <a:extLst>
              <a:ext uri="{FF2B5EF4-FFF2-40B4-BE49-F238E27FC236}">
                <a16:creationId xmlns:a16="http://schemas.microsoft.com/office/drawing/2014/main" id="{803A3C2E-FAE1-655C-F0FF-F4926BAF8C17}"/>
              </a:ext>
            </a:extLst>
          </p:cNvPr>
          <p:cNvSpPr txBox="1"/>
          <p:nvPr/>
        </p:nvSpPr>
        <p:spPr>
          <a:xfrm>
            <a:off x="1135272" y="3372170"/>
            <a:ext cx="2724346" cy="338554"/>
          </a:xfrm>
          <a:prstGeom prst="rect">
            <a:avLst/>
          </a:prstGeom>
          <a:noFill/>
        </p:spPr>
        <p:txBody>
          <a:bodyPr wrap="square">
            <a:spAutoFit/>
          </a:bodyPr>
          <a:lstStyle/>
          <a:p>
            <a:r>
              <a:rPr kumimoji="0" lang="en-US" sz="1600" b="0" i="0" u="none" strike="noStrike" kern="1200" cap="none" spc="0" normalizeH="0" baseline="0" noProof="0" dirty="0">
                <a:ln>
                  <a:noFill/>
                </a:ln>
                <a:solidFill>
                  <a:srgbClr val="FF0000"/>
                </a:solidFill>
                <a:effectLst/>
                <a:uLnTx/>
                <a:uFillTx/>
                <a:latin typeface="Arial"/>
                <a:ea typeface="ＭＳ Ｐゴシック" pitchFamily="34" charset="-128"/>
                <a:cs typeface="+mn-cs"/>
              </a:rPr>
              <a:t>What the company OWNES</a:t>
            </a:r>
            <a:endParaRPr lang="en-US" sz="1600" dirty="0"/>
          </a:p>
        </p:txBody>
      </p:sp>
      <p:sp>
        <p:nvSpPr>
          <p:cNvPr id="5" name="TextBox 4">
            <a:extLst>
              <a:ext uri="{FF2B5EF4-FFF2-40B4-BE49-F238E27FC236}">
                <a16:creationId xmlns:a16="http://schemas.microsoft.com/office/drawing/2014/main" id="{220C855A-3CC1-691D-6826-C598AF02565C}"/>
              </a:ext>
            </a:extLst>
          </p:cNvPr>
          <p:cNvSpPr txBox="1"/>
          <p:nvPr/>
        </p:nvSpPr>
        <p:spPr>
          <a:xfrm>
            <a:off x="4533561" y="3372170"/>
            <a:ext cx="3568448" cy="584775"/>
          </a:xfrm>
          <a:prstGeom prst="rect">
            <a:avLst/>
          </a:prstGeom>
          <a:noFill/>
        </p:spPr>
        <p:txBody>
          <a:bodyPr wrap="square">
            <a:spAutoFit/>
          </a:bodyPr>
          <a:lstStyle/>
          <a:p>
            <a:pPr algn="ctr"/>
            <a:r>
              <a:rPr kumimoji="0" lang="en-US" sz="1600" b="0" i="0" u="none" strike="noStrike" kern="1200" cap="none" spc="0" normalizeH="0" baseline="0" noProof="0" dirty="0">
                <a:ln>
                  <a:noFill/>
                </a:ln>
                <a:solidFill>
                  <a:srgbClr val="FF0000"/>
                </a:solidFill>
                <a:effectLst/>
                <a:uLnTx/>
                <a:uFillTx/>
                <a:latin typeface="Arial"/>
                <a:ea typeface="ＭＳ Ｐゴシック" pitchFamily="34" charset="-128"/>
                <a:cs typeface="+mn-cs"/>
              </a:rPr>
              <a:t>What the company OWES to creditors and shareholders</a:t>
            </a:r>
            <a:endParaRPr lang="en-US" sz="1600" dirty="0"/>
          </a:p>
        </p:txBody>
      </p:sp>
      <p:cxnSp>
        <p:nvCxnSpPr>
          <p:cNvPr id="6" name="Straight Arrow Connector 5">
            <a:extLst>
              <a:ext uri="{FF2B5EF4-FFF2-40B4-BE49-F238E27FC236}">
                <a16:creationId xmlns:a16="http://schemas.microsoft.com/office/drawing/2014/main" id="{14D4C6EC-2D8C-CDAF-3819-D21BD81092BE}"/>
              </a:ext>
            </a:extLst>
          </p:cNvPr>
          <p:cNvCxnSpPr>
            <a:cxnSpLocks/>
          </p:cNvCxnSpPr>
          <p:nvPr/>
        </p:nvCxnSpPr>
        <p:spPr>
          <a:xfrm>
            <a:off x="2611079" y="2914970"/>
            <a:ext cx="0" cy="4572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E2AC555-6C80-4D9C-9D6E-56F7874AF882}"/>
              </a:ext>
            </a:extLst>
          </p:cNvPr>
          <p:cNvCxnSpPr>
            <a:cxnSpLocks/>
          </p:cNvCxnSpPr>
          <p:nvPr/>
        </p:nvCxnSpPr>
        <p:spPr>
          <a:xfrm>
            <a:off x="4695061" y="2914970"/>
            <a:ext cx="759441" cy="4572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131B2AC-DAA9-4469-27D8-6499E57EB1F8}"/>
              </a:ext>
            </a:extLst>
          </p:cNvPr>
          <p:cNvCxnSpPr>
            <a:cxnSpLocks/>
          </p:cNvCxnSpPr>
          <p:nvPr/>
        </p:nvCxnSpPr>
        <p:spPr>
          <a:xfrm flipH="1">
            <a:off x="6464595" y="2914970"/>
            <a:ext cx="286093" cy="51403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16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Assets on the Balance Sheet</a:t>
            </a:r>
            <a:r>
              <a:rPr lang="en-US" sz="2000" dirty="0"/>
              <a:t> </a:t>
            </a:r>
            <a:r>
              <a:rPr lang="en-US" sz="2000" b="0" dirty="0"/>
              <a:t>(1 of 2)</a:t>
            </a:r>
          </a:p>
        </p:txBody>
      </p:sp>
      <p:sp>
        <p:nvSpPr>
          <p:cNvPr id="3" name="Text Placeholder 2"/>
          <p:cNvSpPr>
            <a:spLocks noGrp="1"/>
          </p:cNvSpPr>
          <p:nvPr>
            <p:ph type="body" idx="1"/>
          </p:nvPr>
        </p:nvSpPr>
        <p:spPr>
          <a:xfrm>
            <a:off x="457200" y="1600200"/>
            <a:ext cx="4040982" cy="491898"/>
          </a:xfrm>
          <a:solidFill>
            <a:schemeClr val="bg1"/>
          </a:solidFill>
          <a:ln>
            <a:noFill/>
          </a:ln>
        </p:spPr>
        <p:txBody>
          <a:bodyPr/>
          <a:lstStyle/>
          <a:p>
            <a:r>
              <a:rPr lang="en-US" sz="2000" b="1" dirty="0"/>
              <a:t>Current Assets</a:t>
            </a:r>
          </a:p>
        </p:txBody>
      </p:sp>
      <p:sp>
        <p:nvSpPr>
          <p:cNvPr id="4" name="Content Placeholder 3"/>
          <p:cNvSpPr>
            <a:spLocks noGrp="1"/>
          </p:cNvSpPr>
          <p:nvPr>
            <p:ph sz="half" idx="2"/>
          </p:nvPr>
        </p:nvSpPr>
        <p:spPr>
          <a:xfrm>
            <a:off x="457200" y="2168298"/>
            <a:ext cx="4040982" cy="3927702"/>
          </a:xfrm>
        </p:spPr>
        <p:txBody>
          <a:bodyPr/>
          <a:lstStyle/>
          <a:p>
            <a:pPr>
              <a:spcBef>
                <a:spcPts val="600"/>
              </a:spcBef>
            </a:pPr>
            <a:r>
              <a:rPr lang="en-US" dirty="0">
                <a:ea typeface="ＭＳ Ｐゴシック" pitchFamily="34" charset="-128"/>
              </a:rPr>
              <a:t>Expected to be converted to cash, sold or consumed in the next year or within the business</a:t>
            </a:r>
            <a:r>
              <a:rPr lang="en-US" altLang="en-US" dirty="0">
                <a:ea typeface="ＭＳ Ｐゴシック" pitchFamily="34" charset="-128"/>
              </a:rPr>
              <a:t>’</a:t>
            </a:r>
            <a:r>
              <a:rPr lang="en-US" dirty="0">
                <a:ea typeface="ＭＳ Ｐゴシック" pitchFamily="34" charset="-128"/>
              </a:rPr>
              <a:t>s operating cycle (whichever is longer)</a:t>
            </a:r>
          </a:p>
          <a:p>
            <a:pPr>
              <a:spcBef>
                <a:spcPts val="600"/>
              </a:spcBef>
            </a:pPr>
            <a:r>
              <a:rPr lang="en-US" dirty="0">
                <a:ea typeface="ＭＳ Ｐゴシック" pitchFamily="34" charset="-128"/>
              </a:rPr>
              <a:t>Includes</a:t>
            </a:r>
          </a:p>
          <a:p>
            <a:pPr lvl="1"/>
            <a:r>
              <a:rPr lang="en-US" dirty="0">
                <a:ea typeface="ＭＳ Ｐゴシック" pitchFamily="34" charset="-128"/>
              </a:rPr>
              <a:t>Cash and cash equivalents</a:t>
            </a:r>
          </a:p>
          <a:p>
            <a:pPr lvl="1"/>
            <a:r>
              <a:rPr lang="en-US" dirty="0">
                <a:ea typeface="ＭＳ Ｐゴシック" pitchFamily="34" charset="-128"/>
              </a:rPr>
              <a:t>Short-term investments</a:t>
            </a:r>
          </a:p>
        </p:txBody>
      </p:sp>
      <p:sp>
        <p:nvSpPr>
          <p:cNvPr id="5" name="Text Placeholder 4"/>
          <p:cNvSpPr>
            <a:spLocks noGrp="1"/>
          </p:cNvSpPr>
          <p:nvPr>
            <p:ph type="body" sz="quarter" idx="3"/>
          </p:nvPr>
        </p:nvSpPr>
        <p:spPr>
          <a:xfrm>
            <a:off x="4617720" y="1600200"/>
            <a:ext cx="4059936" cy="491898"/>
          </a:xfrm>
          <a:ln>
            <a:noFill/>
          </a:ln>
        </p:spPr>
        <p:txBody>
          <a:bodyPr/>
          <a:lstStyle/>
          <a:p>
            <a:r>
              <a:rPr lang="en-US" sz="2000" b="1" dirty="0"/>
              <a:t>Non-Current Assets</a:t>
            </a:r>
          </a:p>
        </p:txBody>
      </p:sp>
      <p:sp>
        <p:nvSpPr>
          <p:cNvPr id="6" name="Content Placeholder 5"/>
          <p:cNvSpPr>
            <a:spLocks noGrp="1"/>
          </p:cNvSpPr>
          <p:nvPr>
            <p:ph sz="quarter" idx="4"/>
          </p:nvPr>
        </p:nvSpPr>
        <p:spPr>
          <a:xfrm>
            <a:off x="4629150" y="2168298"/>
            <a:ext cx="4057650" cy="4080102"/>
          </a:xfrm>
        </p:spPr>
        <p:txBody>
          <a:bodyPr>
            <a:normAutofit fontScale="92500"/>
          </a:bodyPr>
          <a:lstStyle/>
          <a:p>
            <a:pPr>
              <a:spcBef>
                <a:spcPts val="600"/>
              </a:spcBef>
            </a:pPr>
            <a:r>
              <a:rPr lang="en-US" dirty="0">
                <a:ea typeface="ＭＳ Ｐゴシック" pitchFamily="34" charset="-128"/>
              </a:rPr>
              <a:t>Will be held longer than one year</a:t>
            </a:r>
          </a:p>
          <a:p>
            <a:pPr>
              <a:spcBef>
                <a:spcPts val="600"/>
              </a:spcBef>
            </a:pPr>
            <a:r>
              <a:rPr lang="en-US" dirty="0">
                <a:ea typeface="ＭＳ Ｐゴシック" pitchFamily="34" charset="-128"/>
              </a:rPr>
              <a:t>Includes</a:t>
            </a:r>
          </a:p>
          <a:p>
            <a:pPr lvl="1"/>
            <a:r>
              <a:rPr lang="en-US" dirty="0">
                <a:ea typeface="ＭＳ Ｐゴシック" pitchFamily="34" charset="-128"/>
              </a:rPr>
              <a:t>Property and equipment</a:t>
            </a:r>
          </a:p>
          <a:p>
            <a:pPr lvl="2"/>
            <a:r>
              <a:rPr lang="en-US" dirty="0">
                <a:ea typeface="ＭＳ Ｐゴシック" pitchFamily="34" charset="-128"/>
              </a:rPr>
              <a:t>Land</a:t>
            </a:r>
          </a:p>
          <a:p>
            <a:pPr lvl="2"/>
            <a:r>
              <a:rPr lang="en-US" dirty="0">
                <a:ea typeface="ＭＳ Ｐゴシック" pitchFamily="34" charset="-128"/>
              </a:rPr>
              <a:t>Buildings</a:t>
            </a:r>
          </a:p>
          <a:p>
            <a:pPr lvl="2"/>
            <a:r>
              <a:rPr lang="en-US" dirty="0">
                <a:ea typeface="ＭＳ Ｐゴシック" pitchFamily="34" charset="-128"/>
              </a:rPr>
              <a:t>Computers</a:t>
            </a:r>
          </a:p>
          <a:p>
            <a:pPr lvl="2"/>
            <a:r>
              <a:rPr lang="en-US" dirty="0">
                <a:ea typeface="ＭＳ Ｐゴシック" pitchFamily="34" charset="-128"/>
              </a:rPr>
              <a:t>Equipment</a:t>
            </a:r>
          </a:p>
          <a:p>
            <a:pPr lvl="1"/>
            <a:r>
              <a:rPr lang="en-US" dirty="0">
                <a:ea typeface="ＭＳ Ｐゴシック" pitchFamily="34" charset="-128"/>
              </a:rPr>
              <a:t>Intangibles</a:t>
            </a:r>
          </a:p>
          <a:p>
            <a:pPr lvl="1"/>
            <a:r>
              <a:rPr lang="en-US" dirty="0">
                <a:ea typeface="ＭＳ Ｐゴシック" pitchFamily="34" charset="-128"/>
              </a:rPr>
              <a:t>Long-term investments</a:t>
            </a:r>
            <a:endParaRPr lang="en-US" dirty="0"/>
          </a:p>
        </p:txBody>
      </p:sp>
    </p:spTree>
    <p:extLst>
      <p:ext uri="{BB962C8B-B14F-4D97-AF65-F5344CB8AC3E}">
        <p14:creationId xmlns:p14="http://schemas.microsoft.com/office/powerpoint/2010/main" val="178448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FAAF5-FFE0-95F6-606D-D707F8ACE700}"/>
              </a:ext>
            </a:extLst>
          </p:cNvPr>
          <p:cNvSpPr>
            <a:spLocks noGrp="1"/>
          </p:cNvSpPr>
          <p:nvPr>
            <p:ph type="title"/>
          </p:nvPr>
        </p:nvSpPr>
        <p:spPr/>
        <p:txBody>
          <a:bodyPr/>
          <a:lstStyle/>
          <a:p>
            <a:r>
              <a:rPr lang="en-US" dirty="0"/>
              <a:t>Assets on the Balance Sheet</a:t>
            </a:r>
            <a:r>
              <a:rPr lang="en-US" sz="2000" dirty="0"/>
              <a:t> </a:t>
            </a:r>
            <a:r>
              <a:rPr lang="en-US" sz="2000" b="0" dirty="0"/>
              <a:t>(2 of 2)</a:t>
            </a:r>
            <a:endParaRPr lang="en-IN" sz="2000" dirty="0"/>
          </a:p>
        </p:txBody>
      </p:sp>
      <p:sp>
        <p:nvSpPr>
          <p:cNvPr id="3" name="Text Placeholder 2">
            <a:extLst>
              <a:ext uri="{FF2B5EF4-FFF2-40B4-BE49-F238E27FC236}">
                <a16:creationId xmlns:a16="http://schemas.microsoft.com/office/drawing/2014/main" id="{37418C71-501B-2425-1C7A-DB9324624207}"/>
              </a:ext>
            </a:extLst>
          </p:cNvPr>
          <p:cNvSpPr>
            <a:spLocks noGrp="1"/>
          </p:cNvSpPr>
          <p:nvPr>
            <p:ph type="body" idx="1"/>
          </p:nvPr>
        </p:nvSpPr>
        <p:spPr/>
        <p:txBody>
          <a:bodyPr/>
          <a:lstStyle/>
          <a:p>
            <a:r>
              <a:rPr lang="en-US" dirty="0"/>
              <a:t>Current Assets</a:t>
            </a:r>
            <a:endParaRPr lang="en-IN" dirty="0"/>
          </a:p>
        </p:txBody>
      </p:sp>
      <p:sp>
        <p:nvSpPr>
          <p:cNvPr id="4" name="Content Placeholder 3">
            <a:extLst>
              <a:ext uri="{FF2B5EF4-FFF2-40B4-BE49-F238E27FC236}">
                <a16:creationId xmlns:a16="http://schemas.microsoft.com/office/drawing/2014/main" id="{208FAE1A-B815-66F5-B3B5-F017AA5D1D43}"/>
              </a:ext>
            </a:extLst>
          </p:cNvPr>
          <p:cNvSpPr>
            <a:spLocks noGrp="1"/>
          </p:cNvSpPr>
          <p:nvPr>
            <p:ph sz="half" idx="2"/>
          </p:nvPr>
        </p:nvSpPr>
        <p:spPr/>
        <p:txBody>
          <a:bodyPr/>
          <a:lstStyle/>
          <a:p>
            <a:pPr lvl="1"/>
            <a:r>
              <a:rPr lang="en-US" dirty="0"/>
              <a:t>Accounts and notes receivable</a:t>
            </a:r>
          </a:p>
          <a:p>
            <a:pPr lvl="1"/>
            <a:r>
              <a:rPr lang="en-US" dirty="0"/>
              <a:t>Inventory</a:t>
            </a:r>
          </a:p>
          <a:p>
            <a:pPr lvl="1"/>
            <a:r>
              <a:rPr lang="en-US" dirty="0"/>
              <a:t>Prepaid expenses</a:t>
            </a:r>
            <a:endParaRPr lang="en-IN" dirty="0"/>
          </a:p>
        </p:txBody>
      </p:sp>
    </p:spTree>
    <p:extLst>
      <p:ext uri="{BB962C8B-B14F-4D97-AF65-F5344CB8AC3E}">
        <p14:creationId xmlns:p14="http://schemas.microsoft.com/office/powerpoint/2010/main" val="356245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Liabilities on the Balance Sheet</a:t>
            </a:r>
            <a:endParaRPr lang="en-US" dirty="0"/>
          </a:p>
        </p:txBody>
      </p:sp>
      <p:sp>
        <p:nvSpPr>
          <p:cNvPr id="3" name="Text Placeholder 2"/>
          <p:cNvSpPr>
            <a:spLocks noGrp="1"/>
          </p:cNvSpPr>
          <p:nvPr>
            <p:ph type="body" idx="1"/>
          </p:nvPr>
        </p:nvSpPr>
        <p:spPr>
          <a:xfrm>
            <a:off x="457200" y="1600200"/>
            <a:ext cx="4040982" cy="491898"/>
          </a:xfrm>
          <a:ln>
            <a:noFill/>
          </a:ln>
        </p:spPr>
        <p:txBody>
          <a:bodyPr/>
          <a:lstStyle/>
          <a:p>
            <a:r>
              <a:rPr lang="en-US" sz="2000" b="1" dirty="0"/>
              <a:t>Current Liabilities</a:t>
            </a:r>
          </a:p>
        </p:txBody>
      </p:sp>
      <p:sp>
        <p:nvSpPr>
          <p:cNvPr id="4" name="Content Placeholder 3"/>
          <p:cNvSpPr>
            <a:spLocks noGrp="1"/>
          </p:cNvSpPr>
          <p:nvPr>
            <p:ph sz="half" idx="2"/>
          </p:nvPr>
        </p:nvSpPr>
        <p:spPr>
          <a:xfrm>
            <a:off x="457200" y="2168298"/>
            <a:ext cx="4040982" cy="4003902"/>
          </a:xfrm>
        </p:spPr>
        <p:txBody>
          <a:bodyPr/>
          <a:lstStyle/>
          <a:p>
            <a:r>
              <a:rPr lang="en-US" dirty="0">
                <a:ea typeface="ＭＳ Ｐゴシック" pitchFamily="34" charset="-128"/>
              </a:rPr>
              <a:t>Debts payable in the next year or within the business</a:t>
            </a:r>
            <a:r>
              <a:rPr lang="en-US" altLang="en-US" dirty="0">
                <a:ea typeface="ＭＳ Ｐゴシック" pitchFamily="34" charset="-128"/>
              </a:rPr>
              <a:t>’</a:t>
            </a:r>
            <a:r>
              <a:rPr lang="en-US" dirty="0">
                <a:ea typeface="ＭＳ Ｐゴシック" pitchFamily="34" charset="-128"/>
              </a:rPr>
              <a:t>s operating cycle</a:t>
            </a:r>
          </a:p>
          <a:p>
            <a:r>
              <a:rPr lang="en-US" dirty="0">
                <a:ea typeface="ＭＳ Ｐゴシック" pitchFamily="34" charset="-128"/>
              </a:rPr>
              <a:t>Includes</a:t>
            </a:r>
          </a:p>
          <a:p>
            <a:pPr lvl="1"/>
            <a:r>
              <a:rPr lang="en-US" dirty="0">
                <a:ea typeface="ＭＳ Ｐゴシック" pitchFamily="34" charset="-128"/>
              </a:rPr>
              <a:t>Accounts payable</a:t>
            </a:r>
          </a:p>
          <a:p>
            <a:pPr lvl="1"/>
            <a:r>
              <a:rPr lang="en-US" dirty="0">
                <a:ea typeface="ＭＳ Ｐゴシック" pitchFamily="34" charset="-128"/>
              </a:rPr>
              <a:t>Income taxes payable</a:t>
            </a:r>
          </a:p>
          <a:p>
            <a:pPr lvl="1"/>
            <a:r>
              <a:rPr lang="en-US" dirty="0">
                <a:ea typeface="ＭＳ Ｐゴシック" pitchFamily="34" charset="-128"/>
              </a:rPr>
              <a:t>Accrued expenses payable</a:t>
            </a:r>
          </a:p>
          <a:p>
            <a:pPr lvl="1"/>
            <a:r>
              <a:rPr lang="en-US" dirty="0">
                <a:ea typeface="ＭＳ Ｐゴシック" pitchFamily="34" charset="-128"/>
              </a:rPr>
              <a:t>Current maturities of long-term debt</a:t>
            </a:r>
          </a:p>
        </p:txBody>
      </p:sp>
      <p:sp>
        <p:nvSpPr>
          <p:cNvPr id="5" name="Text Placeholder 4"/>
          <p:cNvSpPr>
            <a:spLocks noGrp="1"/>
          </p:cNvSpPr>
          <p:nvPr>
            <p:ph type="body" sz="quarter" idx="3"/>
          </p:nvPr>
        </p:nvSpPr>
        <p:spPr>
          <a:xfrm>
            <a:off x="4617720" y="1600200"/>
            <a:ext cx="4059936" cy="491898"/>
          </a:xfrm>
          <a:ln>
            <a:noFill/>
          </a:ln>
        </p:spPr>
        <p:txBody>
          <a:bodyPr/>
          <a:lstStyle/>
          <a:p>
            <a:r>
              <a:rPr lang="en-US" sz="2000" b="1" dirty="0"/>
              <a:t>Non-Current Liabilities</a:t>
            </a:r>
          </a:p>
        </p:txBody>
      </p:sp>
      <p:sp>
        <p:nvSpPr>
          <p:cNvPr id="6" name="Content Placeholder 5"/>
          <p:cNvSpPr>
            <a:spLocks noGrp="1"/>
          </p:cNvSpPr>
          <p:nvPr>
            <p:ph sz="quarter" idx="4"/>
          </p:nvPr>
        </p:nvSpPr>
        <p:spPr/>
        <p:txBody>
          <a:bodyPr/>
          <a:lstStyle/>
          <a:p>
            <a:r>
              <a:rPr lang="en-US" dirty="0">
                <a:ea typeface="ＭＳ Ｐゴシック" pitchFamily="34" charset="-128"/>
              </a:rPr>
              <a:t>Debts payable more than one year from the balance sheet date</a:t>
            </a:r>
          </a:p>
          <a:p>
            <a:r>
              <a:rPr lang="en-US" dirty="0">
                <a:ea typeface="ＭＳ Ｐゴシック" pitchFamily="34" charset="-128"/>
              </a:rPr>
              <a:t>Includes</a:t>
            </a:r>
          </a:p>
          <a:p>
            <a:pPr lvl="1"/>
            <a:r>
              <a:rPr lang="en-US" dirty="0">
                <a:ea typeface="ＭＳ Ｐゴシック" pitchFamily="34" charset="-128"/>
              </a:rPr>
              <a:t>Long-term notes payable</a:t>
            </a:r>
          </a:p>
          <a:p>
            <a:pPr lvl="1"/>
            <a:r>
              <a:rPr lang="en-US" dirty="0">
                <a:ea typeface="ＭＳ Ｐゴシック" pitchFamily="34" charset="-128"/>
              </a:rPr>
              <a:t>Bonds payable</a:t>
            </a:r>
          </a:p>
        </p:txBody>
      </p:sp>
    </p:spTree>
    <p:extLst>
      <p:ext uri="{BB962C8B-B14F-4D97-AF65-F5344CB8AC3E}">
        <p14:creationId xmlns:p14="http://schemas.microsoft.com/office/powerpoint/2010/main" val="285912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Owners</a:t>
            </a:r>
            <a:r>
              <a:rPr lang="en-US" altLang="en-US" dirty="0">
                <a:ea typeface="ＭＳ Ｐゴシック" pitchFamily="34" charset="-128"/>
              </a:rPr>
              <a:t>’</a:t>
            </a:r>
            <a:r>
              <a:rPr lang="en-US" dirty="0">
                <a:ea typeface="ＭＳ Ｐゴシック" pitchFamily="34" charset="-128"/>
              </a:rPr>
              <a:t> Equity on the Balance Sheet</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Represents ownership of the net business assets</a:t>
            </a:r>
          </a:p>
          <a:p>
            <a:r>
              <a:rPr lang="en-US" dirty="0">
                <a:ea typeface="ＭＳ Ｐゴシック" pitchFamily="34" charset="-128"/>
              </a:rPr>
              <a:t>In a corporation, consists of:</a:t>
            </a:r>
          </a:p>
          <a:p>
            <a:pPr lvl="1"/>
            <a:r>
              <a:rPr lang="en-US" dirty="0">
                <a:ea typeface="ＭＳ Ｐゴシック" pitchFamily="34" charset="-128"/>
              </a:rPr>
              <a:t>Common shares</a:t>
            </a:r>
          </a:p>
          <a:p>
            <a:pPr lvl="1"/>
            <a:r>
              <a:rPr lang="en-US" dirty="0">
                <a:ea typeface="ＭＳ Ｐゴシック" pitchFamily="34" charset="-128"/>
              </a:rPr>
              <a:t>Retained earnings</a:t>
            </a:r>
            <a:endParaRPr lang="en-US" dirty="0"/>
          </a:p>
        </p:txBody>
      </p:sp>
    </p:spTree>
    <p:extLst>
      <p:ext uri="{BB962C8B-B14F-4D97-AF65-F5344CB8AC3E}">
        <p14:creationId xmlns:p14="http://schemas.microsoft.com/office/powerpoint/2010/main" val="62759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457200"/>
            <a:ext cx="8229600" cy="550652"/>
          </a:xfrm>
        </p:spPr>
        <p:txBody>
          <a:bodyPr>
            <a:normAutofit fontScale="90000"/>
          </a:bodyPr>
          <a:lstStyle/>
          <a:p>
            <a:r>
              <a:rPr lang="en-US" dirty="0">
                <a:ea typeface="ＭＳ Ｐゴシック" pitchFamily="34" charset="-128"/>
              </a:rPr>
              <a:t>Sample Balance Sheet</a:t>
            </a:r>
            <a:endParaRPr lang="en-US" dirty="0"/>
          </a:p>
        </p:txBody>
      </p:sp>
      <p:sp>
        <p:nvSpPr>
          <p:cNvPr id="3" name="Content Placeholder 2"/>
          <p:cNvSpPr>
            <a:spLocks noGrp="1"/>
          </p:cNvSpPr>
          <p:nvPr>
            <p:ph idx="1"/>
          </p:nvPr>
        </p:nvSpPr>
        <p:spPr>
          <a:xfrm>
            <a:off x="289560" y="1219200"/>
            <a:ext cx="8564880" cy="1173480"/>
          </a:xfrm>
          <a:ln w="12700">
            <a:solidFill>
              <a:schemeClr val="tx1"/>
            </a:solidFill>
          </a:ln>
        </p:spPr>
        <p:txBody>
          <a:bodyPr>
            <a:normAutofit/>
          </a:bodyPr>
          <a:lstStyle/>
          <a:p>
            <a:pPr algn="ctr">
              <a:spcBef>
                <a:spcPts val="0"/>
              </a:spcBef>
              <a:buNone/>
            </a:pPr>
            <a:r>
              <a:rPr lang="en-US" sz="1800" b="1" dirty="0"/>
              <a:t>ABC Corporation </a:t>
            </a:r>
          </a:p>
          <a:p>
            <a:pPr algn="ctr">
              <a:spcBef>
                <a:spcPts val="0"/>
              </a:spcBef>
              <a:buNone/>
            </a:pPr>
            <a:r>
              <a:rPr lang="en-US" sz="1800" b="1" dirty="0"/>
              <a:t>Balance Sheet </a:t>
            </a:r>
          </a:p>
          <a:p>
            <a:pPr algn="ctr">
              <a:spcBef>
                <a:spcPts val="0"/>
              </a:spcBef>
              <a:buNone/>
            </a:pPr>
            <a:r>
              <a:rPr lang="en-US" sz="1800" b="1" dirty="0"/>
              <a:t>As at December 31, 20XX</a:t>
            </a:r>
          </a:p>
        </p:txBody>
      </p:sp>
      <p:graphicFrame>
        <p:nvGraphicFramePr>
          <p:cNvPr id="2" name="Table 1"/>
          <p:cNvGraphicFramePr>
            <a:graphicFrameLocks noGrp="1"/>
          </p:cNvGraphicFramePr>
          <p:nvPr>
            <p:extLst>
              <p:ext uri="{D42A27DB-BD31-4B8C-83A1-F6EECF244321}">
                <p14:modId xmlns:p14="http://schemas.microsoft.com/office/powerpoint/2010/main" val="3882981104"/>
              </p:ext>
            </p:extLst>
          </p:nvPr>
        </p:nvGraphicFramePr>
        <p:xfrm>
          <a:off x="289560" y="2390667"/>
          <a:ext cx="8555546" cy="3596640"/>
        </p:xfrm>
        <a:graphic>
          <a:graphicData uri="http://schemas.openxmlformats.org/drawingml/2006/table">
            <a:tbl>
              <a:tblPr firstRow="1" bandRow="1">
                <a:tableStyleId>{2D5ABB26-0587-4C30-8999-92F81FD0307C}</a:tableStyleId>
              </a:tblPr>
              <a:tblGrid>
                <a:gridCol w="2755381">
                  <a:extLst>
                    <a:ext uri="{9D8B030D-6E8A-4147-A177-3AD203B41FA5}">
                      <a16:colId xmlns:a16="http://schemas.microsoft.com/office/drawing/2014/main" val="20000"/>
                    </a:ext>
                  </a:extLst>
                </a:gridCol>
                <a:gridCol w="1283219">
                  <a:extLst>
                    <a:ext uri="{9D8B030D-6E8A-4147-A177-3AD203B41FA5}">
                      <a16:colId xmlns:a16="http://schemas.microsoft.com/office/drawing/2014/main" val="20001"/>
                    </a:ext>
                  </a:extLst>
                </a:gridCol>
                <a:gridCol w="3301414">
                  <a:extLst>
                    <a:ext uri="{9D8B030D-6E8A-4147-A177-3AD203B41FA5}">
                      <a16:colId xmlns:a16="http://schemas.microsoft.com/office/drawing/2014/main" val="20002"/>
                    </a:ext>
                  </a:extLst>
                </a:gridCol>
                <a:gridCol w="1215532">
                  <a:extLst>
                    <a:ext uri="{9D8B030D-6E8A-4147-A177-3AD203B41FA5}">
                      <a16:colId xmlns:a16="http://schemas.microsoft.com/office/drawing/2014/main" val="20003"/>
                    </a:ext>
                  </a:extLst>
                </a:gridCol>
              </a:tblGrid>
              <a:tr h="255662">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mn-lt"/>
                          <a:ea typeface="ＭＳ Ｐゴシック" pitchFamily="34" charset="-128"/>
                        </a:rPr>
                        <a:t>Assets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mn-lt"/>
                          <a:ea typeface="ＭＳ Ｐゴシック" pitchFamily="34" charset="-128"/>
                        </a:rPr>
                        <a:t>Liabilities and Shareholders' Equity</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Cash and cash equivalents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Accounts payable</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Merchandise inventory</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Taxes payable</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Prepaid expenses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mn-lt"/>
                          <a:ea typeface="ＭＳ Ｐゴシック" pitchFamily="34" charset="-128"/>
                          <a:cs typeface="+mn-cs"/>
                        </a:rPr>
                        <a:t>TOTAL CURRENT LIABILITIES</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a:ln>
                            <a:noFill/>
                          </a:ln>
                          <a:solidFill>
                            <a:srgbClr val="000000"/>
                          </a:solidFill>
                          <a:effectLst/>
                          <a:latin typeface="+mn-lt"/>
                          <a:ea typeface="ＭＳ Ｐゴシック" pitchFamily="34" charset="-128"/>
                        </a:rPr>
                        <a:t>$XX,XXX</a:t>
                      </a: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8015">
                <a:tc>
                  <a:txBody>
                    <a:bodyPr/>
                    <a:lstStyle/>
                    <a:p>
                      <a:pPr marL="9144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TOTAL CURRENT ASSETS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sng"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Long-term debt</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kern="1200" cap="none" normalizeH="0" baseline="0" dirty="0">
                          <a:ln>
                            <a:noFill/>
                          </a:ln>
                          <a:solidFill>
                            <a:srgbClr val="000000"/>
                          </a:solidFill>
                          <a:effectLst/>
                          <a:latin typeface="+mn-lt"/>
                          <a:ea typeface="ＭＳ Ｐゴシック" pitchFamily="34" charset="-128"/>
                          <a:cs typeface="+mn-cs"/>
                        </a:rPr>
                        <a:t>TOTAL LIABILITIES</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a:ln>
                            <a:noFill/>
                          </a:ln>
                          <a:solidFill>
                            <a:srgbClr val="000000"/>
                          </a:solidFill>
                          <a:effectLst/>
                          <a:latin typeface="+mn-lt"/>
                          <a:ea typeface="ＭＳ Ｐゴシック" pitchFamily="34" charset="-128"/>
                        </a:rPr>
                        <a:t>$XX,XXX</a:t>
                      </a: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Property and Equipment</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Less: accumulated depreciation</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cap="none" normalizeH="0" baseline="0" dirty="0">
                          <a:ln>
                            <a:noFill/>
                          </a:ln>
                          <a:solidFill>
                            <a:srgbClr val="000000"/>
                          </a:solidFill>
                          <a:effectLst/>
                          <a:latin typeface="+mn-lt"/>
                          <a:ea typeface="ＭＳ Ｐゴシック" pitchFamily="34" charset="-128"/>
                        </a:rPr>
                        <a:t>Common shares</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48015">
                <a:tc>
                  <a:txBody>
                    <a:bodyPr/>
                    <a:lstStyle/>
                    <a:p>
                      <a:pPr marL="18288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Net Property and Equipment</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Retained earnings</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480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Other assets</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rgbClr val="000000"/>
                          </a:solidFill>
                          <a:effectLst/>
                          <a:latin typeface="+mn-lt"/>
                          <a:ea typeface="ＭＳ Ｐゴシック" pitchFamily="34" charset="-128"/>
                        </a:rPr>
                        <a:t>$XX,XXX</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Total shareholders' equity</a:t>
                      </a: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dirty="0">
                          <a:ln>
                            <a:noFill/>
                          </a:ln>
                          <a:solidFill>
                            <a:srgbClr val="000000"/>
                          </a:solidFill>
                          <a:effectLst/>
                          <a:latin typeface="+mn-lt"/>
                          <a:ea typeface="ＭＳ Ｐゴシック" pitchFamily="34" charset="-128"/>
                        </a:rPr>
                        <a:t>$XX,XXX</a:t>
                      </a: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55837">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000000"/>
                        </a:solidFill>
                        <a:effectLst/>
                        <a:latin typeface="+mn-lt"/>
                        <a:ea typeface="ＭＳ Ｐゴシック"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TOTAL ASSETS</a:t>
                      </a:r>
                      <a:endParaRPr kumimoji="0" lang="en-US" sz="1400" b="0" i="0" u="dbl"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1" i="0" u="dbl" strike="noStrike" cap="none" normalizeH="0" baseline="0" dirty="0">
                        <a:ln>
                          <a:noFill/>
                        </a:ln>
                        <a:solidFill>
                          <a:srgbClr val="000000"/>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dbl" strike="noStrike" cap="none" normalizeH="0" baseline="0" dirty="0">
                          <a:ln>
                            <a:noFill/>
                          </a:ln>
                          <a:solidFill>
                            <a:srgbClr val="000000"/>
                          </a:solidFill>
                          <a:effectLst/>
                          <a:latin typeface="+mn-lt"/>
                          <a:ea typeface="ＭＳ Ｐゴシック" pitchFamily="34" charset="-128"/>
                        </a:rPr>
                        <a:t>$XX,XXX</a:t>
                      </a:r>
                      <a:endParaRPr kumimoji="0" lang="en-US" sz="1200" b="0" i="0" u="dbl"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mn-lt"/>
                          <a:ea typeface="ＭＳ Ｐゴシック" pitchFamily="34" charset="-128"/>
                        </a:rPr>
                        <a:t>TOTAL LIABILITIES + SHAREHOLDER’S EQUITY</a:t>
                      </a:r>
                      <a:endParaRPr kumimoji="0" lang="en-US" sz="1400" b="0" i="0" u="dbl" strike="noStrike" cap="none" normalizeH="0" baseline="0" dirty="0">
                        <a:ln>
                          <a:noFill/>
                        </a:ln>
                        <a:solidFill>
                          <a:srgbClr val="000000"/>
                        </a:solidFill>
                        <a:effectLst/>
                        <a:latin typeface="+mn-lt"/>
                        <a:ea typeface="ＭＳ Ｐゴシック"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dbl" strike="noStrike" cap="none" normalizeH="0" baseline="0" dirty="0">
                          <a:ln>
                            <a:noFill/>
                          </a:ln>
                          <a:solidFill>
                            <a:srgbClr val="000000"/>
                          </a:solidFill>
                          <a:effectLst/>
                          <a:latin typeface="+mn-lt"/>
                          <a:ea typeface="ＭＳ Ｐゴシック" pitchFamily="34" charset="-128"/>
                        </a:rPr>
                        <a:t>$XX,XXX</a:t>
                      </a:r>
                      <a:endParaRPr kumimoji="0" lang="en-US" sz="1200" b="0" i="0" u="none" strike="noStrike" cap="none" normalizeH="0" baseline="0" dirty="0">
                        <a:ln>
                          <a:noFill/>
                        </a:ln>
                        <a:solidFill>
                          <a:srgbClr val="000000"/>
                        </a:solidFill>
                        <a:effectLst/>
                        <a:latin typeface="+mn-lt"/>
                        <a:ea typeface="ＭＳ Ｐゴシック" pitchFamily="34" charset="-128"/>
                      </a:endParaRPr>
                    </a:p>
                  </a:txBody>
                  <a:tcPr marL="91448" marR="91448"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D051EBC3-B63F-3411-8FD4-C1B8F5B1B3EA}"/>
              </a:ext>
            </a:extLst>
          </p:cNvPr>
          <p:cNvSpPr/>
          <p:nvPr/>
        </p:nvSpPr>
        <p:spPr>
          <a:xfrm>
            <a:off x="1201656" y="1258002"/>
            <a:ext cx="1401583"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a:ea typeface="ＭＳ Ｐゴシック" pitchFamily="34" charset="-128"/>
                <a:cs typeface="+mn-cs"/>
              </a:rPr>
              <a:t>Pay attention to the heading</a:t>
            </a:r>
            <a:endParaRPr kumimoji="0" lang="en-CA"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6" name="Left Brace 5">
            <a:extLst>
              <a:ext uri="{FF2B5EF4-FFF2-40B4-BE49-F238E27FC236}">
                <a16:creationId xmlns:a16="http://schemas.microsoft.com/office/drawing/2014/main" id="{2C7BDF51-9C93-2278-D5E0-7E7A578A6301}"/>
              </a:ext>
            </a:extLst>
          </p:cNvPr>
          <p:cNvSpPr/>
          <p:nvPr/>
        </p:nvSpPr>
        <p:spPr>
          <a:xfrm>
            <a:off x="2603239" y="1343132"/>
            <a:ext cx="228600" cy="83820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Left Brace 6">
            <a:extLst>
              <a:ext uri="{FF2B5EF4-FFF2-40B4-BE49-F238E27FC236}">
                <a16:creationId xmlns:a16="http://schemas.microsoft.com/office/drawing/2014/main" id="{40CDD27F-0898-76EB-47E6-F757001CD7C2}"/>
              </a:ext>
            </a:extLst>
          </p:cNvPr>
          <p:cNvSpPr/>
          <p:nvPr/>
        </p:nvSpPr>
        <p:spPr>
          <a:xfrm rot="16200000">
            <a:off x="5658221" y="3884824"/>
            <a:ext cx="213714" cy="441868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CFC53781-C5FE-6697-2AAF-8AFE6899D799}"/>
              </a:ext>
            </a:extLst>
          </p:cNvPr>
          <p:cNvSpPr/>
          <p:nvPr/>
        </p:nvSpPr>
        <p:spPr>
          <a:xfrm>
            <a:off x="5064286" y="6216134"/>
            <a:ext cx="1401583"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a:ea typeface="ＭＳ Ｐゴシック" pitchFamily="34" charset="-128"/>
                <a:cs typeface="+mn-cs"/>
              </a:rPr>
              <a:t>A = L + SE</a:t>
            </a:r>
            <a:endParaRPr kumimoji="0" lang="en-CA" sz="1800" b="0"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389419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461735"/>
            <a:ext cx="8229600" cy="470428"/>
          </a:xfrm>
        </p:spPr>
        <p:txBody>
          <a:bodyPr>
            <a:normAutofit fontScale="90000"/>
          </a:bodyPr>
          <a:lstStyle/>
          <a:p>
            <a:pPr algn="ctr"/>
            <a:r>
              <a:rPr lang="en-US" sz="3200" dirty="0">
                <a:solidFill>
                  <a:schemeClr val="accent2"/>
                </a:solidFill>
                <a:latin typeface="+mj-lt"/>
                <a:ea typeface="ＭＳ Ｐゴシック" pitchFamily="34" charset="-128"/>
              </a:rPr>
              <a:t>Classroom Problem S1-4 </a:t>
            </a:r>
            <a:r>
              <a:rPr lang="en-US" sz="2700" dirty="0">
                <a:solidFill>
                  <a:schemeClr val="accent2"/>
                </a:solidFill>
                <a:ea typeface="ＭＳ Ｐゴシック" pitchFamily="34" charset="-128"/>
              </a:rPr>
              <a:t>p</a:t>
            </a:r>
            <a:r>
              <a:rPr lang="en-US" sz="2700" dirty="0">
                <a:solidFill>
                  <a:schemeClr val="accent2"/>
                </a:solidFill>
                <a:latin typeface="+mj-lt"/>
                <a:ea typeface="ＭＳ Ｐゴシック" pitchFamily="34" charset="-128"/>
              </a:rPr>
              <a:t>age </a:t>
            </a:r>
            <a:r>
              <a:rPr lang="en-US" sz="2700" dirty="0">
                <a:solidFill>
                  <a:schemeClr val="accent2"/>
                </a:solidFill>
                <a:ea typeface="ＭＳ Ｐゴシック" pitchFamily="34" charset="-128"/>
              </a:rPr>
              <a:t>40</a:t>
            </a:r>
            <a:endParaRPr lang="en-US" sz="2700" dirty="0">
              <a:solidFill>
                <a:schemeClr val="accent2"/>
              </a:solidFill>
              <a:latin typeface="+mj-lt"/>
              <a:ea typeface="ＭＳ Ｐゴシック" pitchFamily="34" charset="-128"/>
            </a:endParaRPr>
          </a:p>
        </p:txBody>
      </p:sp>
      <p:graphicFrame>
        <p:nvGraphicFramePr>
          <p:cNvPr id="5" name="Table 4"/>
          <p:cNvGraphicFramePr>
            <a:graphicFrameLocks noGrp="1"/>
          </p:cNvGraphicFramePr>
          <p:nvPr/>
        </p:nvGraphicFramePr>
        <p:xfrm>
          <a:off x="482950" y="1828909"/>
          <a:ext cx="7664529" cy="2571146"/>
        </p:xfrm>
        <a:graphic>
          <a:graphicData uri="http://schemas.openxmlformats.org/drawingml/2006/table">
            <a:tbl>
              <a:tblPr>
                <a:tableStyleId>{2D5ABB26-0587-4C30-8999-92F81FD0307C}</a:tableStyleId>
              </a:tblPr>
              <a:tblGrid>
                <a:gridCol w="3417960">
                  <a:extLst>
                    <a:ext uri="{9D8B030D-6E8A-4147-A177-3AD203B41FA5}">
                      <a16:colId xmlns:a16="http://schemas.microsoft.com/office/drawing/2014/main" val="20001"/>
                    </a:ext>
                  </a:extLst>
                </a:gridCol>
                <a:gridCol w="4246569">
                  <a:extLst>
                    <a:ext uri="{9D8B030D-6E8A-4147-A177-3AD203B41FA5}">
                      <a16:colId xmlns:a16="http://schemas.microsoft.com/office/drawing/2014/main" val="20002"/>
                    </a:ext>
                  </a:extLst>
                </a:gridCol>
              </a:tblGrid>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Accounts payable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Accounts Receivable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Common shares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Long-term debt</a:t>
                      </a: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Cash</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Merchandise inventories</a:t>
                      </a: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97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Retained earnings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Notes Payable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465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Land</a:t>
                      </a: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Accrued Expenses Payable</a:t>
                      </a: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Prepaid expenses</a:t>
                      </a: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Equipment</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lide Number Placeholder 7"/>
          <p:cNvSpPr>
            <a:spLocks noGrp="1"/>
          </p:cNvSpPr>
          <p:nvPr>
            <p:ph type="sldNum" sz="quarter" idx="4294967295"/>
          </p:nvPr>
        </p:nvSpPr>
        <p:spPr>
          <a:xfrm>
            <a:off x="8469313" y="6553200"/>
            <a:ext cx="551783" cy="182880"/>
          </a:xfrm>
          <a:prstGeom prst="rect">
            <a:avLst/>
          </a:prstGeom>
        </p:spPr>
        <p:txBody>
          <a:bodyPr/>
          <a:lstStyle/>
          <a:p>
            <a:fld id="{200B2350-5261-4F5C-9DF5-EF0D264FC8D2}" type="slidenum">
              <a:rPr lang="en-US" smtClean="0"/>
              <a:pPr/>
              <a:t>28</a:t>
            </a:fld>
            <a:endParaRPr lang="en-US" dirty="0"/>
          </a:p>
        </p:txBody>
      </p:sp>
      <p:sp>
        <p:nvSpPr>
          <p:cNvPr id="4" name="Rectangle 3">
            <a:extLst>
              <a:ext uri="{FF2B5EF4-FFF2-40B4-BE49-F238E27FC236}">
                <a16:creationId xmlns:a16="http://schemas.microsoft.com/office/drawing/2014/main" id="{B2E4B8DE-F8D5-29E5-0A2E-A47729FF1AF2}"/>
              </a:ext>
            </a:extLst>
          </p:cNvPr>
          <p:cNvSpPr/>
          <p:nvPr/>
        </p:nvSpPr>
        <p:spPr>
          <a:xfrm>
            <a:off x="801665" y="932163"/>
            <a:ext cx="7027101" cy="80021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CA" sz="2300" b="1" dirty="0">
                <a:solidFill>
                  <a:srgbClr val="C00000"/>
                </a:solidFill>
                <a:latin typeface="Arial"/>
                <a:ea typeface="ＭＳ Ｐゴシック" pitchFamily="34" charset="-128"/>
              </a:rPr>
              <a:t>Classify the following elements as an asset, liability, or shareholder’s equity:</a:t>
            </a:r>
            <a:endParaRPr kumimoji="0" lang="en-CA" sz="2300" b="1" i="0" u="none" strike="noStrike" kern="1200" cap="none" spc="0" normalizeH="0" baseline="0" noProof="0" dirty="0">
              <a:ln>
                <a:noFill/>
              </a:ln>
              <a:solidFill>
                <a:srgbClr val="C00000"/>
              </a:solidFill>
              <a:effectLst/>
              <a:uLnTx/>
              <a:uFillTx/>
              <a:latin typeface="Arial"/>
              <a:ea typeface="+mn-ea"/>
              <a:cs typeface="+mn-cs"/>
            </a:endParaRPr>
          </a:p>
        </p:txBody>
      </p:sp>
    </p:spTree>
    <p:extLst>
      <p:ext uri="{BB962C8B-B14F-4D97-AF65-F5344CB8AC3E}">
        <p14:creationId xmlns:p14="http://schemas.microsoft.com/office/powerpoint/2010/main" val="111057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461735"/>
            <a:ext cx="8229600" cy="470428"/>
          </a:xfrm>
        </p:spPr>
        <p:txBody>
          <a:bodyPr>
            <a:normAutofit fontScale="90000"/>
          </a:bodyPr>
          <a:lstStyle/>
          <a:p>
            <a:pPr algn="ctr"/>
            <a:r>
              <a:rPr lang="en-US" sz="3200" dirty="0">
                <a:solidFill>
                  <a:schemeClr val="accent2"/>
                </a:solidFill>
                <a:latin typeface="+mj-lt"/>
                <a:ea typeface="ＭＳ Ｐゴシック" pitchFamily="34" charset="-128"/>
              </a:rPr>
              <a:t>Classroom Problem </a:t>
            </a:r>
            <a:r>
              <a:rPr lang="en-US" sz="3200" dirty="0">
                <a:solidFill>
                  <a:schemeClr val="accent2"/>
                </a:solidFill>
                <a:ea typeface="ＭＳ Ｐゴシック" pitchFamily="34" charset="-128"/>
              </a:rPr>
              <a:t>E</a:t>
            </a:r>
            <a:r>
              <a:rPr lang="en-US" sz="3200" dirty="0">
                <a:solidFill>
                  <a:schemeClr val="accent2"/>
                </a:solidFill>
                <a:latin typeface="+mj-lt"/>
                <a:ea typeface="ＭＳ Ｐゴシック" pitchFamily="34" charset="-128"/>
              </a:rPr>
              <a:t>1-17 </a:t>
            </a:r>
            <a:r>
              <a:rPr lang="en-US" sz="2700" dirty="0">
                <a:solidFill>
                  <a:schemeClr val="accent2"/>
                </a:solidFill>
                <a:ea typeface="ＭＳ Ｐゴシック" pitchFamily="34" charset="-128"/>
              </a:rPr>
              <a:t>p</a:t>
            </a:r>
            <a:r>
              <a:rPr lang="en-US" sz="2700" dirty="0">
                <a:solidFill>
                  <a:schemeClr val="accent2"/>
                </a:solidFill>
                <a:latin typeface="+mj-lt"/>
                <a:ea typeface="ＭＳ Ｐゴシック" pitchFamily="34" charset="-128"/>
              </a:rPr>
              <a:t>age </a:t>
            </a:r>
            <a:r>
              <a:rPr lang="en-US" sz="2700" dirty="0">
                <a:solidFill>
                  <a:schemeClr val="accent2"/>
                </a:solidFill>
                <a:ea typeface="ＭＳ Ｐゴシック" pitchFamily="34" charset="-128"/>
              </a:rPr>
              <a:t>42</a:t>
            </a:r>
            <a:endParaRPr lang="en-US" sz="2700" dirty="0">
              <a:solidFill>
                <a:schemeClr val="accent2"/>
              </a:solidFill>
              <a:latin typeface="+mj-lt"/>
              <a:ea typeface="ＭＳ Ｐゴシック" pitchFamily="34" charset="-128"/>
            </a:endParaRPr>
          </a:p>
        </p:txBody>
      </p:sp>
      <p:graphicFrame>
        <p:nvGraphicFramePr>
          <p:cNvPr id="5" name="Table 4"/>
          <p:cNvGraphicFramePr>
            <a:graphicFrameLocks noGrp="1"/>
          </p:cNvGraphicFramePr>
          <p:nvPr/>
        </p:nvGraphicFramePr>
        <p:xfrm>
          <a:off x="482950" y="1828909"/>
          <a:ext cx="7664529" cy="1257546"/>
        </p:xfrm>
        <a:graphic>
          <a:graphicData uri="http://schemas.openxmlformats.org/drawingml/2006/table">
            <a:tbl>
              <a:tblPr>
                <a:tableStyleId>{2D5ABB26-0587-4C30-8999-92F81FD0307C}</a:tableStyleId>
              </a:tblPr>
              <a:tblGrid>
                <a:gridCol w="3417960">
                  <a:extLst>
                    <a:ext uri="{9D8B030D-6E8A-4147-A177-3AD203B41FA5}">
                      <a16:colId xmlns:a16="http://schemas.microsoft.com/office/drawing/2014/main" val="20001"/>
                    </a:ext>
                  </a:extLst>
                </a:gridCol>
                <a:gridCol w="4246569">
                  <a:extLst>
                    <a:ext uri="{9D8B030D-6E8A-4147-A177-3AD203B41FA5}">
                      <a16:colId xmlns:a16="http://schemas.microsoft.com/office/drawing/2014/main" val="20002"/>
                    </a:ext>
                  </a:extLst>
                </a:gridCol>
              </a:tblGrid>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Current Assets $633.6M</a:t>
                      </a: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Current Liabilities $591.2M</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Capital Assets $1,126.7M</a:t>
                      </a: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Long-term Liabilities $1,245.2M</a:t>
                      </a: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accent2"/>
                          </a:solidFill>
                          <a:effectLst/>
                          <a:latin typeface="+mn-lt"/>
                          <a:ea typeface="ＭＳ Ｐゴシック" pitchFamily="34" charset="-128"/>
                        </a:rPr>
                        <a:t>Other Assets $1,237.5M</a:t>
                      </a: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Slide Number Placeholder 7"/>
          <p:cNvSpPr>
            <a:spLocks noGrp="1"/>
          </p:cNvSpPr>
          <p:nvPr>
            <p:ph type="sldNum" sz="quarter" idx="4294967295"/>
          </p:nvPr>
        </p:nvSpPr>
        <p:spPr>
          <a:xfrm>
            <a:off x="8469313" y="6553200"/>
            <a:ext cx="551783" cy="182880"/>
          </a:xfrm>
          <a:prstGeom prst="rect">
            <a:avLst/>
          </a:prstGeom>
        </p:spPr>
        <p:txBody>
          <a:bodyPr/>
          <a:lstStyle/>
          <a:p>
            <a:fld id="{200B2350-5261-4F5C-9DF5-EF0D264FC8D2}" type="slidenum">
              <a:rPr lang="en-US" smtClean="0"/>
              <a:pPr/>
              <a:t>29</a:t>
            </a:fld>
            <a:endParaRPr lang="en-US" dirty="0"/>
          </a:p>
        </p:txBody>
      </p:sp>
      <p:sp>
        <p:nvSpPr>
          <p:cNvPr id="4" name="Rectangle 3">
            <a:extLst>
              <a:ext uri="{FF2B5EF4-FFF2-40B4-BE49-F238E27FC236}">
                <a16:creationId xmlns:a16="http://schemas.microsoft.com/office/drawing/2014/main" id="{B2E4B8DE-F8D5-29E5-0A2E-A47729FF1AF2}"/>
              </a:ext>
            </a:extLst>
          </p:cNvPr>
          <p:cNvSpPr/>
          <p:nvPr/>
        </p:nvSpPr>
        <p:spPr>
          <a:xfrm>
            <a:off x="482951" y="1108568"/>
            <a:ext cx="7345814" cy="446276"/>
          </a:xfrm>
          <a:prstGeom prst="rect">
            <a:avLst/>
          </a:prstGeom>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kumimoji="0" lang="en-CA" sz="2300" b="1" i="0" u="none" strike="noStrike" kern="1200" cap="none" spc="0" normalizeH="0" baseline="0" noProof="0" dirty="0">
                <a:ln>
                  <a:noFill/>
                </a:ln>
                <a:solidFill>
                  <a:srgbClr val="C00000"/>
                </a:solidFill>
                <a:effectLst/>
                <a:uLnTx/>
                <a:uFillTx/>
                <a:latin typeface="Arial"/>
                <a:ea typeface="+mn-ea"/>
                <a:cs typeface="+mn-cs"/>
              </a:rPr>
              <a:t>Use these data to write the accounting equation:</a:t>
            </a:r>
          </a:p>
        </p:txBody>
      </p:sp>
      <p:sp>
        <p:nvSpPr>
          <p:cNvPr id="3" name="Rectangle 2">
            <a:extLst>
              <a:ext uri="{FF2B5EF4-FFF2-40B4-BE49-F238E27FC236}">
                <a16:creationId xmlns:a16="http://schemas.microsoft.com/office/drawing/2014/main" id="{ED5D62A6-5755-B3CE-D56A-BB7BFFB9B3B6}"/>
              </a:ext>
            </a:extLst>
          </p:cNvPr>
          <p:cNvSpPr/>
          <p:nvPr/>
        </p:nvSpPr>
        <p:spPr>
          <a:xfrm>
            <a:off x="482950" y="3709846"/>
            <a:ext cx="7765123" cy="1862048"/>
          </a:xfrm>
          <a:prstGeom prst="rect">
            <a:avLst/>
          </a:prstGeom>
        </p:spPr>
        <p:txBody>
          <a:bodyPr wrap="square">
            <a:spAutoFit/>
          </a:bodyPr>
          <a:lstStyle/>
          <a:p>
            <a:pPr marL="457200" marR="0" lvl="0" indent="-457200" defTabSz="914400" rtl="0" eaLnBrk="1" fontAlgn="auto" latinLnBrk="0" hangingPunct="1">
              <a:lnSpc>
                <a:spcPct val="100000"/>
              </a:lnSpc>
              <a:spcBef>
                <a:spcPts val="0"/>
              </a:spcBef>
              <a:spcAft>
                <a:spcPts val="0"/>
              </a:spcAft>
              <a:buClrTx/>
              <a:buSzTx/>
              <a:buFont typeface="+mj-lt"/>
              <a:buAutoNum type="arabicPeriod"/>
              <a:tabLst/>
              <a:defRPr/>
            </a:pPr>
            <a:r>
              <a:rPr kumimoji="0" lang="en-CA" sz="2300" b="0" i="0" u="none" strike="noStrike" kern="1200" cap="none" spc="0" normalizeH="0" baseline="0" noProof="0" dirty="0">
                <a:ln>
                  <a:noFill/>
                </a:ln>
                <a:effectLst/>
                <a:uLnTx/>
                <a:uFillTx/>
                <a:latin typeface="Arial"/>
                <a:ea typeface="+mn-ea"/>
                <a:cs typeface="+mn-cs"/>
              </a:rPr>
              <a:t>How much in resources does Maple Leaf Foods have to work with?</a:t>
            </a:r>
          </a:p>
          <a:p>
            <a:pPr marL="457200" marR="0" lvl="0" indent="-457200" defTabSz="914400" rtl="0" eaLnBrk="1" fontAlgn="auto" latinLnBrk="0" hangingPunct="1">
              <a:lnSpc>
                <a:spcPct val="100000"/>
              </a:lnSpc>
              <a:spcBef>
                <a:spcPts val="0"/>
              </a:spcBef>
              <a:spcAft>
                <a:spcPts val="0"/>
              </a:spcAft>
              <a:buClrTx/>
              <a:buSzTx/>
              <a:buFont typeface="+mj-lt"/>
              <a:buAutoNum type="arabicPeriod"/>
              <a:tabLst/>
              <a:defRPr/>
            </a:pPr>
            <a:r>
              <a:rPr lang="en-CA" sz="2300" dirty="0">
                <a:latin typeface="Arial"/>
              </a:rPr>
              <a:t>How much does Maple Leaf Foods owe to creditors?</a:t>
            </a:r>
          </a:p>
          <a:p>
            <a:pPr marL="457200" marR="0" lvl="0" indent="-457200" defTabSz="914400" rtl="0" eaLnBrk="1" fontAlgn="auto" latinLnBrk="0" hangingPunct="1">
              <a:lnSpc>
                <a:spcPct val="100000"/>
              </a:lnSpc>
              <a:spcBef>
                <a:spcPts val="0"/>
              </a:spcBef>
              <a:spcAft>
                <a:spcPts val="0"/>
              </a:spcAft>
              <a:buClrTx/>
              <a:buSzTx/>
              <a:buFont typeface="+mj-lt"/>
              <a:buAutoNum type="arabicPeriod"/>
              <a:tabLst/>
              <a:defRPr/>
            </a:pPr>
            <a:r>
              <a:rPr kumimoji="0" lang="en-CA" sz="2300" b="0" i="0" u="none" strike="noStrike" kern="1200" cap="none" spc="0" normalizeH="0" baseline="0" noProof="0" dirty="0">
                <a:ln>
                  <a:noFill/>
                </a:ln>
                <a:effectLst/>
                <a:uLnTx/>
                <a:uFillTx/>
                <a:latin typeface="Arial"/>
                <a:ea typeface="+mn-ea"/>
                <a:cs typeface="+mn-cs"/>
              </a:rPr>
              <a:t>How much of the company assets do the Maple Leaf Foods shareholders own?</a:t>
            </a:r>
          </a:p>
        </p:txBody>
      </p:sp>
    </p:spTree>
    <p:extLst>
      <p:ext uri="{BB962C8B-B14F-4D97-AF65-F5344CB8AC3E}">
        <p14:creationId xmlns:p14="http://schemas.microsoft.com/office/powerpoint/2010/main" val="44139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The Statement of Cash Flows</a:t>
            </a:r>
            <a:endParaRPr lang="en-US" dirty="0"/>
          </a:p>
        </p:txBody>
      </p:sp>
      <p:sp>
        <p:nvSpPr>
          <p:cNvPr id="3" name="Content Placeholder 2"/>
          <p:cNvSpPr>
            <a:spLocks noGrp="1"/>
          </p:cNvSpPr>
          <p:nvPr>
            <p:ph idx="1"/>
          </p:nvPr>
        </p:nvSpPr>
        <p:spPr>
          <a:xfrm>
            <a:off x="457200" y="1600200"/>
            <a:ext cx="8229600" cy="4495799"/>
          </a:xfrm>
        </p:spPr>
        <p:txBody>
          <a:bodyPr/>
          <a:lstStyle/>
          <a:p>
            <a:r>
              <a:rPr lang="en-US" dirty="0">
                <a:ea typeface="ＭＳ Ｐゴシック" pitchFamily="34" charset="-128"/>
              </a:rPr>
              <a:t>Measures cash receipts and cash payments</a:t>
            </a:r>
          </a:p>
          <a:p>
            <a:r>
              <a:rPr lang="en-US" dirty="0">
                <a:ea typeface="ＭＳ Ｐゴシック" pitchFamily="34" charset="-128"/>
              </a:rPr>
              <a:t>Shows whether cash increased or decreased during the year</a:t>
            </a:r>
          </a:p>
          <a:p>
            <a:r>
              <a:rPr lang="en-US" dirty="0">
                <a:ea typeface="ＭＳ Ｐゴシック" pitchFamily="34" charset="-128"/>
              </a:rPr>
              <a:t>Reports ending cash as shown on the balance sheet</a:t>
            </a:r>
          </a:p>
          <a:p>
            <a:r>
              <a:rPr lang="en-US" dirty="0">
                <a:ea typeface="ＭＳ Ｐゴシック" pitchFamily="34" charset="-128"/>
              </a:rPr>
              <a:t>Categorizes into three types of activities:</a:t>
            </a:r>
          </a:p>
          <a:p>
            <a:pPr lvl="1"/>
            <a:r>
              <a:rPr lang="en-US" dirty="0">
                <a:ea typeface="ＭＳ Ｐゴシック" pitchFamily="34" charset="-128"/>
              </a:rPr>
              <a:t>Operating activities</a:t>
            </a:r>
          </a:p>
          <a:p>
            <a:pPr lvl="1"/>
            <a:r>
              <a:rPr lang="en-US" dirty="0">
                <a:ea typeface="ＭＳ Ｐゴシック" pitchFamily="34" charset="-128"/>
              </a:rPr>
              <a:t>Investing activities </a:t>
            </a:r>
          </a:p>
          <a:p>
            <a:pPr lvl="1"/>
            <a:r>
              <a:rPr lang="en-US" dirty="0">
                <a:ea typeface="ＭＳ Ｐゴシック" pitchFamily="34" charset="-128"/>
              </a:rPr>
              <a:t>Financing activities</a:t>
            </a:r>
          </a:p>
        </p:txBody>
      </p:sp>
    </p:spTree>
    <p:extLst>
      <p:ext uri="{BB962C8B-B14F-4D97-AF65-F5344CB8AC3E}">
        <p14:creationId xmlns:p14="http://schemas.microsoft.com/office/powerpoint/2010/main" val="1401780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Cash Flow Categories</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Operating activities</a:t>
            </a:r>
          </a:p>
          <a:p>
            <a:pPr lvl="1"/>
            <a:r>
              <a:rPr lang="en-US" dirty="0">
                <a:ea typeface="ＭＳ Ｐゴシック" pitchFamily="34" charset="-128"/>
              </a:rPr>
              <a:t>Cash receipts and payments from selling goods and services</a:t>
            </a:r>
          </a:p>
          <a:p>
            <a:r>
              <a:rPr lang="en-US" dirty="0">
                <a:ea typeface="ＭＳ Ｐゴシック" pitchFamily="34" charset="-128"/>
              </a:rPr>
              <a:t>Investing activities</a:t>
            </a:r>
          </a:p>
          <a:p>
            <a:pPr lvl="1"/>
            <a:r>
              <a:rPr lang="en-US" dirty="0">
                <a:ea typeface="ＭＳ Ｐゴシック" pitchFamily="34" charset="-128"/>
              </a:rPr>
              <a:t>Purchasing and selling long-term assets</a:t>
            </a:r>
          </a:p>
          <a:p>
            <a:r>
              <a:rPr lang="en-US" dirty="0">
                <a:ea typeface="ＭＳ Ｐゴシック" pitchFamily="34" charset="-128"/>
              </a:rPr>
              <a:t>Financing activities</a:t>
            </a:r>
          </a:p>
          <a:p>
            <a:pPr lvl="1"/>
            <a:r>
              <a:rPr lang="en-US" dirty="0">
                <a:ea typeface="ＭＳ Ｐゴシック" pitchFamily="34" charset="-128"/>
              </a:rPr>
              <a:t>Issuing shares, paying dividends, borrowing, and repayment of borrowed funds</a:t>
            </a:r>
          </a:p>
        </p:txBody>
      </p:sp>
    </p:spTree>
    <p:extLst>
      <p:ext uri="{BB962C8B-B14F-4D97-AF65-F5344CB8AC3E}">
        <p14:creationId xmlns:p14="http://schemas.microsoft.com/office/powerpoint/2010/main" val="468380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461735"/>
            <a:ext cx="8229600" cy="470428"/>
          </a:xfrm>
        </p:spPr>
        <p:txBody>
          <a:bodyPr>
            <a:normAutofit fontScale="90000"/>
          </a:bodyPr>
          <a:lstStyle/>
          <a:p>
            <a:pPr algn="ctr"/>
            <a:r>
              <a:rPr lang="en-US" sz="3200" dirty="0">
                <a:solidFill>
                  <a:schemeClr val="accent2"/>
                </a:solidFill>
                <a:latin typeface="+mj-lt"/>
                <a:ea typeface="ＭＳ Ｐゴシック" pitchFamily="34" charset="-128"/>
              </a:rPr>
              <a:t>Classroom Problem S1-12 </a:t>
            </a:r>
            <a:r>
              <a:rPr lang="en-US" sz="2700" dirty="0">
                <a:solidFill>
                  <a:schemeClr val="accent2"/>
                </a:solidFill>
                <a:latin typeface="+mj-lt"/>
                <a:ea typeface="ＭＳ Ｐゴシック" pitchFamily="34" charset="-128"/>
              </a:rPr>
              <a:t>Page </a:t>
            </a:r>
            <a:r>
              <a:rPr lang="en-US" sz="2700" dirty="0">
                <a:solidFill>
                  <a:schemeClr val="accent2"/>
                </a:solidFill>
                <a:ea typeface="ＭＳ Ｐゴシック" pitchFamily="34" charset="-128"/>
              </a:rPr>
              <a:t>40</a:t>
            </a:r>
            <a:endParaRPr lang="en-US" sz="2700" dirty="0">
              <a:solidFill>
                <a:schemeClr val="accent2"/>
              </a:solidFill>
              <a:latin typeface="+mj-lt"/>
              <a:ea typeface="ＭＳ Ｐゴシック" pitchFamily="34" charset="-128"/>
            </a:endParaRPr>
          </a:p>
        </p:txBody>
      </p:sp>
      <p:graphicFrame>
        <p:nvGraphicFramePr>
          <p:cNvPr id="5" name="Table 4"/>
          <p:cNvGraphicFramePr>
            <a:graphicFrameLocks noGrp="1"/>
          </p:cNvGraphicFramePr>
          <p:nvPr/>
        </p:nvGraphicFramePr>
        <p:xfrm>
          <a:off x="484300" y="1634945"/>
          <a:ext cx="7632811" cy="4480450"/>
        </p:xfrm>
        <a:graphic>
          <a:graphicData uri="http://schemas.openxmlformats.org/drawingml/2006/table">
            <a:tbl>
              <a:tblPr>
                <a:tableStyleId>{2D5ABB26-0587-4C30-8999-92F81FD0307C}</a:tableStyleId>
              </a:tblPr>
              <a:tblGrid>
                <a:gridCol w="3699773">
                  <a:extLst>
                    <a:ext uri="{9D8B030D-6E8A-4147-A177-3AD203B41FA5}">
                      <a16:colId xmlns:a16="http://schemas.microsoft.com/office/drawing/2014/main" val="20001"/>
                    </a:ext>
                  </a:extLst>
                </a:gridCol>
                <a:gridCol w="3933038">
                  <a:extLst>
                    <a:ext uri="{9D8B030D-6E8A-4147-A177-3AD203B41FA5}">
                      <a16:colId xmlns:a16="http://schemas.microsoft.com/office/drawing/2014/main" val="20002"/>
                    </a:ext>
                  </a:extLst>
                </a:gridCol>
              </a:tblGrid>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Dividends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Cash</a:t>
                      </a:r>
                      <a:endParaRPr kumimoji="0" lang="en-US" sz="1800" b="0" i="0" u="none" strike="noStrike" cap="none" normalizeH="0" baseline="0" dirty="0">
                        <a:ln>
                          <a:noFill/>
                        </a:ln>
                        <a:solidFill>
                          <a:schemeClr val="accent2"/>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Salary expense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Net cash provided by financing activities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Inventory</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Accounts payable</a:t>
                      </a:r>
                      <a:endParaRPr kumimoji="0" lang="en-US" sz="1800" b="0" i="0" u="none" strike="noStrike" cap="none" normalizeH="0" baseline="0" dirty="0">
                        <a:ln>
                          <a:noFill/>
                        </a:ln>
                        <a:solidFill>
                          <a:schemeClr val="accent2"/>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97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Sales revenue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Common shares</a:t>
                      </a:r>
                      <a:endParaRPr kumimoji="0" lang="en-US" sz="1800" b="0" i="0" u="none" strike="noStrike" cap="none" normalizeH="0" baseline="0" dirty="0">
                        <a:ln>
                          <a:noFill/>
                        </a:ln>
                        <a:solidFill>
                          <a:schemeClr val="accent2"/>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6034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Retained earnings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Interest revenue</a:t>
                      </a:r>
                      <a:endParaRPr kumimoji="0" lang="en-US" sz="1800" b="0" i="0" u="none" strike="noStrike" cap="none" normalizeH="0" baseline="0" dirty="0">
                        <a:ln>
                          <a:noFill/>
                        </a:ln>
                        <a:solidFill>
                          <a:schemeClr val="accent2"/>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u="none" strike="noStrike" cap="none" normalizeH="0" baseline="0" dirty="0">
                        <a:ln>
                          <a:noFill/>
                        </a:ln>
                        <a:solidFill>
                          <a:schemeClr val="accent2"/>
                        </a:solidFill>
                        <a:effectLst/>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Net cash provided by operating activities</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Long-term debt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1458" marR="91458"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191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u="none" strike="noStrike" cap="none" normalizeH="0" baseline="0" dirty="0">
                          <a:ln>
                            <a:noFill/>
                          </a:ln>
                          <a:solidFill>
                            <a:schemeClr val="accent2"/>
                          </a:solidFill>
                          <a:effectLst/>
                        </a:rPr>
                        <a:t>Net income</a:t>
                      </a:r>
                      <a:endParaRPr kumimoji="0" lang="en-US" sz="1800" b="0" i="0" u="none" strike="noStrike" cap="none" normalizeH="0" baseline="0" dirty="0">
                        <a:ln>
                          <a:noFill/>
                        </a:ln>
                        <a:solidFill>
                          <a:schemeClr val="accent2"/>
                        </a:solidFill>
                        <a:effectLst/>
                        <a:latin typeface="+mn-lt"/>
                        <a:ea typeface="ＭＳ Ｐゴシック" pitchFamily="34" charset="-128"/>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u="none" strike="noStrike" cap="none" normalizeH="0" baseline="0" dirty="0">
                          <a:ln>
                            <a:noFill/>
                          </a:ln>
                          <a:solidFill>
                            <a:schemeClr val="accent2"/>
                          </a:solidFill>
                          <a:effectLst/>
                        </a:rPr>
                        <a:t>Net increase or decrease in cash</a:t>
                      </a:r>
                      <a:endParaRPr kumimoji="0" lang="en-US" sz="1800" b="0" i="0" u="none" strike="noStrike" cap="none" normalizeH="0" baseline="0" dirty="0">
                        <a:ln>
                          <a:noFill/>
                        </a:ln>
                        <a:solidFill>
                          <a:schemeClr val="accent2"/>
                        </a:solidFill>
                        <a:effectLst/>
                        <a:latin typeface="+mn-lt"/>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800" b="1" dirty="0">
                        <a:solidFill>
                          <a:schemeClr val="accent2"/>
                        </a:solidFill>
                        <a:latin typeface="+mn-lt"/>
                        <a:ea typeface="+mn-ea"/>
                      </a:endParaRPr>
                    </a:p>
                  </a:txBody>
                  <a:tcPr marL="98210" marR="982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lide Number Placeholder 7"/>
          <p:cNvSpPr>
            <a:spLocks noGrp="1"/>
          </p:cNvSpPr>
          <p:nvPr>
            <p:ph type="sldNum" sz="quarter" idx="4294967295"/>
          </p:nvPr>
        </p:nvSpPr>
        <p:spPr>
          <a:xfrm>
            <a:off x="8469313" y="6553200"/>
            <a:ext cx="551783" cy="182880"/>
          </a:xfrm>
          <a:prstGeom prst="rect">
            <a:avLst/>
          </a:prstGeom>
        </p:spPr>
        <p:txBody>
          <a:bodyPr/>
          <a:lstStyle/>
          <a:p>
            <a:fld id="{200B2350-5261-4F5C-9DF5-EF0D264FC8D2}" type="slidenum">
              <a:rPr lang="en-US" smtClean="0"/>
              <a:pPr/>
              <a:t>32</a:t>
            </a:fld>
            <a:endParaRPr lang="en-US" dirty="0"/>
          </a:p>
        </p:txBody>
      </p:sp>
      <p:sp>
        <p:nvSpPr>
          <p:cNvPr id="4" name="Rectangle 3">
            <a:extLst>
              <a:ext uri="{FF2B5EF4-FFF2-40B4-BE49-F238E27FC236}">
                <a16:creationId xmlns:a16="http://schemas.microsoft.com/office/drawing/2014/main" id="{B2E4B8DE-F8D5-29E5-0A2E-A47729FF1AF2}"/>
              </a:ext>
            </a:extLst>
          </p:cNvPr>
          <p:cNvSpPr/>
          <p:nvPr/>
        </p:nvSpPr>
        <p:spPr>
          <a:xfrm>
            <a:off x="484301" y="932163"/>
            <a:ext cx="7344466" cy="446276"/>
          </a:xfrm>
          <a:prstGeom prst="rect">
            <a:avLst/>
          </a:prstGeom>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CA" sz="2300" b="1" dirty="0">
                <a:solidFill>
                  <a:srgbClr val="C00000"/>
                </a:solidFill>
                <a:latin typeface="Arial"/>
                <a:ea typeface="ＭＳ Ｐゴシック" pitchFamily="34" charset="-128"/>
              </a:rPr>
              <a:t>Which statement are these elements found on?</a:t>
            </a:r>
            <a:endParaRPr kumimoji="0" lang="en-CA" sz="2300" b="1" i="0" u="none" strike="noStrike" kern="1200" cap="none" spc="0" normalizeH="0" baseline="0" noProof="0" dirty="0">
              <a:ln>
                <a:noFill/>
              </a:ln>
              <a:solidFill>
                <a:srgbClr val="C00000"/>
              </a:solidFill>
              <a:effectLst/>
              <a:uLnTx/>
              <a:uFillTx/>
              <a:latin typeface="Arial"/>
              <a:ea typeface="+mn-ea"/>
              <a:cs typeface="+mn-cs"/>
            </a:endParaRPr>
          </a:p>
        </p:txBody>
      </p:sp>
    </p:spTree>
    <p:extLst>
      <p:ext uri="{BB962C8B-B14F-4D97-AF65-F5344CB8AC3E}">
        <p14:creationId xmlns:p14="http://schemas.microsoft.com/office/powerpoint/2010/main" val="117123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ea typeface="ＭＳ Ｐゴシック" pitchFamily="34" charset="-128"/>
              </a:rPr>
              <a:t>Notes to the Financial Statements</a:t>
            </a:r>
            <a:endParaRPr lang="en-US" dirty="0"/>
          </a:p>
        </p:txBody>
      </p:sp>
      <p:sp>
        <p:nvSpPr>
          <p:cNvPr id="3" name="Content Placeholder 2"/>
          <p:cNvSpPr>
            <a:spLocks noGrp="1"/>
          </p:cNvSpPr>
          <p:nvPr>
            <p:ph idx="1"/>
          </p:nvPr>
        </p:nvSpPr>
        <p:spPr/>
        <p:txBody>
          <a:bodyPr/>
          <a:lstStyle/>
          <a:p>
            <a:r>
              <a:rPr lang="en-CA" dirty="0">
                <a:ea typeface="ＭＳ Ｐゴシック" pitchFamily="34" charset="-128"/>
              </a:rPr>
              <a:t>An integral part of the financial statements </a:t>
            </a:r>
          </a:p>
          <a:p>
            <a:r>
              <a:rPr lang="en-CA" dirty="0">
                <a:ea typeface="ＭＳ Ｐゴシック" pitchFamily="34" charset="-128"/>
              </a:rPr>
              <a:t>Should be read carefully with the financial statements </a:t>
            </a:r>
          </a:p>
          <a:p>
            <a:r>
              <a:rPr lang="en-CA" dirty="0">
                <a:ea typeface="ＭＳ Ｐゴシック" pitchFamily="34" charset="-128"/>
              </a:rPr>
              <a:t>Provide information on the accounting policies used </a:t>
            </a:r>
          </a:p>
          <a:p>
            <a:r>
              <a:rPr lang="en-CA" dirty="0">
                <a:ea typeface="ＭＳ Ｐゴシック" pitchFamily="34" charset="-128"/>
              </a:rPr>
              <a:t>Example of policies used: Methods used to account for inventories and depreciation</a:t>
            </a:r>
            <a:endParaRPr lang="en-US" dirty="0"/>
          </a:p>
        </p:txBody>
      </p:sp>
    </p:spTree>
    <p:extLst>
      <p:ext uri="{BB962C8B-B14F-4D97-AF65-F5344CB8AC3E}">
        <p14:creationId xmlns:p14="http://schemas.microsoft.com/office/powerpoint/2010/main" val="412133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ea typeface="ＭＳ Ｐゴシック" pitchFamily="34" charset="-128"/>
              </a:rPr>
              <a:t>Financial Reporting Responsibilities</a:t>
            </a:r>
            <a:endParaRPr lang="en-US" dirty="0"/>
          </a:p>
        </p:txBody>
      </p:sp>
      <p:sp>
        <p:nvSpPr>
          <p:cNvPr id="3" name="Content Placeholder 2"/>
          <p:cNvSpPr>
            <a:spLocks noGrp="1"/>
          </p:cNvSpPr>
          <p:nvPr>
            <p:ph idx="1"/>
          </p:nvPr>
        </p:nvSpPr>
        <p:spPr/>
        <p:txBody>
          <a:bodyPr/>
          <a:lstStyle/>
          <a:p>
            <a:r>
              <a:rPr lang="en-CA" dirty="0">
                <a:ea typeface="ＭＳ Ｐゴシック" pitchFamily="34" charset="-128"/>
              </a:rPr>
              <a:t>Company management are responsible for preparing the financial statements. </a:t>
            </a:r>
          </a:p>
          <a:p>
            <a:r>
              <a:rPr lang="en-CA" dirty="0">
                <a:ea typeface="ＭＳ Ｐゴシック" pitchFamily="34" charset="-128"/>
              </a:rPr>
              <a:t>Auditor</a:t>
            </a:r>
            <a:r>
              <a:rPr lang="en-CA" altLang="en-US" dirty="0">
                <a:ea typeface="ＭＳ Ｐゴシック" pitchFamily="34" charset="-128"/>
              </a:rPr>
              <a:t>’</a:t>
            </a:r>
            <a:r>
              <a:rPr lang="en-CA" dirty="0">
                <a:ea typeface="ＭＳ Ｐゴシック" pitchFamily="34" charset="-128"/>
              </a:rPr>
              <a:t>s responsibility is to gather evidence and decide whether the information reported in the financial statements complies with the applicable GAAP. </a:t>
            </a:r>
          </a:p>
          <a:p>
            <a:r>
              <a:rPr lang="en-CA" dirty="0">
                <a:ea typeface="ＭＳ Ｐゴシック" pitchFamily="34" charset="-128"/>
              </a:rPr>
              <a:t>Auditor provides a signed report that states its opinion on the fairness of the company</a:t>
            </a:r>
            <a:r>
              <a:rPr lang="en-CA" altLang="en-US" dirty="0">
                <a:ea typeface="ＭＳ Ｐゴシック" pitchFamily="34" charset="-128"/>
              </a:rPr>
              <a:t>’</a:t>
            </a:r>
            <a:r>
              <a:rPr lang="en-CA" dirty="0">
                <a:ea typeface="ＭＳ Ｐゴシック" pitchFamily="34" charset="-128"/>
              </a:rPr>
              <a:t>s financial statements relative to GAAP. </a:t>
            </a:r>
            <a:endParaRPr lang="en-US" dirty="0"/>
          </a:p>
        </p:txBody>
      </p:sp>
    </p:spTree>
    <p:extLst>
      <p:ext uri="{BB962C8B-B14F-4D97-AF65-F5344CB8AC3E}">
        <p14:creationId xmlns:p14="http://schemas.microsoft.com/office/powerpoint/2010/main" val="73843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Text Placeholder 2"/>
          <p:cNvSpPr>
            <a:spLocks noGrp="1"/>
          </p:cNvSpPr>
          <p:nvPr>
            <p:ph type="subTitle" idx="1"/>
          </p:nvPr>
        </p:nvSpPr>
        <p:spPr/>
        <p:txBody>
          <a:bodyPr>
            <a:normAutofit lnSpcReduction="10000"/>
          </a:bodyPr>
          <a:lstStyle/>
          <a:p>
            <a:r>
              <a:rPr lang="en-CA" b="1" dirty="0">
                <a:ea typeface="ＭＳ Ｐゴシック" pitchFamily="34" charset="-128"/>
              </a:rPr>
              <a:t>Prepare</a:t>
            </a:r>
            <a:r>
              <a:rPr lang="en-CA" dirty="0">
                <a:ea typeface="ＭＳ Ｐゴシック" pitchFamily="34" charset="-128"/>
              </a:rPr>
              <a:t> financial statements and </a:t>
            </a:r>
            <a:r>
              <a:rPr lang="en-CA" b="1" dirty="0">
                <a:ea typeface="ＭＳ Ｐゴシック" pitchFamily="34" charset="-128"/>
              </a:rPr>
              <a:t>analyze</a:t>
            </a:r>
            <a:r>
              <a:rPr lang="en-CA" dirty="0">
                <a:ea typeface="ＭＳ Ｐゴシック" pitchFamily="34" charset="-128"/>
              </a:rPr>
              <a:t> the relationships among them</a:t>
            </a:r>
            <a:endParaRPr lang="en-US" dirty="0">
              <a:solidFill>
                <a:schemeClr val="tx1"/>
              </a:solidFill>
            </a:endParaRPr>
          </a:p>
        </p:txBody>
      </p:sp>
    </p:spTree>
    <p:extLst>
      <p:ext uri="{BB962C8B-B14F-4D97-AF65-F5344CB8AC3E}">
        <p14:creationId xmlns:p14="http://schemas.microsoft.com/office/powerpoint/2010/main" val="2966579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533400" y="304800"/>
            <a:ext cx="8229600" cy="779252"/>
          </a:xfrm>
        </p:spPr>
        <p:txBody>
          <a:bodyPr/>
          <a:lstStyle/>
          <a:p>
            <a:r>
              <a:rPr lang="en-US" sz="3200" dirty="0">
                <a:ea typeface="ＭＳ Ｐゴシック" pitchFamily="34" charset="-128"/>
              </a:rPr>
              <a:t>Financial Information Flow</a:t>
            </a:r>
            <a:endParaRPr lang="en-US" sz="2000" b="0" dirty="0"/>
          </a:p>
        </p:txBody>
      </p:sp>
      <p:sp>
        <p:nvSpPr>
          <p:cNvPr id="4" name="Text Placeholder 3"/>
          <p:cNvSpPr>
            <a:spLocks noGrp="1"/>
          </p:cNvSpPr>
          <p:nvPr>
            <p:ph type="body" idx="1"/>
          </p:nvPr>
        </p:nvSpPr>
        <p:spPr>
          <a:xfrm>
            <a:off x="2880360" y="1131820"/>
            <a:ext cx="3383280" cy="731520"/>
          </a:xfrm>
        </p:spPr>
        <p:txBody>
          <a:bodyPr/>
          <a:lstStyle/>
          <a:p>
            <a:r>
              <a:rPr lang="en-US" sz="2000" b="1" dirty="0"/>
              <a:t>Income Statement</a:t>
            </a:r>
            <a:endParaRPr lang="en-US" dirty="0"/>
          </a:p>
        </p:txBody>
      </p:sp>
      <p:cxnSp>
        <p:nvCxnSpPr>
          <p:cNvPr id="13" name="Straight Arrow Connector 12"/>
          <p:cNvCxnSpPr/>
          <p:nvPr/>
        </p:nvCxnSpPr>
        <p:spPr>
          <a:xfrm>
            <a:off x="4572000" y="1866900"/>
            <a:ext cx="0" cy="574271"/>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Content Placeholder 4"/>
          <p:cNvSpPr>
            <a:spLocks noGrp="1"/>
          </p:cNvSpPr>
          <p:nvPr>
            <p:ph sz="half" idx="2"/>
          </p:nvPr>
        </p:nvSpPr>
        <p:spPr>
          <a:xfrm>
            <a:off x="2880360" y="2468880"/>
            <a:ext cx="3383280" cy="731520"/>
          </a:xfrm>
        </p:spPr>
        <p:txBody>
          <a:bodyPr>
            <a:normAutofit lnSpcReduction="10000"/>
          </a:bodyPr>
          <a:lstStyle/>
          <a:p>
            <a:r>
              <a:rPr lang="en-US" sz="2000" b="1" dirty="0"/>
              <a:t>Statement of Retained Earnings</a:t>
            </a:r>
            <a:endParaRPr lang="en-US" dirty="0"/>
          </a:p>
        </p:txBody>
      </p:sp>
      <p:cxnSp>
        <p:nvCxnSpPr>
          <p:cNvPr id="14" name="Straight Arrow Connector 13"/>
          <p:cNvCxnSpPr/>
          <p:nvPr/>
        </p:nvCxnSpPr>
        <p:spPr>
          <a:xfrm>
            <a:off x="4572000" y="3235729"/>
            <a:ext cx="0" cy="574271"/>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sz="quarter" idx="3"/>
          </p:nvPr>
        </p:nvSpPr>
        <p:spPr>
          <a:xfrm>
            <a:off x="2880360" y="3840480"/>
            <a:ext cx="3383280" cy="731520"/>
          </a:xfrm>
        </p:spPr>
        <p:txBody>
          <a:bodyPr/>
          <a:lstStyle/>
          <a:p>
            <a:r>
              <a:rPr lang="en-US" sz="2000" b="1" dirty="0"/>
              <a:t>Balance Sheet</a:t>
            </a:r>
            <a:endParaRPr lang="en-US" dirty="0"/>
          </a:p>
        </p:txBody>
      </p:sp>
      <p:cxnSp>
        <p:nvCxnSpPr>
          <p:cNvPr id="15" name="Straight Arrow Connector 14"/>
          <p:cNvCxnSpPr/>
          <p:nvPr/>
        </p:nvCxnSpPr>
        <p:spPr>
          <a:xfrm>
            <a:off x="4572000" y="4648200"/>
            <a:ext cx="0" cy="574271"/>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Content Placeholder 6"/>
          <p:cNvSpPr>
            <a:spLocks noGrp="1"/>
          </p:cNvSpPr>
          <p:nvPr>
            <p:ph sz="quarter" idx="4"/>
          </p:nvPr>
        </p:nvSpPr>
        <p:spPr>
          <a:xfrm>
            <a:off x="2880360" y="5288280"/>
            <a:ext cx="3383280" cy="731520"/>
          </a:xfrm>
        </p:spPr>
        <p:txBody>
          <a:bodyPr>
            <a:normAutofit lnSpcReduction="10000"/>
          </a:bodyPr>
          <a:lstStyle/>
          <a:p>
            <a:r>
              <a:rPr lang="en-US" sz="2000" b="1" dirty="0"/>
              <a:t>Statement of Cash Flows</a:t>
            </a:r>
            <a:endParaRPr lang="en-US" dirty="0"/>
          </a:p>
        </p:txBody>
      </p:sp>
    </p:spTree>
    <p:extLst>
      <p:ext uri="{BB962C8B-B14F-4D97-AF65-F5344CB8AC3E}">
        <p14:creationId xmlns:p14="http://schemas.microsoft.com/office/powerpoint/2010/main" val="3608457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97280"/>
          </a:xfrm>
        </p:spPr>
        <p:txBody>
          <a:bodyPr/>
          <a:lstStyle/>
          <a:p>
            <a:r>
              <a:rPr lang="en-US" sz="3200" dirty="0">
                <a:ea typeface="ＭＳ Ｐゴシック" pitchFamily="34" charset="-128"/>
              </a:rPr>
              <a:t>Relationships among the Financial Statements </a:t>
            </a:r>
            <a:r>
              <a:rPr lang="en-US" sz="2000" b="0" dirty="0">
                <a:ea typeface="ＭＳ Ｐゴシック" pitchFamily="34" charset="-128"/>
              </a:rPr>
              <a:t>(1 of 3)</a:t>
            </a:r>
            <a:endParaRPr lang="en-US" sz="2000" b="0" dirty="0"/>
          </a:p>
        </p:txBody>
      </p:sp>
      <p:sp>
        <p:nvSpPr>
          <p:cNvPr id="3" name="Content Placeholder 2"/>
          <p:cNvSpPr>
            <a:spLocks noGrp="1"/>
          </p:cNvSpPr>
          <p:nvPr>
            <p:ph idx="1"/>
          </p:nvPr>
        </p:nvSpPr>
        <p:spPr>
          <a:xfrm>
            <a:off x="1409426" y="1600200"/>
            <a:ext cx="6325149" cy="609599"/>
          </a:xfrm>
          <a:noFill/>
          <a:ln w="12700">
            <a:solidFill>
              <a:schemeClr val="tx1"/>
            </a:solidFill>
          </a:ln>
        </p:spPr>
        <p:txBody>
          <a:bodyPr>
            <a:normAutofit lnSpcReduction="10000"/>
          </a:bodyPr>
          <a:lstStyle/>
          <a:p>
            <a:pPr marL="0" lvl="0" indent="0" algn="ctr" fontAlgn="base">
              <a:spcBef>
                <a:spcPct val="0"/>
              </a:spcBef>
              <a:spcAft>
                <a:spcPct val="0"/>
              </a:spcAft>
              <a:buClrTx/>
              <a:buSzTx/>
              <a:buNone/>
            </a:pPr>
            <a:r>
              <a:rPr lang="en-US" sz="1800" b="1" dirty="0">
                <a:ea typeface="ＭＳ Ｐゴシック" pitchFamily="34" charset="-128"/>
              </a:rPr>
              <a:t>Income Statement</a:t>
            </a:r>
          </a:p>
          <a:p>
            <a:pPr marL="0" lvl="0" indent="0" algn="ctr" fontAlgn="base">
              <a:spcBef>
                <a:spcPct val="0"/>
              </a:spcBef>
              <a:spcAft>
                <a:spcPct val="0"/>
              </a:spcAft>
              <a:buClrTx/>
              <a:buSzTx/>
              <a:buNone/>
            </a:pPr>
            <a:r>
              <a:rPr lang="en-IN" sz="1800" dirty="0">
                <a:ea typeface="ＭＳ Ｐゴシック" pitchFamily="34" charset="-128"/>
              </a:rPr>
              <a:t>For the Year Ended December 31, 20XX</a:t>
            </a:r>
            <a:endParaRPr lang="en-US" sz="1800" dirty="0"/>
          </a:p>
        </p:txBody>
      </p:sp>
      <p:graphicFrame>
        <p:nvGraphicFramePr>
          <p:cNvPr id="6" name="Table 5"/>
          <p:cNvGraphicFramePr>
            <a:graphicFrameLocks noGrp="1"/>
          </p:cNvGraphicFramePr>
          <p:nvPr/>
        </p:nvGraphicFramePr>
        <p:xfrm>
          <a:off x="1409700" y="2292750"/>
          <a:ext cx="6324600" cy="1136250"/>
        </p:xfrm>
        <a:graphic>
          <a:graphicData uri="http://schemas.openxmlformats.org/drawingml/2006/table">
            <a:tbl>
              <a:tblPr firstRow="1" bandRow="1">
                <a:tableStyleId>{2D5ABB26-0587-4C30-8999-92F81FD0307C}</a:tableStyleId>
              </a:tblPr>
              <a:tblGrid>
                <a:gridCol w="3534335">
                  <a:extLst>
                    <a:ext uri="{9D8B030D-6E8A-4147-A177-3AD203B41FA5}">
                      <a16:colId xmlns:a16="http://schemas.microsoft.com/office/drawing/2014/main" val="20000"/>
                    </a:ext>
                  </a:extLst>
                </a:gridCol>
                <a:gridCol w="2790265">
                  <a:extLst>
                    <a:ext uri="{9D8B030D-6E8A-4147-A177-3AD203B41FA5}">
                      <a16:colId xmlns:a16="http://schemas.microsoft.com/office/drawing/2014/main" val="20001"/>
                    </a:ext>
                  </a:extLst>
                </a:gridCol>
              </a:tblGrid>
              <a:tr h="378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Revenues</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$XX,XXX</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8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Expenses</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sng" strike="noStrike" cap="none" normalizeH="0" baseline="0" dirty="0">
                          <a:ln>
                            <a:noFill/>
                          </a:ln>
                          <a:solidFill>
                            <a:srgbClr val="000000"/>
                          </a:solidFill>
                          <a:effectLst/>
                          <a:latin typeface="+mn-lt"/>
                          <a:ea typeface="ＭＳ Ｐゴシック" pitchFamily="34" charset="-128"/>
                        </a:rPr>
                        <a:t>(XX,XXX)</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8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Net income</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1" i="0" u="dbl" strike="noStrike" cap="none" normalizeH="0" baseline="0" dirty="0">
                          <a:ln>
                            <a:noFill/>
                          </a:ln>
                          <a:solidFill>
                            <a:srgbClr val="000000"/>
                          </a:solidFill>
                          <a:effectLst/>
                          <a:latin typeface="+mn-lt"/>
                          <a:ea typeface="ＭＳ Ｐゴシック" pitchFamily="34" charset="-128"/>
                        </a:rPr>
                        <a:t> $XX,XXX</a:t>
                      </a:r>
                    </a:p>
                  </a:txBody>
                  <a:tcPr marL="91435" marR="9143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Content Placeholder 3"/>
          <p:cNvSpPr>
            <a:spLocks noGrp="1"/>
          </p:cNvSpPr>
          <p:nvPr>
            <p:ph idx="13"/>
          </p:nvPr>
        </p:nvSpPr>
        <p:spPr>
          <a:xfrm>
            <a:off x="1408176" y="3733800"/>
            <a:ext cx="6327648" cy="609600"/>
          </a:xfrm>
          <a:ln w="12700">
            <a:solidFill>
              <a:schemeClr val="tx1"/>
            </a:solidFill>
          </a:ln>
        </p:spPr>
        <p:txBody>
          <a:bodyPr>
            <a:normAutofit lnSpcReduction="10000"/>
          </a:bodyPr>
          <a:lstStyle/>
          <a:p>
            <a:pPr marL="0" lvl="0" indent="0" algn="ctr" fontAlgn="base">
              <a:spcBef>
                <a:spcPct val="0"/>
              </a:spcBef>
              <a:spcAft>
                <a:spcPct val="0"/>
              </a:spcAft>
              <a:buClrTx/>
              <a:buNone/>
            </a:pPr>
            <a:r>
              <a:rPr lang="en-US" sz="1800" b="1" dirty="0">
                <a:ea typeface="ＭＳ Ｐゴシック" pitchFamily="34" charset="-128"/>
              </a:rPr>
              <a:t>Statement of Retained Earnings</a:t>
            </a:r>
          </a:p>
          <a:p>
            <a:pPr marL="0" lvl="0" indent="0" algn="ctr" fontAlgn="base">
              <a:spcBef>
                <a:spcPct val="0"/>
              </a:spcBef>
              <a:spcAft>
                <a:spcPct val="0"/>
              </a:spcAft>
              <a:buClrTx/>
              <a:buNone/>
            </a:pPr>
            <a:r>
              <a:rPr lang="en-IN" sz="1800" dirty="0">
                <a:ea typeface="ＭＳ Ｐゴシック" pitchFamily="34" charset="-128"/>
              </a:rPr>
              <a:t>For the Year Ended December 31, 20XX</a:t>
            </a:r>
            <a:endParaRPr lang="en-US" sz="1800" dirty="0">
              <a:ea typeface="ＭＳ Ｐゴシック" pitchFamily="34" charset="-128"/>
            </a:endParaRPr>
          </a:p>
        </p:txBody>
      </p:sp>
      <p:sp>
        <p:nvSpPr>
          <p:cNvPr id="8" name="Curved Left Arrow 7"/>
          <p:cNvSpPr/>
          <p:nvPr/>
        </p:nvSpPr>
        <p:spPr>
          <a:xfrm>
            <a:off x="7765594" y="3182470"/>
            <a:ext cx="571877" cy="1942162"/>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endParaRPr lang="en-US" dirty="0">
              <a:solidFill>
                <a:schemeClr val="tx1"/>
              </a:solidFill>
              <a:ea typeface="ＭＳ Ｐゴシック" pitchFamily="34" charset="-128"/>
            </a:endParaRPr>
          </a:p>
        </p:txBody>
      </p:sp>
      <p:graphicFrame>
        <p:nvGraphicFramePr>
          <p:cNvPr id="9" name="Table 8"/>
          <p:cNvGraphicFramePr>
            <a:graphicFrameLocks noGrp="1"/>
          </p:cNvGraphicFramePr>
          <p:nvPr/>
        </p:nvGraphicFramePr>
        <p:xfrm>
          <a:off x="1409700" y="4419312"/>
          <a:ext cx="6324600" cy="1524288"/>
        </p:xfrm>
        <a:graphic>
          <a:graphicData uri="http://schemas.openxmlformats.org/drawingml/2006/table">
            <a:tbl>
              <a:tblPr firstRow="1" bandRow="1">
                <a:tableStyleId>{2D5ABB26-0587-4C30-8999-92F81FD0307C}</a:tableStyleId>
              </a:tblPr>
              <a:tblGrid>
                <a:gridCol w="3534335">
                  <a:extLst>
                    <a:ext uri="{9D8B030D-6E8A-4147-A177-3AD203B41FA5}">
                      <a16:colId xmlns:a16="http://schemas.microsoft.com/office/drawing/2014/main" val="20000"/>
                    </a:ext>
                  </a:extLst>
                </a:gridCol>
                <a:gridCol w="2790265">
                  <a:extLst>
                    <a:ext uri="{9D8B030D-6E8A-4147-A177-3AD203B41FA5}">
                      <a16:colId xmlns:a16="http://schemas.microsoft.com/office/drawing/2014/main" val="20001"/>
                    </a:ext>
                  </a:extLst>
                </a:gridCol>
              </a:tblGrid>
              <a:tr h="3810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Beginning retained earnings</a:t>
                      </a:r>
                    </a:p>
                  </a:txBody>
                  <a:tcPr marL="91435" marR="91435"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35" marR="91435" marT="45732" marB="4573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10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Net income</a:t>
                      </a:r>
                    </a:p>
                  </a:txBody>
                  <a:tcPr marL="91435" marR="91435"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35" marR="91435" marT="45732" marB="4573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10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Cash dividends</a:t>
                      </a:r>
                    </a:p>
                  </a:txBody>
                  <a:tcPr marL="91435" marR="91435"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L="91435" marR="91435" marT="45732" marB="4573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10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Ending retained earnings</a:t>
                      </a:r>
                    </a:p>
                  </a:txBody>
                  <a:tcPr marL="91435" marR="91435"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dbl" strike="noStrike" cap="none" normalizeH="0" baseline="0" dirty="0">
                          <a:ln>
                            <a:noFill/>
                          </a:ln>
                          <a:solidFill>
                            <a:srgbClr val="000000"/>
                          </a:solidFill>
                          <a:effectLst/>
                          <a:latin typeface="+mn-lt"/>
                          <a:ea typeface="ＭＳ Ｐゴシック" pitchFamily="34" charset="-128"/>
                        </a:rPr>
                        <a:t> $XX,XXX</a:t>
                      </a:r>
                    </a:p>
                  </a:txBody>
                  <a:tcPr marL="91435" marR="91435" marT="45732" marB="4573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80653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46856"/>
          </a:xfrm>
        </p:spPr>
        <p:txBody>
          <a:bodyPr/>
          <a:lstStyle/>
          <a:p>
            <a:pPr lvl="0" fontAlgn="base">
              <a:spcAft>
                <a:spcPct val="0"/>
              </a:spcAft>
            </a:pPr>
            <a:r>
              <a:rPr lang="en-US" sz="3200" dirty="0">
                <a:ea typeface="ＭＳ Ｐゴシック" pitchFamily="34" charset="-128"/>
              </a:rPr>
              <a:t>Relationships among the Financial Statements </a:t>
            </a:r>
            <a:r>
              <a:rPr lang="en-US" sz="2000" b="0" dirty="0">
                <a:ea typeface="ＭＳ Ｐゴシック" pitchFamily="34" charset="-128"/>
              </a:rPr>
              <a:t>(2 of 3)</a:t>
            </a:r>
            <a:endParaRPr lang="en-US" sz="2000" b="0" dirty="0"/>
          </a:p>
        </p:txBody>
      </p:sp>
      <p:sp>
        <p:nvSpPr>
          <p:cNvPr id="3" name="Content Placeholder 2"/>
          <p:cNvSpPr>
            <a:spLocks noGrp="1"/>
          </p:cNvSpPr>
          <p:nvPr>
            <p:ph idx="1"/>
          </p:nvPr>
        </p:nvSpPr>
        <p:spPr>
          <a:xfrm>
            <a:off x="1444752" y="1130740"/>
            <a:ext cx="6327648" cy="548640"/>
          </a:xfrm>
          <a:ln w="12700">
            <a:solidFill>
              <a:schemeClr val="tx1"/>
            </a:solidFill>
          </a:ln>
        </p:spPr>
        <p:txBody>
          <a:bodyPr>
            <a:normAutofit fontScale="92500" lnSpcReduction="20000"/>
          </a:bodyPr>
          <a:lstStyle/>
          <a:p>
            <a:pPr marL="0" lvl="0" indent="0" algn="ctr" fontAlgn="base">
              <a:spcBef>
                <a:spcPct val="0"/>
              </a:spcBef>
              <a:spcAft>
                <a:spcPct val="0"/>
              </a:spcAft>
              <a:buClrTx/>
              <a:buNone/>
            </a:pPr>
            <a:r>
              <a:rPr lang="en-US" sz="1800" b="1" dirty="0">
                <a:ea typeface="ＭＳ Ｐゴシック" pitchFamily="34" charset="-128"/>
              </a:rPr>
              <a:t>Statement of Retained Earnings</a:t>
            </a:r>
          </a:p>
          <a:p>
            <a:pPr marL="0" lvl="0" indent="0" algn="ctr" fontAlgn="base">
              <a:spcBef>
                <a:spcPct val="0"/>
              </a:spcBef>
              <a:spcAft>
                <a:spcPct val="0"/>
              </a:spcAft>
              <a:buClrTx/>
              <a:buNone/>
            </a:pPr>
            <a:r>
              <a:rPr lang="en-IN" sz="1800" dirty="0">
                <a:ea typeface="ＭＳ Ｐゴシック" pitchFamily="34" charset="-128"/>
              </a:rPr>
              <a:t>For the Year Ended December 31, 20XX</a:t>
            </a:r>
            <a:endParaRPr lang="en-US" sz="1800" dirty="0">
              <a:ea typeface="ＭＳ Ｐゴシック" pitchFamily="34" charset="-128"/>
            </a:endParaRPr>
          </a:p>
        </p:txBody>
      </p:sp>
      <p:graphicFrame>
        <p:nvGraphicFramePr>
          <p:cNvPr id="8" name="Table 7"/>
          <p:cNvGraphicFramePr>
            <a:graphicFrameLocks noGrp="1"/>
          </p:cNvGraphicFramePr>
          <p:nvPr>
            <p:extLst>
              <p:ext uri="{D42A27DB-BD31-4B8C-83A1-F6EECF244321}">
                <p14:modId xmlns:p14="http://schemas.microsoft.com/office/powerpoint/2010/main" val="277577760"/>
              </p:ext>
            </p:extLst>
          </p:nvPr>
        </p:nvGraphicFramePr>
        <p:xfrm>
          <a:off x="1444752" y="1682382"/>
          <a:ext cx="6324600" cy="1462976"/>
        </p:xfrm>
        <a:graphic>
          <a:graphicData uri="http://schemas.openxmlformats.org/drawingml/2006/table">
            <a:tbl>
              <a:tblPr firstRow="1" bandRow="1">
                <a:tableStyleId>{2D5ABB26-0587-4C30-8999-92F81FD0307C}</a:tableStyleId>
              </a:tblPr>
              <a:tblGrid>
                <a:gridCol w="3534335">
                  <a:extLst>
                    <a:ext uri="{9D8B030D-6E8A-4147-A177-3AD203B41FA5}">
                      <a16:colId xmlns:a16="http://schemas.microsoft.com/office/drawing/2014/main" val="20000"/>
                    </a:ext>
                  </a:extLst>
                </a:gridCol>
                <a:gridCol w="2790265">
                  <a:extLst>
                    <a:ext uri="{9D8B030D-6E8A-4147-A177-3AD203B41FA5}">
                      <a16:colId xmlns:a16="http://schemas.microsoft.com/office/drawing/2014/main" val="20001"/>
                    </a:ext>
                  </a:extLst>
                </a:gridCol>
              </a:tblGrid>
              <a:tr h="2512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Beginning retained earnings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$XX,XXX</a:t>
                      </a:r>
                    </a:p>
                  </a:txBody>
                  <a:tcPr marT="45712" marB="4571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12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Net income</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XX,XXX</a:t>
                      </a:r>
                    </a:p>
                  </a:txBody>
                  <a:tcPr marT="45712" marB="4571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12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Cash dividends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sng" strike="noStrike" cap="none" normalizeH="0" baseline="0" dirty="0">
                          <a:ln>
                            <a:noFill/>
                          </a:ln>
                          <a:solidFill>
                            <a:srgbClr val="000000"/>
                          </a:solidFill>
                          <a:effectLst/>
                          <a:latin typeface="+mn-lt"/>
                          <a:ea typeface="ＭＳ Ｐゴシック" pitchFamily="34" charset="-128"/>
                        </a:rPr>
                        <a:t>(XX,XXX)</a:t>
                      </a:r>
                    </a:p>
                  </a:txBody>
                  <a:tcPr marT="45712" marB="4571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12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lt"/>
                          <a:ea typeface="ＭＳ Ｐゴシック" pitchFamily="34" charset="-128"/>
                        </a:rPr>
                        <a:t>Ending retained earnings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1" i="0" u="dbl" strike="noStrike" cap="none" normalizeH="0" baseline="0" dirty="0">
                          <a:ln>
                            <a:noFill/>
                          </a:ln>
                          <a:solidFill>
                            <a:srgbClr val="000000"/>
                          </a:solidFill>
                          <a:effectLst/>
                          <a:latin typeface="+mn-lt"/>
                          <a:ea typeface="ＭＳ Ｐゴシック" pitchFamily="34" charset="-128"/>
                        </a:rPr>
                        <a:t>$XX,XXX</a:t>
                      </a:r>
                    </a:p>
                  </a:txBody>
                  <a:tcPr marT="45712" marB="45712"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Content Placeholder 3"/>
          <p:cNvSpPr>
            <a:spLocks noGrp="1"/>
          </p:cNvSpPr>
          <p:nvPr>
            <p:ph idx="13"/>
          </p:nvPr>
        </p:nvSpPr>
        <p:spPr>
          <a:xfrm>
            <a:off x="1408176" y="3370488"/>
            <a:ext cx="6327648" cy="548640"/>
          </a:xfrm>
          <a:ln w="12700">
            <a:solidFill>
              <a:schemeClr val="tx1"/>
            </a:solidFill>
          </a:ln>
        </p:spPr>
        <p:txBody>
          <a:bodyPr>
            <a:normAutofit fontScale="92500" lnSpcReduction="20000"/>
          </a:bodyPr>
          <a:lstStyle/>
          <a:p>
            <a:pPr marL="0" lvl="0" indent="0" algn="ctr" fontAlgn="base">
              <a:spcBef>
                <a:spcPct val="0"/>
              </a:spcBef>
              <a:spcAft>
                <a:spcPct val="0"/>
              </a:spcAft>
              <a:buClrTx/>
              <a:buNone/>
            </a:pPr>
            <a:r>
              <a:rPr lang="en-US" sz="1800" b="1" dirty="0">
                <a:ea typeface="ＭＳ Ｐゴシック" pitchFamily="34" charset="-128"/>
              </a:rPr>
              <a:t>Balance Sheet</a:t>
            </a:r>
          </a:p>
          <a:p>
            <a:pPr marL="0" lvl="0" indent="0" algn="ctr" fontAlgn="base">
              <a:spcBef>
                <a:spcPct val="0"/>
              </a:spcBef>
              <a:spcAft>
                <a:spcPct val="0"/>
              </a:spcAft>
              <a:buClrTx/>
              <a:buNone/>
            </a:pPr>
            <a:r>
              <a:rPr lang="en-US" sz="1800" dirty="0">
                <a:ea typeface="ＭＳ Ｐゴシック" pitchFamily="34" charset="-128"/>
              </a:rPr>
              <a:t>As at December 31, 20XX</a:t>
            </a:r>
            <a:endParaRPr lang="en-US" sz="1800" dirty="0"/>
          </a:p>
        </p:txBody>
      </p:sp>
      <p:graphicFrame>
        <p:nvGraphicFramePr>
          <p:cNvPr id="9" name="Table 8"/>
          <p:cNvGraphicFramePr>
            <a:graphicFrameLocks noGrp="1"/>
          </p:cNvGraphicFramePr>
          <p:nvPr>
            <p:extLst>
              <p:ext uri="{D42A27DB-BD31-4B8C-83A1-F6EECF244321}">
                <p14:modId xmlns:p14="http://schemas.microsoft.com/office/powerpoint/2010/main" val="3293829964"/>
              </p:ext>
            </p:extLst>
          </p:nvPr>
        </p:nvGraphicFramePr>
        <p:xfrm>
          <a:off x="1409700" y="3919128"/>
          <a:ext cx="6324600" cy="2194668"/>
        </p:xfrm>
        <a:graphic>
          <a:graphicData uri="http://schemas.openxmlformats.org/drawingml/2006/table">
            <a:tbl>
              <a:tblPr firstRow="1" bandRow="1">
                <a:tableStyleId>{2D5ABB26-0587-4C30-8999-92F81FD0307C}</a:tableStyleId>
              </a:tblPr>
              <a:tblGrid>
                <a:gridCol w="3534335">
                  <a:extLst>
                    <a:ext uri="{9D8B030D-6E8A-4147-A177-3AD203B41FA5}">
                      <a16:colId xmlns:a16="http://schemas.microsoft.com/office/drawing/2014/main" val="20000"/>
                    </a:ext>
                  </a:extLst>
                </a:gridCol>
                <a:gridCol w="2790265">
                  <a:extLst>
                    <a:ext uri="{9D8B030D-6E8A-4147-A177-3AD203B41FA5}">
                      <a16:colId xmlns:a16="http://schemas.microsoft.com/office/drawing/2014/main" val="20001"/>
                    </a:ext>
                  </a:extLst>
                </a:gridCol>
              </a:tblGrid>
              <a:tr h="2281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Assets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1" i="0" u="dbl" strike="noStrike" cap="none" normalizeH="0" baseline="0" dirty="0">
                          <a:ln>
                            <a:noFill/>
                          </a:ln>
                          <a:solidFill>
                            <a:srgbClr val="000000"/>
                          </a:solidFill>
                          <a:effectLst/>
                          <a:latin typeface="+mn-ea"/>
                          <a:ea typeface="+mn-ea"/>
                        </a:rPr>
                        <a:t>$XX,XXX</a:t>
                      </a: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1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Liabilities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ea"/>
                          <a:ea typeface="+mn-ea"/>
                        </a:rPr>
                        <a:t>$XX,XXX</a:t>
                      </a: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1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Shareholders</a:t>
                      </a:r>
                      <a:r>
                        <a:rPr lang="en-US" dirty="0"/>
                        <a:t>’ </a:t>
                      </a:r>
                      <a:r>
                        <a:rPr kumimoji="0" lang="en-US" altLang="ja-JP" sz="1800" b="0" i="0" u="none" strike="noStrike" kern="1200" cap="none" normalizeH="0" baseline="0" dirty="0">
                          <a:ln>
                            <a:noFill/>
                          </a:ln>
                          <a:solidFill>
                            <a:srgbClr val="000000"/>
                          </a:solidFill>
                          <a:effectLst/>
                          <a:latin typeface="+mn-lt"/>
                          <a:ea typeface="ＭＳ Ｐゴシック" pitchFamily="34" charset="-128"/>
                          <a:cs typeface="+mn-cs"/>
                        </a:rPr>
                        <a:t>equity:</a:t>
                      </a:r>
                      <a:endParaRPr kumimoji="0" lang="en-US" sz="1800" b="0" i="0" u="none" strike="noStrike" kern="1200" cap="none" normalizeH="0" baseline="0" dirty="0">
                        <a:ln>
                          <a:noFill/>
                        </a:ln>
                        <a:solidFill>
                          <a:srgbClr val="000000"/>
                        </a:solidFill>
                        <a:effectLst/>
                        <a:latin typeface="+mn-lt"/>
                        <a:ea typeface="ＭＳ Ｐゴシック" pitchFamily="34" charset="-128"/>
                        <a:cs typeface="+mn-cs"/>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sng" strike="noStrike" cap="none" normalizeH="0" baseline="0" dirty="0">
                        <a:ln>
                          <a:noFill/>
                        </a:ln>
                        <a:solidFill>
                          <a:srgbClr val="000000"/>
                        </a:solidFill>
                        <a:effectLst/>
                        <a:latin typeface="+mn-ea"/>
                        <a:ea typeface="+mn-ea"/>
                      </a:endParaRP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151">
                <a:tc>
                  <a:txBody>
                    <a:bodyPr/>
                    <a:lstStyle/>
                    <a:p>
                      <a:pPr marL="18288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Common shares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mn-ea"/>
                          <a:ea typeface="+mn-ea"/>
                        </a:rPr>
                        <a:t>$XX,XXX</a:t>
                      </a:r>
                      <a:endParaRPr kumimoji="0" lang="en-US" sz="1800" b="1" i="0" u="sng" strike="noStrike" cap="none" normalizeH="0" baseline="0" dirty="0">
                        <a:ln>
                          <a:noFill/>
                        </a:ln>
                        <a:solidFill>
                          <a:srgbClr val="000000"/>
                        </a:solidFill>
                        <a:effectLst/>
                        <a:latin typeface="+mn-ea"/>
                        <a:ea typeface="+mn-ea"/>
                      </a:endParaRP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151">
                <a:tc>
                  <a:txBody>
                    <a:bodyPr/>
                    <a:lstStyle/>
                    <a:p>
                      <a:pPr marL="18288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Retained earnings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0" i="0" u="sng" strike="noStrike" cap="none" normalizeH="0" baseline="0" dirty="0">
                          <a:ln>
                            <a:noFill/>
                          </a:ln>
                          <a:solidFill>
                            <a:srgbClr val="000000"/>
                          </a:solidFill>
                          <a:effectLst/>
                          <a:latin typeface="+mn-ea"/>
                          <a:ea typeface="+mn-ea"/>
                        </a:rPr>
                        <a:t>  XX,XXX</a:t>
                      </a:r>
                      <a:endParaRPr kumimoji="0" lang="en-US" sz="1800" b="1" i="0" u="sng" strike="noStrike" cap="none" normalizeH="0" baseline="0" dirty="0">
                        <a:ln>
                          <a:noFill/>
                        </a:ln>
                        <a:solidFill>
                          <a:srgbClr val="000000"/>
                        </a:solidFill>
                        <a:effectLst/>
                        <a:latin typeface="+mn-ea"/>
                        <a:ea typeface="+mn-ea"/>
                      </a:endParaRP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15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kern="1200" cap="none" normalizeH="0" baseline="0" dirty="0">
                          <a:ln>
                            <a:noFill/>
                          </a:ln>
                          <a:solidFill>
                            <a:srgbClr val="000000"/>
                          </a:solidFill>
                          <a:effectLst/>
                          <a:latin typeface="+mn-lt"/>
                          <a:ea typeface="ＭＳ Ｐゴシック" pitchFamily="34" charset="-128"/>
                          <a:cs typeface="+mn-cs"/>
                        </a:rPr>
                        <a:t>Total liabilities and equity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800" b="1" i="0" u="dbl" strike="noStrike" cap="none" normalizeH="0" baseline="0" dirty="0">
                          <a:ln>
                            <a:noFill/>
                          </a:ln>
                          <a:solidFill>
                            <a:srgbClr val="000000"/>
                          </a:solidFill>
                          <a:effectLst/>
                          <a:latin typeface="+mn-ea"/>
                          <a:ea typeface="+mn-ea"/>
                        </a:rPr>
                        <a:t>$XX,XXX</a:t>
                      </a:r>
                    </a:p>
                  </a:txBody>
                  <a:tcPr marT="45729" marB="45729"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urved Left Arrow 6"/>
          <p:cNvSpPr/>
          <p:nvPr/>
        </p:nvSpPr>
        <p:spPr>
          <a:xfrm>
            <a:off x="7769352" y="2921000"/>
            <a:ext cx="706742" cy="2806260"/>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endParaRPr lang="en-US" dirty="0">
              <a:solidFill>
                <a:schemeClr val="tx1"/>
              </a:solidFill>
              <a:ea typeface="ＭＳ Ｐゴシック" pitchFamily="34" charset="-128"/>
            </a:endParaRPr>
          </a:p>
        </p:txBody>
      </p:sp>
    </p:spTree>
    <p:extLst>
      <p:ext uri="{BB962C8B-B14F-4D97-AF65-F5344CB8AC3E}">
        <p14:creationId xmlns:p14="http://schemas.microsoft.com/office/powerpoint/2010/main" val="3962590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93608" cy="977677"/>
          </a:xfrm>
        </p:spPr>
        <p:txBody>
          <a:bodyPr/>
          <a:lstStyle/>
          <a:p>
            <a:r>
              <a:rPr lang="en-US" sz="3200" dirty="0">
                <a:ea typeface="ＭＳ Ｐゴシック" pitchFamily="34" charset="-128"/>
              </a:rPr>
              <a:t>Relationships among the Financial Statements </a:t>
            </a:r>
            <a:r>
              <a:rPr lang="en-US" sz="2000" b="0" dirty="0">
                <a:ea typeface="ＭＳ Ｐゴシック" pitchFamily="34" charset="-128"/>
              </a:rPr>
              <a:t>(3 of 3</a:t>
            </a:r>
            <a:r>
              <a:rPr lang="en-US" sz="2000" dirty="0">
                <a:ea typeface="ＭＳ Ｐゴシック" pitchFamily="34" charset="-128"/>
              </a:rPr>
              <a:t>)</a:t>
            </a:r>
            <a:endParaRPr lang="en-US" sz="2000" dirty="0"/>
          </a:p>
        </p:txBody>
      </p:sp>
      <p:sp>
        <p:nvSpPr>
          <p:cNvPr id="7" name="Content Placeholder 6"/>
          <p:cNvSpPr>
            <a:spLocks noGrp="1"/>
          </p:cNvSpPr>
          <p:nvPr>
            <p:ph idx="1"/>
          </p:nvPr>
        </p:nvSpPr>
        <p:spPr>
          <a:xfrm>
            <a:off x="464852" y="1315576"/>
            <a:ext cx="6449943" cy="365760"/>
          </a:xfrm>
          <a:ln w="12700">
            <a:solidFill>
              <a:schemeClr val="tx1"/>
            </a:solidFill>
          </a:ln>
        </p:spPr>
        <p:txBody>
          <a:bodyPr/>
          <a:lstStyle/>
          <a:p>
            <a:pPr algn="ctr" fontAlgn="base">
              <a:spcBef>
                <a:spcPct val="0"/>
              </a:spcBef>
              <a:spcAft>
                <a:spcPct val="0"/>
              </a:spcAft>
              <a:buClrTx/>
            </a:pPr>
            <a:r>
              <a:rPr lang="en-US" sz="1800" b="1" dirty="0">
                <a:ea typeface="ＭＳ Ｐゴシック" pitchFamily="34" charset="-128"/>
              </a:rPr>
              <a:t>Balance Sheet, As at December 31, 20XX</a:t>
            </a:r>
          </a:p>
        </p:txBody>
      </p:sp>
      <p:graphicFrame>
        <p:nvGraphicFramePr>
          <p:cNvPr id="4" name="Table 3"/>
          <p:cNvGraphicFramePr>
            <a:graphicFrameLocks noGrp="1"/>
          </p:cNvGraphicFramePr>
          <p:nvPr/>
        </p:nvGraphicFramePr>
        <p:xfrm>
          <a:off x="468775" y="1723025"/>
          <a:ext cx="6438900" cy="2011692"/>
        </p:xfrm>
        <a:graphic>
          <a:graphicData uri="http://schemas.openxmlformats.org/drawingml/2006/table">
            <a:tbl>
              <a:tblPr firstRow="1" bandRow="1">
                <a:tableStyleId>{2D5ABB26-0587-4C30-8999-92F81FD0307C}</a:tableStyleId>
              </a:tblPr>
              <a:tblGrid>
                <a:gridCol w="4250865">
                  <a:extLst>
                    <a:ext uri="{9D8B030D-6E8A-4147-A177-3AD203B41FA5}">
                      <a16:colId xmlns:a16="http://schemas.microsoft.com/office/drawing/2014/main" val="20000"/>
                    </a:ext>
                  </a:extLst>
                </a:gridCol>
                <a:gridCol w="2188035">
                  <a:extLst>
                    <a:ext uri="{9D8B030D-6E8A-4147-A177-3AD203B41FA5}">
                      <a16:colId xmlns:a16="http://schemas.microsoft.com/office/drawing/2014/main" val="20001"/>
                    </a:ext>
                  </a:extLst>
                </a:gridCol>
              </a:tblGrid>
              <a:tr h="21336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Assets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dbl" strike="noStrike" cap="none" normalizeH="0" baseline="0" dirty="0">
                          <a:ln>
                            <a:noFill/>
                          </a:ln>
                          <a:solidFill>
                            <a:srgbClr val="000000"/>
                          </a:solidFill>
                          <a:effectLst/>
                          <a:latin typeface="+mn-ea"/>
                          <a:ea typeface="+mn-ea"/>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01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Liabilities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01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Shareholders</a:t>
                      </a:r>
                      <a:r>
                        <a:rPr kumimoji="0" lang="ja-JP" altLang="en-US" sz="1600" b="0" i="0" u="none" strike="noStrike" cap="none" normalizeH="0" baseline="0" dirty="0">
                          <a:ln>
                            <a:noFill/>
                          </a:ln>
                          <a:solidFill>
                            <a:srgbClr val="000000"/>
                          </a:solidFill>
                          <a:effectLst/>
                          <a:latin typeface="+mn-ea"/>
                          <a:ea typeface="+mn-ea"/>
                        </a:rPr>
                        <a:t>’</a:t>
                      </a:r>
                      <a:r>
                        <a:rPr kumimoji="0" lang="en-US" altLang="ja-JP" sz="1600" b="0" i="0" u="none" strike="noStrike" cap="none" normalizeH="0" baseline="0" dirty="0">
                          <a:ln>
                            <a:noFill/>
                          </a:ln>
                          <a:solidFill>
                            <a:srgbClr val="000000"/>
                          </a:solidFill>
                          <a:effectLst/>
                          <a:latin typeface="+mn-ea"/>
                          <a:ea typeface="+mn-ea"/>
                        </a:rPr>
                        <a:t> equity:</a:t>
                      </a:r>
                      <a:endParaRPr kumimoji="0" lang="en-US" sz="1600" b="0" i="0" u="none" strike="noStrike" cap="none" normalizeH="0" baseline="0" dirty="0">
                        <a:ln>
                          <a:noFill/>
                        </a:ln>
                        <a:solidFill>
                          <a:srgbClr val="000000"/>
                        </a:solidFill>
                        <a:effectLst/>
                        <a:latin typeface="+mn-ea"/>
                        <a:ea typeface="+mn-ea"/>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600" b="0" i="0" u="sng" strike="noStrike" cap="none" normalizeH="0" baseline="0" dirty="0">
                        <a:ln>
                          <a:noFill/>
                        </a:ln>
                        <a:solidFill>
                          <a:srgbClr val="000000"/>
                        </a:solidFill>
                        <a:effectLst/>
                        <a:latin typeface="+mn-ea"/>
                        <a:ea typeface="+mn-ea"/>
                      </a:endParaRP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0135">
                <a:tc>
                  <a:txBody>
                    <a:bodyPr/>
                    <a:lstStyle/>
                    <a:p>
                      <a:pPr marL="18288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Common shares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$XX,XXX</a:t>
                      </a:r>
                      <a:endParaRPr kumimoji="0" lang="en-US" sz="1600" b="1" i="0" u="sng" strike="noStrike" cap="none" normalizeH="0" baseline="0" dirty="0">
                        <a:ln>
                          <a:noFill/>
                        </a:ln>
                        <a:solidFill>
                          <a:srgbClr val="000000"/>
                        </a:solidFill>
                        <a:effectLst/>
                        <a:latin typeface="+mn-ea"/>
                        <a:ea typeface="+mn-ea"/>
                      </a:endParaRP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0135">
                <a:tc>
                  <a:txBody>
                    <a:bodyPr/>
                    <a:lstStyle/>
                    <a:p>
                      <a:pPr marL="18288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Retained earnings</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XX,XXX</a:t>
                      </a:r>
                      <a:endParaRPr kumimoji="0" lang="en-US" sz="1600" b="1" i="0" u="sng" strike="noStrike" cap="none" normalizeH="0" baseline="0" dirty="0">
                        <a:ln>
                          <a:noFill/>
                        </a:ln>
                        <a:solidFill>
                          <a:srgbClr val="000000"/>
                        </a:solidFill>
                        <a:effectLst/>
                        <a:latin typeface="+mn-ea"/>
                        <a:ea typeface="+mn-ea"/>
                      </a:endParaRP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01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ea"/>
                          <a:ea typeface="+mn-ea"/>
                        </a:rPr>
                        <a:t>Total liabilities and equity</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dbl" strike="noStrike" cap="none" normalizeH="0" baseline="0" dirty="0">
                          <a:ln>
                            <a:noFill/>
                          </a:ln>
                          <a:solidFill>
                            <a:srgbClr val="000000"/>
                          </a:solidFill>
                          <a:effectLst/>
                          <a:latin typeface="+mn-ea"/>
                          <a:ea typeface="+mn-ea"/>
                        </a:rPr>
                        <a:t>$XX,XXX</a:t>
                      </a:r>
                    </a:p>
                  </a:txBody>
                  <a:tcPr marT="45721" marB="45721"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Content Placeholder 7"/>
          <p:cNvSpPr>
            <a:spLocks noGrp="1"/>
          </p:cNvSpPr>
          <p:nvPr>
            <p:ph sz="quarter" idx="13"/>
          </p:nvPr>
        </p:nvSpPr>
        <p:spPr>
          <a:xfrm>
            <a:off x="464932" y="3857244"/>
            <a:ext cx="6443980" cy="365760"/>
          </a:xfrm>
          <a:noFill/>
          <a:ln w="12700">
            <a:solidFill>
              <a:schemeClr val="tx1"/>
            </a:solidFill>
          </a:ln>
        </p:spPr>
        <p:txBody>
          <a:bodyPr>
            <a:normAutofit fontScale="85000" lnSpcReduction="10000"/>
          </a:bodyPr>
          <a:lstStyle/>
          <a:p>
            <a:pPr algn="ctr"/>
            <a:r>
              <a:rPr lang="en-US" sz="1800" b="1" dirty="0">
                <a:ea typeface="ＭＳ Ｐゴシック" pitchFamily="34" charset="-128"/>
              </a:rPr>
              <a:t>Statement of Cash Flows, </a:t>
            </a:r>
            <a:r>
              <a:rPr lang="en-IN" sz="1800" b="1" dirty="0">
                <a:ea typeface="ＭＳ Ｐゴシック" pitchFamily="34" charset="-128"/>
              </a:rPr>
              <a:t>Year Ended December 31, 20XX</a:t>
            </a:r>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3675185128"/>
              </p:ext>
            </p:extLst>
          </p:nvPr>
        </p:nvGraphicFramePr>
        <p:xfrm>
          <a:off x="468775" y="4262060"/>
          <a:ext cx="6447100" cy="2011740"/>
        </p:xfrm>
        <a:graphic>
          <a:graphicData uri="http://schemas.openxmlformats.org/drawingml/2006/table">
            <a:tbl>
              <a:tblPr firstRow="1" bandRow="1">
                <a:tableStyleId>{2D5ABB26-0587-4C30-8999-92F81FD0307C}</a:tableStyleId>
              </a:tblPr>
              <a:tblGrid>
                <a:gridCol w="42373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Cash flows from operating activities</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Cash flows from investing activities</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Cash flows from financing activities</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Net cash flows</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Cash balance, beginning of year</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0" i="0" u="sng"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416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mn-lt"/>
                          <a:ea typeface="ＭＳ Ｐゴシック" pitchFamily="34" charset="-128"/>
                        </a:rPr>
                        <a:t>Cash balance, end of year</a:t>
                      </a:r>
                    </a:p>
                  </a:txBody>
                  <a:tcPr marL="91435" marR="91435"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1600" b="1" i="0" u="dbl" strike="noStrike" cap="none" normalizeH="0" baseline="0" dirty="0">
                          <a:ln>
                            <a:noFill/>
                          </a:ln>
                          <a:solidFill>
                            <a:srgbClr val="000000"/>
                          </a:solidFill>
                          <a:effectLst/>
                          <a:latin typeface="+mn-lt"/>
                          <a:ea typeface="ＭＳ Ｐゴシック" pitchFamily="34" charset="-128"/>
                        </a:rPr>
                        <a:t>$XX,XXX</a:t>
                      </a:r>
                    </a:p>
                  </a:txBody>
                  <a:tcPr marL="91435" marR="91435" marT="45725" marB="45725"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Curved Left Arrow 10"/>
          <p:cNvSpPr/>
          <p:nvPr/>
        </p:nvSpPr>
        <p:spPr>
          <a:xfrm>
            <a:off x="6949879" y="1817921"/>
            <a:ext cx="487577" cy="4352016"/>
          </a:xfrm>
          <a:prstGeom prst="curvedLeftArrow">
            <a:avLst/>
          </a:prstGeom>
          <a:solidFill>
            <a:srgbClr val="007FA3"/>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endParaRPr lang="en-US" dirty="0">
              <a:solidFill>
                <a:schemeClr val="tx1"/>
              </a:solidFill>
              <a:ea typeface="ＭＳ Ｐゴシック" pitchFamily="34" charset="-128"/>
            </a:endParaRPr>
          </a:p>
        </p:txBody>
      </p:sp>
      <p:sp>
        <p:nvSpPr>
          <p:cNvPr id="3" name="Text Placeholder 2"/>
          <p:cNvSpPr>
            <a:spLocks noGrp="1"/>
          </p:cNvSpPr>
          <p:nvPr>
            <p:ph sz="quarter" idx="14"/>
          </p:nvPr>
        </p:nvSpPr>
        <p:spPr>
          <a:xfrm>
            <a:off x="7502368" y="2179320"/>
            <a:ext cx="1316736" cy="3355848"/>
          </a:xfrm>
          <a:ln>
            <a:noFill/>
          </a:ln>
        </p:spPr>
        <p:txBody>
          <a:bodyPr>
            <a:normAutofit lnSpcReduction="10000"/>
          </a:bodyPr>
          <a:lstStyle/>
          <a:p>
            <a:pPr algn="ctr" fontAlgn="base">
              <a:spcBef>
                <a:spcPct val="0"/>
              </a:spcBef>
              <a:spcAft>
                <a:spcPct val="0"/>
              </a:spcAft>
              <a:buClrTx/>
            </a:pPr>
            <a:r>
              <a:rPr lang="en-US" sz="1800" b="1" dirty="0"/>
              <a:t>Cash</a:t>
            </a:r>
            <a:r>
              <a:rPr lang="en-US" sz="1800" dirty="0"/>
              <a:t> from the Asset section of the Balance Sheet equals ending </a:t>
            </a:r>
            <a:r>
              <a:rPr lang="en-US" sz="1800" b="1" dirty="0"/>
              <a:t>Cash</a:t>
            </a:r>
            <a:r>
              <a:rPr lang="en-US" sz="1800" dirty="0"/>
              <a:t> on the Statement of Cash Flows</a:t>
            </a:r>
            <a:endParaRPr lang="en-US" sz="1800" b="1" dirty="0">
              <a:ea typeface="ＭＳ Ｐゴシック" pitchFamily="34" charset="-128"/>
            </a:endParaRPr>
          </a:p>
        </p:txBody>
      </p:sp>
    </p:spTree>
    <p:extLst>
      <p:ext uri="{BB962C8B-B14F-4D97-AF65-F5344CB8AC3E}">
        <p14:creationId xmlns:p14="http://schemas.microsoft.com/office/powerpoint/2010/main" val="2518390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Text Placeholder 2"/>
          <p:cNvSpPr>
            <a:spLocks noGrp="1"/>
          </p:cNvSpPr>
          <p:nvPr>
            <p:ph type="subTitle" idx="1"/>
          </p:nvPr>
        </p:nvSpPr>
        <p:spPr/>
        <p:txBody>
          <a:bodyPr>
            <a:normAutofit lnSpcReduction="10000"/>
          </a:bodyPr>
          <a:lstStyle/>
          <a:p>
            <a:r>
              <a:rPr lang="en-CA" b="1" dirty="0"/>
              <a:t>Explain</a:t>
            </a:r>
            <a:r>
              <a:rPr lang="en-CA" dirty="0"/>
              <a:t> and </a:t>
            </a:r>
            <a:r>
              <a:rPr lang="en-CA" b="1" dirty="0"/>
              <a:t>apply</a:t>
            </a:r>
            <a:r>
              <a:rPr lang="en-CA" dirty="0"/>
              <a:t> underlying accounting concepts, assumptions, and principles </a:t>
            </a:r>
            <a:endParaRPr lang="en-US" dirty="0">
              <a:solidFill>
                <a:schemeClr val="tx1"/>
              </a:solidFill>
            </a:endParaRPr>
          </a:p>
        </p:txBody>
      </p:sp>
    </p:spTree>
    <p:extLst>
      <p:ext uri="{BB962C8B-B14F-4D97-AF65-F5344CB8AC3E}">
        <p14:creationId xmlns:p14="http://schemas.microsoft.com/office/powerpoint/2010/main" val="132915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C23A2F-0455-4F32-BA9E-1BD6D90F6DDF}"/>
              </a:ext>
            </a:extLst>
          </p:cNvPr>
          <p:cNvSpPr>
            <a:spLocks noGrp="1"/>
          </p:cNvSpPr>
          <p:nvPr>
            <p:ph type="title"/>
          </p:nvPr>
        </p:nvSpPr>
        <p:spPr/>
        <p:txBody>
          <a:bodyPr/>
          <a:lstStyle/>
          <a:p>
            <a:r>
              <a:rPr lang="en-US" sz="3200" dirty="0">
                <a:ea typeface="ＭＳ Ｐゴシック" pitchFamily="34" charset="-128"/>
              </a:rPr>
              <a:t>Conceptual Framework</a:t>
            </a:r>
            <a:endParaRPr lang="en-AU" dirty="0"/>
          </a:p>
        </p:txBody>
      </p:sp>
      <p:pic>
        <p:nvPicPr>
          <p:cNvPr id="3" name="Picture 2" descr="An illustration depicts the accounting’s conceptual framework with four levels.">
            <a:extLst>
              <a:ext uri="{FF2B5EF4-FFF2-40B4-BE49-F238E27FC236}">
                <a16:creationId xmlns:a16="http://schemas.microsoft.com/office/drawing/2014/main" id="{37FB9BB7-3836-6713-E6B5-45D4C995F187}"/>
              </a:ext>
            </a:extLst>
          </p:cNvPr>
          <p:cNvPicPr>
            <a:picLocks noChangeAspect="1"/>
          </p:cNvPicPr>
          <p:nvPr/>
        </p:nvPicPr>
        <p:blipFill rotWithShape="1">
          <a:blip r:embed="rId3">
            <a:extLst>
              <a:ext uri="{28A0092B-C50C-407E-A947-70E740481C1C}">
                <a14:useLocalDpi xmlns:a14="http://schemas.microsoft.com/office/drawing/2010/main" val="0"/>
              </a:ext>
            </a:extLst>
          </a:blip>
          <a:srcRect t="7138"/>
          <a:stretch/>
        </p:blipFill>
        <p:spPr>
          <a:xfrm>
            <a:off x="1384097" y="1285874"/>
            <a:ext cx="6375806" cy="4730629"/>
          </a:xfrm>
          <a:prstGeom prst="rect">
            <a:avLst/>
          </a:prstGeom>
        </p:spPr>
      </p:pic>
    </p:spTree>
    <p:extLst>
      <p:ext uri="{BB962C8B-B14F-4D97-AF65-F5344CB8AC3E}">
        <p14:creationId xmlns:p14="http://schemas.microsoft.com/office/powerpoint/2010/main" val="3329265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Assumptions &amp; Principles</a:t>
            </a:r>
            <a:endParaRPr lang="en-US" dirty="0"/>
          </a:p>
        </p:txBody>
      </p:sp>
      <p:sp>
        <p:nvSpPr>
          <p:cNvPr id="3" name="Content Placeholder 2"/>
          <p:cNvSpPr>
            <a:spLocks noGrp="1"/>
          </p:cNvSpPr>
          <p:nvPr>
            <p:ph idx="1"/>
          </p:nvPr>
        </p:nvSpPr>
        <p:spPr/>
        <p:txBody>
          <a:bodyPr/>
          <a:lstStyle/>
          <a:p>
            <a:r>
              <a:rPr lang="en-US" dirty="0">
                <a:ea typeface="ＭＳ Ｐゴシック" pitchFamily="34" charset="-128"/>
              </a:rPr>
              <a:t>Going-Concern assumption</a:t>
            </a:r>
          </a:p>
          <a:p>
            <a:pPr lvl="1"/>
            <a:r>
              <a:rPr lang="en-CA" dirty="0">
                <a:ea typeface="ＭＳ Ｐゴシック" pitchFamily="34" charset="-128"/>
              </a:rPr>
              <a:t>Entity will continue operating normally for the foreseeable future</a:t>
            </a:r>
            <a:endParaRPr lang="en-US" dirty="0">
              <a:ea typeface="ＭＳ Ｐゴシック" pitchFamily="34" charset="-128"/>
            </a:endParaRPr>
          </a:p>
          <a:p>
            <a:r>
              <a:rPr lang="en-US" dirty="0">
                <a:ea typeface="ＭＳ Ｐゴシック" pitchFamily="34" charset="-128"/>
              </a:rPr>
              <a:t>Separate-Entity assumption</a:t>
            </a:r>
          </a:p>
          <a:p>
            <a:pPr lvl="1"/>
            <a:r>
              <a:rPr lang="en-US" dirty="0">
                <a:ea typeface="ＭＳ Ｐゴシック" pitchFamily="34" charset="-128"/>
              </a:rPr>
              <a:t>A business is a separate economic unit</a:t>
            </a:r>
          </a:p>
          <a:p>
            <a:r>
              <a:rPr lang="en-US" dirty="0">
                <a:ea typeface="ＭＳ Ｐゴシック" pitchFamily="34" charset="-128"/>
              </a:rPr>
              <a:t>Historical-Cost assumption</a:t>
            </a:r>
          </a:p>
          <a:p>
            <a:pPr lvl="1"/>
            <a:r>
              <a:rPr lang="en-US" dirty="0">
                <a:ea typeface="ＭＳ Ｐゴシック" pitchFamily="34" charset="-128"/>
              </a:rPr>
              <a:t>Assets are recorded at purchase price</a:t>
            </a:r>
          </a:p>
          <a:p>
            <a:r>
              <a:rPr lang="en-US" dirty="0">
                <a:ea typeface="ＭＳ Ｐゴシック" pitchFamily="34" charset="-128"/>
              </a:rPr>
              <a:t>Stable-Monetary-Unit assumption</a:t>
            </a:r>
          </a:p>
          <a:p>
            <a:pPr lvl="1"/>
            <a:r>
              <a:rPr lang="en-CA" dirty="0">
                <a:ea typeface="ＭＳ Ｐゴシック" pitchFamily="34" charset="-128"/>
              </a:rPr>
              <a:t>Value of the currency is stable</a:t>
            </a:r>
            <a:endParaRPr lang="en-US" dirty="0">
              <a:ea typeface="ＭＳ Ｐゴシック" pitchFamily="34" charset="-128"/>
            </a:endParaRPr>
          </a:p>
        </p:txBody>
      </p:sp>
    </p:spTree>
    <p:extLst>
      <p:ext uri="{BB962C8B-B14F-4D97-AF65-F5344CB8AC3E}">
        <p14:creationId xmlns:p14="http://schemas.microsoft.com/office/powerpoint/2010/main" val="347927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Assumptions &amp; Principles E1-15 </a:t>
            </a:r>
            <a:r>
              <a:rPr lang="en-US" sz="2400" dirty="0">
                <a:ea typeface="ＭＳ Ｐゴシック" pitchFamily="34" charset="-128"/>
              </a:rPr>
              <a:t>page 41</a:t>
            </a:r>
            <a:endParaRPr lang="en-US" sz="2400" dirty="0"/>
          </a:p>
        </p:txBody>
      </p:sp>
      <p:sp>
        <p:nvSpPr>
          <p:cNvPr id="3" name="Content Placeholder 2"/>
          <p:cNvSpPr>
            <a:spLocks noGrp="1"/>
          </p:cNvSpPr>
          <p:nvPr>
            <p:ph idx="1"/>
          </p:nvPr>
        </p:nvSpPr>
        <p:spPr>
          <a:xfrm>
            <a:off x="194913" y="1413166"/>
            <a:ext cx="8677297" cy="2893363"/>
          </a:xfrm>
        </p:spPr>
        <p:txBody>
          <a:bodyPr/>
          <a:lstStyle/>
          <a:p>
            <a:r>
              <a:rPr lang="en-US" dirty="0">
                <a:ea typeface="ＭＳ Ｐゴシック" pitchFamily="34" charset="-128"/>
              </a:rPr>
              <a:t>Wendy’s restaurant chain sold a store location to Burger King. How can Wendy’s determine the sale price of the store?</a:t>
            </a:r>
          </a:p>
          <a:p>
            <a:pPr lvl="1"/>
            <a:r>
              <a:rPr lang="en-US" dirty="0">
                <a:ea typeface="ＭＳ Ｐゴシック" pitchFamily="34" charset="-128"/>
              </a:rPr>
              <a:t>By a professional appraisal? OR</a:t>
            </a:r>
          </a:p>
          <a:p>
            <a:pPr lvl="1"/>
            <a:r>
              <a:rPr lang="en-US" dirty="0">
                <a:ea typeface="ＭＳ Ｐゴシック" pitchFamily="34" charset="-128"/>
              </a:rPr>
              <a:t>Wendy’s cost? OR</a:t>
            </a:r>
          </a:p>
          <a:p>
            <a:pPr lvl="1"/>
            <a:r>
              <a:rPr lang="en-US" dirty="0">
                <a:ea typeface="ＭＳ Ｐゴシック" pitchFamily="34" charset="-128"/>
              </a:rPr>
              <a:t>The amount received from the sale?</a:t>
            </a:r>
          </a:p>
        </p:txBody>
      </p:sp>
      <p:grpSp>
        <p:nvGrpSpPr>
          <p:cNvPr id="6" name="Group 5">
            <a:extLst>
              <a:ext uri="{FF2B5EF4-FFF2-40B4-BE49-F238E27FC236}">
                <a16:creationId xmlns:a16="http://schemas.microsoft.com/office/drawing/2014/main" id="{F1560779-B101-E907-9FAA-8E5F6BCAC17E}"/>
              </a:ext>
            </a:extLst>
          </p:cNvPr>
          <p:cNvGrpSpPr/>
          <p:nvPr/>
        </p:nvGrpSpPr>
        <p:grpSpPr>
          <a:xfrm>
            <a:off x="3111910" y="3833043"/>
            <a:ext cx="5250426" cy="1400036"/>
            <a:chOff x="3111910" y="3833043"/>
            <a:chExt cx="5250426" cy="1400036"/>
          </a:xfrm>
        </p:grpSpPr>
        <p:sp>
          <p:nvSpPr>
            <p:cNvPr id="4" name="TextBox 3">
              <a:extLst>
                <a:ext uri="{FF2B5EF4-FFF2-40B4-BE49-F238E27FC236}">
                  <a16:creationId xmlns:a16="http://schemas.microsoft.com/office/drawing/2014/main" id="{A030A705-2F3E-351E-0B89-71214D0E15CA}"/>
                </a:ext>
              </a:extLst>
            </p:cNvPr>
            <p:cNvSpPr txBox="1"/>
            <p:nvPr/>
          </p:nvSpPr>
          <p:spPr>
            <a:xfrm>
              <a:off x="3111910" y="4586748"/>
              <a:ext cx="5250426" cy="646331"/>
            </a:xfrm>
            <a:prstGeom prst="rect">
              <a:avLst/>
            </a:prstGeom>
            <a:noFill/>
            <a:ln w="12700">
              <a:solidFill>
                <a:schemeClr val="tx1"/>
              </a:solidFill>
            </a:ln>
          </p:spPr>
          <p:txBody>
            <a:bodyPr wrap="square" rtlCol="0">
              <a:spAutoFit/>
            </a:bodyPr>
            <a:lstStyle/>
            <a:p>
              <a:pPr algn="ctr"/>
              <a:r>
                <a:rPr lang="en-US" dirty="0"/>
                <a:t>Amount received from the sale </a:t>
              </a:r>
            </a:p>
            <a:p>
              <a:pPr algn="ctr"/>
              <a:r>
                <a:rPr lang="en-US" dirty="0"/>
                <a:t>(based on the </a:t>
              </a:r>
              <a:r>
                <a:rPr lang="en-US" b="1" dirty="0"/>
                <a:t>Historical Cost Assumption</a:t>
              </a:r>
              <a:r>
                <a:rPr lang="en-US" dirty="0"/>
                <a:t>)</a:t>
              </a:r>
            </a:p>
          </p:txBody>
        </p:sp>
        <p:sp>
          <p:nvSpPr>
            <p:cNvPr id="5" name="Bent Arrow 4">
              <a:extLst>
                <a:ext uri="{FF2B5EF4-FFF2-40B4-BE49-F238E27FC236}">
                  <a16:creationId xmlns:a16="http://schemas.microsoft.com/office/drawing/2014/main" id="{5008A400-2530-F0FC-5601-5A40E10E9AFC}"/>
                </a:ext>
              </a:extLst>
            </p:cNvPr>
            <p:cNvSpPr/>
            <p:nvPr/>
          </p:nvSpPr>
          <p:spPr>
            <a:xfrm rot="5400000">
              <a:off x="5021045" y="3870671"/>
              <a:ext cx="753705" cy="67845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98404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Assumptions &amp; Principles E1-15 </a:t>
            </a:r>
            <a:r>
              <a:rPr lang="en-US" sz="2400" dirty="0">
                <a:ea typeface="ＭＳ Ｐゴシック" pitchFamily="34" charset="-128"/>
              </a:rPr>
              <a:t>page 41</a:t>
            </a:r>
            <a:endParaRPr lang="en-US" sz="2400" dirty="0"/>
          </a:p>
        </p:txBody>
      </p:sp>
      <p:sp>
        <p:nvSpPr>
          <p:cNvPr id="3" name="Content Placeholder 2"/>
          <p:cNvSpPr>
            <a:spLocks noGrp="1"/>
          </p:cNvSpPr>
          <p:nvPr>
            <p:ph idx="1"/>
          </p:nvPr>
        </p:nvSpPr>
        <p:spPr>
          <a:xfrm>
            <a:off x="194913" y="1413166"/>
            <a:ext cx="8677297" cy="3173582"/>
          </a:xfrm>
        </p:spPr>
        <p:txBody>
          <a:bodyPr>
            <a:normAutofit fontScale="92500"/>
          </a:bodyPr>
          <a:lstStyle/>
          <a:p>
            <a:r>
              <a:rPr lang="en-US" dirty="0">
                <a:ea typeface="ＭＳ Ｐゴシック" pitchFamily="34" charset="-128"/>
              </a:rPr>
              <a:t>If Trammel Crow Relators had to liquidate its assets, their value would be less than the carrying amount of the assets.  Which accounting assumption or principle best applies to this situation?</a:t>
            </a:r>
          </a:p>
          <a:p>
            <a:pPr lvl="1"/>
            <a:r>
              <a:rPr lang="en-US" dirty="0">
                <a:ea typeface="ＭＳ Ｐゴシック" pitchFamily="34" charset="-128"/>
              </a:rPr>
              <a:t>Going Concern</a:t>
            </a:r>
          </a:p>
          <a:p>
            <a:pPr lvl="1"/>
            <a:r>
              <a:rPr lang="en-US" dirty="0">
                <a:ea typeface="ＭＳ Ｐゴシック" pitchFamily="34" charset="-128"/>
              </a:rPr>
              <a:t>Separate Entity</a:t>
            </a:r>
          </a:p>
          <a:p>
            <a:pPr lvl="1"/>
            <a:r>
              <a:rPr lang="en-US" dirty="0">
                <a:ea typeface="ＭＳ Ｐゴシック" pitchFamily="34" charset="-128"/>
              </a:rPr>
              <a:t>Historical Cost</a:t>
            </a:r>
          </a:p>
          <a:p>
            <a:pPr lvl="1"/>
            <a:r>
              <a:rPr lang="en-US" dirty="0">
                <a:ea typeface="ＭＳ Ｐゴシック" pitchFamily="34" charset="-128"/>
              </a:rPr>
              <a:t>Stable Monetary Unit</a:t>
            </a:r>
          </a:p>
        </p:txBody>
      </p:sp>
      <p:grpSp>
        <p:nvGrpSpPr>
          <p:cNvPr id="8" name="Group 7">
            <a:extLst>
              <a:ext uri="{FF2B5EF4-FFF2-40B4-BE49-F238E27FC236}">
                <a16:creationId xmlns:a16="http://schemas.microsoft.com/office/drawing/2014/main" id="{2888BAE0-248E-1E47-DC9A-1B51AFB6AB3D}"/>
              </a:ext>
            </a:extLst>
          </p:cNvPr>
          <p:cNvGrpSpPr/>
          <p:nvPr/>
        </p:nvGrpSpPr>
        <p:grpSpPr>
          <a:xfrm>
            <a:off x="2645272" y="2728452"/>
            <a:ext cx="6186907" cy="1477328"/>
            <a:chOff x="2645272" y="2728452"/>
            <a:chExt cx="6186907" cy="1477328"/>
          </a:xfrm>
        </p:grpSpPr>
        <p:sp>
          <p:nvSpPr>
            <p:cNvPr id="4" name="TextBox 3">
              <a:extLst>
                <a:ext uri="{FF2B5EF4-FFF2-40B4-BE49-F238E27FC236}">
                  <a16:creationId xmlns:a16="http://schemas.microsoft.com/office/drawing/2014/main" id="{A030A705-2F3E-351E-0B89-71214D0E15CA}"/>
                </a:ext>
              </a:extLst>
            </p:cNvPr>
            <p:cNvSpPr txBox="1"/>
            <p:nvPr/>
          </p:nvSpPr>
          <p:spPr>
            <a:xfrm>
              <a:off x="4247535" y="2728452"/>
              <a:ext cx="4584644" cy="1477328"/>
            </a:xfrm>
            <a:prstGeom prst="rect">
              <a:avLst/>
            </a:prstGeom>
            <a:noFill/>
            <a:ln w="12700">
              <a:solidFill>
                <a:schemeClr val="tx1"/>
              </a:solidFill>
            </a:ln>
          </p:spPr>
          <p:txBody>
            <a:bodyPr wrap="square" rtlCol="0">
              <a:spAutoFit/>
            </a:bodyPr>
            <a:lstStyle/>
            <a:p>
              <a:pPr algn="ctr"/>
              <a:r>
                <a:rPr lang="en-US" dirty="0"/>
                <a:t>Under the </a:t>
              </a:r>
            </a:p>
            <a:p>
              <a:pPr algn="ctr"/>
              <a:r>
                <a:rPr lang="en-US" b="1" dirty="0"/>
                <a:t>Going Concern Assumption, </a:t>
              </a:r>
              <a:r>
                <a:rPr lang="en-US" dirty="0"/>
                <a:t>the company is assumed to stay in business long enough to use existing assets for their intended purposes</a:t>
              </a:r>
            </a:p>
          </p:txBody>
        </p:sp>
        <p:sp>
          <p:nvSpPr>
            <p:cNvPr id="7" name="Down Arrow 6">
              <a:extLst>
                <a:ext uri="{FF2B5EF4-FFF2-40B4-BE49-F238E27FC236}">
                  <a16:creationId xmlns:a16="http://schemas.microsoft.com/office/drawing/2014/main" id="{BE8EF551-16E7-6DD4-2A81-D211444F579A}"/>
                </a:ext>
              </a:extLst>
            </p:cNvPr>
            <p:cNvSpPr/>
            <p:nvPr/>
          </p:nvSpPr>
          <p:spPr>
            <a:xfrm rot="16668003">
              <a:off x="3253758" y="2169258"/>
              <a:ext cx="251936" cy="14689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3456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Assumptions &amp; Principles E1-15 </a:t>
            </a:r>
            <a:r>
              <a:rPr lang="en-US" sz="2400" dirty="0">
                <a:ea typeface="ＭＳ Ｐゴシック" pitchFamily="34" charset="-128"/>
              </a:rPr>
              <a:t>page 41</a:t>
            </a:r>
            <a:endParaRPr lang="en-US" sz="2400" dirty="0"/>
          </a:p>
        </p:txBody>
      </p:sp>
      <p:sp>
        <p:nvSpPr>
          <p:cNvPr id="3" name="Content Placeholder 2"/>
          <p:cNvSpPr>
            <a:spLocks noGrp="1"/>
          </p:cNvSpPr>
          <p:nvPr>
            <p:ph idx="1"/>
          </p:nvPr>
        </p:nvSpPr>
        <p:spPr>
          <a:xfrm>
            <a:off x="194913" y="1413165"/>
            <a:ext cx="8677297" cy="3969995"/>
          </a:xfrm>
        </p:spPr>
        <p:txBody>
          <a:bodyPr>
            <a:normAutofit/>
          </a:bodyPr>
          <a:lstStyle/>
          <a:p>
            <a:r>
              <a:rPr lang="en-US" dirty="0">
                <a:ea typeface="ＭＳ Ｐゴシック" pitchFamily="34" charset="-128"/>
              </a:rPr>
              <a:t>Toyota Canada wants to determine which division of the company (Toyota or Lexus) is more profitable.  Which accounting assumption or principle best applies to this situation?</a:t>
            </a:r>
          </a:p>
          <a:p>
            <a:pPr lvl="1"/>
            <a:r>
              <a:rPr lang="en-US" dirty="0">
                <a:ea typeface="ＭＳ Ｐゴシック" pitchFamily="34" charset="-128"/>
              </a:rPr>
              <a:t>Going Concern</a:t>
            </a:r>
          </a:p>
          <a:p>
            <a:pPr lvl="1"/>
            <a:r>
              <a:rPr lang="en-US" dirty="0">
                <a:ea typeface="ＭＳ Ｐゴシック" pitchFamily="34" charset="-128"/>
              </a:rPr>
              <a:t>Separate Entity</a:t>
            </a:r>
          </a:p>
          <a:p>
            <a:pPr lvl="1"/>
            <a:r>
              <a:rPr lang="en-US" dirty="0">
                <a:ea typeface="ＭＳ Ｐゴシック" pitchFamily="34" charset="-128"/>
              </a:rPr>
              <a:t>Historical Cost</a:t>
            </a:r>
          </a:p>
          <a:p>
            <a:pPr lvl="1"/>
            <a:r>
              <a:rPr lang="en-US" dirty="0">
                <a:ea typeface="ＭＳ Ｐゴシック" pitchFamily="34" charset="-128"/>
              </a:rPr>
              <a:t>Stable Monetary Unit</a:t>
            </a:r>
          </a:p>
        </p:txBody>
      </p:sp>
      <p:grpSp>
        <p:nvGrpSpPr>
          <p:cNvPr id="8" name="Group 7">
            <a:extLst>
              <a:ext uri="{FF2B5EF4-FFF2-40B4-BE49-F238E27FC236}">
                <a16:creationId xmlns:a16="http://schemas.microsoft.com/office/drawing/2014/main" id="{2888BAE0-248E-1E47-DC9A-1B51AFB6AB3D}"/>
              </a:ext>
            </a:extLst>
          </p:cNvPr>
          <p:cNvGrpSpPr/>
          <p:nvPr/>
        </p:nvGrpSpPr>
        <p:grpSpPr>
          <a:xfrm>
            <a:off x="2762180" y="3701846"/>
            <a:ext cx="6186907" cy="1200329"/>
            <a:chOff x="2645272" y="2728452"/>
            <a:chExt cx="6186907" cy="1200329"/>
          </a:xfrm>
        </p:grpSpPr>
        <p:sp>
          <p:nvSpPr>
            <p:cNvPr id="4" name="TextBox 3">
              <a:extLst>
                <a:ext uri="{FF2B5EF4-FFF2-40B4-BE49-F238E27FC236}">
                  <a16:creationId xmlns:a16="http://schemas.microsoft.com/office/drawing/2014/main" id="{A030A705-2F3E-351E-0B89-71214D0E15CA}"/>
                </a:ext>
              </a:extLst>
            </p:cNvPr>
            <p:cNvSpPr txBox="1"/>
            <p:nvPr/>
          </p:nvSpPr>
          <p:spPr>
            <a:xfrm>
              <a:off x="4247535" y="2728452"/>
              <a:ext cx="4584644" cy="1200329"/>
            </a:xfrm>
            <a:prstGeom prst="rect">
              <a:avLst/>
            </a:prstGeom>
            <a:noFill/>
            <a:ln w="12700">
              <a:solidFill>
                <a:schemeClr val="tx1"/>
              </a:solidFill>
            </a:ln>
          </p:spPr>
          <p:txBody>
            <a:bodyPr wrap="square" rtlCol="0">
              <a:spAutoFit/>
            </a:bodyPr>
            <a:lstStyle/>
            <a:p>
              <a:pPr algn="ctr"/>
              <a:r>
                <a:rPr lang="en-US" dirty="0"/>
                <a:t>Under the </a:t>
              </a:r>
            </a:p>
            <a:p>
              <a:pPr algn="ctr"/>
              <a:r>
                <a:rPr lang="en-US" b="1" dirty="0"/>
                <a:t>Separate Entity Assumption, </a:t>
              </a:r>
              <a:r>
                <a:rPr lang="en-US" dirty="0"/>
                <a:t>each division records information as a separate economic unit</a:t>
              </a:r>
            </a:p>
          </p:txBody>
        </p:sp>
        <p:sp>
          <p:nvSpPr>
            <p:cNvPr id="7" name="Down Arrow 6">
              <a:extLst>
                <a:ext uri="{FF2B5EF4-FFF2-40B4-BE49-F238E27FC236}">
                  <a16:creationId xmlns:a16="http://schemas.microsoft.com/office/drawing/2014/main" id="{BE8EF551-16E7-6DD4-2A81-D211444F579A}"/>
                </a:ext>
              </a:extLst>
            </p:cNvPr>
            <p:cNvSpPr/>
            <p:nvPr/>
          </p:nvSpPr>
          <p:spPr>
            <a:xfrm rot="16668003">
              <a:off x="3253758" y="2169258"/>
              <a:ext cx="251936" cy="14689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1692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Assumptions &amp; Principles E1-15 </a:t>
            </a:r>
            <a:r>
              <a:rPr lang="en-US" sz="2400" dirty="0">
                <a:ea typeface="ＭＳ Ｐゴシック" pitchFamily="34" charset="-128"/>
              </a:rPr>
              <a:t>page 41</a:t>
            </a:r>
            <a:endParaRPr lang="en-US" sz="2400" dirty="0"/>
          </a:p>
        </p:txBody>
      </p:sp>
      <p:sp>
        <p:nvSpPr>
          <p:cNvPr id="3" name="Content Placeholder 2"/>
          <p:cNvSpPr>
            <a:spLocks noGrp="1"/>
          </p:cNvSpPr>
          <p:nvPr>
            <p:ph idx="1"/>
          </p:nvPr>
        </p:nvSpPr>
        <p:spPr>
          <a:xfrm>
            <a:off x="194913" y="1413165"/>
            <a:ext cx="8677297" cy="3969995"/>
          </a:xfrm>
        </p:spPr>
        <p:txBody>
          <a:bodyPr>
            <a:normAutofit/>
          </a:bodyPr>
          <a:lstStyle/>
          <a:p>
            <a:r>
              <a:rPr lang="en-US" dirty="0">
                <a:ea typeface="ＭＳ Ｐゴシック" pitchFamily="34" charset="-128"/>
              </a:rPr>
              <a:t>You get an especially good buy on a laptop, paying $399 for a computer normally costing $799.  What is your accounting value for this computer?</a:t>
            </a:r>
          </a:p>
          <a:p>
            <a:pPr lvl="1"/>
            <a:r>
              <a:rPr lang="en-US" dirty="0">
                <a:ea typeface="ＭＳ Ｐゴシック" pitchFamily="34" charset="-128"/>
              </a:rPr>
              <a:t>Going Concern</a:t>
            </a:r>
          </a:p>
          <a:p>
            <a:pPr lvl="1"/>
            <a:r>
              <a:rPr lang="en-US" dirty="0">
                <a:ea typeface="ＭＳ Ｐゴシック" pitchFamily="34" charset="-128"/>
              </a:rPr>
              <a:t>Separate Entity</a:t>
            </a:r>
          </a:p>
          <a:p>
            <a:pPr lvl="1"/>
            <a:r>
              <a:rPr lang="en-US" dirty="0">
                <a:ea typeface="ＭＳ Ｐゴシック" pitchFamily="34" charset="-128"/>
              </a:rPr>
              <a:t>Historical Cost</a:t>
            </a:r>
          </a:p>
          <a:p>
            <a:pPr lvl="1"/>
            <a:r>
              <a:rPr lang="en-US" dirty="0">
                <a:ea typeface="ＭＳ Ｐゴシック" pitchFamily="34" charset="-128"/>
              </a:rPr>
              <a:t>Stable Monetary Unit</a:t>
            </a:r>
          </a:p>
        </p:txBody>
      </p:sp>
      <p:grpSp>
        <p:nvGrpSpPr>
          <p:cNvPr id="8" name="Group 7">
            <a:extLst>
              <a:ext uri="{FF2B5EF4-FFF2-40B4-BE49-F238E27FC236}">
                <a16:creationId xmlns:a16="http://schemas.microsoft.com/office/drawing/2014/main" id="{2888BAE0-248E-1E47-DC9A-1B51AFB6AB3D}"/>
              </a:ext>
            </a:extLst>
          </p:cNvPr>
          <p:cNvGrpSpPr/>
          <p:nvPr/>
        </p:nvGrpSpPr>
        <p:grpSpPr>
          <a:xfrm>
            <a:off x="2762180" y="3908324"/>
            <a:ext cx="6186907" cy="923330"/>
            <a:chOff x="2645272" y="2728452"/>
            <a:chExt cx="6186907" cy="923330"/>
          </a:xfrm>
        </p:grpSpPr>
        <p:sp>
          <p:nvSpPr>
            <p:cNvPr id="4" name="TextBox 3">
              <a:extLst>
                <a:ext uri="{FF2B5EF4-FFF2-40B4-BE49-F238E27FC236}">
                  <a16:creationId xmlns:a16="http://schemas.microsoft.com/office/drawing/2014/main" id="{A030A705-2F3E-351E-0B89-71214D0E15CA}"/>
                </a:ext>
              </a:extLst>
            </p:cNvPr>
            <p:cNvSpPr txBox="1"/>
            <p:nvPr/>
          </p:nvSpPr>
          <p:spPr>
            <a:xfrm>
              <a:off x="4247535" y="2728452"/>
              <a:ext cx="4584644" cy="923330"/>
            </a:xfrm>
            <a:prstGeom prst="rect">
              <a:avLst/>
            </a:prstGeom>
            <a:noFill/>
            <a:ln w="12700">
              <a:solidFill>
                <a:schemeClr val="tx1"/>
              </a:solidFill>
            </a:ln>
          </p:spPr>
          <p:txBody>
            <a:bodyPr wrap="square" rtlCol="0">
              <a:spAutoFit/>
            </a:bodyPr>
            <a:lstStyle/>
            <a:p>
              <a:pPr algn="ctr"/>
              <a:r>
                <a:rPr lang="en-US" dirty="0"/>
                <a:t>Under the </a:t>
              </a:r>
            </a:p>
            <a:p>
              <a:pPr algn="ctr"/>
              <a:r>
                <a:rPr lang="en-US" b="1" dirty="0"/>
                <a:t>Historical Cost Assumption, </a:t>
              </a:r>
              <a:r>
                <a:rPr lang="en-US" dirty="0"/>
                <a:t>assets are recorded at the actual cost of purchase</a:t>
              </a:r>
            </a:p>
          </p:txBody>
        </p:sp>
        <p:sp>
          <p:nvSpPr>
            <p:cNvPr id="7" name="Down Arrow 6">
              <a:extLst>
                <a:ext uri="{FF2B5EF4-FFF2-40B4-BE49-F238E27FC236}">
                  <a16:creationId xmlns:a16="http://schemas.microsoft.com/office/drawing/2014/main" id="{BE8EF551-16E7-6DD4-2A81-D211444F579A}"/>
                </a:ext>
              </a:extLst>
            </p:cNvPr>
            <p:cNvSpPr/>
            <p:nvPr/>
          </p:nvSpPr>
          <p:spPr>
            <a:xfrm rot="16668003">
              <a:off x="3253758" y="2169258"/>
              <a:ext cx="251936" cy="14689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06683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Text Placeholder 2"/>
          <p:cNvSpPr>
            <a:spLocks noGrp="1"/>
          </p:cNvSpPr>
          <p:nvPr>
            <p:ph type="subTitle" idx="1"/>
          </p:nvPr>
        </p:nvSpPr>
        <p:spPr/>
        <p:txBody>
          <a:bodyPr/>
          <a:lstStyle/>
          <a:p>
            <a:r>
              <a:rPr lang="en-US" dirty="0">
                <a:ea typeface="ＭＳ Ｐゴシック" pitchFamily="34" charset="-128"/>
              </a:rPr>
              <a:t>Ethically</a:t>
            </a:r>
            <a:r>
              <a:rPr lang="en-US" b="1" dirty="0">
                <a:ea typeface="ＭＳ Ｐゴシック" pitchFamily="34" charset="-128"/>
              </a:rPr>
              <a:t> evaluate </a:t>
            </a:r>
            <a:r>
              <a:rPr lang="en-US" dirty="0">
                <a:ea typeface="ＭＳ Ｐゴシック" pitchFamily="34" charset="-128"/>
              </a:rPr>
              <a:t>business decisions</a:t>
            </a:r>
            <a:endParaRPr lang="en-US" dirty="0">
              <a:solidFill>
                <a:schemeClr val="tx1"/>
              </a:solidFill>
            </a:endParaRPr>
          </a:p>
        </p:txBody>
      </p:sp>
    </p:spTree>
    <p:extLst>
      <p:ext uri="{BB962C8B-B14F-4D97-AF65-F5344CB8AC3E}">
        <p14:creationId xmlns:p14="http://schemas.microsoft.com/office/powerpoint/2010/main" val="423759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Influences on Business Decisions</a:t>
            </a:r>
          </a:p>
        </p:txBody>
      </p:sp>
      <p:sp>
        <p:nvSpPr>
          <p:cNvPr id="5" name="Text Placeholder 4"/>
          <p:cNvSpPr>
            <a:spLocks noGrp="1"/>
          </p:cNvSpPr>
          <p:nvPr>
            <p:ph type="body" idx="1"/>
          </p:nvPr>
        </p:nvSpPr>
        <p:spPr>
          <a:xfrm>
            <a:off x="1752600" y="2193180"/>
            <a:ext cx="2743200" cy="1463040"/>
          </a:xfrm>
        </p:spPr>
        <p:txBody>
          <a:bodyPr/>
          <a:lstStyle/>
          <a:p>
            <a:pPr lvl="0">
              <a:spcBef>
                <a:spcPts val="0"/>
              </a:spcBef>
            </a:pPr>
            <a:r>
              <a:rPr lang="en-US" sz="3200" dirty="0"/>
              <a:t>Economic</a:t>
            </a:r>
            <a:br>
              <a:rPr lang="en-US" dirty="0"/>
            </a:br>
            <a:r>
              <a:rPr lang="en-US" dirty="0"/>
              <a:t>maximize the economic benefits</a:t>
            </a:r>
          </a:p>
        </p:txBody>
      </p:sp>
      <p:sp>
        <p:nvSpPr>
          <p:cNvPr id="6" name="Content Placeholder 5"/>
          <p:cNvSpPr>
            <a:spLocks noGrp="1"/>
          </p:cNvSpPr>
          <p:nvPr>
            <p:ph sz="half" idx="2"/>
          </p:nvPr>
        </p:nvSpPr>
        <p:spPr>
          <a:xfrm>
            <a:off x="4831080" y="2193180"/>
            <a:ext cx="2743200" cy="1463040"/>
          </a:xfrm>
        </p:spPr>
        <p:txBody>
          <a:bodyPr/>
          <a:lstStyle/>
          <a:p>
            <a:pPr lvl="0"/>
            <a:r>
              <a:rPr lang="en-US" sz="3200" dirty="0"/>
              <a:t>Legal</a:t>
            </a:r>
            <a:br>
              <a:rPr lang="en-US" dirty="0"/>
            </a:br>
            <a:r>
              <a:rPr lang="en-US" dirty="0"/>
              <a:t>free societies are governed by laws</a:t>
            </a:r>
          </a:p>
        </p:txBody>
      </p:sp>
      <p:sp>
        <p:nvSpPr>
          <p:cNvPr id="7" name="Text Placeholder 6"/>
          <p:cNvSpPr>
            <a:spLocks noGrp="1"/>
          </p:cNvSpPr>
          <p:nvPr>
            <p:ph type="body" sz="quarter" idx="3"/>
          </p:nvPr>
        </p:nvSpPr>
        <p:spPr>
          <a:xfrm>
            <a:off x="3291840" y="3886200"/>
            <a:ext cx="2743200" cy="1463040"/>
          </a:xfrm>
        </p:spPr>
        <p:txBody>
          <a:bodyPr/>
          <a:lstStyle/>
          <a:p>
            <a:pPr lvl="0"/>
            <a:r>
              <a:rPr lang="en-US" sz="3200" dirty="0"/>
              <a:t>Ethical</a:t>
            </a:r>
            <a:br>
              <a:rPr lang="en-US" dirty="0"/>
            </a:br>
            <a:r>
              <a:rPr lang="en-US" dirty="0"/>
              <a:t>higher level of conduct required</a:t>
            </a:r>
          </a:p>
        </p:txBody>
      </p:sp>
    </p:spTree>
    <p:extLst>
      <p:ext uri="{BB962C8B-B14F-4D97-AF65-F5344CB8AC3E}">
        <p14:creationId xmlns:p14="http://schemas.microsoft.com/office/powerpoint/2010/main" val="135072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ea typeface="ＭＳ Ｐゴシック" pitchFamily="34" charset="-128"/>
              </a:rPr>
              <a:t>Ethical Analysis</a:t>
            </a:r>
            <a:endParaRPr lang="en-US" dirty="0"/>
          </a:p>
        </p:txBody>
      </p:sp>
      <p:sp>
        <p:nvSpPr>
          <p:cNvPr id="3" name="Content Placeholder 2"/>
          <p:cNvSpPr>
            <a:spLocks noGrp="1"/>
          </p:cNvSpPr>
          <p:nvPr>
            <p:ph idx="1"/>
          </p:nvPr>
        </p:nvSpPr>
        <p:spPr>
          <a:xfrm>
            <a:off x="457200" y="1600201"/>
            <a:ext cx="8229600" cy="2590800"/>
          </a:xfrm>
        </p:spPr>
        <p:txBody>
          <a:bodyPr>
            <a:normAutofit fontScale="92500" lnSpcReduction="20000"/>
          </a:bodyPr>
          <a:lstStyle/>
          <a:p>
            <a:r>
              <a:rPr lang="en-CA" dirty="0">
                <a:ea typeface="ＭＳ Ｐゴシック" pitchFamily="34" charset="-128"/>
              </a:rPr>
              <a:t>Which options are most honest, open, and truthful? </a:t>
            </a:r>
          </a:p>
          <a:p>
            <a:r>
              <a:rPr lang="en-CA" dirty="0">
                <a:ea typeface="ＭＳ Ｐゴシック" pitchFamily="34" charset="-128"/>
              </a:rPr>
              <a:t>Which options are most kind and compassionate, and build a sense of community?</a:t>
            </a:r>
          </a:p>
          <a:p>
            <a:r>
              <a:rPr lang="en-CA" dirty="0">
                <a:ea typeface="ＭＳ Ｐゴシック" pitchFamily="34" charset="-128"/>
              </a:rPr>
              <a:t>Which options create the greatest good for the greatest number of stakeholders? </a:t>
            </a:r>
          </a:p>
          <a:p>
            <a:r>
              <a:rPr lang="en-CA" dirty="0">
                <a:ea typeface="ＭＳ Ｐゴシック" pitchFamily="34" charset="-128"/>
              </a:rPr>
              <a:t>Which options result in treating others as I would want to be treated?</a:t>
            </a:r>
            <a:endParaRPr lang="en-US" dirty="0"/>
          </a:p>
        </p:txBody>
      </p:sp>
    </p:spTree>
    <p:extLst>
      <p:ext uri="{BB962C8B-B14F-4D97-AF65-F5344CB8AC3E}">
        <p14:creationId xmlns:p14="http://schemas.microsoft.com/office/powerpoint/2010/main" val="164601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ＭＳ Ｐゴシック" pitchFamily="34" charset="-128"/>
              </a:rPr>
              <a:t>Decision Framework for Making Ethical Judgments</a:t>
            </a:r>
            <a:endParaRPr lang="en-US" dirty="0"/>
          </a:p>
        </p:txBody>
      </p:sp>
      <p:graphicFrame>
        <p:nvGraphicFramePr>
          <p:cNvPr id="4" name="Table 3"/>
          <p:cNvGraphicFramePr>
            <a:graphicFrameLocks noGrp="1"/>
          </p:cNvGraphicFramePr>
          <p:nvPr/>
        </p:nvGraphicFramePr>
        <p:xfrm>
          <a:off x="1219200" y="1878540"/>
          <a:ext cx="6705600" cy="2693460"/>
        </p:xfrm>
        <a:graphic>
          <a:graphicData uri="http://schemas.openxmlformats.org/drawingml/2006/table">
            <a:tbl>
              <a:tblPr firstRow="1" bandRow="1">
                <a:tableStyleId>{2D5ABB26-0587-4C30-8999-92F81FD0307C}</a:tableStyleId>
              </a:tblPr>
              <a:tblGrid>
                <a:gridCol w="6705600">
                  <a:extLst>
                    <a:ext uri="{9D8B030D-6E8A-4147-A177-3AD203B41FA5}">
                      <a16:colId xmlns:a16="http://schemas.microsoft.com/office/drawing/2014/main" val="20000"/>
                    </a:ext>
                  </a:extLst>
                </a:gridCol>
              </a:tblGrid>
              <a:tr h="461220">
                <a:tc>
                  <a:txBody>
                    <a:bodyPr/>
                    <a:lstStyle/>
                    <a:p>
                      <a:r>
                        <a:rPr lang="en-US" dirty="0"/>
                        <a:t>1. What is the issue?</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96080">
                <a:tc>
                  <a:txBody>
                    <a:bodyPr/>
                    <a:lstStyle/>
                    <a:p>
                      <a:r>
                        <a:rPr lang="en-US" dirty="0"/>
                        <a:t>2. Who are the stakeholders and what are the consequences of</a:t>
                      </a:r>
                    </a:p>
                    <a:p>
                      <a:r>
                        <a:rPr lang="en-US" dirty="0"/>
                        <a:t>    the decisions to each?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1220">
                <a:tc>
                  <a:txBody>
                    <a:bodyPr/>
                    <a:lstStyle/>
                    <a:p>
                      <a:r>
                        <a:rPr lang="en-US" dirty="0"/>
                        <a:t>3. </a:t>
                      </a:r>
                      <a:r>
                        <a:rPr lang="en-CA" dirty="0"/>
                        <a:t>What are the decision alternatives, and how do they affect</a:t>
                      </a:r>
                    </a:p>
                    <a:p>
                      <a:r>
                        <a:rPr lang="en-CA" dirty="0"/>
                        <a:t>    each stakeholder?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96080">
                <a:tc>
                  <a:txBody>
                    <a:bodyPr/>
                    <a:lstStyle/>
                    <a:p>
                      <a:r>
                        <a:rPr lang="en-US" dirty="0"/>
                        <a:t>4. </a:t>
                      </a:r>
                      <a:r>
                        <a:rPr lang="en-CA" dirty="0"/>
                        <a:t>What decision alternative will you choose?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856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sz="3000" dirty="0">
                <a:ea typeface="ＭＳ Ｐゴシック" pitchFamily="34" charset="-128"/>
              </a:rPr>
              <a:t>Chartered Professional Accountants (CPA Ontario) Code of Professional Conduct </a:t>
            </a:r>
            <a:endParaRPr lang="en-US" sz="3000" dirty="0"/>
          </a:p>
        </p:txBody>
      </p:sp>
      <p:sp>
        <p:nvSpPr>
          <p:cNvPr id="3" name="Content Placeholder 2"/>
          <p:cNvSpPr>
            <a:spLocks noGrp="1"/>
          </p:cNvSpPr>
          <p:nvPr>
            <p:ph idx="1"/>
          </p:nvPr>
        </p:nvSpPr>
        <p:spPr/>
        <p:txBody>
          <a:bodyPr/>
          <a:lstStyle/>
          <a:p>
            <a:r>
              <a:rPr lang="en-CA" dirty="0">
                <a:ea typeface="ＭＳ Ｐゴシック" pitchFamily="34" charset="-128"/>
              </a:rPr>
              <a:t>Many professional organizations, businesses, and other entities adopt their own ethical guidelines or codes of conduct so their members have more-specific guidance.</a:t>
            </a:r>
          </a:p>
          <a:p>
            <a:r>
              <a:rPr lang="en-CA" dirty="0">
                <a:ea typeface="ＭＳ Ｐゴシック" pitchFamily="34" charset="-128"/>
              </a:rPr>
              <a:t>CPA Ontario has a code of professional conduct that applies to all of its members</a:t>
            </a:r>
          </a:p>
        </p:txBody>
      </p:sp>
    </p:spTree>
    <p:extLst>
      <p:ext uri="{BB962C8B-B14F-4D97-AF65-F5344CB8AC3E}">
        <p14:creationId xmlns:p14="http://schemas.microsoft.com/office/powerpoint/2010/main" val="61679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alpha val="81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Six</a:t>
            </a:r>
          </a:p>
        </p:txBody>
      </p:sp>
      <p:sp>
        <p:nvSpPr>
          <p:cNvPr id="3" name="Text Placeholder 2"/>
          <p:cNvSpPr>
            <a:spLocks noGrp="1"/>
          </p:cNvSpPr>
          <p:nvPr>
            <p:ph type="subTitle" idx="1"/>
          </p:nvPr>
        </p:nvSpPr>
        <p:spPr/>
        <p:txBody>
          <a:bodyPr>
            <a:normAutofit lnSpcReduction="10000"/>
          </a:bodyPr>
          <a:lstStyle/>
          <a:p>
            <a:r>
              <a:rPr lang="en-US" dirty="0">
                <a:ea typeface="ＭＳ Ｐゴシック" pitchFamily="34" charset="-128"/>
              </a:rPr>
              <a:t>Identify tools and technologies used in accounting and business</a:t>
            </a:r>
            <a:endParaRPr lang="en-US" dirty="0">
              <a:solidFill>
                <a:schemeClr val="tx1"/>
              </a:solidFill>
            </a:endParaRPr>
          </a:p>
        </p:txBody>
      </p:sp>
    </p:spTree>
    <p:extLst>
      <p:ext uri="{BB962C8B-B14F-4D97-AF65-F5344CB8AC3E}">
        <p14:creationId xmlns:p14="http://schemas.microsoft.com/office/powerpoint/2010/main" val="37988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ea typeface="ＭＳ Ｐゴシック" pitchFamily="34" charset="-128"/>
              </a:rPr>
              <a:t>Tools and Technologies  </a:t>
            </a:r>
            <a:endParaRPr lang="en-US" dirty="0"/>
          </a:p>
        </p:txBody>
      </p:sp>
      <p:sp>
        <p:nvSpPr>
          <p:cNvPr id="3" name="Content Placeholder 2"/>
          <p:cNvSpPr>
            <a:spLocks noGrp="1"/>
          </p:cNvSpPr>
          <p:nvPr>
            <p:ph idx="1"/>
          </p:nvPr>
        </p:nvSpPr>
        <p:spPr/>
        <p:txBody>
          <a:bodyPr/>
          <a:lstStyle/>
          <a:p>
            <a:pPr marL="0" indent="0">
              <a:buNone/>
            </a:pPr>
            <a:r>
              <a:rPr lang="en-CA" dirty="0">
                <a:ea typeface="ＭＳ Ｐゴシック" pitchFamily="34" charset="-128"/>
              </a:rPr>
              <a:t>Examples of tools and technologies used in accounting:</a:t>
            </a:r>
          </a:p>
          <a:p>
            <a:r>
              <a:rPr lang="en-CA" dirty="0">
                <a:ea typeface="ＭＳ Ｐゴシック" pitchFamily="34" charset="-128"/>
              </a:rPr>
              <a:t>Spreadsheets</a:t>
            </a:r>
          </a:p>
          <a:p>
            <a:r>
              <a:rPr lang="en-CA" dirty="0">
                <a:ea typeface="ＭＳ Ｐゴシック" pitchFamily="34" charset="-128"/>
              </a:rPr>
              <a:t>Data analytics</a:t>
            </a:r>
          </a:p>
          <a:p>
            <a:r>
              <a:rPr lang="en-CA" dirty="0">
                <a:ea typeface="ＭＳ Ｐゴシック" pitchFamily="34" charset="-128"/>
              </a:rPr>
              <a:t>Artificial intelligence (AI)</a:t>
            </a:r>
          </a:p>
          <a:p>
            <a:r>
              <a:rPr lang="en-CA" dirty="0">
                <a:ea typeface="ＭＳ Ｐゴシック" pitchFamily="34" charset="-128"/>
              </a:rPr>
              <a:t>Machine learning</a:t>
            </a:r>
          </a:p>
          <a:p>
            <a:r>
              <a:rPr lang="en-CA" dirty="0">
                <a:ea typeface="ＭＳ Ｐゴシック" pitchFamily="34" charset="-128"/>
              </a:rPr>
              <a:t>Robotic process automation (RPA)</a:t>
            </a:r>
          </a:p>
        </p:txBody>
      </p:sp>
    </p:spTree>
    <p:extLst>
      <p:ext uri="{BB962C8B-B14F-4D97-AF65-F5344CB8AC3E}">
        <p14:creationId xmlns:p14="http://schemas.microsoft.com/office/powerpoint/2010/main" val="169663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ea typeface="ＭＳ Ｐゴシック" pitchFamily="34" charset="-128"/>
              </a:rPr>
              <a:t>Technology Risks  </a:t>
            </a:r>
            <a:endParaRPr lang="en-US" dirty="0"/>
          </a:p>
        </p:txBody>
      </p:sp>
      <p:sp>
        <p:nvSpPr>
          <p:cNvPr id="3" name="Content Placeholder 2"/>
          <p:cNvSpPr>
            <a:spLocks noGrp="1"/>
          </p:cNvSpPr>
          <p:nvPr>
            <p:ph idx="1"/>
          </p:nvPr>
        </p:nvSpPr>
        <p:spPr/>
        <p:txBody>
          <a:bodyPr/>
          <a:lstStyle/>
          <a:p>
            <a:pPr marL="0" indent="0">
              <a:buNone/>
            </a:pPr>
            <a:r>
              <a:rPr lang="en-US" dirty="0">
                <a:latin typeface="+mj-lt"/>
              </a:rPr>
              <a:t>T</a:t>
            </a:r>
            <a:r>
              <a:rPr lang="en-US" b="0" i="0" u="none" strike="noStrike" baseline="0" dirty="0">
                <a:latin typeface="+mj-lt"/>
              </a:rPr>
              <a:t>echnology used improperly can lead to catastrophic decisions</a:t>
            </a:r>
            <a:r>
              <a:rPr lang="en-CA" dirty="0">
                <a:latin typeface="+mj-lt"/>
                <a:ea typeface="ＭＳ Ｐゴシック" pitchFamily="34" charset="-128"/>
              </a:rPr>
              <a:t>:</a:t>
            </a:r>
          </a:p>
          <a:p>
            <a:r>
              <a:rPr lang="en-CA" dirty="0">
                <a:ea typeface="ＭＳ Ｐゴシック" pitchFamily="34" charset="-128"/>
              </a:rPr>
              <a:t>Key data could be input incorrectly</a:t>
            </a:r>
          </a:p>
          <a:p>
            <a:r>
              <a:rPr lang="en-CA" dirty="0">
                <a:ea typeface="ＭＳ Ｐゴシック" pitchFamily="34" charset="-128"/>
              </a:rPr>
              <a:t>Key data could be missing</a:t>
            </a:r>
          </a:p>
        </p:txBody>
      </p:sp>
    </p:spTree>
    <p:extLst>
      <p:ext uri="{BB962C8B-B14F-4D97-AF65-F5344CB8AC3E}">
        <p14:creationId xmlns:p14="http://schemas.microsoft.com/office/powerpoint/2010/main" val="471340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End of Chapter One</a:t>
            </a:r>
          </a:p>
        </p:txBody>
      </p:sp>
    </p:spTree>
    <p:extLst>
      <p:ext uri="{BB962C8B-B14F-4D97-AF65-F5344CB8AC3E}">
        <p14:creationId xmlns:p14="http://schemas.microsoft.com/office/powerpoint/2010/main" val="1492747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D800B5-A7C7-4A38-A875-53B18BAC9D5C}">
  <ds:schemaRefs>
    <ds:schemaRef ds:uri="http://purl.org/dc/terms/"/>
    <ds:schemaRef ds:uri="9a5288b5-dab3-4678-90e6-28176b4bed68"/>
    <ds:schemaRef ds:uri="http://www.w3.org/XML/1998/namespace"/>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baf01252-53fa-40dd-aec5-420f8d6c2b25"/>
  </ds:schemaRefs>
</ds:datastoreItem>
</file>

<file path=customXml/itemProps3.xml><?xml version="1.0" encoding="utf-8"?>
<ds:datastoreItem xmlns:ds="http://schemas.openxmlformats.org/officeDocument/2006/customXml" ds:itemID="{FC53BC54-77E2-46DB-97BE-8E2381514324}">
  <ds:schemaRefs>
    <ds:schemaRef ds:uri="http://schemas.microsoft.com/sharepoint/v3/contenttype/forms"/>
  </ds:schemaRefs>
</ds:datastoreItem>
</file>

<file path=docMetadata/LabelInfo.xml><?xml version="1.0" encoding="utf-8"?>
<clbl:labelList xmlns:clbl="http://schemas.microsoft.com/office/2020/mipLabelMetadata">
  <clbl:label id="{a9ee03e0-b78c-4998-8bf4-79b266b85105}" enabled="1" method="Standard" siteId="{723a5a87-f39a-4a22-9247-3fc240c01396}" contentBits="0" removed="0"/>
</clbl:labelList>
</file>

<file path=docProps/app.xml><?xml version="1.0" encoding="utf-8"?>
<Properties xmlns="http://schemas.openxmlformats.org/officeDocument/2006/extended-properties" xmlns:vt="http://schemas.openxmlformats.org/officeDocument/2006/docPropsVTypes">
  <Template>SAF Branded PP template</Template>
  <TotalTime>3760</TotalTime>
  <Words>6456</Words>
  <Application>Microsoft Macintosh PowerPoint</Application>
  <PresentationFormat>On-screen Show (4:3)</PresentationFormat>
  <Paragraphs>645</Paragraphs>
  <Slides>55</Slides>
  <Notes>52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ＭＳ Ｐゴシック</vt:lpstr>
      <vt:lpstr>Arial</vt:lpstr>
      <vt:lpstr>Calibri</vt:lpstr>
      <vt:lpstr>Georgia</vt:lpstr>
      <vt:lpstr>Impact</vt:lpstr>
      <vt:lpstr>Verdana</vt:lpstr>
      <vt:lpstr>Wingdings</vt:lpstr>
      <vt:lpstr>UofWaterloo_WhiteBkgrd</vt:lpstr>
      <vt:lpstr>Chapter 1 The Financial Statements</vt:lpstr>
      <vt:lpstr>Chapter 1 Learning Objectives</vt:lpstr>
      <vt:lpstr>Learning Objective One</vt:lpstr>
      <vt:lpstr>Financial Statements</vt:lpstr>
      <vt:lpstr>Flow of Accounting Information</vt:lpstr>
      <vt:lpstr>Users of Accounting Information</vt:lpstr>
      <vt:lpstr>Kinds of Accounting</vt:lpstr>
      <vt:lpstr>Organizing a Business</vt:lpstr>
      <vt:lpstr>Proprietorships</vt:lpstr>
      <vt:lpstr>Partnerships</vt:lpstr>
      <vt:lpstr>Corporations (1 of 2)</vt:lpstr>
      <vt:lpstr>Corporations (2 of 2)</vt:lpstr>
      <vt:lpstr>Learning Objective Two</vt:lpstr>
      <vt:lpstr>The Financial Statements</vt:lpstr>
      <vt:lpstr>Accounting Standards</vt:lpstr>
      <vt:lpstr>Multiple Sets of GAAP</vt:lpstr>
      <vt:lpstr>The Income Statement (1 of 2)</vt:lpstr>
      <vt:lpstr>The Income Statement (2 of 2)</vt:lpstr>
      <vt:lpstr>Statement of Retained Earnings (1 of 3)</vt:lpstr>
      <vt:lpstr>Statement of Retained Earnings (2 of 3)</vt:lpstr>
      <vt:lpstr>Statement of Retained Earnings (3 of 3)</vt:lpstr>
      <vt:lpstr>The Balance Sheet</vt:lpstr>
      <vt:lpstr>Assets on the Balance Sheet (1 of 2)</vt:lpstr>
      <vt:lpstr>Assets on the Balance Sheet (2 of 2)</vt:lpstr>
      <vt:lpstr>Liabilities on the Balance Sheet</vt:lpstr>
      <vt:lpstr>Owners’ Equity on the Balance Sheet</vt:lpstr>
      <vt:lpstr>Sample Balance Sheet</vt:lpstr>
      <vt:lpstr>Classroom Problem S1-4 page 40</vt:lpstr>
      <vt:lpstr>Classroom Problem E1-17 page 42</vt:lpstr>
      <vt:lpstr>The Statement of Cash Flows</vt:lpstr>
      <vt:lpstr>Cash Flow Categories</vt:lpstr>
      <vt:lpstr>Classroom Problem S1-12 Page 40</vt:lpstr>
      <vt:lpstr>Notes to the Financial Statements</vt:lpstr>
      <vt:lpstr>Financial Reporting Responsibilities</vt:lpstr>
      <vt:lpstr>Learning Objective Three</vt:lpstr>
      <vt:lpstr>Financial Information Flow</vt:lpstr>
      <vt:lpstr>Relationships among the Financial Statements (1 of 3)</vt:lpstr>
      <vt:lpstr>Relationships among the Financial Statements (2 of 3)</vt:lpstr>
      <vt:lpstr>Relationships among the Financial Statements (3 of 3)</vt:lpstr>
      <vt:lpstr>Learning Objective Four</vt:lpstr>
      <vt:lpstr>Conceptual Framework</vt:lpstr>
      <vt:lpstr>Assumptions &amp; Principles</vt:lpstr>
      <vt:lpstr>Assumptions &amp; Principles E1-15 page 41</vt:lpstr>
      <vt:lpstr>Assumptions &amp; Principles E1-15 page 41</vt:lpstr>
      <vt:lpstr>Assumptions &amp; Principles E1-15 page 41</vt:lpstr>
      <vt:lpstr>Assumptions &amp; Principles E1-15 page 41</vt:lpstr>
      <vt:lpstr>Learning Objective Five</vt:lpstr>
      <vt:lpstr>Influences on Business Decisions</vt:lpstr>
      <vt:lpstr>Ethical Analysis</vt:lpstr>
      <vt:lpstr>Decision Framework for Making Ethical Judgments</vt:lpstr>
      <vt:lpstr>Chartered Professional Accountants (CPA Ontario) Code of Professional Conduct </vt:lpstr>
      <vt:lpstr>Learning Objective Six</vt:lpstr>
      <vt:lpstr>Tools and Technologies  </vt:lpstr>
      <vt:lpstr>Technology Risks  </vt:lpstr>
      <vt:lpstr>End of Chapter One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28</cp:revision>
  <dcterms:created xsi:type="dcterms:W3CDTF">2020-07-10T19:47:04Z</dcterms:created>
  <dcterms:modified xsi:type="dcterms:W3CDTF">2025-09-05T13:13:43Z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